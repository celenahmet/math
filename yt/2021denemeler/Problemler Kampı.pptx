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46"/>
  </p:notesMasterIdLst>
  <p:sldIdLst>
    <p:sldId id="412" r:id="rId3"/>
    <p:sldId id="413" r:id="rId4"/>
    <p:sldId id="414" r:id="rId5"/>
    <p:sldId id="409" r:id="rId6"/>
    <p:sldId id="410" r:id="rId7"/>
    <p:sldId id="411" r:id="rId8"/>
    <p:sldId id="406" r:id="rId9"/>
    <p:sldId id="407" r:id="rId10"/>
    <p:sldId id="408" r:id="rId11"/>
    <p:sldId id="403" r:id="rId12"/>
    <p:sldId id="404" r:id="rId13"/>
    <p:sldId id="405" r:id="rId14"/>
    <p:sldId id="400" r:id="rId15"/>
    <p:sldId id="401" r:id="rId16"/>
    <p:sldId id="402" r:id="rId17"/>
    <p:sldId id="396" r:id="rId18"/>
    <p:sldId id="394" r:id="rId19"/>
    <p:sldId id="395" r:id="rId20"/>
    <p:sldId id="389" r:id="rId21"/>
    <p:sldId id="390" r:id="rId22"/>
    <p:sldId id="391" r:id="rId23"/>
    <p:sldId id="392" r:id="rId24"/>
    <p:sldId id="393" r:id="rId25"/>
    <p:sldId id="385" r:id="rId26"/>
    <p:sldId id="386" r:id="rId27"/>
    <p:sldId id="387" r:id="rId28"/>
    <p:sldId id="388" r:id="rId29"/>
    <p:sldId id="383" r:id="rId30"/>
    <p:sldId id="384" r:id="rId31"/>
    <p:sldId id="374" r:id="rId32"/>
    <p:sldId id="375" r:id="rId33"/>
    <p:sldId id="376" r:id="rId34"/>
    <p:sldId id="368" r:id="rId35"/>
    <p:sldId id="367" r:id="rId36"/>
    <p:sldId id="370" r:id="rId37"/>
    <p:sldId id="369" r:id="rId38"/>
    <p:sldId id="371" r:id="rId39"/>
    <p:sldId id="372" r:id="rId40"/>
    <p:sldId id="373" r:id="rId41"/>
    <p:sldId id="364" r:id="rId42"/>
    <p:sldId id="365" r:id="rId43"/>
    <p:sldId id="366" r:id="rId44"/>
    <p:sldId id="358" r:id="rId45"/>
    <p:sldId id="359" r:id="rId46"/>
    <p:sldId id="360" r:id="rId47"/>
    <p:sldId id="355" r:id="rId48"/>
    <p:sldId id="356" r:id="rId49"/>
    <p:sldId id="357" r:id="rId50"/>
    <p:sldId id="352" r:id="rId51"/>
    <p:sldId id="353" r:id="rId52"/>
    <p:sldId id="354" r:id="rId53"/>
    <p:sldId id="349" r:id="rId54"/>
    <p:sldId id="350" r:id="rId55"/>
    <p:sldId id="351" r:id="rId56"/>
    <p:sldId id="340" r:id="rId57"/>
    <p:sldId id="343" r:id="rId58"/>
    <p:sldId id="335" r:id="rId59"/>
    <p:sldId id="336" r:id="rId60"/>
    <p:sldId id="337" r:id="rId61"/>
    <p:sldId id="338" r:id="rId62"/>
    <p:sldId id="339" r:id="rId63"/>
    <p:sldId id="334" r:id="rId64"/>
    <p:sldId id="330" r:id="rId65"/>
    <p:sldId id="332" r:id="rId66"/>
    <p:sldId id="333" r:id="rId67"/>
    <p:sldId id="344" r:id="rId68"/>
    <p:sldId id="382" r:id="rId69"/>
    <p:sldId id="326" r:id="rId70"/>
    <p:sldId id="327" r:id="rId71"/>
    <p:sldId id="329" r:id="rId72"/>
    <p:sldId id="328" r:id="rId73"/>
    <p:sldId id="380" r:id="rId74"/>
    <p:sldId id="381" r:id="rId75"/>
    <p:sldId id="318" r:id="rId76"/>
    <p:sldId id="303" r:id="rId77"/>
    <p:sldId id="319" r:id="rId78"/>
    <p:sldId id="317" r:id="rId79"/>
    <p:sldId id="307" r:id="rId80"/>
    <p:sldId id="308" r:id="rId81"/>
    <p:sldId id="309" r:id="rId82"/>
    <p:sldId id="313" r:id="rId83"/>
    <p:sldId id="316" r:id="rId84"/>
    <p:sldId id="315" r:id="rId85"/>
    <p:sldId id="314" r:id="rId86"/>
    <p:sldId id="296" r:id="rId87"/>
    <p:sldId id="297" r:id="rId88"/>
    <p:sldId id="298" r:id="rId89"/>
    <p:sldId id="299" r:id="rId90"/>
    <p:sldId id="300" r:id="rId91"/>
    <p:sldId id="306" r:id="rId92"/>
    <p:sldId id="301" r:id="rId93"/>
    <p:sldId id="302" r:id="rId94"/>
    <p:sldId id="292" r:id="rId95"/>
    <p:sldId id="286" r:id="rId96"/>
    <p:sldId id="310" r:id="rId97"/>
    <p:sldId id="312" r:id="rId98"/>
    <p:sldId id="311" r:id="rId99"/>
    <p:sldId id="361" r:id="rId100"/>
    <p:sldId id="362" r:id="rId101"/>
    <p:sldId id="363" r:id="rId102"/>
    <p:sldId id="377" r:id="rId103"/>
    <p:sldId id="378" r:id="rId104"/>
    <p:sldId id="379" r:id="rId105"/>
    <p:sldId id="261" r:id="rId106"/>
    <p:sldId id="262" r:id="rId107"/>
    <p:sldId id="263" r:id="rId108"/>
    <p:sldId id="265" r:id="rId109"/>
    <p:sldId id="277" r:id="rId110"/>
    <p:sldId id="280" r:id="rId111"/>
    <p:sldId id="279" r:id="rId112"/>
    <p:sldId id="278" r:id="rId113"/>
    <p:sldId id="274" r:id="rId114"/>
    <p:sldId id="285" r:id="rId115"/>
    <p:sldId id="276" r:id="rId116"/>
    <p:sldId id="281" r:id="rId117"/>
    <p:sldId id="284" r:id="rId118"/>
    <p:sldId id="304" r:id="rId119"/>
    <p:sldId id="305" r:id="rId120"/>
    <p:sldId id="283" r:id="rId121"/>
    <p:sldId id="282" r:id="rId122"/>
    <p:sldId id="275" r:id="rId123"/>
    <p:sldId id="266" r:id="rId124"/>
    <p:sldId id="267" r:id="rId125"/>
    <p:sldId id="268" r:id="rId126"/>
    <p:sldId id="269" r:id="rId127"/>
    <p:sldId id="270" r:id="rId128"/>
    <p:sldId id="271" r:id="rId129"/>
    <p:sldId id="272" r:id="rId130"/>
    <p:sldId id="293" r:id="rId131"/>
    <p:sldId id="294" r:id="rId132"/>
    <p:sldId id="295" r:id="rId133"/>
    <p:sldId id="273" r:id="rId134"/>
    <p:sldId id="257" r:id="rId135"/>
    <p:sldId id="258" r:id="rId136"/>
    <p:sldId id="259" r:id="rId137"/>
    <p:sldId id="260" r:id="rId138"/>
    <p:sldId id="348" r:id="rId139"/>
    <p:sldId id="345" r:id="rId140"/>
    <p:sldId id="346" r:id="rId141"/>
    <p:sldId id="347" r:id="rId142"/>
    <p:sldId id="397" r:id="rId143"/>
    <p:sldId id="398" r:id="rId144"/>
    <p:sldId id="399" r:id="rId145"/>
  </p:sldIdLst>
  <p:sldSz cx="6858000" cy="9144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FF"/>
    <a:srgbClr val="FFF4E7"/>
    <a:srgbClr val="FFE8CB"/>
    <a:srgbClr val="FFC000"/>
    <a:srgbClr val="32BEA6"/>
    <a:srgbClr val="CCFFFF"/>
    <a:srgbClr val="9BFBFF"/>
    <a:srgbClr val="FFFFFF"/>
    <a:srgbClr val="BDA7F3"/>
    <a:srgbClr val="D012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Orta Stil 2 - Vurg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Orta Stil 2 - Vurgu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4B1156A-380E-4F78-BDF5-A606A8083BF9}" styleName="Orta Stil 4 - Vurgu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Orta Stil 3 - Vurgu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Orta Stil 2 - Vurgu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6374" autoAdjust="0"/>
  </p:normalViewPr>
  <p:slideViewPr>
    <p:cSldViewPr>
      <p:cViewPr>
        <p:scale>
          <a:sx n="300" d="100"/>
          <a:sy n="300" d="100"/>
        </p:scale>
        <p:origin x="-3216" y="-9444"/>
      </p:cViewPr>
      <p:guideLst>
        <p:guide orient="horz" pos="2880"/>
        <p:guide pos="216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theme" Target="theme/theme1.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tr-TR" sz="1000" b="1" dirty="0"/>
              <a:t>2019 yılında</a:t>
            </a:r>
            <a:r>
              <a:rPr lang="tr-TR" sz="1000" b="1" baseline="0" dirty="0"/>
              <a:t> tespit edilen </a:t>
            </a:r>
            <a:br>
              <a:rPr lang="tr-TR" sz="1000" b="1" baseline="0" dirty="0"/>
            </a:br>
            <a:r>
              <a:rPr lang="tr-TR" sz="1000" b="1" baseline="0" dirty="0"/>
              <a:t>güvenlik açıkları sayısı</a:t>
            </a:r>
            <a:endParaRPr lang="tr-TR" sz="1000" b="1" dirty="0"/>
          </a:p>
        </c:rich>
      </c:tx>
      <c:overlay val="0"/>
      <c:spPr>
        <a:solidFill>
          <a:schemeClr val="accent2">
            <a:lumMod val="20000"/>
            <a:lumOff val="80000"/>
          </a:schemeClr>
        </a:solid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tr-TR"/>
        </a:p>
      </c:txPr>
    </c:title>
    <c:autoTitleDeleted val="0"/>
    <c:plotArea>
      <c:layout/>
      <c:barChart>
        <c:barDir val="bar"/>
        <c:grouping val="clustered"/>
        <c:varyColors val="0"/>
        <c:ser>
          <c:idx val="0"/>
          <c:order val="0"/>
          <c:tx>
            <c:strRef>
              <c:f>Sayfa1!$B$1</c:f>
              <c:strCache>
                <c:ptCount val="1"/>
                <c:pt idx="0">
                  <c:v>Seri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Sayfa1!$A$2:$A$7</c:f>
              <c:strCache>
                <c:ptCount val="6"/>
                <c:pt idx="0">
                  <c:v>Android</c:v>
                </c:pt>
                <c:pt idx="1">
                  <c:v>Debian Linux</c:v>
                </c:pt>
                <c:pt idx="2">
                  <c:v>Windows 10</c:v>
                </c:pt>
                <c:pt idx="3">
                  <c:v>Adobe Acrobat DC</c:v>
                </c:pt>
                <c:pt idx="4">
                  <c:v>Adobe Reader DC</c:v>
                </c:pt>
                <c:pt idx="5">
                  <c:v>Windows 7</c:v>
                </c:pt>
              </c:strCache>
            </c:strRef>
          </c:cat>
          <c:val>
            <c:numRef>
              <c:f>Sayfa1!$B$2:$B$7</c:f>
              <c:numCache>
                <c:formatCode>General</c:formatCode>
                <c:ptCount val="6"/>
              </c:numCache>
            </c:numRef>
          </c:val>
          <c:extLst>
            <c:ext xmlns:c16="http://schemas.microsoft.com/office/drawing/2014/chart" uri="{C3380CC4-5D6E-409C-BE32-E72D297353CC}">
              <c16:uniqueId val="{00000000-CCC1-4FF4-B4AC-D8E5591ACAD9}"/>
            </c:ext>
          </c:extLst>
        </c:ser>
        <c:ser>
          <c:idx val="1"/>
          <c:order val="1"/>
          <c:tx>
            <c:strRef>
              <c:f>Sayfa1!$C$1</c:f>
              <c:strCache>
                <c:ptCount val="1"/>
                <c:pt idx="0">
                  <c:v>Seri 2</c:v>
                </c:pt>
              </c:strCache>
            </c:strRef>
          </c:tx>
          <c:spPr>
            <a:solidFill>
              <a:schemeClr val="accent2"/>
            </a:solidFill>
            <a:ln>
              <a:noFill/>
            </a:ln>
            <a:effectLst/>
          </c:spPr>
          <c:invertIfNegative val="0"/>
          <c:dLbls>
            <c:dLbl>
              <c:idx val="3"/>
              <c:spPr>
                <a:solidFill>
                  <a:schemeClr val="bg1">
                    <a:alpha val="22000"/>
                  </a:schemeClr>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70C0"/>
                      </a:solidFill>
                      <a:latin typeface="+mn-lt"/>
                      <a:ea typeface="+mn-ea"/>
                      <a:cs typeface="+mn-cs"/>
                    </a:defRPr>
                  </a:pPr>
                  <a:endParaRPr lang="tr-TR"/>
                </a:p>
              </c:txPr>
              <c:dLblPos val="outEnd"/>
              <c:showLegendKey val="0"/>
              <c:showVal val="1"/>
              <c:showCatName val="0"/>
              <c:showSerName val="0"/>
              <c:showPercent val="0"/>
              <c:showBubbleSize val="0"/>
              <c:extLst>
                <c:ext xmlns:c16="http://schemas.microsoft.com/office/drawing/2014/chart" uri="{C3380CC4-5D6E-409C-BE32-E72D297353CC}">
                  <c16:uniqueId val="{00000004-CCC1-4FF4-B4AC-D8E5591ACAD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70C0"/>
                    </a:solidFill>
                    <a:latin typeface="+mn-lt"/>
                    <a:ea typeface="+mn-ea"/>
                    <a:cs typeface="+mn-cs"/>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Sayfa1!$A$2:$A$7</c:f>
              <c:strCache>
                <c:ptCount val="6"/>
                <c:pt idx="0">
                  <c:v>Android</c:v>
                </c:pt>
                <c:pt idx="1">
                  <c:v>Debian Linux</c:v>
                </c:pt>
                <c:pt idx="2">
                  <c:v>Windows 10</c:v>
                </c:pt>
                <c:pt idx="3">
                  <c:v>Adobe Acrobat DC</c:v>
                </c:pt>
                <c:pt idx="4">
                  <c:v>Adobe Reader DC</c:v>
                </c:pt>
                <c:pt idx="5">
                  <c:v>Windows 7</c:v>
                </c:pt>
              </c:strCache>
            </c:strRef>
          </c:cat>
          <c:val>
            <c:numRef>
              <c:f>Sayfa1!$C$2:$C$7</c:f>
              <c:numCache>
                <c:formatCode>General</c:formatCode>
                <c:ptCount val="6"/>
                <c:pt idx="0">
                  <c:v>414</c:v>
                </c:pt>
                <c:pt idx="1">
                  <c:v>360</c:v>
                </c:pt>
                <c:pt idx="2">
                  <c:v>357</c:v>
                </c:pt>
                <c:pt idx="3">
                  <c:v>342</c:v>
                </c:pt>
                <c:pt idx="4">
                  <c:v>342</c:v>
                </c:pt>
                <c:pt idx="5">
                  <c:v>250</c:v>
                </c:pt>
              </c:numCache>
            </c:numRef>
          </c:val>
          <c:extLst>
            <c:ext xmlns:c16="http://schemas.microsoft.com/office/drawing/2014/chart" uri="{C3380CC4-5D6E-409C-BE32-E72D297353CC}">
              <c16:uniqueId val="{00000001-CCC1-4FF4-B4AC-D8E5591ACAD9}"/>
            </c:ext>
          </c:extLst>
        </c:ser>
        <c:ser>
          <c:idx val="2"/>
          <c:order val="2"/>
          <c:tx>
            <c:strRef>
              <c:f>Sayfa1!$D$1</c:f>
              <c:strCache>
                <c:ptCount val="1"/>
                <c:pt idx="0">
                  <c:v>Sütun1</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Sayfa1!$A$2:$A$7</c:f>
              <c:strCache>
                <c:ptCount val="6"/>
                <c:pt idx="0">
                  <c:v>Android</c:v>
                </c:pt>
                <c:pt idx="1">
                  <c:v>Debian Linux</c:v>
                </c:pt>
                <c:pt idx="2">
                  <c:v>Windows 10</c:v>
                </c:pt>
                <c:pt idx="3">
                  <c:v>Adobe Acrobat DC</c:v>
                </c:pt>
                <c:pt idx="4">
                  <c:v>Adobe Reader DC</c:v>
                </c:pt>
                <c:pt idx="5">
                  <c:v>Windows 7</c:v>
                </c:pt>
              </c:strCache>
            </c:strRef>
          </c:cat>
          <c:val>
            <c:numRef>
              <c:f>Sayfa1!$D$2:$D$7</c:f>
              <c:numCache>
                <c:formatCode>General</c:formatCode>
                <c:ptCount val="6"/>
              </c:numCache>
            </c:numRef>
          </c:val>
          <c:extLst>
            <c:ext xmlns:c16="http://schemas.microsoft.com/office/drawing/2014/chart" uri="{C3380CC4-5D6E-409C-BE32-E72D297353CC}">
              <c16:uniqueId val="{00000002-CCC1-4FF4-B4AC-D8E5591ACAD9}"/>
            </c:ext>
          </c:extLst>
        </c:ser>
        <c:dLbls>
          <c:dLblPos val="outEnd"/>
          <c:showLegendKey val="0"/>
          <c:showVal val="1"/>
          <c:showCatName val="0"/>
          <c:showSerName val="0"/>
          <c:showPercent val="0"/>
          <c:showBubbleSize val="0"/>
        </c:dLbls>
        <c:gapWidth val="182"/>
        <c:axId val="618175455"/>
        <c:axId val="618170879"/>
      </c:barChart>
      <c:catAx>
        <c:axId val="6181754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tr-TR"/>
          </a:p>
        </c:txPr>
        <c:crossAx val="618170879"/>
        <c:crosses val="autoZero"/>
        <c:auto val="1"/>
        <c:lblAlgn val="ctr"/>
        <c:lblOffset val="100"/>
        <c:noMultiLvlLbl val="0"/>
      </c:catAx>
      <c:valAx>
        <c:axId val="6181708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EC4656"/>
                </a:solidFill>
                <a:latin typeface="+mn-lt"/>
                <a:ea typeface="+mn-ea"/>
                <a:cs typeface="+mn-cs"/>
              </a:defRPr>
            </a:pPr>
            <a:endParaRPr lang="tr-TR"/>
          </a:p>
        </c:txPr>
        <c:crossAx val="6181754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tr-T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2312AA-57D1-420A-895C-CFBB7C4BC6C1}" type="datetimeFigureOut">
              <a:rPr lang="tr-TR" smtClean="0"/>
              <a:t>27.09.2021</a:t>
            </a:fld>
            <a:endParaRPr lang="tr-TR"/>
          </a:p>
        </p:txBody>
      </p:sp>
      <p:sp>
        <p:nvSpPr>
          <p:cNvPr id="4" name="Slayt Resmi Yer Tutucusu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7A691-F7FD-498C-B798-74AD23A84CF4}" type="slidenum">
              <a:rPr lang="tr-TR" smtClean="0"/>
              <a:t>‹#›</a:t>
            </a:fld>
            <a:endParaRPr lang="tr-TR"/>
          </a:p>
        </p:txBody>
      </p:sp>
    </p:spTree>
    <p:extLst>
      <p:ext uri="{BB962C8B-B14F-4D97-AF65-F5344CB8AC3E}">
        <p14:creationId xmlns:p14="http://schemas.microsoft.com/office/powerpoint/2010/main" val="327617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17</a:t>
            </a:fld>
            <a:endParaRPr lang="tr-TR"/>
          </a:p>
        </p:txBody>
      </p:sp>
    </p:spTree>
    <p:extLst>
      <p:ext uri="{BB962C8B-B14F-4D97-AF65-F5344CB8AC3E}">
        <p14:creationId xmlns:p14="http://schemas.microsoft.com/office/powerpoint/2010/main" val="3867194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19</a:t>
            </a:fld>
            <a:endParaRPr lang="tr-TR"/>
          </a:p>
        </p:txBody>
      </p:sp>
    </p:spTree>
    <p:extLst>
      <p:ext uri="{BB962C8B-B14F-4D97-AF65-F5344CB8AC3E}">
        <p14:creationId xmlns:p14="http://schemas.microsoft.com/office/powerpoint/2010/main" val="3053952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28</a:t>
            </a:fld>
            <a:endParaRPr lang="tr-TR"/>
          </a:p>
        </p:txBody>
      </p:sp>
    </p:spTree>
    <p:extLst>
      <p:ext uri="{BB962C8B-B14F-4D97-AF65-F5344CB8AC3E}">
        <p14:creationId xmlns:p14="http://schemas.microsoft.com/office/powerpoint/2010/main" val="407573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33</a:t>
            </a:fld>
            <a:endParaRPr lang="tr-TR"/>
          </a:p>
        </p:txBody>
      </p:sp>
    </p:spTree>
    <p:extLst>
      <p:ext uri="{BB962C8B-B14F-4D97-AF65-F5344CB8AC3E}">
        <p14:creationId xmlns:p14="http://schemas.microsoft.com/office/powerpoint/2010/main" val="1295352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34</a:t>
            </a:fld>
            <a:endParaRPr lang="tr-TR"/>
          </a:p>
        </p:txBody>
      </p:sp>
    </p:spTree>
    <p:extLst>
      <p:ext uri="{BB962C8B-B14F-4D97-AF65-F5344CB8AC3E}">
        <p14:creationId xmlns:p14="http://schemas.microsoft.com/office/powerpoint/2010/main" val="888562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62</a:t>
            </a:fld>
            <a:endParaRPr lang="tr-TR"/>
          </a:p>
        </p:txBody>
      </p:sp>
    </p:spTree>
    <p:extLst>
      <p:ext uri="{BB962C8B-B14F-4D97-AF65-F5344CB8AC3E}">
        <p14:creationId xmlns:p14="http://schemas.microsoft.com/office/powerpoint/2010/main" val="4022387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64</a:t>
            </a:fld>
            <a:endParaRPr lang="tr-TR"/>
          </a:p>
        </p:txBody>
      </p:sp>
    </p:spTree>
    <p:extLst>
      <p:ext uri="{BB962C8B-B14F-4D97-AF65-F5344CB8AC3E}">
        <p14:creationId xmlns:p14="http://schemas.microsoft.com/office/powerpoint/2010/main" val="44957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65</a:t>
            </a:fld>
            <a:endParaRPr lang="tr-TR"/>
          </a:p>
        </p:txBody>
      </p:sp>
    </p:spTree>
    <p:extLst>
      <p:ext uri="{BB962C8B-B14F-4D97-AF65-F5344CB8AC3E}">
        <p14:creationId xmlns:p14="http://schemas.microsoft.com/office/powerpoint/2010/main" val="3661196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68</a:t>
            </a:fld>
            <a:endParaRPr lang="tr-TR"/>
          </a:p>
        </p:txBody>
      </p:sp>
    </p:spTree>
    <p:extLst>
      <p:ext uri="{BB962C8B-B14F-4D97-AF65-F5344CB8AC3E}">
        <p14:creationId xmlns:p14="http://schemas.microsoft.com/office/powerpoint/2010/main" val="1374338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69</a:t>
            </a:fld>
            <a:endParaRPr lang="tr-TR"/>
          </a:p>
        </p:txBody>
      </p:sp>
    </p:spTree>
    <p:extLst>
      <p:ext uri="{BB962C8B-B14F-4D97-AF65-F5344CB8AC3E}">
        <p14:creationId xmlns:p14="http://schemas.microsoft.com/office/powerpoint/2010/main" val="3281222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71</a:t>
            </a:fld>
            <a:endParaRPr lang="tr-TR"/>
          </a:p>
        </p:txBody>
      </p:sp>
    </p:spTree>
    <p:extLst>
      <p:ext uri="{BB962C8B-B14F-4D97-AF65-F5344CB8AC3E}">
        <p14:creationId xmlns:p14="http://schemas.microsoft.com/office/powerpoint/2010/main" val="4236289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72</a:t>
            </a:fld>
            <a:endParaRPr lang="tr-TR"/>
          </a:p>
        </p:txBody>
      </p:sp>
    </p:spTree>
    <p:extLst>
      <p:ext uri="{BB962C8B-B14F-4D97-AF65-F5344CB8AC3E}">
        <p14:creationId xmlns:p14="http://schemas.microsoft.com/office/powerpoint/2010/main" val="4215580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78</a:t>
            </a:fld>
            <a:endParaRPr lang="tr-TR"/>
          </a:p>
        </p:txBody>
      </p:sp>
    </p:spTree>
    <p:extLst>
      <p:ext uri="{BB962C8B-B14F-4D97-AF65-F5344CB8AC3E}">
        <p14:creationId xmlns:p14="http://schemas.microsoft.com/office/powerpoint/2010/main" val="415719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94</a:t>
            </a:fld>
            <a:endParaRPr lang="tr-TR"/>
          </a:p>
        </p:txBody>
      </p:sp>
    </p:spTree>
    <p:extLst>
      <p:ext uri="{BB962C8B-B14F-4D97-AF65-F5344CB8AC3E}">
        <p14:creationId xmlns:p14="http://schemas.microsoft.com/office/powerpoint/2010/main" val="1877995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187A691-F7FD-498C-B798-74AD23A84CF4}" type="slidenum">
              <a:rPr lang="tr-TR" smtClean="0"/>
              <a:t>95</a:t>
            </a:fld>
            <a:endParaRPr lang="tr-TR"/>
          </a:p>
        </p:txBody>
      </p:sp>
    </p:spTree>
    <p:extLst>
      <p:ext uri="{BB962C8B-B14F-4D97-AF65-F5344CB8AC3E}">
        <p14:creationId xmlns:p14="http://schemas.microsoft.com/office/powerpoint/2010/main" val="376435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C75E423-7B3A-4C90-A4A3-AD12582486D5}"/>
              </a:ext>
            </a:extLst>
          </p:cNvPr>
          <p:cNvSpPr>
            <a:spLocks noGrp="1"/>
          </p:cNvSpPr>
          <p:nvPr>
            <p:ph type="ctrTitle"/>
          </p:nvPr>
        </p:nvSpPr>
        <p:spPr>
          <a:xfrm>
            <a:off x="857250" y="1496484"/>
            <a:ext cx="5143500" cy="3183467"/>
          </a:xfrm>
        </p:spPr>
        <p:txBody>
          <a:bodyPr anchor="b"/>
          <a:lstStyle>
            <a:lvl1pPr algn="ctr">
              <a:defRPr sz="3375"/>
            </a:lvl1pPr>
          </a:lstStyle>
          <a:p>
            <a:r>
              <a:rPr lang="tr-TR"/>
              <a:t>Asıl başlık stilini düzenlemek için tıklayın</a:t>
            </a:r>
          </a:p>
        </p:txBody>
      </p:sp>
      <p:sp>
        <p:nvSpPr>
          <p:cNvPr id="3" name="Alt Başlık 2">
            <a:extLst>
              <a:ext uri="{FF2B5EF4-FFF2-40B4-BE49-F238E27FC236}">
                <a16:creationId xmlns:a16="http://schemas.microsoft.com/office/drawing/2014/main" id="{DBFC0896-A397-479D-8B5F-B37085FD4F4F}"/>
              </a:ext>
            </a:extLst>
          </p:cNvPr>
          <p:cNvSpPr>
            <a:spLocks noGrp="1"/>
          </p:cNvSpPr>
          <p:nvPr>
            <p:ph type="subTitle" idx="1"/>
          </p:nvPr>
        </p:nvSpPr>
        <p:spPr>
          <a:xfrm>
            <a:off x="857250" y="4802717"/>
            <a:ext cx="5143500" cy="2207683"/>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D3513B6C-8581-49D1-88E1-BD4975F1DB8C}"/>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Alt Bilgi Yer Tutucusu 4">
            <a:extLst>
              <a:ext uri="{FF2B5EF4-FFF2-40B4-BE49-F238E27FC236}">
                <a16:creationId xmlns:a16="http://schemas.microsoft.com/office/drawing/2014/main" id="{D3544E78-1460-42FA-8E5A-6AADA3F240A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AACC80C-C894-42BE-8A2E-C4B0D178C7DC}"/>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343288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01F80D-C6A7-4E49-905E-D772272A2E1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B174039-8488-43ED-8E32-B9B072B3493C}"/>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7D87E08-B973-4A7A-86DF-927A6F2CADCE}"/>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Alt Bilgi Yer Tutucusu 4">
            <a:extLst>
              <a:ext uri="{FF2B5EF4-FFF2-40B4-BE49-F238E27FC236}">
                <a16:creationId xmlns:a16="http://schemas.microsoft.com/office/drawing/2014/main" id="{521FB7A5-C960-4AF2-8F2D-5B755BF87864}"/>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3EF5DB5-05E4-4677-B3CB-D5D4860FBBA2}"/>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72406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ECAF9E-CD15-4D07-A9C5-D6A0F2E3524E}"/>
              </a:ext>
            </a:extLst>
          </p:cNvPr>
          <p:cNvSpPr>
            <a:spLocks noGrp="1"/>
          </p:cNvSpPr>
          <p:nvPr>
            <p:ph type="title"/>
          </p:nvPr>
        </p:nvSpPr>
        <p:spPr>
          <a:xfrm>
            <a:off x="467916" y="2279652"/>
            <a:ext cx="5915025" cy="3803649"/>
          </a:xfrm>
        </p:spPr>
        <p:txBody>
          <a:bodyPr anchor="b"/>
          <a:lstStyle>
            <a:lvl1pPr>
              <a:defRPr sz="3375"/>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73642A57-DA8B-40DF-B255-5FF6E83157AB}"/>
              </a:ext>
            </a:extLst>
          </p:cNvPr>
          <p:cNvSpPr>
            <a:spLocks noGrp="1"/>
          </p:cNvSpPr>
          <p:nvPr>
            <p:ph type="body" idx="1"/>
          </p:nvPr>
        </p:nvSpPr>
        <p:spPr>
          <a:xfrm>
            <a:off x="467916" y="6119285"/>
            <a:ext cx="5915025" cy="2000249"/>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B603E409-FD9F-48BC-ADA6-63BCD21E1A07}"/>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Alt Bilgi Yer Tutucusu 4">
            <a:extLst>
              <a:ext uri="{FF2B5EF4-FFF2-40B4-BE49-F238E27FC236}">
                <a16:creationId xmlns:a16="http://schemas.microsoft.com/office/drawing/2014/main" id="{DE12EF09-7F32-4E82-9211-34F2086C8CC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6EF0165-138D-4AC9-8EE5-DDFD27D41645}"/>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101292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DA76F79-12F6-4337-B72D-092E6A538591}"/>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8B9D867-AEAE-4A5F-A453-EF5EC2BC4DA9}"/>
              </a:ext>
            </a:extLst>
          </p:cNvPr>
          <p:cNvSpPr>
            <a:spLocks noGrp="1"/>
          </p:cNvSpPr>
          <p:nvPr>
            <p:ph sz="half" idx="1"/>
          </p:nvPr>
        </p:nvSpPr>
        <p:spPr>
          <a:xfrm>
            <a:off x="471488" y="2434167"/>
            <a:ext cx="2914650" cy="580178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7B639BF2-54FA-4CFA-B8F9-668227464B73}"/>
              </a:ext>
            </a:extLst>
          </p:cNvPr>
          <p:cNvSpPr>
            <a:spLocks noGrp="1"/>
          </p:cNvSpPr>
          <p:nvPr>
            <p:ph sz="half" idx="2"/>
          </p:nvPr>
        </p:nvSpPr>
        <p:spPr>
          <a:xfrm>
            <a:off x="3471863" y="2434167"/>
            <a:ext cx="2914650" cy="580178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6A7475E1-0975-4DB2-BD60-01A104C44910}"/>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6" name="Alt Bilgi Yer Tutucusu 5">
            <a:extLst>
              <a:ext uri="{FF2B5EF4-FFF2-40B4-BE49-F238E27FC236}">
                <a16:creationId xmlns:a16="http://schemas.microsoft.com/office/drawing/2014/main" id="{62317E4C-AEA8-4B54-BBF1-20064E8C451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7EB2045-0EDD-40AE-874E-2A9410C15854}"/>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3406235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384D3D-D25A-45AE-951B-E2E197E25CB1}"/>
              </a:ext>
            </a:extLst>
          </p:cNvPr>
          <p:cNvSpPr>
            <a:spLocks noGrp="1"/>
          </p:cNvSpPr>
          <p:nvPr>
            <p:ph type="title"/>
          </p:nvPr>
        </p:nvSpPr>
        <p:spPr>
          <a:xfrm>
            <a:off x="472381" y="486834"/>
            <a:ext cx="5915025" cy="1767417"/>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F8CE7C0-E3EB-4160-B4B8-74E010BD824D}"/>
              </a:ext>
            </a:extLst>
          </p:cNvPr>
          <p:cNvSpPr>
            <a:spLocks noGrp="1"/>
          </p:cNvSpPr>
          <p:nvPr>
            <p:ph type="body" idx="1"/>
          </p:nvPr>
        </p:nvSpPr>
        <p:spPr>
          <a:xfrm>
            <a:off x="472381" y="2241551"/>
            <a:ext cx="2901255"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0409DCB4-4764-4EC6-AEBB-900C2970EBA2}"/>
              </a:ext>
            </a:extLst>
          </p:cNvPr>
          <p:cNvSpPr>
            <a:spLocks noGrp="1"/>
          </p:cNvSpPr>
          <p:nvPr>
            <p:ph sz="half" idx="2"/>
          </p:nvPr>
        </p:nvSpPr>
        <p:spPr>
          <a:xfrm>
            <a:off x="472381" y="3340100"/>
            <a:ext cx="2901255" cy="491278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F2230216-0509-468F-90BF-EC0358BCD483}"/>
              </a:ext>
            </a:extLst>
          </p:cNvPr>
          <p:cNvSpPr>
            <a:spLocks noGrp="1"/>
          </p:cNvSpPr>
          <p:nvPr>
            <p:ph type="body" sz="quarter" idx="3"/>
          </p:nvPr>
        </p:nvSpPr>
        <p:spPr>
          <a:xfrm>
            <a:off x="3471863" y="2241551"/>
            <a:ext cx="2915543" cy="1098549"/>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3DD2A8FD-6988-41F0-AA15-D5632BD5C713}"/>
              </a:ext>
            </a:extLst>
          </p:cNvPr>
          <p:cNvSpPr>
            <a:spLocks noGrp="1"/>
          </p:cNvSpPr>
          <p:nvPr>
            <p:ph sz="quarter" idx="4"/>
          </p:nvPr>
        </p:nvSpPr>
        <p:spPr>
          <a:xfrm>
            <a:off x="3471863" y="3340100"/>
            <a:ext cx="2915543" cy="491278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80991BA0-2B10-4820-B75F-4592F7BAD62F}"/>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8" name="Alt Bilgi Yer Tutucusu 7">
            <a:extLst>
              <a:ext uri="{FF2B5EF4-FFF2-40B4-BE49-F238E27FC236}">
                <a16:creationId xmlns:a16="http://schemas.microsoft.com/office/drawing/2014/main" id="{24D09B2E-7C55-4299-8871-889E529A10BC}"/>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427340E3-A124-4FAB-ABDE-062599449B03}"/>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379859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BFE81A-0421-4F98-92ED-9D0CB03B93B7}"/>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83FC465D-6066-4E93-9184-3C1E571E2892}"/>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4" name="Alt Bilgi Yer Tutucusu 3">
            <a:extLst>
              <a:ext uri="{FF2B5EF4-FFF2-40B4-BE49-F238E27FC236}">
                <a16:creationId xmlns:a16="http://schemas.microsoft.com/office/drawing/2014/main" id="{DA8A95CF-0771-4B56-8180-DF7E4DE2782F}"/>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8BD44878-293F-41AA-BDC1-308E4836EC9D}"/>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132117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AEB264D-9EB8-4D2B-A0CF-FF8042BE5B50}"/>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3" name="Alt Bilgi Yer Tutucusu 2">
            <a:extLst>
              <a:ext uri="{FF2B5EF4-FFF2-40B4-BE49-F238E27FC236}">
                <a16:creationId xmlns:a16="http://schemas.microsoft.com/office/drawing/2014/main" id="{35944E60-B880-4D40-8516-1C3B5D930092}"/>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6F127596-E0DD-4102-8D87-83E32E9FB8E2}"/>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1791840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4F04F96-CE30-4E51-A277-F624128FFAE4}"/>
              </a:ext>
            </a:extLst>
          </p:cNvPr>
          <p:cNvSpPr>
            <a:spLocks noGrp="1"/>
          </p:cNvSpPr>
          <p:nvPr>
            <p:ph type="title"/>
          </p:nvPr>
        </p:nvSpPr>
        <p:spPr>
          <a:xfrm>
            <a:off x="472381" y="609600"/>
            <a:ext cx="2211883" cy="2133600"/>
          </a:xfrm>
        </p:spPr>
        <p:txBody>
          <a:bodyPr anchor="b"/>
          <a:lstStyle>
            <a:lvl1pPr>
              <a:defRPr sz="18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A8B7C961-95CE-492D-BC38-BE71FCDB4B0B}"/>
              </a:ext>
            </a:extLst>
          </p:cNvPr>
          <p:cNvSpPr>
            <a:spLocks noGrp="1"/>
          </p:cNvSpPr>
          <p:nvPr>
            <p:ph idx="1"/>
          </p:nvPr>
        </p:nvSpPr>
        <p:spPr>
          <a:xfrm>
            <a:off x="2915543" y="1316567"/>
            <a:ext cx="3471863" cy="6498167"/>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7B947A2-7483-494A-BA9C-04ED1266F540}"/>
              </a:ext>
            </a:extLst>
          </p:cNvPr>
          <p:cNvSpPr>
            <a:spLocks noGrp="1"/>
          </p:cNvSpPr>
          <p:nvPr>
            <p:ph type="body" sz="half" idx="2"/>
          </p:nvPr>
        </p:nvSpPr>
        <p:spPr>
          <a:xfrm>
            <a:off x="472381" y="2743200"/>
            <a:ext cx="221188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E567698-9708-46BA-A702-5C95DB5B368E}"/>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6" name="Alt Bilgi Yer Tutucusu 5">
            <a:extLst>
              <a:ext uri="{FF2B5EF4-FFF2-40B4-BE49-F238E27FC236}">
                <a16:creationId xmlns:a16="http://schemas.microsoft.com/office/drawing/2014/main" id="{F10F4A7C-2881-4DBA-BB42-88C80FF7AF9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BF40D52-38F1-4DDB-8E68-0CAF7AC2BCF5}"/>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891703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F7AEEB-F30A-4C6C-BFA3-7C0F0F805612}"/>
              </a:ext>
            </a:extLst>
          </p:cNvPr>
          <p:cNvSpPr>
            <a:spLocks noGrp="1"/>
          </p:cNvSpPr>
          <p:nvPr>
            <p:ph type="title"/>
          </p:nvPr>
        </p:nvSpPr>
        <p:spPr>
          <a:xfrm>
            <a:off x="472381" y="609600"/>
            <a:ext cx="2211883" cy="2133600"/>
          </a:xfrm>
        </p:spPr>
        <p:txBody>
          <a:bodyPr anchor="b"/>
          <a:lstStyle>
            <a:lvl1pPr>
              <a:defRPr sz="18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B9DCB9F9-22F0-4C07-B059-3583B03A0D4C}"/>
              </a:ext>
            </a:extLst>
          </p:cNvPr>
          <p:cNvSpPr>
            <a:spLocks noGrp="1"/>
          </p:cNvSpPr>
          <p:nvPr>
            <p:ph type="pic" idx="1"/>
          </p:nvPr>
        </p:nvSpPr>
        <p:spPr>
          <a:xfrm>
            <a:off x="2915543" y="1316567"/>
            <a:ext cx="3471863" cy="649816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tr-TR"/>
          </a:p>
        </p:txBody>
      </p:sp>
      <p:sp>
        <p:nvSpPr>
          <p:cNvPr id="4" name="Metin Yer Tutucusu 3">
            <a:extLst>
              <a:ext uri="{FF2B5EF4-FFF2-40B4-BE49-F238E27FC236}">
                <a16:creationId xmlns:a16="http://schemas.microsoft.com/office/drawing/2014/main" id="{50156F7F-CDEC-475F-BBE4-7EAB0585D380}"/>
              </a:ext>
            </a:extLst>
          </p:cNvPr>
          <p:cNvSpPr>
            <a:spLocks noGrp="1"/>
          </p:cNvSpPr>
          <p:nvPr>
            <p:ph type="body" sz="half" idx="2"/>
          </p:nvPr>
        </p:nvSpPr>
        <p:spPr>
          <a:xfrm>
            <a:off x="472381" y="2743200"/>
            <a:ext cx="2211883" cy="508211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5CD72C0-B40D-4031-9E36-63B0589BABA4}"/>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6" name="Alt Bilgi Yer Tutucusu 5">
            <a:extLst>
              <a:ext uri="{FF2B5EF4-FFF2-40B4-BE49-F238E27FC236}">
                <a16:creationId xmlns:a16="http://schemas.microsoft.com/office/drawing/2014/main" id="{B8613E58-39B3-40B1-9748-2B740076CCE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C3BC790-594C-4E68-BDC5-3E15A9C14E25}"/>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4216036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3769222-A496-44E7-AED0-4233C7BBCA5E}"/>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DC22A8B8-91D3-426C-9248-0C5A65E8E2E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CA6B858-4D73-4DA7-9C62-952989BCCA75}"/>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Alt Bilgi Yer Tutucusu 4">
            <a:extLst>
              <a:ext uri="{FF2B5EF4-FFF2-40B4-BE49-F238E27FC236}">
                <a16:creationId xmlns:a16="http://schemas.microsoft.com/office/drawing/2014/main" id="{CF50CB08-BA27-4B31-BE19-0F884091979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C7BCD1E-2FA0-4A40-BC7A-FC50D2181151}"/>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3209514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87DA338D-247D-4E94-A763-673EACDC4115}"/>
              </a:ext>
            </a:extLst>
          </p:cNvPr>
          <p:cNvSpPr>
            <a:spLocks noGrp="1"/>
          </p:cNvSpPr>
          <p:nvPr>
            <p:ph type="title" orient="vert"/>
          </p:nvPr>
        </p:nvSpPr>
        <p:spPr>
          <a:xfrm>
            <a:off x="4907756" y="486834"/>
            <a:ext cx="1478756" cy="7749117"/>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77599C3-C0D9-4C5D-9955-A4A430F13944}"/>
              </a:ext>
            </a:extLst>
          </p:cNvPr>
          <p:cNvSpPr>
            <a:spLocks noGrp="1"/>
          </p:cNvSpPr>
          <p:nvPr>
            <p:ph type="body" orient="vert" idx="1"/>
          </p:nvPr>
        </p:nvSpPr>
        <p:spPr>
          <a:xfrm>
            <a:off x="471487" y="486834"/>
            <a:ext cx="4350544" cy="774911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40F1FF7-07B1-4743-89A4-6E77E794BF0E}"/>
              </a:ext>
            </a:extLst>
          </p:cNvPr>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Alt Bilgi Yer Tutucusu 4">
            <a:extLst>
              <a:ext uri="{FF2B5EF4-FFF2-40B4-BE49-F238E27FC236}">
                <a16:creationId xmlns:a16="http://schemas.microsoft.com/office/drawing/2014/main" id="{D697CC96-D0B7-488B-936A-A094D1C6CC9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28C257D-7AB8-4895-BC09-01C3AEEBF1FC}"/>
              </a:ext>
            </a:extLst>
          </p:cNvPr>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4288553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16" name="Group 15"/>
          <p:cNvGrpSpPr/>
          <p:nvPr/>
        </p:nvGrpSpPr>
        <p:grpSpPr>
          <a:xfrm>
            <a:off x="3251200" y="1559908"/>
            <a:ext cx="3611126" cy="6658403"/>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400050" y="711201"/>
            <a:ext cx="4616035" cy="4165601"/>
          </a:xfrm>
        </p:spPr>
        <p:txBody>
          <a:bodyPr anchor="b">
            <a:normAutofit/>
          </a:bodyPr>
          <a:lstStyle>
            <a:lvl1pPr algn="l">
              <a:defRPr sz="33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400050" y="5125157"/>
            <a:ext cx="3715688" cy="2551288"/>
          </a:xfrm>
        </p:spPr>
        <p:txBody>
          <a:bodyPr anchor="t">
            <a:normAutofit/>
          </a:bodyPr>
          <a:lstStyle>
            <a:lvl1pPr marL="0" indent="0" algn="l">
              <a:buNone/>
              <a:defRPr sz="1500">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474478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400051" y="5994400"/>
            <a:ext cx="4916150" cy="2032000"/>
          </a:xfrm>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400051" y="711200"/>
            <a:ext cx="4916150" cy="5023560"/>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490381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400050" y="2641599"/>
            <a:ext cx="4801851" cy="3093156"/>
          </a:xfrm>
        </p:spPr>
        <p:txBody>
          <a:bodyPr anchor="b">
            <a:normAutofit/>
          </a:bodyPr>
          <a:lstStyle>
            <a:lvl1pPr algn="l">
              <a:defRPr sz="24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400051" y="5983112"/>
            <a:ext cx="4801850" cy="2043289"/>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598923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400051" y="5994400"/>
            <a:ext cx="4916150" cy="2032000"/>
          </a:xfrm>
        </p:spPr>
        <p:txBody>
          <a:bodyPr>
            <a:normAutofit/>
          </a:bodyPr>
          <a:lstStyle>
            <a:lvl1pPr>
              <a:defRPr sz="2400"/>
            </a:lvl1pPr>
          </a:lstStyle>
          <a:p>
            <a:r>
              <a:rPr lang="tr-TR"/>
              <a:t>Asıl başlık stilini düzenlemek için tıklayın</a:t>
            </a:r>
            <a:endParaRPr lang="en-US" dirty="0"/>
          </a:p>
        </p:txBody>
      </p:sp>
      <p:sp>
        <p:nvSpPr>
          <p:cNvPr id="11" name="Content Placeholder 3"/>
          <p:cNvSpPr>
            <a:spLocks noGrp="1"/>
          </p:cNvSpPr>
          <p:nvPr>
            <p:ph sz="half" idx="13"/>
          </p:nvPr>
        </p:nvSpPr>
        <p:spPr>
          <a:xfrm>
            <a:off x="400051" y="711201"/>
            <a:ext cx="2962475" cy="5023556"/>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12" name="Content Placeholder 5"/>
          <p:cNvSpPr>
            <a:spLocks noGrp="1"/>
          </p:cNvSpPr>
          <p:nvPr>
            <p:ph sz="quarter" idx="4"/>
          </p:nvPr>
        </p:nvSpPr>
        <p:spPr>
          <a:xfrm>
            <a:off x="3496771" y="711200"/>
            <a:ext cx="2961179" cy="5012267"/>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23720DD-5B6D-40BF-8493-A6B52D484E6B}" type="datetimeFigureOut">
              <a:rPr lang="tr-TR" smtClean="0"/>
              <a:t>27.09.2021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4105286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400051" y="5994400"/>
            <a:ext cx="4916150" cy="2032000"/>
          </a:xfrm>
        </p:spPr>
        <p:txBody>
          <a:bodyPr>
            <a:normAutofit/>
          </a:bodyPr>
          <a:lstStyle>
            <a:lvl1pPr>
              <a:defRPr sz="24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571501" y="711200"/>
            <a:ext cx="2787650" cy="812800"/>
          </a:xfrm>
        </p:spPr>
        <p:txBody>
          <a:bodyPr anchor="b">
            <a:noAutofit/>
          </a:bodyPr>
          <a:lstStyle>
            <a:lvl1pPr marL="0" indent="0">
              <a:buNone/>
              <a:defRPr sz="1800" b="0" cap="all">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Asıl metin stillerini düzenlemek için tıklayın</a:t>
            </a:r>
          </a:p>
        </p:txBody>
      </p:sp>
      <p:sp>
        <p:nvSpPr>
          <p:cNvPr id="4" name="Content Placeholder 3"/>
          <p:cNvSpPr>
            <a:spLocks noGrp="1"/>
          </p:cNvSpPr>
          <p:nvPr>
            <p:ph sz="half" idx="2"/>
          </p:nvPr>
        </p:nvSpPr>
        <p:spPr>
          <a:xfrm>
            <a:off x="400050" y="1524001"/>
            <a:ext cx="2959100" cy="4210756"/>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3641263" y="755651"/>
            <a:ext cx="2823038" cy="768349"/>
          </a:xfrm>
        </p:spPr>
        <p:txBody>
          <a:bodyPr anchor="b">
            <a:noAutofit/>
          </a:bodyPr>
          <a:lstStyle>
            <a:lvl1pPr marL="0" indent="0">
              <a:buNone/>
              <a:defRPr sz="1800" b="0" cap="all">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Asıl metin stillerini düzenlemek için tıklayın</a:t>
            </a:r>
          </a:p>
        </p:txBody>
      </p:sp>
      <p:sp>
        <p:nvSpPr>
          <p:cNvPr id="6" name="Content Placeholder 5"/>
          <p:cNvSpPr>
            <a:spLocks noGrp="1"/>
          </p:cNvSpPr>
          <p:nvPr>
            <p:ph sz="quarter" idx="4"/>
          </p:nvPr>
        </p:nvSpPr>
        <p:spPr>
          <a:xfrm>
            <a:off x="3496772" y="1524000"/>
            <a:ext cx="2967529" cy="4199467"/>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23720DD-5B6D-40BF-8493-A6B52D484E6B}" type="datetimeFigureOut">
              <a:rPr lang="tr-TR" smtClean="0"/>
              <a:t>27.09.2021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1042843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400051" y="5994400"/>
            <a:ext cx="4916150" cy="2032000"/>
          </a:xfrm>
        </p:spPr>
        <p:txBody>
          <a:bodyPr>
            <a:normAutofit/>
          </a:bodyPr>
          <a:lstStyle>
            <a:lvl1pPr>
              <a:defRPr sz="2400"/>
            </a:lvl1p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A23720DD-5B6D-40BF-8493-A6B52D484E6B}" type="datetimeFigureOut">
              <a:rPr lang="tr-TR" smtClean="0"/>
              <a:t>27.09.2021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1931312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720DD-5B6D-40BF-8493-A6B52D484E6B}" type="datetimeFigureOut">
              <a:rPr lang="tr-TR" smtClean="0"/>
              <a:t>27.09.2021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32448199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4064000" y="711200"/>
            <a:ext cx="2400300" cy="2032000"/>
          </a:xfrm>
        </p:spPr>
        <p:txBody>
          <a:bodyPr anchor="b">
            <a:normAutofit/>
          </a:bodyPr>
          <a:lstStyle>
            <a:lvl1pPr algn="l">
              <a:defRPr sz="1500" b="0"/>
            </a:lvl1pPr>
          </a:lstStyle>
          <a:p>
            <a:r>
              <a:rPr lang="tr-TR"/>
              <a:t>Asıl başlık stilini düzenlemek için tıklayın</a:t>
            </a:r>
            <a:endParaRPr lang="en-US" dirty="0"/>
          </a:p>
        </p:txBody>
      </p:sp>
      <p:sp>
        <p:nvSpPr>
          <p:cNvPr id="3" name="Content Placeholder 2"/>
          <p:cNvSpPr>
            <a:spLocks noGrp="1"/>
          </p:cNvSpPr>
          <p:nvPr>
            <p:ph idx="1"/>
          </p:nvPr>
        </p:nvSpPr>
        <p:spPr>
          <a:xfrm>
            <a:off x="400050" y="711200"/>
            <a:ext cx="3329066" cy="73152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064000" y="2946403"/>
            <a:ext cx="2400300" cy="2788356"/>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23720DD-5B6D-40BF-8493-A6B52D484E6B}" type="datetimeFigureOut">
              <a:rPr lang="tr-TR" smtClean="0"/>
              <a:t>27.09.2021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4294592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3371850" y="1930400"/>
            <a:ext cx="2672444" cy="1524000"/>
          </a:xfrm>
        </p:spPr>
        <p:txBody>
          <a:bodyPr anchor="b">
            <a:normAutofit/>
          </a:bodyPr>
          <a:lstStyle>
            <a:lvl1pPr algn="l">
              <a:defRPr sz="1800" b="0"/>
            </a:lvl1pPr>
          </a:lstStyle>
          <a:p>
            <a:r>
              <a:rPr lang="tr-TR"/>
              <a:t>Asıl başlık stilini düzenlemek için tıklayın</a:t>
            </a:r>
            <a:endParaRPr lang="en-US" dirty="0"/>
          </a:p>
        </p:txBody>
      </p:sp>
      <p:sp>
        <p:nvSpPr>
          <p:cNvPr id="17" name="Picture Placeholder 2"/>
          <p:cNvSpPr>
            <a:spLocks noGrp="1" noChangeAspect="1"/>
          </p:cNvSpPr>
          <p:nvPr>
            <p:ph type="pic" idx="13"/>
          </p:nvPr>
        </p:nvSpPr>
        <p:spPr>
          <a:xfrm>
            <a:off x="571500" y="1219200"/>
            <a:ext cx="2460731" cy="64008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tr-TR"/>
              <a:t>Resim eklemek için simgeye tıklayın</a:t>
            </a:r>
            <a:endParaRPr lang="en-US" dirty="0"/>
          </a:p>
        </p:txBody>
      </p:sp>
      <p:sp>
        <p:nvSpPr>
          <p:cNvPr id="4" name="Text Placeholder 3"/>
          <p:cNvSpPr>
            <a:spLocks noGrp="1"/>
          </p:cNvSpPr>
          <p:nvPr>
            <p:ph type="body" sz="half" idx="2"/>
          </p:nvPr>
        </p:nvSpPr>
        <p:spPr>
          <a:xfrm>
            <a:off x="3372021" y="3657600"/>
            <a:ext cx="2673167" cy="2777067"/>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23720DD-5B6D-40BF-8493-A6B52D484E6B}" type="datetimeFigureOut">
              <a:rPr lang="tr-TR" smtClean="0"/>
              <a:t>27.09.2021</a:t>
            </a:fld>
            <a:endParaRPr lang="tr-TR"/>
          </a:p>
        </p:txBody>
      </p:sp>
      <p:sp>
        <p:nvSpPr>
          <p:cNvPr id="6" name="Footer Placeholder 5"/>
          <p:cNvSpPr>
            <a:spLocks noGrp="1"/>
          </p:cNvSpPr>
          <p:nvPr>
            <p:ph type="ftr" sz="quarter" idx="11"/>
          </p:nvPr>
        </p:nvSpPr>
        <p:spPr>
          <a:xfrm>
            <a:off x="400050" y="8229601"/>
            <a:ext cx="4358793" cy="486833"/>
          </a:xfrm>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6671825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400051" y="5994400"/>
            <a:ext cx="4916150" cy="2032000"/>
          </a:xfrm>
        </p:spPr>
        <p:txBody>
          <a:bodyPr/>
          <a:lstStyle/>
          <a:p>
            <a:r>
              <a:rPr lang="tr-TR"/>
              <a:t>Asıl başlık stilini düzenlemek için tıklayın</a:t>
            </a:r>
            <a:endParaRPr lang="en-US" dirty="0"/>
          </a:p>
        </p:txBody>
      </p:sp>
      <p:sp>
        <p:nvSpPr>
          <p:cNvPr id="6" name="Picture Placeholder 2"/>
          <p:cNvSpPr>
            <a:spLocks noGrp="1" noChangeAspect="1"/>
          </p:cNvSpPr>
          <p:nvPr>
            <p:ph type="pic" idx="13"/>
          </p:nvPr>
        </p:nvSpPr>
        <p:spPr>
          <a:xfrm>
            <a:off x="400050" y="711200"/>
            <a:ext cx="6057900" cy="4165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tr-TR"/>
              <a:t>Resim eklemek için simgeye tıklayın</a:t>
            </a:r>
            <a:endParaRPr lang="en-US" dirty="0"/>
          </a:p>
        </p:txBody>
      </p:sp>
      <p:sp>
        <p:nvSpPr>
          <p:cNvPr id="9" name="Text Placeholder 9"/>
          <p:cNvSpPr>
            <a:spLocks noGrp="1"/>
          </p:cNvSpPr>
          <p:nvPr>
            <p:ph type="body" sz="quarter" idx="14"/>
          </p:nvPr>
        </p:nvSpPr>
        <p:spPr>
          <a:xfrm>
            <a:off x="571502" y="5125156"/>
            <a:ext cx="5460999" cy="6096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A23720DD-5B6D-40BF-8493-A6B52D484E6B}" type="datetimeFigureOut">
              <a:rPr lang="tr-TR" smtClean="0"/>
              <a:t>27.09.2021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40137871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400050" y="711200"/>
            <a:ext cx="6057900" cy="3860800"/>
          </a:xfrm>
        </p:spPr>
        <p:txBody>
          <a:bodyPr anchor="ctr">
            <a:normAutofit/>
          </a:bodyPr>
          <a:lstStyle>
            <a:lvl1pPr algn="l">
              <a:defRPr sz="21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400050" y="5486400"/>
            <a:ext cx="4787664" cy="2540000"/>
          </a:xfrm>
        </p:spPr>
        <p:txBody>
          <a:bodyPr anchor="ctr">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3598702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642213" y="711200"/>
            <a:ext cx="5144840" cy="3860800"/>
          </a:xfrm>
        </p:spPr>
        <p:txBody>
          <a:bodyPr anchor="ctr">
            <a:normAutofit/>
          </a:bodyPr>
          <a:lstStyle>
            <a:lvl1pPr algn="l">
              <a:defRPr sz="21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800101" y="4572000"/>
            <a:ext cx="4801850" cy="643467"/>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400050" y="5734760"/>
            <a:ext cx="4786771" cy="229164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14" name="TextBox 13"/>
          <p:cNvSpPr txBox="1"/>
          <p:nvPr/>
        </p:nvSpPr>
        <p:spPr>
          <a:xfrm>
            <a:off x="171451" y="947499"/>
            <a:ext cx="342989" cy="779701"/>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5772151" y="3691468"/>
            <a:ext cx="342989" cy="779701"/>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3255020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400050" y="4572000"/>
            <a:ext cx="4786771" cy="2263200"/>
          </a:xfrm>
        </p:spPr>
        <p:txBody>
          <a:bodyPr anchor="b">
            <a:normAutofit/>
          </a:bodyPr>
          <a:lstStyle>
            <a:lvl1pPr algn="l">
              <a:defRPr sz="21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400050" y="6843974"/>
            <a:ext cx="4787664" cy="1182425"/>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785042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42213" y="711200"/>
            <a:ext cx="5144840" cy="3860800"/>
          </a:xfrm>
        </p:spPr>
        <p:txBody>
          <a:bodyPr anchor="ctr">
            <a:normAutofit/>
          </a:bodyPr>
          <a:lstStyle>
            <a:lvl1pPr algn="l">
              <a:defRPr sz="21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400050" y="5181600"/>
            <a:ext cx="4786771" cy="1399821"/>
          </a:xfrm>
        </p:spPr>
        <p:txBody>
          <a:bodyPr vert="horz" lIns="91440" tIns="45720" rIns="91440" bIns="45720" rtlCol="0" anchor="b">
            <a:normAutofit/>
          </a:bodyPr>
          <a:lstStyle>
            <a:lvl1pPr>
              <a:buNone/>
              <a:defRPr lang="en-US" sz="15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400050" y="6604000"/>
            <a:ext cx="4786770" cy="14224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14" name="TextBox 13"/>
          <p:cNvSpPr txBox="1"/>
          <p:nvPr/>
        </p:nvSpPr>
        <p:spPr>
          <a:xfrm>
            <a:off x="171451" y="947499"/>
            <a:ext cx="342989" cy="779701"/>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5772151" y="3691468"/>
            <a:ext cx="342989" cy="779701"/>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34279717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400050" y="711200"/>
            <a:ext cx="5644244" cy="3860800"/>
          </a:xfrm>
        </p:spPr>
        <p:txBody>
          <a:bodyPr vert="horz" lIns="91440" tIns="45720" rIns="91440" bIns="45720" rtlCol="0" anchor="ctr">
            <a:normAutofit/>
          </a:bodyPr>
          <a:lstStyle>
            <a:lvl1pPr>
              <a:defRPr lang="en-US" sz="2100"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400050" y="5238045"/>
            <a:ext cx="4786771" cy="1117600"/>
          </a:xfrm>
        </p:spPr>
        <p:txBody>
          <a:bodyPr vert="horz" lIns="91440" tIns="45720" rIns="91440" bIns="45720" rtlCol="0" anchor="b">
            <a:normAutofit/>
          </a:bodyPr>
          <a:lstStyle>
            <a:lvl1pPr>
              <a:buNone/>
              <a:defRPr lang="en-US" sz="15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400050" y="6355648"/>
            <a:ext cx="4786770" cy="1670753"/>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4622907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400051" y="5994400"/>
            <a:ext cx="4916150" cy="2032000"/>
          </a:xfrm>
        </p:spPr>
        <p:txBody>
          <a:bodyPr>
            <a:normAutofit/>
          </a:bodyPr>
          <a:lstStyle>
            <a:lvl1pPr algn="l">
              <a:defRPr sz="2100"/>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400051" y="711201"/>
            <a:ext cx="4916150" cy="502356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8194882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24804" y="711200"/>
            <a:ext cx="1533146" cy="5892800"/>
          </a:xfrm>
        </p:spPr>
        <p:txBody>
          <a:bodyPr vert="eaVert">
            <a:normAutofit/>
          </a:bodyPr>
          <a:lstStyle>
            <a:lvl1pPr>
              <a:defRPr sz="2100"/>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400050" y="711200"/>
            <a:ext cx="4387509" cy="73152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27.09.2021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extLst>
      <p:ext uri="{BB962C8B-B14F-4D97-AF65-F5344CB8AC3E}">
        <p14:creationId xmlns:p14="http://schemas.microsoft.com/office/powerpoint/2010/main" val="2013103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F2D8302B-EC40-4C44-965F-719BD8F71431}"/>
              </a:ext>
            </a:extLst>
          </p:cNvPr>
          <p:cNvSpPr>
            <a:spLocks noGrp="1"/>
          </p:cNvSpPr>
          <p:nvPr>
            <p:ph type="title"/>
          </p:nvPr>
        </p:nvSpPr>
        <p:spPr>
          <a:xfrm>
            <a:off x="471488" y="486834"/>
            <a:ext cx="5915025" cy="1767417"/>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E4CD866-E144-4153-B7A5-BC4133DD3852}"/>
              </a:ext>
            </a:extLst>
          </p:cNvPr>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97FDD5D-6DA1-40DB-8976-87D76C97CFCD}"/>
              </a:ext>
            </a:extLst>
          </p:cNvPr>
          <p:cNvSpPr>
            <a:spLocks noGrp="1"/>
          </p:cNvSpPr>
          <p:nvPr>
            <p:ph type="dt" sz="half" idx="2"/>
          </p:nvPr>
        </p:nvSpPr>
        <p:spPr>
          <a:xfrm>
            <a:off x="471488" y="8475134"/>
            <a:ext cx="1543050" cy="486833"/>
          </a:xfrm>
          <a:prstGeom prst="rect">
            <a:avLst/>
          </a:prstGeom>
        </p:spPr>
        <p:txBody>
          <a:bodyPr vert="horz" lIns="91440" tIns="45720" rIns="91440" bIns="45720" rtlCol="0" anchor="ctr"/>
          <a:lstStyle>
            <a:lvl1pPr algn="l">
              <a:defRPr sz="675">
                <a:solidFill>
                  <a:schemeClr val="tx1">
                    <a:tint val="75000"/>
                  </a:schemeClr>
                </a:solidFill>
              </a:defRPr>
            </a:lvl1pPr>
          </a:lstStyle>
          <a:p>
            <a:fld id="{A23720DD-5B6D-40BF-8493-A6B52D484E6B}" type="datetimeFigureOut">
              <a:rPr lang="tr-TR" smtClean="0"/>
              <a:t>27.09.2021</a:t>
            </a:fld>
            <a:endParaRPr lang="tr-TR"/>
          </a:p>
        </p:txBody>
      </p:sp>
      <p:sp>
        <p:nvSpPr>
          <p:cNvPr id="5" name="Alt Bilgi Yer Tutucusu 4">
            <a:extLst>
              <a:ext uri="{FF2B5EF4-FFF2-40B4-BE49-F238E27FC236}">
                <a16:creationId xmlns:a16="http://schemas.microsoft.com/office/drawing/2014/main" id="{306D255B-7E91-4012-AAC8-89272F822CC5}"/>
              </a:ext>
            </a:extLst>
          </p:cNvPr>
          <p:cNvSpPr>
            <a:spLocks noGrp="1"/>
          </p:cNvSpPr>
          <p:nvPr>
            <p:ph type="ftr" sz="quarter" idx="3"/>
          </p:nvPr>
        </p:nvSpPr>
        <p:spPr>
          <a:xfrm>
            <a:off x="2271713" y="8475134"/>
            <a:ext cx="2314575" cy="486833"/>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12E06AD3-361D-4E0D-BABF-6064590762BF}"/>
              </a:ext>
            </a:extLst>
          </p:cNvPr>
          <p:cNvSpPr>
            <a:spLocks noGrp="1"/>
          </p:cNvSpPr>
          <p:nvPr>
            <p:ph type="sldNum" sz="quarter" idx="4"/>
          </p:nvPr>
        </p:nvSpPr>
        <p:spPr>
          <a:xfrm>
            <a:off x="4843463" y="8475134"/>
            <a:ext cx="1543050" cy="486833"/>
          </a:xfrm>
          <a:prstGeom prst="rect">
            <a:avLst/>
          </a:prstGeom>
        </p:spPr>
        <p:txBody>
          <a:bodyPr vert="horz" lIns="91440" tIns="45720" rIns="91440" bIns="45720" rtlCol="0" anchor="ctr"/>
          <a:lstStyle>
            <a:lvl1pPr algn="r">
              <a:defRPr sz="675">
                <a:solidFill>
                  <a:schemeClr val="tx1">
                    <a:tint val="75000"/>
                  </a:schemeClr>
                </a:solidFill>
              </a:defRPr>
            </a:lvl1pPr>
          </a:lstStyle>
          <a:p>
            <a:fld id="{F302176B-0E47-46AC-8F43-DAB4B8A37D06}" type="slidenum">
              <a:rPr lang="tr-TR" smtClean="0"/>
              <a:t>‹#›</a:t>
            </a:fld>
            <a:endParaRPr lang="tr-TR"/>
          </a:p>
        </p:txBody>
      </p:sp>
    </p:spTree>
    <p:extLst>
      <p:ext uri="{BB962C8B-B14F-4D97-AF65-F5344CB8AC3E}">
        <p14:creationId xmlns:p14="http://schemas.microsoft.com/office/powerpoint/2010/main" val="22692792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tr-T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5003006" y="5192890"/>
            <a:ext cx="1852842" cy="3544711"/>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400051" y="5994400"/>
            <a:ext cx="4916150" cy="2032000"/>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400051" y="711201"/>
            <a:ext cx="4916150" cy="5023560"/>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5572684" y="8229605"/>
            <a:ext cx="900347" cy="486833"/>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A23720DD-5B6D-40BF-8493-A6B52D484E6B}" type="datetimeFigureOut">
              <a:rPr lang="tr-TR" smtClean="0"/>
              <a:t>27.09.2021</a:t>
            </a:fld>
            <a:endParaRPr lang="tr-TR"/>
          </a:p>
        </p:txBody>
      </p:sp>
      <p:sp>
        <p:nvSpPr>
          <p:cNvPr id="5" name="Footer Placeholder 4"/>
          <p:cNvSpPr>
            <a:spLocks noGrp="1"/>
          </p:cNvSpPr>
          <p:nvPr>
            <p:ph type="ftr" sz="quarter" idx="3"/>
          </p:nvPr>
        </p:nvSpPr>
        <p:spPr>
          <a:xfrm>
            <a:off x="400050" y="8229601"/>
            <a:ext cx="4358793" cy="486833"/>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tr-TR"/>
          </a:p>
        </p:txBody>
      </p:sp>
      <p:sp>
        <p:nvSpPr>
          <p:cNvPr id="6" name="Slide Number Placeholder 5"/>
          <p:cNvSpPr>
            <a:spLocks noGrp="1"/>
          </p:cNvSpPr>
          <p:nvPr>
            <p:ph type="sldNum" sz="quarter" idx="4"/>
          </p:nvPr>
        </p:nvSpPr>
        <p:spPr>
          <a:xfrm>
            <a:off x="5830820" y="7437972"/>
            <a:ext cx="642680" cy="893233"/>
          </a:xfrm>
          <a:prstGeom prst="rect">
            <a:avLst/>
          </a:prstGeom>
        </p:spPr>
        <p:txBody>
          <a:bodyPr vert="horz" lIns="91440" tIns="45720" rIns="91440" bIns="45720" rtlCol="0" anchor="b"/>
          <a:lstStyle>
            <a:lvl1pPr algn="r">
              <a:defRPr sz="2100" b="0" i="0">
                <a:solidFill>
                  <a:schemeClr val="bg2">
                    <a:lumMod val="50000"/>
                  </a:schemeClr>
                </a:solidFill>
                <a:effectLst/>
                <a:latin typeface="+mn-lt"/>
              </a:defRPr>
            </a:lvl1pPr>
          </a:lstStyle>
          <a:p>
            <a:fld id="{F302176B-0E47-46AC-8F43-DAB4B8A37D06}" type="slidenum">
              <a:rPr lang="tr-TR" smtClean="0"/>
              <a:t>‹#›</a:t>
            </a:fld>
            <a:endParaRPr lang="tr-TR"/>
          </a:p>
        </p:txBody>
      </p:sp>
    </p:spTree>
    <p:extLst>
      <p:ext uri="{BB962C8B-B14F-4D97-AF65-F5344CB8AC3E}">
        <p14:creationId xmlns:p14="http://schemas.microsoft.com/office/powerpoint/2010/main" val="74238717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342900" rtl="0" eaLnBrk="1" latinLnBrk="0" hangingPunct="1">
        <a:spcBef>
          <a:spcPct val="0"/>
        </a:spcBef>
        <a:buNone/>
        <a:defRPr sz="24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6.svg"/><Relationship Id="rId18" Type="http://schemas.openxmlformats.org/officeDocument/2006/relationships/image" Target="../media/image11.png"/><Relationship Id="rId26" Type="http://schemas.openxmlformats.org/officeDocument/2006/relationships/image" Target="../media/image19.png"/><Relationship Id="rId3" Type="http://schemas.openxmlformats.org/officeDocument/2006/relationships/image" Target="../media/image2.png"/><Relationship Id="rId21" Type="http://schemas.openxmlformats.org/officeDocument/2006/relationships/image" Target="../media/image14.svg"/><Relationship Id="rId7" Type="http://schemas.openxmlformats.org/officeDocument/2006/relationships/image" Target="../media/image31.svg"/><Relationship Id="rId12" Type="http://schemas.openxmlformats.org/officeDocument/2006/relationships/image" Target="../media/image5.png"/><Relationship Id="rId17" Type="http://schemas.openxmlformats.org/officeDocument/2006/relationships/image" Target="../media/image10.svg"/><Relationship Id="rId25" Type="http://schemas.openxmlformats.org/officeDocument/2006/relationships/image" Target="../media/image18.svg"/><Relationship Id="rId2" Type="http://schemas.openxmlformats.org/officeDocument/2006/relationships/image" Target="../media/image1.png"/><Relationship Id="rId16" Type="http://schemas.openxmlformats.org/officeDocument/2006/relationships/image" Target="../media/image9.png"/><Relationship Id="rId20" Type="http://schemas.openxmlformats.org/officeDocument/2006/relationships/image" Target="../media/image13.png"/><Relationship Id="rId29"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24" Type="http://schemas.openxmlformats.org/officeDocument/2006/relationships/image" Target="../media/image17.png"/><Relationship Id="rId32" Type="http://schemas.openxmlformats.org/officeDocument/2006/relationships/image" Target="../media/image25.png"/><Relationship Id="rId5" Type="http://schemas.openxmlformats.org/officeDocument/2006/relationships/image" Target="../media/image28.svg"/><Relationship Id="rId15" Type="http://schemas.openxmlformats.org/officeDocument/2006/relationships/image" Target="../media/image8.svg"/><Relationship Id="rId23" Type="http://schemas.openxmlformats.org/officeDocument/2006/relationships/image" Target="../media/image16.svg"/><Relationship Id="rId28" Type="http://schemas.openxmlformats.org/officeDocument/2006/relationships/image" Target="../media/image21.png"/><Relationship Id="rId10" Type="http://schemas.openxmlformats.org/officeDocument/2006/relationships/image" Target="../media/image34.png"/><Relationship Id="rId19" Type="http://schemas.openxmlformats.org/officeDocument/2006/relationships/image" Target="../media/image12.svg"/><Relationship Id="rId31"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33.png"/><Relationship Id="rId14" Type="http://schemas.openxmlformats.org/officeDocument/2006/relationships/image" Target="../media/image7.png"/><Relationship Id="rId22" Type="http://schemas.openxmlformats.org/officeDocument/2006/relationships/image" Target="../media/image15.png"/><Relationship Id="rId27" Type="http://schemas.openxmlformats.org/officeDocument/2006/relationships/image" Target="../media/image20.svg"/><Relationship Id="rId30"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8.svg"/><Relationship Id="rId10" Type="http://schemas.openxmlformats.org/officeDocument/2006/relationships/image" Target="../media/image93.png"/><Relationship Id="rId4" Type="http://schemas.openxmlformats.org/officeDocument/2006/relationships/image" Target="../media/image27.png"/><Relationship Id="rId9"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3.png"/><Relationship Id="rId5" Type="http://schemas.openxmlformats.org/officeDocument/2006/relationships/image" Target="../media/image28.svg"/><Relationship Id="rId10" Type="http://schemas.microsoft.com/office/2007/relationships/hdphoto" Target="../media/hdphoto2.wdp"/><Relationship Id="rId4" Type="http://schemas.openxmlformats.org/officeDocument/2006/relationships/image" Target="../media/image27.png"/><Relationship Id="rId9"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png"/><Relationship Id="rId7" Type="http://schemas.openxmlformats.org/officeDocument/2006/relationships/image" Target="../media/image4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48.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png"/><Relationship Id="rId7" Type="http://schemas.openxmlformats.org/officeDocument/2006/relationships/image" Target="../media/image53.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100.png"/><Relationship Id="rId5" Type="http://schemas.openxmlformats.org/officeDocument/2006/relationships/image" Target="../media/image51.png"/><Relationship Id="rId10" Type="http://schemas.openxmlformats.org/officeDocument/2006/relationships/image" Target="../media/image90.png"/><Relationship Id="rId4" Type="http://schemas.openxmlformats.org/officeDocument/2006/relationships/image" Target="../media/image50.png"/><Relationship Id="rId9" Type="http://schemas.openxmlformats.org/officeDocument/2006/relationships/image" Target="../media/image83.png"/></Relationships>
</file>

<file path=ppt/slides/_rels/slide17.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49.png"/><Relationship Id="rId7" Type="http://schemas.openxmlformats.org/officeDocument/2006/relationships/image" Target="../media/image5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81.png"/><Relationship Id="rId4" Type="http://schemas.openxmlformats.org/officeDocument/2006/relationships/image" Target="../media/image1.png"/><Relationship Id="rId9"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52.png"/><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72.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58.svg"/><Relationship Id="rId3" Type="http://schemas.openxmlformats.org/officeDocument/2006/relationships/image" Target="../media/image2.png"/><Relationship Id="rId7" Type="http://schemas.openxmlformats.org/officeDocument/2006/relationships/image" Target="../media/image8.svg"/><Relationship Id="rId12" Type="http://schemas.openxmlformats.org/officeDocument/2006/relationships/image" Target="../media/image57.png"/><Relationship Id="rId17" Type="http://schemas.openxmlformats.org/officeDocument/2006/relationships/image" Target="../media/image60.svg"/><Relationship Id="rId2" Type="http://schemas.openxmlformats.org/officeDocument/2006/relationships/image" Target="../media/image1.png"/><Relationship Id="rId16"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4.svg"/><Relationship Id="rId5" Type="http://schemas.openxmlformats.org/officeDocument/2006/relationships/image" Target="../media/image28.svg"/><Relationship Id="rId15" Type="http://schemas.openxmlformats.org/officeDocument/2006/relationships/image" Target="../media/image16.svg"/><Relationship Id="rId10" Type="http://schemas.openxmlformats.org/officeDocument/2006/relationships/image" Target="../media/image13.png"/><Relationship Id="rId4" Type="http://schemas.openxmlformats.org/officeDocument/2006/relationships/image" Target="../media/image27.png"/><Relationship Id="rId9" Type="http://schemas.openxmlformats.org/officeDocument/2006/relationships/image" Target="../media/image10.svg"/><Relationship Id="rId1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75.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svg"/><Relationship Id="rId18" Type="http://schemas.openxmlformats.org/officeDocument/2006/relationships/image" Target="../media/image382.png"/><Relationship Id="rId3" Type="http://schemas.openxmlformats.org/officeDocument/2006/relationships/image" Target="../media/image1.png"/><Relationship Id="rId7" Type="http://schemas.openxmlformats.org/officeDocument/2006/relationships/image" Target="../media/image202.png"/><Relationship Id="rId12" Type="http://schemas.openxmlformats.org/officeDocument/2006/relationships/image" Target="../media/image66.png"/><Relationship Id="rId17" Type="http://schemas.openxmlformats.org/officeDocument/2006/relationships/image" Target="../media/image72.svg"/><Relationship Id="rId2" Type="http://schemas.openxmlformats.org/officeDocument/2006/relationships/image" Target="../media/image193.png"/><Relationship Id="rId16"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65.svg"/><Relationship Id="rId5" Type="http://schemas.openxmlformats.org/officeDocument/2006/relationships/image" Target="../media/image27.png"/><Relationship Id="rId15" Type="http://schemas.openxmlformats.org/officeDocument/2006/relationships/image" Target="../media/image69.svg"/><Relationship Id="rId10" Type="http://schemas.openxmlformats.org/officeDocument/2006/relationships/image" Target="../media/image64.png"/><Relationship Id="rId19" Type="http://schemas.openxmlformats.org/officeDocument/2006/relationships/image" Target="../media/image392.png"/><Relationship Id="rId4" Type="http://schemas.openxmlformats.org/officeDocument/2006/relationships/image" Target="../media/image2.png"/><Relationship Id="rId9" Type="http://schemas.openxmlformats.org/officeDocument/2006/relationships/image" Target="../media/image63.svg"/><Relationship Id="rId1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2.png"/><Relationship Id="rId7" Type="http://schemas.openxmlformats.org/officeDocument/2006/relationships/image" Target="../media/image7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471.png"/><Relationship Id="rId10" Type="http://schemas.openxmlformats.org/officeDocument/2006/relationships/image" Target="../media/image91.png"/><Relationship Id="rId4" Type="http://schemas.openxmlformats.org/officeDocument/2006/relationships/image" Target="../media/image73.png"/><Relationship Id="rId9" Type="http://schemas.openxmlformats.org/officeDocument/2006/relationships/image" Target="../media/image78.sv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1.png"/><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10.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83.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82.png"/><Relationship Id="rId5" Type="http://schemas.openxmlformats.org/officeDocument/2006/relationships/image" Target="../media/image50.png"/><Relationship Id="rId10" Type="http://schemas.openxmlformats.org/officeDocument/2006/relationships/image" Target="../media/image80.svg"/><Relationship Id="rId4" Type="http://schemas.openxmlformats.org/officeDocument/2006/relationships/image" Target="../media/image1.png"/><Relationship Id="rId9" Type="http://schemas.openxmlformats.org/officeDocument/2006/relationships/image" Target="../media/image79.png"/><Relationship Id="rId14" Type="http://schemas.openxmlformats.org/officeDocument/2006/relationships/image" Target="../media/image126.png"/></Relationships>
</file>

<file path=ppt/slides/_rels/slide34.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174.png"/><Relationship Id="rId3" Type="http://schemas.openxmlformats.org/officeDocument/2006/relationships/image" Target="../media/image49.png"/><Relationship Id="rId7" Type="http://schemas.openxmlformats.org/officeDocument/2006/relationships/image" Target="../media/image84.png"/><Relationship Id="rId12" Type="http://schemas.openxmlformats.org/officeDocument/2006/relationships/image" Target="../media/image16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151.png"/><Relationship Id="rId5" Type="http://schemas.openxmlformats.org/officeDocument/2006/relationships/image" Target="../media/image50.png"/><Relationship Id="rId10" Type="http://schemas.openxmlformats.org/officeDocument/2006/relationships/image" Target="../media/image83.svg"/><Relationship Id="rId4" Type="http://schemas.openxmlformats.org/officeDocument/2006/relationships/image" Target="../media/image1.png"/><Relationship Id="rId9" Type="http://schemas.openxmlformats.org/officeDocument/2006/relationships/image" Target="../media/image82.png"/><Relationship Id="rId14" Type="http://schemas.openxmlformats.org/officeDocument/2006/relationships/image" Target="../media/image182.png"/></Relationships>
</file>

<file path=ppt/slides/_rels/slide35.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3.svg"/><Relationship Id="rId18" Type="http://schemas.openxmlformats.org/officeDocument/2006/relationships/image" Target="../media/image292.png"/><Relationship Id="rId3" Type="http://schemas.openxmlformats.org/officeDocument/2006/relationships/image" Target="../media/image1.png"/><Relationship Id="rId21" Type="http://schemas.openxmlformats.org/officeDocument/2006/relationships/image" Target="../media/image98.png"/><Relationship Id="rId7" Type="http://schemas.openxmlformats.org/officeDocument/2006/relationships/image" Target="../media/image85.svg"/><Relationship Id="rId12" Type="http://schemas.openxmlformats.org/officeDocument/2006/relationships/image" Target="../media/image92.png"/><Relationship Id="rId17" Type="http://schemas.openxmlformats.org/officeDocument/2006/relationships/image" Target="../media/image284.png"/><Relationship Id="rId2" Type="http://schemas.openxmlformats.org/officeDocument/2006/relationships/image" Target="../media/image49.png"/><Relationship Id="rId16" Type="http://schemas.openxmlformats.org/officeDocument/2006/relationships/image" Target="../media/image272.png"/><Relationship Id="rId20" Type="http://schemas.openxmlformats.org/officeDocument/2006/relationships/image" Target="../media/image97.sv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89.svg"/><Relationship Id="rId5" Type="http://schemas.openxmlformats.org/officeDocument/2006/relationships/image" Target="../media/image51.png"/><Relationship Id="rId15" Type="http://schemas.openxmlformats.org/officeDocument/2006/relationships/image" Target="../media/image95.svg"/><Relationship Id="rId23" Type="http://schemas.openxmlformats.org/officeDocument/2006/relationships/image" Target="../media/image342.png"/><Relationship Id="rId10" Type="http://schemas.openxmlformats.org/officeDocument/2006/relationships/image" Target="../media/image88.png"/><Relationship Id="rId19" Type="http://schemas.openxmlformats.org/officeDocument/2006/relationships/image" Target="../media/image96.png"/><Relationship Id="rId4" Type="http://schemas.openxmlformats.org/officeDocument/2006/relationships/image" Target="../media/image50.png"/><Relationship Id="rId9" Type="http://schemas.openxmlformats.org/officeDocument/2006/relationships/image" Target="../media/image87.svg"/><Relationship Id="rId14" Type="http://schemas.openxmlformats.org/officeDocument/2006/relationships/image" Target="../media/image94.png"/><Relationship Id="rId22" Type="http://schemas.openxmlformats.org/officeDocument/2006/relationships/image" Target="../media/image99.sv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352.png"/><Relationship Id="rId5" Type="http://schemas.openxmlformats.org/officeDocument/2006/relationships/image" Target="../media/image51.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3.svg"/><Relationship Id="rId18" Type="http://schemas.openxmlformats.org/officeDocument/2006/relationships/image" Target="../media/image421.png"/><Relationship Id="rId3" Type="http://schemas.openxmlformats.org/officeDocument/2006/relationships/image" Target="../media/image1.png"/><Relationship Id="rId21" Type="http://schemas.openxmlformats.org/officeDocument/2006/relationships/image" Target="../media/image451.png"/><Relationship Id="rId7" Type="http://schemas.openxmlformats.org/officeDocument/2006/relationships/image" Target="../media/image371.png"/><Relationship Id="rId12" Type="http://schemas.openxmlformats.org/officeDocument/2006/relationships/image" Target="../media/image82.png"/><Relationship Id="rId17" Type="http://schemas.openxmlformats.org/officeDocument/2006/relationships/image" Target="../media/image412.png"/><Relationship Id="rId2" Type="http://schemas.openxmlformats.org/officeDocument/2006/relationships/image" Target="../media/image49.png"/><Relationship Id="rId16" Type="http://schemas.openxmlformats.org/officeDocument/2006/relationships/image" Target="../media/image402.png"/><Relationship Id="rId20" Type="http://schemas.openxmlformats.org/officeDocument/2006/relationships/image" Target="../media/image442.png"/><Relationship Id="rId1" Type="http://schemas.openxmlformats.org/officeDocument/2006/relationships/slideLayout" Target="../slideLayouts/slideLayout7.xml"/><Relationship Id="rId6" Type="http://schemas.openxmlformats.org/officeDocument/2006/relationships/image" Target="../media/image361.png"/><Relationship Id="rId11" Type="http://schemas.openxmlformats.org/officeDocument/2006/relationships/image" Target="../media/image87.svg"/><Relationship Id="rId5" Type="http://schemas.openxmlformats.org/officeDocument/2006/relationships/image" Target="../media/image51.png"/><Relationship Id="rId15" Type="http://schemas.openxmlformats.org/officeDocument/2006/relationships/image" Target="../media/image391.png"/><Relationship Id="rId10" Type="http://schemas.openxmlformats.org/officeDocument/2006/relationships/image" Target="../media/image86.png"/><Relationship Id="rId19" Type="http://schemas.openxmlformats.org/officeDocument/2006/relationships/image" Target="../media/image430.png"/><Relationship Id="rId4" Type="http://schemas.openxmlformats.org/officeDocument/2006/relationships/image" Target="../media/image50.png"/><Relationship Id="rId9" Type="http://schemas.openxmlformats.org/officeDocument/2006/relationships/image" Target="../media/image85.svg"/><Relationship Id="rId14" Type="http://schemas.openxmlformats.org/officeDocument/2006/relationships/image" Target="../media/image381.png"/></Relationships>
</file>

<file path=ppt/slides/_rels/slide38.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7.svg"/><Relationship Id="rId3" Type="http://schemas.openxmlformats.org/officeDocument/2006/relationships/image" Target="../media/image1.png"/><Relationship Id="rId7" Type="http://schemas.openxmlformats.org/officeDocument/2006/relationships/image" Target="../media/image103.svg"/><Relationship Id="rId12" Type="http://schemas.openxmlformats.org/officeDocument/2006/relationships/image" Target="../media/image106.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512.png"/><Relationship Id="rId5" Type="http://schemas.openxmlformats.org/officeDocument/2006/relationships/image" Target="../media/image51.png"/><Relationship Id="rId10" Type="http://schemas.openxmlformats.org/officeDocument/2006/relationships/image" Target="../media/image502.png"/><Relationship Id="rId4" Type="http://schemas.openxmlformats.org/officeDocument/2006/relationships/image" Target="../media/image50.png"/><Relationship Id="rId9" Type="http://schemas.openxmlformats.org/officeDocument/2006/relationships/image" Target="../media/image105.sv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8" Type="http://schemas.openxmlformats.org/officeDocument/2006/relationships/image" Target="../media/image112.svg"/><Relationship Id="rId13" Type="http://schemas.openxmlformats.org/officeDocument/2006/relationships/image" Target="../media/image117.svg"/><Relationship Id="rId18" Type="http://schemas.openxmlformats.org/officeDocument/2006/relationships/image" Target="../media/image122.png"/><Relationship Id="rId3" Type="http://schemas.openxmlformats.org/officeDocument/2006/relationships/image" Target="../media/image2.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1.svg"/><Relationship Id="rId2" Type="http://schemas.openxmlformats.org/officeDocument/2006/relationships/image" Target="../media/image1.png"/><Relationship Id="rId16" Type="http://schemas.openxmlformats.org/officeDocument/2006/relationships/image" Target="../media/image120.png"/><Relationship Id="rId20" Type="http://schemas.openxmlformats.org/officeDocument/2006/relationships/image" Target="../media/image124.svg"/><Relationship Id="rId1" Type="http://schemas.openxmlformats.org/officeDocument/2006/relationships/slideLayout" Target="../slideLayouts/slideLayout7.xml"/><Relationship Id="rId6" Type="http://schemas.openxmlformats.org/officeDocument/2006/relationships/image" Target="../media/image109.svg"/><Relationship Id="rId11" Type="http://schemas.openxmlformats.org/officeDocument/2006/relationships/image" Target="../media/image115.svg"/><Relationship Id="rId5" Type="http://schemas.openxmlformats.org/officeDocument/2006/relationships/image" Target="../media/image108.png"/><Relationship Id="rId15" Type="http://schemas.openxmlformats.org/officeDocument/2006/relationships/image" Target="../media/image119.svg"/><Relationship Id="rId10" Type="http://schemas.openxmlformats.org/officeDocument/2006/relationships/image" Target="../media/image114.svg"/><Relationship Id="rId19" Type="http://schemas.openxmlformats.org/officeDocument/2006/relationships/image" Target="../media/image123.png"/><Relationship Id="rId4" Type="http://schemas.openxmlformats.org/officeDocument/2006/relationships/image" Target="../media/image73.png"/><Relationship Id="rId9" Type="http://schemas.openxmlformats.org/officeDocument/2006/relationships/image" Target="../media/image113.png"/><Relationship Id="rId14" Type="http://schemas.openxmlformats.org/officeDocument/2006/relationships/image" Target="../media/image118.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4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28.svg"/><Relationship Id="rId18" Type="http://schemas.openxmlformats.org/officeDocument/2006/relationships/image" Target="../media/image13.png"/><Relationship Id="rId26" Type="http://schemas.openxmlformats.org/officeDocument/2006/relationships/image" Target="../media/image16.svg"/><Relationship Id="rId3" Type="http://schemas.openxmlformats.org/officeDocument/2006/relationships/image" Target="../media/image2.png"/><Relationship Id="rId21" Type="http://schemas.openxmlformats.org/officeDocument/2006/relationships/image" Target="../media/image58.svg"/><Relationship Id="rId7" Type="http://schemas.openxmlformats.org/officeDocument/2006/relationships/image" Target="../media/image8.svg"/><Relationship Id="rId12" Type="http://schemas.openxmlformats.org/officeDocument/2006/relationships/image" Target="../media/image127.png"/><Relationship Id="rId17" Type="http://schemas.openxmlformats.org/officeDocument/2006/relationships/image" Target="../media/image132.svg"/><Relationship Id="rId25"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31.png"/><Relationship Id="rId20" Type="http://schemas.openxmlformats.org/officeDocument/2006/relationships/image" Target="../media/image133.png"/><Relationship Id="rId29" Type="http://schemas.openxmlformats.org/officeDocument/2006/relationships/image" Target="../media/image60.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24" Type="http://schemas.openxmlformats.org/officeDocument/2006/relationships/image" Target="../media/image234.png"/><Relationship Id="rId5" Type="http://schemas.openxmlformats.org/officeDocument/2006/relationships/image" Target="../media/image125.jpeg"/><Relationship Id="rId15" Type="http://schemas.openxmlformats.org/officeDocument/2006/relationships/image" Target="../media/image130.svg"/><Relationship Id="rId23" Type="http://schemas.openxmlformats.org/officeDocument/2006/relationships/image" Target="../media/image135.svg"/><Relationship Id="rId28" Type="http://schemas.openxmlformats.org/officeDocument/2006/relationships/image" Target="../media/image59.png"/><Relationship Id="rId10" Type="http://schemas.openxmlformats.org/officeDocument/2006/relationships/image" Target="../media/image11.png"/><Relationship Id="rId19" Type="http://schemas.openxmlformats.org/officeDocument/2006/relationships/image" Target="../media/image14.svg"/><Relationship Id="rId4" Type="http://schemas.openxmlformats.org/officeDocument/2006/relationships/image" Target="../media/image73.png"/><Relationship Id="rId9" Type="http://schemas.openxmlformats.org/officeDocument/2006/relationships/image" Target="../media/image10.svg"/><Relationship Id="rId14" Type="http://schemas.openxmlformats.org/officeDocument/2006/relationships/image" Target="../media/image129.png"/><Relationship Id="rId22" Type="http://schemas.openxmlformats.org/officeDocument/2006/relationships/image" Target="../media/image134.png"/><Relationship Id="rId27" Type="http://schemas.openxmlformats.org/officeDocument/2006/relationships/image" Target="../media/image136.png"/></Relationships>
</file>

<file path=ppt/slides/_rels/slide44.xml.rels><?xml version="1.0" encoding="UTF-8" standalone="yes"?>
<Relationships xmlns="http://schemas.openxmlformats.org/package/2006/relationships"><Relationship Id="rId8" Type="http://schemas.openxmlformats.org/officeDocument/2006/relationships/image" Target="../media/image140.svg"/><Relationship Id="rId3" Type="http://schemas.openxmlformats.org/officeDocument/2006/relationships/image" Target="../media/image2.png"/><Relationship Id="rId7" Type="http://schemas.openxmlformats.org/officeDocument/2006/relationships/image" Target="../media/image13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8.svg"/><Relationship Id="rId5" Type="http://schemas.openxmlformats.org/officeDocument/2006/relationships/image" Target="../media/image137.png"/><Relationship Id="rId10" Type="http://schemas.openxmlformats.org/officeDocument/2006/relationships/image" Target="../media/image142.svg"/><Relationship Id="rId4" Type="http://schemas.openxmlformats.org/officeDocument/2006/relationships/image" Target="../media/image73.png"/><Relationship Id="rId9" Type="http://schemas.openxmlformats.org/officeDocument/2006/relationships/image" Target="../media/image141.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4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28.svg"/><Relationship Id="rId18" Type="http://schemas.openxmlformats.org/officeDocument/2006/relationships/image" Target="../media/image13.png"/><Relationship Id="rId26" Type="http://schemas.openxmlformats.org/officeDocument/2006/relationships/image" Target="../media/image59.png"/><Relationship Id="rId3" Type="http://schemas.openxmlformats.org/officeDocument/2006/relationships/image" Target="../media/image2.png"/><Relationship Id="rId21" Type="http://schemas.openxmlformats.org/officeDocument/2006/relationships/image" Target="../media/image58.svg"/><Relationship Id="rId7" Type="http://schemas.openxmlformats.org/officeDocument/2006/relationships/image" Target="../media/image8.svg"/><Relationship Id="rId12" Type="http://schemas.openxmlformats.org/officeDocument/2006/relationships/image" Target="../media/image127.png"/><Relationship Id="rId17" Type="http://schemas.openxmlformats.org/officeDocument/2006/relationships/image" Target="../media/image132.svg"/><Relationship Id="rId25"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31.png"/><Relationship Id="rId20" Type="http://schemas.openxmlformats.org/officeDocument/2006/relationships/image" Target="../media/image143.png"/><Relationship Id="rId29" Type="http://schemas.openxmlformats.org/officeDocument/2006/relationships/image" Target="../media/image35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24" Type="http://schemas.openxmlformats.org/officeDocument/2006/relationships/image" Target="../media/image234.png"/><Relationship Id="rId5" Type="http://schemas.openxmlformats.org/officeDocument/2006/relationships/image" Target="../media/image143.png"/><Relationship Id="rId15" Type="http://schemas.openxmlformats.org/officeDocument/2006/relationships/image" Target="../media/image130.svg"/><Relationship Id="rId23" Type="http://schemas.openxmlformats.org/officeDocument/2006/relationships/image" Target="../media/image135.svg"/><Relationship Id="rId10" Type="http://schemas.openxmlformats.org/officeDocument/2006/relationships/image" Target="../media/image11.png"/><Relationship Id="rId19" Type="http://schemas.openxmlformats.org/officeDocument/2006/relationships/image" Target="../media/image14.svg"/><Relationship Id="rId4" Type="http://schemas.openxmlformats.org/officeDocument/2006/relationships/image" Target="../media/image73.png"/><Relationship Id="rId9" Type="http://schemas.openxmlformats.org/officeDocument/2006/relationships/image" Target="../media/image10.svg"/><Relationship Id="rId14" Type="http://schemas.openxmlformats.org/officeDocument/2006/relationships/image" Target="../media/image129.png"/><Relationship Id="rId22" Type="http://schemas.openxmlformats.org/officeDocument/2006/relationships/image" Target="../media/image134.png"/><Relationship Id="rId27" Type="http://schemas.openxmlformats.org/officeDocument/2006/relationships/image" Target="../media/image60.svg"/></Relationships>
</file>

<file path=ppt/slides/_rels/slide47.xml.rels><?xml version="1.0" encoding="UTF-8" standalone="yes"?>
<Relationships xmlns="http://schemas.openxmlformats.org/package/2006/relationships"><Relationship Id="rId8" Type="http://schemas.openxmlformats.org/officeDocument/2006/relationships/image" Target="../media/image147.svg"/><Relationship Id="rId3" Type="http://schemas.openxmlformats.org/officeDocument/2006/relationships/image" Target="../media/image2.png"/><Relationship Id="rId7" Type="http://schemas.openxmlformats.org/officeDocument/2006/relationships/image" Target="../media/image14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5.svg"/><Relationship Id="rId11" Type="http://schemas.openxmlformats.org/officeDocument/2006/relationships/image" Target="../media/image150.svg"/><Relationship Id="rId5" Type="http://schemas.openxmlformats.org/officeDocument/2006/relationships/image" Target="../media/image144.png"/><Relationship Id="rId10" Type="http://schemas.openxmlformats.org/officeDocument/2006/relationships/image" Target="../media/image149.png"/><Relationship Id="rId4" Type="http://schemas.openxmlformats.org/officeDocument/2006/relationships/image" Target="../media/image73.png"/><Relationship Id="rId9" Type="http://schemas.openxmlformats.org/officeDocument/2006/relationships/image" Target="../media/image148.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2.png"/><Relationship Id="rId4" Type="http://schemas.openxmlformats.org/officeDocument/2006/relationships/image" Target="../media/image7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20.png"/><Relationship Id="rId4" Type="http://schemas.openxmlformats.org/officeDocument/2006/relationships/image" Target="../media/image7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5.xml.rels><?xml version="1.0" encoding="UTF-8" standalone="yes"?>
<Relationships xmlns="http://schemas.openxmlformats.org/package/2006/relationships"><Relationship Id="rId8" Type="http://schemas.openxmlformats.org/officeDocument/2006/relationships/image" Target="../media/image156.svg"/><Relationship Id="rId13" Type="http://schemas.openxmlformats.org/officeDocument/2006/relationships/image" Target="../media/image1240.png"/><Relationship Id="rId18" Type="http://schemas.openxmlformats.org/officeDocument/2006/relationships/image" Target="../media/image173.png"/><Relationship Id="rId3" Type="http://schemas.openxmlformats.org/officeDocument/2006/relationships/image" Target="../media/image2.png"/><Relationship Id="rId7" Type="http://schemas.openxmlformats.org/officeDocument/2006/relationships/image" Target="../media/image155.png"/><Relationship Id="rId12" Type="http://schemas.openxmlformats.org/officeDocument/2006/relationships/image" Target="../media/image1150.png"/><Relationship Id="rId17" Type="http://schemas.openxmlformats.org/officeDocument/2006/relationships/image" Target="../media/image162.png"/><Relationship Id="rId2" Type="http://schemas.openxmlformats.org/officeDocument/2006/relationships/image" Target="../media/image1.png"/><Relationship Id="rId16" Type="http://schemas.openxmlformats.org/officeDocument/2006/relationships/image" Target="../media/image158.svg"/><Relationship Id="rId1" Type="http://schemas.openxmlformats.org/officeDocument/2006/relationships/slideLayout" Target="../slideLayouts/slideLayout7.xml"/><Relationship Id="rId6" Type="http://schemas.openxmlformats.org/officeDocument/2006/relationships/image" Target="../media/image154.svg"/><Relationship Id="rId11" Type="http://schemas.openxmlformats.org/officeDocument/2006/relationships/image" Target="../media/image1021.png"/><Relationship Id="rId5" Type="http://schemas.openxmlformats.org/officeDocument/2006/relationships/image" Target="../media/image153.png"/><Relationship Id="rId15" Type="http://schemas.openxmlformats.org/officeDocument/2006/relationships/image" Target="../media/image157.png"/><Relationship Id="rId10" Type="http://schemas.openxmlformats.org/officeDocument/2006/relationships/image" Target="../media/image920.png"/><Relationship Id="rId4" Type="http://schemas.openxmlformats.org/officeDocument/2006/relationships/image" Target="../media/image73.png"/><Relationship Id="rId9" Type="http://schemas.openxmlformats.org/officeDocument/2006/relationships/image" Target="../media/image890.png"/><Relationship Id="rId14" Type="http://schemas.openxmlformats.org/officeDocument/2006/relationships/image" Target="../media/image135.png"/></Relationships>
</file>

<file path=ppt/slides/_rels/slide56.xml.rels><?xml version="1.0" encoding="UTF-8" standalone="yes"?>
<Relationships xmlns="http://schemas.openxmlformats.org/package/2006/relationships"><Relationship Id="rId8" Type="http://schemas.openxmlformats.org/officeDocument/2006/relationships/image" Target="../media/image213.png"/><Relationship Id="rId13" Type="http://schemas.openxmlformats.org/officeDocument/2006/relationships/image" Target="../media/image164.png"/><Relationship Id="rId18" Type="http://schemas.openxmlformats.org/officeDocument/2006/relationships/image" Target="../media/image311.png"/><Relationship Id="rId3" Type="http://schemas.openxmlformats.org/officeDocument/2006/relationships/image" Target="../media/image2.png"/><Relationship Id="rId7" Type="http://schemas.openxmlformats.org/officeDocument/2006/relationships/image" Target="../media/image201.png"/><Relationship Id="rId12" Type="http://schemas.openxmlformats.org/officeDocument/2006/relationships/image" Target="../media/image162.svg"/><Relationship Id="rId17" Type="http://schemas.openxmlformats.org/officeDocument/2006/relationships/image" Target="../media/image302.png"/><Relationship Id="rId2" Type="http://schemas.openxmlformats.org/officeDocument/2006/relationships/image" Target="../media/image1.png"/><Relationship Id="rId16" Type="http://schemas.openxmlformats.org/officeDocument/2006/relationships/image" Target="../media/image291.png"/><Relationship Id="rId1" Type="http://schemas.openxmlformats.org/officeDocument/2006/relationships/slideLayout" Target="../slideLayouts/slideLayout7.xml"/><Relationship Id="rId6" Type="http://schemas.openxmlformats.org/officeDocument/2006/relationships/image" Target="../media/image160.svg"/><Relationship Id="rId11" Type="http://schemas.openxmlformats.org/officeDocument/2006/relationships/image" Target="../media/image161.png"/><Relationship Id="rId5" Type="http://schemas.openxmlformats.org/officeDocument/2006/relationships/image" Target="../media/image159.png"/><Relationship Id="rId15" Type="http://schemas.openxmlformats.org/officeDocument/2006/relationships/image" Target="../media/image283.png"/><Relationship Id="rId10" Type="http://schemas.openxmlformats.org/officeDocument/2006/relationships/image" Target="../media/image233.png"/><Relationship Id="rId19" Type="http://schemas.openxmlformats.org/officeDocument/2006/relationships/image" Target="../media/image321.png"/><Relationship Id="rId4" Type="http://schemas.openxmlformats.org/officeDocument/2006/relationships/image" Target="../media/image73.png"/><Relationship Id="rId9" Type="http://schemas.openxmlformats.org/officeDocument/2006/relationships/image" Target="../media/image223.png"/><Relationship Id="rId14" Type="http://schemas.openxmlformats.org/officeDocument/2006/relationships/image" Target="../media/image165.svg"/></Relationships>
</file>

<file path=ppt/slides/_rels/slide57.xml.rels><?xml version="1.0" encoding="UTF-8" standalone="yes"?>
<Relationships xmlns="http://schemas.openxmlformats.org/package/2006/relationships"><Relationship Id="rId8" Type="http://schemas.openxmlformats.org/officeDocument/2006/relationships/image" Target="../media/image711.png"/><Relationship Id="rId13" Type="http://schemas.openxmlformats.org/officeDocument/2006/relationships/image" Target="../media/image169.svg"/><Relationship Id="rId18" Type="http://schemas.openxmlformats.org/officeDocument/2006/relationships/image" Target="../media/image172.png"/><Relationship Id="rId3" Type="http://schemas.openxmlformats.org/officeDocument/2006/relationships/image" Target="../media/image1.png"/><Relationship Id="rId7" Type="http://schemas.openxmlformats.org/officeDocument/2006/relationships/image" Target="../media/image167.svg"/><Relationship Id="rId12" Type="http://schemas.openxmlformats.org/officeDocument/2006/relationships/image" Target="../media/image168.png"/><Relationship Id="rId17" Type="http://schemas.openxmlformats.org/officeDocument/2006/relationships/image" Target="../media/image171.svg"/><Relationship Id="rId2" Type="http://schemas.openxmlformats.org/officeDocument/2006/relationships/image" Target="../media/image49.png"/><Relationship Id="rId16" Type="http://schemas.openxmlformats.org/officeDocument/2006/relationships/image" Target="../media/image170.png"/><Relationship Id="rId1" Type="http://schemas.openxmlformats.org/officeDocument/2006/relationships/slideLayout" Target="../slideLayouts/slideLayout7.xml"/><Relationship Id="rId6" Type="http://schemas.openxmlformats.org/officeDocument/2006/relationships/image" Target="../media/image166.png"/><Relationship Id="rId11" Type="http://schemas.openxmlformats.org/officeDocument/2006/relationships/image" Target="../media/image1030.png"/><Relationship Id="rId5" Type="http://schemas.openxmlformats.org/officeDocument/2006/relationships/image" Target="../media/image51.png"/><Relationship Id="rId15" Type="http://schemas.openxmlformats.org/officeDocument/2006/relationships/image" Target="../media/image1430.png"/><Relationship Id="rId10" Type="http://schemas.openxmlformats.org/officeDocument/2006/relationships/image" Target="../media/image910.png"/><Relationship Id="rId19" Type="http://schemas.openxmlformats.org/officeDocument/2006/relationships/image" Target="../media/image181.png"/><Relationship Id="rId4" Type="http://schemas.openxmlformats.org/officeDocument/2006/relationships/image" Target="../media/image50.png"/><Relationship Id="rId9" Type="http://schemas.openxmlformats.org/officeDocument/2006/relationships/image" Target="../media/image840.png"/><Relationship Id="rId14" Type="http://schemas.openxmlformats.org/officeDocument/2006/relationships/image" Target="../media/image1340.png"/></Relationships>
</file>

<file path=ppt/slides/_rels/slide58.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179.svg"/><Relationship Id="rId3" Type="http://schemas.openxmlformats.org/officeDocument/2006/relationships/image" Target="../media/image1.png"/><Relationship Id="rId7" Type="http://schemas.openxmlformats.org/officeDocument/2006/relationships/image" Target="../media/image177.svg"/><Relationship Id="rId12" Type="http://schemas.openxmlformats.org/officeDocument/2006/relationships/image" Target="../media/image178.png"/><Relationship Id="rId17" Type="http://schemas.openxmlformats.org/officeDocument/2006/relationships/image" Target="../media/image301.png"/><Relationship Id="rId2" Type="http://schemas.openxmlformats.org/officeDocument/2006/relationships/image" Target="../media/image49.png"/><Relationship Id="rId16" Type="http://schemas.openxmlformats.org/officeDocument/2006/relationships/image" Target="../media/image290.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image" Target="../media/image241.png"/><Relationship Id="rId5" Type="http://schemas.openxmlformats.org/officeDocument/2006/relationships/image" Target="../media/image51.png"/><Relationship Id="rId15" Type="http://schemas.openxmlformats.org/officeDocument/2006/relationships/image" Target="../media/image282.png"/><Relationship Id="rId10" Type="http://schemas.openxmlformats.org/officeDocument/2006/relationships/image" Target="../media/image232.png"/><Relationship Id="rId4" Type="http://schemas.openxmlformats.org/officeDocument/2006/relationships/image" Target="../media/image50.png"/><Relationship Id="rId9" Type="http://schemas.openxmlformats.org/officeDocument/2006/relationships/image" Target="../media/image222.png"/><Relationship Id="rId14" Type="http://schemas.openxmlformats.org/officeDocument/2006/relationships/image" Target="../media/image271.png"/></Relationships>
</file>

<file path=ppt/slides/_rels/slide59.xml.rels><?xml version="1.0" encoding="UTF-8" standalone="yes"?>
<Relationships xmlns="http://schemas.openxmlformats.org/package/2006/relationships"><Relationship Id="rId8" Type="http://schemas.openxmlformats.org/officeDocument/2006/relationships/image" Target="../media/image331.png"/><Relationship Id="rId13" Type="http://schemas.openxmlformats.org/officeDocument/2006/relationships/image" Target="../media/image167.svg"/><Relationship Id="rId18" Type="http://schemas.openxmlformats.org/officeDocument/2006/relationships/image" Target="../media/image411.png"/><Relationship Id="rId3" Type="http://schemas.openxmlformats.org/officeDocument/2006/relationships/image" Target="../media/image1.png"/><Relationship Id="rId21" Type="http://schemas.openxmlformats.org/officeDocument/2006/relationships/image" Target="../media/image440.png"/><Relationship Id="rId7" Type="http://schemas.openxmlformats.org/officeDocument/2006/relationships/image" Target="../media/image162.svg"/><Relationship Id="rId12" Type="http://schemas.openxmlformats.org/officeDocument/2006/relationships/image" Target="../media/image166.png"/><Relationship Id="rId17" Type="http://schemas.openxmlformats.org/officeDocument/2006/relationships/image" Target="../media/image401.png"/><Relationship Id="rId2" Type="http://schemas.openxmlformats.org/officeDocument/2006/relationships/image" Target="../media/image49.png"/><Relationship Id="rId16" Type="http://schemas.openxmlformats.org/officeDocument/2006/relationships/image" Target="../media/image390.png"/><Relationship Id="rId20" Type="http://schemas.openxmlformats.org/officeDocument/2006/relationships/image" Target="../media/image165.svg"/><Relationship Id="rId1" Type="http://schemas.openxmlformats.org/officeDocument/2006/relationships/slideLayout" Target="../slideLayouts/slideLayout7.xml"/><Relationship Id="rId6" Type="http://schemas.openxmlformats.org/officeDocument/2006/relationships/image" Target="../media/image161.png"/><Relationship Id="rId11" Type="http://schemas.openxmlformats.org/officeDocument/2006/relationships/image" Target="../media/image360.png"/><Relationship Id="rId5" Type="http://schemas.openxmlformats.org/officeDocument/2006/relationships/image" Target="../media/image51.png"/><Relationship Id="rId15" Type="http://schemas.openxmlformats.org/officeDocument/2006/relationships/image" Target="../media/image380.png"/><Relationship Id="rId23" Type="http://schemas.openxmlformats.org/officeDocument/2006/relationships/image" Target="../media/image460.png"/><Relationship Id="rId10" Type="http://schemas.openxmlformats.org/officeDocument/2006/relationships/image" Target="../media/image350.png"/><Relationship Id="rId19" Type="http://schemas.openxmlformats.org/officeDocument/2006/relationships/image" Target="../media/image164.png"/><Relationship Id="rId4" Type="http://schemas.openxmlformats.org/officeDocument/2006/relationships/image" Target="../media/image50.png"/><Relationship Id="rId9" Type="http://schemas.openxmlformats.org/officeDocument/2006/relationships/image" Target="../media/image341.png"/><Relationship Id="rId14" Type="http://schemas.openxmlformats.org/officeDocument/2006/relationships/image" Target="../media/image370.png"/><Relationship Id="rId22" Type="http://schemas.openxmlformats.org/officeDocument/2006/relationships/image" Target="../media/image450.png"/></Relationships>
</file>

<file path=ppt/slides/_rels/slide60.xml.rels><?xml version="1.0" encoding="UTF-8" standalone="yes"?>
<Relationships xmlns="http://schemas.openxmlformats.org/package/2006/relationships"><Relationship Id="rId8" Type="http://schemas.openxmlformats.org/officeDocument/2006/relationships/image" Target="../media/image158.svg"/><Relationship Id="rId13" Type="http://schemas.openxmlformats.org/officeDocument/2006/relationships/image" Target="../media/image541.png"/><Relationship Id="rId18" Type="http://schemas.openxmlformats.org/officeDocument/2006/relationships/image" Target="../media/image181.svg"/><Relationship Id="rId3" Type="http://schemas.openxmlformats.org/officeDocument/2006/relationships/image" Target="../media/image1.png"/><Relationship Id="rId21" Type="http://schemas.openxmlformats.org/officeDocument/2006/relationships/image" Target="../media/image601.png"/><Relationship Id="rId7" Type="http://schemas.openxmlformats.org/officeDocument/2006/relationships/image" Target="../media/image157.png"/><Relationship Id="rId12" Type="http://schemas.openxmlformats.org/officeDocument/2006/relationships/image" Target="../media/image531.png"/><Relationship Id="rId17" Type="http://schemas.openxmlformats.org/officeDocument/2006/relationships/image" Target="../media/image180.png"/><Relationship Id="rId25" Type="http://schemas.openxmlformats.org/officeDocument/2006/relationships/image" Target="../media/image561.png"/><Relationship Id="rId2" Type="http://schemas.openxmlformats.org/officeDocument/2006/relationships/image" Target="../media/image49.png"/><Relationship Id="rId16" Type="http://schemas.openxmlformats.org/officeDocument/2006/relationships/image" Target="../media/image165.svg"/><Relationship Id="rId20" Type="http://schemas.openxmlformats.org/officeDocument/2006/relationships/image" Target="../media/image590.png"/><Relationship Id="rId1" Type="http://schemas.openxmlformats.org/officeDocument/2006/relationships/slideLayout" Target="../slideLayouts/slideLayout7.xml"/><Relationship Id="rId6" Type="http://schemas.openxmlformats.org/officeDocument/2006/relationships/image" Target="../media/image470.png"/><Relationship Id="rId11" Type="http://schemas.openxmlformats.org/officeDocument/2006/relationships/image" Target="../media/image521.png"/><Relationship Id="rId24" Type="http://schemas.openxmlformats.org/officeDocument/2006/relationships/image" Target="../media/image631.png"/><Relationship Id="rId5" Type="http://schemas.openxmlformats.org/officeDocument/2006/relationships/image" Target="../media/image51.png"/><Relationship Id="rId15" Type="http://schemas.openxmlformats.org/officeDocument/2006/relationships/image" Target="../media/image164.png"/><Relationship Id="rId23" Type="http://schemas.openxmlformats.org/officeDocument/2006/relationships/image" Target="../media/image621.png"/><Relationship Id="rId10" Type="http://schemas.openxmlformats.org/officeDocument/2006/relationships/image" Target="../media/image511.png"/><Relationship Id="rId19" Type="http://schemas.openxmlformats.org/officeDocument/2006/relationships/image" Target="../media/image580.png"/><Relationship Id="rId4" Type="http://schemas.openxmlformats.org/officeDocument/2006/relationships/image" Target="../media/image50.png"/><Relationship Id="rId9" Type="http://schemas.openxmlformats.org/officeDocument/2006/relationships/image" Target="../media/image501.png"/><Relationship Id="rId14" Type="http://schemas.openxmlformats.org/officeDocument/2006/relationships/image" Target="../media/image551.png"/><Relationship Id="rId22" Type="http://schemas.openxmlformats.org/officeDocument/2006/relationships/image" Target="../media/image611.png"/></Relationships>
</file>

<file path=ppt/slides/_rels/slide61.xml.rels><?xml version="1.0" encoding="UTF-8" standalone="yes"?>
<Relationships xmlns="http://schemas.openxmlformats.org/package/2006/relationships"><Relationship Id="rId8" Type="http://schemas.openxmlformats.org/officeDocument/2006/relationships/image" Target="../media/image158.svg"/><Relationship Id="rId3" Type="http://schemas.openxmlformats.org/officeDocument/2006/relationships/image" Target="../media/image1.png"/><Relationship Id="rId7" Type="http://schemas.openxmlformats.org/officeDocument/2006/relationships/image" Target="../media/image157.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650.png"/><Relationship Id="rId5" Type="http://schemas.openxmlformats.org/officeDocument/2006/relationships/image" Target="../media/image51.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140.png"/><Relationship Id="rId3" Type="http://schemas.openxmlformats.org/officeDocument/2006/relationships/image" Target="../media/image49.png"/><Relationship Id="rId7" Type="http://schemas.openxmlformats.org/officeDocument/2006/relationships/image" Target="../media/image570.png"/><Relationship Id="rId12" Type="http://schemas.openxmlformats.org/officeDocument/2006/relationships/image" Target="../media/image1020.png"/><Relationship Id="rId2" Type="http://schemas.openxmlformats.org/officeDocument/2006/relationships/notesSlide" Target="../notesSlides/notesSlide6.xml"/><Relationship Id="rId16" Type="http://schemas.openxmlformats.org/officeDocument/2006/relationships/image" Target="../media/image1420.png"/><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900.png"/><Relationship Id="rId5" Type="http://schemas.openxmlformats.org/officeDocument/2006/relationships/image" Target="../media/image50.png"/><Relationship Id="rId15" Type="http://schemas.openxmlformats.org/officeDocument/2006/relationships/image" Target="../media/image1330.png"/><Relationship Id="rId10" Type="http://schemas.openxmlformats.org/officeDocument/2006/relationships/image" Target="../media/image830.png"/><Relationship Id="rId4" Type="http://schemas.openxmlformats.org/officeDocument/2006/relationships/image" Target="../media/image1.png"/><Relationship Id="rId9" Type="http://schemas.openxmlformats.org/officeDocument/2006/relationships/image" Target="../media/image185.svg"/><Relationship Id="rId14" Type="http://schemas.openxmlformats.org/officeDocument/2006/relationships/image" Target="../media/image1230.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64.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png"/><Relationship Id="rId7" Type="http://schemas.openxmlformats.org/officeDocument/2006/relationships/image" Target="../media/image56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10.png"/><Relationship Id="rId5" Type="http://schemas.openxmlformats.org/officeDocument/2006/relationships/image" Target="../media/image73.png"/><Relationship Id="rId10" Type="http://schemas.openxmlformats.org/officeDocument/2006/relationships/hyperlink" Target="https://tr.depositphotos.com/30321347/stock-illustration-illustration-of-a-burning-candle.html" TargetMode="External"/><Relationship Id="rId4" Type="http://schemas.openxmlformats.org/officeDocument/2006/relationships/image" Target="../media/image2.png"/><Relationship Id="rId9" Type="http://schemas.microsoft.com/office/2007/relationships/hdphoto" Target="../media/hdphoto3.wdp"/></Relationships>
</file>

<file path=ppt/slides/_rels/slide65.xml.rels><?xml version="1.0" encoding="UTF-8" standalone="yes"?>
<Relationships xmlns="http://schemas.openxmlformats.org/package/2006/relationships"><Relationship Id="rId8" Type="http://schemas.openxmlformats.org/officeDocument/2006/relationships/hyperlink" Target="https://tr.depositphotos.com/30321347/stock-illustration-illustration-of-a-burning-candle.html" TargetMode="External"/><Relationship Id="rId3" Type="http://schemas.openxmlformats.org/officeDocument/2006/relationships/image" Target="../media/image1.png"/><Relationship Id="rId7" Type="http://schemas.microsoft.com/office/2007/relationships/hdphoto" Target="../media/hdphoto3.wdp"/><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6.png"/><Relationship Id="rId5" Type="http://schemas.openxmlformats.org/officeDocument/2006/relationships/image" Target="../media/image73.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41.png"/><Relationship Id="rId4" Type="http://schemas.openxmlformats.org/officeDocument/2006/relationships/image" Target="../media/image7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49.png"/><Relationship Id="rId7" Type="http://schemas.openxmlformats.org/officeDocument/2006/relationships/image" Target="../media/image55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 Id="rId9" Type="http://schemas.openxmlformats.org/officeDocument/2006/relationships/image" Target="../media/image740.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130.png"/><Relationship Id="rId5" Type="http://schemas.openxmlformats.org/officeDocument/2006/relationships/image" Target="../media/image51.png"/><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49.png"/><Relationship Id="rId7" Type="http://schemas.openxmlformats.org/officeDocument/2006/relationships/image" Target="../media/image122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72.xml.rels><?xml version="1.0" encoding="UTF-8" standalone="yes"?>
<Relationships xmlns="http://schemas.openxmlformats.org/package/2006/relationships"><Relationship Id="rId8" Type="http://schemas.openxmlformats.org/officeDocument/2006/relationships/image" Target="../media/image1390.png"/><Relationship Id="rId3" Type="http://schemas.openxmlformats.org/officeDocument/2006/relationships/image" Target="../media/image49.png"/><Relationship Id="rId7" Type="http://schemas.openxmlformats.org/officeDocument/2006/relationships/image" Target="../media/image138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9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80.png"/><Relationship Id="rId5" Type="http://schemas.openxmlformats.org/officeDocument/2006/relationships/image" Target="../media/image670.png"/><Relationship Id="rId4" Type="http://schemas.openxmlformats.org/officeDocument/2006/relationships/image" Target="../media/image73.png"/></Relationships>
</file>

<file path=ppt/slides/_rels/slide76.xml.rels><?xml version="1.0" encoding="UTF-8" standalone="yes"?>
<Relationships xmlns="http://schemas.openxmlformats.org/package/2006/relationships"><Relationship Id="rId8" Type="http://schemas.openxmlformats.org/officeDocument/2006/relationships/image" Target="../media/image730.png"/><Relationship Id="rId3" Type="http://schemas.openxmlformats.org/officeDocument/2006/relationships/image" Target="../media/image2.png"/><Relationship Id="rId7" Type="http://schemas.openxmlformats.org/officeDocument/2006/relationships/image" Target="../media/image6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40.png"/><Relationship Id="rId5" Type="http://schemas.openxmlformats.org/officeDocument/2006/relationships/image" Target="../media/image400.png"/><Relationship Id="rId4" Type="http://schemas.openxmlformats.org/officeDocument/2006/relationships/image" Target="../media/image73.png"/><Relationship Id="rId9" Type="http://schemas.openxmlformats.org/officeDocument/2006/relationships/image" Target="../media/image820.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8" Type="http://schemas.openxmlformats.org/officeDocument/2006/relationships/image" Target="../media/image720.png"/><Relationship Id="rId3" Type="http://schemas.openxmlformats.org/officeDocument/2006/relationships/image" Target="../media/image1.png"/><Relationship Id="rId7" Type="http://schemas.openxmlformats.org/officeDocument/2006/relationships/image" Target="../media/image62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20.png"/><Relationship Id="rId5" Type="http://schemas.openxmlformats.org/officeDocument/2006/relationships/image" Target="../media/image51.png"/><Relationship Id="rId4" Type="http://schemas.openxmlformats.org/officeDocument/2006/relationships/image" Target="../media/image50.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81.xml.rels><?xml version="1.0" encoding="UTF-8" standalone="yes"?>
<Relationships xmlns="http://schemas.openxmlformats.org/package/2006/relationships"><Relationship Id="rId8" Type="http://schemas.openxmlformats.org/officeDocument/2006/relationships/image" Target="../media/image1010.png"/><Relationship Id="rId3" Type="http://schemas.openxmlformats.org/officeDocument/2006/relationships/image" Target="../media/image1.png"/><Relationship Id="rId7" Type="http://schemas.openxmlformats.org/officeDocument/2006/relationships/image" Target="../media/image192.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210.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1120.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51.png"/><Relationship Id="rId4" Type="http://schemas.openxmlformats.org/officeDocument/2006/relationships/image" Target="../media/image50.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211.png"/><Relationship Id="rId5" Type="http://schemas.openxmlformats.org/officeDocument/2006/relationships/image" Target="../media/image51.png"/><Relationship Id="rId4" Type="http://schemas.openxmlformats.org/officeDocument/2006/relationships/image" Target="../media/image50.png"/></Relationships>
</file>

<file path=ppt/slides/_rels/slide84.xml.rels><?xml version="1.0" encoding="UTF-8" standalone="yes"?>
<Relationships xmlns="http://schemas.openxmlformats.org/package/2006/relationships"><Relationship Id="rId8" Type="http://schemas.openxmlformats.org/officeDocument/2006/relationships/image" Target="../media/image190.svg"/><Relationship Id="rId3" Type="http://schemas.openxmlformats.org/officeDocument/2006/relationships/image" Target="../media/image1.png"/><Relationship Id="rId7" Type="http://schemas.openxmlformats.org/officeDocument/2006/relationships/image" Target="../media/image18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51.png"/><Relationship Id="rId4" Type="http://schemas.openxmlformats.org/officeDocument/2006/relationships/image" Target="../media/image50.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1.png"/><Relationship Id="rId4" Type="http://schemas.openxmlformats.org/officeDocument/2006/relationships/image" Target="../media/image73.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88.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image" Target="../media/image2.png"/><Relationship Id="rId7" Type="http://schemas.openxmlformats.org/officeDocument/2006/relationships/image" Target="../media/image19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5.png"/><Relationship Id="rId5" Type="http://schemas.openxmlformats.org/officeDocument/2006/relationships/image" Target="../media/image194.png"/><Relationship Id="rId4" Type="http://schemas.openxmlformats.org/officeDocument/2006/relationships/image" Target="../media/image73.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91.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2.png"/><Relationship Id="rId7" Type="http://schemas.openxmlformats.org/officeDocument/2006/relationships/image" Target="../media/image34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0.png"/><Relationship Id="rId5" Type="http://schemas.openxmlformats.org/officeDocument/2006/relationships/image" Target="../media/image510.png"/><Relationship Id="rId4" Type="http://schemas.openxmlformats.org/officeDocument/2006/relationships/image" Target="../media/image73.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10.png"/><Relationship Id="rId4" Type="http://schemas.openxmlformats.org/officeDocument/2006/relationships/image" Target="../media/image73.png"/></Relationships>
</file>

<file path=ppt/slides/_rels/slide9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10.png"/><Relationship Id="rId5" Type="http://schemas.openxmlformats.org/officeDocument/2006/relationships/image" Target="../media/image73.png"/><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8" Type="http://schemas.openxmlformats.org/officeDocument/2006/relationships/image" Target="../media/image1610.png"/><Relationship Id="rId3" Type="http://schemas.openxmlformats.org/officeDocument/2006/relationships/image" Target="../media/image1.png"/><Relationship Id="rId7" Type="http://schemas.openxmlformats.org/officeDocument/2006/relationships/image" Target="../media/image152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2.png"/><Relationship Id="rId4" Type="http://schemas.openxmlformats.org/officeDocument/2006/relationships/image" Target="../media/image50.png"/></Relationships>
</file>

<file path=ppt/slides/_rels/slide95.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image" Target="../media/image1.png"/><Relationship Id="rId7" Type="http://schemas.openxmlformats.org/officeDocument/2006/relationships/image" Target="../media/image17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2.png"/><Relationship Id="rId4" Type="http://schemas.openxmlformats.org/officeDocument/2006/relationships/image" Target="../media/image50.png"/><Relationship Id="rId9" Type="http://schemas.openxmlformats.org/officeDocument/2006/relationships/image" Target="../media/image1910.png"/></Relationships>
</file>

<file path=ppt/slides/_rels/slide96.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2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0.png"/><Relationship Id="rId5" Type="http://schemas.openxmlformats.org/officeDocument/2006/relationships/image" Target="../media/image73.png"/><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23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1.png"/><Relationship Id="rId5" Type="http://schemas.openxmlformats.org/officeDocument/2006/relationships/image" Target="../media/image73.png"/><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50.png"/><Relationship Id="rId5" Type="http://schemas.openxmlformats.org/officeDocument/2006/relationships/image" Target="../media/image801.png"/><Relationship Id="rId4" Type="http://schemas.openxmlformats.org/officeDocument/2006/relationships/image" Target="../media/image73.pn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6.svg"/><Relationship Id="rId4" Type="http://schemas.openxmlformats.org/officeDocument/2006/relationships/image" Target="../media/image55.png"/></Relationships>
</file>

<file path=ppt/slides/_rels/slide100.xml.rels><?xml version="1.0" encoding="UTF-8" standalone="yes"?>
<Relationships xmlns="http://schemas.openxmlformats.org/package/2006/relationships"><Relationship Id="rId8" Type="http://schemas.openxmlformats.org/officeDocument/2006/relationships/image" Target="../media/image1590.png"/><Relationship Id="rId3" Type="http://schemas.openxmlformats.org/officeDocument/2006/relationships/image" Target="../media/image2.png"/><Relationship Id="rId7" Type="http://schemas.openxmlformats.org/officeDocument/2006/relationships/image" Target="../media/image158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70.png"/><Relationship Id="rId5" Type="http://schemas.openxmlformats.org/officeDocument/2006/relationships/image" Target="../media/image1560.png"/><Relationship Id="rId10" Type="http://schemas.openxmlformats.org/officeDocument/2006/relationships/image" Target="../media/image1640.png"/><Relationship Id="rId4" Type="http://schemas.openxmlformats.org/officeDocument/2006/relationships/image" Target="../media/image73.png"/><Relationship Id="rId9" Type="http://schemas.openxmlformats.org/officeDocument/2006/relationships/image" Target="../media/image1601.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05.xml.rels><?xml version="1.0" encoding="UTF-8" standalone="yes"?>
<Relationships xmlns="http://schemas.openxmlformats.org/package/2006/relationships"><Relationship Id="rId8" Type="http://schemas.openxmlformats.org/officeDocument/2006/relationships/image" Target="../media/image700.png"/><Relationship Id="rId3" Type="http://schemas.openxmlformats.org/officeDocument/2006/relationships/image" Target="../media/image1.png"/><Relationship Id="rId7" Type="http://schemas.openxmlformats.org/officeDocument/2006/relationships/image" Target="../media/image60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00.png"/><Relationship Id="rId5" Type="http://schemas.openxmlformats.org/officeDocument/2006/relationships/image" Target="../media/image51.png"/><Relationship Id="rId4" Type="http://schemas.openxmlformats.org/officeDocument/2006/relationships/image" Target="../media/image50.png"/></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0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800.png"/><Relationship Id="rId5" Type="http://schemas.openxmlformats.org/officeDocument/2006/relationships/image" Target="../media/image51.png"/><Relationship Id="rId4" Type="http://schemas.openxmlformats.org/officeDocument/2006/relationships/image" Target="../media/image50.png"/></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000.png"/><Relationship Id="rId5" Type="http://schemas.openxmlformats.org/officeDocument/2006/relationships/image" Target="../media/image51.png"/><Relationship Id="rId4" Type="http://schemas.openxmlformats.org/officeDocument/2006/relationships/image" Target="../media/image50.png"/></Relationships>
</file>

<file path=ppt/slides/_rels/slide108.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image" Target="../media/image1.png"/><Relationship Id="rId7" Type="http://schemas.openxmlformats.org/officeDocument/2006/relationships/image" Target="../media/image120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100.png"/><Relationship Id="rId11" Type="http://schemas.openxmlformats.org/officeDocument/2006/relationships/image" Target="../media/image1600.png"/><Relationship Id="rId5" Type="http://schemas.openxmlformats.org/officeDocument/2006/relationships/image" Target="../media/image51.png"/><Relationship Id="rId10" Type="http://schemas.openxmlformats.org/officeDocument/2006/relationships/image" Target="../media/image1500.png"/><Relationship Id="rId4" Type="http://schemas.openxmlformats.org/officeDocument/2006/relationships/image" Target="../media/image50.png"/><Relationship Id="rId9" Type="http://schemas.openxmlformats.org/officeDocument/2006/relationships/image" Target="../media/image1400.png"/></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700.png"/><Relationship Id="rId5" Type="http://schemas.openxmlformats.org/officeDocument/2006/relationships/image" Target="../media/image51.png"/><Relationship Id="rId4" Type="http://schemas.openxmlformats.org/officeDocument/2006/relationships/image" Target="../media/image50.png"/></Relationships>
</file>

<file path=ppt/slides/_rels/slide110.xml.rels><?xml version="1.0" encoding="UTF-8" standalone="yes"?>
<Relationships xmlns="http://schemas.openxmlformats.org/package/2006/relationships"><Relationship Id="rId8" Type="http://schemas.openxmlformats.org/officeDocument/2006/relationships/image" Target="../media/image281.png"/><Relationship Id="rId3" Type="http://schemas.openxmlformats.org/officeDocument/2006/relationships/image" Target="../media/image1.png"/><Relationship Id="rId7" Type="http://schemas.openxmlformats.org/officeDocument/2006/relationships/image" Target="../media/image19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800.pn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png"/><Relationship Id="rId9" Type="http://schemas.openxmlformats.org/officeDocument/2006/relationships/image" Target="../media/image55.png"/></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251.png"/><Relationship Id="rId5" Type="http://schemas.openxmlformats.org/officeDocument/2006/relationships/image" Target="../media/image51.png"/><Relationship Id="rId4" Type="http://schemas.openxmlformats.org/officeDocument/2006/relationships/image" Target="../media/image50.png"/></Relationships>
</file>

<file path=ppt/slides/_rels/slide112.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png"/><Relationship Id="rId7" Type="http://schemas.openxmlformats.org/officeDocument/2006/relationships/image" Target="../media/image23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220.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hyperlink" Target="https://pixabay.com/nl/checkbox-vinkje-mark-check-teek-303113/" TargetMode="External"/></Relationships>
</file>

<file path=ppt/slides/_rels/slide113.xml.rels><?xml version="1.0" encoding="UTF-8" standalone="yes"?>
<Relationships xmlns="http://schemas.openxmlformats.org/package/2006/relationships"><Relationship Id="rId8" Type="http://schemas.openxmlformats.org/officeDocument/2006/relationships/hyperlink" Target="https://pixabay.com/nl/checkbox-vinkje-mark-check-teek-303113/" TargetMode="External"/><Relationship Id="rId3" Type="http://schemas.openxmlformats.org/officeDocument/2006/relationships/image" Target="../media/image1.png"/><Relationship Id="rId7" Type="http://schemas.openxmlformats.org/officeDocument/2006/relationships/image" Target="../media/image203.png"/><Relationship Id="rId12" Type="http://schemas.openxmlformats.org/officeDocument/2006/relationships/image" Target="../media/image205.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1650.png"/><Relationship Id="rId11" Type="http://schemas.openxmlformats.org/officeDocument/2006/relationships/image" Target="../media/image204.png"/><Relationship Id="rId5" Type="http://schemas.openxmlformats.org/officeDocument/2006/relationships/image" Target="../media/image51.png"/><Relationship Id="rId10" Type="http://schemas.openxmlformats.org/officeDocument/2006/relationships/image" Target="../media/image270.png"/><Relationship Id="rId4" Type="http://schemas.openxmlformats.org/officeDocument/2006/relationships/image" Target="../media/image50.png"/><Relationship Id="rId9" Type="http://schemas.openxmlformats.org/officeDocument/2006/relationships/image" Target="../media/image1540.png"/></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6.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280.png"/><Relationship Id="rId5" Type="http://schemas.openxmlformats.org/officeDocument/2006/relationships/image" Target="../media/image51.png"/><Relationship Id="rId4" Type="http://schemas.openxmlformats.org/officeDocument/2006/relationships/image" Target="../media/image50.png"/></Relationships>
</file>

<file path=ppt/slides/_rels/slide11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1.png"/><Relationship Id="rId7" Type="http://schemas.openxmlformats.org/officeDocument/2006/relationships/image" Target="../media/image310.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300.png"/><Relationship Id="rId5" Type="http://schemas.openxmlformats.org/officeDocument/2006/relationships/image" Target="../media/image51.png"/><Relationship Id="rId4" Type="http://schemas.openxmlformats.org/officeDocument/2006/relationships/image" Target="../media/image50.png"/></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2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2.png"/><Relationship Id="rId7" Type="http://schemas.openxmlformats.org/officeDocument/2006/relationships/image" Target="../media/image34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0.png"/><Relationship Id="rId5" Type="http://schemas.openxmlformats.org/officeDocument/2006/relationships/image" Target="../media/image510.png"/><Relationship Id="rId4" Type="http://schemas.openxmlformats.org/officeDocument/2006/relationships/image" Target="../media/image73.png"/></Relationships>
</file>

<file path=ppt/slides/_rels/slide130.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2.png"/><Relationship Id="rId7" Type="http://schemas.openxmlformats.org/officeDocument/2006/relationships/image" Target="../media/image34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0.png"/><Relationship Id="rId5" Type="http://schemas.openxmlformats.org/officeDocument/2006/relationships/image" Target="../media/image510.png"/><Relationship Id="rId4" Type="http://schemas.openxmlformats.org/officeDocument/2006/relationships/image" Target="../media/image73.png"/></Relationships>
</file>

<file path=ppt/slides/_rels/slide131.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2.png"/><Relationship Id="rId7" Type="http://schemas.openxmlformats.org/officeDocument/2006/relationships/image" Target="../media/image7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10.png"/><Relationship Id="rId5" Type="http://schemas.openxmlformats.org/officeDocument/2006/relationships/image" Target="../media/image510.png"/><Relationship Id="rId4" Type="http://schemas.openxmlformats.org/officeDocument/2006/relationships/image" Target="../media/image73.png"/></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3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0.png"/><Relationship Id="rId7" Type="http://schemas.openxmlformats.org/officeDocument/2006/relationships/image" Target="../media/image11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10.png"/><Relationship Id="rId5" Type="http://schemas.openxmlformats.org/officeDocument/2006/relationships/image" Target="../media/image73.png"/><Relationship Id="rId4" Type="http://schemas.openxmlformats.org/officeDocument/2006/relationships/image" Target="../media/image2.png"/></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7.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207.jpeg"/><Relationship Id="rId5" Type="http://schemas.openxmlformats.org/officeDocument/2006/relationships/image" Target="../media/image51.png"/><Relationship Id="rId4" Type="http://schemas.openxmlformats.org/officeDocument/2006/relationships/image" Target="../media/image50.png"/></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51.png"/><Relationship Id="rId4" Type="http://schemas.openxmlformats.org/officeDocument/2006/relationships/image" Target="../media/image5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52374" y="534319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5" name="Beşgen 13">
            <a:extLst>
              <a:ext uri="{FF2B5EF4-FFF2-40B4-BE49-F238E27FC236}">
                <a16:creationId xmlns:a16="http://schemas.microsoft.com/office/drawing/2014/main" id="{2FA42AB1-19DF-484D-A93F-4FA85F6E6E7D}"/>
              </a:ext>
            </a:extLst>
          </p:cNvPr>
          <p:cNvSpPr/>
          <p:nvPr/>
        </p:nvSpPr>
        <p:spPr>
          <a:xfrm>
            <a:off x="98507" y="65554"/>
            <a:ext cx="180487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7" name="Metin kutusu 36">
            <a:extLst>
              <a:ext uri="{FF2B5EF4-FFF2-40B4-BE49-F238E27FC236}">
                <a16:creationId xmlns:a16="http://schemas.microsoft.com/office/drawing/2014/main" id="{51542F12-4F75-4E8E-80DE-BA298FAB2DF5}"/>
              </a:ext>
            </a:extLst>
          </p:cNvPr>
          <p:cNvSpPr txBox="1"/>
          <p:nvPr/>
        </p:nvSpPr>
        <p:spPr>
          <a:xfrm>
            <a:off x="28842" y="47366"/>
            <a:ext cx="1794465" cy="400110"/>
          </a:xfrm>
          <a:prstGeom prst="rect">
            <a:avLst/>
          </a:prstGeom>
          <a:noFill/>
        </p:spPr>
        <p:txBody>
          <a:bodyPr wrap="square" rtlCol="0">
            <a:spAutoFit/>
          </a:bodyPr>
          <a:lstStyle/>
          <a:p>
            <a:pPr marL="171450" indent="-171450">
              <a:buFont typeface="Wingdings" panose="05000000000000000000" pitchFamily="2" charset="2"/>
              <a:buChar char="ü"/>
            </a:pPr>
            <a:r>
              <a:rPr lang="tr-TR" sz="1000" b="1" noProof="1">
                <a:latin typeface="+mj-lt"/>
                <a:cs typeface="Arial" panose="020B0604020202020204" pitchFamily="34" charset="0"/>
              </a:rPr>
              <a:t>Hibrit Problemler Denemesi</a:t>
            </a:r>
          </a:p>
          <a:p>
            <a:pPr marL="171450" indent="-171450">
              <a:buFont typeface="Wingdings" panose="05000000000000000000" pitchFamily="2" charset="2"/>
              <a:buChar char="ü"/>
            </a:pPr>
            <a:r>
              <a:rPr lang="tr-TR" sz="1000" b="1" noProof="1">
                <a:latin typeface="+mj-lt"/>
                <a:cs typeface="Arial" panose="020B0604020202020204" pitchFamily="34" charset="0"/>
              </a:rPr>
              <a:t>YouTube : Ahmet Çelen</a:t>
            </a:r>
          </a:p>
        </p:txBody>
      </p:sp>
      <p:sp>
        <p:nvSpPr>
          <p:cNvPr id="41" name="Kaydırma: Yatay 40">
            <a:extLst>
              <a:ext uri="{FF2B5EF4-FFF2-40B4-BE49-F238E27FC236}">
                <a16:creationId xmlns:a16="http://schemas.microsoft.com/office/drawing/2014/main" id="{CBE917A6-082E-4560-A7B3-D3840412C8C3}"/>
              </a:ext>
            </a:extLst>
          </p:cNvPr>
          <p:cNvSpPr/>
          <p:nvPr/>
        </p:nvSpPr>
        <p:spPr>
          <a:xfrm>
            <a:off x="4403750" y="4441"/>
            <a:ext cx="1440160" cy="451675"/>
          </a:xfrm>
          <a:prstGeom prst="horizontalScroll">
            <a:avLst/>
          </a:prstGeom>
          <a:solidFill>
            <a:srgbClr val="BDA7F3">
              <a:alpha val="50000"/>
            </a:srgb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KG HAPPY" panose="02000000000000000000" pitchFamily="2" charset="0"/>
              </a:rPr>
              <a:t>DENEME 1</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46" name="Ok: Çentikli Sağ 8">
            <a:extLst>
              <a:ext uri="{FF2B5EF4-FFF2-40B4-BE49-F238E27FC236}">
                <a16:creationId xmlns:a16="http://schemas.microsoft.com/office/drawing/2014/main" id="{21BE44D5-EC14-4D45-9BD8-3B78272549CE}"/>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48" name="Metin kutusu 47">
            <a:extLst>
              <a:ext uri="{FF2B5EF4-FFF2-40B4-BE49-F238E27FC236}">
                <a16:creationId xmlns:a16="http://schemas.microsoft.com/office/drawing/2014/main" id="{3B2E8DCF-FFE0-421A-BB06-F15725219878}"/>
              </a:ext>
            </a:extLst>
          </p:cNvPr>
          <p:cNvSpPr txBox="1"/>
          <p:nvPr/>
        </p:nvSpPr>
        <p:spPr>
          <a:xfrm>
            <a:off x="4425582" y="208958"/>
            <a:ext cx="1523698"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pic>
        <p:nvPicPr>
          <p:cNvPr id="53" name="Grafik 52">
            <a:extLst>
              <a:ext uri="{FF2B5EF4-FFF2-40B4-BE49-F238E27FC236}">
                <a16:creationId xmlns:a16="http://schemas.microsoft.com/office/drawing/2014/main" id="{B3DC6F7F-2E25-4563-8B7D-C45DF71F639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245" y="16269"/>
            <a:ext cx="436517" cy="436517"/>
          </a:xfrm>
          <a:prstGeom prst="rect">
            <a:avLst/>
          </a:prstGeom>
        </p:spPr>
      </p:pic>
      <p:sp>
        <p:nvSpPr>
          <p:cNvPr id="29" name="Metin kutusu 28">
            <a:extLst>
              <a:ext uri="{FF2B5EF4-FFF2-40B4-BE49-F238E27FC236}">
                <a16:creationId xmlns:a16="http://schemas.microsoft.com/office/drawing/2014/main" id="{7DE24309-D38A-4E5D-9F34-0C8BF3397E89}"/>
              </a:ext>
            </a:extLst>
          </p:cNvPr>
          <p:cNvSpPr txBox="1"/>
          <p:nvPr/>
        </p:nvSpPr>
        <p:spPr>
          <a:xfrm>
            <a:off x="3508272" y="4403511"/>
            <a:ext cx="3281681" cy="553998"/>
          </a:xfrm>
          <a:prstGeom prst="rect">
            <a:avLst/>
          </a:prstGeom>
          <a:noFill/>
        </p:spPr>
        <p:txBody>
          <a:bodyPr wrap="square" rtlCol="0">
            <a:spAutoFit/>
          </a:bodyPr>
          <a:lstStyle/>
          <a:p>
            <a:r>
              <a:rPr lang="tr-TR" sz="1000" noProof="1"/>
              <a:t>A) 07.32                            B) 07.40                                   C) 07.48</a:t>
            </a:r>
          </a:p>
          <a:p>
            <a:pPr marL="228600" indent="-228600">
              <a:buAutoNum type="alphaUcParenR"/>
            </a:pPr>
            <a:endParaRPr lang="tr-TR" sz="1000" noProof="1"/>
          </a:p>
          <a:p>
            <a:r>
              <a:rPr lang="tr-TR" sz="1000" noProof="1"/>
              <a:t>                      D) 07.24                                        E) 08.24</a:t>
            </a:r>
          </a:p>
        </p:txBody>
      </p:sp>
      <p:sp>
        <p:nvSpPr>
          <p:cNvPr id="30" name="Metin kutusu 29">
            <a:extLst>
              <a:ext uri="{FF2B5EF4-FFF2-40B4-BE49-F238E27FC236}">
                <a16:creationId xmlns:a16="http://schemas.microsoft.com/office/drawing/2014/main" id="{FF157240-EC30-4512-B159-894064A27615}"/>
              </a:ext>
            </a:extLst>
          </p:cNvPr>
          <p:cNvSpPr txBox="1"/>
          <p:nvPr/>
        </p:nvSpPr>
        <p:spPr>
          <a:xfrm>
            <a:off x="3535513" y="465393"/>
            <a:ext cx="3400130" cy="400110"/>
          </a:xfrm>
          <a:prstGeom prst="rect">
            <a:avLst/>
          </a:prstGeom>
          <a:noFill/>
        </p:spPr>
        <p:txBody>
          <a:bodyPr wrap="square" rtlCol="0">
            <a:spAutoFit/>
          </a:bodyPr>
          <a:lstStyle/>
          <a:p>
            <a:r>
              <a:rPr lang="tr-TR" sz="1000" noProof="1">
                <a:cs typeface="Arial" panose="020B0604020202020204" pitchFamily="34" charset="0"/>
              </a:rPr>
              <a:t>Ankara`nın bir otobüs kalkış noktasında belirli saatlerde ilgili otobüslerin kalkış süreleri verilmiştir. </a:t>
            </a:r>
          </a:p>
        </p:txBody>
      </p:sp>
      <p:pic>
        <p:nvPicPr>
          <p:cNvPr id="31" name="Grafik 30">
            <a:extLst>
              <a:ext uri="{FF2B5EF4-FFF2-40B4-BE49-F238E27FC236}">
                <a16:creationId xmlns:a16="http://schemas.microsoft.com/office/drawing/2014/main" id="{851A9C90-8B7F-4C5B-A8B0-C95561DEC11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1535" y="899117"/>
            <a:ext cx="4045562" cy="2526961"/>
          </a:xfrm>
          <a:prstGeom prst="rect">
            <a:avLst/>
          </a:prstGeom>
        </p:spPr>
      </p:pic>
      <p:sp>
        <p:nvSpPr>
          <p:cNvPr id="32" name="Dikdörtgen 31">
            <a:extLst>
              <a:ext uri="{FF2B5EF4-FFF2-40B4-BE49-F238E27FC236}">
                <a16:creationId xmlns:a16="http://schemas.microsoft.com/office/drawing/2014/main" id="{AAB86E88-6D91-40A3-B53F-576A6094E97C}"/>
              </a:ext>
            </a:extLst>
          </p:cNvPr>
          <p:cNvSpPr/>
          <p:nvPr/>
        </p:nvSpPr>
        <p:spPr>
          <a:xfrm>
            <a:off x="4107602" y="1233231"/>
            <a:ext cx="1930092" cy="1743615"/>
          </a:xfrm>
          <a:prstGeom prst="rect">
            <a:avLst/>
          </a:prstGeom>
          <a:solidFill>
            <a:schemeClr val="bg1"/>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3" name="Dikdörtgen 32">
            <a:extLst>
              <a:ext uri="{FF2B5EF4-FFF2-40B4-BE49-F238E27FC236}">
                <a16:creationId xmlns:a16="http://schemas.microsoft.com/office/drawing/2014/main" id="{85B2EB9D-A9C9-452A-91D4-24AB802D4707}"/>
              </a:ext>
            </a:extLst>
          </p:cNvPr>
          <p:cNvSpPr/>
          <p:nvPr/>
        </p:nvSpPr>
        <p:spPr>
          <a:xfrm>
            <a:off x="4043235" y="1759822"/>
            <a:ext cx="2016189" cy="1294536"/>
          </a:xfrm>
          <a:prstGeom prst="rect">
            <a:avLst/>
          </a:prstGeom>
          <a:solidFill>
            <a:schemeClr val="accent1">
              <a:lumMod val="40000"/>
              <a:lumOff val="60000"/>
            </a:schemeClr>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4" name="Metin kutusu 33">
            <a:extLst>
              <a:ext uri="{FF2B5EF4-FFF2-40B4-BE49-F238E27FC236}">
                <a16:creationId xmlns:a16="http://schemas.microsoft.com/office/drawing/2014/main" id="{496508B1-2E7B-4E13-937E-F5086C63D0AE}"/>
              </a:ext>
            </a:extLst>
          </p:cNvPr>
          <p:cNvSpPr txBox="1"/>
          <p:nvPr/>
        </p:nvSpPr>
        <p:spPr>
          <a:xfrm>
            <a:off x="4040362" y="1516708"/>
            <a:ext cx="2024527" cy="246221"/>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tr-TR" sz="1000" noProof="1">
                <a:solidFill>
                  <a:srgbClr val="002060"/>
                </a:solidFill>
                <a:latin typeface="Allema" panose="03000505000000020004" pitchFamily="66" charset="-94"/>
                <a:cs typeface="Arial" panose="020B0604020202020204" pitchFamily="34" charset="0"/>
              </a:rPr>
              <a:t> Başkent  Online</a:t>
            </a:r>
          </a:p>
        </p:txBody>
      </p:sp>
      <p:graphicFrame>
        <p:nvGraphicFramePr>
          <p:cNvPr id="36" name="Tablo 31">
            <a:extLst>
              <a:ext uri="{FF2B5EF4-FFF2-40B4-BE49-F238E27FC236}">
                <a16:creationId xmlns:a16="http://schemas.microsoft.com/office/drawing/2014/main" id="{DEA97CB7-7B1A-42A0-A26E-38B59C74949A}"/>
              </a:ext>
            </a:extLst>
          </p:cNvPr>
          <p:cNvGraphicFramePr>
            <a:graphicFrameLocks noGrp="1"/>
          </p:cNvGraphicFramePr>
          <p:nvPr>
            <p:extLst>
              <p:ext uri="{D42A27DB-BD31-4B8C-83A1-F6EECF244321}">
                <p14:modId xmlns:p14="http://schemas.microsoft.com/office/powerpoint/2010/main" val="2596459910"/>
              </p:ext>
            </p:extLst>
          </p:nvPr>
        </p:nvGraphicFramePr>
        <p:xfrm>
          <a:off x="4074630" y="1836940"/>
          <a:ext cx="1930091" cy="685800"/>
        </p:xfrm>
        <a:graphic>
          <a:graphicData uri="http://schemas.openxmlformats.org/drawingml/2006/table">
            <a:tbl>
              <a:tblPr firstRow="1" bandRow="1">
                <a:tableStyleId>{00A15C55-8517-42AA-B614-E9B94910E393}</a:tableStyleId>
              </a:tblPr>
              <a:tblGrid>
                <a:gridCol w="358241">
                  <a:extLst>
                    <a:ext uri="{9D8B030D-6E8A-4147-A177-3AD203B41FA5}">
                      <a16:colId xmlns:a16="http://schemas.microsoft.com/office/drawing/2014/main" val="879355150"/>
                    </a:ext>
                  </a:extLst>
                </a:gridCol>
                <a:gridCol w="413598">
                  <a:extLst>
                    <a:ext uri="{9D8B030D-6E8A-4147-A177-3AD203B41FA5}">
                      <a16:colId xmlns:a16="http://schemas.microsoft.com/office/drawing/2014/main" val="3314405566"/>
                    </a:ext>
                  </a:extLst>
                </a:gridCol>
                <a:gridCol w="407552">
                  <a:extLst>
                    <a:ext uri="{9D8B030D-6E8A-4147-A177-3AD203B41FA5}">
                      <a16:colId xmlns:a16="http://schemas.microsoft.com/office/drawing/2014/main" val="1856837607"/>
                    </a:ext>
                  </a:extLst>
                </a:gridCol>
                <a:gridCol w="360040">
                  <a:extLst>
                    <a:ext uri="{9D8B030D-6E8A-4147-A177-3AD203B41FA5}">
                      <a16:colId xmlns:a16="http://schemas.microsoft.com/office/drawing/2014/main" val="216211759"/>
                    </a:ext>
                  </a:extLst>
                </a:gridCol>
                <a:gridCol w="390660">
                  <a:extLst>
                    <a:ext uri="{9D8B030D-6E8A-4147-A177-3AD203B41FA5}">
                      <a16:colId xmlns:a16="http://schemas.microsoft.com/office/drawing/2014/main" val="2844501065"/>
                    </a:ext>
                  </a:extLst>
                </a:gridCol>
              </a:tblGrid>
              <a:tr h="205045">
                <a:tc>
                  <a:txBody>
                    <a:bodyPr/>
                    <a:lstStyle/>
                    <a:p>
                      <a:pPr algn="ctr"/>
                      <a:endParaRPr lang="tr-TR" sz="9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42317"/>
                  </a:ext>
                </a:extLst>
              </a:tr>
              <a:tr h="205045">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72313"/>
                  </a:ext>
                </a:extLst>
              </a:tr>
              <a:tr h="205045">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4990685"/>
                  </a:ext>
                </a:extLst>
              </a:tr>
            </a:tbl>
          </a:graphicData>
        </a:graphic>
      </p:graphicFrame>
      <p:pic>
        <p:nvPicPr>
          <p:cNvPr id="38" name="Grafik 37">
            <a:extLst>
              <a:ext uri="{FF2B5EF4-FFF2-40B4-BE49-F238E27FC236}">
                <a16:creationId xmlns:a16="http://schemas.microsoft.com/office/drawing/2014/main" id="{6579769C-223E-486D-9CC7-854B4DDA6A24}"/>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88322" y="1269439"/>
            <a:ext cx="144097" cy="144097"/>
          </a:xfrm>
          <a:prstGeom prst="rect">
            <a:avLst/>
          </a:prstGeom>
        </p:spPr>
      </p:pic>
      <p:pic>
        <p:nvPicPr>
          <p:cNvPr id="39" name="Grafik 38">
            <a:extLst>
              <a:ext uri="{FF2B5EF4-FFF2-40B4-BE49-F238E27FC236}">
                <a16:creationId xmlns:a16="http://schemas.microsoft.com/office/drawing/2014/main" id="{357E59FA-5271-43D6-8F6A-CA603297F30A}"/>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28493" y="1268381"/>
            <a:ext cx="144097" cy="144097"/>
          </a:xfrm>
          <a:prstGeom prst="rect">
            <a:avLst/>
          </a:prstGeom>
        </p:spPr>
      </p:pic>
      <p:pic>
        <p:nvPicPr>
          <p:cNvPr id="40" name="Grafik 39">
            <a:extLst>
              <a:ext uri="{FF2B5EF4-FFF2-40B4-BE49-F238E27FC236}">
                <a16:creationId xmlns:a16="http://schemas.microsoft.com/office/drawing/2014/main" id="{4F93C9FE-FB84-446B-9ED5-7FE8B631F27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83635" y="1260826"/>
            <a:ext cx="178370" cy="178370"/>
          </a:xfrm>
          <a:prstGeom prst="rect">
            <a:avLst/>
          </a:prstGeom>
        </p:spPr>
      </p:pic>
      <p:pic>
        <p:nvPicPr>
          <p:cNvPr id="42" name="Grafik 41">
            <a:extLst>
              <a:ext uri="{FF2B5EF4-FFF2-40B4-BE49-F238E27FC236}">
                <a16:creationId xmlns:a16="http://schemas.microsoft.com/office/drawing/2014/main" id="{CD3F81B2-9D3B-4B51-8D92-19C0EFF4FAC4}"/>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97019" y="1251731"/>
            <a:ext cx="223373" cy="223373"/>
          </a:xfrm>
          <a:prstGeom prst="rect">
            <a:avLst/>
          </a:prstGeom>
        </p:spPr>
      </p:pic>
      <p:sp>
        <p:nvSpPr>
          <p:cNvPr id="43" name="Metin kutusu 42">
            <a:extLst>
              <a:ext uri="{FF2B5EF4-FFF2-40B4-BE49-F238E27FC236}">
                <a16:creationId xmlns:a16="http://schemas.microsoft.com/office/drawing/2014/main" id="{A8AF5903-090D-48C0-BC5A-4CB69AD8A6B2}"/>
              </a:ext>
            </a:extLst>
          </p:cNvPr>
          <p:cNvSpPr txBox="1"/>
          <p:nvPr/>
        </p:nvSpPr>
        <p:spPr>
          <a:xfrm>
            <a:off x="5653366" y="1251967"/>
            <a:ext cx="502169" cy="230832"/>
          </a:xfrm>
          <a:prstGeom prst="rect">
            <a:avLst/>
          </a:prstGeom>
          <a:noFill/>
        </p:spPr>
        <p:txBody>
          <a:bodyPr wrap="square" rtlCol="0">
            <a:spAutoFit/>
          </a:bodyPr>
          <a:lstStyle/>
          <a:p>
            <a:r>
              <a:rPr lang="tr-TR" sz="900" b="1" noProof="1"/>
              <a:t>06.54</a:t>
            </a:r>
          </a:p>
        </p:txBody>
      </p:sp>
      <p:pic>
        <p:nvPicPr>
          <p:cNvPr id="44" name="Grafik 43">
            <a:extLst>
              <a:ext uri="{FF2B5EF4-FFF2-40B4-BE49-F238E27FC236}">
                <a16:creationId xmlns:a16="http://schemas.microsoft.com/office/drawing/2014/main" id="{7B53D9D6-C8AE-4732-84BD-45BF9B08362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360645" y="1235827"/>
            <a:ext cx="222485" cy="222485"/>
          </a:xfrm>
          <a:prstGeom prst="rect">
            <a:avLst/>
          </a:prstGeom>
        </p:spPr>
      </p:pic>
      <p:sp>
        <p:nvSpPr>
          <p:cNvPr id="45" name="Dikdörtgen: Köşeleri Yuvarlatılmış 44">
            <a:extLst>
              <a:ext uri="{FF2B5EF4-FFF2-40B4-BE49-F238E27FC236}">
                <a16:creationId xmlns:a16="http://schemas.microsoft.com/office/drawing/2014/main" id="{F1B008E5-D05C-4EA9-873E-73CB83F52B21}"/>
              </a:ext>
            </a:extLst>
          </p:cNvPr>
          <p:cNvSpPr/>
          <p:nvPr/>
        </p:nvSpPr>
        <p:spPr>
          <a:xfrm>
            <a:off x="4069565" y="2650695"/>
            <a:ext cx="632421" cy="355349"/>
          </a:xfrm>
          <a:prstGeom prst="roundRec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55" name="Dikdörtgen: Köşeleri Yuvarlatılmış 54">
            <a:extLst>
              <a:ext uri="{FF2B5EF4-FFF2-40B4-BE49-F238E27FC236}">
                <a16:creationId xmlns:a16="http://schemas.microsoft.com/office/drawing/2014/main" id="{2E454FAF-9F48-4DE1-ABF8-970535097C82}"/>
              </a:ext>
            </a:extLst>
          </p:cNvPr>
          <p:cNvSpPr/>
          <p:nvPr/>
        </p:nvSpPr>
        <p:spPr>
          <a:xfrm>
            <a:off x="4762005" y="2646496"/>
            <a:ext cx="611939" cy="355349"/>
          </a:xfrm>
          <a:prstGeom prst="roundRec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sz="1000" dirty="0"/>
          </a:p>
        </p:txBody>
      </p:sp>
      <p:sp>
        <p:nvSpPr>
          <p:cNvPr id="56" name="Dikdörtgen: Köşeleri Yuvarlatılmış 55">
            <a:extLst>
              <a:ext uri="{FF2B5EF4-FFF2-40B4-BE49-F238E27FC236}">
                <a16:creationId xmlns:a16="http://schemas.microsoft.com/office/drawing/2014/main" id="{C5888094-C3DE-4086-B21F-1E13CF835361}"/>
              </a:ext>
            </a:extLst>
          </p:cNvPr>
          <p:cNvSpPr/>
          <p:nvPr/>
        </p:nvSpPr>
        <p:spPr>
          <a:xfrm>
            <a:off x="5416139" y="2650694"/>
            <a:ext cx="601090" cy="355349"/>
          </a:xfrm>
          <a:prstGeom prst="roundRec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sz="1000"/>
          </a:p>
        </p:txBody>
      </p:sp>
      <p:sp>
        <p:nvSpPr>
          <p:cNvPr id="57" name="Metin kutusu 56">
            <a:extLst>
              <a:ext uri="{FF2B5EF4-FFF2-40B4-BE49-F238E27FC236}">
                <a16:creationId xmlns:a16="http://schemas.microsoft.com/office/drawing/2014/main" id="{71FF389C-3ABA-4E5A-8306-F1164C67C0B7}"/>
              </a:ext>
            </a:extLst>
          </p:cNvPr>
          <p:cNvSpPr txBox="1"/>
          <p:nvPr/>
        </p:nvSpPr>
        <p:spPr>
          <a:xfrm>
            <a:off x="4063685" y="2621913"/>
            <a:ext cx="658156" cy="184666"/>
          </a:xfrm>
          <a:prstGeom prst="rect">
            <a:avLst/>
          </a:prstGeom>
          <a:noFill/>
        </p:spPr>
        <p:txBody>
          <a:bodyPr wrap="square" rtlCol="0">
            <a:spAutoFit/>
          </a:bodyPr>
          <a:lstStyle/>
          <a:p>
            <a:pPr algn="ctr"/>
            <a:r>
              <a:rPr lang="tr-TR" sz="600" b="1" noProof="1">
                <a:latin typeface="Arial Narrow" panose="020B0606020202030204" pitchFamily="34" charset="0"/>
              </a:rPr>
              <a:t>Tüm Hatlar</a:t>
            </a:r>
          </a:p>
        </p:txBody>
      </p:sp>
      <p:sp>
        <p:nvSpPr>
          <p:cNvPr id="58" name="Metin kutusu 57">
            <a:extLst>
              <a:ext uri="{FF2B5EF4-FFF2-40B4-BE49-F238E27FC236}">
                <a16:creationId xmlns:a16="http://schemas.microsoft.com/office/drawing/2014/main" id="{A68E1C35-BF1E-406A-B68F-D4B89E277CAB}"/>
              </a:ext>
            </a:extLst>
          </p:cNvPr>
          <p:cNvSpPr txBox="1"/>
          <p:nvPr/>
        </p:nvSpPr>
        <p:spPr>
          <a:xfrm>
            <a:off x="4729570" y="2635780"/>
            <a:ext cx="916635" cy="184666"/>
          </a:xfrm>
          <a:prstGeom prst="rect">
            <a:avLst/>
          </a:prstGeom>
          <a:noFill/>
        </p:spPr>
        <p:txBody>
          <a:bodyPr wrap="square" rtlCol="0">
            <a:spAutoFit/>
          </a:bodyPr>
          <a:lstStyle/>
          <a:p>
            <a:r>
              <a:rPr lang="tr-TR" sz="600" b="1" noProof="1">
                <a:latin typeface="Arial Narrow" panose="020B0606020202030204" pitchFamily="34" charset="0"/>
              </a:rPr>
              <a:t>Otobüs nerede?</a:t>
            </a:r>
          </a:p>
        </p:txBody>
      </p:sp>
      <p:sp>
        <p:nvSpPr>
          <p:cNvPr id="59" name="Metin kutusu 58">
            <a:extLst>
              <a:ext uri="{FF2B5EF4-FFF2-40B4-BE49-F238E27FC236}">
                <a16:creationId xmlns:a16="http://schemas.microsoft.com/office/drawing/2014/main" id="{3BFFAD26-EAE9-4BB6-BC26-82C00988C7B0}"/>
              </a:ext>
            </a:extLst>
          </p:cNvPr>
          <p:cNvSpPr txBox="1"/>
          <p:nvPr/>
        </p:nvSpPr>
        <p:spPr>
          <a:xfrm>
            <a:off x="5407541" y="2629158"/>
            <a:ext cx="615569" cy="184666"/>
          </a:xfrm>
          <a:prstGeom prst="rect">
            <a:avLst/>
          </a:prstGeom>
          <a:noFill/>
        </p:spPr>
        <p:txBody>
          <a:bodyPr wrap="square" rtlCol="0">
            <a:spAutoFit/>
          </a:bodyPr>
          <a:lstStyle/>
          <a:p>
            <a:pPr algn="ctr"/>
            <a:r>
              <a:rPr lang="tr-TR" sz="600" b="1" noProof="1">
                <a:latin typeface="Arial Narrow" panose="020B0606020202030204" pitchFamily="34" charset="0"/>
              </a:rPr>
              <a:t>Bilgi Sistemi</a:t>
            </a:r>
          </a:p>
        </p:txBody>
      </p:sp>
      <p:pic>
        <p:nvPicPr>
          <p:cNvPr id="60" name="Grafik 59">
            <a:extLst>
              <a:ext uri="{FF2B5EF4-FFF2-40B4-BE49-F238E27FC236}">
                <a16:creationId xmlns:a16="http://schemas.microsoft.com/office/drawing/2014/main" id="{04EC35E0-BCAE-42AB-9F72-120FB6E59678}"/>
              </a:ext>
            </a:extLst>
          </p:cNvPr>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830387" y="2774391"/>
            <a:ext cx="209289" cy="209289"/>
          </a:xfrm>
          <a:prstGeom prst="rect">
            <a:avLst/>
          </a:prstGeom>
        </p:spPr>
      </p:pic>
      <p:pic>
        <p:nvPicPr>
          <p:cNvPr id="61" name="Grafik 60">
            <a:extLst>
              <a:ext uri="{FF2B5EF4-FFF2-40B4-BE49-F238E27FC236}">
                <a16:creationId xmlns:a16="http://schemas.microsoft.com/office/drawing/2014/main" id="{95FD6A25-101F-4303-A94C-A75295717B93}"/>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086899" y="2784057"/>
            <a:ext cx="184195" cy="184195"/>
          </a:xfrm>
          <a:prstGeom prst="rect">
            <a:avLst/>
          </a:prstGeom>
        </p:spPr>
      </p:pic>
      <p:pic>
        <p:nvPicPr>
          <p:cNvPr id="62" name="Grafik 61">
            <a:extLst>
              <a:ext uri="{FF2B5EF4-FFF2-40B4-BE49-F238E27FC236}">
                <a16:creationId xmlns:a16="http://schemas.microsoft.com/office/drawing/2014/main" id="{8967CD2F-D645-4F15-821F-2A5A236FE0B9}"/>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08705" y="2762032"/>
            <a:ext cx="224105" cy="224105"/>
          </a:xfrm>
          <a:prstGeom prst="rect">
            <a:avLst/>
          </a:prstGeom>
        </p:spPr>
      </p:pic>
      <p:pic>
        <p:nvPicPr>
          <p:cNvPr id="63" name="Grafik 62">
            <a:extLst>
              <a:ext uri="{FF2B5EF4-FFF2-40B4-BE49-F238E27FC236}">
                <a16:creationId xmlns:a16="http://schemas.microsoft.com/office/drawing/2014/main" id="{9D244858-1E37-4BC1-88BB-2B53889FD792}"/>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61998" y="2762852"/>
            <a:ext cx="223373" cy="223373"/>
          </a:xfrm>
          <a:prstGeom prst="rect">
            <a:avLst/>
          </a:prstGeom>
        </p:spPr>
      </p:pic>
      <p:pic>
        <p:nvPicPr>
          <p:cNvPr id="64" name="Resim 63">
            <a:extLst>
              <a:ext uri="{FF2B5EF4-FFF2-40B4-BE49-F238E27FC236}">
                <a16:creationId xmlns:a16="http://schemas.microsoft.com/office/drawing/2014/main" id="{9A26A3C4-E6EB-47B8-AA35-AAD3E0E9366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4941948" y="945963"/>
            <a:ext cx="231159" cy="231159"/>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5" name="Metin kutusu 64">
            <a:extLst>
              <a:ext uri="{FF2B5EF4-FFF2-40B4-BE49-F238E27FC236}">
                <a16:creationId xmlns:a16="http://schemas.microsoft.com/office/drawing/2014/main" id="{3FEDE496-2528-43FA-A61C-7E90FB45B554}"/>
              </a:ext>
            </a:extLst>
          </p:cNvPr>
          <p:cNvSpPr txBox="1"/>
          <p:nvPr/>
        </p:nvSpPr>
        <p:spPr>
          <a:xfrm>
            <a:off x="4063201" y="2053416"/>
            <a:ext cx="1978992" cy="246221"/>
          </a:xfrm>
          <a:prstGeom prst="rect">
            <a:avLst/>
          </a:prstGeom>
          <a:noFill/>
        </p:spPr>
        <p:txBody>
          <a:bodyPr wrap="square" rtlCol="0">
            <a:spAutoFit/>
          </a:bodyPr>
          <a:lstStyle/>
          <a:p>
            <a:r>
              <a:rPr lang="tr-TR" sz="1000" noProof="1">
                <a:latin typeface="Arial Narrow" panose="020B0606020202030204" pitchFamily="34" charset="0"/>
                <a:cs typeface="Arial" panose="020B0604020202020204" pitchFamily="34" charset="0"/>
              </a:rPr>
              <a:t>620      06.59      07.04    07.09           x</a:t>
            </a:r>
          </a:p>
        </p:txBody>
      </p:sp>
      <p:sp>
        <p:nvSpPr>
          <p:cNvPr id="66" name="Metin kutusu 65">
            <a:extLst>
              <a:ext uri="{FF2B5EF4-FFF2-40B4-BE49-F238E27FC236}">
                <a16:creationId xmlns:a16="http://schemas.microsoft.com/office/drawing/2014/main" id="{4D350D64-04C3-4596-80EE-2F8E9E13F70D}"/>
              </a:ext>
            </a:extLst>
          </p:cNvPr>
          <p:cNvSpPr txBox="1"/>
          <p:nvPr/>
        </p:nvSpPr>
        <p:spPr>
          <a:xfrm>
            <a:off x="4058701" y="2273275"/>
            <a:ext cx="1978992" cy="246221"/>
          </a:xfrm>
          <a:prstGeom prst="rect">
            <a:avLst/>
          </a:prstGeom>
          <a:noFill/>
        </p:spPr>
        <p:txBody>
          <a:bodyPr wrap="square" rtlCol="0">
            <a:spAutoFit/>
          </a:bodyPr>
          <a:lstStyle/>
          <a:p>
            <a:r>
              <a:rPr lang="tr-TR" sz="1000" noProof="1">
                <a:latin typeface="Arial Narrow" panose="020B0606020202030204" pitchFamily="34" charset="0"/>
                <a:cs typeface="Arial" panose="020B0604020202020204" pitchFamily="34" charset="0"/>
              </a:rPr>
              <a:t>621      06.56      07.03    07.10           x</a:t>
            </a:r>
          </a:p>
        </p:txBody>
      </p:sp>
      <p:sp>
        <p:nvSpPr>
          <p:cNvPr id="67" name="Dikdörtgen 66">
            <a:extLst>
              <a:ext uri="{FF2B5EF4-FFF2-40B4-BE49-F238E27FC236}">
                <a16:creationId xmlns:a16="http://schemas.microsoft.com/office/drawing/2014/main" id="{5C210372-4D4A-4F46-9903-F58023C6671D}"/>
              </a:ext>
            </a:extLst>
          </p:cNvPr>
          <p:cNvSpPr/>
          <p:nvPr/>
        </p:nvSpPr>
        <p:spPr>
          <a:xfrm>
            <a:off x="5562231" y="1845112"/>
            <a:ext cx="111687" cy="211712"/>
          </a:xfrm>
          <a:prstGeom prst="rect">
            <a:avLst/>
          </a:prstGeom>
          <a:solidFill>
            <a:srgbClr val="FFC000"/>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solidFill>
                <a:srgbClr val="FFC000"/>
              </a:solidFill>
            </a:endParaRPr>
          </a:p>
        </p:txBody>
      </p:sp>
      <p:sp>
        <p:nvSpPr>
          <p:cNvPr id="68" name="Metin kutusu 67">
            <a:extLst>
              <a:ext uri="{FF2B5EF4-FFF2-40B4-BE49-F238E27FC236}">
                <a16:creationId xmlns:a16="http://schemas.microsoft.com/office/drawing/2014/main" id="{600F2081-A819-45F5-AEBE-89DCE46E92B1}"/>
              </a:ext>
            </a:extLst>
          </p:cNvPr>
          <p:cNvSpPr txBox="1"/>
          <p:nvPr/>
        </p:nvSpPr>
        <p:spPr>
          <a:xfrm>
            <a:off x="4074630" y="1825678"/>
            <a:ext cx="1978992" cy="246221"/>
          </a:xfrm>
          <a:prstGeom prst="rect">
            <a:avLst/>
          </a:prstGeom>
          <a:noFill/>
        </p:spPr>
        <p:txBody>
          <a:bodyPr wrap="square" rtlCol="0">
            <a:spAutoFit/>
          </a:bodyPr>
          <a:lstStyle/>
          <a:p>
            <a:r>
              <a:rPr lang="tr-TR" sz="1000" noProof="1">
                <a:solidFill>
                  <a:schemeClr val="bg1"/>
                </a:solidFill>
                <a:latin typeface="Arial Narrow" panose="020B0606020202030204" pitchFamily="34" charset="0"/>
                <a:cs typeface="Arial" panose="020B0604020202020204" pitchFamily="34" charset="0"/>
              </a:rPr>
              <a:t>619      07.00      07.08    07.16          x</a:t>
            </a:r>
          </a:p>
        </p:txBody>
      </p:sp>
      <p:sp>
        <p:nvSpPr>
          <p:cNvPr id="69" name="Dikdörtgen 68">
            <a:extLst>
              <a:ext uri="{FF2B5EF4-FFF2-40B4-BE49-F238E27FC236}">
                <a16:creationId xmlns:a16="http://schemas.microsoft.com/office/drawing/2014/main" id="{AF82CE97-5484-4590-BC5A-CEA49E5C8EC1}"/>
              </a:ext>
            </a:extLst>
          </p:cNvPr>
          <p:cNvSpPr/>
          <p:nvPr/>
        </p:nvSpPr>
        <p:spPr>
          <a:xfrm>
            <a:off x="5594283" y="2078360"/>
            <a:ext cx="47582" cy="210015"/>
          </a:xfrm>
          <a:prstGeom prst="rect">
            <a:avLst/>
          </a:prstGeom>
          <a:solidFill>
            <a:srgbClr val="FFE8CB"/>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0" name="Dikdörtgen 69">
            <a:extLst>
              <a:ext uri="{FF2B5EF4-FFF2-40B4-BE49-F238E27FC236}">
                <a16:creationId xmlns:a16="http://schemas.microsoft.com/office/drawing/2014/main" id="{1F7B8311-0654-4179-A455-41C292E613C7}"/>
              </a:ext>
            </a:extLst>
          </p:cNvPr>
          <p:cNvSpPr/>
          <p:nvPr/>
        </p:nvSpPr>
        <p:spPr>
          <a:xfrm>
            <a:off x="5594283" y="2302185"/>
            <a:ext cx="47582" cy="212825"/>
          </a:xfrm>
          <a:prstGeom prst="rect">
            <a:avLst/>
          </a:prstGeom>
          <a:solidFill>
            <a:srgbClr val="FFF4E7"/>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mc:AlternateContent xmlns:mc="http://schemas.openxmlformats.org/markup-compatibility/2006">
        <mc:Choice xmlns:a14="http://schemas.microsoft.com/office/drawing/2010/main" Requires="a14">
          <p:sp>
            <p:nvSpPr>
              <p:cNvPr id="71" name="Metin kutusu 70">
                <a:extLst>
                  <a:ext uri="{FF2B5EF4-FFF2-40B4-BE49-F238E27FC236}">
                    <a16:creationId xmlns:a16="http://schemas.microsoft.com/office/drawing/2014/main" id="{9B0405DC-B885-4BEF-BFD3-8A05D48D0A18}"/>
                  </a:ext>
                </a:extLst>
              </p:cNvPr>
              <p:cNvSpPr txBox="1"/>
              <p:nvPr/>
            </p:nvSpPr>
            <p:spPr>
              <a:xfrm>
                <a:off x="5370588" y="2058620"/>
                <a:ext cx="635601" cy="246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p:sp>
            <p:nvSpPr>
              <p:cNvPr id="71" name="Metin kutusu 70">
                <a:extLst>
                  <a:ext uri="{FF2B5EF4-FFF2-40B4-BE49-F238E27FC236}">
                    <a16:creationId xmlns:a16="http://schemas.microsoft.com/office/drawing/2014/main" id="{9B0405DC-B885-4BEF-BFD3-8A05D48D0A18}"/>
                  </a:ext>
                </a:extLst>
              </p:cNvPr>
              <p:cNvSpPr txBox="1">
                <a:spLocks noRot="1" noChangeAspect="1" noMove="1" noResize="1" noEditPoints="1" noAdjustHandles="1" noChangeArrowheads="1" noChangeShapeType="1" noTextEdit="1"/>
              </p:cNvSpPr>
              <p:nvPr/>
            </p:nvSpPr>
            <p:spPr>
              <a:xfrm>
                <a:off x="5370588" y="2058620"/>
                <a:ext cx="635601" cy="246221"/>
              </a:xfrm>
              <a:prstGeom prst="rect">
                <a:avLst/>
              </a:prstGeom>
              <a:blipFill>
                <a:blip r:embed="rId25"/>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72" name="Metin kutusu 71">
                <a:extLst>
                  <a:ext uri="{FF2B5EF4-FFF2-40B4-BE49-F238E27FC236}">
                    <a16:creationId xmlns:a16="http://schemas.microsoft.com/office/drawing/2014/main" id="{87FE3E79-EF51-40AC-8AA6-113DC1B3C159}"/>
                  </a:ext>
                </a:extLst>
              </p:cNvPr>
              <p:cNvSpPr txBox="1"/>
              <p:nvPr/>
            </p:nvSpPr>
            <p:spPr>
              <a:xfrm>
                <a:off x="5366089" y="2278639"/>
                <a:ext cx="635601" cy="246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p:sp>
            <p:nvSpPr>
              <p:cNvPr id="72" name="Metin kutusu 71">
                <a:extLst>
                  <a:ext uri="{FF2B5EF4-FFF2-40B4-BE49-F238E27FC236}">
                    <a16:creationId xmlns:a16="http://schemas.microsoft.com/office/drawing/2014/main" id="{87FE3E79-EF51-40AC-8AA6-113DC1B3C159}"/>
                  </a:ext>
                </a:extLst>
              </p:cNvPr>
              <p:cNvSpPr txBox="1">
                <a:spLocks noRot="1" noChangeAspect="1" noMove="1" noResize="1" noEditPoints="1" noAdjustHandles="1" noChangeArrowheads="1" noChangeShapeType="1" noTextEdit="1"/>
              </p:cNvSpPr>
              <p:nvPr/>
            </p:nvSpPr>
            <p:spPr>
              <a:xfrm>
                <a:off x="5366089" y="2278639"/>
                <a:ext cx="635601" cy="246221"/>
              </a:xfrm>
              <a:prstGeom prst="rect">
                <a:avLst/>
              </a:prstGeom>
              <a:blipFill>
                <a:blip r:embed="rId26"/>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73" name="Metin kutusu 72">
                <a:extLst>
                  <a:ext uri="{FF2B5EF4-FFF2-40B4-BE49-F238E27FC236}">
                    <a16:creationId xmlns:a16="http://schemas.microsoft.com/office/drawing/2014/main" id="{D06CD31D-8FB0-4881-8428-B618E0A1460F}"/>
                  </a:ext>
                </a:extLst>
              </p:cNvPr>
              <p:cNvSpPr txBox="1"/>
              <p:nvPr/>
            </p:nvSpPr>
            <p:spPr>
              <a:xfrm>
                <a:off x="5362773" y="1819038"/>
                <a:ext cx="635601" cy="246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p:sp>
            <p:nvSpPr>
              <p:cNvPr id="73" name="Metin kutusu 72">
                <a:extLst>
                  <a:ext uri="{FF2B5EF4-FFF2-40B4-BE49-F238E27FC236}">
                    <a16:creationId xmlns:a16="http://schemas.microsoft.com/office/drawing/2014/main" id="{D06CD31D-8FB0-4881-8428-B618E0A1460F}"/>
                  </a:ext>
                </a:extLst>
              </p:cNvPr>
              <p:cNvSpPr txBox="1">
                <a:spLocks noRot="1" noChangeAspect="1" noMove="1" noResize="1" noEditPoints="1" noAdjustHandles="1" noChangeArrowheads="1" noChangeShapeType="1" noTextEdit="1"/>
              </p:cNvSpPr>
              <p:nvPr/>
            </p:nvSpPr>
            <p:spPr>
              <a:xfrm>
                <a:off x="5362773" y="1819038"/>
                <a:ext cx="635601" cy="246221"/>
              </a:xfrm>
              <a:prstGeom prst="rect">
                <a:avLst/>
              </a:prstGeom>
              <a:blipFill>
                <a:blip r:embed="rId27"/>
                <a:stretch>
                  <a:fillRect/>
                </a:stretch>
              </a:blipFill>
            </p:spPr>
            <p:txBody>
              <a:bodyPr/>
              <a:lstStyle/>
              <a:p>
                <a:r>
                  <a:rPr lang="tr-TR">
                    <a:noFill/>
                  </a:rPr>
                  <a:t> </a:t>
                </a:r>
              </a:p>
            </p:txBody>
          </p:sp>
        </mc:Fallback>
      </mc:AlternateContent>
      <p:sp>
        <p:nvSpPr>
          <p:cNvPr id="74" name="Metin kutusu 73">
            <a:extLst>
              <a:ext uri="{FF2B5EF4-FFF2-40B4-BE49-F238E27FC236}">
                <a16:creationId xmlns:a16="http://schemas.microsoft.com/office/drawing/2014/main" id="{23E6F0CE-5163-4845-AD7F-40703F6B8A23}"/>
              </a:ext>
            </a:extLst>
          </p:cNvPr>
          <p:cNvSpPr txBox="1"/>
          <p:nvPr/>
        </p:nvSpPr>
        <p:spPr>
          <a:xfrm>
            <a:off x="3527065" y="3447614"/>
            <a:ext cx="3462545" cy="1015663"/>
          </a:xfrm>
          <a:prstGeom prst="rect">
            <a:avLst/>
          </a:prstGeom>
          <a:noFill/>
        </p:spPr>
        <p:txBody>
          <a:bodyPr wrap="square" rtlCol="0">
            <a:spAutoFit/>
          </a:bodyPr>
          <a:lstStyle/>
          <a:p>
            <a:r>
              <a:rPr lang="tr-TR" sz="1000" noProof="1">
                <a:cs typeface="Arial" panose="020B0604020202020204" pitchFamily="34" charset="0"/>
              </a:rPr>
              <a:t>Yukarıdaki uygulamada 619,620,621 numaralı hattın sefelerinin saatleri ve gösterilmiştir. Bu seferler periyodik şekilde tekrarlanmakta olup bu üç hattın kalkış noktası Dikimevi`dir.</a:t>
            </a:r>
          </a:p>
          <a:p>
            <a:endParaRPr lang="tr-TR" sz="1000" noProof="1">
              <a:cs typeface="Arial" panose="020B0604020202020204" pitchFamily="34" charset="0"/>
            </a:endParaRPr>
          </a:p>
          <a:p>
            <a:r>
              <a:rPr lang="tr-TR" sz="1000" b="1" noProof="1">
                <a:cs typeface="Arial" panose="020B0604020202020204" pitchFamily="34" charset="0"/>
              </a:rPr>
              <a:t>Buna göre, bu üç otobüsün Dikimevi`nden aynı saatte kalktığı en erken saat yani x aşağıdakilerden hangisidir? </a:t>
            </a:r>
          </a:p>
        </p:txBody>
      </p:sp>
      <p:sp>
        <p:nvSpPr>
          <p:cNvPr id="75" name="Dikdörtgen 74">
            <a:extLst>
              <a:ext uri="{FF2B5EF4-FFF2-40B4-BE49-F238E27FC236}">
                <a16:creationId xmlns:a16="http://schemas.microsoft.com/office/drawing/2014/main" id="{1BA0D565-1678-4FE5-8977-6F99A32EA8AB}"/>
              </a:ext>
            </a:extLst>
          </p:cNvPr>
          <p:cNvSpPr/>
          <p:nvPr/>
        </p:nvSpPr>
        <p:spPr>
          <a:xfrm>
            <a:off x="4217293" y="3154296"/>
            <a:ext cx="254594" cy="149589"/>
          </a:xfrm>
          <a:prstGeom prst="rect">
            <a:avLst/>
          </a:prstGeom>
          <a:noFill/>
          <a:ln w="9525">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6" name="İkizkenar Üçgen 75">
            <a:extLst>
              <a:ext uri="{FF2B5EF4-FFF2-40B4-BE49-F238E27FC236}">
                <a16:creationId xmlns:a16="http://schemas.microsoft.com/office/drawing/2014/main" id="{7B90EE69-F310-44DA-97B2-20D5F13ECC7B}"/>
              </a:ext>
            </a:extLst>
          </p:cNvPr>
          <p:cNvSpPr/>
          <p:nvPr/>
        </p:nvSpPr>
        <p:spPr>
          <a:xfrm rot="5400000">
            <a:off x="5612482" y="3132771"/>
            <a:ext cx="179492" cy="201572"/>
          </a:xfrm>
          <a:prstGeom prst="triangle">
            <a:avLst/>
          </a:prstGeom>
          <a:no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208988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w="9525">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025" y="4611287"/>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8" name="Beşgen 13">
            <a:extLst>
              <a:ext uri="{FF2B5EF4-FFF2-40B4-BE49-F238E27FC236}">
                <a16:creationId xmlns:a16="http://schemas.microsoft.com/office/drawing/2014/main" id="{FF095442-34DD-4947-93AA-8A4605DCB603}"/>
              </a:ext>
            </a:extLst>
          </p:cNvPr>
          <p:cNvSpPr/>
          <p:nvPr/>
        </p:nvSpPr>
        <p:spPr>
          <a:xfrm>
            <a:off x="98507" y="65554"/>
            <a:ext cx="180487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9" name="Metin kutusu 38">
            <a:extLst>
              <a:ext uri="{FF2B5EF4-FFF2-40B4-BE49-F238E27FC236}">
                <a16:creationId xmlns:a16="http://schemas.microsoft.com/office/drawing/2014/main" id="{93E1B5D2-1A63-495D-BA73-F7DE1293C278}"/>
              </a:ext>
            </a:extLst>
          </p:cNvPr>
          <p:cNvSpPr txBox="1"/>
          <p:nvPr/>
        </p:nvSpPr>
        <p:spPr>
          <a:xfrm>
            <a:off x="28842" y="47366"/>
            <a:ext cx="1794465" cy="400110"/>
          </a:xfrm>
          <a:prstGeom prst="rect">
            <a:avLst/>
          </a:prstGeom>
          <a:noFill/>
        </p:spPr>
        <p:txBody>
          <a:bodyPr wrap="square" rtlCol="0">
            <a:spAutoFit/>
          </a:bodyPr>
          <a:lstStyle/>
          <a:p>
            <a:pPr marL="171450" indent="-171450">
              <a:buFont typeface="Wingdings" panose="05000000000000000000" pitchFamily="2" charset="2"/>
              <a:buChar char="ü"/>
            </a:pPr>
            <a:r>
              <a:rPr lang="tr-TR" sz="1000" b="1" noProof="1">
                <a:latin typeface="+mj-lt"/>
                <a:cs typeface="Arial" panose="020B0604020202020204" pitchFamily="34" charset="0"/>
              </a:rPr>
              <a:t>Hibrit Problemler Denemesi</a:t>
            </a:r>
          </a:p>
          <a:p>
            <a:pPr marL="171450" indent="-171450">
              <a:buFont typeface="Wingdings" panose="05000000000000000000" pitchFamily="2" charset="2"/>
              <a:buChar char="ü"/>
            </a:pPr>
            <a:r>
              <a:rPr lang="tr-TR" sz="1000" b="1" noProof="1">
                <a:latin typeface="+mj-lt"/>
                <a:cs typeface="Arial" panose="020B0604020202020204" pitchFamily="34" charset="0"/>
              </a:rPr>
              <a:t>YouTube : Ahmet Çelen</a:t>
            </a:r>
          </a:p>
        </p:txBody>
      </p:sp>
      <p:sp>
        <p:nvSpPr>
          <p:cNvPr id="40" name="Kaydırma: Yatay 39">
            <a:extLst>
              <a:ext uri="{FF2B5EF4-FFF2-40B4-BE49-F238E27FC236}">
                <a16:creationId xmlns:a16="http://schemas.microsoft.com/office/drawing/2014/main" id="{3B1F71DA-46EB-449F-9F95-B0EE4A37E3C9}"/>
              </a:ext>
            </a:extLst>
          </p:cNvPr>
          <p:cNvSpPr/>
          <p:nvPr/>
        </p:nvSpPr>
        <p:spPr>
          <a:xfrm>
            <a:off x="4403750" y="4441"/>
            <a:ext cx="1440160" cy="451675"/>
          </a:xfrm>
          <a:prstGeom prst="horizontalScroll">
            <a:avLst/>
          </a:prstGeom>
          <a:solidFill>
            <a:srgbClr val="BDA7F3">
              <a:alpha val="50000"/>
            </a:srgb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KG HAPPY" panose="02000000000000000000" pitchFamily="2" charset="0"/>
              </a:rPr>
              <a:t>DENEME 1</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41" name="Ok: Çentikli Sağ 8">
            <a:extLst>
              <a:ext uri="{FF2B5EF4-FFF2-40B4-BE49-F238E27FC236}">
                <a16:creationId xmlns:a16="http://schemas.microsoft.com/office/drawing/2014/main" id="{93E7048D-7162-4042-BB05-3806D79CF59F}"/>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46" name="Metin kutusu 45">
            <a:extLst>
              <a:ext uri="{FF2B5EF4-FFF2-40B4-BE49-F238E27FC236}">
                <a16:creationId xmlns:a16="http://schemas.microsoft.com/office/drawing/2014/main" id="{ADFBB8C1-A089-4326-900C-57BB80B52FC1}"/>
              </a:ext>
            </a:extLst>
          </p:cNvPr>
          <p:cNvSpPr txBox="1"/>
          <p:nvPr/>
        </p:nvSpPr>
        <p:spPr>
          <a:xfrm>
            <a:off x="4425582" y="208958"/>
            <a:ext cx="1523698"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pic>
        <p:nvPicPr>
          <p:cNvPr id="48" name="Grafik 47">
            <a:extLst>
              <a:ext uri="{FF2B5EF4-FFF2-40B4-BE49-F238E27FC236}">
                <a16:creationId xmlns:a16="http://schemas.microsoft.com/office/drawing/2014/main" id="{C54316CF-52FD-4AAD-99F2-6CA1C7B6555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245" y="16269"/>
            <a:ext cx="436517" cy="436517"/>
          </a:xfrm>
          <a:prstGeom prst="rect">
            <a:avLst/>
          </a:prstGeom>
        </p:spPr>
      </p:pic>
    </p:spTree>
    <p:extLst>
      <p:ext uri="{BB962C8B-B14F-4D97-AF65-F5344CB8AC3E}">
        <p14:creationId xmlns:p14="http://schemas.microsoft.com/office/powerpoint/2010/main" val="3389493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58" name="Beşgen 13">
            <a:extLst>
              <a:ext uri="{FF2B5EF4-FFF2-40B4-BE49-F238E27FC236}">
                <a16:creationId xmlns:a16="http://schemas.microsoft.com/office/drawing/2014/main" id="{D884663F-82F7-4B5F-9BFF-B2DD176C7C04}"/>
              </a:ext>
            </a:extLst>
          </p:cNvPr>
          <p:cNvSpPr/>
          <p:nvPr/>
        </p:nvSpPr>
        <p:spPr>
          <a:xfrm>
            <a:off x="98507" y="65554"/>
            <a:ext cx="180487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59" name="Metin kutusu 58">
            <a:extLst>
              <a:ext uri="{FF2B5EF4-FFF2-40B4-BE49-F238E27FC236}">
                <a16:creationId xmlns:a16="http://schemas.microsoft.com/office/drawing/2014/main" id="{7C45AC7A-DF51-4F0C-A6C0-22897C189942}"/>
              </a:ext>
            </a:extLst>
          </p:cNvPr>
          <p:cNvSpPr txBox="1"/>
          <p:nvPr/>
        </p:nvSpPr>
        <p:spPr>
          <a:xfrm>
            <a:off x="28842" y="47366"/>
            <a:ext cx="1794465" cy="400110"/>
          </a:xfrm>
          <a:prstGeom prst="rect">
            <a:avLst/>
          </a:prstGeom>
          <a:noFill/>
        </p:spPr>
        <p:txBody>
          <a:bodyPr wrap="square" rtlCol="0">
            <a:spAutoFit/>
          </a:bodyPr>
          <a:lstStyle/>
          <a:p>
            <a:pPr marL="171450" indent="-171450">
              <a:buFont typeface="Wingdings" panose="05000000000000000000" pitchFamily="2" charset="2"/>
              <a:buChar char="ü"/>
            </a:pPr>
            <a:r>
              <a:rPr lang="tr-TR" sz="1000" b="1" noProof="1">
                <a:latin typeface="+mj-lt"/>
                <a:cs typeface="Arial" panose="020B0604020202020204" pitchFamily="34" charset="0"/>
              </a:rPr>
              <a:t>Hibrit Problemler Denemesi</a:t>
            </a:r>
          </a:p>
          <a:p>
            <a:pPr marL="171450" indent="-171450">
              <a:buFont typeface="Wingdings" panose="05000000000000000000" pitchFamily="2" charset="2"/>
              <a:buChar char="ü"/>
            </a:pPr>
            <a:r>
              <a:rPr lang="tr-TR" sz="1000" b="1" noProof="1">
                <a:latin typeface="+mj-lt"/>
                <a:cs typeface="Arial" panose="020B0604020202020204" pitchFamily="34" charset="0"/>
              </a:rPr>
              <a:t>YouTube : Ahmet Çelen</a:t>
            </a:r>
          </a:p>
        </p:txBody>
      </p:sp>
      <p:sp>
        <p:nvSpPr>
          <p:cNvPr id="60" name="Kaydırma: Yatay 59">
            <a:extLst>
              <a:ext uri="{FF2B5EF4-FFF2-40B4-BE49-F238E27FC236}">
                <a16:creationId xmlns:a16="http://schemas.microsoft.com/office/drawing/2014/main" id="{2896AC17-976E-4BA7-9069-4E9BC9D8C8F8}"/>
              </a:ext>
            </a:extLst>
          </p:cNvPr>
          <p:cNvSpPr/>
          <p:nvPr/>
        </p:nvSpPr>
        <p:spPr>
          <a:xfrm>
            <a:off x="4403750" y="4441"/>
            <a:ext cx="1440160" cy="451675"/>
          </a:xfrm>
          <a:prstGeom prst="horizontalScroll">
            <a:avLst/>
          </a:prstGeom>
          <a:solidFill>
            <a:srgbClr val="BDA7F3">
              <a:alpha val="50000"/>
            </a:srgb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KG HAPPY" panose="02000000000000000000" pitchFamily="2" charset="0"/>
              </a:rPr>
              <a:t>DENEME 1</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61" name="Ok: Çentikli Sağ 8">
            <a:extLst>
              <a:ext uri="{FF2B5EF4-FFF2-40B4-BE49-F238E27FC236}">
                <a16:creationId xmlns:a16="http://schemas.microsoft.com/office/drawing/2014/main" id="{BE097CF9-66E5-4284-882B-BE4F35A25C31}"/>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3" name="Metin kutusu 62">
            <a:extLst>
              <a:ext uri="{FF2B5EF4-FFF2-40B4-BE49-F238E27FC236}">
                <a16:creationId xmlns:a16="http://schemas.microsoft.com/office/drawing/2014/main" id="{AA5D1276-A1E9-49B2-BEE0-BEC4BF6B52A1}"/>
              </a:ext>
            </a:extLst>
          </p:cNvPr>
          <p:cNvSpPr txBox="1"/>
          <p:nvPr/>
        </p:nvSpPr>
        <p:spPr>
          <a:xfrm>
            <a:off x="4425582" y="208958"/>
            <a:ext cx="1523698"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pic>
        <p:nvPicPr>
          <p:cNvPr id="64" name="Grafik 63">
            <a:extLst>
              <a:ext uri="{FF2B5EF4-FFF2-40B4-BE49-F238E27FC236}">
                <a16:creationId xmlns:a16="http://schemas.microsoft.com/office/drawing/2014/main" id="{6B26FB4E-27A1-476C-8A19-FDB169BC65F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245" y="16269"/>
            <a:ext cx="436517" cy="436517"/>
          </a:xfrm>
          <a:prstGeom prst="rect">
            <a:avLst/>
          </a:prstGeom>
        </p:spPr>
      </p:pic>
    </p:spTree>
    <p:extLst>
      <p:ext uri="{BB962C8B-B14F-4D97-AF65-F5344CB8AC3E}">
        <p14:creationId xmlns:p14="http://schemas.microsoft.com/office/powerpoint/2010/main" val="3864713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Periyodik Problemler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101989" y="5397624"/>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08227" y="208766"/>
            <a:ext cx="1523698"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435721" cy="1938992"/>
          </a:xfrm>
          <a:prstGeom prst="rect">
            <a:avLst/>
          </a:prstGeom>
          <a:noFill/>
        </p:spPr>
        <p:txBody>
          <a:bodyPr wrap="square" rtlCol="0">
            <a:spAutoFit/>
          </a:bodyPr>
          <a:lstStyle/>
          <a:p>
            <a:r>
              <a:rPr lang="tr-TR" sz="1000" noProof="1">
                <a:cs typeface="Arial" panose="020B0604020202020204" pitchFamily="34" charset="0"/>
              </a:rPr>
              <a:t>Bir şirketin çalışanlarına sunduğu yemekhanelerde ana menüde sırasıyla et döner,mantı,kapuska,lahmacun ve köfte çıkmaktadır. Tatlı olarak sırasıyla soğuk baklava, şekerpare, gelin pastası çıkmaktadır.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Yemekler ise sırasıyla A,B ve C yemekhanelerinde yenmektedir. Bu döngüler ise periyodik şekilde tekrar etmektedir. İlk gün et döner, soğuk baklava yemekleri A yemekhanesinde yenmiştir. </a:t>
            </a:r>
          </a:p>
          <a:p>
            <a:endParaRPr lang="tr-TR" sz="1000" noProof="1">
              <a:cs typeface="Arial" panose="020B0604020202020204" pitchFamily="34" charset="0"/>
            </a:endParaRPr>
          </a:p>
          <a:p>
            <a:r>
              <a:rPr lang="tr-TR" sz="1000" b="1" noProof="1">
                <a:cs typeface="Arial" panose="020B0604020202020204" pitchFamily="34" charset="0"/>
              </a:rPr>
              <a:t>Buna göre, 365.gün ki menü ve yemekhane aşağıdakilerden hangisidir?</a:t>
            </a:r>
          </a:p>
          <a:p>
            <a:endParaRPr lang="tr-TR" sz="1000" noProof="1">
              <a:cs typeface="Arial" panose="020B0604020202020204" pitchFamily="34" charset="0"/>
            </a:endParaRP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0115" y="1405149"/>
            <a:ext cx="3475357" cy="2554545"/>
          </a:xfrm>
          <a:prstGeom prst="rect">
            <a:avLst/>
          </a:prstGeom>
          <a:noFill/>
        </p:spPr>
        <p:txBody>
          <a:bodyPr wrap="square" rtlCol="0">
            <a:spAutoFit/>
          </a:bodyPr>
          <a:lstStyle/>
          <a:p>
            <a:r>
              <a:rPr lang="tr-TR" sz="1000" noProof="1">
                <a:cs typeface="Arial" panose="020B0604020202020204" pitchFamily="34" charset="0"/>
              </a:rPr>
              <a:t>A şehrinden sırasıyla belirtilen şehirlere olan tren seferleri aynı gün içerisinde saatleri giderek ilerleyecek şekilde belirtilmiştir.</a:t>
            </a:r>
          </a:p>
          <a:p>
            <a:r>
              <a:rPr lang="tr-TR" sz="1000" noProof="1">
                <a:cs typeface="Arial" panose="020B0604020202020204" pitchFamily="34" charset="0"/>
              </a:rPr>
              <a:t>Örneğin 3.sefere binen bir yolcu 12.00 da İstanbul`a gider. </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10.00 – 14.00 seferleri de dahil olmak üzere A şehrinden ilgili şehirlere gidiş seferleridir.</a:t>
            </a:r>
          </a:p>
          <a:p>
            <a:pPr marL="171450" indent="-171450">
              <a:buFont typeface="Arial" panose="020B0604020202020204" pitchFamily="34" charset="0"/>
              <a:buChar char="•"/>
            </a:pPr>
            <a:r>
              <a:rPr lang="tr-TR" sz="1000" noProof="1">
                <a:cs typeface="Arial" panose="020B0604020202020204" pitchFamily="34" charset="0"/>
              </a:rPr>
              <a:t> 20.00 ve 23.00 arası altta belirtilen sefeler ise ilgili şehirden A şehrine dönüştür.  </a:t>
            </a:r>
          </a:p>
          <a:p>
            <a:pPr marL="171450" indent="-171450">
              <a:buFont typeface="Arial" panose="020B0604020202020204" pitchFamily="34" charset="0"/>
              <a:buChar char="•"/>
            </a:pPr>
            <a:r>
              <a:rPr lang="tr-TR" sz="1000" noProof="1">
                <a:cs typeface="Arial" panose="020B0604020202020204" pitchFamily="34" charset="0"/>
              </a:rPr>
              <a:t>Seferleri düzenleyen şirket her yaptığı seferi 1`den başlayarak numaralandırmıştır. Misal 12.seferle yolculuk yapan bir yolcu A şehrinden İzmir`e gidiyordur. </a:t>
            </a:r>
          </a:p>
          <a:p>
            <a:pPr marL="171450" indent="-171450">
              <a:buFont typeface="Arial" panose="020B0604020202020204" pitchFamily="34" charset="0"/>
              <a:buChar char="•"/>
            </a:pPr>
            <a:r>
              <a:rPr lang="tr-TR" sz="1000" noProof="1">
                <a:cs typeface="Arial" panose="020B0604020202020204" pitchFamily="34" charset="0"/>
              </a:rPr>
              <a:t>Muhsin A şehrinden İzmir`e gitmiş ve İzmir`de toplam 3 gün bulunmuş ve 3.cü gün geri dönmüştür. </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Muhsin`in yaptığı sefer opsiyonları aşağıdakilerden hangisiyle gidiş ve dönüş sırasıyla verilmiştir?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57838"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1.A    2.C    3.X    4.X</a:t>
            </a:r>
          </a:p>
        </p:txBody>
      </p:sp>
      <p:pic>
        <p:nvPicPr>
          <p:cNvPr id="36" name="Grafik 35">
            <a:extLst>
              <a:ext uri="{FF2B5EF4-FFF2-40B4-BE49-F238E27FC236}">
                <a16:creationId xmlns:a16="http://schemas.microsoft.com/office/drawing/2014/main" id="{83D1573E-2AA3-4174-AD59-62EE321090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
        <p:nvSpPr>
          <p:cNvPr id="35" name="Metin kutusu 34">
            <a:extLst>
              <a:ext uri="{FF2B5EF4-FFF2-40B4-BE49-F238E27FC236}">
                <a16:creationId xmlns:a16="http://schemas.microsoft.com/office/drawing/2014/main" id="{77565CF9-0A50-4A54-BB03-C8CD2B6E1D9C}"/>
              </a:ext>
            </a:extLst>
          </p:cNvPr>
          <p:cNvSpPr txBox="1"/>
          <p:nvPr/>
        </p:nvSpPr>
        <p:spPr>
          <a:xfrm>
            <a:off x="506624" y="2183656"/>
            <a:ext cx="1082229" cy="246221"/>
          </a:xfrm>
          <a:prstGeom prst="rect">
            <a:avLst/>
          </a:prstGeom>
          <a:noFill/>
        </p:spPr>
        <p:txBody>
          <a:bodyPr wrap="square" rtlCol="0">
            <a:spAutoFit/>
          </a:bodyPr>
          <a:lstStyle/>
          <a:p>
            <a:pPr algn="ctr"/>
            <a:r>
              <a:rPr lang="tr-TR" sz="1000" u="sng" dirty="0"/>
              <a:t>Ana Menü</a:t>
            </a:r>
          </a:p>
        </p:txBody>
      </p:sp>
      <p:sp>
        <p:nvSpPr>
          <p:cNvPr id="37" name="Metin kutusu 36">
            <a:extLst>
              <a:ext uri="{FF2B5EF4-FFF2-40B4-BE49-F238E27FC236}">
                <a16:creationId xmlns:a16="http://schemas.microsoft.com/office/drawing/2014/main" id="{9A7BFDDE-0655-41ED-B5BE-E4AF6BDB981B}"/>
              </a:ext>
            </a:extLst>
          </p:cNvPr>
          <p:cNvSpPr txBox="1"/>
          <p:nvPr/>
        </p:nvSpPr>
        <p:spPr>
          <a:xfrm>
            <a:off x="1333435" y="2177973"/>
            <a:ext cx="1242223" cy="246221"/>
          </a:xfrm>
          <a:prstGeom prst="rect">
            <a:avLst/>
          </a:prstGeom>
          <a:noFill/>
        </p:spPr>
        <p:txBody>
          <a:bodyPr wrap="square" rtlCol="0">
            <a:spAutoFit/>
          </a:bodyPr>
          <a:lstStyle/>
          <a:p>
            <a:pPr algn="ctr"/>
            <a:r>
              <a:rPr lang="tr-TR" sz="1000" u="sng" dirty="0"/>
              <a:t>Tatlı Çeşidi</a:t>
            </a:r>
          </a:p>
        </p:txBody>
      </p:sp>
      <p:sp>
        <p:nvSpPr>
          <p:cNvPr id="38" name="Metin kutusu 37">
            <a:extLst>
              <a:ext uri="{FF2B5EF4-FFF2-40B4-BE49-F238E27FC236}">
                <a16:creationId xmlns:a16="http://schemas.microsoft.com/office/drawing/2014/main" id="{E0216C48-D800-419C-BA08-9787C339CD0F}"/>
              </a:ext>
            </a:extLst>
          </p:cNvPr>
          <p:cNvSpPr txBox="1"/>
          <p:nvPr/>
        </p:nvSpPr>
        <p:spPr>
          <a:xfrm>
            <a:off x="114088" y="2420934"/>
            <a:ext cx="3314912" cy="1477328"/>
          </a:xfrm>
          <a:prstGeom prst="rect">
            <a:avLst/>
          </a:prstGeom>
          <a:noFill/>
        </p:spPr>
        <p:txBody>
          <a:bodyPr wrap="square" rtlCol="0">
            <a:spAutoFit/>
          </a:bodyPr>
          <a:lstStyle/>
          <a:p>
            <a:r>
              <a:rPr lang="tr-TR" sz="1000" dirty="0"/>
              <a:t>A)                   Et Döner           Soğuk Baklava                  A</a:t>
            </a:r>
          </a:p>
          <a:p>
            <a:endParaRPr lang="tr-TR" sz="1000" dirty="0"/>
          </a:p>
          <a:p>
            <a:r>
              <a:rPr lang="tr-TR" sz="1000" dirty="0"/>
              <a:t>B )                  Kapuska               Şekerpare                      A</a:t>
            </a:r>
          </a:p>
          <a:p>
            <a:endParaRPr lang="tr-TR" sz="1000" dirty="0"/>
          </a:p>
          <a:p>
            <a:r>
              <a:rPr lang="tr-TR" sz="1000" dirty="0"/>
              <a:t>C )                 Lahmacun           Gelin pastası                   B </a:t>
            </a:r>
          </a:p>
          <a:p>
            <a:endParaRPr lang="tr-TR" sz="1000" dirty="0"/>
          </a:p>
          <a:p>
            <a:r>
              <a:rPr lang="tr-TR" sz="1000" dirty="0"/>
              <a:t>D )                  Et Döner            Şekerpare                        C </a:t>
            </a:r>
          </a:p>
          <a:p>
            <a:endParaRPr lang="tr-TR" sz="1000" dirty="0"/>
          </a:p>
          <a:p>
            <a:r>
              <a:rPr lang="tr-TR" sz="1000" dirty="0"/>
              <a:t>E )                    Köfte               Soğuk Baklava                  A </a:t>
            </a:r>
          </a:p>
        </p:txBody>
      </p:sp>
      <p:sp>
        <p:nvSpPr>
          <p:cNvPr id="39" name="Metin kutusu 38">
            <a:extLst>
              <a:ext uri="{FF2B5EF4-FFF2-40B4-BE49-F238E27FC236}">
                <a16:creationId xmlns:a16="http://schemas.microsoft.com/office/drawing/2014/main" id="{4420840B-29D7-439E-952B-D1A9E9C5F415}"/>
              </a:ext>
            </a:extLst>
          </p:cNvPr>
          <p:cNvSpPr txBox="1"/>
          <p:nvPr/>
        </p:nvSpPr>
        <p:spPr>
          <a:xfrm>
            <a:off x="2319485" y="2181734"/>
            <a:ext cx="1242223" cy="246221"/>
          </a:xfrm>
          <a:prstGeom prst="rect">
            <a:avLst/>
          </a:prstGeom>
          <a:noFill/>
        </p:spPr>
        <p:txBody>
          <a:bodyPr wrap="square" rtlCol="0">
            <a:spAutoFit/>
          </a:bodyPr>
          <a:lstStyle/>
          <a:p>
            <a:pPr algn="ctr"/>
            <a:r>
              <a:rPr lang="tr-TR" sz="1000" u="sng" dirty="0"/>
              <a:t>Yemekhane</a:t>
            </a:r>
          </a:p>
        </p:txBody>
      </p:sp>
      <p:sp>
        <p:nvSpPr>
          <p:cNvPr id="2" name="Dikdörtgen 1">
            <a:extLst>
              <a:ext uri="{FF2B5EF4-FFF2-40B4-BE49-F238E27FC236}">
                <a16:creationId xmlns:a16="http://schemas.microsoft.com/office/drawing/2014/main" id="{0970420D-43C7-4162-B2EB-382D687F907A}"/>
              </a:ext>
            </a:extLst>
          </p:cNvPr>
          <p:cNvSpPr/>
          <p:nvPr/>
        </p:nvSpPr>
        <p:spPr>
          <a:xfrm>
            <a:off x="188640" y="5512469"/>
            <a:ext cx="203198" cy="211659"/>
          </a:xfrm>
          <a:prstGeom prst="rect">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1</a:t>
            </a:r>
          </a:p>
        </p:txBody>
      </p:sp>
      <p:sp>
        <p:nvSpPr>
          <p:cNvPr id="3" name="İkizkenar Üçgen 2">
            <a:extLst>
              <a:ext uri="{FF2B5EF4-FFF2-40B4-BE49-F238E27FC236}">
                <a16:creationId xmlns:a16="http://schemas.microsoft.com/office/drawing/2014/main" id="{36060665-C80B-481C-9D1F-739A7D075B55}"/>
              </a:ext>
            </a:extLst>
          </p:cNvPr>
          <p:cNvSpPr/>
          <p:nvPr/>
        </p:nvSpPr>
        <p:spPr>
          <a:xfrm>
            <a:off x="435404" y="5504080"/>
            <a:ext cx="210062" cy="223098"/>
          </a:xfrm>
          <a:prstGeom prst="triangl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2</a:t>
            </a:r>
          </a:p>
        </p:txBody>
      </p:sp>
      <p:sp>
        <p:nvSpPr>
          <p:cNvPr id="4" name="Oval 3">
            <a:extLst>
              <a:ext uri="{FF2B5EF4-FFF2-40B4-BE49-F238E27FC236}">
                <a16:creationId xmlns:a16="http://schemas.microsoft.com/office/drawing/2014/main" id="{09C78172-FD8E-45CD-B617-F5D960928788}"/>
              </a:ext>
            </a:extLst>
          </p:cNvPr>
          <p:cNvSpPr/>
          <p:nvPr/>
        </p:nvSpPr>
        <p:spPr>
          <a:xfrm>
            <a:off x="689032" y="5501030"/>
            <a:ext cx="229456" cy="229456"/>
          </a:xfrm>
          <a:prstGeom prst="ellips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3</a:t>
            </a:r>
          </a:p>
        </p:txBody>
      </p:sp>
      <p:sp>
        <p:nvSpPr>
          <p:cNvPr id="46" name="Oval 45">
            <a:extLst>
              <a:ext uri="{FF2B5EF4-FFF2-40B4-BE49-F238E27FC236}">
                <a16:creationId xmlns:a16="http://schemas.microsoft.com/office/drawing/2014/main" id="{9D446D96-DF44-46D8-B4DE-9AC6A7B5CCAC}"/>
              </a:ext>
            </a:extLst>
          </p:cNvPr>
          <p:cNvSpPr/>
          <p:nvPr/>
        </p:nvSpPr>
        <p:spPr>
          <a:xfrm>
            <a:off x="959394" y="5505395"/>
            <a:ext cx="229456" cy="229456"/>
          </a:xfrm>
          <a:prstGeom prst="ellips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4</a:t>
            </a:r>
          </a:p>
        </p:txBody>
      </p:sp>
      <p:sp>
        <p:nvSpPr>
          <p:cNvPr id="48" name="İkizkenar Üçgen 47">
            <a:extLst>
              <a:ext uri="{FF2B5EF4-FFF2-40B4-BE49-F238E27FC236}">
                <a16:creationId xmlns:a16="http://schemas.microsoft.com/office/drawing/2014/main" id="{88EA3BA5-E76F-4309-889D-19D470103620}"/>
              </a:ext>
            </a:extLst>
          </p:cNvPr>
          <p:cNvSpPr/>
          <p:nvPr/>
        </p:nvSpPr>
        <p:spPr>
          <a:xfrm rot="10800000">
            <a:off x="1221858" y="5512690"/>
            <a:ext cx="210062" cy="223098"/>
          </a:xfrm>
          <a:prstGeom prst="triangl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5</a:t>
            </a:r>
          </a:p>
        </p:txBody>
      </p:sp>
      <p:sp>
        <p:nvSpPr>
          <p:cNvPr id="53" name="Dikdörtgen 52">
            <a:extLst>
              <a:ext uri="{FF2B5EF4-FFF2-40B4-BE49-F238E27FC236}">
                <a16:creationId xmlns:a16="http://schemas.microsoft.com/office/drawing/2014/main" id="{7DDDF4CD-6199-494D-8302-7F84F935931E}"/>
              </a:ext>
            </a:extLst>
          </p:cNvPr>
          <p:cNvSpPr/>
          <p:nvPr/>
        </p:nvSpPr>
        <p:spPr>
          <a:xfrm>
            <a:off x="1466945" y="5509799"/>
            <a:ext cx="203198" cy="211659"/>
          </a:xfrm>
          <a:prstGeom prst="rect">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6</a:t>
            </a:r>
          </a:p>
        </p:txBody>
      </p:sp>
      <p:sp>
        <p:nvSpPr>
          <p:cNvPr id="55" name="Dikdörtgen 54">
            <a:extLst>
              <a:ext uri="{FF2B5EF4-FFF2-40B4-BE49-F238E27FC236}">
                <a16:creationId xmlns:a16="http://schemas.microsoft.com/office/drawing/2014/main" id="{74738A58-2AC5-46B4-9258-D14FD55C7888}"/>
              </a:ext>
            </a:extLst>
          </p:cNvPr>
          <p:cNvSpPr/>
          <p:nvPr/>
        </p:nvSpPr>
        <p:spPr>
          <a:xfrm>
            <a:off x="1721581" y="5503700"/>
            <a:ext cx="203198" cy="211659"/>
          </a:xfrm>
          <a:prstGeom prst="rect">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7</a:t>
            </a:r>
          </a:p>
        </p:txBody>
      </p:sp>
      <p:sp>
        <p:nvSpPr>
          <p:cNvPr id="56" name="İkizkenar Üçgen 55">
            <a:extLst>
              <a:ext uri="{FF2B5EF4-FFF2-40B4-BE49-F238E27FC236}">
                <a16:creationId xmlns:a16="http://schemas.microsoft.com/office/drawing/2014/main" id="{01450A9A-E358-487B-A38C-CED00DE66DC8}"/>
              </a:ext>
            </a:extLst>
          </p:cNvPr>
          <p:cNvSpPr/>
          <p:nvPr/>
        </p:nvSpPr>
        <p:spPr>
          <a:xfrm>
            <a:off x="1967755" y="5491008"/>
            <a:ext cx="210062" cy="223098"/>
          </a:xfrm>
          <a:prstGeom prst="triangl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t>8</a:t>
            </a:r>
          </a:p>
        </p:txBody>
      </p:sp>
      <mc:AlternateContent xmlns:mc="http://schemas.openxmlformats.org/markup-compatibility/2006">
        <mc:Choice xmlns:a14="http://schemas.microsoft.com/office/drawing/2010/main" Requires="a14">
          <p:sp>
            <p:nvSpPr>
              <p:cNvPr id="61" name="Metin kutusu 60">
                <a:extLst>
                  <a:ext uri="{FF2B5EF4-FFF2-40B4-BE49-F238E27FC236}">
                    <a16:creationId xmlns:a16="http://schemas.microsoft.com/office/drawing/2014/main" id="{A5AC7897-A936-4CE6-9FFF-BD6CB6AB034D}"/>
                  </a:ext>
                </a:extLst>
              </p:cNvPr>
              <p:cNvSpPr txBox="1"/>
              <p:nvPr/>
            </p:nvSpPr>
            <p:spPr>
              <a:xfrm>
                <a:off x="2326778" y="5436096"/>
                <a:ext cx="1003361" cy="4770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5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500" noProof="1">
                  <a:cs typeface="Arial" panose="020B0604020202020204" pitchFamily="34" charset="0"/>
                </a:endParaRPr>
              </a:p>
              <a:p>
                <a:endParaRPr lang="tr-TR" sz="1000" noProof="1">
                  <a:cs typeface="Arial" panose="020B0604020202020204" pitchFamily="34" charset="0"/>
                </a:endParaRPr>
              </a:p>
            </p:txBody>
          </p:sp>
        </mc:Choice>
        <mc:Fallback>
          <p:sp>
            <p:nvSpPr>
              <p:cNvPr id="61" name="Metin kutusu 60">
                <a:extLst>
                  <a:ext uri="{FF2B5EF4-FFF2-40B4-BE49-F238E27FC236}">
                    <a16:creationId xmlns:a16="http://schemas.microsoft.com/office/drawing/2014/main" id="{A5AC7897-A936-4CE6-9FFF-BD6CB6AB034D}"/>
                  </a:ext>
                </a:extLst>
              </p:cNvPr>
              <p:cNvSpPr txBox="1">
                <a:spLocks noRot="1" noChangeAspect="1" noMove="1" noResize="1" noEditPoints="1" noAdjustHandles="1" noChangeArrowheads="1" noChangeShapeType="1" noTextEdit="1"/>
              </p:cNvSpPr>
              <p:nvPr/>
            </p:nvSpPr>
            <p:spPr>
              <a:xfrm>
                <a:off x="2326778" y="5436096"/>
                <a:ext cx="1003361" cy="477054"/>
              </a:xfrm>
              <a:prstGeom prst="rect">
                <a:avLst/>
              </a:prstGeom>
              <a:blipFill>
                <a:blip r:embed="rId6"/>
                <a:stretch>
                  <a:fillRect/>
                </a:stretch>
              </a:blipFill>
            </p:spPr>
            <p:txBody>
              <a:bodyPr/>
              <a:lstStyle/>
              <a:p>
                <a:r>
                  <a:rPr lang="tr-TR">
                    <a:noFill/>
                  </a:rPr>
                  <a:t> </a:t>
                </a:r>
              </a:p>
            </p:txBody>
          </p:sp>
        </mc:Fallback>
      </mc:AlternateContent>
      <p:sp>
        <p:nvSpPr>
          <p:cNvPr id="63" name="Metin kutusu 62">
            <a:extLst>
              <a:ext uri="{FF2B5EF4-FFF2-40B4-BE49-F238E27FC236}">
                <a16:creationId xmlns:a16="http://schemas.microsoft.com/office/drawing/2014/main" id="{6ED8D1F0-E0F5-4BA4-AFB8-147B62999F84}"/>
              </a:ext>
            </a:extLst>
          </p:cNvPr>
          <p:cNvSpPr txBox="1"/>
          <p:nvPr/>
        </p:nvSpPr>
        <p:spPr>
          <a:xfrm>
            <a:off x="84418" y="5748283"/>
            <a:ext cx="3359093" cy="553998"/>
          </a:xfrm>
          <a:prstGeom prst="rect">
            <a:avLst/>
          </a:prstGeom>
          <a:noFill/>
        </p:spPr>
        <p:txBody>
          <a:bodyPr wrap="square" rtlCol="0">
            <a:spAutoFit/>
          </a:bodyPr>
          <a:lstStyle/>
          <a:p>
            <a:r>
              <a:rPr lang="tr-TR" sz="1000" noProof="1">
                <a:cs typeface="Arial" panose="020B0604020202020204" pitchFamily="34" charset="0"/>
              </a:rPr>
              <a:t>Yukarıda periyodik tekrar eden bir motif bulunmaktadır.</a:t>
            </a:r>
          </a:p>
          <a:p>
            <a:r>
              <a:rPr lang="tr-TR" sz="1000" b="1" noProof="1">
                <a:cs typeface="Arial" panose="020B0604020202020204" pitchFamily="34" charset="0"/>
              </a:rPr>
              <a:t>Desene göre, 264 numaralı geometrik motif aşağıdakilerden hangisidir?</a:t>
            </a:r>
          </a:p>
        </p:txBody>
      </p:sp>
      <p:sp>
        <p:nvSpPr>
          <p:cNvPr id="64" name="Metin kutusu 63">
            <a:extLst>
              <a:ext uri="{FF2B5EF4-FFF2-40B4-BE49-F238E27FC236}">
                <a16:creationId xmlns:a16="http://schemas.microsoft.com/office/drawing/2014/main" id="{E0EB5775-9A71-4EA9-B048-DE32995AE461}"/>
              </a:ext>
            </a:extLst>
          </p:cNvPr>
          <p:cNvSpPr txBox="1"/>
          <p:nvPr/>
        </p:nvSpPr>
        <p:spPr>
          <a:xfrm>
            <a:off x="95757" y="6290710"/>
            <a:ext cx="339647" cy="246221"/>
          </a:xfrm>
          <a:prstGeom prst="rect">
            <a:avLst/>
          </a:prstGeom>
          <a:noFill/>
        </p:spPr>
        <p:txBody>
          <a:bodyPr wrap="square" rtlCol="0">
            <a:spAutoFit/>
          </a:bodyPr>
          <a:lstStyle/>
          <a:p>
            <a:r>
              <a:rPr lang="tr-TR" sz="1000" noProof="1">
                <a:cs typeface="Arial" panose="020B0604020202020204" pitchFamily="34" charset="0"/>
              </a:rPr>
              <a:t>A)</a:t>
            </a:r>
          </a:p>
        </p:txBody>
      </p:sp>
      <p:sp>
        <p:nvSpPr>
          <p:cNvPr id="65" name="Metin kutusu 64">
            <a:extLst>
              <a:ext uri="{FF2B5EF4-FFF2-40B4-BE49-F238E27FC236}">
                <a16:creationId xmlns:a16="http://schemas.microsoft.com/office/drawing/2014/main" id="{DAA54658-4A86-4278-A20B-8A966C86D95F}"/>
              </a:ext>
            </a:extLst>
          </p:cNvPr>
          <p:cNvSpPr txBox="1"/>
          <p:nvPr/>
        </p:nvSpPr>
        <p:spPr>
          <a:xfrm>
            <a:off x="95757" y="7043119"/>
            <a:ext cx="339647" cy="246221"/>
          </a:xfrm>
          <a:prstGeom prst="rect">
            <a:avLst/>
          </a:prstGeom>
          <a:noFill/>
        </p:spPr>
        <p:txBody>
          <a:bodyPr wrap="square" rtlCol="0">
            <a:spAutoFit/>
          </a:bodyPr>
          <a:lstStyle/>
          <a:p>
            <a:r>
              <a:rPr lang="tr-TR" sz="1000" noProof="1">
                <a:cs typeface="Arial" panose="020B0604020202020204" pitchFamily="34" charset="0"/>
              </a:rPr>
              <a:t>B)</a:t>
            </a:r>
          </a:p>
        </p:txBody>
      </p:sp>
      <p:sp>
        <p:nvSpPr>
          <p:cNvPr id="66" name="Metin kutusu 65">
            <a:extLst>
              <a:ext uri="{FF2B5EF4-FFF2-40B4-BE49-F238E27FC236}">
                <a16:creationId xmlns:a16="http://schemas.microsoft.com/office/drawing/2014/main" id="{1844FB7C-4E1D-4551-A3FB-DC963D515F29}"/>
              </a:ext>
            </a:extLst>
          </p:cNvPr>
          <p:cNvSpPr txBox="1"/>
          <p:nvPr/>
        </p:nvSpPr>
        <p:spPr>
          <a:xfrm>
            <a:off x="1376269" y="6290710"/>
            <a:ext cx="339647" cy="246221"/>
          </a:xfrm>
          <a:prstGeom prst="rect">
            <a:avLst/>
          </a:prstGeom>
          <a:noFill/>
        </p:spPr>
        <p:txBody>
          <a:bodyPr wrap="square" rtlCol="0">
            <a:spAutoFit/>
          </a:bodyPr>
          <a:lstStyle/>
          <a:p>
            <a:r>
              <a:rPr lang="tr-TR" sz="1000" noProof="1">
                <a:cs typeface="Arial" panose="020B0604020202020204" pitchFamily="34" charset="0"/>
              </a:rPr>
              <a:t>C)</a:t>
            </a:r>
          </a:p>
        </p:txBody>
      </p:sp>
      <p:sp>
        <p:nvSpPr>
          <p:cNvPr id="67" name="Metin kutusu 66">
            <a:extLst>
              <a:ext uri="{FF2B5EF4-FFF2-40B4-BE49-F238E27FC236}">
                <a16:creationId xmlns:a16="http://schemas.microsoft.com/office/drawing/2014/main" id="{B6A7DA36-D2EB-4A5B-890D-ED42136A6192}"/>
              </a:ext>
            </a:extLst>
          </p:cNvPr>
          <p:cNvSpPr txBox="1"/>
          <p:nvPr/>
        </p:nvSpPr>
        <p:spPr>
          <a:xfrm>
            <a:off x="1385855" y="7043119"/>
            <a:ext cx="339647" cy="246221"/>
          </a:xfrm>
          <a:prstGeom prst="rect">
            <a:avLst/>
          </a:prstGeom>
          <a:noFill/>
        </p:spPr>
        <p:txBody>
          <a:bodyPr wrap="square" rtlCol="0">
            <a:spAutoFit/>
          </a:bodyPr>
          <a:lstStyle/>
          <a:p>
            <a:r>
              <a:rPr lang="tr-TR" sz="1000" noProof="1">
                <a:cs typeface="Arial" panose="020B0604020202020204" pitchFamily="34" charset="0"/>
              </a:rPr>
              <a:t>D)</a:t>
            </a:r>
          </a:p>
        </p:txBody>
      </p:sp>
      <p:sp>
        <p:nvSpPr>
          <p:cNvPr id="68" name="Metin kutusu 67">
            <a:extLst>
              <a:ext uri="{FF2B5EF4-FFF2-40B4-BE49-F238E27FC236}">
                <a16:creationId xmlns:a16="http://schemas.microsoft.com/office/drawing/2014/main" id="{5C95C158-A40A-488E-A6D7-2E48E333F762}"/>
              </a:ext>
            </a:extLst>
          </p:cNvPr>
          <p:cNvSpPr txBox="1"/>
          <p:nvPr/>
        </p:nvSpPr>
        <p:spPr>
          <a:xfrm>
            <a:off x="2507369" y="6285393"/>
            <a:ext cx="339647" cy="246221"/>
          </a:xfrm>
          <a:prstGeom prst="rect">
            <a:avLst/>
          </a:prstGeom>
          <a:noFill/>
        </p:spPr>
        <p:txBody>
          <a:bodyPr wrap="square" rtlCol="0">
            <a:spAutoFit/>
          </a:bodyPr>
          <a:lstStyle/>
          <a:p>
            <a:r>
              <a:rPr lang="tr-TR" sz="1000" noProof="1">
                <a:cs typeface="Arial" panose="020B0604020202020204" pitchFamily="34" charset="0"/>
              </a:rPr>
              <a:t>E)</a:t>
            </a:r>
          </a:p>
        </p:txBody>
      </p:sp>
      <p:sp>
        <p:nvSpPr>
          <p:cNvPr id="69" name="İkizkenar Üçgen 68">
            <a:extLst>
              <a:ext uri="{FF2B5EF4-FFF2-40B4-BE49-F238E27FC236}">
                <a16:creationId xmlns:a16="http://schemas.microsoft.com/office/drawing/2014/main" id="{EF0A1838-8B5F-43BA-B18B-502157776ABB}"/>
              </a:ext>
            </a:extLst>
          </p:cNvPr>
          <p:cNvSpPr/>
          <p:nvPr/>
        </p:nvSpPr>
        <p:spPr>
          <a:xfrm rot="10800000">
            <a:off x="337629" y="6326795"/>
            <a:ext cx="210062" cy="223098"/>
          </a:xfrm>
          <a:prstGeom prst="triangl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5</a:t>
            </a:r>
          </a:p>
        </p:txBody>
      </p:sp>
      <p:sp>
        <p:nvSpPr>
          <p:cNvPr id="70" name="İkizkenar Üçgen 69">
            <a:extLst>
              <a:ext uri="{FF2B5EF4-FFF2-40B4-BE49-F238E27FC236}">
                <a16:creationId xmlns:a16="http://schemas.microsoft.com/office/drawing/2014/main" id="{61BE4B25-1A0E-4B46-AA98-82F6FE0F7891}"/>
              </a:ext>
            </a:extLst>
          </p:cNvPr>
          <p:cNvSpPr/>
          <p:nvPr/>
        </p:nvSpPr>
        <p:spPr>
          <a:xfrm>
            <a:off x="336113" y="7055469"/>
            <a:ext cx="210062" cy="223098"/>
          </a:xfrm>
          <a:prstGeom prst="triangl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2</a:t>
            </a:r>
          </a:p>
        </p:txBody>
      </p:sp>
      <p:sp>
        <p:nvSpPr>
          <p:cNvPr id="71" name="Oval 70">
            <a:extLst>
              <a:ext uri="{FF2B5EF4-FFF2-40B4-BE49-F238E27FC236}">
                <a16:creationId xmlns:a16="http://schemas.microsoft.com/office/drawing/2014/main" id="{CE6F7078-5D3C-4704-AD8E-37037329C8B0}"/>
              </a:ext>
            </a:extLst>
          </p:cNvPr>
          <p:cNvSpPr/>
          <p:nvPr/>
        </p:nvSpPr>
        <p:spPr>
          <a:xfrm>
            <a:off x="1624499" y="6301191"/>
            <a:ext cx="229456" cy="229456"/>
          </a:xfrm>
          <a:prstGeom prst="ellips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3</a:t>
            </a:r>
          </a:p>
        </p:txBody>
      </p:sp>
      <p:sp>
        <p:nvSpPr>
          <p:cNvPr id="72" name="Oval 71">
            <a:extLst>
              <a:ext uri="{FF2B5EF4-FFF2-40B4-BE49-F238E27FC236}">
                <a16:creationId xmlns:a16="http://schemas.microsoft.com/office/drawing/2014/main" id="{C08026A3-E39F-43D3-9613-90B651DCF813}"/>
              </a:ext>
            </a:extLst>
          </p:cNvPr>
          <p:cNvSpPr/>
          <p:nvPr/>
        </p:nvSpPr>
        <p:spPr>
          <a:xfrm>
            <a:off x="2744136" y="6285393"/>
            <a:ext cx="229456" cy="229456"/>
          </a:xfrm>
          <a:prstGeom prst="ellipse">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4</a:t>
            </a:r>
          </a:p>
        </p:txBody>
      </p:sp>
      <p:sp>
        <p:nvSpPr>
          <p:cNvPr id="73" name="Dikdörtgen 72">
            <a:extLst>
              <a:ext uri="{FF2B5EF4-FFF2-40B4-BE49-F238E27FC236}">
                <a16:creationId xmlns:a16="http://schemas.microsoft.com/office/drawing/2014/main" id="{F82FFD90-FBE0-4B1C-AE03-36DE0ECDBAFC}"/>
              </a:ext>
            </a:extLst>
          </p:cNvPr>
          <p:cNvSpPr/>
          <p:nvPr/>
        </p:nvSpPr>
        <p:spPr>
          <a:xfrm>
            <a:off x="1670143" y="7066908"/>
            <a:ext cx="203198" cy="211659"/>
          </a:xfrm>
          <a:prstGeom prst="rect">
            <a:avLst/>
          </a:prstGeom>
          <a:solidFill>
            <a:srgbClr val="32BEA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bg1"/>
                </a:solidFill>
              </a:rPr>
              <a:t>7</a:t>
            </a:r>
          </a:p>
        </p:txBody>
      </p:sp>
      <p:sp>
        <p:nvSpPr>
          <p:cNvPr id="7" name="Dikdörtgen 6">
            <a:extLst>
              <a:ext uri="{FF2B5EF4-FFF2-40B4-BE49-F238E27FC236}">
                <a16:creationId xmlns:a16="http://schemas.microsoft.com/office/drawing/2014/main" id="{348420D9-8231-41AF-BD9F-3EC87402EA39}"/>
              </a:ext>
            </a:extLst>
          </p:cNvPr>
          <p:cNvSpPr/>
          <p:nvPr/>
        </p:nvSpPr>
        <p:spPr>
          <a:xfrm>
            <a:off x="3565097" y="518360"/>
            <a:ext cx="3178135" cy="887953"/>
          </a:xfrm>
          <a:prstGeom prst="rect">
            <a:avLst/>
          </a:prstGeom>
          <a:solidFill>
            <a:schemeClr val="tx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4" name="Metin kutusu 73">
            <a:extLst>
              <a:ext uri="{FF2B5EF4-FFF2-40B4-BE49-F238E27FC236}">
                <a16:creationId xmlns:a16="http://schemas.microsoft.com/office/drawing/2014/main" id="{9D26A4C1-D90D-486A-BD14-0A2C4D78E7CB}"/>
              </a:ext>
            </a:extLst>
          </p:cNvPr>
          <p:cNvSpPr txBox="1"/>
          <p:nvPr/>
        </p:nvSpPr>
        <p:spPr>
          <a:xfrm>
            <a:off x="3540267" y="515399"/>
            <a:ext cx="3357242" cy="323165"/>
          </a:xfrm>
          <a:prstGeom prst="rect">
            <a:avLst/>
          </a:prstGeom>
          <a:noFill/>
        </p:spPr>
        <p:txBody>
          <a:bodyPr wrap="square" rtlCol="0">
            <a:spAutoFit/>
          </a:bodyPr>
          <a:lstStyle/>
          <a:p>
            <a:r>
              <a:rPr lang="tr-TR" sz="1500" noProof="1">
                <a:solidFill>
                  <a:schemeClr val="accent4"/>
                </a:solidFill>
                <a:latin typeface="Digital-7" panose="02000000000000000000" pitchFamily="2" charset="0"/>
                <a:cs typeface="Arial" panose="020B0604020202020204" pitchFamily="34" charset="0"/>
              </a:rPr>
              <a:t>ANKARA  İZMİR  İSTANBUL KONYA  ANTALYA  </a:t>
            </a:r>
          </a:p>
        </p:txBody>
      </p:sp>
      <p:cxnSp>
        <p:nvCxnSpPr>
          <p:cNvPr id="13" name="Düz Bağlayıcı 12">
            <a:extLst>
              <a:ext uri="{FF2B5EF4-FFF2-40B4-BE49-F238E27FC236}">
                <a16:creationId xmlns:a16="http://schemas.microsoft.com/office/drawing/2014/main" id="{F893F507-F03C-4339-B203-E363FEAA8180}"/>
              </a:ext>
            </a:extLst>
          </p:cNvPr>
          <p:cNvCxnSpPr>
            <a:cxnSpLocks/>
          </p:cNvCxnSpPr>
          <p:nvPr/>
        </p:nvCxnSpPr>
        <p:spPr>
          <a:xfrm flipH="1">
            <a:off x="4219168" y="518360"/>
            <a:ext cx="1920" cy="8734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6" name="Metin kutusu 75">
            <a:extLst>
              <a:ext uri="{FF2B5EF4-FFF2-40B4-BE49-F238E27FC236}">
                <a16:creationId xmlns:a16="http://schemas.microsoft.com/office/drawing/2014/main" id="{1A40D918-DDE2-40B1-BC1D-83166C5AE20C}"/>
              </a:ext>
            </a:extLst>
          </p:cNvPr>
          <p:cNvSpPr txBox="1"/>
          <p:nvPr/>
        </p:nvSpPr>
        <p:spPr>
          <a:xfrm>
            <a:off x="3634815" y="758302"/>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10.00</a:t>
            </a:r>
          </a:p>
        </p:txBody>
      </p:sp>
      <p:sp>
        <p:nvSpPr>
          <p:cNvPr id="77" name="Metin kutusu 76">
            <a:extLst>
              <a:ext uri="{FF2B5EF4-FFF2-40B4-BE49-F238E27FC236}">
                <a16:creationId xmlns:a16="http://schemas.microsoft.com/office/drawing/2014/main" id="{FBE64F0D-2B79-4FEC-B96A-C51910B75CF0}"/>
              </a:ext>
            </a:extLst>
          </p:cNvPr>
          <p:cNvSpPr txBox="1"/>
          <p:nvPr/>
        </p:nvSpPr>
        <p:spPr>
          <a:xfrm>
            <a:off x="4245623" y="756889"/>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11.00</a:t>
            </a:r>
          </a:p>
        </p:txBody>
      </p:sp>
      <p:sp>
        <p:nvSpPr>
          <p:cNvPr id="78" name="Metin kutusu 77">
            <a:extLst>
              <a:ext uri="{FF2B5EF4-FFF2-40B4-BE49-F238E27FC236}">
                <a16:creationId xmlns:a16="http://schemas.microsoft.com/office/drawing/2014/main" id="{60448560-B400-4D3F-9D47-B353E9B43DB6}"/>
              </a:ext>
            </a:extLst>
          </p:cNvPr>
          <p:cNvSpPr txBox="1"/>
          <p:nvPr/>
        </p:nvSpPr>
        <p:spPr>
          <a:xfrm>
            <a:off x="4857175" y="765308"/>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12.00</a:t>
            </a:r>
          </a:p>
        </p:txBody>
      </p:sp>
      <p:sp>
        <p:nvSpPr>
          <p:cNvPr id="79" name="Metin kutusu 78">
            <a:extLst>
              <a:ext uri="{FF2B5EF4-FFF2-40B4-BE49-F238E27FC236}">
                <a16:creationId xmlns:a16="http://schemas.microsoft.com/office/drawing/2014/main" id="{7E6FF9EB-E16E-4E8D-9BED-538A229DE142}"/>
              </a:ext>
            </a:extLst>
          </p:cNvPr>
          <p:cNvSpPr txBox="1"/>
          <p:nvPr/>
        </p:nvSpPr>
        <p:spPr>
          <a:xfrm>
            <a:off x="5516490" y="761982"/>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13.00</a:t>
            </a:r>
          </a:p>
        </p:txBody>
      </p:sp>
      <p:sp>
        <p:nvSpPr>
          <p:cNvPr id="80" name="Metin kutusu 79">
            <a:extLst>
              <a:ext uri="{FF2B5EF4-FFF2-40B4-BE49-F238E27FC236}">
                <a16:creationId xmlns:a16="http://schemas.microsoft.com/office/drawing/2014/main" id="{0EEDB12E-1C90-49B8-96D4-0076E87CD4DF}"/>
              </a:ext>
            </a:extLst>
          </p:cNvPr>
          <p:cNvSpPr txBox="1"/>
          <p:nvPr/>
        </p:nvSpPr>
        <p:spPr>
          <a:xfrm>
            <a:off x="6138470" y="748471"/>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14.00</a:t>
            </a:r>
          </a:p>
        </p:txBody>
      </p:sp>
      <p:sp>
        <p:nvSpPr>
          <p:cNvPr id="81" name="Metin kutusu 80">
            <a:extLst>
              <a:ext uri="{FF2B5EF4-FFF2-40B4-BE49-F238E27FC236}">
                <a16:creationId xmlns:a16="http://schemas.microsoft.com/office/drawing/2014/main" id="{8DF9EB91-4777-4F89-B8C1-6E2A565A35CD}"/>
              </a:ext>
            </a:extLst>
          </p:cNvPr>
          <p:cNvSpPr txBox="1"/>
          <p:nvPr/>
        </p:nvSpPr>
        <p:spPr>
          <a:xfrm>
            <a:off x="3626206" y="1078506"/>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20.00</a:t>
            </a:r>
          </a:p>
        </p:txBody>
      </p:sp>
      <p:sp>
        <p:nvSpPr>
          <p:cNvPr id="82" name="Metin kutusu 81">
            <a:extLst>
              <a:ext uri="{FF2B5EF4-FFF2-40B4-BE49-F238E27FC236}">
                <a16:creationId xmlns:a16="http://schemas.microsoft.com/office/drawing/2014/main" id="{D6689E86-3639-412B-8180-1F7B9EC89BAB}"/>
              </a:ext>
            </a:extLst>
          </p:cNvPr>
          <p:cNvSpPr txBox="1"/>
          <p:nvPr/>
        </p:nvSpPr>
        <p:spPr>
          <a:xfrm>
            <a:off x="4237014" y="1077093"/>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21.00</a:t>
            </a:r>
          </a:p>
        </p:txBody>
      </p:sp>
      <p:sp>
        <p:nvSpPr>
          <p:cNvPr id="83" name="Metin kutusu 82">
            <a:extLst>
              <a:ext uri="{FF2B5EF4-FFF2-40B4-BE49-F238E27FC236}">
                <a16:creationId xmlns:a16="http://schemas.microsoft.com/office/drawing/2014/main" id="{3FC2AEE7-D409-4889-B10E-53721935C4AE}"/>
              </a:ext>
            </a:extLst>
          </p:cNvPr>
          <p:cNvSpPr txBox="1"/>
          <p:nvPr/>
        </p:nvSpPr>
        <p:spPr>
          <a:xfrm>
            <a:off x="4848566" y="1085512"/>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22.00</a:t>
            </a:r>
          </a:p>
        </p:txBody>
      </p:sp>
      <p:sp>
        <p:nvSpPr>
          <p:cNvPr id="84" name="Metin kutusu 83">
            <a:extLst>
              <a:ext uri="{FF2B5EF4-FFF2-40B4-BE49-F238E27FC236}">
                <a16:creationId xmlns:a16="http://schemas.microsoft.com/office/drawing/2014/main" id="{D81FB970-75CD-407A-BE08-A488EF0F46D3}"/>
              </a:ext>
            </a:extLst>
          </p:cNvPr>
          <p:cNvSpPr txBox="1"/>
          <p:nvPr/>
        </p:nvSpPr>
        <p:spPr>
          <a:xfrm>
            <a:off x="5504557" y="1075924"/>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22.30</a:t>
            </a:r>
          </a:p>
        </p:txBody>
      </p:sp>
      <p:sp>
        <p:nvSpPr>
          <p:cNvPr id="85" name="Metin kutusu 84">
            <a:extLst>
              <a:ext uri="{FF2B5EF4-FFF2-40B4-BE49-F238E27FC236}">
                <a16:creationId xmlns:a16="http://schemas.microsoft.com/office/drawing/2014/main" id="{482AEFE9-5D61-40BD-B787-3D46FEA0EBEF}"/>
              </a:ext>
            </a:extLst>
          </p:cNvPr>
          <p:cNvSpPr txBox="1"/>
          <p:nvPr/>
        </p:nvSpPr>
        <p:spPr>
          <a:xfrm>
            <a:off x="6129861" y="1068675"/>
            <a:ext cx="592962" cy="323165"/>
          </a:xfrm>
          <a:prstGeom prst="rect">
            <a:avLst/>
          </a:prstGeom>
          <a:noFill/>
        </p:spPr>
        <p:txBody>
          <a:bodyPr wrap="square" rtlCol="0">
            <a:spAutoFit/>
          </a:bodyPr>
          <a:lstStyle/>
          <a:p>
            <a:r>
              <a:rPr lang="tr-TR" sz="1500" noProof="1">
                <a:solidFill>
                  <a:srgbClr val="FF0000"/>
                </a:solidFill>
                <a:latin typeface="Digital-7" panose="02000000000000000000" pitchFamily="2" charset="0"/>
                <a:cs typeface="Arial" panose="020B0604020202020204" pitchFamily="34" charset="0"/>
              </a:rPr>
              <a:t>23.00</a:t>
            </a:r>
          </a:p>
        </p:txBody>
      </p:sp>
      <p:cxnSp>
        <p:nvCxnSpPr>
          <p:cNvPr id="87" name="Düz Bağlayıcı 86">
            <a:extLst>
              <a:ext uri="{FF2B5EF4-FFF2-40B4-BE49-F238E27FC236}">
                <a16:creationId xmlns:a16="http://schemas.microsoft.com/office/drawing/2014/main" id="{788243B3-9DBB-43BA-BB14-691112AEB7C1}"/>
              </a:ext>
            </a:extLst>
          </p:cNvPr>
          <p:cNvCxnSpPr>
            <a:cxnSpLocks/>
          </p:cNvCxnSpPr>
          <p:nvPr/>
        </p:nvCxnSpPr>
        <p:spPr>
          <a:xfrm flipH="1">
            <a:off x="4726376" y="533786"/>
            <a:ext cx="1920" cy="8734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8" name="Düz Bağlayıcı 87">
            <a:extLst>
              <a:ext uri="{FF2B5EF4-FFF2-40B4-BE49-F238E27FC236}">
                <a16:creationId xmlns:a16="http://schemas.microsoft.com/office/drawing/2014/main" id="{A9CAD9CD-08EF-40F5-A243-B7322A381191}"/>
              </a:ext>
            </a:extLst>
          </p:cNvPr>
          <p:cNvCxnSpPr>
            <a:cxnSpLocks/>
          </p:cNvCxnSpPr>
          <p:nvPr/>
        </p:nvCxnSpPr>
        <p:spPr>
          <a:xfrm flipH="1">
            <a:off x="5490638" y="526695"/>
            <a:ext cx="1920" cy="8734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9" name="Düz Bağlayıcı 88">
            <a:extLst>
              <a:ext uri="{FF2B5EF4-FFF2-40B4-BE49-F238E27FC236}">
                <a16:creationId xmlns:a16="http://schemas.microsoft.com/office/drawing/2014/main" id="{BE10C823-246E-4F92-A145-500C0EDF9E59}"/>
              </a:ext>
            </a:extLst>
          </p:cNvPr>
          <p:cNvCxnSpPr>
            <a:cxnSpLocks/>
          </p:cNvCxnSpPr>
          <p:nvPr/>
        </p:nvCxnSpPr>
        <p:spPr>
          <a:xfrm flipH="1">
            <a:off x="6033530" y="531669"/>
            <a:ext cx="1920" cy="8734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0" name="Düz Bağlayıcı 89">
            <a:extLst>
              <a:ext uri="{FF2B5EF4-FFF2-40B4-BE49-F238E27FC236}">
                <a16:creationId xmlns:a16="http://schemas.microsoft.com/office/drawing/2014/main" id="{04BC82B4-E321-4943-9BF9-F270D5EA924B}"/>
              </a:ext>
            </a:extLst>
          </p:cNvPr>
          <p:cNvCxnSpPr>
            <a:cxnSpLocks/>
          </p:cNvCxnSpPr>
          <p:nvPr/>
        </p:nvCxnSpPr>
        <p:spPr>
          <a:xfrm flipH="1">
            <a:off x="3527126" y="810018"/>
            <a:ext cx="3204306"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1" name="Düz Bağlayıcı 90">
            <a:extLst>
              <a:ext uri="{FF2B5EF4-FFF2-40B4-BE49-F238E27FC236}">
                <a16:creationId xmlns:a16="http://schemas.microsoft.com/office/drawing/2014/main" id="{DBDD9782-970C-42E5-A0EF-8259AD5FB55C}"/>
              </a:ext>
            </a:extLst>
          </p:cNvPr>
          <p:cNvCxnSpPr>
            <a:cxnSpLocks/>
          </p:cNvCxnSpPr>
          <p:nvPr/>
        </p:nvCxnSpPr>
        <p:spPr>
          <a:xfrm flipH="1">
            <a:off x="3575914" y="1085512"/>
            <a:ext cx="3167318"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92" name="Metin kutusu 91">
            <a:extLst>
              <a:ext uri="{FF2B5EF4-FFF2-40B4-BE49-F238E27FC236}">
                <a16:creationId xmlns:a16="http://schemas.microsoft.com/office/drawing/2014/main" id="{B91C0094-B68F-40A3-819B-CB3837B778FE}"/>
              </a:ext>
            </a:extLst>
          </p:cNvPr>
          <p:cNvSpPr txBox="1"/>
          <p:nvPr/>
        </p:nvSpPr>
        <p:spPr>
          <a:xfrm>
            <a:off x="3505628" y="3901750"/>
            <a:ext cx="3347016" cy="553998"/>
          </a:xfrm>
          <a:prstGeom prst="rect">
            <a:avLst/>
          </a:prstGeom>
          <a:noFill/>
        </p:spPr>
        <p:txBody>
          <a:bodyPr wrap="square" rtlCol="0">
            <a:spAutoFit/>
          </a:bodyPr>
          <a:lstStyle/>
          <a:p>
            <a:r>
              <a:rPr lang="tr-TR" sz="1000" noProof="1"/>
              <a:t>A) 112,117                          B) 102,107                         C) 122,137</a:t>
            </a:r>
          </a:p>
          <a:p>
            <a:pPr marL="228600" indent="-228600">
              <a:buAutoNum type="alphaUcParenR"/>
            </a:pPr>
            <a:endParaRPr lang="tr-TR" sz="1000" noProof="1"/>
          </a:p>
          <a:p>
            <a:r>
              <a:rPr lang="tr-TR" sz="1000" noProof="1"/>
              <a:t>                      D) 122,147                           E) 102,122 </a:t>
            </a:r>
          </a:p>
        </p:txBody>
      </p:sp>
      <p:sp>
        <p:nvSpPr>
          <p:cNvPr id="93" name="Metin kutusu 92">
            <a:extLst>
              <a:ext uri="{FF2B5EF4-FFF2-40B4-BE49-F238E27FC236}">
                <a16:creationId xmlns:a16="http://schemas.microsoft.com/office/drawing/2014/main" id="{06B7B136-9ADE-4C33-BF60-9D4C566B95E8}"/>
              </a:ext>
            </a:extLst>
          </p:cNvPr>
          <p:cNvSpPr txBox="1"/>
          <p:nvPr/>
        </p:nvSpPr>
        <p:spPr>
          <a:xfrm>
            <a:off x="3382579" y="604434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94" name="Metin kutusu 93">
            <a:extLst>
              <a:ext uri="{FF2B5EF4-FFF2-40B4-BE49-F238E27FC236}">
                <a16:creationId xmlns:a16="http://schemas.microsoft.com/office/drawing/2014/main" id="{58CCC59C-8BAA-445F-8320-DE5E849EE3DF}"/>
              </a:ext>
            </a:extLst>
          </p:cNvPr>
          <p:cNvSpPr txBox="1"/>
          <p:nvPr/>
        </p:nvSpPr>
        <p:spPr>
          <a:xfrm>
            <a:off x="3543788" y="6059459"/>
            <a:ext cx="3229794" cy="553998"/>
          </a:xfrm>
          <a:prstGeom prst="rect">
            <a:avLst/>
          </a:prstGeom>
          <a:noFill/>
        </p:spPr>
        <p:txBody>
          <a:bodyPr wrap="square" rtlCol="0">
            <a:spAutoFit/>
          </a:bodyPr>
          <a:lstStyle/>
          <a:p>
            <a:r>
              <a:rPr lang="tr-TR" sz="1000" noProof="1">
                <a:cs typeface="Arial" panose="020B0604020202020204" pitchFamily="34" charset="0"/>
              </a:rPr>
              <a:t>Bir klinikte doktorlar 5 günde bir, hemşireler ise 3 günde bir nöbete kalmaktadır. </a:t>
            </a:r>
            <a:r>
              <a:rPr lang="tr-TR" sz="1000" b="1" noProof="1">
                <a:cs typeface="Arial" panose="020B0604020202020204" pitchFamily="34" charset="0"/>
              </a:rPr>
              <a:t>İlk gün cuma nöbeti beraber tutan doktor ve hemşire 10.nöbetlerini hangi gün tutarlar?</a:t>
            </a:r>
          </a:p>
        </p:txBody>
      </p:sp>
      <p:sp>
        <p:nvSpPr>
          <p:cNvPr id="95" name="Metin kutusu 94">
            <a:extLst>
              <a:ext uri="{FF2B5EF4-FFF2-40B4-BE49-F238E27FC236}">
                <a16:creationId xmlns:a16="http://schemas.microsoft.com/office/drawing/2014/main" id="{9A8D1463-8595-44B6-BEB1-9B778AE24F12}"/>
              </a:ext>
            </a:extLst>
          </p:cNvPr>
          <p:cNvSpPr txBox="1"/>
          <p:nvPr/>
        </p:nvSpPr>
        <p:spPr>
          <a:xfrm>
            <a:off x="3476376" y="6565778"/>
            <a:ext cx="3347016" cy="553998"/>
          </a:xfrm>
          <a:prstGeom prst="rect">
            <a:avLst/>
          </a:prstGeom>
          <a:noFill/>
        </p:spPr>
        <p:txBody>
          <a:bodyPr wrap="square" rtlCol="0">
            <a:spAutoFit/>
          </a:bodyPr>
          <a:lstStyle/>
          <a:p>
            <a:r>
              <a:rPr lang="tr-TR" sz="1000" noProof="1"/>
              <a:t>A) Cumartesi                         B) Perşembe                        C) Salı</a:t>
            </a:r>
          </a:p>
          <a:p>
            <a:pPr marL="228600" indent="-228600">
              <a:buAutoNum type="alphaUcParenR"/>
            </a:pPr>
            <a:endParaRPr lang="tr-TR" sz="1000" noProof="1"/>
          </a:p>
          <a:p>
            <a:r>
              <a:rPr lang="tr-TR" sz="1000" noProof="1"/>
              <a:t>                      D) Pazar                           E) Pazartesi</a:t>
            </a:r>
          </a:p>
        </p:txBody>
      </p:sp>
    </p:spTree>
    <p:extLst>
      <p:ext uri="{BB962C8B-B14F-4D97-AF65-F5344CB8AC3E}">
        <p14:creationId xmlns:p14="http://schemas.microsoft.com/office/powerpoint/2010/main" val="1239328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Periyodik Problemler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74735" y="437348"/>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510846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5.D    6.D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5139244"/>
            <a:ext cx="3359093" cy="246221"/>
          </a:xfrm>
          <a:prstGeom prst="rect">
            <a:avLst/>
          </a:prstGeom>
          <a:noFill/>
        </p:spPr>
        <p:txBody>
          <a:bodyPr wrap="square" rtlCol="0">
            <a:spAutoFit/>
          </a:bodyPr>
          <a:lstStyle/>
          <a:p>
            <a:r>
              <a:rPr lang="tr-TR" sz="1000" noProof="1">
                <a:cs typeface="Arial" panose="020B0604020202020204" pitchFamily="34" charset="0"/>
              </a:rPr>
              <a:t>Aşağıdaki saat 1 günde 24 dakika geri kalmaktadır.</a:t>
            </a:r>
          </a:p>
        </p:txBody>
      </p:sp>
      <p:pic>
        <p:nvPicPr>
          <p:cNvPr id="36" name="Grafik 35">
            <a:extLst>
              <a:ext uri="{FF2B5EF4-FFF2-40B4-BE49-F238E27FC236}">
                <a16:creationId xmlns:a16="http://schemas.microsoft.com/office/drawing/2014/main" id="{1B40F82D-5A6D-432E-93CA-C8C5ECF14C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pic>
        <p:nvPicPr>
          <p:cNvPr id="3" name="Grafik 2">
            <a:extLst>
              <a:ext uri="{FF2B5EF4-FFF2-40B4-BE49-F238E27FC236}">
                <a16:creationId xmlns:a16="http://schemas.microsoft.com/office/drawing/2014/main" id="{E58C5704-D196-4D0F-9FA1-A0AFB1DA801D}"/>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759" y="977803"/>
            <a:ext cx="542425" cy="542425"/>
          </a:xfrm>
          <a:prstGeom prst="rect">
            <a:avLst/>
          </a:prstGeom>
          <a:scene3d>
            <a:camera prst="perspectiveContrastingRightFacing"/>
            <a:lightRig rig="threePt" dir="t"/>
          </a:scene3d>
        </p:spPr>
      </p:pic>
      <p:sp>
        <p:nvSpPr>
          <p:cNvPr id="37" name="Metin kutusu 36">
            <a:extLst>
              <a:ext uri="{FF2B5EF4-FFF2-40B4-BE49-F238E27FC236}">
                <a16:creationId xmlns:a16="http://schemas.microsoft.com/office/drawing/2014/main" id="{E4837A92-949C-4D30-A18B-4C412D753562}"/>
              </a:ext>
            </a:extLst>
          </p:cNvPr>
          <p:cNvSpPr txBox="1"/>
          <p:nvPr/>
        </p:nvSpPr>
        <p:spPr>
          <a:xfrm>
            <a:off x="705277" y="1005682"/>
            <a:ext cx="419467" cy="477054"/>
          </a:xfrm>
          <a:prstGeom prst="rect">
            <a:avLst/>
          </a:prstGeom>
          <a:noFill/>
        </p:spPr>
        <p:txBody>
          <a:bodyPr wrap="square" rtlCol="0">
            <a:spAutoFit/>
          </a:bodyPr>
          <a:lstStyle/>
          <a:p>
            <a:r>
              <a:rPr lang="tr-TR" sz="2500" noProof="1">
                <a:solidFill>
                  <a:srgbClr val="00B0F0"/>
                </a:solidFill>
                <a:latin typeface="Good Idea St" panose="02000500000000000000" pitchFamily="2" charset="-94"/>
                <a:cs typeface="Arial" panose="020B0604020202020204" pitchFamily="34" charset="0"/>
              </a:rPr>
              <a:t>M</a:t>
            </a:r>
          </a:p>
        </p:txBody>
      </p:sp>
      <p:sp>
        <p:nvSpPr>
          <p:cNvPr id="38" name="Metin kutusu 37">
            <a:extLst>
              <a:ext uri="{FF2B5EF4-FFF2-40B4-BE49-F238E27FC236}">
                <a16:creationId xmlns:a16="http://schemas.microsoft.com/office/drawing/2014/main" id="{55441235-AC3F-448F-81CC-A3A911AA313C}"/>
              </a:ext>
            </a:extLst>
          </p:cNvPr>
          <p:cNvSpPr txBox="1"/>
          <p:nvPr/>
        </p:nvSpPr>
        <p:spPr>
          <a:xfrm>
            <a:off x="1006386" y="1005682"/>
            <a:ext cx="419467" cy="477054"/>
          </a:xfrm>
          <a:prstGeom prst="rect">
            <a:avLst/>
          </a:prstGeom>
          <a:noFill/>
        </p:spPr>
        <p:txBody>
          <a:bodyPr wrap="square" rtlCol="0">
            <a:spAutoFit/>
          </a:bodyPr>
          <a:lstStyle/>
          <a:p>
            <a:r>
              <a:rPr lang="tr-TR" sz="2500" noProof="1">
                <a:solidFill>
                  <a:srgbClr val="00B050"/>
                </a:solidFill>
                <a:latin typeface="Good Idea St" panose="02000500000000000000" pitchFamily="2" charset="-94"/>
                <a:cs typeface="Arial" panose="020B0604020202020204" pitchFamily="34" charset="0"/>
              </a:rPr>
              <a:t>Y</a:t>
            </a:r>
          </a:p>
        </p:txBody>
      </p:sp>
      <p:sp>
        <p:nvSpPr>
          <p:cNvPr id="39" name="Metin kutusu 38">
            <a:extLst>
              <a:ext uri="{FF2B5EF4-FFF2-40B4-BE49-F238E27FC236}">
                <a16:creationId xmlns:a16="http://schemas.microsoft.com/office/drawing/2014/main" id="{0C08BF72-BC0F-4942-9DA1-B86A15A56FE2}"/>
              </a:ext>
            </a:extLst>
          </p:cNvPr>
          <p:cNvSpPr txBox="1"/>
          <p:nvPr/>
        </p:nvSpPr>
        <p:spPr>
          <a:xfrm>
            <a:off x="1276934" y="1006823"/>
            <a:ext cx="419467" cy="477054"/>
          </a:xfrm>
          <a:prstGeom prst="rect">
            <a:avLst/>
          </a:prstGeom>
          <a:noFill/>
        </p:spPr>
        <p:txBody>
          <a:bodyPr wrap="square" rtlCol="0">
            <a:spAutoFit/>
          </a:bodyPr>
          <a:lstStyle/>
          <a:p>
            <a:r>
              <a:rPr lang="tr-TR" sz="2500" noProof="1">
                <a:solidFill>
                  <a:srgbClr val="C00000"/>
                </a:solidFill>
                <a:latin typeface="Good Idea St" panose="02000500000000000000" pitchFamily="2" charset="-94"/>
                <a:cs typeface="Arial" panose="020B0604020202020204" pitchFamily="34" charset="0"/>
              </a:rPr>
              <a:t>K</a:t>
            </a:r>
          </a:p>
        </p:txBody>
      </p:sp>
      <p:sp>
        <p:nvSpPr>
          <p:cNvPr id="40" name="Metin kutusu 39">
            <a:extLst>
              <a:ext uri="{FF2B5EF4-FFF2-40B4-BE49-F238E27FC236}">
                <a16:creationId xmlns:a16="http://schemas.microsoft.com/office/drawing/2014/main" id="{B88D1888-3F1D-40C9-ABFD-0A5DBD0EB4A9}"/>
              </a:ext>
            </a:extLst>
          </p:cNvPr>
          <p:cNvSpPr txBox="1"/>
          <p:nvPr/>
        </p:nvSpPr>
        <p:spPr>
          <a:xfrm>
            <a:off x="1578043" y="1006823"/>
            <a:ext cx="419467" cy="477054"/>
          </a:xfrm>
          <a:prstGeom prst="rect">
            <a:avLst/>
          </a:prstGeom>
          <a:noFill/>
        </p:spPr>
        <p:txBody>
          <a:bodyPr wrap="square" rtlCol="0">
            <a:spAutoFit/>
          </a:bodyPr>
          <a:lstStyle/>
          <a:p>
            <a:r>
              <a:rPr lang="tr-TR" sz="2500" noProof="1">
                <a:solidFill>
                  <a:srgbClr val="00B0F0"/>
                </a:solidFill>
                <a:latin typeface="Good Idea St" panose="02000500000000000000" pitchFamily="2" charset="-94"/>
                <a:cs typeface="Arial" panose="020B0604020202020204" pitchFamily="34" charset="0"/>
              </a:rPr>
              <a:t>M</a:t>
            </a:r>
          </a:p>
        </p:txBody>
      </p:sp>
      <p:sp>
        <p:nvSpPr>
          <p:cNvPr id="41" name="Metin kutusu 40">
            <a:extLst>
              <a:ext uri="{FF2B5EF4-FFF2-40B4-BE49-F238E27FC236}">
                <a16:creationId xmlns:a16="http://schemas.microsoft.com/office/drawing/2014/main" id="{98106668-3CDB-42FA-9A86-E21C86F7E2FC}"/>
              </a:ext>
            </a:extLst>
          </p:cNvPr>
          <p:cNvSpPr txBox="1"/>
          <p:nvPr/>
        </p:nvSpPr>
        <p:spPr>
          <a:xfrm>
            <a:off x="1858968" y="1005682"/>
            <a:ext cx="419467" cy="477054"/>
          </a:xfrm>
          <a:prstGeom prst="rect">
            <a:avLst/>
          </a:prstGeom>
          <a:noFill/>
        </p:spPr>
        <p:txBody>
          <a:bodyPr wrap="square" rtlCol="0">
            <a:spAutoFit/>
          </a:bodyPr>
          <a:lstStyle/>
          <a:p>
            <a:r>
              <a:rPr lang="tr-TR" sz="2500" noProof="1">
                <a:solidFill>
                  <a:srgbClr val="00B050"/>
                </a:solidFill>
                <a:latin typeface="Good Idea St" panose="02000500000000000000" pitchFamily="2" charset="-94"/>
                <a:cs typeface="Arial" panose="020B0604020202020204" pitchFamily="34" charset="0"/>
              </a:rPr>
              <a:t>Y</a:t>
            </a:r>
          </a:p>
        </p:txBody>
      </p:sp>
      <p:sp>
        <p:nvSpPr>
          <p:cNvPr id="46" name="Metin kutusu 45">
            <a:extLst>
              <a:ext uri="{FF2B5EF4-FFF2-40B4-BE49-F238E27FC236}">
                <a16:creationId xmlns:a16="http://schemas.microsoft.com/office/drawing/2014/main" id="{A33776A5-86D1-4C5C-AA32-0E23D4674F94}"/>
              </a:ext>
            </a:extLst>
          </p:cNvPr>
          <p:cNvSpPr txBox="1"/>
          <p:nvPr/>
        </p:nvSpPr>
        <p:spPr>
          <a:xfrm>
            <a:off x="2160077" y="1005682"/>
            <a:ext cx="419467" cy="477054"/>
          </a:xfrm>
          <a:prstGeom prst="rect">
            <a:avLst/>
          </a:prstGeom>
          <a:noFill/>
        </p:spPr>
        <p:txBody>
          <a:bodyPr wrap="square" rtlCol="0">
            <a:spAutoFit/>
          </a:bodyPr>
          <a:lstStyle/>
          <a:p>
            <a:r>
              <a:rPr lang="tr-TR" sz="2500" noProof="1">
                <a:solidFill>
                  <a:srgbClr val="C00000"/>
                </a:solidFill>
                <a:latin typeface="Good Idea St" panose="02000500000000000000" pitchFamily="2" charset="-94"/>
                <a:cs typeface="Arial" panose="020B0604020202020204" pitchFamily="34" charset="0"/>
              </a:rPr>
              <a:t>K</a:t>
            </a:r>
          </a:p>
        </p:txBody>
      </p:sp>
      <p:cxnSp>
        <p:nvCxnSpPr>
          <p:cNvPr id="7" name="Düz Bağlayıcı 6">
            <a:extLst>
              <a:ext uri="{FF2B5EF4-FFF2-40B4-BE49-F238E27FC236}">
                <a16:creationId xmlns:a16="http://schemas.microsoft.com/office/drawing/2014/main" id="{1F734F13-8B4C-4F2A-AA43-46B9B8BE22A1}"/>
              </a:ext>
            </a:extLst>
          </p:cNvPr>
          <p:cNvCxnSpPr/>
          <p:nvPr/>
        </p:nvCxnSpPr>
        <p:spPr>
          <a:xfrm>
            <a:off x="357569" y="1244209"/>
            <a:ext cx="322030" cy="0"/>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8" name="Metin kutusu 57">
            <a:extLst>
              <a:ext uri="{FF2B5EF4-FFF2-40B4-BE49-F238E27FC236}">
                <a16:creationId xmlns:a16="http://schemas.microsoft.com/office/drawing/2014/main" id="{1C8BA355-E819-42C3-88B7-859CC3248093}"/>
              </a:ext>
            </a:extLst>
          </p:cNvPr>
          <p:cNvSpPr txBox="1"/>
          <p:nvPr/>
        </p:nvSpPr>
        <p:spPr>
          <a:xfrm>
            <a:off x="2423084" y="1006476"/>
            <a:ext cx="419467" cy="477054"/>
          </a:xfrm>
          <a:prstGeom prst="rect">
            <a:avLst/>
          </a:prstGeom>
          <a:noFill/>
        </p:spPr>
        <p:txBody>
          <a:bodyPr wrap="square" rtlCol="0">
            <a:spAutoFit/>
          </a:bodyPr>
          <a:lstStyle/>
          <a:p>
            <a:r>
              <a:rPr lang="tr-TR" sz="2500" noProof="1">
                <a:solidFill>
                  <a:srgbClr val="00B0F0"/>
                </a:solidFill>
                <a:latin typeface="Good Idea St" panose="02000500000000000000" pitchFamily="2" charset="-94"/>
                <a:cs typeface="Arial" panose="020B0604020202020204" pitchFamily="34" charset="0"/>
              </a:rPr>
              <a:t>M</a:t>
            </a:r>
          </a:p>
        </p:txBody>
      </p:sp>
      <p:sp>
        <p:nvSpPr>
          <p:cNvPr id="59" name="Metin kutusu 58">
            <a:extLst>
              <a:ext uri="{FF2B5EF4-FFF2-40B4-BE49-F238E27FC236}">
                <a16:creationId xmlns:a16="http://schemas.microsoft.com/office/drawing/2014/main" id="{5CAF4C99-14D3-44E0-9F53-C996EBED9C23}"/>
              </a:ext>
            </a:extLst>
          </p:cNvPr>
          <p:cNvSpPr txBox="1"/>
          <p:nvPr/>
        </p:nvSpPr>
        <p:spPr>
          <a:xfrm>
            <a:off x="2704009" y="1005335"/>
            <a:ext cx="419467" cy="477054"/>
          </a:xfrm>
          <a:prstGeom prst="rect">
            <a:avLst/>
          </a:prstGeom>
          <a:noFill/>
        </p:spPr>
        <p:txBody>
          <a:bodyPr wrap="square" rtlCol="0">
            <a:spAutoFit/>
          </a:bodyPr>
          <a:lstStyle/>
          <a:p>
            <a:r>
              <a:rPr lang="tr-TR" sz="2500" noProof="1">
                <a:solidFill>
                  <a:srgbClr val="00B050"/>
                </a:solidFill>
                <a:latin typeface="Good Idea St" panose="02000500000000000000" pitchFamily="2" charset="-94"/>
                <a:cs typeface="Arial" panose="020B0604020202020204" pitchFamily="34" charset="0"/>
              </a:rPr>
              <a:t>Y</a:t>
            </a:r>
          </a:p>
        </p:txBody>
      </p:sp>
      <p:sp>
        <p:nvSpPr>
          <p:cNvPr id="60" name="Metin kutusu 59">
            <a:extLst>
              <a:ext uri="{FF2B5EF4-FFF2-40B4-BE49-F238E27FC236}">
                <a16:creationId xmlns:a16="http://schemas.microsoft.com/office/drawing/2014/main" id="{0E8F184D-C5B4-4B52-9345-5DCAADEC8244}"/>
              </a:ext>
            </a:extLst>
          </p:cNvPr>
          <p:cNvSpPr txBox="1"/>
          <p:nvPr/>
        </p:nvSpPr>
        <p:spPr>
          <a:xfrm>
            <a:off x="12442" y="1497104"/>
            <a:ext cx="3398181" cy="246221"/>
          </a:xfrm>
          <a:prstGeom prst="rect">
            <a:avLst/>
          </a:prstGeom>
          <a:noFill/>
        </p:spPr>
        <p:txBody>
          <a:bodyPr wrap="square" rtlCol="0">
            <a:spAutoFit/>
          </a:bodyPr>
          <a:lstStyle/>
          <a:p>
            <a:r>
              <a:rPr lang="tr-TR" sz="1000" noProof="1">
                <a:cs typeface="Arial" panose="020B0604020202020204" pitchFamily="34" charset="0"/>
              </a:rPr>
              <a:t>Sonuçlar :         T        B        C        C        B       T        T       B</a:t>
            </a:r>
          </a:p>
        </p:txBody>
      </p:sp>
      <mc:AlternateContent xmlns:mc="http://schemas.openxmlformats.org/markup-compatibility/2006">
        <mc:Choice xmlns:a14="http://schemas.microsoft.com/office/drawing/2010/main" Requires="a14">
          <p:sp>
            <p:nvSpPr>
              <p:cNvPr id="61" name="Metin kutusu 60">
                <a:extLst>
                  <a:ext uri="{FF2B5EF4-FFF2-40B4-BE49-F238E27FC236}">
                    <a16:creationId xmlns:a16="http://schemas.microsoft.com/office/drawing/2014/main" id="{565ADCC4-492A-479F-8585-3D99DEB3FDDB}"/>
                  </a:ext>
                </a:extLst>
              </p:cNvPr>
              <p:cNvSpPr txBox="1"/>
              <p:nvPr/>
            </p:nvSpPr>
            <p:spPr>
              <a:xfrm>
                <a:off x="2713567" y="1451609"/>
                <a:ext cx="1003361" cy="4770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5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500" noProof="1">
                  <a:cs typeface="Arial" panose="020B0604020202020204" pitchFamily="34" charset="0"/>
                </a:endParaRPr>
              </a:p>
              <a:p>
                <a:endParaRPr lang="tr-TR" sz="1000" noProof="1">
                  <a:cs typeface="Arial" panose="020B0604020202020204" pitchFamily="34" charset="0"/>
                </a:endParaRPr>
              </a:p>
            </p:txBody>
          </p:sp>
        </mc:Choice>
        <mc:Fallback>
          <p:sp>
            <p:nvSpPr>
              <p:cNvPr id="61" name="Metin kutusu 60">
                <a:extLst>
                  <a:ext uri="{FF2B5EF4-FFF2-40B4-BE49-F238E27FC236}">
                    <a16:creationId xmlns:a16="http://schemas.microsoft.com/office/drawing/2014/main" id="{565ADCC4-492A-479F-8585-3D99DEB3FDDB}"/>
                  </a:ext>
                </a:extLst>
              </p:cNvPr>
              <p:cNvSpPr txBox="1">
                <a:spLocks noRot="1" noChangeAspect="1" noMove="1" noResize="1" noEditPoints="1" noAdjustHandles="1" noChangeArrowheads="1" noChangeShapeType="1" noTextEdit="1"/>
              </p:cNvSpPr>
              <p:nvPr/>
            </p:nvSpPr>
            <p:spPr>
              <a:xfrm>
                <a:off x="2713567" y="1451609"/>
                <a:ext cx="1003361" cy="477054"/>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63" name="Metin kutusu 62">
                <a:extLst>
                  <a:ext uri="{FF2B5EF4-FFF2-40B4-BE49-F238E27FC236}">
                    <a16:creationId xmlns:a16="http://schemas.microsoft.com/office/drawing/2014/main" id="{EA437A75-B927-4DCF-90FE-87AD2F4A1DAB}"/>
                  </a:ext>
                </a:extLst>
              </p:cNvPr>
              <p:cNvSpPr txBox="1"/>
              <p:nvPr/>
            </p:nvSpPr>
            <p:spPr>
              <a:xfrm>
                <a:off x="2719033" y="1117498"/>
                <a:ext cx="1003361" cy="4770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500" b="1"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500" b="1" noProof="1">
                  <a:cs typeface="Arial" panose="020B0604020202020204" pitchFamily="34" charset="0"/>
                </a:endParaRPr>
              </a:p>
              <a:p>
                <a:endParaRPr lang="tr-TR" sz="1000" noProof="1">
                  <a:cs typeface="Arial" panose="020B0604020202020204" pitchFamily="34" charset="0"/>
                </a:endParaRPr>
              </a:p>
            </p:txBody>
          </p:sp>
        </mc:Choice>
        <mc:Fallback>
          <p:sp>
            <p:nvSpPr>
              <p:cNvPr id="63" name="Metin kutusu 62">
                <a:extLst>
                  <a:ext uri="{FF2B5EF4-FFF2-40B4-BE49-F238E27FC236}">
                    <a16:creationId xmlns:a16="http://schemas.microsoft.com/office/drawing/2014/main" id="{EA437A75-B927-4DCF-90FE-87AD2F4A1DAB}"/>
                  </a:ext>
                </a:extLst>
              </p:cNvPr>
              <p:cNvSpPr txBox="1">
                <a:spLocks noRot="1" noChangeAspect="1" noMove="1" noResize="1" noEditPoints="1" noAdjustHandles="1" noChangeArrowheads="1" noChangeShapeType="1" noTextEdit="1"/>
              </p:cNvSpPr>
              <p:nvPr/>
            </p:nvSpPr>
            <p:spPr>
              <a:xfrm>
                <a:off x="2719033" y="1117498"/>
                <a:ext cx="1003361" cy="477054"/>
              </a:xfrm>
              <a:prstGeom prst="rect">
                <a:avLst/>
              </a:prstGeom>
              <a:blipFill>
                <a:blip r:embed="rId9"/>
                <a:stretch>
                  <a:fillRect/>
                </a:stretch>
              </a:blipFill>
            </p:spPr>
            <p:txBody>
              <a:bodyPr/>
              <a:lstStyle/>
              <a:p>
                <a:r>
                  <a:rPr lang="tr-TR">
                    <a:noFill/>
                  </a:rPr>
                  <a:t> </a:t>
                </a:r>
              </a:p>
            </p:txBody>
          </p:sp>
        </mc:Fallback>
      </mc:AlternateContent>
      <p:sp>
        <p:nvSpPr>
          <p:cNvPr id="64" name="Metin kutusu 63">
            <a:extLst>
              <a:ext uri="{FF2B5EF4-FFF2-40B4-BE49-F238E27FC236}">
                <a16:creationId xmlns:a16="http://schemas.microsoft.com/office/drawing/2014/main" id="{F905B57D-34A3-4748-B7A3-BD848B11F1DC}"/>
              </a:ext>
            </a:extLst>
          </p:cNvPr>
          <p:cNvSpPr txBox="1"/>
          <p:nvPr/>
        </p:nvSpPr>
        <p:spPr>
          <a:xfrm>
            <a:off x="-43866" y="1693030"/>
            <a:ext cx="3590871" cy="400110"/>
          </a:xfrm>
          <a:prstGeom prst="rect">
            <a:avLst/>
          </a:prstGeom>
          <a:noFill/>
        </p:spPr>
        <p:txBody>
          <a:bodyPr wrap="square" rtlCol="0">
            <a:spAutoFit/>
          </a:bodyPr>
          <a:lstStyle/>
          <a:p>
            <a:r>
              <a:rPr lang="tr-TR" sz="1000" b="1" noProof="1">
                <a:cs typeface="Arial" panose="020B0604020202020204" pitchFamily="34" charset="0"/>
              </a:rPr>
              <a:t>Baştan ampullerdeki testler numaralandırılırsa 112.ci numarada ki ampül ve test sonucu aşağıdakilerden hangisi gibi olur?</a:t>
            </a:r>
          </a:p>
        </p:txBody>
      </p:sp>
      <p:sp>
        <p:nvSpPr>
          <p:cNvPr id="65" name="Metin kutusu 64">
            <a:extLst>
              <a:ext uri="{FF2B5EF4-FFF2-40B4-BE49-F238E27FC236}">
                <a16:creationId xmlns:a16="http://schemas.microsoft.com/office/drawing/2014/main" id="{94BD4916-6BAE-430B-B93C-46F752147F59}"/>
              </a:ext>
            </a:extLst>
          </p:cNvPr>
          <p:cNvSpPr txBox="1"/>
          <p:nvPr/>
        </p:nvSpPr>
        <p:spPr>
          <a:xfrm>
            <a:off x="23698" y="2104928"/>
            <a:ext cx="339647" cy="246221"/>
          </a:xfrm>
          <a:prstGeom prst="rect">
            <a:avLst/>
          </a:prstGeom>
          <a:noFill/>
        </p:spPr>
        <p:txBody>
          <a:bodyPr wrap="square" rtlCol="0">
            <a:spAutoFit/>
          </a:bodyPr>
          <a:lstStyle/>
          <a:p>
            <a:r>
              <a:rPr lang="tr-TR" sz="1000" noProof="1">
                <a:cs typeface="Arial" panose="020B0604020202020204" pitchFamily="34" charset="0"/>
              </a:rPr>
              <a:t>A)</a:t>
            </a:r>
          </a:p>
        </p:txBody>
      </p:sp>
      <p:sp>
        <p:nvSpPr>
          <p:cNvPr id="66" name="Metin kutusu 65">
            <a:extLst>
              <a:ext uri="{FF2B5EF4-FFF2-40B4-BE49-F238E27FC236}">
                <a16:creationId xmlns:a16="http://schemas.microsoft.com/office/drawing/2014/main" id="{09FC7196-B850-4FA1-B82A-956F3AB6BF9B}"/>
              </a:ext>
            </a:extLst>
          </p:cNvPr>
          <p:cNvSpPr txBox="1"/>
          <p:nvPr/>
        </p:nvSpPr>
        <p:spPr>
          <a:xfrm>
            <a:off x="23698" y="2857337"/>
            <a:ext cx="339647" cy="246221"/>
          </a:xfrm>
          <a:prstGeom prst="rect">
            <a:avLst/>
          </a:prstGeom>
          <a:noFill/>
        </p:spPr>
        <p:txBody>
          <a:bodyPr wrap="square" rtlCol="0">
            <a:spAutoFit/>
          </a:bodyPr>
          <a:lstStyle/>
          <a:p>
            <a:r>
              <a:rPr lang="tr-TR" sz="1000" noProof="1">
                <a:cs typeface="Arial" panose="020B0604020202020204" pitchFamily="34" charset="0"/>
              </a:rPr>
              <a:t>B)</a:t>
            </a:r>
          </a:p>
        </p:txBody>
      </p:sp>
      <p:sp>
        <p:nvSpPr>
          <p:cNvPr id="67" name="Metin kutusu 66">
            <a:extLst>
              <a:ext uri="{FF2B5EF4-FFF2-40B4-BE49-F238E27FC236}">
                <a16:creationId xmlns:a16="http://schemas.microsoft.com/office/drawing/2014/main" id="{DE6D6B26-B938-467F-B4CC-CF644081772A}"/>
              </a:ext>
            </a:extLst>
          </p:cNvPr>
          <p:cNvSpPr txBox="1"/>
          <p:nvPr/>
        </p:nvSpPr>
        <p:spPr>
          <a:xfrm>
            <a:off x="1304210" y="2104928"/>
            <a:ext cx="339647" cy="246221"/>
          </a:xfrm>
          <a:prstGeom prst="rect">
            <a:avLst/>
          </a:prstGeom>
          <a:noFill/>
        </p:spPr>
        <p:txBody>
          <a:bodyPr wrap="square" rtlCol="0">
            <a:spAutoFit/>
          </a:bodyPr>
          <a:lstStyle/>
          <a:p>
            <a:r>
              <a:rPr lang="tr-TR" sz="1000" noProof="1">
                <a:cs typeface="Arial" panose="020B0604020202020204" pitchFamily="34" charset="0"/>
              </a:rPr>
              <a:t>C)</a:t>
            </a:r>
          </a:p>
        </p:txBody>
      </p:sp>
      <p:sp>
        <p:nvSpPr>
          <p:cNvPr id="68" name="Metin kutusu 67">
            <a:extLst>
              <a:ext uri="{FF2B5EF4-FFF2-40B4-BE49-F238E27FC236}">
                <a16:creationId xmlns:a16="http://schemas.microsoft.com/office/drawing/2014/main" id="{0CE4E751-EC20-4C46-B187-4F7DD99354CD}"/>
              </a:ext>
            </a:extLst>
          </p:cNvPr>
          <p:cNvSpPr txBox="1"/>
          <p:nvPr/>
        </p:nvSpPr>
        <p:spPr>
          <a:xfrm>
            <a:off x="1313796" y="2857337"/>
            <a:ext cx="339647" cy="246221"/>
          </a:xfrm>
          <a:prstGeom prst="rect">
            <a:avLst/>
          </a:prstGeom>
          <a:noFill/>
        </p:spPr>
        <p:txBody>
          <a:bodyPr wrap="square" rtlCol="0">
            <a:spAutoFit/>
          </a:bodyPr>
          <a:lstStyle/>
          <a:p>
            <a:r>
              <a:rPr lang="tr-TR" sz="1000" noProof="1">
                <a:cs typeface="Arial" panose="020B0604020202020204" pitchFamily="34" charset="0"/>
              </a:rPr>
              <a:t>D)</a:t>
            </a:r>
          </a:p>
        </p:txBody>
      </p:sp>
      <p:sp>
        <p:nvSpPr>
          <p:cNvPr id="69" name="Metin kutusu 68">
            <a:extLst>
              <a:ext uri="{FF2B5EF4-FFF2-40B4-BE49-F238E27FC236}">
                <a16:creationId xmlns:a16="http://schemas.microsoft.com/office/drawing/2014/main" id="{2EC79D4C-57D3-4957-B2F5-D333DE416E20}"/>
              </a:ext>
            </a:extLst>
          </p:cNvPr>
          <p:cNvSpPr txBox="1"/>
          <p:nvPr/>
        </p:nvSpPr>
        <p:spPr>
          <a:xfrm>
            <a:off x="2435310" y="2099611"/>
            <a:ext cx="339647" cy="246221"/>
          </a:xfrm>
          <a:prstGeom prst="rect">
            <a:avLst/>
          </a:prstGeom>
          <a:noFill/>
        </p:spPr>
        <p:txBody>
          <a:bodyPr wrap="square" rtlCol="0">
            <a:spAutoFit/>
          </a:bodyPr>
          <a:lstStyle/>
          <a:p>
            <a:r>
              <a:rPr lang="tr-TR" sz="1000" noProof="1">
                <a:cs typeface="Arial" panose="020B0604020202020204" pitchFamily="34" charset="0"/>
              </a:rPr>
              <a:t>E)</a:t>
            </a:r>
          </a:p>
        </p:txBody>
      </p:sp>
      <p:sp>
        <p:nvSpPr>
          <p:cNvPr id="70" name="Metin kutusu 69">
            <a:extLst>
              <a:ext uri="{FF2B5EF4-FFF2-40B4-BE49-F238E27FC236}">
                <a16:creationId xmlns:a16="http://schemas.microsoft.com/office/drawing/2014/main" id="{E0FC65DF-CAA1-43FD-8D66-11DCB6032504}"/>
              </a:ext>
            </a:extLst>
          </p:cNvPr>
          <p:cNvSpPr txBox="1"/>
          <p:nvPr/>
        </p:nvSpPr>
        <p:spPr>
          <a:xfrm>
            <a:off x="213872" y="2063771"/>
            <a:ext cx="419467" cy="400110"/>
          </a:xfrm>
          <a:prstGeom prst="rect">
            <a:avLst/>
          </a:prstGeom>
          <a:noFill/>
        </p:spPr>
        <p:txBody>
          <a:bodyPr wrap="square" rtlCol="0">
            <a:spAutoFit/>
          </a:bodyPr>
          <a:lstStyle/>
          <a:p>
            <a:r>
              <a:rPr lang="tr-TR" sz="2000" noProof="1">
                <a:solidFill>
                  <a:srgbClr val="00B0F0"/>
                </a:solidFill>
                <a:latin typeface="Good Idea St" panose="02000500000000000000" pitchFamily="2" charset="-94"/>
                <a:cs typeface="Arial" panose="020B0604020202020204" pitchFamily="34" charset="0"/>
              </a:rPr>
              <a:t>M</a:t>
            </a:r>
          </a:p>
        </p:txBody>
      </p:sp>
      <p:sp>
        <p:nvSpPr>
          <p:cNvPr id="71" name="Metin kutusu 70">
            <a:extLst>
              <a:ext uri="{FF2B5EF4-FFF2-40B4-BE49-F238E27FC236}">
                <a16:creationId xmlns:a16="http://schemas.microsoft.com/office/drawing/2014/main" id="{D569ACE6-C00D-447E-9DD8-DDB8C3F62BF8}"/>
              </a:ext>
            </a:extLst>
          </p:cNvPr>
          <p:cNvSpPr txBox="1"/>
          <p:nvPr/>
        </p:nvSpPr>
        <p:spPr>
          <a:xfrm>
            <a:off x="265448" y="2391969"/>
            <a:ext cx="271012" cy="246221"/>
          </a:xfrm>
          <a:prstGeom prst="rect">
            <a:avLst/>
          </a:prstGeom>
          <a:noFill/>
        </p:spPr>
        <p:txBody>
          <a:bodyPr wrap="square" rtlCol="0">
            <a:spAutoFit/>
          </a:bodyPr>
          <a:lstStyle/>
          <a:p>
            <a:r>
              <a:rPr lang="tr-TR" sz="1000" noProof="1">
                <a:cs typeface="Arial" panose="020B0604020202020204" pitchFamily="34" charset="0"/>
              </a:rPr>
              <a:t>T</a:t>
            </a:r>
          </a:p>
        </p:txBody>
      </p:sp>
      <p:sp>
        <p:nvSpPr>
          <p:cNvPr id="72" name="Metin kutusu 71">
            <a:extLst>
              <a:ext uri="{FF2B5EF4-FFF2-40B4-BE49-F238E27FC236}">
                <a16:creationId xmlns:a16="http://schemas.microsoft.com/office/drawing/2014/main" id="{3B511DCC-0781-4AAF-B441-D1ADAB691AC2}"/>
              </a:ext>
            </a:extLst>
          </p:cNvPr>
          <p:cNvSpPr txBox="1"/>
          <p:nvPr/>
        </p:nvSpPr>
        <p:spPr>
          <a:xfrm>
            <a:off x="1500531" y="2780392"/>
            <a:ext cx="419467" cy="400110"/>
          </a:xfrm>
          <a:prstGeom prst="rect">
            <a:avLst/>
          </a:prstGeom>
          <a:noFill/>
        </p:spPr>
        <p:txBody>
          <a:bodyPr wrap="square" rtlCol="0">
            <a:spAutoFit/>
          </a:bodyPr>
          <a:lstStyle/>
          <a:p>
            <a:r>
              <a:rPr lang="tr-TR" sz="2000" noProof="1">
                <a:solidFill>
                  <a:srgbClr val="00B0F0"/>
                </a:solidFill>
                <a:latin typeface="Good Idea St" panose="02000500000000000000" pitchFamily="2" charset="-94"/>
                <a:cs typeface="Arial" panose="020B0604020202020204" pitchFamily="34" charset="0"/>
              </a:rPr>
              <a:t>M</a:t>
            </a:r>
          </a:p>
        </p:txBody>
      </p:sp>
      <p:sp>
        <p:nvSpPr>
          <p:cNvPr id="73" name="Metin kutusu 72">
            <a:extLst>
              <a:ext uri="{FF2B5EF4-FFF2-40B4-BE49-F238E27FC236}">
                <a16:creationId xmlns:a16="http://schemas.microsoft.com/office/drawing/2014/main" id="{6D1EDBCA-CC95-4741-9005-341CFB769BF4}"/>
              </a:ext>
            </a:extLst>
          </p:cNvPr>
          <p:cNvSpPr txBox="1"/>
          <p:nvPr/>
        </p:nvSpPr>
        <p:spPr>
          <a:xfrm>
            <a:off x="2612633" y="2032513"/>
            <a:ext cx="419467" cy="400110"/>
          </a:xfrm>
          <a:prstGeom prst="rect">
            <a:avLst/>
          </a:prstGeom>
          <a:noFill/>
        </p:spPr>
        <p:txBody>
          <a:bodyPr wrap="square" rtlCol="0">
            <a:spAutoFit/>
          </a:bodyPr>
          <a:lstStyle/>
          <a:p>
            <a:r>
              <a:rPr lang="tr-TR" sz="2000" noProof="1">
                <a:solidFill>
                  <a:srgbClr val="00B0F0"/>
                </a:solidFill>
                <a:latin typeface="Good Idea St" panose="02000500000000000000" pitchFamily="2" charset="-94"/>
                <a:cs typeface="Arial" panose="020B0604020202020204" pitchFamily="34" charset="0"/>
              </a:rPr>
              <a:t>M</a:t>
            </a:r>
          </a:p>
        </p:txBody>
      </p:sp>
      <p:sp>
        <p:nvSpPr>
          <p:cNvPr id="74" name="Metin kutusu 73">
            <a:extLst>
              <a:ext uri="{FF2B5EF4-FFF2-40B4-BE49-F238E27FC236}">
                <a16:creationId xmlns:a16="http://schemas.microsoft.com/office/drawing/2014/main" id="{12281B21-C337-4F75-B54B-1C0BB619C86A}"/>
              </a:ext>
            </a:extLst>
          </p:cNvPr>
          <p:cNvSpPr txBox="1"/>
          <p:nvPr/>
        </p:nvSpPr>
        <p:spPr>
          <a:xfrm>
            <a:off x="1449168" y="2053415"/>
            <a:ext cx="419467" cy="400110"/>
          </a:xfrm>
          <a:prstGeom prst="rect">
            <a:avLst/>
          </a:prstGeom>
          <a:noFill/>
        </p:spPr>
        <p:txBody>
          <a:bodyPr wrap="square" rtlCol="0">
            <a:spAutoFit/>
          </a:bodyPr>
          <a:lstStyle/>
          <a:p>
            <a:r>
              <a:rPr lang="tr-TR" sz="2000" noProof="1">
                <a:solidFill>
                  <a:srgbClr val="FF0000"/>
                </a:solidFill>
                <a:latin typeface="Good Idea St" panose="02000500000000000000" pitchFamily="2" charset="-94"/>
                <a:cs typeface="Arial" panose="020B0604020202020204" pitchFamily="34" charset="0"/>
              </a:rPr>
              <a:t>K</a:t>
            </a:r>
          </a:p>
        </p:txBody>
      </p:sp>
      <p:sp>
        <p:nvSpPr>
          <p:cNvPr id="75" name="Metin kutusu 74">
            <a:extLst>
              <a:ext uri="{FF2B5EF4-FFF2-40B4-BE49-F238E27FC236}">
                <a16:creationId xmlns:a16="http://schemas.microsoft.com/office/drawing/2014/main" id="{F3AFD3FA-035D-4BEB-A383-0034DD5C6FD4}"/>
              </a:ext>
            </a:extLst>
          </p:cNvPr>
          <p:cNvSpPr txBox="1"/>
          <p:nvPr/>
        </p:nvSpPr>
        <p:spPr>
          <a:xfrm>
            <a:off x="191220" y="2820411"/>
            <a:ext cx="419467" cy="400110"/>
          </a:xfrm>
          <a:prstGeom prst="rect">
            <a:avLst/>
          </a:prstGeom>
          <a:noFill/>
        </p:spPr>
        <p:txBody>
          <a:bodyPr wrap="square" rtlCol="0">
            <a:spAutoFit/>
          </a:bodyPr>
          <a:lstStyle/>
          <a:p>
            <a:r>
              <a:rPr lang="tr-TR" sz="2000" noProof="1">
                <a:solidFill>
                  <a:srgbClr val="00B050"/>
                </a:solidFill>
                <a:latin typeface="Good Idea St" panose="02000500000000000000" pitchFamily="2" charset="-94"/>
                <a:cs typeface="Arial" panose="020B0604020202020204" pitchFamily="34" charset="0"/>
              </a:rPr>
              <a:t>Y</a:t>
            </a:r>
          </a:p>
        </p:txBody>
      </p:sp>
      <p:sp>
        <p:nvSpPr>
          <p:cNvPr id="76" name="Metin kutusu 75">
            <a:extLst>
              <a:ext uri="{FF2B5EF4-FFF2-40B4-BE49-F238E27FC236}">
                <a16:creationId xmlns:a16="http://schemas.microsoft.com/office/drawing/2014/main" id="{AEA13C3E-B74D-445B-AD7F-B1903A3BE237}"/>
              </a:ext>
            </a:extLst>
          </p:cNvPr>
          <p:cNvSpPr txBox="1"/>
          <p:nvPr/>
        </p:nvSpPr>
        <p:spPr>
          <a:xfrm>
            <a:off x="1567727" y="3104085"/>
            <a:ext cx="271012" cy="246221"/>
          </a:xfrm>
          <a:prstGeom prst="rect">
            <a:avLst/>
          </a:prstGeom>
          <a:noFill/>
        </p:spPr>
        <p:txBody>
          <a:bodyPr wrap="square" rtlCol="0">
            <a:spAutoFit/>
          </a:bodyPr>
          <a:lstStyle/>
          <a:p>
            <a:r>
              <a:rPr lang="tr-TR" sz="1000" noProof="1">
                <a:cs typeface="Arial" panose="020B0604020202020204" pitchFamily="34" charset="0"/>
              </a:rPr>
              <a:t>C</a:t>
            </a:r>
          </a:p>
        </p:txBody>
      </p:sp>
      <p:sp>
        <p:nvSpPr>
          <p:cNvPr id="77" name="Metin kutusu 76">
            <a:extLst>
              <a:ext uri="{FF2B5EF4-FFF2-40B4-BE49-F238E27FC236}">
                <a16:creationId xmlns:a16="http://schemas.microsoft.com/office/drawing/2014/main" id="{D5BFBC9C-21A6-40C1-A427-68EBBA3C27AD}"/>
              </a:ext>
            </a:extLst>
          </p:cNvPr>
          <p:cNvSpPr txBox="1"/>
          <p:nvPr/>
        </p:nvSpPr>
        <p:spPr>
          <a:xfrm>
            <a:off x="2666051" y="2350498"/>
            <a:ext cx="271012" cy="246221"/>
          </a:xfrm>
          <a:prstGeom prst="rect">
            <a:avLst/>
          </a:prstGeom>
          <a:noFill/>
        </p:spPr>
        <p:txBody>
          <a:bodyPr wrap="square" rtlCol="0">
            <a:spAutoFit/>
          </a:bodyPr>
          <a:lstStyle/>
          <a:p>
            <a:r>
              <a:rPr lang="tr-TR" sz="1000" noProof="1">
                <a:cs typeface="Arial" panose="020B0604020202020204" pitchFamily="34" charset="0"/>
              </a:rPr>
              <a:t>B</a:t>
            </a:r>
          </a:p>
        </p:txBody>
      </p:sp>
      <p:sp>
        <p:nvSpPr>
          <p:cNvPr id="78" name="Metin kutusu 77">
            <a:extLst>
              <a:ext uri="{FF2B5EF4-FFF2-40B4-BE49-F238E27FC236}">
                <a16:creationId xmlns:a16="http://schemas.microsoft.com/office/drawing/2014/main" id="{909A88E4-EEA9-4869-A622-04980E97FB7F}"/>
              </a:ext>
            </a:extLst>
          </p:cNvPr>
          <p:cNvSpPr txBox="1"/>
          <p:nvPr/>
        </p:nvSpPr>
        <p:spPr>
          <a:xfrm>
            <a:off x="230392" y="3125003"/>
            <a:ext cx="271012" cy="246221"/>
          </a:xfrm>
          <a:prstGeom prst="rect">
            <a:avLst/>
          </a:prstGeom>
          <a:noFill/>
        </p:spPr>
        <p:txBody>
          <a:bodyPr wrap="square" rtlCol="0">
            <a:spAutoFit/>
          </a:bodyPr>
          <a:lstStyle/>
          <a:p>
            <a:r>
              <a:rPr lang="tr-TR" sz="1000" noProof="1">
                <a:cs typeface="Arial" panose="020B0604020202020204" pitchFamily="34" charset="0"/>
              </a:rPr>
              <a:t>C</a:t>
            </a:r>
          </a:p>
        </p:txBody>
      </p:sp>
      <p:sp>
        <p:nvSpPr>
          <p:cNvPr id="79" name="Metin kutusu 78">
            <a:extLst>
              <a:ext uri="{FF2B5EF4-FFF2-40B4-BE49-F238E27FC236}">
                <a16:creationId xmlns:a16="http://schemas.microsoft.com/office/drawing/2014/main" id="{64DDB58B-99A2-483F-AC51-4946122B2D73}"/>
              </a:ext>
            </a:extLst>
          </p:cNvPr>
          <p:cNvSpPr txBox="1"/>
          <p:nvPr/>
        </p:nvSpPr>
        <p:spPr>
          <a:xfrm>
            <a:off x="1508351" y="2378742"/>
            <a:ext cx="271012" cy="246221"/>
          </a:xfrm>
          <a:prstGeom prst="rect">
            <a:avLst/>
          </a:prstGeom>
          <a:noFill/>
        </p:spPr>
        <p:txBody>
          <a:bodyPr wrap="square" rtlCol="0">
            <a:spAutoFit/>
          </a:bodyPr>
          <a:lstStyle/>
          <a:p>
            <a:r>
              <a:rPr lang="tr-TR" sz="1000" noProof="1">
                <a:cs typeface="Arial" panose="020B0604020202020204" pitchFamily="34" charset="0"/>
              </a:rPr>
              <a:t>T</a:t>
            </a:r>
          </a:p>
        </p:txBody>
      </p:sp>
      <p:pic>
        <p:nvPicPr>
          <p:cNvPr id="17" name="Grafik 16">
            <a:extLst>
              <a:ext uri="{FF2B5EF4-FFF2-40B4-BE49-F238E27FC236}">
                <a16:creationId xmlns:a16="http://schemas.microsoft.com/office/drawing/2014/main" id="{6C535B41-4B59-4E68-BD7B-6FD3E46D7CF4}"/>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7940" y="5457218"/>
            <a:ext cx="836248" cy="836248"/>
          </a:xfrm>
          <a:prstGeom prst="rect">
            <a:avLst/>
          </a:prstGeom>
        </p:spPr>
      </p:pic>
      <p:sp>
        <p:nvSpPr>
          <p:cNvPr id="80" name="Metin kutusu 79">
            <a:extLst>
              <a:ext uri="{FF2B5EF4-FFF2-40B4-BE49-F238E27FC236}">
                <a16:creationId xmlns:a16="http://schemas.microsoft.com/office/drawing/2014/main" id="{B4786F99-A8F9-4450-9165-CD3CEFE2DDD8}"/>
              </a:ext>
            </a:extLst>
          </p:cNvPr>
          <p:cNvSpPr txBox="1"/>
          <p:nvPr/>
        </p:nvSpPr>
        <p:spPr>
          <a:xfrm>
            <a:off x="69907" y="6310384"/>
            <a:ext cx="3359093" cy="246221"/>
          </a:xfrm>
          <a:prstGeom prst="rect">
            <a:avLst/>
          </a:prstGeom>
          <a:noFill/>
        </p:spPr>
        <p:txBody>
          <a:bodyPr wrap="square" rtlCol="0">
            <a:spAutoFit/>
          </a:bodyPr>
          <a:lstStyle/>
          <a:p>
            <a:r>
              <a:rPr lang="tr-TR" sz="1000" b="1" noProof="1">
                <a:cs typeface="Arial" panose="020B0604020202020204" pitchFamily="34" charset="0"/>
              </a:rPr>
              <a:t>Buna göre, yukarıdaki saat kaç gün sonra doğruyu gösterir?</a:t>
            </a:r>
          </a:p>
        </p:txBody>
      </p:sp>
      <p:sp>
        <p:nvSpPr>
          <p:cNvPr id="81" name="Metin kutusu 80">
            <a:extLst>
              <a:ext uri="{FF2B5EF4-FFF2-40B4-BE49-F238E27FC236}">
                <a16:creationId xmlns:a16="http://schemas.microsoft.com/office/drawing/2014/main" id="{4D51EA9E-7467-48EB-A0D4-C1BABF95CD84}"/>
              </a:ext>
            </a:extLst>
          </p:cNvPr>
          <p:cNvSpPr txBox="1"/>
          <p:nvPr/>
        </p:nvSpPr>
        <p:spPr>
          <a:xfrm>
            <a:off x="62392" y="6510764"/>
            <a:ext cx="3394460" cy="553998"/>
          </a:xfrm>
          <a:prstGeom prst="rect">
            <a:avLst/>
          </a:prstGeom>
          <a:noFill/>
        </p:spPr>
        <p:txBody>
          <a:bodyPr wrap="square" rtlCol="0">
            <a:spAutoFit/>
          </a:bodyPr>
          <a:lstStyle/>
          <a:p>
            <a:r>
              <a:rPr lang="tr-TR" sz="1000" noProof="1"/>
              <a:t>A) 12                                        B) 15                                          C) 24</a:t>
            </a:r>
          </a:p>
          <a:p>
            <a:pPr marL="228600" indent="-228600">
              <a:buAutoNum type="alphaUcParenR"/>
            </a:pPr>
            <a:endParaRPr lang="tr-TR" sz="1000" noProof="1"/>
          </a:p>
          <a:p>
            <a:r>
              <a:rPr lang="tr-TR" sz="1000" noProof="1"/>
              <a:t>                           D) 30                                        E) 36</a:t>
            </a:r>
          </a:p>
        </p:txBody>
      </p:sp>
      <p:sp>
        <p:nvSpPr>
          <p:cNvPr id="130" name="Metin kutusu 129">
            <a:extLst>
              <a:ext uri="{FF2B5EF4-FFF2-40B4-BE49-F238E27FC236}">
                <a16:creationId xmlns:a16="http://schemas.microsoft.com/office/drawing/2014/main" id="{08FE1AE4-3B5A-4D55-AD32-E6C882D25B4C}"/>
              </a:ext>
            </a:extLst>
          </p:cNvPr>
          <p:cNvSpPr txBox="1"/>
          <p:nvPr/>
        </p:nvSpPr>
        <p:spPr>
          <a:xfrm>
            <a:off x="3519366" y="4403710"/>
            <a:ext cx="3281681" cy="553998"/>
          </a:xfrm>
          <a:prstGeom prst="rect">
            <a:avLst/>
          </a:prstGeom>
          <a:noFill/>
        </p:spPr>
        <p:txBody>
          <a:bodyPr wrap="square" rtlCol="0">
            <a:spAutoFit/>
          </a:bodyPr>
          <a:lstStyle/>
          <a:p>
            <a:r>
              <a:rPr lang="tr-TR" sz="1000" noProof="1"/>
              <a:t>A) 108                                B) 114                                        C) 120</a:t>
            </a:r>
          </a:p>
          <a:p>
            <a:pPr marL="228600" indent="-228600">
              <a:buAutoNum type="alphaUcParenR"/>
            </a:pPr>
            <a:endParaRPr lang="tr-TR" sz="1000" noProof="1"/>
          </a:p>
          <a:p>
            <a:r>
              <a:rPr lang="tr-TR" sz="1000" noProof="1"/>
              <a:t>                      D) 126                                        E) 132</a:t>
            </a:r>
          </a:p>
        </p:txBody>
      </p:sp>
      <p:sp>
        <p:nvSpPr>
          <p:cNvPr id="131" name="Metin kutusu 130">
            <a:extLst>
              <a:ext uri="{FF2B5EF4-FFF2-40B4-BE49-F238E27FC236}">
                <a16:creationId xmlns:a16="http://schemas.microsoft.com/office/drawing/2014/main" id="{63448FE3-CB20-4A30-9878-03D3E331CB90}"/>
              </a:ext>
            </a:extLst>
          </p:cNvPr>
          <p:cNvSpPr txBox="1"/>
          <p:nvPr/>
        </p:nvSpPr>
        <p:spPr>
          <a:xfrm>
            <a:off x="3566166" y="459589"/>
            <a:ext cx="3400130" cy="400110"/>
          </a:xfrm>
          <a:prstGeom prst="rect">
            <a:avLst/>
          </a:prstGeom>
          <a:noFill/>
        </p:spPr>
        <p:txBody>
          <a:bodyPr wrap="square" rtlCol="0">
            <a:spAutoFit/>
          </a:bodyPr>
          <a:lstStyle/>
          <a:p>
            <a:r>
              <a:rPr lang="tr-TR" sz="1000" noProof="1">
                <a:cs typeface="Arial" panose="020B0604020202020204" pitchFamily="34" charset="0"/>
              </a:rPr>
              <a:t>Bir otobüs kalkış noktasında belirli saatlerde ilgili otobüslerin kalkış süreleri verilmiştir ve saat sağ üstte gözükmektedir. </a:t>
            </a:r>
          </a:p>
        </p:txBody>
      </p:sp>
      <p:pic>
        <p:nvPicPr>
          <p:cNvPr id="132" name="Grafik 131">
            <a:extLst>
              <a:ext uri="{FF2B5EF4-FFF2-40B4-BE49-F238E27FC236}">
                <a16:creationId xmlns:a16="http://schemas.microsoft.com/office/drawing/2014/main" id="{1D5A2D48-3288-4F03-AF7C-3A99362D8BF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23441" y="926545"/>
            <a:ext cx="4045562" cy="2526961"/>
          </a:xfrm>
          <a:prstGeom prst="rect">
            <a:avLst/>
          </a:prstGeom>
        </p:spPr>
      </p:pic>
      <p:sp>
        <p:nvSpPr>
          <p:cNvPr id="133" name="Dikdörtgen 132">
            <a:extLst>
              <a:ext uri="{FF2B5EF4-FFF2-40B4-BE49-F238E27FC236}">
                <a16:creationId xmlns:a16="http://schemas.microsoft.com/office/drawing/2014/main" id="{1FB05598-118E-4F44-A724-31754685E53B}"/>
              </a:ext>
            </a:extLst>
          </p:cNvPr>
          <p:cNvSpPr/>
          <p:nvPr/>
        </p:nvSpPr>
        <p:spPr>
          <a:xfrm>
            <a:off x="4099508" y="1260659"/>
            <a:ext cx="1930092" cy="1743615"/>
          </a:xfrm>
          <a:prstGeom prst="rect">
            <a:avLst/>
          </a:prstGeom>
          <a:solidFill>
            <a:schemeClr val="bg1"/>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34" name="Dikdörtgen 133">
            <a:extLst>
              <a:ext uri="{FF2B5EF4-FFF2-40B4-BE49-F238E27FC236}">
                <a16:creationId xmlns:a16="http://schemas.microsoft.com/office/drawing/2014/main" id="{2B86FA3E-A461-41D1-80AF-5FF74CBF248F}"/>
              </a:ext>
            </a:extLst>
          </p:cNvPr>
          <p:cNvSpPr/>
          <p:nvPr/>
        </p:nvSpPr>
        <p:spPr>
          <a:xfrm>
            <a:off x="4035141" y="1787250"/>
            <a:ext cx="2016189" cy="1294536"/>
          </a:xfrm>
          <a:prstGeom prst="rect">
            <a:avLst/>
          </a:prstGeom>
          <a:solidFill>
            <a:schemeClr val="accent1">
              <a:lumMod val="40000"/>
              <a:lumOff val="60000"/>
            </a:schemeClr>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35" name="Metin kutusu 134">
            <a:extLst>
              <a:ext uri="{FF2B5EF4-FFF2-40B4-BE49-F238E27FC236}">
                <a16:creationId xmlns:a16="http://schemas.microsoft.com/office/drawing/2014/main" id="{1AFC7253-40C5-42AE-B66E-807A27442DB5}"/>
              </a:ext>
            </a:extLst>
          </p:cNvPr>
          <p:cNvSpPr txBox="1"/>
          <p:nvPr/>
        </p:nvSpPr>
        <p:spPr>
          <a:xfrm>
            <a:off x="4032268" y="1544136"/>
            <a:ext cx="2024527" cy="246221"/>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tr-TR" sz="1000" b="1" noProof="1">
                <a:solidFill>
                  <a:srgbClr val="002060"/>
                </a:solidFill>
                <a:latin typeface="Allema" panose="03000505000000020004" pitchFamily="66" charset="-94"/>
                <a:cs typeface="Arial" panose="020B0604020202020204" pitchFamily="34" charset="0"/>
              </a:rPr>
              <a:t> Başkent  Online</a:t>
            </a:r>
          </a:p>
        </p:txBody>
      </p:sp>
      <p:graphicFrame>
        <p:nvGraphicFramePr>
          <p:cNvPr id="136" name="Tablo 31">
            <a:extLst>
              <a:ext uri="{FF2B5EF4-FFF2-40B4-BE49-F238E27FC236}">
                <a16:creationId xmlns:a16="http://schemas.microsoft.com/office/drawing/2014/main" id="{5936401D-9D64-4EDC-882E-418E81CD96E1}"/>
              </a:ext>
            </a:extLst>
          </p:cNvPr>
          <p:cNvGraphicFramePr>
            <a:graphicFrameLocks noGrp="1"/>
          </p:cNvGraphicFramePr>
          <p:nvPr>
            <p:extLst>
              <p:ext uri="{D42A27DB-BD31-4B8C-83A1-F6EECF244321}">
                <p14:modId xmlns:p14="http://schemas.microsoft.com/office/powerpoint/2010/main" val="533266580"/>
              </p:ext>
            </p:extLst>
          </p:nvPr>
        </p:nvGraphicFramePr>
        <p:xfrm>
          <a:off x="4066536" y="1864368"/>
          <a:ext cx="1930091" cy="685800"/>
        </p:xfrm>
        <a:graphic>
          <a:graphicData uri="http://schemas.openxmlformats.org/drawingml/2006/table">
            <a:tbl>
              <a:tblPr firstRow="1" bandRow="1">
                <a:tableStyleId>{00A15C55-8517-42AA-B614-E9B94910E393}</a:tableStyleId>
              </a:tblPr>
              <a:tblGrid>
                <a:gridCol w="358241">
                  <a:extLst>
                    <a:ext uri="{9D8B030D-6E8A-4147-A177-3AD203B41FA5}">
                      <a16:colId xmlns:a16="http://schemas.microsoft.com/office/drawing/2014/main" val="879355150"/>
                    </a:ext>
                  </a:extLst>
                </a:gridCol>
                <a:gridCol w="413598">
                  <a:extLst>
                    <a:ext uri="{9D8B030D-6E8A-4147-A177-3AD203B41FA5}">
                      <a16:colId xmlns:a16="http://schemas.microsoft.com/office/drawing/2014/main" val="3314405566"/>
                    </a:ext>
                  </a:extLst>
                </a:gridCol>
                <a:gridCol w="407552">
                  <a:extLst>
                    <a:ext uri="{9D8B030D-6E8A-4147-A177-3AD203B41FA5}">
                      <a16:colId xmlns:a16="http://schemas.microsoft.com/office/drawing/2014/main" val="1856837607"/>
                    </a:ext>
                  </a:extLst>
                </a:gridCol>
                <a:gridCol w="360040">
                  <a:extLst>
                    <a:ext uri="{9D8B030D-6E8A-4147-A177-3AD203B41FA5}">
                      <a16:colId xmlns:a16="http://schemas.microsoft.com/office/drawing/2014/main" val="216211759"/>
                    </a:ext>
                  </a:extLst>
                </a:gridCol>
                <a:gridCol w="390660">
                  <a:extLst>
                    <a:ext uri="{9D8B030D-6E8A-4147-A177-3AD203B41FA5}">
                      <a16:colId xmlns:a16="http://schemas.microsoft.com/office/drawing/2014/main" val="2844501065"/>
                    </a:ext>
                  </a:extLst>
                </a:gridCol>
              </a:tblGrid>
              <a:tr h="205045">
                <a:tc>
                  <a:txBody>
                    <a:bodyPr/>
                    <a:lstStyle/>
                    <a:p>
                      <a:pPr algn="ctr"/>
                      <a:endParaRPr lang="tr-TR" sz="9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42317"/>
                  </a:ext>
                </a:extLst>
              </a:tr>
              <a:tr h="205045">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72313"/>
                  </a:ext>
                </a:extLst>
              </a:tr>
              <a:tr h="205045">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900"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4990685"/>
                  </a:ext>
                </a:extLst>
              </a:tr>
            </a:tbl>
          </a:graphicData>
        </a:graphic>
      </p:graphicFrame>
      <p:pic>
        <p:nvPicPr>
          <p:cNvPr id="137" name="Grafik 136">
            <a:extLst>
              <a:ext uri="{FF2B5EF4-FFF2-40B4-BE49-F238E27FC236}">
                <a16:creationId xmlns:a16="http://schemas.microsoft.com/office/drawing/2014/main" id="{7F0146F8-3836-4591-B746-B6CF80B4A3FB}"/>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080228" y="1296867"/>
            <a:ext cx="144097" cy="144097"/>
          </a:xfrm>
          <a:prstGeom prst="rect">
            <a:avLst/>
          </a:prstGeom>
        </p:spPr>
      </p:pic>
      <p:pic>
        <p:nvPicPr>
          <p:cNvPr id="138" name="Grafik 137">
            <a:extLst>
              <a:ext uri="{FF2B5EF4-FFF2-40B4-BE49-F238E27FC236}">
                <a16:creationId xmlns:a16="http://schemas.microsoft.com/office/drawing/2014/main" id="{40994C4F-A9CC-473B-A1B9-132CD9F77091}"/>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20399" y="1295809"/>
            <a:ext cx="144097" cy="144097"/>
          </a:xfrm>
          <a:prstGeom prst="rect">
            <a:avLst/>
          </a:prstGeom>
        </p:spPr>
      </p:pic>
      <p:pic>
        <p:nvPicPr>
          <p:cNvPr id="139" name="Grafik 138">
            <a:extLst>
              <a:ext uri="{FF2B5EF4-FFF2-40B4-BE49-F238E27FC236}">
                <a16:creationId xmlns:a16="http://schemas.microsoft.com/office/drawing/2014/main" id="{CE8EB03C-A078-4B36-A744-A08CD6D927B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575541" y="1288254"/>
            <a:ext cx="178370" cy="178370"/>
          </a:xfrm>
          <a:prstGeom prst="rect">
            <a:avLst/>
          </a:prstGeom>
        </p:spPr>
      </p:pic>
      <p:pic>
        <p:nvPicPr>
          <p:cNvPr id="140" name="Grafik 139">
            <a:extLst>
              <a:ext uri="{FF2B5EF4-FFF2-40B4-BE49-F238E27FC236}">
                <a16:creationId xmlns:a16="http://schemas.microsoft.com/office/drawing/2014/main" id="{ED3AE841-E961-41D7-81AC-98FE3583050C}"/>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488925" y="1279159"/>
            <a:ext cx="223373" cy="223373"/>
          </a:xfrm>
          <a:prstGeom prst="rect">
            <a:avLst/>
          </a:prstGeom>
        </p:spPr>
      </p:pic>
      <p:sp>
        <p:nvSpPr>
          <p:cNvPr id="141" name="Metin kutusu 140">
            <a:extLst>
              <a:ext uri="{FF2B5EF4-FFF2-40B4-BE49-F238E27FC236}">
                <a16:creationId xmlns:a16="http://schemas.microsoft.com/office/drawing/2014/main" id="{FDD9F0E3-F80E-4E45-BC98-6C19B25BCB91}"/>
              </a:ext>
            </a:extLst>
          </p:cNvPr>
          <p:cNvSpPr txBox="1"/>
          <p:nvPr/>
        </p:nvSpPr>
        <p:spPr>
          <a:xfrm>
            <a:off x="5645272" y="1279395"/>
            <a:ext cx="502169" cy="230832"/>
          </a:xfrm>
          <a:prstGeom prst="rect">
            <a:avLst/>
          </a:prstGeom>
          <a:noFill/>
        </p:spPr>
        <p:txBody>
          <a:bodyPr wrap="square" rtlCol="0">
            <a:spAutoFit/>
          </a:bodyPr>
          <a:lstStyle/>
          <a:p>
            <a:r>
              <a:rPr lang="tr-TR" sz="900" b="1" noProof="1"/>
              <a:t>06.54</a:t>
            </a:r>
          </a:p>
        </p:txBody>
      </p:sp>
      <p:pic>
        <p:nvPicPr>
          <p:cNvPr id="142" name="Grafik 141">
            <a:extLst>
              <a:ext uri="{FF2B5EF4-FFF2-40B4-BE49-F238E27FC236}">
                <a16:creationId xmlns:a16="http://schemas.microsoft.com/office/drawing/2014/main" id="{A733B72F-BBF0-41C5-9C16-107C3398CB7D}"/>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4352551" y="1263255"/>
            <a:ext cx="222485" cy="222485"/>
          </a:xfrm>
          <a:prstGeom prst="rect">
            <a:avLst/>
          </a:prstGeom>
        </p:spPr>
      </p:pic>
      <p:sp>
        <p:nvSpPr>
          <p:cNvPr id="143" name="Dikdörtgen: Köşeleri Yuvarlatılmış 142">
            <a:extLst>
              <a:ext uri="{FF2B5EF4-FFF2-40B4-BE49-F238E27FC236}">
                <a16:creationId xmlns:a16="http://schemas.microsoft.com/office/drawing/2014/main" id="{78C9EFFA-972B-451C-B31C-71DA4D49BA41}"/>
              </a:ext>
            </a:extLst>
          </p:cNvPr>
          <p:cNvSpPr/>
          <p:nvPr/>
        </p:nvSpPr>
        <p:spPr>
          <a:xfrm>
            <a:off x="4061471" y="2678123"/>
            <a:ext cx="632421" cy="355349"/>
          </a:xfrm>
          <a:prstGeom prst="roundRec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144" name="Dikdörtgen: Köşeleri Yuvarlatılmış 143">
            <a:extLst>
              <a:ext uri="{FF2B5EF4-FFF2-40B4-BE49-F238E27FC236}">
                <a16:creationId xmlns:a16="http://schemas.microsoft.com/office/drawing/2014/main" id="{4EEF392E-D8B1-4873-8978-4FD405C1FD46}"/>
              </a:ext>
            </a:extLst>
          </p:cNvPr>
          <p:cNvSpPr/>
          <p:nvPr/>
        </p:nvSpPr>
        <p:spPr>
          <a:xfrm>
            <a:off x="4753911" y="2673924"/>
            <a:ext cx="611939" cy="355349"/>
          </a:xfrm>
          <a:prstGeom prst="roundRec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sz="1000" dirty="0"/>
          </a:p>
        </p:txBody>
      </p:sp>
      <p:sp>
        <p:nvSpPr>
          <p:cNvPr id="145" name="Dikdörtgen: Köşeleri Yuvarlatılmış 144">
            <a:extLst>
              <a:ext uri="{FF2B5EF4-FFF2-40B4-BE49-F238E27FC236}">
                <a16:creationId xmlns:a16="http://schemas.microsoft.com/office/drawing/2014/main" id="{BB1D0BD6-0F0D-435A-BDBD-A93872919CAC}"/>
              </a:ext>
            </a:extLst>
          </p:cNvPr>
          <p:cNvSpPr/>
          <p:nvPr/>
        </p:nvSpPr>
        <p:spPr>
          <a:xfrm>
            <a:off x="5408045" y="2678122"/>
            <a:ext cx="601090" cy="355349"/>
          </a:xfrm>
          <a:prstGeom prst="roundRec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sz="1000"/>
          </a:p>
        </p:txBody>
      </p:sp>
      <p:sp>
        <p:nvSpPr>
          <p:cNvPr id="146" name="Metin kutusu 145">
            <a:extLst>
              <a:ext uri="{FF2B5EF4-FFF2-40B4-BE49-F238E27FC236}">
                <a16:creationId xmlns:a16="http://schemas.microsoft.com/office/drawing/2014/main" id="{3ADA0BEA-EF7E-4445-88DE-E0225100BB9C}"/>
              </a:ext>
            </a:extLst>
          </p:cNvPr>
          <p:cNvSpPr txBox="1"/>
          <p:nvPr/>
        </p:nvSpPr>
        <p:spPr>
          <a:xfrm>
            <a:off x="4055591" y="2649341"/>
            <a:ext cx="658156" cy="184666"/>
          </a:xfrm>
          <a:prstGeom prst="rect">
            <a:avLst/>
          </a:prstGeom>
          <a:noFill/>
        </p:spPr>
        <p:txBody>
          <a:bodyPr wrap="square" rtlCol="0">
            <a:spAutoFit/>
          </a:bodyPr>
          <a:lstStyle/>
          <a:p>
            <a:pPr algn="ctr"/>
            <a:r>
              <a:rPr lang="tr-TR" sz="600" b="1" noProof="1">
                <a:latin typeface="Arial Narrow" panose="020B0606020202030204" pitchFamily="34" charset="0"/>
              </a:rPr>
              <a:t>Tüm Hatlar</a:t>
            </a:r>
          </a:p>
        </p:txBody>
      </p:sp>
      <p:sp>
        <p:nvSpPr>
          <p:cNvPr id="147" name="Metin kutusu 146">
            <a:extLst>
              <a:ext uri="{FF2B5EF4-FFF2-40B4-BE49-F238E27FC236}">
                <a16:creationId xmlns:a16="http://schemas.microsoft.com/office/drawing/2014/main" id="{9BC6F1AB-2E21-4BCB-BBED-C939FF6C7ED4}"/>
              </a:ext>
            </a:extLst>
          </p:cNvPr>
          <p:cNvSpPr txBox="1"/>
          <p:nvPr/>
        </p:nvSpPr>
        <p:spPr>
          <a:xfrm>
            <a:off x="4721476" y="2663208"/>
            <a:ext cx="916635" cy="184666"/>
          </a:xfrm>
          <a:prstGeom prst="rect">
            <a:avLst/>
          </a:prstGeom>
          <a:noFill/>
        </p:spPr>
        <p:txBody>
          <a:bodyPr wrap="square" rtlCol="0">
            <a:spAutoFit/>
          </a:bodyPr>
          <a:lstStyle/>
          <a:p>
            <a:r>
              <a:rPr lang="tr-TR" sz="600" b="1" noProof="1">
                <a:latin typeface="Arial Narrow" panose="020B0606020202030204" pitchFamily="34" charset="0"/>
              </a:rPr>
              <a:t>Otobüs nerede?</a:t>
            </a:r>
          </a:p>
        </p:txBody>
      </p:sp>
      <p:sp>
        <p:nvSpPr>
          <p:cNvPr id="148" name="Metin kutusu 147">
            <a:extLst>
              <a:ext uri="{FF2B5EF4-FFF2-40B4-BE49-F238E27FC236}">
                <a16:creationId xmlns:a16="http://schemas.microsoft.com/office/drawing/2014/main" id="{F9514A8A-52BE-4CA1-9C5F-E9C4BC90B661}"/>
              </a:ext>
            </a:extLst>
          </p:cNvPr>
          <p:cNvSpPr txBox="1"/>
          <p:nvPr/>
        </p:nvSpPr>
        <p:spPr>
          <a:xfrm>
            <a:off x="5399447" y="2656586"/>
            <a:ext cx="615569" cy="184666"/>
          </a:xfrm>
          <a:prstGeom prst="rect">
            <a:avLst/>
          </a:prstGeom>
          <a:noFill/>
        </p:spPr>
        <p:txBody>
          <a:bodyPr wrap="square" rtlCol="0">
            <a:spAutoFit/>
          </a:bodyPr>
          <a:lstStyle/>
          <a:p>
            <a:pPr algn="ctr"/>
            <a:r>
              <a:rPr lang="tr-TR" sz="600" b="1" noProof="1">
                <a:latin typeface="Arial Narrow" panose="020B0606020202030204" pitchFamily="34" charset="0"/>
              </a:rPr>
              <a:t>Bilgi Sistemi</a:t>
            </a:r>
          </a:p>
        </p:txBody>
      </p:sp>
      <p:pic>
        <p:nvPicPr>
          <p:cNvPr id="149" name="Grafik 148">
            <a:extLst>
              <a:ext uri="{FF2B5EF4-FFF2-40B4-BE49-F238E27FC236}">
                <a16:creationId xmlns:a16="http://schemas.microsoft.com/office/drawing/2014/main" id="{0421EED4-B588-4506-8281-1CA19624B673}"/>
              </a:ext>
            </a:extLst>
          </p:cNvPr>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822293" y="2801819"/>
            <a:ext cx="209289" cy="209289"/>
          </a:xfrm>
          <a:prstGeom prst="rect">
            <a:avLst/>
          </a:prstGeom>
        </p:spPr>
      </p:pic>
      <p:pic>
        <p:nvPicPr>
          <p:cNvPr id="150" name="Grafik 149">
            <a:extLst>
              <a:ext uri="{FF2B5EF4-FFF2-40B4-BE49-F238E27FC236}">
                <a16:creationId xmlns:a16="http://schemas.microsoft.com/office/drawing/2014/main" id="{61A7E7DF-EEF6-43D3-9AEC-D01A357ACEA2}"/>
              </a:ext>
            </a:extLst>
          </p:cNvPr>
          <p:cNvPicPr>
            <a:picLocks noChangeAspect="1"/>
          </p:cNvPicPr>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078805" y="2811485"/>
            <a:ext cx="184195" cy="184195"/>
          </a:xfrm>
          <a:prstGeom prst="rect">
            <a:avLst/>
          </a:prstGeom>
        </p:spPr>
      </p:pic>
      <p:pic>
        <p:nvPicPr>
          <p:cNvPr id="151" name="Grafik 150">
            <a:extLst>
              <a:ext uri="{FF2B5EF4-FFF2-40B4-BE49-F238E27FC236}">
                <a16:creationId xmlns:a16="http://schemas.microsoft.com/office/drawing/2014/main" id="{78869991-48CE-4ED1-BD03-17C8758DF7A4}"/>
              </a:ext>
            </a:extLst>
          </p:cNvPr>
          <p:cNvPicPr>
            <a:picLocks noChangeAspect="1"/>
          </p:cNvPicPr>
          <p:nvPr/>
        </p:nvPicPr>
        <p:blipFill>
          <a:blip r:embed="rId28" cstate="print">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600611" y="2789460"/>
            <a:ext cx="224105" cy="224105"/>
          </a:xfrm>
          <a:prstGeom prst="rect">
            <a:avLst/>
          </a:prstGeom>
        </p:spPr>
      </p:pic>
      <p:pic>
        <p:nvPicPr>
          <p:cNvPr id="152" name="Grafik 151">
            <a:extLst>
              <a:ext uri="{FF2B5EF4-FFF2-40B4-BE49-F238E27FC236}">
                <a16:creationId xmlns:a16="http://schemas.microsoft.com/office/drawing/2014/main" id="{9467636B-4E60-4458-8AE7-6091ABF17984}"/>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253904" y="2790280"/>
            <a:ext cx="223373" cy="223373"/>
          </a:xfrm>
          <a:prstGeom prst="rect">
            <a:avLst/>
          </a:prstGeom>
        </p:spPr>
      </p:pic>
      <p:pic>
        <p:nvPicPr>
          <p:cNvPr id="153" name="Resim 152">
            <a:extLst>
              <a:ext uri="{FF2B5EF4-FFF2-40B4-BE49-F238E27FC236}">
                <a16:creationId xmlns:a16="http://schemas.microsoft.com/office/drawing/2014/main" id="{81D34F29-7297-4B37-BD5C-2E33923220CC}"/>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4933854" y="973391"/>
            <a:ext cx="231159" cy="231159"/>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154" name="Metin kutusu 153">
            <a:extLst>
              <a:ext uri="{FF2B5EF4-FFF2-40B4-BE49-F238E27FC236}">
                <a16:creationId xmlns:a16="http://schemas.microsoft.com/office/drawing/2014/main" id="{81574B67-FF79-4DA3-B444-7C0FA4BE8340}"/>
              </a:ext>
            </a:extLst>
          </p:cNvPr>
          <p:cNvSpPr txBox="1"/>
          <p:nvPr/>
        </p:nvSpPr>
        <p:spPr>
          <a:xfrm>
            <a:off x="4055107" y="2080844"/>
            <a:ext cx="1978992" cy="246221"/>
          </a:xfrm>
          <a:prstGeom prst="rect">
            <a:avLst/>
          </a:prstGeom>
          <a:noFill/>
        </p:spPr>
        <p:txBody>
          <a:bodyPr wrap="square" rtlCol="0">
            <a:spAutoFit/>
          </a:bodyPr>
          <a:lstStyle/>
          <a:p>
            <a:r>
              <a:rPr lang="tr-TR" sz="1000" noProof="1">
                <a:latin typeface="Arial Narrow" panose="020B0606020202030204" pitchFamily="34" charset="0"/>
                <a:cs typeface="Arial" panose="020B0604020202020204" pitchFamily="34" charset="0"/>
              </a:rPr>
              <a:t>844      07.00      07.06    07.12           x</a:t>
            </a:r>
          </a:p>
        </p:txBody>
      </p:sp>
      <p:sp>
        <p:nvSpPr>
          <p:cNvPr id="155" name="Metin kutusu 154">
            <a:extLst>
              <a:ext uri="{FF2B5EF4-FFF2-40B4-BE49-F238E27FC236}">
                <a16:creationId xmlns:a16="http://schemas.microsoft.com/office/drawing/2014/main" id="{56DF097F-3CD3-4CD7-A4B9-A9DD83E487F5}"/>
              </a:ext>
            </a:extLst>
          </p:cNvPr>
          <p:cNvSpPr txBox="1"/>
          <p:nvPr/>
        </p:nvSpPr>
        <p:spPr>
          <a:xfrm>
            <a:off x="4050607" y="2300703"/>
            <a:ext cx="1978992" cy="246221"/>
          </a:xfrm>
          <a:prstGeom prst="rect">
            <a:avLst/>
          </a:prstGeom>
          <a:noFill/>
        </p:spPr>
        <p:txBody>
          <a:bodyPr wrap="square" rtlCol="0">
            <a:spAutoFit/>
          </a:bodyPr>
          <a:lstStyle/>
          <a:p>
            <a:r>
              <a:rPr lang="tr-TR" sz="1000" noProof="1">
                <a:latin typeface="Arial Narrow" panose="020B0606020202030204" pitchFamily="34" charset="0"/>
                <a:cs typeface="Arial" panose="020B0604020202020204" pitchFamily="34" charset="0"/>
              </a:rPr>
              <a:t>842      07.00      07.05    07.10           x</a:t>
            </a:r>
          </a:p>
        </p:txBody>
      </p:sp>
      <p:sp>
        <p:nvSpPr>
          <p:cNvPr id="157" name="Dikdörtgen 156">
            <a:extLst>
              <a:ext uri="{FF2B5EF4-FFF2-40B4-BE49-F238E27FC236}">
                <a16:creationId xmlns:a16="http://schemas.microsoft.com/office/drawing/2014/main" id="{8D1A972E-D47F-4647-96E3-A3CCA67B4546}"/>
              </a:ext>
            </a:extLst>
          </p:cNvPr>
          <p:cNvSpPr/>
          <p:nvPr/>
        </p:nvSpPr>
        <p:spPr>
          <a:xfrm>
            <a:off x="5554137" y="1872540"/>
            <a:ext cx="111687" cy="211712"/>
          </a:xfrm>
          <a:prstGeom prst="rect">
            <a:avLst/>
          </a:prstGeom>
          <a:solidFill>
            <a:srgbClr val="FFC000"/>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solidFill>
                <a:srgbClr val="FFC000"/>
              </a:solidFill>
            </a:endParaRPr>
          </a:p>
        </p:txBody>
      </p:sp>
      <p:sp>
        <p:nvSpPr>
          <p:cNvPr id="158" name="Metin kutusu 157">
            <a:extLst>
              <a:ext uri="{FF2B5EF4-FFF2-40B4-BE49-F238E27FC236}">
                <a16:creationId xmlns:a16="http://schemas.microsoft.com/office/drawing/2014/main" id="{11069AA7-3799-4363-BE50-CB78D713A120}"/>
              </a:ext>
            </a:extLst>
          </p:cNvPr>
          <p:cNvSpPr txBox="1"/>
          <p:nvPr/>
        </p:nvSpPr>
        <p:spPr>
          <a:xfrm>
            <a:off x="4066536" y="1853106"/>
            <a:ext cx="1978992" cy="246221"/>
          </a:xfrm>
          <a:prstGeom prst="rect">
            <a:avLst/>
          </a:prstGeom>
          <a:noFill/>
        </p:spPr>
        <p:txBody>
          <a:bodyPr wrap="square" rtlCol="0">
            <a:spAutoFit/>
          </a:bodyPr>
          <a:lstStyle/>
          <a:p>
            <a:r>
              <a:rPr lang="tr-TR" sz="1000" noProof="1">
                <a:solidFill>
                  <a:schemeClr val="bg1"/>
                </a:solidFill>
                <a:latin typeface="Arial Narrow" panose="020B0606020202030204" pitchFamily="34" charset="0"/>
                <a:cs typeface="Arial" panose="020B0604020202020204" pitchFamily="34" charset="0"/>
              </a:rPr>
              <a:t>840      07.00      07.08    07.16          x</a:t>
            </a:r>
          </a:p>
        </p:txBody>
      </p:sp>
      <p:sp>
        <p:nvSpPr>
          <p:cNvPr id="159" name="Dikdörtgen 158">
            <a:extLst>
              <a:ext uri="{FF2B5EF4-FFF2-40B4-BE49-F238E27FC236}">
                <a16:creationId xmlns:a16="http://schemas.microsoft.com/office/drawing/2014/main" id="{B0A09646-FBEE-4EB0-9318-407B4EF9B3A7}"/>
              </a:ext>
            </a:extLst>
          </p:cNvPr>
          <p:cNvSpPr/>
          <p:nvPr/>
        </p:nvSpPr>
        <p:spPr>
          <a:xfrm>
            <a:off x="5586189" y="2105788"/>
            <a:ext cx="47582" cy="210015"/>
          </a:xfrm>
          <a:prstGeom prst="rect">
            <a:avLst/>
          </a:prstGeom>
          <a:solidFill>
            <a:srgbClr val="FFE8CB"/>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60" name="Dikdörtgen 159">
            <a:extLst>
              <a:ext uri="{FF2B5EF4-FFF2-40B4-BE49-F238E27FC236}">
                <a16:creationId xmlns:a16="http://schemas.microsoft.com/office/drawing/2014/main" id="{AAD2D74D-E999-4EA9-B4F3-0ABC5712E60A}"/>
              </a:ext>
            </a:extLst>
          </p:cNvPr>
          <p:cNvSpPr/>
          <p:nvPr/>
        </p:nvSpPr>
        <p:spPr>
          <a:xfrm>
            <a:off x="5586189" y="2329613"/>
            <a:ext cx="47582" cy="212825"/>
          </a:xfrm>
          <a:prstGeom prst="rect">
            <a:avLst/>
          </a:prstGeom>
          <a:solidFill>
            <a:srgbClr val="FFF4E7"/>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mc:AlternateContent xmlns:mc="http://schemas.openxmlformats.org/markup-compatibility/2006">
        <mc:Choice xmlns:a14="http://schemas.microsoft.com/office/drawing/2010/main" Requires="a14">
          <p:sp>
            <p:nvSpPr>
              <p:cNvPr id="161" name="Metin kutusu 160">
                <a:extLst>
                  <a:ext uri="{FF2B5EF4-FFF2-40B4-BE49-F238E27FC236}">
                    <a16:creationId xmlns:a16="http://schemas.microsoft.com/office/drawing/2014/main" id="{0B0000E1-96A3-4E13-91E4-12981699CBC2}"/>
                  </a:ext>
                </a:extLst>
              </p:cNvPr>
              <p:cNvSpPr txBox="1"/>
              <p:nvPr/>
            </p:nvSpPr>
            <p:spPr>
              <a:xfrm>
                <a:off x="5362494" y="2086048"/>
                <a:ext cx="635601" cy="246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p:sp>
            <p:nvSpPr>
              <p:cNvPr id="161" name="Metin kutusu 160">
                <a:extLst>
                  <a:ext uri="{FF2B5EF4-FFF2-40B4-BE49-F238E27FC236}">
                    <a16:creationId xmlns:a16="http://schemas.microsoft.com/office/drawing/2014/main" id="{0B0000E1-96A3-4E13-91E4-12981699CBC2}"/>
                  </a:ext>
                </a:extLst>
              </p:cNvPr>
              <p:cNvSpPr txBox="1">
                <a:spLocks noRot="1" noChangeAspect="1" noMove="1" noResize="1" noEditPoints="1" noAdjustHandles="1" noChangeArrowheads="1" noChangeShapeType="1" noTextEdit="1"/>
              </p:cNvSpPr>
              <p:nvPr/>
            </p:nvSpPr>
            <p:spPr>
              <a:xfrm>
                <a:off x="5362494" y="2086048"/>
                <a:ext cx="635601" cy="246221"/>
              </a:xfrm>
              <a:prstGeom prst="rect">
                <a:avLst/>
              </a:prstGeom>
              <a:blipFill>
                <a:blip r:embed="rId31"/>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162" name="Metin kutusu 161">
                <a:extLst>
                  <a:ext uri="{FF2B5EF4-FFF2-40B4-BE49-F238E27FC236}">
                    <a16:creationId xmlns:a16="http://schemas.microsoft.com/office/drawing/2014/main" id="{42B3B28E-B06A-4212-BE00-49C783E96DB3}"/>
                  </a:ext>
                </a:extLst>
              </p:cNvPr>
              <p:cNvSpPr txBox="1"/>
              <p:nvPr/>
            </p:nvSpPr>
            <p:spPr>
              <a:xfrm>
                <a:off x="5357995" y="2306067"/>
                <a:ext cx="635601" cy="246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p:sp>
            <p:nvSpPr>
              <p:cNvPr id="162" name="Metin kutusu 161">
                <a:extLst>
                  <a:ext uri="{FF2B5EF4-FFF2-40B4-BE49-F238E27FC236}">
                    <a16:creationId xmlns:a16="http://schemas.microsoft.com/office/drawing/2014/main" id="{42B3B28E-B06A-4212-BE00-49C783E96DB3}"/>
                  </a:ext>
                </a:extLst>
              </p:cNvPr>
              <p:cNvSpPr txBox="1">
                <a:spLocks noRot="1" noChangeAspect="1" noMove="1" noResize="1" noEditPoints="1" noAdjustHandles="1" noChangeArrowheads="1" noChangeShapeType="1" noTextEdit="1"/>
              </p:cNvSpPr>
              <p:nvPr/>
            </p:nvSpPr>
            <p:spPr>
              <a:xfrm>
                <a:off x="5357995" y="2306067"/>
                <a:ext cx="635601" cy="246221"/>
              </a:xfrm>
              <a:prstGeom prst="rect">
                <a:avLst/>
              </a:prstGeom>
              <a:blipFill>
                <a:blip r:embed="rId31"/>
                <a:stretch>
                  <a:fillRect/>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163" name="Metin kutusu 162">
                <a:extLst>
                  <a:ext uri="{FF2B5EF4-FFF2-40B4-BE49-F238E27FC236}">
                    <a16:creationId xmlns:a16="http://schemas.microsoft.com/office/drawing/2014/main" id="{AFD09720-5964-47E8-8851-853B004D25A3}"/>
                  </a:ext>
                </a:extLst>
              </p:cNvPr>
              <p:cNvSpPr txBox="1"/>
              <p:nvPr/>
            </p:nvSpPr>
            <p:spPr>
              <a:xfrm>
                <a:off x="5354679" y="1846466"/>
                <a:ext cx="635601" cy="246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p:sp>
            <p:nvSpPr>
              <p:cNvPr id="163" name="Metin kutusu 162">
                <a:extLst>
                  <a:ext uri="{FF2B5EF4-FFF2-40B4-BE49-F238E27FC236}">
                    <a16:creationId xmlns:a16="http://schemas.microsoft.com/office/drawing/2014/main" id="{AFD09720-5964-47E8-8851-853B004D25A3}"/>
                  </a:ext>
                </a:extLst>
              </p:cNvPr>
              <p:cNvSpPr txBox="1">
                <a:spLocks noRot="1" noChangeAspect="1" noMove="1" noResize="1" noEditPoints="1" noAdjustHandles="1" noChangeArrowheads="1" noChangeShapeType="1" noTextEdit="1"/>
              </p:cNvSpPr>
              <p:nvPr/>
            </p:nvSpPr>
            <p:spPr>
              <a:xfrm>
                <a:off x="5354679" y="1846466"/>
                <a:ext cx="635601" cy="246221"/>
              </a:xfrm>
              <a:prstGeom prst="rect">
                <a:avLst/>
              </a:prstGeom>
              <a:blipFill>
                <a:blip r:embed="rId32"/>
                <a:stretch>
                  <a:fillRect/>
                </a:stretch>
              </a:blipFill>
            </p:spPr>
            <p:txBody>
              <a:bodyPr/>
              <a:lstStyle/>
              <a:p>
                <a:r>
                  <a:rPr lang="tr-TR">
                    <a:noFill/>
                  </a:rPr>
                  <a:t> </a:t>
                </a:r>
              </a:p>
            </p:txBody>
          </p:sp>
        </mc:Fallback>
      </mc:AlternateContent>
      <p:sp>
        <p:nvSpPr>
          <p:cNvPr id="164" name="Metin kutusu 163">
            <a:extLst>
              <a:ext uri="{FF2B5EF4-FFF2-40B4-BE49-F238E27FC236}">
                <a16:creationId xmlns:a16="http://schemas.microsoft.com/office/drawing/2014/main" id="{172A17EB-1EF1-4FDF-BE33-2FAE58B44C87}"/>
              </a:ext>
            </a:extLst>
          </p:cNvPr>
          <p:cNvSpPr txBox="1"/>
          <p:nvPr/>
        </p:nvSpPr>
        <p:spPr>
          <a:xfrm>
            <a:off x="3537764" y="3427340"/>
            <a:ext cx="3462545" cy="1015663"/>
          </a:xfrm>
          <a:prstGeom prst="rect">
            <a:avLst/>
          </a:prstGeom>
          <a:noFill/>
        </p:spPr>
        <p:txBody>
          <a:bodyPr wrap="square" rtlCol="0">
            <a:spAutoFit/>
          </a:bodyPr>
          <a:lstStyle/>
          <a:p>
            <a:r>
              <a:rPr lang="tr-TR" sz="1000" noProof="1">
                <a:cs typeface="Arial" panose="020B0604020202020204" pitchFamily="34" charset="0"/>
              </a:rPr>
              <a:t>Yukarıdaki uygulamada 840,842,844 numaralı hattın sefelerinin saatleri ve gösterilmiştir. Bu seferler periyodik şekilde tekrarlanmakta olup bu üç hattın kalkış noktası aynıdır.</a:t>
            </a:r>
          </a:p>
          <a:p>
            <a:endParaRPr lang="tr-TR" sz="1000" noProof="1">
              <a:cs typeface="Arial" panose="020B0604020202020204" pitchFamily="34" charset="0"/>
            </a:endParaRPr>
          </a:p>
          <a:p>
            <a:r>
              <a:rPr lang="tr-TR" sz="1000" b="1" noProof="1">
                <a:cs typeface="Arial" panose="020B0604020202020204" pitchFamily="34" charset="0"/>
              </a:rPr>
              <a:t>Buna göre; bu üç otobüsün ortak kalkış saati (x),en erken kaç dakika sonradır?</a:t>
            </a:r>
          </a:p>
        </p:txBody>
      </p:sp>
      <p:sp>
        <p:nvSpPr>
          <p:cNvPr id="165" name="Dikdörtgen 164">
            <a:extLst>
              <a:ext uri="{FF2B5EF4-FFF2-40B4-BE49-F238E27FC236}">
                <a16:creationId xmlns:a16="http://schemas.microsoft.com/office/drawing/2014/main" id="{E85CF817-0E23-4995-A3E1-563EF35CE711}"/>
              </a:ext>
            </a:extLst>
          </p:cNvPr>
          <p:cNvSpPr/>
          <p:nvPr/>
        </p:nvSpPr>
        <p:spPr>
          <a:xfrm>
            <a:off x="4209199" y="3181724"/>
            <a:ext cx="254594" cy="149589"/>
          </a:xfrm>
          <a:prstGeom prst="rect">
            <a:avLst/>
          </a:prstGeom>
          <a:noFill/>
          <a:ln w="9525">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66" name="İkizkenar Üçgen 165">
            <a:extLst>
              <a:ext uri="{FF2B5EF4-FFF2-40B4-BE49-F238E27FC236}">
                <a16:creationId xmlns:a16="http://schemas.microsoft.com/office/drawing/2014/main" id="{3511018C-4B21-4251-BB25-196889ED0956}"/>
              </a:ext>
            </a:extLst>
          </p:cNvPr>
          <p:cNvSpPr/>
          <p:nvPr/>
        </p:nvSpPr>
        <p:spPr>
          <a:xfrm rot="5400000">
            <a:off x="5604388" y="3160199"/>
            <a:ext cx="179492" cy="201572"/>
          </a:xfrm>
          <a:prstGeom prst="triangle">
            <a:avLst/>
          </a:prstGeom>
          <a:no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67" name="Metin kutusu 166">
            <a:extLst>
              <a:ext uri="{FF2B5EF4-FFF2-40B4-BE49-F238E27FC236}">
                <a16:creationId xmlns:a16="http://schemas.microsoft.com/office/drawing/2014/main" id="{70FE166C-7B27-4153-ABEC-E3BB171B273A}"/>
              </a:ext>
            </a:extLst>
          </p:cNvPr>
          <p:cNvSpPr txBox="1"/>
          <p:nvPr/>
        </p:nvSpPr>
        <p:spPr>
          <a:xfrm>
            <a:off x="69908" y="481442"/>
            <a:ext cx="3340714" cy="553998"/>
          </a:xfrm>
          <a:prstGeom prst="rect">
            <a:avLst/>
          </a:prstGeom>
          <a:noFill/>
        </p:spPr>
        <p:txBody>
          <a:bodyPr wrap="square" rtlCol="0">
            <a:spAutoFit/>
          </a:bodyPr>
          <a:lstStyle/>
          <a:p>
            <a:r>
              <a:rPr lang="tr-TR" sz="1000" noProof="1">
                <a:cs typeface="Arial" panose="020B0604020202020204" pitchFamily="34" charset="0"/>
              </a:rPr>
              <a:t>Aşağıdaki yapay göz ile verilen farklı renkteki lambalar eşliğinde bir deney yapılacaktır. Hemen aşağısına ise ilgili testin rapor sonucunun baş harfi verilmektedir.  </a:t>
            </a:r>
          </a:p>
        </p:txBody>
      </p:sp>
      <p:sp>
        <p:nvSpPr>
          <p:cNvPr id="168" name="Metin kutusu 167">
            <a:extLst>
              <a:ext uri="{FF2B5EF4-FFF2-40B4-BE49-F238E27FC236}">
                <a16:creationId xmlns:a16="http://schemas.microsoft.com/office/drawing/2014/main" id="{889DE5DF-878B-4065-BC6E-04AECD23ACD7}"/>
              </a:ext>
            </a:extLst>
          </p:cNvPr>
          <p:cNvSpPr txBox="1"/>
          <p:nvPr/>
        </p:nvSpPr>
        <p:spPr>
          <a:xfrm>
            <a:off x="3385007" y="6450412"/>
            <a:ext cx="3359093" cy="246221"/>
          </a:xfrm>
          <a:prstGeom prst="rect">
            <a:avLst/>
          </a:prstGeom>
          <a:noFill/>
        </p:spPr>
        <p:txBody>
          <a:bodyPr wrap="square" rtlCol="0">
            <a:spAutoFit/>
          </a:bodyPr>
          <a:lstStyle/>
          <a:p>
            <a:r>
              <a:rPr lang="tr-TR" sz="1000" noProof="1">
                <a:cs typeface="Arial" panose="020B0604020202020204" pitchFamily="34" charset="0"/>
              </a:rPr>
              <a:t>Aşağıdaki saat 1 günde 24 dakika geri kalmaktadır.</a:t>
            </a:r>
          </a:p>
        </p:txBody>
      </p:sp>
      <p:sp>
        <p:nvSpPr>
          <p:cNvPr id="169" name="Metin kutusu 168">
            <a:extLst>
              <a:ext uri="{FF2B5EF4-FFF2-40B4-BE49-F238E27FC236}">
                <a16:creationId xmlns:a16="http://schemas.microsoft.com/office/drawing/2014/main" id="{A22CF3B9-CE7C-4366-9B58-8B75E2372C0D}"/>
              </a:ext>
            </a:extLst>
          </p:cNvPr>
          <p:cNvSpPr txBox="1"/>
          <p:nvPr/>
        </p:nvSpPr>
        <p:spPr>
          <a:xfrm>
            <a:off x="3364078" y="6201163"/>
            <a:ext cx="326058" cy="276999"/>
          </a:xfrm>
          <a:prstGeom prst="rect">
            <a:avLst/>
          </a:prstGeom>
          <a:noFill/>
        </p:spPr>
        <p:txBody>
          <a:bodyPr wrap="square" rtlCol="0">
            <a:spAutoFit/>
          </a:bodyPr>
          <a:lstStyle/>
          <a:p>
            <a:pPr algn="ctr"/>
            <a:r>
              <a:rPr lang="tr-TR" sz="1200" b="1">
                <a:latin typeface="Arial Narrow" panose="020B0606020202030204" pitchFamily="34" charset="0"/>
                <a:cs typeface="Arial" panose="020B0604020202020204" pitchFamily="34" charset="0"/>
              </a:rPr>
              <a:t>8.</a:t>
            </a:r>
            <a:endParaRPr lang="tr-TR" sz="1200" b="1" dirty="0">
              <a:latin typeface="Arial Narrow" panose="020B0606020202030204" pitchFamily="34" charset="0"/>
              <a:cs typeface="Arial" panose="020B0604020202020204" pitchFamily="34" charset="0"/>
            </a:endParaRPr>
          </a:p>
        </p:txBody>
      </p:sp>
      <p:sp>
        <p:nvSpPr>
          <p:cNvPr id="170" name="Metin kutusu 169">
            <a:extLst>
              <a:ext uri="{FF2B5EF4-FFF2-40B4-BE49-F238E27FC236}">
                <a16:creationId xmlns:a16="http://schemas.microsoft.com/office/drawing/2014/main" id="{1E17F747-3259-43CB-B996-10AB7E47A2AF}"/>
              </a:ext>
            </a:extLst>
          </p:cNvPr>
          <p:cNvSpPr txBox="1"/>
          <p:nvPr/>
        </p:nvSpPr>
        <p:spPr>
          <a:xfrm>
            <a:off x="3519366" y="6231941"/>
            <a:ext cx="3359093" cy="246221"/>
          </a:xfrm>
          <a:prstGeom prst="rect">
            <a:avLst/>
          </a:prstGeom>
          <a:noFill/>
        </p:spPr>
        <p:txBody>
          <a:bodyPr wrap="square" rtlCol="0">
            <a:spAutoFit/>
          </a:bodyPr>
          <a:lstStyle/>
          <a:p>
            <a:r>
              <a:rPr lang="tr-TR" sz="1000" noProof="1">
                <a:cs typeface="Arial" panose="020B0604020202020204" pitchFamily="34" charset="0"/>
              </a:rPr>
              <a:t>Aşağıdaki saat 1 günde 24 dakika geri kalmaktadır.</a:t>
            </a:r>
          </a:p>
        </p:txBody>
      </p:sp>
    </p:spTree>
    <p:extLst>
      <p:ext uri="{BB962C8B-B14F-4D97-AF65-F5344CB8AC3E}">
        <p14:creationId xmlns:p14="http://schemas.microsoft.com/office/powerpoint/2010/main" val="3286888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Periyodik Problemler</a:t>
            </a:r>
          </a:p>
        </p:txBody>
      </p: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cxnSp>
        <p:nvCxnSpPr>
          <p:cNvPr id="63" name="Düz Bağlayıcı 62">
            <a:extLst>
              <a:ext uri="{FF2B5EF4-FFF2-40B4-BE49-F238E27FC236}">
                <a16:creationId xmlns:a16="http://schemas.microsoft.com/office/drawing/2014/main" id="{1D4B3BAF-3E8D-4FF0-A480-F453CC8928FA}"/>
              </a:ext>
            </a:extLst>
          </p:cNvPr>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64" name="Düz Bağlayıcı 63">
            <a:extLst>
              <a:ext uri="{FF2B5EF4-FFF2-40B4-BE49-F238E27FC236}">
                <a16:creationId xmlns:a16="http://schemas.microsoft.com/office/drawing/2014/main" id="{7B5CFA89-27DB-40CA-B98B-334B90FD0D33}"/>
              </a:ext>
            </a:extLst>
          </p:cNvPr>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066332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ve Kesir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27212" y="1966255"/>
            <a:ext cx="3395375" cy="553998"/>
          </a:xfrm>
          <a:prstGeom prst="rect">
            <a:avLst/>
          </a:prstGeom>
          <a:noFill/>
        </p:spPr>
        <p:txBody>
          <a:bodyPr wrap="square" rtlCol="0">
            <a:spAutoFit/>
          </a:bodyPr>
          <a:lstStyle/>
          <a:p>
            <a:r>
              <a:rPr lang="tr-TR" sz="1000" noProof="1"/>
              <a:t>A) 2x+2y                                 B) 4x+3z                              C) 7z+2x</a:t>
            </a:r>
          </a:p>
          <a:p>
            <a:pPr marL="228600" indent="-228600">
              <a:buAutoNum type="alphaUcParenR"/>
            </a:pPr>
            <a:endParaRPr lang="tr-TR" sz="1000" noProof="1"/>
          </a:p>
          <a:p>
            <a:r>
              <a:rPr lang="tr-TR" sz="1000" noProof="1"/>
              <a:t>                      D) 3y+2z+x                                        E) x+2y+3z</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08227" y="208766"/>
            <a:ext cx="1523698"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Aşağıda üç özdeş daire sırasıyla 4,6,8 eş parçaya ayrılmıştır.  </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3" y="469853"/>
            <a:ext cx="3349951" cy="246221"/>
          </a:xfrm>
          <a:prstGeom prst="rect">
            <a:avLst/>
          </a:prstGeom>
          <a:noFill/>
        </p:spPr>
        <p:txBody>
          <a:bodyPr wrap="square" rtlCol="0">
            <a:spAutoFit/>
          </a:bodyPr>
          <a:lstStyle/>
          <a:p>
            <a:r>
              <a:rPr lang="tr-TR" sz="1000" noProof="1">
                <a:cs typeface="Arial" panose="020B0604020202020204" pitchFamily="34" charset="0"/>
              </a:rPr>
              <a:t>Banu doğum günü için arkadaşlarını evine davet etmiştir.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456581"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1.D    2.X    3.X    4.X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60" y="4686074"/>
            <a:ext cx="3324828"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83D1573E-2AA3-4174-AD59-62EE321090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
        <p:nvSpPr>
          <p:cNvPr id="2" name="Oval 1">
            <a:extLst>
              <a:ext uri="{FF2B5EF4-FFF2-40B4-BE49-F238E27FC236}">
                <a16:creationId xmlns:a16="http://schemas.microsoft.com/office/drawing/2014/main" id="{66832AD3-6F6C-405F-8857-0E605A6A40EE}"/>
              </a:ext>
            </a:extLst>
          </p:cNvPr>
          <p:cNvSpPr/>
          <p:nvPr/>
        </p:nvSpPr>
        <p:spPr>
          <a:xfrm>
            <a:off x="188640" y="755256"/>
            <a:ext cx="881013" cy="849449"/>
          </a:xfrm>
          <a:prstGeom prst="ellipse">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24E27D0B-4326-43EA-ACEA-6E9336184901}"/>
              </a:ext>
            </a:extLst>
          </p:cNvPr>
          <p:cNvSpPr/>
          <p:nvPr/>
        </p:nvSpPr>
        <p:spPr>
          <a:xfrm>
            <a:off x="1345991" y="750952"/>
            <a:ext cx="881013" cy="849449"/>
          </a:xfrm>
          <a:prstGeom prst="ellipse">
            <a:avLst/>
          </a:prstGeom>
          <a:solidFill>
            <a:schemeClr val="accent2">
              <a:lumMod val="60000"/>
              <a:lumOff val="4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8" name="Oval 37">
            <a:extLst>
              <a:ext uri="{FF2B5EF4-FFF2-40B4-BE49-F238E27FC236}">
                <a16:creationId xmlns:a16="http://schemas.microsoft.com/office/drawing/2014/main" id="{1B787A6D-CDBB-4EBB-8A15-F8DFF0BD53AC}"/>
              </a:ext>
            </a:extLst>
          </p:cNvPr>
          <p:cNvSpPr/>
          <p:nvPr/>
        </p:nvSpPr>
        <p:spPr>
          <a:xfrm>
            <a:off x="2476056" y="758441"/>
            <a:ext cx="881013" cy="849449"/>
          </a:xfrm>
          <a:prstGeom prst="ellipse">
            <a:avLst/>
          </a:prstGeom>
          <a:solidFill>
            <a:schemeClr val="accent4">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4" name="Düz Bağlayıcı 3">
            <a:extLst>
              <a:ext uri="{FF2B5EF4-FFF2-40B4-BE49-F238E27FC236}">
                <a16:creationId xmlns:a16="http://schemas.microsoft.com/office/drawing/2014/main" id="{F0065DAA-5799-45E4-AAD3-B542CE87CDBC}"/>
              </a:ext>
            </a:extLst>
          </p:cNvPr>
          <p:cNvCxnSpPr>
            <a:stCxn id="2" idx="2"/>
            <a:endCxn id="2" idx="6"/>
          </p:cNvCxnSpPr>
          <p:nvPr/>
        </p:nvCxnSpPr>
        <p:spPr>
          <a:xfrm>
            <a:off x="188640" y="1179981"/>
            <a:ext cx="881013" cy="0"/>
          </a:xfrm>
          <a:prstGeom prst="line">
            <a:avLst/>
          </a:prstGeom>
        </p:spPr>
        <p:style>
          <a:lnRef idx="1">
            <a:schemeClr val="dk1"/>
          </a:lnRef>
          <a:fillRef idx="0">
            <a:schemeClr val="dk1"/>
          </a:fillRef>
          <a:effectRef idx="0">
            <a:schemeClr val="dk1"/>
          </a:effectRef>
          <a:fontRef idx="minor">
            <a:schemeClr val="tx1"/>
          </a:fontRef>
        </p:style>
      </p:cxnSp>
      <p:cxnSp>
        <p:nvCxnSpPr>
          <p:cNvPr id="8" name="Düz Bağlayıcı 7">
            <a:extLst>
              <a:ext uri="{FF2B5EF4-FFF2-40B4-BE49-F238E27FC236}">
                <a16:creationId xmlns:a16="http://schemas.microsoft.com/office/drawing/2014/main" id="{A2FEA332-80E5-40F0-89D2-19D516025372}"/>
              </a:ext>
            </a:extLst>
          </p:cNvPr>
          <p:cNvCxnSpPr>
            <a:stCxn id="2" idx="0"/>
            <a:endCxn id="2" idx="4"/>
          </p:cNvCxnSpPr>
          <p:nvPr/>
        </p:nvCxnSpPr>
        <p:spPr>
          <a:xfrm>
            <a:off x="629147" y="755256"/>
            <a:ext cx="0" cy="849449"/>
          </a:xfrm>
          <a:prstGeom prst="line">
            <a:avLst/>
          </a:prstGeom>
        </p:spPr>
        <p:style>
          <a:lnRef idx="1">
            <a:schemeClr val="dk1"/>
          </a:lnRef>
          <a:fillRef idx="0">
            <a:schemeClr val="dk1"/>
          </a:fillRef>
          <a:effectRef idx="0">
            <a:schemeClr val="dk1"/>
          </a:effectRef>
          <a:fontRef idx="minor">
            <a:schemeClr val="tx1"/>
          </a:fontRef>
        </p:style>
      </p:cxnSp>
      <p:cxnSp>
        <p:nvCxnSpPr>
          <p:cNvPr id="46" name="Düz Bağlayıcı 45">
            <a:extLst>
              <a:ext uri="{FF2B5EF4-FFF2-40B4-BE49-F238E27FC236}">
                <a16:creationId xmlns:a16="http://schemas.microsoft.com/office/drawing/2014/main" id="{01D8828B-0612-46C8-B739-04A1F63C7AFD}"/>
              </a:ext>
            </a:extLst>
          </p:cNvPr>
          <p:cNvCxnSpPr/>
          <p:nvPr/>
        </p:nvCxnSpPr>
        <p:spPr>
          <a:xfrm>
            <a:off x="2476056" y="1187624"/>
            <a:ext cx="881013"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8" name="Düz Bağlayıcı 47">
            <a:extLst>
              <a:ext uri="{FF2B5EF4-FFF2-40B4-BE49-F238E27FC236}">
                <a16:creationId xmlns:a16="http://schemas.microsoft.com/office/drawing/2014/main" id="{5C34F073-BD02-4DAE-B4F7-E0505DB0AA99}"/>
              </a:ext>
            </a:extLst>
          </p:cNvPr>
          <p:cNvCxnSpPr/>
          <p:nvPr/>
        </p:nvCxnSpPr>
        <p:spPr>
          <a:xfrm>
            <a:off x="2916563" y="762899"/>
            <a:ext cx="0" cy="849449"/>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5" name="Düz Bağlayıcı 14">
            <a:extLst>
              <a:ext uri="{FF2B5EF4-FFF2-40B4-BE49-F238E27FC236}">
                <a16:creationId xmlns:a16="http://schemas.microsoft.com/office/drawing/2014/main" id="{07116634-326C-482B-95BF-80F7DF4211E1}"/>
              </a:ext>
            </a:extLst>
          </p:cNvPr>
          <p:cNvCxnSpPr>
            <a:stCxn id="38" idx="1"/>
          </p:cNvCxnSpPr>
          <p:nvPr/>
        </p:nvCxnSpPr>
        <p:spPr>
          <a:xfrm>
            <a:off x="2605077" y="882840"/>
            <a:ext cx="311485" cy="300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Düz Bağlayıcı 52">
            <a:extLst>
              <a:ext uri="{FF2B5EF4-FFF2-40B4-BE49-F238E27FC236}">
                <a16:creationId xmlns:a16="http://schemas.microsoft.com/office/drawing/2014/main" id="{2166F7AC-82E5-4027-9C01-BA7FA72F2DA3}"/>
              </a:ext>
            </a:extLst>
          </p:cNvPr>
          <p:cNvCxnSpPr>
            <a:cxnSpLocks/>
            <a:stCxn id="38" idx="7"/>
          </p:cNvCxnSpPr>
          <p:nvPr/>
        </p:nvCxnSpPr>
        <p:spPr>
          <a:xfrm flipH="1">
            <a:off x="2912922" y="882840"/>
            <a:ext cx="315126" cy="3025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Düz Bağlayıcı 54">
            <a:extLst>
              <a:ext uri="{FF2B5EF4-FFF2-40B4-BE49-F238E27FC236}">
                <a16:creationId xmlns:a16="http://schemas.microsoft.com/office/drawing/2014/main" id="{35AF0D80-8953-48BE-93BD-05B621289D96}"/>
              </a:ext>
            </a:extLst>
          </p:cNvPr>
          <p:cNvCxnSpPr>
            <a:cxnSpLocks/>
          </p:cNvCxnSpPr>
          <p:nvPr/>
        </p:nvCxnSpPr>
        <p:spPr>
          <a:xfrm flipH="1">
            <a:off x="2601437" y="1182840"/>
            <a:ext cx="315126" cy="3025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Düz Bağlayıcı 55">
            <a:extLst>
              <a:ext uri="{FF2B5EF4-FFF2-40B4-BE49-F238E27FC236}">
                <a16:creationId xmlns:a16="http://schemas.microsoft.com/office/drawing/2014/main" id="{031FE85F-F64F-4AC2-B124-0212109E18A1}"/>
              </a:ext>
            </a:extLst>
          </p:cNvPr>
          <p:cNvCxnSpPr/>
          <p:nvPr/>
        </p:nvCxnSpPr>
        <p:spPr>
          <a:xfrm>
            <a:off x="2912922" y="1187686"/>
            <a:ext cx="311485" cy="300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33F87039-B759-4708-BD75-28BD9E2F8908}"/>
              </a:ext>
            </a:extLst>
          </p:cNvPr>
          <p:cNvCxnSpPr/>
          <p:nvPr/>
        </p:nvCxnSpPr>
        <p:spPr>
          <a:xfrm>
            <a:off x="1345991" y="1180064"/>
            <a:ext cx="881013" cy="0"/>
          </a:xfrm>
          <a:prstGeom prst="line">
            <a:avLst/>
          </a:prstGeom>
        </p:spPr>
        <p:style>
          <a:lnRef idx="1">
            <a:schemeClr val="dk1"/>
          </a:lnRef>
          <a:fillRef idx="0">
            <a:schemeClr val="dk1"/>
          </a:fillRef>
          <a:effectRef idx="0">
            <a:schemeClr val="dk1"/>
          </a:effectRef>
          <a:fontRef idx="minor">
            <a:schemeClr val="tx1"/>
          </a:fontRef>
        </p:style>
      </p:cxnSp>
      <p:cxnSp>
        <p:nvCxnSpPr>
          <p:cNvPr id="61" name="Düz Bağlayıcı 60">
            <a:extLst>
              <a:ext uri="{FF2B5EF4-FFF2-40B4-BE49-F238E27FC236}">
                <a16:creationId xmlns:a16="http://schemas.microsoft.com/office/drawing/2014/main" id="{CCD20E3D-C177-4A28-9F34-6AA237902BAF}"/>
              </a:ext>
            </a:extLst>
          </p:cNvPr>
          <p:cNvCxnSpPr>
            <a:cxnSpLocks/>
            <a:stCxn id="37" idx="1"/>
            <a:endCxn id="37" idx="5"/>
          </p:cNvCxnSpPr>
          <p:nvPr/>
        </p:nvCxnSpPr>
        <p:spPr>
          <a:xfrm>
            <a:off x="1475012" y="875351"/>
            <a:ext cx="622971" cy="600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Düz Bağlayıcı 62">
            <a:extLst>
              <a:ext uri="{FF2B5EF4-FFF2-40B4-BE49-F238E27FC236}">
                <a16:creationId xmlns:a16="http://schemas.microsoft.com/office/drawing/2014/main" id="{26228A34-ED09-41AD-9B0D-BE623188A9B1}"/>
              </a:ext>
            </a:extLst>
          </p:cNvPr>
          <p:cNvCxnSpPr>
            <a:cxnSpLocks/>
            <a:stCxn id="37" idx="7"/>
            <a:endCxn id="37" idx="3"/>
          </p:cNvCxnSpPr>
          <p:nvPr/>
        </p:nvCxnSpPr>
        <p:spPr>
          <a:xfrm flipH="1">
            <a:off x="1475012" y="875351"/>
            <a:ext cx="622971" cy="600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Metin kutusu 63">
            <a:extLst>
              <a:ext uri="{FF2B5EF4-FFF2-40B4-BE49-F238E27FC236}">
                <a16:creationId xmlns:a16="http://schemas.microsoft.com/office/drawing/2014/main" id="{94B19413-F051-404D-993C-00800E75AF8B}"/>
              </a:ext>
            </a:extLst>
          </p:cNvPr>
          <p:cNvSpPr txBox="1"/>
          <p:nvPr/>
        </p:nvSpPr>
        <p:spPr>
          <a:xfrm>
            <a:off x="27212" y="1601558"/>
            <a:ext cx="3429640" cy="400110"/>
          </a:xfrm>
          <a:prstGeom prst="rect">
            <a:avLst/>
          </a:prstGeom>
          <a:noFill/>
        </p:spPr>
        <p:txBody>
          <a:bodyPr wrap="square" rtlCol="0">
            <a:spAutoFit/>
          </a:bodyPr>
          <a:lstStyle/>
          <a:p>
            <a:r>
              <a:rPr lang="tr-TR" sz="1000" noProof="1">
                <a:cs typeface="Arial" panose="020B0604020202020204" pitchFamily="34" charset="0"/>
              </a:rPr>
              <a:t>Bu dairelerin her bir eş dilimi sırasıyla x,y,z olarak işaretleniyor.</a:t>
            </a:r>
          </a:p>
          <a:p>
            <a:r>
              <a:rPr lang="tr-TR" sz="1000" b="1" noProof="1">
                <a:cs typeface="Arial" panose="020B0604020202020204" pitchFamily="34" charset="0"/>
              </a:rPr>
              <a:t>Buna göre, aşağıdakilerden hangisi tam bir daire oluşturur?</a:t>
            </a:r>
          </a:p>
        </p:txBody>
      </p:sp>
      <p:pic>
        <p:nvPicPr>
          <p:cNvPr id="34" name="Grafik 33">
            <a:extLst>
              <a:ext uri="{FF2B5EF4-FFF2-40B4-BE49-F238E27FC236}">
                <a16:creationId xmlns:a16="http://schemas.microsoft.com/office/drawing/2014/main" id="{20501773-123D-4FCE-A12D-BBB731782E8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68554" y="770056"/>
            <a:ext cx="480056" cy="488464"/>
          </a:xfrm>
          <a:prstGeom prst="rect">
            <a:avLst/>
          </a:prstGeom>
        </p:spPr>
      </p:pic>
      <p:pic>
        <p:nvPicPr>
          <p:cNvPr id="39" name="Grafik 38">
            <a:extLst>
              <a:ext uri="{FF2B5EF4-FFF2-40B4-BE49-F238E27FC236}">
                <a16:creationId xmlns:a16="http://schemas.microsoft.com/office/drawing/2014/main" id="{150FBBAA-F59B-484A-96C1-274C5AA86F9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84380" y="907023"/>
            <a:ext cx="308710" cy="308710"/>
          </a:xfrm>
          <a:prstGeom prst="rect">
            <a:avLst/>
          </a:prstGeom>
        </p:spPr>
      </p:pic>
      <p:pic>
        <p:nvPicPr>
          <p:cNvPr id="70" name="Grafik 69">
            <a:extLst>
              <a:ext uri="{FF2B5EF4-FFF2-40B4-BE49-F238E27FC236}">
                <a16:creationId xmlns:a16="http://schemas.microsoft.com/office/drawing/2014/main" id="{A8C74D68-0230-40D0-ADC3-1AB4514EF811}"/>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63472" y="907023"/>
            <a:ext cx="308710" cy="308710"/>
          </a:xfrm>
          <a:prstGeom prst="rect">
            <a:avLst/>
          </a:prstGeom>
        </p:spPr>
      </p:pic>
      <mc:AlternateContent xmlns:mc="http://schemas.openxmlformats.org/markup-compatibility/2006" xmlns:a14="http://schemas.microsoft.com/office/drawing/2010/main">
        <mc:Choice Requires="a14">
          <p:sp>
            <p:nvSpPr>
              <p:cNvPr id="71" name="Metin kutusu 70">
                <a:extLst>
                  <a:ext uri="{FF2B5EF4-FFF2-40B4-BE49-F238E27FC236}">
                    <a16:creationId xmlns:a16="http://schemas.microsoft.com/office/drawing/2014/main" id="{3F26312C-40BE-4DED-9B1E-26AED08F4CAE}"/>
                  </a:ext>
                </a:extLst>
              </p:cNvPr>
              <p:cNvSpPr txBox="1"/>
              <p:nvPr/>
            </p:nvSpPr>
            <p:spPr>
              <a:xfrm>
                <a:off x="5863558" y="961974"/>
                <a:ext cx="851053" cy="24622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noProof="1">
                  <a:cs typeface="Arial" panose="020B0604020202020204" pitchFamily="34" charset="0"/>
                </a:endParaRPr>
              </a:p>
            </p:txBody>
          </p:sp>
        </mc:Choice>
        <mc:Fallback xmlns="">
          <p:sp>
            <p:nvSpPr>
              <p:cNvPr id="71" name="Metin kutusu 70">
                <a:extLst>
                  <a:ext uri="{FF2B5EF4-FFF2-40B4-BE49-F238E27FC236}">
                    <a16:creationId xmlns:a16="http://schemas.microsoft.com/office/drawing/2014/main" id="{3F26312C-40BE-4DED-9B1E-26AED08F4CAE}"/>
                  </a:ext>
                </a:extLst>
              </p:cNvPr>
              <p:cNvSpPr txBox="1">
                <a:spLocks noRot="1" noChangeAspect="1" noMove="1" noResize="1" noEditPoints="1" noAdjustHandles="1" noChangeArrowheads="1" noChangeShapeType="1" noTextEdit="1"/>
              </p:cNvSpPr>
              <p:nvPr/>
            </p:nvSpPr>
            <p:spPr>
              <a:xfrm>
                <a:off x="5863558" y="961974"/>
                <a:ext cx="851053" cy="246221"/>
              </a:xfrm>
              <a:prstGeom prst="rect">
                <a:avLst/>
              </a:prstGeom>
              <a:blipFill>
                <a:blip r:embed="rId10"/>
                <a:stretch>
                  <a:fillRect/>
                </a:stretch>
              </a:blipFill>
            </p:spPr>
            <p:txBody>
              <a:bodyPr/>
              <a:lstStyle/>
              <a:p>
                <a:r>
                  <a:rPr lang="tr-TR">
                    <a:noFill/>
                  </a:rPr>
                  <a:t> </a:t>
                </a:r>
              </a:p>
            </p:txBody>
          </p:sp>
        </mc:Fallback>
      </mc:AlternateContent>
      <p:sp>
        <p:nvSpPr>
          <p:cNvPr id="72" name="Metin kutusu 71">
            <a:extLst>
              <a:ext uri="{FF2B5EF4-FFF2-40B4-BE49-F238E27FC236}">
                <a16:creationId xmlns:a16="http://schemas.microsoft.com/office/drawing/2014/main" id="{DF1CC9E2-419B-4263-9B36-71757AD382AE}"/>
              </a:ext>
            </a:extLst>
          </p:cNvPr>
          <p:cNvSpPr txBox="1"/>
          <p:nvPr/>
        </p:nvSpPr>
        <p:spPr>
          <a:xfrm>
            <a:off x="3433725" y="1269797"/>
            <a:ext cx="3453005" cy="1015663"/>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Banu kendi ve tüm arkadaşlarına üçer dilim vermektedir. </a:t>
            </a:r>
          </a:p>
          <a:p>
            <a:pPr marL="171450" indent="-171450">
              <a:buFont typeface="Arial" panose="020B0604020202020204" pitchFamily="34" charset="0"/>
              <a:buChar char="•"/>
            </a:pPr>
            <a:r>
              <a:rPr lang="tr-TR" sz="1000" noProof="1">
                <a:cs typeface="Arial" panose="020B0604020202020204" pitchFamily="34" charset="0"/>
              </a:rPr>
              <a:t>Banu`nun her arkadaşı 1 arkadaşını da partiye davet edince tüm davetlilere düşen birer dilimdir.    </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son durumda Banu`nun ilk duruma göre pastadaki payının azalışı ne kadardır?</a:t>
            </a:r>
          </a:p>
        </p:txBody>
      </p:sp>
      <p:pic>
        <p:nvPicPr>
          <p:cNvPr id="73" name="Grafik 72">
            <a:extLst>
              <a:ext uri="{FF2B5EF4-FFF2-40B4-BE49-F238E27FC236}">
                <a16:creationId xmlns:a16="http://schemas.microsoft.com/office/drawing/2014/main" id="{002986EC-5F35-40B4-9174-5FD4724F000B}"/>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56108" y="912008"/>
            <a:ext cx="308710" cy="308710"/>
          </a:xfrm>
          <a:prstGeom prst="rect">
            <a:avLst/>
          </a:prstGeom>
        </p:spPr>
      </p:pic>
      <p:pic>
        <p:nvPicPr>
          <p:cNvPr id="74" name="Grafik 73">
            <a:extLst>
              <a:ext uri="{FF2B5EF4-FFF2-40B4-BE49-F238E27FC236}">
                <a16:creationId xmlns:a16="http://schemas.microsoft.com/office/drawing/2014/main" id="{FA2D3CBC-8966-4C21-B539-A008DFE8C68F}"/>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35200" y="912008"/>
            <a:ext cx="308710" cy="308710"/>
          </a:xfrm>
          <a:prstGeom prst="rect">
            <a:avLst/>
          </a:prstGeom>
        </p:spPr>
      </p:pic>
    </p:spTree>
    <p:extLst>
      <p:ext uri="{BB962C8B-B14F-4D97-AF65-F5344CB8AC3E}">
        <p14:creationId xmlns:p14="http://schemas.microsoft.com/office/powerpoint/2010/main" val="210972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ve Kesir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1B40F82D-5A6D-432E-93CA-C8C5ECF14C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2557007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ve Kesir Problemleri</a:t>
            </a:r>
          </a:p>
        </p:txBody>
      </p: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cxnSp>
        <p:nvCxnSpPr>
          <p:cNvPr id="63" name="Düz Bağlayıcı 62">
            <a:extLst>
              <a:ext uri="{FF2B5EF4-FFF2-40B4-BE49-F238E27FC236}">
                <a16:creationId xmlns:a16="http://schemas.microsoft.com/office/drawing/2014/main" id="{1D4B3BAF-3E8D-4FF0-A480-F453CC8928FA}"/>
              </a:ext>
            </a:extLst>
          </p:cNvPr>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64" name="Düz Bağlayıcı 63">
            <a:extLst>
              <a:ext uri="{FF2B5EF4-FFF2-40B4-BE49-F238E27FC236}">
                <a16:creationId xmlns:a16="http://schemas.microsoft.com/office/drawing/2014/main" id="{7B5CFA89-27DB-40CA-B98B-334B90FD0D33}"/>
              </a:ext>
            </a:extLst>
          </p:cNvPr>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504838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458285"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pPr marL="171450" indent="-171450">
              <a:buFont typeface="Wingdings" panose="05000000000000000000" pitchFamily="2" charset="2"/>
              <a:buChar char="Ø"/>
            </a:pPr>
            <a:r>
              <a:rPr lang="tr-TR" sz="1000" b="1" noProof="1">
                <a:latin typeface="+mj-lt"/>
                <a:cs typeface="Arial" panose="020B0604020202020204" pitchFamily="34" charset="0"/>
              </a:rPr>
              <a:t>OTANTİK TEST 1</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71714" y="44348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1.X    2.X    3.X    4.X</a:t>
            </a:r>
          </a:p>
        </p:txBody>
      </p:sp>
      <p:pic>
        <p:nvPicPr>
          <p:cNvPr id="36" name="Grafik 35">
            <a:extLst>
              <a:ext uri="{FF2B5EF4-FFF2-40B4-BE49-F238E27FC236}">
                <a16:creationId xmlns:a16="http://schemas.microsoft.com/office/drawing/2014/main" id="{83D1573E-2AA3-4174-AD59-62EE321090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
        <p:nvSpPr>
          <p:cNvPr id="35" name="Metin kutusu 34">
            <a:extLst>
              <a:ext uri="{FF2B5EF4-FFF2-40B4-BE49-F238E27FC236}">
                <a16:creationId xmlns:a16="http://schemas.microsoft.com/office/drawing/2014/main" id="{14F390DD-2799-424E-A084-A430ECA5925F}"/>
              </a:ext>
            </a:extLst>
          </p:cNvPr>
          <p:cNvSpPr txBox="1"/>
          <p:nvPr/>
        </p:nvSpPr>
        <p:spPr>
          <a:xfrm>
            <a:off x="92765" y="478572"/>
            <a:ext cx="3214407" cy="4093428"/>
          </a:xfrm>
          <a:prstGeom prst="rect">
            <a:avLst/>
          </a:prstGeom>
          <a:noFill/>
        </p:spPr>
        <p:txBody>
          <a:bodyPr wrap="square" rtlCol="0">
            <a:spAutoFit/>
          </a:bodyPr>
          <a:lstStyle/>
          <a:p>
            <a:r>
              <a:rPr lang="tr-TR" sz="1000" b="1" dirty="0"/>
              <a:t>Oktay, Gamze, Saffet bir tam sayı tutuyorlar ve Özge`de bu sayıyı tahmin ediyor.  Sayılarla ilgili ;</a:t>
            </a:r>
          </a:p>
          <a:p>
            <a:endParaRPr lang="tr-TR" sz="1000" dirty="0"/>
          </a:p>
          <a:p>
            <a:pPr marL="171450" indent="-171450">
              <a:buFont typeface="Arial" panose="020B0604020202020204" pitchFamily="34" charset="0"/>
              <a:buChar char="•"/>
            </a:pPr>
            <a:r>
              <a:rPr lang="tr-TR" sz="1000" dirty="0"/>
              <a:t>Oktay ve Gamze ardışık sayılar tutmuşlardır.</a:t>
            </a:r>
          </a:p>
          <a:p>
            <a:pPr marL="171450" indent="-171450">
              <a:buFont typeface="Arial" panose="020B0604020202020204" pitchFamily="34" charset="0"/>
              <a:buChar char="•"/>
            </a:pPr>
            <a:r>
              <a:rPr lang="tr-TR" sz="1000" dirty="0"/>
              <a:t>Herkes 3 basamaklı sayılar tutmuşlardır.</a:t>
            </a:r>
          </a:p>
          <a:p>
            <a:pPr marL="171450" indent="-171450">
              <a:buFont typeface="Arial" panose="020B0604020202020204" pitchFamily="34" charset="0"/>
              <a:buChar char="•"/>
            </a:pPr>
            <a:r>
              <a:rPr lang="tr-TR" sz="1000" dirty="0"/>
              <a:t>Oktay ve Saffet`in tuttuğu sayıların mutlak değerce farkı iki basamaklı sayıdır.</a:t>
            </a:r>
          </a:p>
          <a:p>
            <a:pPr marL="171450" indent="-171450">
              <a:buFont typeface="Arial" panose="020B0604020202020204" pitchFamily="34" charset="0"/>
              <a:buChar char="•"/>
            </a:pPr>
            <a:r>
              <a:rPr lang="tr-TR" sz="1000" dirty="0"/>
              <a:t>Gamze çift bir sayı tutmuştur ve Saffet ile tuttuğu sayının mutlak değerce farkı bir asal sayıdır.</a:t>
            </a:r>
          </a:p>
          <a:p>
            <a:pPr marL="171450" indent="-171450">
              <a:buFont typeface="Arial" panose="020B0604020202020204" pitchFamily="34" charset="0"/>
              <a:buChar char="•"/>
            </a:pPr>
            <a:endParaRPr lang="tr-TR" sz="1000" dirty="0"/>
          </a:p>
          <a:p>
            <a:r>
              <a:rPr lang="tr-TR" sz="1000" b="1" dirty="0"/>
              <a:t>Özge`nin aşağıdaki varsayımlarından hangileri doğrudur?</a:t>
            </a:r>
          </a:p>
          <a:p>
            <a:endParaRPr lang="tr-TR" sz="1000" dirty="0"/>
          </a:p>
          <a:p>
            <a:r>
              <a:rPr lang="tr-TR" sz="1000" dirty="0"/>
              <a:t>A) Gamze 620 tutmuşsa Saffet`in bu sayıdan büyük en yakın tutabileceği sayı 629`dir.</a:t>
            </a:r>
          </a:p>
          <a:p>
            <a:endParaRPr lang="tr-TR" sz="1000" dirty="0"/>
          </a:p>
          <a:p>
            <a:r>
              <a:rPr lang="tr-TR" sz="1000" dirty="0"/>
              <a:t>B) Gamze Saffet`ten büyük bir sayı tutmuş ve 116 tutmuşsa Saffet 6 farklı sayı tutabilir.</a:t>
            </a:r>
          </a:p>
          <a:p>
            <a:endParaRPr lang="tr-TR" sz="1000" dirty="0"/>
          </a:p>
          <a:p>
            <a:r>
              <a:rPr lang="tr-TR" sz="1000" dirty="0"/>
              <a:t>C) Saffet 213 tutmuşsa Oktay`ın tuttuğu sayı en büyük sayı 309 olur.</a:t>
            </a:r>
          </a:p>
          <a:p>
            <a:endParaRPr lang="tr-TR" sz="1000" dirty="0"/>
          </a:p>
          <a:p>
            <a:r>
              <a:rPr lang="tr-TR" sz="1000" dirty="0"/>
              <a:t>D) Oktay`ın tutabileceği en küçük sayı 101`dir.</a:t>
            </a:r>
          </a:p>
          <a:p>
            <a:endParaRPr lang="tr-TR" sz="1000" dirty="0"/>
          </a:p>
          <a:p>
            <a:r>
              <a:rPr lang="tr-TR" sz="1000" dirty="0"/>
              <a:t>E) Oktay Saffet`ten küçük bir sayı olarak 199`u tutmuşsa</a:t>
            </a:r>
          </a:p>
          <a:p>
            <a:r>
              <a:rPr lang="tr-TR" sz="1000" dirty="0"/>
              <a:t>Saffet Oktay`ın tuttuğu sayıya en yakın 207 tutabilir.</a:t>
            </a:r>
          </a:p>
        </p:txBody>
      </p:sp>
      <p:sp>
        <p:nvSpPr>
          <p:cNvPr id="81" name="Metin kutusu 80">
            <a:extLst>
              <a:ext uri="{FF2B5EF4-FFF2-40B4-BE49-F238E27FC236}">
                <a16:creationId xmlns:a16="http://schemas.microsoft.com/office/drawing/2014/main" id="{BD58F588-E3C2-4E24-88A7-59B266297101}"/>
              </a:ext>
            </a:extLst>
          </p:cNvPr>
          <p:cNvSpPr txBox="1"/>
          <p:nvPr/>
        </p:nvSpPr>
        <p:spPr>
          <a:xfrm>
            <a:off x="3566192" y="485958"/>
            <a:ext cx="3239032" cy="369332"/>
          </a:xfrm>
          <a:prstGeom prst="rect">
            <a:avLst/>
          </a:prstGeom>
          <a:noFill/>
        </p:spPr>
        <p:txBody>
          <a:bodyPr wrap="square" rtlCol="0">
            <a:spAutoFit/>
          </a:bodyPr>
          <a:lstStyle/>
          <a:p>
            <a:r>
              <a:rPr lang="tr-TR" sz="900" noProof="1"/>
              <a:t>Aşağıda verilen bozuk tartının birimi kilogram ve standart ibresi 0 sayısını göstermektedir. Standartı 10 kg oynanarak 120 olmuştur.</a:t>
            </a:r>
          </a:p>
        </p:txBody>
      </p:sp>
      <p:sp>
        <p:nvSpPr>
          <p:cNvPr id="82" name="Dikdörtgen 81">
            <a:extLst>
              <a:ext uri="{FF2B5EF4-FFF2-40B4-BE49-F238E27FC236}">
                <a16:creationId xmlns:a16="http://schemas.microsoft.com/office/drawing/2014/main" id="{A6694101-F353-4DF0-B3B1-1A15642CC302}"/>
              </a:ext>
            </a:extLst>
          </p:cNvPr>
          <p:cNvSpPr/>
          <p:nvPr/>
        </p:nvSpPr>
        <p:spPr>
          <a:xfrm>
            <a:off x="3602103" y="921395"/>
            <a:ext cx="1401611" cy="157488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3" name="Oval 82">
            <a:extLst>
              <a:ext uri="{FF2B5EF4-FFF2-40B4-BE49-F238E27FC236}">
                <a16:creationId xmlns:a16="http://schemas.microsoft.com/office/drawing/2014/main" id="{5AD4D849-F7C2-4F50-B73E-69F7AF640D90}"/>
              </a:ext>
            </a:extLst>
          </p:cNvPr>
          <p:cNvSpPr/>
          <p:nvPr/>
        </p:nvSpPr>
        <p:spPr>
          <a:xfrm>
            <a:off x="3693733" y="983640"/>
            <a:ext cx="1281534" cy="1284967"/>
          </a:xfrm>
          <a:prstGeom prst="ellipse">
            <a:avLst/>
          </a:prstGeom>
          <a:noFill/>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cxnSp>
        <p:nvCxnSpPr>
          <p:cNvPr id="84" name="Düz Bağlayıcı 83">
            <a:extLst>
              <a:ext uri="{FF2B5EF4-FFF2-40B4-BE49-F238E27FC236}">
                <a16:creationId xmlns:a16="http://schemas.microsoft.com/office/drawing/2014/main" id="{180F2969-3A7F-46CE-9FEC-016854F21F96}"/>
              </a:ext>
            </a:extLst>
          </p:cNvPr>
          <p:cNvCxnSpPr/>
          <p:nvPr/>
        </p:nvCxnSpPr>
        <p:spPr>
          <a:xfrm flipV="1">
            <a:off x="4334499" y="1128127"/>
            <a:ext cx="1" cy="521736"/>
          </a:xfrm>
          <a:prstGeom prst="line">
            <a:avLst/>
          </a:prstGeom>
          <a:ln>
            <a:solidFill>
              <a:srgbClr val="C00000"/>
            </a:solidFill>
          </a:ln>
        </p:spPr>
        <p:style>
          <a:lnRef idx="1">
            <a:schemeClr val="accent2"/>
          </a:lnRef>
          <a:fillRef idx="0">
            <a:schemeClr val="accent2"/>
          </a:fillRef>
          <a:effectRef idx="0">
            <a:schemeClr val="accent2"/>
          </a:effectRef>
          <a:fontRef idx="minor">
            <a:schemeClr val="tx1"/>
          </a:fontRef>
        </p:style>
      </p:cxnSp>
      <p:sp>
        <p:nvSpPr>
          <p:cNvPr id="85" name="Metin kutusu 84">
            <a:extLst>
              <a:ext uri="{FF2B5EF4-FFF2-40B4-BE49-F238E27FC236}">
                <a16:creationId xmlns:a16="http://schemas.microsoft.com/office/drawing/2014/main" id="{30E55F83-4D8B-486B-BAF8-163AA257DE80}"/>
              </a:ext>
            </a:extLst>
          </p:cNvPr>
          <p:cNvSpPr txBox="1"/>
          <p:nvPr/>
        </p:nvSpPr>
        <p:spPr>
          <a:xfrm>
            <a:off x="4222218" y="952173"/>
            <a:ext cx="207453" cy="184666"/>
          </a:xfrm>
          <a:prstGeom prst="rect">
            <a:avLst/>
          </a:prstGeom>
          <a:noFill/>
        </p:spPr>
        <p:txBody>
          <a:bodyPr wrap="square" rtlCol="0">
            <a:spAutoFit/>
          </a:bodyPr>
          <a:lstStyle/>
          <a:p>
            <a:r>
              <a:rPr lang="tr-TR" sz="600" dirty="0">
                <a:solidFill>
                  <a:schemeClr val="tx1">
                    <a:lumMod val="85000"/>
                    <a:lumOff val="15000"/>
                  </a:schemeClr>
                </a:solidFill>
              </a:rPr>
              <a:t>0</a:t>
            </a:r>
          </a:p>
        </p:txBody>
      </p:sp>
      <p:sp>
        <p:nvSpPr>
          <p:cNvPr id="87" name="Metin kutusu 86">
            <a:extLst>
              <a:ext uri="{FF2B5EF4-FFF2-40B4-BE49-F238E27FC236}">
                <a16:creationId xmlns:a16="http://schemas.microsoft.com/office/drawing/2014/main" id="{1D7ED22C-41BE-4E78-A714-C88591BAAA01}"/>
              </a:ext>
            </a:extLst>
          </p:cNvPr>
          <p:cNvSpPr txBox="1"/>
          <p:nvPr/>
        </p:nvSpPr>
        <p:spPr>
          <a:xfrm rot="20269072">
            <a:off x="3998942" y="996802"/>
            <a:ext cx="303367" cy="184666"/>
          </a:xfrm>
          <a:prstGeom prst="rect">
            <a:avLst/>
          </a:prstGeom>
          <a:noFill/>
        </p:spPr>
        <p:txBody>
          <a:bodyPr wrap="square" rtlCol="0">
            <a:spAutoFit/>
          </a:bodyPr>
          <a:lstStyle/>
          <a:p>
            <a:r>
              <a:rPr lang="tr-TR" sz="600" dirty="0">
                <a:solidFill>
                  <a:schemeClr val="tx1">
                    <a:lumMod val="85000"/>
                    <a:lumOff val="15000"/>
                  </a:schemeClr>
                </a:solidFill>
              </a:rPr>
              <a:t>125</a:t>
            </a:r>
          </a:p>
        </p:txBody>
      </p:sp>
      <p:sp>
        <p:nvSpPr>
          <p:cNvPr id="88" name="Metin kutusu 87">
            <a:extLst>
              <a:ext uri="{FF2B5EF4-FFF2-40B4-BE49-F238E27FC236}">
                <a16:creationId xmlns:a16="http://schemas.microsoft.com/office/drawing/2014/main" id="{22F065E7-D934-48B7-8FF1-AB4AF8B44555}"/>
              </a:ext>
            </a:extLst>
          </p:cNvPr>
          <p:cNvSpPr txBox="1"/>
          <p:nvPr/>
        </p:nvSpPr>
        <p:spPr>
          <a:xfrm rot="1252268">
            <a:off x="4412768" y="996803"/>
            <a:ext cx="207453" cy="184666"/>
          </a:xfrm>
          <a:prstGeom prst="rect">
            <a:avLst/>
          </a:prstGeom>
          <a:noFill/>
        </p:spPr>
        <p:txBody>
          <a:bodyPr wrap="square" rtlCol="0">
            <a:spAutoFit/>
          </a:bodyPr>
          <a:lstStyle/>
          <a:p>
            <a:r>
              <a:rPr lang="tr-TR" sz="600" dirty="0">
                <a:solidFill>
                  <a:schemeClr val="tx1">
                    <a:lumMod val="85000"/>
                    <a:lumOff val="15000"/>
                  </a:schemeClr>
                </a:solidFill>
              </a:rPr>
              <a:t>5</a:t>
            </a:r>
          </a:p>
        </p:txBody>
      </p:sp>
      <p:sp>
        <p:nvSpPr>
          <p:cNvPr id="89" name="Metin kutusu 88">
            <a:extLst>
              <a:ext uri="{FF2B5EF4-FFF2-40B4-BE49-F238E27FC236}">
                <a16:creationId xmlns:a16="http://schemas.microsoft.com/office/drawing/2014/main" id="{0C2535E8-CE56-4766-9C33-F842032C8277}"/>
              </a:ext>
            </a:extLst>
          </p:cNvPr>
          <p:cNvSpPr txBox="1"/>
          <p:nvPr/>
        </p:nvSpPr>
        <p:spPr>
          <a:xfrm rot="1701742">
            <a:off x="4544699" y="1095387"/>
            <a:ext cx="260878" cy="184666"/>
          </a:xfrm>
          <a:prstGeom prst="rect">
            <a:avLst/>
          </a:prstGeom>
          <a:noFill/>
        </p:spPr>
        <p:txBody>
          <a:bodyPr wrap="square" rtlCol="0">
            <a:spAutoFit/>
          </a:bodyPr>
          <a:lstStyle/>
          <a:p>
            <a:r>
              <a:rPr lang="tr-TR" sz="600" dirty="0">
                <a:solidFill>
                  <a:schemeClr val="tx1">
                    <a:lumMod val="85000"/>
                    <a:lumOff val="15000"/>
                  </a:schemeClr>
                </a:solidFill>
              </a:rPr>
              <a:t>10</a:t>
            </a:r>
          </a:p>
        </p:txBody>
      </p:sp>
      <p:sp>
        <p:nvSpPr>
          <p:cNvPr id="90" name="Metin kutusu 89">
            <a:extLst>
              <a:ext uri="{FF2B5EF4-FFF2-40B4-BE49-F238E27FC236}">
                <a16:creationId xmlns:a16="http://schemas.microsoft.com/office/drawing/2014/main" id="{A7CE6E98-0C98-46C5-91A9-8771CD1A8200}"/>
              </a:ext>
            </a:extLst>
          </p:cNvPr>
          <p:cNvSpPr txBox="1"/>
          <p:nvPr/>
        </p:nvSpPr>
        <p:spPr>
          <a:xfrm rot="2832675">
            <a:off x="4688055" y="1247787"/>
            <a:ext cx="260878" cy="184666"/>
          </a:xfrm>
          <a:prstGeom prst="rect">
            <a:avLst/>
          </a:prstGeom>
          <a:noFill/>
        </p:spPr>
        <p:txBody>
          <a:bodyPr wrap="square" rtlCol="0">
            <a:spAutoFit/>
          </a:bodyPr>
          <a:lstStyle/>
          <a:p>
            <a:r>
              <a:rPr lang="tr-TR" sz="600" dirty="0">
                <a:solidFill>
                  <a:schemeClr val="tx1">
                    <a:lumMod val="85000"/>
                    <a:lumOff val="15000"/>
                  </a:schemeClr>
                </a:solidFill>
              </a:rPr>
              <a:t>15</a:t>
            </a:r>
          </a:p>
        </p:txBody>
      </p:sp>
      <p:sp>
        <p:nvSpPr>
          <p:cNvPr id="91" name="Metin kutusu 90">
            <a:extLst>
              <a:ext uri="{FF2B5EF4-FFF2-40B4-BE49-F238E27FC236}">
                <a16:creationId xmlns:a16="http://schemas.microsoft.com/office/drawing/2014/main" id="{C983AAE2-F08B-4780-A43F-FE43CCF76830}"/>
              </a:ext>
            </a:extLst>
          </p:cNvPr>
          <p:cNvSpPr txBox="1"/>
          <p:nvPr/>
        </p:nvSpPr>
        <p:spPr>
          <a:xfrm rot="3738816">
            <a:off x="4771256" y="1427703"/>
            <a:ext cx="260878" cy="184666"/>
          </a:xfrm>
          <a:prstGeom prst="rect">
            <a:avLst/>
          </a:prstGeom>
          <a:noFill/>
        </p:spPr>
        <p:txBody>
          <a:bodyPr wrap="square" rtlCol="0">
            <a:spAutoFit/>
          </a:bodyPr>
          <a:lstStyle/>
          <a:p>
            <a:r>
              <a:rPr lang="tr-TR" sz="600" dirty="0">
                <a:solidFill>
                  <a:schemeClr val="tx1">
                    <a:lumMod val="85000"/>
                    <a:lumOff val="15000"/>
                  </a:schemeClr>
                </a:solidFill>
              </a:rPr>
              <a:t>20</a:t>
            </a:r>
          </a:p>
        </p:txBody>
      </p:sp>
      <p:sp>
        <p:nvSpPr>
          <p:cNvPr id="92" name="Metin kutusu 91">
            <a:extLst>
              <a:ext uri="{FF2B5EF4-FFF2-40B4-BE49-F238E27FC236}">
                <a16:creationId xmlns:a16="http://schemas.microsoft.com/office/drawing/2014/main" id="{C0CC4A06-D93A-43C6-BF37-EB47E2644576}"/>
              </a:ext>
            </a:extLst>
          </p:cNvPr>
          <p:cNvSpPr txBox="1"/>
          <p:nvPr/>
        </p:nvSpPr>
        <p:spPr>
          <a:xfrm rot="5400000">
            <a:off x="4780942" y="1597105"/>
            <a:ext cx="260878" cy="184666"/>
          </a:xfrm>
          <a:prstGeom prst="rect">
            <a:avLst/>
          </a:prstGeom>
          <a:noFill/>
        </p:spPr>
        <p:txBody>
          <a:bodyPr wrap="square" rtlCol="0">
            <a:spAutoFit/>
          </a:bodyPr>
          <a:lstStyle/>
          <a:p>
            <a:r>
              <a:rPr lang="tr-TR" sz="600" dirty="0">
                <a:solidFill>
                  <a:schemeClr val="tx1">
                    <a:lumMod val="85000"/>
                    <a:lumOff val="15000"/>
                  </a:schemeClr>
                </a:solidFill>
              </a:rPr>
              <a:t>25</a:t>
            </a:r>
          </a:p>
        </p:txBody>
      </p:sp>
      <p:sp>
        <p:nvSpPr>
          <p:cNvPr id="93" name="Metin kutusu 92">
            <a:extLst>
              <a:ext uri="{FF2B5EF4-FFF2-40B4-BE49-F238E27FC236}">
                <a16:creationId xmlns:a16="http://schemas.microsoft.com/office/drawing/2014/main" id="{7C94AD6E-46C6-4962-998F-0B34B3888670}"/>
              </a:ext>
            </a:extLst>
          </p:cNvPr>
          <p:cNvSpPr txBox="1"/>
          <p:nvPr/>
        </p:nvSpPr>
        <p:spPr>
          <a:xfrm rot="5799015">
            <a:off x="4747179" y="1788612"/>
            <a:ext cx="260878" cy="184666"/>
          </a:xfrm>
          <a:prstGeom prst="rect">
            <a:avLst/>
          </a:prstGeom>
          <a:noFill/>
        </p:spPr>
        <p:txBody>
          <a:bodyPr wrap="square" rtlCol="0">
            <a:spAutoFit/>
          </a:bodyPr>
          <a:lstStyle/>
          <a:p>
            <a:r>
              <a:rPr lang="tr-TR" sz="600" dirty="0">
                <a:solidFill>
                  <a:schemeClr val="tx1">
                    <a:lumMod val="85000"/>
                    <a:lumOff val="15000"/>
                  </a:schemeClr>
                </a:solidFill>
              </a:rPr>
              <a:t>30</a:t>
            </a:r>
          </a:p>
        </p:txBody>
      </p:sp>
      <p:sp>
        <p:nvSpPr>
          <p:cNvPr id="94" name="Metin kutusu 93">
            <a:extLst>
              <a:ext uri="{FF2B5EF4-FFF2-40B4-BE49-F238E27FC236}">
                <a16:creationId xmlns:a16="http://schemas.microsoft.com/office/drawing/2014/main" id="{8B9A444E-6D0D-48E4-B0BA-AAE75D06FCA0}"/>
              </a:ext>
            </a:extLst>
          </p:cNvPr>
          <p:cNvSpPr txBox="1"/>
          <p:nvPr/>
        </p:nvSpPr>
        <p:spPr>
          <a:xfrm rot="7496353">
            <a:off x="4626069" y="1953907"/>
            <a:ext cx="260878" cy="184666"/>
          </a:xfrm>
          <a:prstGeom prst="rect">
            <a:avLst/>
          </a:prstGeom>
          <a:noFill/>
        </p:spPr>
        <p:txBody>
          <a:bodyPr wrap="square" rtlCol="0">
            <a:spAutoFit/>
          </a:bodyPr>
          <a:lstStyle/>
          <a:p>
            <a:r>
              <a:rPr lang="tr-TR" sz="600" dirty="0">
                <a:solidFill>
                  <a:schemeClr val="tx1">
                    <a:lumMod val="85000"/>
                    <a:lumOff val="15000"/>
                  </a:schemeClr>
                </a:solidFill>
              </a:rPr>
              <a:t>35</a:t>
            </a:r>
          </a:p>
        </p:txBody>
      </p:sp>
      <p:sp>
        <p:nvSpPr>
          <p:cNvPr id="95" name="Metin kutusu 94">
            <a:extLst>
              <a:ext uri="{FF2B5EF4-FFF2-40B4-BE49-F238E27FC236}">
                <a16:creationId xmlns:a16="http://schemas.microsoft.com/office/drawing/2014/main" id="{8CCE5457-6399-4798-A0C3-1FC816194B21}"/>
              </a:ext>
            </a:extLst>
          </p:cNvPr>
          <p:cNvSpPr txBox="1"/>
          <p:nvPr/>
        </p:nvSpPr>
        <p:spPr>
          <a:xfrm>
            <a:off x="4933744" y="862451"/>
            <a:ext cx="1997256" cy="1692771"/>
          </a:xfrm>
          <a:prstGeom prst="rect">
            <a:avLst/>
          </a:prstGeom>
          <a:noFill/>
        </p:spPr>
        <p:txBody>
          <a:bodyPr wrap="square" rtlCol="0">
            <a:spAutoFit/>
          </a:bodyPr>
          <a:lstStyle/>
          <a:p>
            <a:pPr marL="171450" indent="-171450">
              <a:buFont typeface="Arial" panose="020B0604020202020204" pitchFamily="34" charset="0"/>
              <a:buChar char="•"/>
            </a:pPr>
            <a:r>
              <a:rPr lang="tr-TR" sz="800" noProof="1"/>
              <a:t>Tartı üstüne ağırlık konulduğunda ibre ağırlığı kadar x yönünde dönmektedir. Ağırlık tartı üstünden kaldırılınca ibre standart ayarına geri dönmektedir.</a:t>
            </a:r>
          </a:p>
          <a:p>
            <a:pPr marL="171450" indent="-171450">
              <a:buFont typeface="Arial" panose="020B0604020202020204" pitchFamily="34" charset="0"/>
              <a:buChar char="•"/>
            </a:pPr>
            <a:r>
              <a:rPr lang="tr-TR" sz="800" noProof="1"/>
              <a:t>İlk tartılışta ibre </a:t>
            </a:r>
            <a:r>
              <a:rPr lang="tr-TR" sz="800" u="sng" noProof="1"/>
              <a:t>yeni standart değerine </a:t>
            </a:r>
            <a:r>
              <a:rPr lang="tr-TR" sz="800" noProof="1"/>
              <a:t>göre 5 kg x yönünde, ikinci tartılışta birinciye göre 25 kg x yönünde , </a:t>
            </a:r>
          </a:p>
          <a:p>
            <a:r>
              <a:rPr lang="tr-TR" sz="800" noProof="1"/>
              <a:t>       üçüncü tartılışta ikinciye göre  </a:t>
            </a:r>
          </a:p>
          <a:p>
            <a:r>
              <a:rPr lang="tr-TR" sz="800" noProof="1"/>
              <a:t>        y yönünde 10 kg kayıyor.</a:t>
            </a:r>
          </a:p>
          <a:p>
            <a:pPr marL="171450" indent="-171450">
              <a:buFont typeface="Arial" panose="020B0604020202020204" pitchFamily="34" charset="0"/>
              <a:buChar char="•"/>
            </a:pPr>
            <a:r>
              <a:rPr lang="tr-TR" sz="800" noProof="1"/>
              <a:t>Ayarında oynanma sebebiyle 120 kg değerinden başlayan tartıya 3 arkadaş ayrı ayrı tartılıyor ve şu diyaloglar geçiyor.</a:t>
            </a:r>
          </a:p>
        </p:txBody>
      </p:sp>
      <p:sp>
        <p:nvSpPr>
          <p:cNvPr id="96" name="Metin kutusu 95">
            <a:extLst>
              <a:ext uri="{FF2B5EF4-FFF2-40B4-BE49-F238E27FC236}">
                <a16:creationId xmlns:a16="http://schemas.microsoft.com/office/drawing/2014/main" id="{2146F055-A82F-47B5-9A57-466438DCCA0D}"/>
              </a:ext>
            </a:extLst>
          </p:cNvPr>
          <p:cNvSpPr txBox="1"/>
          <p:nvPr/>
        </p:nvSpPr>
        <p:spPr>
          <a:xfrm rot="9329228">
            <a:off x="4398493" y="2110333"/>
            <a:ext cx="349760" cy="184666"/>
          </a:xfrm>
          <a:prstGeom prst="rect">
            <a:avLst/>
          </a:prstGeom>
          <a:noFill/>
        </p:spPr>
        <p:txBody>
          <a:bodyPr wrap="square" rtlCol="0">
            <a:spAutoFit/>
          </a:bodyPr>
          <a:lstStyle/>
          <a:p>
            <a:r>
              <a:rPr lang="tr-TR" sz="600" dirty="0">
                <a:solidFill>
                  <a:schemeClr val="tx1">
                    <a:lumMod val="85000"/>
                    <a:lumOff val="15000"/>
                  </a:schemeClr>
                </a:solidFill>
              </a:rPr>
              <a:t>..….</a:t>
            </a:r>
          </a:p>
        </p:txBody>
      </p:sp>
      <p:sp>
        <p:nvSpPr>
          <p:cNvPr id="97" name="Oval 96">
            <a:extLst>
              <a:ext uri="{FF2B5EF4-FFF2-40B4-BE49-F238E27FC236}">
                <a16:creationId xmlns:a16="http://schemas.microsoft.com/office/drawing/2014/main" id="{DC2D19EB-999E-4509-AD3D-268C65DEB21E}"/>
              </a:ext>
            </a:extLst>
          </p:cNvPr>
          <p:cNvSpPr/>
          <p:nvPr/>
        </p:nvSpPr>
        <p:spPr>
          <a:xfrm>
            <a:off x="4311639" y="1621898"/>
            <a:ext cx="45719" cy="5116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p>
        </p:txBody>
      </p:sp>
      <p:pic>
        <p:nvPicPr>
          <p:cNvPr id="98" name="Picture 2" descr="C:\Users\Pc\AppData\Local\Microsoft\Windows\Temporary Internet Files\Content.IE5\GRK5B6ZB\Rotate-Arrow-Bottom-to-Right[1].png">
            <a:extLst>
              <a:ext uri="{FF2B5EF4-FFF2-40B4-BE49-F238E27FC236}">
                <a16:creationId xmlns:a16="http://schemas.microsoft.com/office/drawing/2014/main" id="{2DDD501D-30E7-427F-8672-081A57992DA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29671" y="1776199"/>
            <a:ext cx="176442" cy="153944"/>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3" descr="C:\Users\Pc\AppData\Local\Microsoft\Windows\Temporary Internet Files\Content.IE5\Y5CZX9ZW\arrow-309080_960_720[1].png">
            <a:extLst>
              <a:ext uri="{FF2B5EF4-FFF2-40B4-BE49-F238E27FC236}">
                <a16:creationId xmlns:a16="http://schemas.microsoft.com/office/drawing/2014/main" id="{906239BA-CF11-439E-BB24-6C0BD2FB41A3}"/>
              </a:ext>
            </a:extLst>
          </p:cNvPr>
          <p:cNvPicPr>
            <a:picLocks noChangeAspect="1" noChangeArrowheads="1"/>
          </p:cNvPicPr>
          <p:nvPr/>
        </p:nvPicPr>
        <p:blipFill>
          <a:blip r:embed="rId7" cstate="print">
            <a:duotone>
              <a:prstClr val="black"/>
              <a:schemeClr val="accent1">
                <a:tint val="45000"/>
                <a:satMod val="400000"/>
              </a:schemeClr>
            </a:duotone>
            <a:extLst>
              <a:ext uri="{BEBA8EAE-BF5A-486C-A8C5-ECC9F3942E4B}">
                <a14:imgProps xmlns:a14="http://schemas.microsoft.com/office/drawing/2010/main">
                  <a14:imgLayer r:embed="rId8">
                    <a14:imgEffect>
                      <a14:artisticCrisscrossEtching/>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087497" y="1776199"/>
            <a:ext cx="195509" cy="16580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0" name="Metin kutusu 99">
            <a:extLst>
              <a:ext uri="{FF2B5EF4-FFF2-40B4-BE49-F238E27FC236}">
                <a16:creationId xmlns:a16="http://schemas.microsoft.com/office/drawing/2014/main" id="{E69514C7-6CFA-47D7-8C8F-0CE2561D3479}"/>
              </a:ext>
            </a:extLst>
          </p:cNvPr>
          <p:cNvSpPr txBox="1"/>
          <p:nvPr/>
        </p:nvSpPr>
        <p:spPr>
          <a:xfrm>
            <a:off x="3699082" y="1534563"/>
            <a:ext cx="981404" cy="276999"/>
          </a:xfrm>
          <a:prstGeom prst="rect">
            <a:avLst/>
          </a:prstGeom>
          <a:noFill/>
        </p:spPr>
        <p:txBody>
          <a:bodyPr wrap="square" rtlCol="0">
            <a:spAutoFit/>
          </a:bodyPr>
          <a:lstStyle/>
          <a:p>
            <a:r>
              <a:rPr lang="tr-TR" sz="600" dirty="0">
                <a:solidFill>
                  <a:schemeClr val="tx1">
                    <a:lumMod val="85000"/>
                    <a:lumOff val="15000"/>
                  </a:schemeClr>
                </a:solidFill>
              </a:rPr>
              <a:t>         Y yönü</a:t>
            </a:r>
          </a:p>
          <a:p>
            <a:r>
              <a:rPr lang="tr-TR" sz="600" dirty="0">
                <a:solidFill>
                  <a:schemeClr val="tx1">
                    <a:lumMod val="85000"/>
                    <a:lumOff val="15000"/>
                  </a:schemeClr>
                </a:solidFill>
              </a:rPr>
              <a:t>(Saat yönü Tersi)</a:t>
            </a:r>
          </a:p>
        </p:txBody>
      </p:sp>
      <p:sp>
        <p:nvSpPr>
          <p:cNvPr id="101" name="Metin kutusu 100">
            <a:extLst>
              <a:ext uri="{FF2B5EF4-FFF2-40B4-BE49-F238E27FC236}">
                <a16:creationId xmlns:a16="http://schemas.microsoft.com/office/drawing/2014/main" id="{7CC58972-C416-4A77-8B30-AE7EEE44B94A}"/>
              </a:ext>
            </a:extLst>
          </p:cNvPr>
          <p:cNvSpPr txBox="1"/>
          <p:nvPr/>
        </p:nvSpPr>
        <p:spPr>
          <a:xfrm>
            <a:off x="4305062" y="1527666"/>
            <a:ext cx="591606" cy="276999"/>
          </a:xfrm>
          <a:prstGeom prst="rect">
            <a:avLst/>
          </a:prstGeom>
          <a:noFill/>
        </p:spPr>
        <p:txBody>
          <a:bodyPr wrap="square" rtlCol="0">
            <a:spAutoFit/>
          </a:bodyPr>
          <a:lstStyle/>
          <a:p>
            <a:pPr algn="ctr"/>
            <a:r>
              <a:rPr lang="tr-TR" sz="600" dirty="0">
                <a:solidFill>
                  <a:schemeClr val="tx1">
                    <a:lumMod val="85000"/>
                    <a:lumOff val="15000"/>
                  </a:schemeClr>
                </a:solidFill>
              </a:rPr>
              <a:t>X yönü</a:t>
            </a:r>
          </a:p>
          <a:p>
            <a:pPr algn="ctr"/>
            <a:r>
              <a:rPr lang="tr-TR" sz="600" dirty="0">
                <a:solidFill>
                  <a:schemeClr val="tx1">
                    <a:lumMod val="85000"/>
                    <a:lumOff val="15000"/>
                  </a:schemeClr>
                </a:solidFill>
              </a:rPr>
              <a:t>(Saat Yönü)</a:t>
            </a:r>
          </a:p>
        </p:txBody>
      </p:sp>
      <p:sp>
        <p:nvSpPr>
          <p:cNvPr id="102" name="Metin kutusu 101">
            <a:extLst>
              <a:ext uri="{FF2B5EF4-FFF2-40B4-BE49-F238E27FC236}">
                <a16:creationId xmlns:a16="http://schemas.microsoft.com/office/drawing/2014/main" id="{D8F57789-00C1-4D54-AA4B-7585C423FEC2}"/>
              </a:ext>
            </a:extLst>
          </p:cNvPr>
          <p:cNvSpPr txBox="1"/>
          <p:nvPr/>
        </p:nvSpPr>
        <p:spPr>
          <a:xfrm>
            <a:off x="3534742" y="2578045"/>
            <a:ext cx="3270481" cy="923330"/>
          </a:xfrm>
          <a:prstGeom prst="rect">
            <a:avLst/>
          </a:prstGeom>
          <a:solidFill>
            <a:srgbClr val="CCFFFF"/>
          </a:solidFill>
          <a:effectLst>
            <a:outerShdw blurRad="40000" dist="20000" dir="5400000" rotWithShape="0">
              <a:srgbClr val="000000">
                <a:alpha val="38000"/>
              </a:srgbClr>
            </a:outerShdw>
            <a:softEdge rad="31750"/>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tr-TR" sz="900" b="1" noProof="1">
                <a:solidFill>
                  <a:schemeClr val="tx1"/>
                </a:solidFill>
              </a:rPr>
              <a:t>Sevgi</a:t>
            </a:r>
            <a:r>
              <a:rPr lang="tr-TR" sz="900" noProof="1">
                <a:solidFill>
                  <a:schemeClr val="tx1"/>
                </a:solidFill>
              </a:rPr>
              <a:t> : 55 kiloyum fakat 50 gösteriyor.</a:t>
            </a:r>
          </a:p>
          <a:p>
            <a:r>
              <a:rPr lang="tr-TR" sz="900" b="1" noProof="1">
                <a:solidFill>
                  <a:schemeClr val="tx1"/>
                </a:solidFill>
              </a:rPr>
              <a:t>Alp</a:t>
            </a:r>
            <a:r>
              <a:rPr lang="tr-TR" sz="900" noProof="1">
                <a:solidFill>
                  <a:schemeClr val="tx1"/>
                </a:solidFill>
              </a:rPr>
              <a:t> : 10 kiloluk değişim var bende de.</a:t>
            </a:r>
          </a:p>
          <a:p>
            <a:r>
              <a:rPr lang="tr-TR" sz="900" b="1" noProof="1">
                <a:solidFill>
                  <a:schemeClr val="tx1"/>
                </a:solidFill>
              </a:rPr>
              <a:t>Sevim</a:t>
            </a:r>
            <a:r>
              <a:rPr lang="tr-TR" sz="900" noProof="1">
                <a:solidFill>
                  <a:schemeClr val="tx1"/>
                </a:solidFill>
              </a:rPr>
              <a:t>: Bariz bozuk bu 20 kilo fazla gösteriyor.</a:t>
            </a:r>
          </a:p>
          <a:p>
            <a:endParaRPr lang="tr-TR" sz="900" noProof="1">
              <a:solidFill>
                <a:schemeClr val="tx1"/>
              </a:solidFill>
            </a:endParaRPr>
          </a:p>
          <a:p>
            <a:r>
              <a:rPr lang="tr-TR" sz="900" i="1" noProof="1">
                <a:solidFill>
                  <a:schemeClr val="tx1"/>
                </a:solidFill>
              </a:rPr>
              <a:t>Not : Çocukların üstlerindeki aksesurlar ve elbiselerin ağırlıklarının önemi yoktur.</a:t>
            </a:r>
          </a:p>
        </p:txBody>
      </p:sp>
      <p:sp>
        <p:nvSpPr>
          <p:cNvPr id="103" name="Metin kutusu 102">
            <a:extLst>
              <a:ext uri="{FF2B5EF4-FFF2-40B4-BE49-F238E27FC236}">
                <a16:creationId xmlns:a16="http://schemas.microsoft.com/office/drawing/2014/main" id="{910EC3C7-F943-48E6-928B-9545EB2D98C4}"/>
              </a:ext>
            </a:extLst>
          </p:cNvPr>
          <p:cNvSpPr txBox="1"/>
          <p:nvPr/>
        </p:nvSpPr>
        <p:spPr>
          <a:xfrm>
            <a:off x="3518825" y="3513123"/>
            <a:ext cx="3343488" cy="230832"/>
          </a:xfrm>
          <a:prstGeom prst="rect">
            <a:avLst/>
          </a:prstGeom>
          <a:noFill/>
        </p:spPr>
        <p:txBody>
          <a:bodyPr wrap="square" rtlCol="0">
            <a:spAutoFit/>
          </a:bodyPr>
          <a:lstStyle/>
          <a:p>
            <a:r>
              <a:rPr lang="tr-TR" sz="900" b="1" noProof="1"/>
              <a:t>Buna göre tartılma sıraları aşağıdakilerden hangisidir? </a:t>
            </a:r>
          </a:p>
        </p:txBody>
      </p:sp>
      <p:sp>
        <p:nvSpPr>
          <p:cNvPr id="104" name="Metin kutusu 103">
            <a:extLst>
              <a:ext uri="{FF2B5EF4-FFF2-40B4-BE49-F238E27FC236}">
                <a16:creationId xmlns:a16="http://schemas.microsoft.com/office/drawing/2014/main" id="{9A762579-B4D7-493C-B8B4-65BA71A43D0C}"/>
              </a:ext>
            </a:extLst>
          </p:cNvPr>
          <p:cNvSpPr txBox="1"/>
          <p:nvPr/>
        </p:nvSpPr>
        <p:spPr>
          <a:xfrm>
            <a:off x="3519606" y="3704412"/>
            <a:ext cx="3239032" cy="784830"/>
          </a:xfrm>
          <a:prstGeom prst="rect">
            <a:avLst/>
          </a:prstGeom>
          <a:noFill/>
        </p:spPr>
        <p:txBody>
          <a:bodyPr wrap="square" rtlCol="0">
            <a:spAutoFit/>
          </a:bodyPr>
          <a:lstStyle/>
          <a:p>
            <a:pPr marL="228600" indent="-228600">
              <a:buAutoNum type="alphaUcParenR"/>
            </a:pPr>
            <a:r>
              <a:rPr lang="tr-TR" sz="900" noProof="1"/>
              <a:t>Sevgi, Sevim, Alp</a:t>
            </a:r>
          </a:p>
          <a:p>
            <a:pPr marL="228600" indent="-228600">
              <a:buAutoNum type="alphaUcParenR"/>
            </a:pPr>
            <a:r>
              <a:rPr lang="tr-TR" sz="900" noProof="1"/>
              <a:t>Sevim, Sevgi, Alp</a:t>
            </a:r>
          </a:p>
          <a:p>
            <a:pPr marL="228600" indent="-228600">
              <a:buAutoNum type="alphaUcParenR"/>
            </a:pPr>
            <a:r>
              <a:rPr lang="tr-TR" sz="900" noProof="1"/>
              <a:t>Alp, Sevim, Sevgi</a:t>
            </a:r>
          </a:p>
          <a:p>
            <a:pPr marL="228600" indent="-228600">
              <a:buAutoNum type="alphaUcParenR"/>
            </a:pPr>
            <a:r>
              <a:rPr lang="tr-TR" sz="900" noProof="1"/>
              <a:t>Sevgi, Alp, Sevim</a:t>
            </a:r>
          </a:p>
          <a:p>
            <a:pPr marL="228600" indent="-228600">
              <a:buAutoNum type="alphaUcParenR"/>
            </a:pPr>
            <a:r>
              <a:rPr lang="tr-TR" sz="900" noProof="1"/>
              <a:t>Alp, Sevgi, Sevim</a:t>
            </a:r>
          </a:p>
        </p:txBody>
      </p:sp>
      <p:pic>
        <p:nvPicPr>
          <p:cNvPr id="105" name="Resim 104">
            <a:extLst>
              <a:ext uri="{FF2B5EF4-FFF2-40B4-BE49-F238E27FC236}">
                <a16:creationId xmlns:a16="http://schemas.microsoft.com/office/drawing/2014/main" id="{BA1B1820-0A92-4E5E-AC69-C42D0DBFA827}"/>
              </a:ext>
            </a:extLst>
          </p:cNvPr>
          <p:cNvPicPr>
            <a:picLocks noChangeAspect="1"/>
          </p:cNvPicPr>
          <p:nvPr/>
        </p:nvPicPr>
        <p:blipFill>
          <a:blip r:embed="rId9" cstate="print">
            <a:extLst>
              <a:ext uri="{BEBA8EAE-BF5A-486C-A8C5-ECC9F3942E4B}">
                <a14:imgProps xmlns:a14="http://schemas.microsoft.com/office/drawing/2010/main">
                  <a14:imgLayer r:embed="rId10">
                    <a14:imgEffect>
                      <a14:sharpenSoften amount="10000"/>
                    </a14:imgEffect>
                    <a14:imgEffect>
                      <a14:colorTemperature colorTemp="7750"/>
                    </a14:imgEffect>
                    <a14:imgEffect>
                      <a14:saturation sat="145000"/>
                    </a14:imgEffect>
                    <a14:imgEffect>
                      <a14:brightnessContrast bright="3000"/>
                    </a14:imgEffect>
                  </a14:imgLayer>
                </a14:imgProps>
              </a:ext>
              <a:ext uri="{28A0092B-C50C-407E-A947-70E740481C1C}">
                <a14:useLocalDpi xmlns:a14="http://schemas.microsoft.com/office/drawing/2010/main" val="0"/>
              </a:ext>
            </a:extLst>
          </a:blip>
          <a:stretch>
            <a:fillRect/>
          </a:stretch>
        </p:blipFill>
        <p:spPr>
          <a:xfrm>
            <a:off x="3594846" y="2064231"/>
            <a:ext cx="315525" cy="315525"/>
          </a:xfrm>
          <a:prstGeom prst="rect">
            <a:avLst/>
          </a:prstGeom>
          <a:effectLst>
            <a:outerShdw blurRad="50800" dist="50800" dir="5400000" algn="ctr" rotWithShape="0">
              <a:srgbClr val="000000">
                <a:alpha val="0"/>
              </a:srgbClr>
            </a:outerShdw>
          </a:effectLst>
        </p:spPr>
      </p:pic>
      <p:sp>
        <p:nvSpPr>
          <p:cNvPr id="106" name="Metin kutusu 105">
            <a:extLst>
              <a:ext uri="{FF2B5EF4-FFF2-40B4-BE49-F238E27FC236}">
                <a16:creationId xmlns:a16="http://schemas.microsoft.com/office/drawing/2014/main" id="{504D0B6F-A398-4579-A6AD-2DBE3731EEA0}"/>
              </a:ext>
            </a:extLst>
          </p:cNvPr>
          <p:cNvSpPr txBox="1"/>
          <p:nvPr/>
        </p:nvSpPr>
        <p:spPr>
          <a:xfrm rot="19628109">
            <a:off x="3823622" y="1089341"/>
            <a:ext cx="303367" cy="184666"/>
          </a:xfrm>
          <a:prstGeom prst="rect">
            <a:avLst/>
          </a:prstGeom>
          <a:noFill/>
        </p:spPr>
        <p:txBody>
          <a:bodyPr wrap="square" rtlCol="0">
            <a:spAutoFit/>
          </a:bodyPr>
          <a:lstStyle/>
          <a:p>
            <a:r>
              <a:rPr lang="tr-TR" sz="600" dirty="0">
                <a:solidFill>
                  <a:schemeClr val="tx1">
                    <a:lumMod val="85000"/>
                    <a:lumOff val="15000"/>
                  </a:schemeClr>
                </a:solidFill>
              </a:rPr>
              <a:t>120</a:t>
            </a:r>
          </a:p>
        </p:txBody>
      </p:sp>
      <p:sp>
        <p:nvSpPr>
          <p:cNvPr id="108" name="Metin kutusu 107">
            <a:extLst>
              <a:ext uri="{FF2B5EF4-FFF2-40B4-BE49-F238E27FC236}">
                <a16:creationId xmlns:a16="http://schemas.microsoft.com/office/drawing/2014/main" id="{AECBDD98-F366-4B50-9DD7-439475AED93B}"/>
              </a:ext>
            </a:extLst>
          </p:cNvPr>
          <p:cNvSpPr txBox="1"/>
          <p:nvPr/>
        </p:nvSpPr>
        <p:spPr>
          <a:xfrm>
            <a:off x="3982011" y="2352263"/>
            <a:ext cx="1071762" cy="138499"/>
          </a:xfrm>
          <a:prstGeom prst="rect">
            <a:avLst/>
          </a:prstGeom>
          <a:noFill/>
        </p:spPr>
        <p:txBody>
          <a:bodyPr wrap="square" rtlCol="0">
            <a:spAutoFit/>
          </a:bodyPr>
          <a:lstStyle/>
          <a:p>
            <a:pPr algn="r"/>
            <a:r>
              <a:rPr lang="tr-TR" sz="300" b="1" noProof="1">
                <a:solidFill>
                  <a:schemeClr val="tx1">
                    <a:lumMod val="85000"/>
                    <a:lumOff val="15000"/>
                  </a:schemeClr>
                </a:solidFill>
              </a:rPr>
              <a:t>MADE İN TURKEY</a:t>
            </a:r>
          </a:p>
        </p:txBody>
      </p:sp>
      <p:pic>
        <p:nvPicPr>
          <p:cNvPr id="3" name="Grafik 2">
            <a:extLst>
              <a:ext uri="{FF2B5EF4-FFF2-40B4-BE49-F238E27FC236}">
                <a16:creationId xmlns:a16="http://schemas.microsoft.com/office/drawing/2014/main" id="{4C53EF5A-32D4-4341-A6B2-6075CFAA49F0}"/>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08198" y="40474"/>
            <a:ext cx="413615" cy="413615"/>
          </a:xfrm>
          <a:prstGeom prst="rect">
            <a:avLst/>
          </a:prstGeom>
        </p:spPr>
      </p:pic>
      <p:sp>
        <p:nvSpPr>
          <p:cNvPr id="59" name="Metin kutusu 58">
            <a:extLst>
              <a:ext uri="{FF2B5EF4-FFF2-40B4-BE49-F238E27FC236}">
                <a16:creationId xmlns:a16="http://schemas.microsoft.com/office/drawing/2014/main" id="{4F40AF24-D561-41BE-9726-A2DC1254701D}"/>
              </a:ext>
            </a:extLst>
          </p:cNvPr>
          <p:cNvSpPr txBox="1"/>
          <p:nvPr/>
        </p:nvSpPr>
        <p:spPr>
          <a:xfrm>
            <a:off x="5007821" y="227649"/>
            <a:ext cx="1214368" cy="200055"/>
          </a:xfrm>
          <a:prstGeom prst="rect">
            <a:avLst/>
          </a:prstGeom>
          <a:noFill/>
        </p:spPr>
        <p:txBody>
          <a:bodyPr wrap="square" rtlCol="0">
            <a:spAutoFit/>
          </a:bodyPr>
          <a:lstStyle/>
          <a:p>
            <a:pPr algn="ctr"/>
            <a:r>
              <a:rPr lang="tr-TR" sz="700" b="1" noProof="1">
                <a:latin typeface="Arial Narrow" panose="020B0606020202030204" pitchFamily="34" charset="0"/>
                <a:cs typeface="Arial" panose="020B0604020202020204" pitchFamily="34" charset="0"/>
              </a:rPr>
              <a:t>5 dk</a:t>
            </a:r>
          </a:p>
        </p:txBody>
      </p:sp>
      <p:sp>
        <p:nvSpPr>
          <p:cNvPr id="7" name="Akış Çizelgesi: Belge 6">
            <a:extLst>
              <a:ext uri="{FF2B5EF4-FFF2-40B4-BE49-F238E27FC236}">
                <a16:creationId xmlns:a16="http://schemas.microsoft.com/office/drawing/2014/main" id="{7B174D53-B9F5-41ED-B2B2-BE528EE557DA}"/>
              </a:ext>
            </a:extLst>
          </p:cNvPr>
          <p:cNvSpPr/>
          <p:nvPr/>
        </p:nvSpPr>
        <p:spPr>
          <a:xfrm>
            <a:off x="4578850" y="30362"/>
            <a:ext cx="796038" cy="413520"/>
          </a:xfrm>
          <a:prstGeom prst="flowChartDocument">
            <a:avLst/>
          </a:prstGeom>
          <a:solidFill>
            <a:schemeClr val="accent6">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0" name="Metin kutusu 59">
            <a:extLst>
              <a:ext uri="{FF2B5EF4-FFF2-40B4-BE49-F238E27FC236}">
                <a16:creationId xmlns:a16="http://schemas.microsoft.com/office/drawing/2014/main" id="{44ED6ED1-4256-42F4-998C-0677BA7E118A}"/>
              </a:ext>
            </a:extLst>
          </p:cNvPr>
          <p:cNvSpPr txBox="1"/>
          <p:nvPr/>
        </p:nvSpPr>
        <p:spPr>
          <a:xfrm>
            <a:off x="4502058" y="30463"/>
            <a:ext cx="884125" cy="369332"/>
          </a:xfrm>
          <a:prstGeom prst="rect">
            <a:avLst/>
          </a:prstGeom>
          <a:noFill/>
        </p:spPr>
        <p:txBody>
          <a:bodyPr wrap="square" rtlCol="0">
            <a:spAutoFit/>
          </a:bodyPr>
          <a:lstStyle/>
          <a:p>
            <a:pPr algn="r"/>
            <a:r>
              <a:rPr lang="tr-TR" sz="600" b="1" noProof="1">
                <a:latin typeface="Arial Narrow" panose="020B0606020202030204" pitchFamily="34" charset="0"/>
                <a:cs typeface="Arial" panose="020B0604020202020204" pitchFamily="34" charset="0"/>
              </a:rPr>
              <a:t>Yapamadığın </a:t>
            </a:r>
            <a:r>
              <a:rPr lang="tr-TR" sz="600" b="1" u="sng" noProof="1">
                <a:latin typeface="Arial Narrow" panose="020B0606020202030204" pitchFamily="34" charset="0"/>
                <a:cs typeface="Arial" panose="020B0604020202020204" pitchFamily="34" charset="0"/>
              </a:rPr>
              <a:t>her</a:t>
            </a:r>
            <a:r>
              <a:rPr lang="tr-TR" sz="600" b="1" noProof="1">
                <a:latin typeface="Arial Narrow" panose="020B0606020202030204" pitchFamily="34" charset="0"/>
                <a:cs typeface="Arial" panose="020B0604020202020204" pitchFamily="34" charset="0"/>
              </a:rPr>
              <a:t> soru için 5 dakika uğraş, seni çok geliştirecektir. </a:t>
            </a:r>
          </a:p>
        </p:txBody>
      </p:sp>
    </p:spTree>
    <p:extLst>
      <p:ext uri="{BB962C8B-B14F-4D97-AF65-F5344CB8AC3E}">
        <p14:creationId xmlns:p14="http://schemas.microsoft.com/office/powerpoint/2010/main" val="3539104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1B40F82D-5A6D-432E-93CA-C8C5ECF14C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1384268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cxnSp>
        <p:nvCxnSpPr>
          <p:cNvPr id="63" name="Düz Bağlayıcı 62">
            <a:extLst>
              <a:ext uri="{FF2B5EF4-FFF2-40B4-BE49-F238E27FC236}">
                <a16:creationId xmlns:a16="http://schemas.microsoft.com/office/drawing/2014/main" id="{1D4B3BAF-3E8D-4FF0-A480-F453CC8928FA}"/>
              </a:ext>
            </a:extLst>
          </p:cNvPr>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64" name="Düz Bağlayıcı 63">
            <a:extLst>
              <a:ext uri="{FF2B5EF4-FFF2-40B4-BE49-F238E27FC236}">
                <a16:creationId xmlns:a16="http://schemas.microsoft.com/office/drawing/2014/main" id="{7B5CFA89-27DB-40CA-B98B-334B90FD0D33}"/>
              </a:ext>
            </a:extLst>
          </p:cNvPr>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162706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Hareket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85381" y="495716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15269" y="3226407"/>
            <a:ext cx="3422734" cy="553998"/>
          </a:xfrm>
          <a:prstGeom prst="rect">
            <a:avLst/>
          </a:prstGeom>
          <a:noFill/>
        </p:spPr>
        <p:txBody>
          <a:bodyPr wrap="square" rtlCol="0">
            <a:spAutoFit/>
          </a:bodyPr>
          <a:lstStyle/>
          <a:p>
            <a:r>
              <a:rPr lang="tr-TR" sz="1000" noProof="1"/>
              <a:t>A) 16                                        B) 20                                        C) 32</a:t>
            </a:r>
          </a:p>
          <a:p>
            <a:pPr marL="228600" indent="-228600">
              <a:buAutoNum type="alphaUcParenR"/>
            </a:pPr>
            <a:endParaRPr lang="tr-TR" sz="1000" noProof="1"/>
          </a:p>
          <a:p>
            <a:r>
              <a:rPr lang="tr-TR" sz="1000" noProof="1"/>
              <a:t>                      D) 36                                         E) 42</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08227" y="208766"/>
            <a:ext cx="1523698"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400110"/>
          </a:xfrm>
          <a:prstGeom prst="rect">
            <a:avLst/>
          </a:prstGeom>
          <a:noFill/>
        </p:spPr>
        <p:txBody>
          <a:bodyPr wrap="square" rtlCol="0">
            <a:spAutoFit/>
          </a:bodyPr>
          <a:lstStyle/>
          <a:p>
            <a:r>
              <a:rPr lang="tr-TR" sz="1000" noProof="1">
                <a:cs typeface="Arial" panose="020B0604020202020204" pitchFamily="34" charset="0"/>
              </a:rPr>
              <a:t>Aşağıda aynı hizzada bulunan ve ok yönünde aynı anda harekete başlayacak A ve B araçları dairesel pistte verilmiştir.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1.B    2.X    3.X    4.X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69907" y="4987941"/>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83D1573E-2AA3-4174-AD59-62EE321090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
        <p:nvSpPr>
          <p:cNvPr id="2" name="Oval 1">
            <a:extLst>
              <a:ext uri="{FF2B5EF4-FFF2-40B4-BE49-F238E27FC236}">
                <a16:creationId xmlns:a16="http://schemas.microsoft.com/office/drawing/2014/main" id="{D86D7FBE-8B9C-4723-8E7C-FEFA35EF6126}"/>
              </a:ext>
            </a:extLst>
          </p:cNvPr>
          <p:cNvSpPr/>
          <p:nvPr/>
        </p:nvSpPr>
        <p:spPr>
          <a:xfrm>
            <a:off x="474733" y="934525"/>
            <a:ext cx="1152128" cy="1152128"/>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76B6BBAA-FF1C-4D4C-8628-0F2A57F53AC4}"/>
              </a:ext>
            </a:extLst>
          </p:cNvPr>
          <p:cNvSpPr/>
          <p:nvPr/>
        </p:nvSpPr>
        <p:spPr>
          <a:xfrm>
            <a:off x="582745" y="1046784"/>
            <a:ext cx="936104" cy="932166"/>
          </a:xfrm>
          <a:prstGeom prst="ellipse">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pic>
        <p:nvPicPr>
          <p:cNvPr id="4" name="Grafik 3">
            <a:extLst>
              <a:ext uri="{FF2B5EF4-FFF2-40B4-BE49-F238E27FC236}">
                <a16:creationId xmlns:a16="http://schemas.microsoft.com/office/drawing/2014/main" id="{D468473A-E3E6-4104-8F82-EC911B65219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18196" y="820093"/>
            <a:ext cx="255861" cy="255861"/>
          </a:xfrm>
          <a:prstGeom prst="rect">
            <a:avLst/>
          </a:prstGeom>
        </p:spPr>
      </p:pic>
      <p:sp>
        <p:nvSpPr>
          <p:cNvPr id="7" name="Oval 6">
            <a:extLst>
              <a:ext uri="{FF2B5EF4-FFF2-40B4-BE49-F238E27FC236}">
                <a16:creationId xmlns:a16="http://schemas.microsoft.com/office/drawing/2014/main" id="{4F7822E9-4113-428F-A318-B10604ECCC5C}"/>
              </a:ext>
            </a:extLst>
          </p:cNvPr>
          <p:cNvSpPr/>
          <p:nvPr/>
        </p:nvSpPr>
        <p:spPr>
          <a:xfrm>
            <a:off x="989365" y="939081"/>
            <a:ext cx="108012" cy="98189"/>
          </a:xfrm>
          <a:prstGeom prst="ellipse">
            <a:avLst/>
          </a:prstGeom>
          <a:solidFill>
            <a:schemeClr val="tx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1" name="Metin kutusu 40">
            <a:extLst>
              <a:ext uri="{FF2B5EF4-FFF2-40B4-BE49-F238E27FC236}">
                <a16:creationId xmlns:a16="http://schemas.microsoft.com/office/drawing/2014/main" id="{E70698DF-0F7A-469A-9CE0-C61F37658026}"/>
              </a:ext>
            </a:extLst>
          </p:cNvPr>
          <p:cNvSpPr txBox="1"/>
          <p:nvPr/>
        </p:nvSpPr>
        <p:spPr>
          <a:xfrm>
            <a:off x="708826" y="905895"/>
            <a:ext cx="1077504" cy="246221"/>
          </a:xfrm>
          <a:prstGeom prst="rect">
            <a:avLst/>
          </a:prstGeom>
          <a:noFill/>
        </p:spPr>
        <p:txBody>
          <a:bodyPr wrap="square" rtlCol="0">
            <a:spAutoFit/>
          </a:bodyPr>
          <a:lstStyle/>
          <a:p>
            <a:r>
              <a:rPr lang="tr-TR" sz="1000" noProof="1">
                <a:solidFill>
                  <a:srgbClr val="002060"/>
                </a:solidFill>
                <a:cs typeface="Arial" panose="020B0604020202020204" pitchFamily="34" charset="0"/>
              </a:rPr>
              <a:t>A             B</a:t>
            </a:r>
          </a:p>
        </p:txBody>
      </p:sp>
      <p:sp>
        <p:nvSpPr>
          <p:cNvPr id="55" name="Metin kutusu 54">
            <a:extLst>
              <a:ext uri="{FF2B5EF4-FFF2-40B4-BE49-F238E27FC236}">
                <a16:creationId xmlns:a16="http://schemas.microsoft.com/office/drawing/2014/main" id="{0953F050-BD6F-47BC-9521-DF19AB99B2DF}"/>
              </a:ext>
            </a:extLst>
          </p:cNvPr>
          <p:cNvSpPr txBox="1"/>
          <p:nvPr/>
        </p:nvSpPr>
        <p:spPr>
          <a:xfrm>
            <a:off x="-149" y="2113005"/>
            <a:ext cx="3422734" cy="1169551"/>
          </a:xfrm>
          <a:prstGeom prst="rect">
            <a:avLst/>
          </a:prstGeom>
          <a:noFill/>
        </p:spPr>
        <p:txBody>
          <a:bodyPr wrap="square" rtlCol="0">
            <a:spAutoFit/>
          </a:bodyPr>
          <a:lstStyle/>
          <a:p>
            <a:r>
              <a:rPr lang="tr-TR" sz="1000" noProof="1">
                <a:cs typeface="Arial" panose="020B0604020202020204" pitchFamily="34" charset="0"/>
              </a:rPr>
              <a:t>Aynı anda harekete başlayan bu iki araç A aracı B aracı ile karşılaşıncaya kadar belli bir süre mola vermektedir. B aracı ise A aracı ile karşılaşıncaya kadar mola vermemektedir. Her iki aracın hareketleri boyunca ortalama hızları saatte 120 km dir.</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B aracı 5 saatte A aracı ile karşılaştığına göre, A aracı toplam kaç dakika mola vermiştir?</a:t>
            </a:r>
          </a:p>
        </p:txBody>
      </p:sp>
      <p:sp>
        <p:nvSpPr>
          <p:cNvPr id="56" name="Metin kutusu 55">
            <a:extLst>
              <a:ext uri="{FF2B5EF4-FFF2-40B4-BE49-F238E27FC236}">
                <a16:creationId xmlns:a16="http://schemas.microsoft.com/office/drawing/2014/main" id="{0E8BB929-4639-49F6-80D3-81F82A6523A0}"/>
              </a:ext>
            </a:extLst>
          </p:cNvPr>
          <p:cNvSpPr txBox="1"/>
          <p:nvPr/>
        </p:nvSpPr>
        <p:spPr>
          <a:xfrm>
            <a:off x="1886633" y="1185103"/>
            <a:ext cx="1319740" cy="400110"/>
          </a:xfrm>
          <a:prstGeom prst="rect">
            <a:avLst/>
          </a:prstGeom>
          <a:noFill/>
          <a:ln w="31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tr-TR" sz="1000" noProof="1">
                <a:solidFill>
                  <a:srgbClr val="002060"/>
                </a:solidFill>
                <a:cs typeface="Arial" panose="020B0604020202020204" pitchFamily="34" charset="0"/>
              </a:rPr>
              <a:t>Dairesel Pist Çevresi</a:t>
            </a:r>
          </a:p>
          <a:p>
            <a:pPr algn="ctr"/>
            <a:r>
              <a:rPr lang="tr-TR" sz="1000" noProof="1">
                <a:solidFill>
                  <a:srgbClr val="002060"/>
                </a:solidFill>
                <a:cs typeface="Arial" panose="020B0604020202020204" pitchFamily="34" charset="0"/>
              </a:rPr>
              <a:t>1140 KM</a:t>
            </a:r>
          </a:p>
        </p:txBody>
      </p:sp>
      <p:pic>
        <p:nvPicPr>
          <p:cNvPr id="13" name="Grafik 12">
            <a:extLst>
              <a:ext uri="{FF2B5EF4-FFF2-40B4-BE49-F238E27FC236}">
                <a16:creationId xmlns:a16="http://schemas.microsoft.com/office/drawing/2014/main" id="{0C365814-96DE-48FC-90C5-37627E79DE9F}"/>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6468" y="842776"/>
            <a:ext cx="166194" cy="166194"/>
          </a:xfrm>
          <a:prstGeom prst="rect">
            <a:avLst/>
          </a:prstGeom>
        </p:spPr>
      </p:pic>
    </p:spTree>
    <p:extLst>
      <p:ext uri="{BB962C8B-B14F-4D97-AF65-F5344CB8AC3E}">
        <p14:creationId xmlns:p14="http://schemas.microsoft.com/office/powerpoint/2010/main" val="338396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Hareket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1B40F82D-5A6D-432E-93CA-C8C5ECF14C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2837820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Hareket Problemleri</a:t>
            </a:r>
          </a:p>
        </p:txBody>
      </p: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1842580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21948" y="261924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2011" y="4993655"/>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3692" y="5012206"/>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2417" y="4993655"/>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35992" y="745373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49539" y="240237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8996" y="5004048"/>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291153"/>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4815" y="484350"/>
            <a:ext cx="2375535" cy="200055"/>
          </a:xfrm>
          <a:prstGeom prst="rect">
            <a:avLst/>
          </a:prstGeom>
          <a:noFill/>
        </p:spPr>
        <p:txBody>
          <a:bodyPr wrap="square">
            <a:spAutoFit/>
          </a:bodyPr>
          <a:lstStyle/>
          <a:p>
            <a:pPr algn="ctr"/>
            <a:r>
              <a:rPr lang="tr-TR" sz="700" i="0" dirty="0">
                <a:effectLst/>
                <a:latin typeface="Arial Narrow" panose="020B0606020202030204" pitchFamily="34" charset="0"/>
              </a:rPr>
              <a:t>“Bir insanı layık olmadığı yere koymak zulümdür.”  Hz. Ali  </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91373" y="425670"/>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7468" y="461022"/>
            <a:ext cx="2375535" cy="200055"/>
          </a:xfrm>
          <a:prstGeom prst="rect">
            <a:avLst/>
          </a:prstGeom>
          <a:noFill/>
        </p:spPr>
        <p:txBody>
          <a:bodyPr wrap="square">
            <a:spAutoFit/>
          </a:bodyPr>
          <a:lstStyle/>
          <a:p>
            <a:r>
              <a:rPr lang="tr-TR" sz="700" i="0" dirty="0">
                <a:effectLst/>
                <a:latin typeface="Arial Narrow" panose="020B0606020202030204" pitchFamily="34" charset="0"/>
              </a:rPr>
              <a:t>“ x. ”  - Ahmet Çelen</a:t>
            </a:r>
            <a:endParaRPr lang="tr-TR" sz="700" dirty="0">
              <a:latin typeface="Arial Narrow" panose="020B0606020202030204" pitchFamily="34" charset="0"/>
            </a:endParaRPr>
          </a:p>
        </p:txBody>
      </p:sp>
      <p:sp>
        <p:nvSpPr>
          <p:cNvPr id="62" name="Metin kutusu 61">
            <a:extLst>
              <a:ext uri="{FF2B5EF4-FFF2-40B4-BE49-F238E27FC236}">
                <a16:creationId xmlns:a16="http://schemas.microsoft.com/office/drawing/2014/main" id="{00190D35-3C35-4A7B-8934-3372C2463A01}"/>
              </a:ext>
            </a:extLst>
          </p:cNvPr>
          <p:cNvSpPr txBox="1"/>
          <p:nvPr/>
        </p:nvSpPr>
        <p:spPr>
          <a:xfrm>
            <a:off x="59017" y="5297109"/>
            <a:ext cx="3369568" cy="861774"/>
          </a:xfrm>
          <a:prstGeom prst="rect">
            <a:avLst/>
          </a:prstGeom>
          <a:noFill/>
        </p:spPr>
        <p:txBody>
          <a:bodyPr wrap="square" rtlCol="0">
            <a:spAutoFit/>
          </a:bodyPr>
          <a:lstStyle/>
          <a:p>
            <a:pPr algn="ctr"/>
            <a:r>
              <a:rPr lang="tr-TR" sz="1000" noProof="1">
                <a:cs typeface="Arial" panose="020B0604020202020204" pitchFamily="34" charset="0"/>
              </a:rPr>
              <a:t>ÜNİVERSİTEYİKAZACANACAKSINIZ kelimesi yan yana yazılıyor.</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 ÜNİVERSİTEYİKAZACANACAKSINIZÜNİVERSİTEYİ…</a:t>
            </a:r>
          </a:p>
          <a:p>
            <a:endParaRPr lang="tr-TR" sz="1000" noProof="1">
              <a:cs typeface="Arial" panose="020B0604020202020204" pitchFamily="34" charset="0"/>
            </a:endParaRPr>
          </a:p>
          <a:p>
            <a:r>
              <a:rPr lang="tr-TR" sz="1000" b="1" noProof="1">
                <a:cs typeface="Arial" panose="020B0604020202020204" pitchFamily="34" charset="0"/>
              </a:rPr>
              <a:t>Buna göre, elde edilen harf dizesinin 49.harfi nedir?</a:t>
            </a:r>
          </a:p>
        </p:txBody>
      </p:sp>
      <p:sp>
        <p:nvSpPr>
          <p:cNvPr id="66" name="Metin kutusu 65">
            <a:extLst>
              <a:ext uri="{FF2B5EF4-FFF2-40B4-BE49-F238E27FC236}">
                <a16:creationId xmlns:a16="http://schemas.microsoft.com/office/drawing/2014/main" id="{EA432DC9-2442-4CF0-81C9-C31616F7FCBE}"/>
              </a:ext>
            </a:extLst>
          </p:cNvPr>
          <p:cNvSpPr txBox="1"/>
          <p:nvPr/>
        </p:nvSpPr>
        <p:spPr>
          <a:xfrm>
            <a:off x="55085" y="7725123"/>
            <a:ext cx="3363569" cy="1015663"/>
          </a:xfrm>
          <a:prstGeom prst="rect">
            <a:avLst/>
          </a:prstGeom>
          <a:noFill/>
        </p:spPr>
        <p:txBody>
          <a:bodyPr wrap="square" rtlCol="0">
            <a:spAutoFit/>
          </a:bodyPr>
          <a:lstStyle/>
          <a:p>
            <a:r>
              <a:rPr lang="tr-TR" sz="1000" noProof="1">
                <a:cs typeface="Arial" panose="020B0604020202020204" pitchFamily="34" charset="0"/>
              </a:rPr>
              <a:t>28 kelimeden oluşuyor bir kelime. 49.harf için 2 kere bu kelimeden yazmaya doğru ilerlemeliyiz. 49-28 = 21 yapmaktadır.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Periyot  burada 28 dir ve 49.harf için 1 kere yazdıktan sonra 21 harf daha yazmalıyız. Bu 21.harfde C harfidir.</a:t>
            </a:r>
            <a:endParaRPr lang="tr-TR" sz="1000" b="1" noProof="1">
              <a:cs typeface="Arial" panose="020B0604020202020204" pitchFamily="34" charset="0"/>
            </a:endParaRPr>
          </a:p>
        </p:txBody>
      </p:sp>
      <p:pic>
        <p:nvPicPr>
          <p:cNvPr id="10" name="Grafik 9">
            <a:extLst>
              <a:ext uri="{FF2B5EF4-FFF2-40B4-BE49-F238E27FC236}">
                <a16:creationId xmlns:a16="http://schemas.microsoft.com/office/drawing/2014/main" id="{FD5A84C6-B695-4103-A18E-0C75882DB7D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5603" y="894074"/>
            <a:ext cx="1048353" cy="1048353"/>
          </a:xfrm>
          <a:prstGeom prst="rect">
            <a:avLst/>
          </a:prstGeom>
        </p:spPr>
      </p:pic>
      <p:pic>
        <p:nvPicPr>
          <p:cNvPr id="13" name="Resim 12">
            <a:extLst>
              <a:ext uri="{FF2B5EF4-FFF2-40B4-BE49-F238E27FC236}">
                <a16:creationId xmlns:a16="http://schemas.microsoft.com/office/drawing/2014/main" id="{4C2B6E2F-3DC6-491B-81C5-1B1001D28D7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9096" y="1083794"/>
            <a:ext cx="665478" cy="642757"/>
          </a:xfrm>
          <a:prstGeom prst="rect">
            <a:avLst/>
          </a:prstGeom>
        </p:spPr>
      </p:pic>
      <p:sp>
        <p:nvSpPr>
          <p:cNvPr id="67" name="Metin kutusu 66">
            <a:extLst>
              <a:ext uri="{FF2B5EF4-FFF2-40B4-BE49-F238E27FC236}">
                <a16:creationId xmlns:a16="http://schemas.microsoft.com/office/drawing/2014/main" id="{DD8748DE-270A-4D84-B2E2-6B9AC5322638}"/>
              </a:ext>
            </a:extLst>
          </p:cNvPr>
          <p:cNvSpPr txBox="1"/>
          <p:nvPr/>
        </p:nvSpPr>
        <p:spPr>
          <a:xfrm>
            <a:off x="397355" y="844687"/>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1.</a:t>
            </a:r>
          </a:p>
        </p:txBody>
      </p:sp>
      <p:sp>
        <p:nvSpPr>
          <p:cNvPr id="68" name="Metin kutusu 67">
            <a:extLst>
              <a:ext uri="{FF2B5EF4-FFF2-40B4-BE49-F238E27FC236}">
                <a16:creationId xmlns:a16="http://schemas.microsoft.com/office/drawing/2014/main" id="{9559F765-E8F0-4647-9892-9EC9AF3CAFDA}"/>
              </a:ext>
            </a:extLst>
          </p:cNvPr>
          <p:cNvSpPr txBox="1"/>
          <p:nvPr/>
        </p:nvSpPr>
        <p:spPr>
          <a:xfrm>
            <a:off x="705965" y="959853"/>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2.</a:t>
            </a:r>
          </a:p>
        </p:txBody>
      </p:sp>
      <p:sp>
        <p:nvSpPr>
          <p:cNvPr id="69" name="Metin kutusu 68">
            <a:extLst>
              <a:ext uri="{FF2B5EF4-FFF2-40B4-BE49-F238E27FC236}">
                <a16:creationId xmlns:a16="http://schemas.microsoft.com/office/drawing/2014/main" id="{FB341EE5-26CF-40B1-BE3A-D406A0CDAEB7}"/>
              </a:ext>
            </a:extLst>
          </p:cNvPr>
          <p:cNvSpPr txBox="1"/>
          <p:nvPr/>
        </p:nvSpPr>
        <p:spPr>
          <a:xfrm>
            <a:off x="849032" y="1275079"/>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3.</a:t>
            </a:r>
          </a:p>
        </p:txBody>
      </p:sp>
      <p:sp>
        <p:nvSpPr>
          <p:cNvPr id="70" name="Metin kutusu 69">
            <a:extLst>
              <a:ext uri="{FF2B5EF4-FFF2-40B4-BE49-F238E27FC236}">
                <a16:creationId xmlns:a16="http://schemas.microsoft.com/office/drawing/2014/main" id="{CE5ABB7D-DB20-4B3D-BBA5-14C042080E47}"/>
              </a:ext>
            </a:extLst>
          </p:cNvPr>
          <p:cNvSpPr txBox="1"/>
          <p:nvPr/>
        </p:nvSpPr>
        <p:spPr>
          <a:xfrm>
            <a:off x="707606" y="1599178"/>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4.</a:t>
            </a:r>
          </a:p>
        </p:txBody>
      </p:sp>
      <p:sp>
        <p:nvSpPr>
          <p:cNvPr id="71" name="Metin kutusu 70">
            <a:extLst>
              <a:ext uri="{FF2B5EF4-FFF2-40B4-BE49-F238E27FC236}">
                <a16:creationId xmlns:a16="http://schemas.microsoft.com/office/drawing/2014/main" id="{F6DF4C31-97A7-4A43-AE5F-8C2121AE83D9}"/>
              </a:ext>
            </a:extLst>
          </p:cNvPr>
          <p:cNvSpPr txBox="1"/>
          <p:nvPr/>
        </p:nvSpPr>
        <p:spPr>
          <a:xfrm>
            <a:off x="392682" y="1716659"/>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5.</a:t>
            </a:r>
          </a:p>
        </p:txBody>
      </p:sp>
      <p:sp>
        <p:nvSpPr>
          <p:cNvPr id="72" name="Metin kutusu 71">
            <a:extLst>
              <a:ext uri="{FF2B5EF4-FFF2-40B4-BE49-F238E27FC236}">
                <a16:creationId xmlns:a16="http://schemas.microsoft.com/office/drawing/2014/main" id="{1DA9BC2F-774D-4D22-9FE8-1D5CF910E575}"/>
              </a:ext>
            </a:extLst>
          </p:cNvPr>
          <p:cNvSpPr txBox="1"/>
          <p:nvPr/>
        </p:nvSpPr>
        <p:spPr>
          <a:xfrm>
            <a:off x="100910" y="1595401"/>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7.</a:t>
            </a:r>
          </a:p>
        </p:txBody>
      </p:sp>
      <p:sp>
        <p:nvSpPr>
          <p:cNvPr id="73" name="Metin kutusu 72">
            <a:extLst>
              <a:ext uri="{FF2B5EF4-FFF2-40B4-BE49-F238E27FC236}">
                <a16:creationId xmlns:a16="http://schemas.microsoft.com/office/drawing/2014/main" id="{9E481773-851B-44CE-9171-45FE8AD331DF}"/>
              </a:ext>
            </a:extLst>
          </p:cNvPr>
          <p:cNvSpPr txBox="1"/>
          <p:nvPr/>
        </p:nvSpPr>
        <p:spPr>
          <a:xfrm>
            <a:off x="-32971" y="1284963"/>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8.</a:t>
            </a:r>
          </a:p>
        </p:txBody>
      </p:sp>
      <p:sp>
        <p:nvSpPr>
          <p:cNvPr id="74" name="Metin kutusu 73">
            <a:extLst>
              <a:ext uri="{FF2B5EF4-FFF2-40B4-BE49-F238E27FC236}">
                <a16:creationId xmlns:a16="http://schemas.microsoft.com/office/drawing/2014/main" id="{89ED2884-3F54-4716-A9E2-E21C16CE7FC9}"/>
              </a:ext>
            </a:extLst>
          </p:cNvPr>
          <p:cNvSpPr txBox="1"/>
          <p:nvPr/>
        </p:nvSpPr>
        <p:spPr>
          <a:xfrm>
            <a:off x="91994" y="968991"/>
            <a:ext cx="539959" cy="266352"/>
          </a:xfrm>
          <a:prstGeom prst="rect">
            <a:avLst/>
          </a:prstGeom>
          <a:noFill/>
        </p:spPr>
        <p:txBody>
          <a:bodyPr wrap="square" lIns="80897" tIns="40448" rIns="80897" bIns="40448" rtlCol="0">
            <a:spAutoFit/>
          </a:bodyPr>
          <a:lstStyle/>
          <a:p>
            <a:pPr algn="ctr"/>
            <a:r>
              <a:rPr lang="tr-TR" sz="1200" b="1" dirty="0">
                <a:latin typeface="Arial Narrow" panose="020B0606020202030204" pitchFamily="34" charset="0"/>
              </a:rPr>
              <a:t>9.</a:t>
            </a:r>
          </a:p>
        </p:txBody>
      </p:sp>
      <mc:AlternateContent xmlns:mc="http://schemas.openxmlformats.org/markup-compatibility/2006" xmlns:a14="http://schemas.microsoft.com/office/drawing/2010/main">
        <mc:Choice Requires="a14">
          <p:sp>
            <p:nvSpPr>
              <p:cNvPr id="75" name="Metin kutusu 74">
                <a:extLst>
                  <a:ext uri="{FF2B5EF4-FFF2-40B4-BE49-F238E27FC236}">
                    <a16:creationId xmlns:a16="http://schemas.microsoft.com/office/drawing/2014/main" id="{9FFB9105-CAD4-44A2-946D-6B343FB720A9}"/>
                  </a:ext>
                </a:extLst>
              </p:cNvPr>
              <p:cNvSpPr txBox="1"/>
              <p:nvPr/>
            </p:nvSpPr>
            <p:spPr>
              <a:xfrm>
                <a:off x="1202171" y="794646"/>
                <a:ext cx="2287876" cy="707886"/>
              </a:xfrm>
              <a:prstGeom prst="rect">
                <a:avLst/>
              </a:prstGeom>
              <a:noFill/>
            </p:spPr>
            <p:txBody>
              <a:bodyPr wrap="square" rtlCol="0">
                <a:spAutoFit/>
              </a:bodyPr>
              <a:lstStyle/>
              <a:p>
                <a:r>
                  <a:rPr lang="tr-TR" sz="1000" noProof="1">
                    <a:cs typeface="Arial" panose="020B0604020202020204" pitchFamily="34" charset="0"/>
                  </a:rPr>
                  <a:t>Şekilde görülen çark 3.numaradan başlayarak saat yönünde dönmektedir.</a:t>
                </a:r>
                <a:br>
                  <a:rPr lang="tr-TR" sz="1000" noProof="1">
                    <a:cs typeface="Arial" panose="020B0604020202020204" pitchFamily="34" charset="0"/>
                  </a:rPr>
                </a:br>
                <a:r>
                  <a:rPr lang="tr-TR" sz="1000" noProof="1">
                    <a:cs typeface="Arial" panose="020B0604020202020204" pitchFamily="34" charset="0"/>
                  </a:rPr>
                  <a:t>9 eş bölmeye ayrılan bu çark  1520</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cs typeface="Arial" panose="020B0604020202020204" pitchFamily="34" charset="0"/>
                  </a:rPr>
                  <a:t> </a:t>
                </a:r>
                <a:r>
                  <a:rPr lang="tr-TR" sz="1000" noProof="1">
                    <a:cs typeface="Arial" panose="020B0604020202020204" pitchFamily="34" charset="0"/>
                  </a:rPr>
                  <a:t>döndüğünde hangi numarayı gösterir?</a:t>
                </a:r>
              </a:p>
            </p:txBody>
          </p:sp>
        </mc:Choice>
        <mc:Fallback xmlns="">
          <p:sp>
            <p:nvSpPr>
              <p:cNvPr id="75" name="Metin kutusu 74">
                <a:extLst>
                  <a:ext uri="{FF2B5EF4-FFF2-40B4-BE49-F238E27FC236}">
                    <a16:creationId xmlns:a16="http://schemas.microsoft.com/office/drawing/2014/main" id="{9FFB9105-CAD4-44A2-946D-6B343FB720A9}"/>
                  </a:ext>
                </a:extLst>
              </p:cNvPr>
              <p:cNvSpPr txBox="1">
                <a:spLocks noRot="1" noChangeAspect="1" noMove="1" noResize="1" noEditPoints="1" noAdjustHandles="1" noChangeArrowheads="1" noChangeShapeType="1" noTextEdit="1"/>
              </p:cNvSpPr>
              <p:nvPr/>
            </p:nvSpPr>
            <p:spPr>
              <a:xfrm>
                <a:off x="1202171" y="794646"/>
                <a:ext cx="2287876" cy="707886"/>
              </a:xfrm>
              <a:prstGeom prst="rect">
                <a:avLst/>
              </a:prstGeom>
              <a:blipFill>
                <a:blip r:embed="rId9"/>
                <a:stretch>
                  <a:fillRect b="-5172"/>
                </a:stretch>
              </a:blipFill>
            </p:spPr>
            <p:txBody>
              <a:bodyPr/>
              <a:lstStyle/>
              <a:p>
                <a:r>
                  <a:rPr lang="tr-TR">
                    <a:noFill/>
                  </a:rPr>
                  <a:t> </a:t>
                </a:r>
              </a:p>
            </p:txBody>
          </p:sp>
        </mc:Fallback>
      </mc:AlternateContent>
      <p:cxnSp>
        <p:nvCxnSpPr>
          <p:cNvPr id="17" name="Düz Ok Bağlayıcısı 16">
            <a:extLst>
              <a:ext uri="{FF2B5EF4-FFF2-40B4-BE49-F238E27FC236}">
                <a16:creationId xmlns:a16="http://schemas.microsoft.com/office/drawing/2014/main" id="{C61BB995-BB15-42FD-866E-27BA77B71DCE}"/>
              </a:ext>
            </a:extLst>
          </p:cNvPr>
          <p:cNvCxnSpPr/>
          <p:nvPr/>
        </p:nvCxnSpPr>
        <p:spPr>
          <a:xfrm>
            <a:off x="672305" y="1403648"/>
            <a:ext cx="3963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6" name="Metin kutusu 75">
                <a:extLst>
                  <a:ext uri="{FF2B5EF4-FFF2-40B4-BE49-F238E27FC236}">
                    <a16:creationId xmlns:a16="http://schemas.microsoft.com/office/drawing/2014/main" id="{5D720D01-156A-47BB-BDC9-145688F0F9C9}"/>
                  </a:ext>
                </a:extLst>
              </p:cNvPr>
              <p:cNvSpPr txBox="1"/>
              <p:nvPr/>
            </p:nvSpPr>
            <p:spPr>
              <a:xfrm>
                <a:off x="29269" y="2896742"/>
                <a:ext cx="3286611" cy="2092881"/>
              </a:xfrm>
              <a:prstGeom prst="rect">
                <a:avLst/>
              </a:prstGeom>
              <a:noFill/>
            </p:spPr>
            <p:txBody>
              <a:bodyPr wrap="square" rtlCol="0">
                <a:spAutoFit/>
              </a:bodyPr>
              <a:lstStyle/>
              <a:p>
                <a:r>
                  <a:rPr lang="tr-TR" sz="1000" noProof="1">
                    <a:cs typeface="Arial" panose="020B0604020202020204" pitchFamily="34" charset="0"/>
                  </a:rPr>
                  <a:t>Öncelikle burada bir geometri bilgisi bilmemiz gerekiyor. Tam bir açı 360</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dir. Yani 360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döndükten sonra nereden başlanmışsa o konuma gelinir bu durum bize periyodu çağrıştırmaktadır. Yani dairesel cisimlerin periyodu 360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dir.</a:t>
                </a:r>
              </a:p>
              <a:p>
                <a:endParaRPr lang="tr-TR" sz="1000" noProof="1">
                  <a:cs typeface="Arial" panose="020B0604020202020204" pitchFamily="34" charset="0"/>
                </a:endParaRPr>
              </a:p>
              <a:p>
                <a:r>
                  <a:rPr lang="tr-TR" sz="1000" noProof="1">
                    <a:cs typeface="Arial" panose="020B0604020202020204" pitchFamily="34" charset="0"/>
                  </a:rPr>
                  <a:t>1520 = 360.4 + 80 şeklinde elde edilir. 4 kez 360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dönülür ve başlangıç yani 3.numaraya tekrar gelinir. 9 eş parçaya bölündüğü söyleniyor yani her iki numara arasındaki açıyı 360/9 = 40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olarak buluruz. Kalan 80 bulmuştuk yani 2 sayı ilerisine gitmiş olacağız bu durumda 5.numarada çark duracaktır. Dikkat edelim soruda saat yönünde ilerlemekte olan çark diyor; eğer saat yönü tersi deseydi 2 geri giderek 1 sayısına ulaşmış olacaktık. Doğru yanıtımız 5.numaradır.</a:t>
                </a:r>
              </a:p>
            </p:txBody>
          </p:sp>
        </mc:Choice>
        <mc:Fallback xmlns="">
          <p:sp>
            <p:nvSpPr>
              <p:cNvPr id="76" name="Metin kutusu 75">
                <a:extLst>
                  <a:ext uri="{FF2B5EF4-FFF2-40B4-BE49-F238E27FC236}">
                    <a16:creationId xmlns:a16="http://schemas.microsoft.com/office/drawing/2014/main" id="{5D720D01-156A-47BB-BDC9-145688F0F9C9}"/>
                  </a:ext>
                </a:extLst>
              </p:cNvPr>
              <p:cNvSpPr txBox="1">
                <a:spLocks noRot="1" noChangeAspect="1" noMove="1" noResize="1" noEditPoints="1" noAdjustHandles="1" noChangeArrowheads="1" noChangeShapeType="1" noTextEdit="1"/>
              </p:cNvSpPr>
              <p:nvPr/>
            </p:nvSpPr>
            <p:spPr>
              <a:xfrm>
                <a:off x="29269" y="2896742"/>
                <a:ext cx="3286611" cy="2092881"/>
              </a:xfrm>
              <a:prstGeom prst="rect">
                <a:avLst/>
              </a:prstGeom>
              <a:blipFill>
                <a:blip r:embed="rId10"/>
                <a:stretch>
                  <a:fillRect r="-371" b="-872"/>
                </a:stretch>
              </a:blipFill>
            </p:spPr>
            <p:txBody>
              <a:bodyPr/>
              <a:lstStyle/>
              <a:p>
                <a:r>
                  <a:rPr lang="tr-TR">
                    <a:noFill/>
                  </a:rPr>
                  <a:t> </a:t>
                </a:r>
              </a:p>
            </p:txBody>
          </p:sp>
        </mc:Fallback>
      </mc:AlternateContent>
      <p:cxnSp>
        <p:nvCxnSpPr>
          <p:cNvPr id="24" name="Düz Bağlayıcı 23">
            <a:extLst>
              <a:ext uri="{FF2B5EF4-FFF2-40B4-BE49-F238E27FC236}">
                <a16:creationId xmlns:a16="http://schemas.microsoft.com/office/drawing/2014/main" id="{D110D205-C669-498A-8CD5-97B810DEF65B}"/>
              </a:ext>
            </a:extLst>
          </p:cNvPr>
          <p:cNvCxnSpPr>
            <a:cxnSpLocks/>
          </p:cNvCxnSpPr>
          <p:nvPr/>
        </p:nvCxnSpPr>
        <p:spPr>
          <a:xfrm>
            <a:off x="3676618" y="941014"/>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Düz Bağlayıcı 30">
            <a:extLst>
              <a:ext uri="{FF2B5EF4-FFF2-40B4-BE49-F238E27FC236}">
                <a16:creationId xmlns:a16="http://schemas.microsoft.com/office/drawing/2014/main" id="{2166A54B-3DD9-487A-A7DA-F27BB0C6C748}"/>
              </a:ext>
            </a:extLst>
          </p:cNvPr>
          <p:cNvCxnSpPr/>
          <p:nvPr/>
        </p:nvCxnSpPr>
        <p:spPr>
          <a:xfrm>
            <a:off x="4082956" y="939566"/>
            <a:ext cx="0" cy="325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Düz Bağlayıcı 36">
            <a:extLst>
              <a:ext uri="{FF2B5EF4-FFF2-40B4-BE49-F238E27FC236}">
                <a16:creationId xmlns:a16="http://schemas.microsoft.com/office/drawing/2014/main" id="{994ADA5B-4C0C-4485-8E68-737747DC8699}"/>
              </a:ext>
            </a:extLst>
          </p:cNvPr>
          <p:cNvCxnSpPr/>
          <p:nvPr/>
        </p:nvCxnSpPr>
        <p:spPr>
          <a:xfrm flipV="1">
            <a:off x="4082956" y="1128302"/>
            <a:ext cx="66467" cy="136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Düz Bağlayıcı 39">
            <a:extLst>
              <a:ext uri="{FF2B5EF4-FFF2-40B4-BE49-F238E27FC236}">
                <a16:creationId xmlns:a16="http://schemas.microsoft.com/office/drawing/2014/main" id="{1E4736C4-E3F8-4B9E-990A-4A435CD9ABCC}"/>
              </a:ext>
            </a:extLst>
          </p:cNvPr>
          <p:cNvCxnSpPr/>
          <p:nvPr/>
        </p:nvCxnSpPr>
        <p:spPr>
          <a:xfrm>
            <a:off x="4153753" y="1120784"/>
            <a:ext cx="27288" cy="15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Düz Bağlayıcı 77">
            <a:extLst>
              <a:ext uri="{FF2B5EF4-FFF2-40B4-BE49-F238E27FC236}">
                <a16:creationId xmlns:a16="http://schemas.microsoft.com/office/drawing/2014/main" id="{05AA8632-8023-46DF-87DB-26E63AC0D806}"/>
              </a:ext>
            </a:extLst>
          </p:cNvPr>
          <p:cNvCxnSpPr>
            <a:cxnSpLocks/>
          </p:cNvCxnSpPr>
          <p:nvPr/>
        </p:nvCxnSpPr>
        <p:spPr>
          <a:xfrm>
            <a:off x="4181041" y="1271427"/>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Düz Bağlayıcı 78">
            <a:extLst>
              <a:ext uri="{FF2B5EF4-FFF2-40B4-BE49-F238E27FC236}">
                <a16:creationId xmlns:a16="http://schemas.microsoft.com/office/drawing/2014/main" id="{65934F3B-05B0-41B9-B421-A0304BD1E929}"/>
              </a:ext>
            </a:extLst>
          </p:cNvPr>
          <p:cNvCxnSpPr>
            <a:cxnSpLocks/>
          </p:cNvCxnSpPr>
          <p:nvPr/>
        </p:nvCxnSpPr>
        <p:spPr>
          <a:xfrm flipH="1" flipV="1">
            <a:off x="4437112" y="1187624"/>
            <a:ext cx="144016" cy="83803"/>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Düz Bağlayıcı 80">
            <a:extLst>
              <a:ext uri="{FF2B5EF4-FFF2-40B4-BE49-F238E27FC236}">
                <a16:creationId xmlns:a16="http://schemas.microsoft.com/office/drawing/2014/main" id="{39D6A55D-AA5F-4DB2-89ED-57ADC21B23DE}"/>
              </a:ext>
            </a:extLst>
          </p:cNvPr>
          <p:cNvCxnSpPr>
            <a:cxnSpLocks/>
          </p:cNvCxnSpPr>
          <p:nvPr/>
        </p:nvCxnSpPr>
        <p:spPr>
          <a:xfrm>
            <a:off x="4182123" y="950418"/>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Düz Bağlayıcı 81">
            <a:extLst>
              <a:ext uri="{FF2B5EF4-FFF2-40B4-BE49-F238E27FC236}">
                <a16:creationId xmlns:a16="http://schemas.microsoft.com/office/drawing/2014/main" id="{2EF75A90-8105-4E7F-8AB3-67B1CC9F3F38}"/>
              </a:ext>
            </a:extLst>
          </p:cNvPr>
          <p:cNvCxnSpPr/>
          <p:nvPr/>
        </p:nvCxnSpPr>
        <p:spPr>
          <a:xfrm>
            <a:off x="4588461" y="948970"/>
            <a:ext cx="0" cy="325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Düz Bağlayıcı 82">
            <a:extLst>
              <a:ext uri="{FF2B5EF4-FFF2-40B4-BE49-F238E27FC236}">
                <a16:creationId xmlns:a16="http://schemas.microsoft.com/office/drawing/2014/main" id="{20A7F43F-5AE7-4763-8F00-A0D71771A716}"/>
              </a:ext>
            </a:extLst>
          </p:cNvPr>
          <p:cNvCxnSpPr/>
          <p:nvPr/>
        </p:nvCxnSpPr>
        <p:spPr>
          <a:xfrm flipV="1">
            <a:off x="4588461" y="1137706"/>
            <a:ext cx="66467" cy="136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Düz Bağlayıcı 83">
            <a:extLst>
              <a:ext uri="{FF2B5EF4-FFF2-40B4-BE49-F238E27FC236}">
                <a16:creationId xmlns:a16="http://schemas.microsoft.com/office/drawing/2014/main" id="{BE604515-2166-47A2-9193-B12200831E0C}"/>
              </a:ext>
            </a:extLst>
          </p:cNvPr>
          <p:cNvCxnSpPr/>
          <p:nvPr/>
        </p:nvCxnSpPr>
        <p:spPr>
          <a:xfrm>
            <a:off x="4659258" y="1130188"/>
            <a:ext cx="27288" cy="15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Düz Bağlayıcı 84">
            <a:extLst>
              <a:ext uri="{FF2B5EF4-FFF2-40B4-BE49-F238E27FC236}">
                <a16:creationId xmlns:a16="http://schemas.microsoft.com/office/drawing/2014/main" id="{C3E78E1A-989B-4033-ABDD-FCE95B3D3E4B}"/>
              </a:ext>
            </a:extLst>
          </p:cNvPr>
          <p:cNvCxnSpPr>
            <a:cxnSpLocks/>
          </p:cNvCxnSpPr>
          <p:nvPr/>
        </p:nvCxnSpPr>
        <p:spPr>
          <a:xfrm>
            <a:off x="4686546" y="1280831"/>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Düz Bağlayıcı 85">
            <a:extLst>
              <a:ext uri="{FF2B5EF4-FFF2-40B4-BE49-F238E27FC236}">
                <a16:creationId xmlns:a16="http://schemas.microsoft.com/office/drawing/2014/main" id="{2A1D88EA-1BBD-4F1D-B276-BDA059CB9345}"/>
              </a:ext>
            </a:extLst>
          </p:cNvPr>
          <p:cNvCxnSpPr>
            <a:cxnSpLocks/>
          </p:cNvCxnSpPr>
          <p:nvPr/>
        </p:nvCxnSpPr>
        <p:spPr>
          <a:xfrm flipH="1" flipV="1">
            <a:off x="4942617" y="1197028"/>
            <a:ext cx="144016" cy="8380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Düz Bağlayıcı 86">
            <a:extLst>
              <a:ext uri="{FF2B5EF4-FFF2-40B4-BE49-F238E27FC236}">
                <a16:creationId xmlns:a16="http://schemas.microsoft.com/office/drawing/2014/main" id="{A771C67A-749A-4CD4-8CDF-AD372EAE47D4}"/>
              </a:ext>
            </a:extLst>
          </p:cNvPr>
          <p:cNvCxnSpPr>
            <a:cxnSpLocks/>
          </p:cNvCxnSpPr>
          <p:nvPr/>
        </p:nvCxnSpPr>
        <p:spPr>
          <a:xfrm>
            <a:off x="4687628" y="958279"/>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Düz Bağlayıcı 87">
            <a:extLst>
              <a:ext uri="{FF2B5EF4-FFF2-40B4-BE49-F238E27FC236}">
                <a16:creationId xmlns:a16="http://schemas.microsoft.com/office/drawing/2014/main" id="{06DEB68D-03A9-4F95-917B-0991B0BFDA07}"/>
              </a:ext>
            </a:extLst>
          </p:cNvPr>
          <p:cNvCxnSpPr/>
          <p:nvPr/>
        </p:nvCxnSpPr>
        <p:spPr>
          <a:xfrm>
            <a:off x="5093966" y="956831"/>
            <a:ext cx="0" cy="325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Düz Bağlayıcı 88">
            <a:extLst>
              <a:ext uri="{FF2B5EF4-FFF2-40B4-BE49-F238E27FC236}">
                <a16:creationId xmlns:a16="http://schemas.microsoft.com/office/drawing/2014/main" id="{2304066F-D971-4760-84D7-767CFEB3C280}"/>
              </a:ext>
            </a:extLst>
          </p:cNvPr>
          <p:cNvCxnSpPr/>
          <p:nvPr/>
        </p:nvCxnSpPr>
        <p:spPr>
          <a:xfrm flipV="1">
            <a:off x="5093966" y="1145567"/>
            <a:ext cx="66467" cy="136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Düz Bağlayıcı 89">
            <a:extLst>
              <a:ext uri="{FF2B5EF4-FFF2-40B4-BE49-F238E27FC236}">
                <a16:creationId xmlns:a16="http://schemas.microsoft.com/office/drawing/2014/main" id="{1C29444A-C73A-49FE-ABF0-0851F8460E02}"/>
              </a:ext>
            </a:extLst>
          </p:cNvPr>
          <p:cNvCxnSpPr/>
          <p:nvPr/>
        </p:nvCxnSpPr>
        <p:spPr>
          <a:xfrm>
            <a:off x="5164763" y="1138049"/>
            <a:ext cx="27288" cy="15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Düz Bağlayıcı 90">
            <a:extLst>
              <a:ext uri="{FF2B5EF4-FFF2-40B4-BE49-F238E27FC236}">
                <a16:creationId xmlns:a16="http://schemas.microsoft.com/office/drawing/2014/main" id="{60FFDFFD-0508-4A65-BCE4-7BFCF7B482D6}"/>
              </a:ext>
            </a:extLst>
          </p:cNvPr>
          <p:cNvCxnSpPr>
            <a:cxnSpLocks/>
          </p:cNvCxnSpPr>
          <p:nvPr/>
        </p:nvCxnSpPr>
        <p:spPr>
          <a:xfrm>
            <a:off x="5192051" y="1288692"/>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Düz Bağlayıcı 91">
            <a:extLst>
              <a:ext uri="{FF2B5EF4-FFF2-40B4-BE49-F238E27FC236}">
                <a16:creationId xmlns:a16="http://schemas.microsoft.com/office/drawing/2014/main" id="{AF9D0BC4-2150-449E-808F-81BA967874B0}"/>
              </a:ext>
            </a:extLst>
          </p:cNvPr>
          <p:cNvCxnSpPr>
            <a:cxnSpLocks/>
          </p:cNvCxnSpPr>
          <p:nvPr/>
        </p:nvCxnSpPr>
        <p:spPr>
          <a:xfrm flipH="1" flipV="1">
            <a:off x="5448122" y="1204889"/>
            <a:ext cx="144016" cy="83803"/>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Düz Bağlayıcı 92">
            <a:extLst>
              <a:ext uri="{FF2B5EF4-FFF2-40B4-BE49-F238E27FC236}">
                <a16:creationId xmlns:a16="http://schemas.microsoft.com/office/drawing/2014/main" id="{5F006F41-39F9-489F-9319-56E829B325CE}"/>
              </a:ext>
            </a:extLst>
          </p:cNvPr>
          <p:cNvCxnSpPr>
            <a:cxnSpLocks/>
          </p:cNvCxnSpPr>
          <p:nvPr/>
        </p:nvCxnSpPr>
        <p:spPr>
          <a:xfrm>
            <a:off x="5182049" y="964476"/>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Düz Bağlayıcı 93">
            <a:extLst>
              <a:ext uri="{FF2B5EF4-FFF2-40B4-BE49-F238E27FC236}">
                <a16:creationId xmlns:a16="http://schemas.microsoft.com/office/drawing/2014/main" id="{C623E818-75F0-4ACC-9518-FFCCA92394F8}"/>
              </a:ext>
            </a:extLst>
          </p:cNvPr>
          <p:cNvCxnSpPr/>
          <p:nvPr/>
        </p:nvCxnSpPr>
        <p:spPr>
          <a:xfrm>
            <a:off x="5588387" y="963028"/>
            <a:ext cx="0" cy="325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Düz Bağlayıcı 94">
            <a:extLst>
              <a:ext uri="{FF2B5EF4-FFF2-40B4-BE49-F238E27FC236}">
                <a16:creationId xmlns:a16="http://schemas.microsoft.com/office/drawing/2014/main" id="{7BA8C700-A9CB-411C-9757-0481108B63F1}"/>
              </a:ext>
            </a:extLst>
          </p:cNvPr>
          <p:cNvCxnSpPr/>
          <p:nvPr/>
        </p:nvCxnSpPr>
        <p:spPr>
          <a:xfrm flipV="1">
            <a:off x="5588387" y="1151764"/>
            <a:ext cx="66467" cy="136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Düz Bağlayıcı 95">
            <a:extLst>
              <a:ext uri="{FF2B5EF4-FFF2-40B4-BE49-F238E27FC236}">
                <a16:creationId xmlns:a16="http://schemas.microsoft.com/office/drawing/2014/main" id="{531076C2-FAA7-45E2-9B27-E07D4A62276E}"/>
              </a:ext>
            </a:extLst>
          </p:cNvPr>
          <p:cNvCxnSpPr/>
          <p:nvPr/>
        </p:nvCxnSpPr>
        <p:spPr>
          <a:xfrm>
            <a:off x="5659184" y="1144246"/>
            <a:ext cx="27288" cy="150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Düz Bağlayıcı 96">
            <a:extLst>
              <a:ext uri="{FF2B5EF4-FFF2-40B4-BE49-F238E27FC236}">
                <a16:creationId xmlns:a16="http://schemas.microsoft.com/office/drawing/2014/main" id="{E748CCFA-1B4A-4803-9C06-8722780D7857}"/>
              </a:ext>
            </a:extLst>
          </p:cNvPr>
          <p:cNvCxnSpPr>
            <a:cxnSpLocks/>
          </p:cNvCxnSpPr>
          <p:nvPr/>
        </p:nvCxnSpPr>
        <p:spPr>
          <a:xfrm>
            <a:off x="5686472" y="1294889"/>
            <a:ext cx="4059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Düz Bağlayıcı 97">
            <a:extLst>
              <a:ext uri="{FF2B5EF4-FFF2-40B4-BE49-F238E27FC236}">
                <a16:creationId xmlns:a16="http://schemas.microsoft.com/office/drawing/2014/main" id="{94CF08E6-0482-443A-901C-99102F92D8B7}"/>
              </a:ext>
            </a:extLst>
          </p:cNvPr>
          <p:cNvCxnSpPr>
            <a:cxnSpLocks/>
          </p:cNvCxnSpPr>
          <p:nvPr/>
        </p:nvCxnSpPr>
        <p:spPr>
          <a:xfrm flipH="1" flipV="1">
            <a:off x="5942543" y="1211086"/>
            <a:ext cx="144016" cy="8380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Metin kutusu 76">
                <a:extLst>
                  <a:ext uri="{FF2B5EF4-FFF2-40B4-BE49-F238E27FC236}">
                    <a16:creationId xmlns:a16="http://schemas.microsoft.com/office/drawing/2014/main" id="{D6C89B10-5D27-401E-B750-8D38CC0F6D5D}"/>
                  </a:ext>
                </a:extLst>
              </p:cNvPr>
              <p:cNvSpPr txBox="1"/>
              <p:nvPr/>
            </p:nvSpPr>
            <p:spPr>
              <a:xfrm>
                <a:off x="5622769" y="993646"/>
                <a:ext cx="154674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rPr>
                        <m:t>⋯</m:t>
                      </m:r>
                    </m:oMath>
                  </m:oMathPara>
                </a14:m>
                <a:endParaRPr lang="tr-TR" dirty="0"/>
              </a:p>
            </p:txBody>
          </p:sp>
        </mc:Choice>
        <mc:Fallback xmlns="">
          <p:sp>
            <p:nvSpPr>
              <p:cNvPr id="77" name="Metin kutusu 76">
                <a:extLst>
                  <a:ext uri="{FF2B5EF4-FFF2-40B4-BE49-F238E27FC236}">
                    <a16:creationId xmlns:a16="http://schemas.microsoft.com/office/drawing/2014/main" id="{D6C89B10-5D27-401E-B750-8D38CC0F6D5D}"/>
                  </a:ext>
                </a:extLst>
              </p:cNvPr>
              <p:cNvSpPr txBox="1">
                <a:spLocks noRot="1" noChangeAspect="1" noMove="1" noResize="1" noEditPoints="1" noAdjustHandles="1" noChangeArrowheads="1" noChangeShapeType="1" noTextEdit="1"/>
              </p:cNvSpPr>
              <p:nvPr/>
            </p:nvSpPr>
            <p:spPr>
              <a:xfrm>
                <a:off x="5622769" y="993646"/>
                <a:ext cx="1546740" cy="276999"/>
              </a:xfrm>
              <a:prstGeom prst="rect">
                <a:avLst/>
              </a:prstGeom>
              <a:blipFill>
                <a:blip r:embed="rId11"/>
                <a:stretch>
                  <a:fillRect/>
                </a:stretch>
              </a:blipFill>
            </p:spPr>
            <p:txBody>
              <a:bodyPr/>
              <a:lstStyle/>
              <a:p>
                <a:r>
                  <a:rPr lang="tr-TR">
                    <a:noFill/>
                  </a:rPr>
                  <a:t> </a:t>
                </a:r>
              </a:p>
            </p:txBody>
          </p:sp>
        </mc:Fallback>
      </mc:AlternateContent>
      <p:sp>
        <p:nvSpPr>
          <p:cNvPr id="100" name="Metin kutusu 99">
            <a:extLst>
              <a:ext uri="{FF2B5EF4-FFF2-40B4-BE49-F238E27FC236}">
                <a16:creationId xmlns:a16="http://schemas.microsoft.com/office/drawing/2014/main" id="{1A0E4816-567D-4B73-A773-E4BD4BBDBF44}"/>
              </a:ext>
            </a:extLst>
          </p:cNvPr>
          <p:cNvSpPr txBox="1"/>
          <p:nvPr/>
        </p:nvSpPr>
        <p:spPr>
          <a:xfrm>
            <a:off x="3568177" y="1293951"/>
            <a:ext cx="3389212" cy="707886"/>
          </a:xfrm>
          <a:prstGeom prst="rect">
            <a:avLst/>
          </a:prstGeom>
          <a:noFill/>
        </p:spPr>
        <p:txBody>
          <a:bodyPr wrap="square" rtlCol="0">
            <a:spAutoFit/>
          </a:bodyPr>
          <a:lstStyle/>
          <a:p>
            <a:r>
              <a:rPr lang="tr-TR" sz="1000" noProof="1">
                <a:cs typeface="Arial" panose="020B0604020202020204" pitchFamily="34" charset="0"/>
              </a:rPr>
              <a:t>Yukarıda belli bir örüntüyle devam etmekte olan çubuklardan bir motif elde edilmiştir. Çubukların boyutları önemsizdir.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Buna göre, 92.çubuğun şekli nedir?</a:t>
            </a:r>
          </a:p>
        </p:txBody>
      </p:sp>
      <p:cxnSp>
        <p:nvCxnSpPr>
          <p:cNvPr id="102" name="Düz Bağlayıcı 101">
            <a:extLst>
              <a:ext uri="{FF2B5EF4-FFF2-40B4-BE49-F238E27FC236}">
                <a16:creationId xmlns:a16="http://schemas.microsoft.com/office/drawing/2014/main" id="{22D33C3E-13FC-4ADC-B75D-30272B877620}"/>
              </a:ext>
            </a:extLst>
          </p:cNvPr>
          <p:cNvCxnSpPr>
            <a:cxnSpLocks/>
          </p:cNvCxnSpPr>
          <p:nvPr/>
        </p:nvCxnSpPr>
        <p:spPr>
          <a:xfrm>
            <a:off x="3645000" y="2767477"/>
            <a:ext cx="405995" cy="0"/>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3" name="Düz Bağlayıcı 102">
            <a:extLst>
              <a:ext uri="{FF2B5EF4-FFF2-40B4-BE49-F238E27FC236}">
                <a16:creationId xmlns:a16="http://schemas.microsoft.com/office/drawing/2014/main" id="{69A4224F-B0CC-4D9B-9FF6-C4D4ABEF38BF}"/>
              </a:ext>
            </a:extLst>
          </p:cNvPr>
          <p:cNvCxnSpPr/>
          <p:nvPr/>
        </p:nvCxnSpPr>
        <p:spPr>
          <a:xfrm>
            <a:off x="4051338" y="2766029"/>
            <a:ext cx="0" cy="325110"/>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 name="Düz Bağlayıcı 103">
            <a:extLst>
              <a:ext uri="{FF2B5EF4-FFF2-40B4-BE49-F238E27FC236}">
                <a16:creationId xmlns:a16="http://schemas.microsoft.com/office/drawing/2014/main" id="{16ED9137-D0A4-4C35-BEF3-013740B1544E}"/>
              </a:ext>
            </a:extLst>
          </p:cNvPr>
          <p:cNvCxnSpPr/>
          <p:nvPr/>
        </p:nvCxnSpPr>
        <p:spPr>
          <a:xfrm flipV="1">
            <a:off x="4051338" y="2954765"/>
            <a:ext cx="66467" cy="136374"/>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5" name="Düz Bağlayıcı 104">
            <a:extLst>
              <a:ext uri="{FF2B5EF4-FFF2-40B4-BE49-F238E27FC236}">
                <a16:creationId xmlns:a16="http://schemas.microsoft.com/office/drawing/2014/main" id="{452A8506-0568-424D-8B2A-E44763493891}"/>
              </a:ext>
            </a:extLst>
          </p:cNvPr>
          <p:cNvCxnSpPr/>
          <p:nvPr/>
        </p:nvCxnSpPr>
        <p:spPr>
          <a:xfrm>
            <a:off x="4122135" y="2947247"/>
            <a:ext cx="27288" cy="150643"/>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6" name="Düz Bağlayıcı 105">
            <a:extLst>
              <a:ext uri="{FF2B5EF4-FFF2-40B4-BE49-F238E27FC236}">
                <a16:creationId xmlns:a16="http://schemas.microsoft.com/office/drawing/2014/main" id="{AB96B3C8-E41E-4275-8EBB-D38DCDDF2AEA}"/>
              </a:ext>
            </a:extLst>
          </p:cNvPr>
          <p:cNvCxnSpPr>
            <a:cxnSpLocks/>
          </p:cNvCxnSpPr>
          <p:nvPr/>
        </p:nvCxnSpPr>
        <p:spPr>
          <a:xfrm>
            <a:off x="4149423" y="3097890"/>
            <a:ext cx="405995" cy="0"/>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7" name="Düz Bağlayıcı 106">
            <a:extLst>
              <a:ext uri="{FF2B5EF4-FFF2-40B4-BE49-F238E27FC236}">
                <a16:creationId xmlns:a16="http://schemas.microsoft.com/office/drawing/2014/main" id="{6C85F6E5-0EB3-4911-A04F-B7EF2ED0936D}"/>
              </a:ext>
            </a:extLst>
          </p:cNvPr>
          <p:cNvCxnSpPr>
            <a:cxnSpLocks/>
          </p:cNvCxnSpPr>
          <p:nvPr/>
        </p:nvCxnSpPr>
        <p:spPr>
          <a:xfrm flipH="1" flipV="1">
            <a:off x="4405494" y="3014087"/>
            <a:ext cx="144016" cy="83803"/>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 name="Düz Bağlayıcı 107">
            <a:extLst>
              <a:ext uri="{FF2B5EF4-FFF2-40B4-BE49-F238E27FC236}">
                <a16:creationId xmlns:a16="http://schemas.microsoft.com/office/drawing/2014/main" id="{12260B26-0AB0-456A-A9C6-BA2B941AA566}"/>
              </a:ext>
            </a:extLst>
          </p:cNvPr>
          <p:cNvCxnSpPr>
            <a:cxnSpLocks/>
          </p:cNvCxnSpPr>
          <p:nvPr/>
        </p:nvCxnSpPr>
        <p:spPr>
          <a:xfrm>
            <a:off x="4136576" y="2771992"/>
            <a:ext cx="405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Düz Bağlayıcı 108">
            <a:extLst>
              <a:ext uri="{FF2B5EF4-FFF2-40B4-BE49-F238E27FC236}">
                <a16:creationId xmlns:a16="http://schemas.microsoft.com/office/drawing/2014/main" id="{1183E096-A9CE-463D-AF37-E87211318906}"/>
              </a:ext>
            </a:extLst>
          </p:cNvPr>
          <p:cNvCxnSpPr/>
          <p:nvPr/>
        </p:nvCxnSpPr>
        <p:spPr>
          <a:xfrm>
            <a:off x="4542914" y="2770544"/>
            <a:ext cx="0" cy="32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Düz Bağlayıcı 109">
            <a:extLst>
              <a:ext uri="{FF2B5EF4-FFF2-40B4-BE49-F238E27FC236}">
                <a16:creationId xmlns:a16="http://schemas.microsoft.com/office/drawing/2014/main" id="{AAF73294-C91D-409F-B0FF-551417C44C6D}"/>
              </a:ext>
            </a:extLst>
          </p:cNvPr>
          <p:cNvCxnSpPr/>
          <p:nvPr/>
        </p:nvCxnSpPr>
        <p:spPr>
          <a:xfrm flipV="1">
            <a:off x="4542914" y="2959280"/>
            <a:ext cx="66467" cy="136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Düz Bağlayıcı 110">
            <a:extLst>
              <a:ext uri="{FF2B5EF4-FFF2-40B4-BE49-F238E27FC236}">
                <a16:creationId xmlns:a16="http://schemas.microsoft.com/office/drawing/2014/main" id="{55D3C3B5-ECB5-4FB5-AF6D-79349C40E059}"/>
              </a:ext>
            </a:extLst>
          </p:cNvPr>
          <p:cNvCxnSpPr/>
          <p:nvPr/>
        </p:nvCxnSpPr>
        <p:spPr>
          <a:xfrm>
            <a:off x="4613711" y="2951762"/>
            <a:ext cx="27288" cy="1506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Düz Bağlayıcı 111">
            <a:extLst>
              <a:ext uri="{FF2B5EF4-FFF2-40B4-BE49-F238E27FC236}">
                <a16:creationId xmlns:a16="http://schemas.microsoft.com/office/drawing/2014/main" id="{E2F6F9DE-D511-45F6-9739-5498772CDE36}"/>
              </a:ext>
            </a:extLst>
          </p:cNvPr>
          <p:cNvCxnSpPr>
            <a:cxnSpLocks/>
          </p:cNvCxnSpPr>
          <p:nvPr/>
        </p:nvCxnSpPr>
        <p:spPr>
          <a:xfrm>
            <a:off x="4640999" y="3102405"/>
            <a:ext cx="405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Düz Bağlayıcı 112">
            <a:extLst>
              <a:ext uri="{FF2B5EF4-FFF2-40B4-BE49-F238E27FC236}">
                <a16:creationId xmlns:a16="http://schemas.microsoft.com/office/drawing/2014/main" id="{01C21D5F-51C3-429A-ACA3-92B92EC77804}"/>
              </a:ext>
            </a:extLst>
          </p:cNvPr>
          <p:cNvCxnSpPr>
            <a:cxnSpLocks/>
          </p:cNvCxnSpPr>
          <p:nvPr/>
        </p:nvCxnSpPr>
        <p:spPr>
          <a:xfrm flipH="1" flipV="1">
            <a:off x="4897070" y="3018602"/>
            <a:ext cx="144016" cy="838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Metin kutusu 113">
            <a:extLst>
              <a:ext uri="{FF2B5EF4-FFF2-40B4-BE49-F238E27FC236}">
                <a16:creationId xmlns:a16="http://schemas.microsoft.com/office/drawing/2014/main" id="{DA890523-0951-4B4E-8E71-F43869F55298}"/>
              </a:ext>
            </a:extLst>
          </p:cNvPr>
          <p:cNvSpPr txBox="1"/>
          <p:nvPr/>
        </p:nvSpPr>
        <p:spPr>
          <a:xfrm>
            <a:off x="3559148" y="3131312"/>
            <a:ext cx="3359701" cy="1169551"/>
          </a:xfrm>
          <a:prstGeom prst="rect">
            <a:avLst/>
          </a:prstGeom>
          <a:noFill/>
        </p:spPr>
        <p:txBody>
          <a:bodyPr wrap="square" rtlCol="0">
            <a:spAutoFit/>
          </a:bodyPr>
          <a:lstStyle/>
          <a:p>
            <a:r>
              <a:rPr lang="tr-TR" sz="1000" noProof="1">
                <a:cs typeface="Arial" panose="020B0604020202020204" pitchFamily="34" charset="0"/>
              </a:rPr>
              <a:t>Yukarıda örüntünün periyodunu bulduk. Daha iyi anlayabil-meniz için renklerini ayırdık. Siyah beyaz çıktı alanlar içinde sarımsı bir renk kullandım aradaki ton farkından anlaşılacağını düşünüyorum. Soruda ebatları önemsiz demişti yani bir örüntüde 6 adet çubuk bulunmaktadır. 92 yi elde etmek için tam kat olan 90 a kadar bu durum tekrarlanır. 92 = 6.15 + 2 kalan 2 dir. Yani 2.olan çubuğun şeklini çizeceğiz.</a:t>
            </a:r>
            <a:endParaRPr lang="tr-TR" sz="1000" b="1" noProof="1">
              <a:cs typeface="Arial" panose="020B0604020202020204" pitchFamily="34" charset="0"/>
            </a:endParaRPr>
          </a:p>
        </p:txBody>
      </p:sp>
      <p:cxnSp>
        <p:nvCxnSpPr>
          <p:cNvPr id="115" name="Düz Bağlayıcı 114">
            <a:extLst>
              <a:ext uri="{FF2B5EF4-FFF2-40B4-BE49-F238E27FC236}">
                <a16:creationId xmlns:a16="http://schemas.microsoft.com/office/drawing/2014/main" id="{80350432-5AD5-476F-8823-7C63DB981608}"/>
              </a:ext>
            </a:extLst>
          </p:cNvPr>
          <p:cNvCxnSpPr/>
          <p:nvPr/>
        </p:nvCxnSpPr>
        <p:spPr>
          <a:xfrm>
            <a:off x="6309320" y="4178481"/>
            <a:ext cx="0" cy="32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295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19893" y="430688"/>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000" dirty="0">
              <a:solidFill>
                <a:schemeClr val="tx1"/>
              </a:solidFill>
            </a:endParaRP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İşçi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416346" y="54759"/>
            <a:ext cx="2232248" cy="246221"/>
          </a:xfrm>
          <a:prstGeom prst="rect">
            <a:avLst/>
          </a:prstGeom>
          <a:noFill/>
        </p:spPr>
        <p:txBody>
          <a:bodyPr wrap="square" rtlCol="0">
            <a:spAutoFit/>
          </a:bodyPr>
          <a:lstStyle/>
          <a:p>
            <a:pPr algn="r"/>
            <a:r>
              <a:rPr lang="tr-TR" sz="1000" b="1" noProof="1"/>
              <a:t>Oran Orantı Problemleri</a:t>
            </a: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34353" y="419102"/>
            <a:ext cx="3286904" cy="8306013"/>
          </a:xfrm>
          <a:prstGeom prst="rect">
            <a:avLst/>
          </a:prstGeom>
          <a:solidFill>
            <a:schemeClr val="accent4">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96811" y="424988"/>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İşçi Problemleri</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21567" y="723427"/>
            <a:ext cx="3353471" cy="1785104"/>
          </a:xfrm>
          <a:prstGeom prst="rect">
            <a:avLst/>
          </a:prstGeom>
          <a:noFill/>
        </p:spPr>
        <p:txBody>
          <a:bodyPr wrap="square" rtlCol="0">
            <a:spAutoFit/>
          </a:bodyPr>
          <a:lstStyle/>
          <a:p>
            <a:r>
              <a:rPr lang="tr-TR" sz="1000" noProof="1">
                <a:cs typeface="Arial" panose="020B0604020202020204" pitchFamily="34" charset="0"/>
              </a:rPr>
              <a:t>İşçi problemleri ; kalıplaşmış oran orantı ve hareket problemlerinin harmanıp kazanım olarak güzelce sizleri sorgulayabileceğimiz problemlerdir. Hareket ile benzerliği kaç saat çalışırsa o kadar iş yapılmış olunur bu hız ile yol gibi düşünebilir. Ayrıca işçi sayılarının veya işin yada çalışma sürelerinin artması veya azalması bizlere geniş bir yelpaze ile oran orantı yorumu yapmamızı da sağlayacaktır. Aşağıdaki konu anlatımımızdan ziyade ilave olarak video konu anlatımımızı da izlemenizi tavsiye ediyoruz çünkü hızlı ve pratik yorumları burada anlatamadığımız şeyleri videoya sıkıştırabiliyoruz. Haydi başlayalım </a:t>
            </a:r>
            <a:r>
              <a:rPr lang="tr-TR" sz="1000" noProof="1">
                <a:cs typeface="Arial" panose="020B0604020202020204" pitchFamily="34" charset="0"/>
                <a:sym typeface="Wingdings" panose="05000000000000000000" pitchFamily="2" charset="2"/>
              </a:rPr>
              <a:t></a:t>
            </a:r>
            <a:endParaRPr lang="tr-TR" sz="1000" noProof="1">
              <a:cs typeface="Arial" panose="020B0604020202020204" pitchFamily="34" charset="0"/>
            </a:endParaRP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82" name="Metin kutusu 81">
            <a:extLst>
              <a:ext uri="{FF2B5EF4-FFF2-40B4-BE49-F238E27FC236}">
                <a16:creationId xmlns:a16="http://schemas.microsoft.com/office/drawing/2014/main" id="{FDE06059-55B5-4870-B8BC-F2C53C173CBC}"/>
              </a:ext>
            </a:extLst>
          </p:cNvPr>
          <p:cNvSpPr txBox="1"/>
          <p:nvPr/>
        </p:nvSpPr>
        <p:spPr>
          <a:xfrm>
            <a:off x="34030" y="2470227"/>
            <a:ext cx="3302648" cy="1938992"/>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İşçi problemleri çözerken üç önemli husus vardır. İşçilerin çalışma saati, saat başı yaptığı iş (icraat) ve ne kadar sürede bitirdiğidir. Bu çalışmalar saat olmak zorunda değildir ve tüm gün çalışma yapmıyor olabilirler. Günlük belli bir süre zarfında çalışma yapıldığı gibi ibareler soruda belirtilir.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Örneğin : Özdeş çalışma prensibine sahip olan 8 işçi günde 4 saat çalışarak bir işi 10 günde bitirebiliyorlar.  İşi bulabilmek için toplam kaç saat çalışıldığını bulalım. Günde 4 saat çalışılıyorsa 10 günde 40 saat çalışır bir işçi. 8 işçi olduğundan 320 saatte bu iş bitecektir. </a:t>
            </a:r>
          </a:p>
        </p:txBody>
      </p:sp>
      <p:pic>
        <p:nvPicPr>
          <p:cNvPr id="52" name="Resim 51">
            <a:extLst>
              <a:ext uri="{FF2B5EF4-FFF2-40B4-BE49-F238E27FC236}">
                <a16:creationId xmlns:a16="http://schemas.microsoft.com/office/drawing/2014/main" id="{1B86191A-D27B-48A1-9A9A-0DB5885A6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2525" y="51755"/>
            <a:ext cx="1449347" cy="207963"/>
          </a:xfrm>
          <a:prstGeom prst="rect">
            <a:avLst/>
          </a:prstGeom>
        </p:spPr>
      </p:pic>
      <p:sp>
        <p:nvSpPr>
          <p:cNvPr id="7" name="Dikdörtgen: Köşeleri Yuvarlatılmış 6">
            <a:extLst>
              <a:ext uri="{FF2B5EF4-FFF2-40B4-BE49-F238E27FC236}">
                <a16:creationId xmlns:a16="http://schemas.microsoft.com/office/drawing/2014/main" id="{44101951-A02B-4A48-8130-D757DC126D89}"/>
              </a:ext>
            </a:extLst>
          </p:cNvPr>
          <p:cNvSpPr/>
          <p:nvPr/>
        </p:nvSpPr>
        <p:spPr>
          <a:xfrm>
            <a:off x="65550" y="4392299"/>
            <a:ext cx="3201458" cy="4219485"/>
          </a:xfrm>
          <a:prstGeom prst="roundRect">
            <a:avLst/>
          </a:prstGeom>
          <a:solidFill>
            <a:schemeClr val="accent2">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3" name="Metin kutusu 52">
            <a:extLst>
              <a:ext uri="{FF2B5EF4-FFF2-40B4-BE49-F238E27FC236}">
                <a16:creationId xmlns:a16="http://schemas.microsoft.com/office/drawing/2014/main" id="{25015718-EE19-42B4-892B-0CC35B1A54B8}"/>
              </a:ext>
            </a:extLst>
          </p:cNvPr>
          <p:cNvSpPr txBox="1"/>
          <p:nvPr/>
        </p:nvSpPr>
        <p:spPr>
          <a:xfrm>
            <a:off x="76298" y="4425898"/>
            <a:ext cx="3120531"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Problemlerde Patron Sensin!</a:t>
            </a:r>
          </a:p>
        </p:txBody>
      </p:sp>
      <p:sp>
        <p:nvSpPr>
          <p:cNvPr id="54" name="Metin kutusu 53">
            <a:extLst>
              <a:ext uri="{FF2B5EF4-FFF2-40B4-BE49-F238E27FC236}">
                <a16:creationId xmlns:a16="http://schemas.microsoft.com/office/drawing/2014/main" id="{919400BD-8789-4F83-B56F-38BE07E97D37}"/>
              </a:ext>
            </a:extLst>
          </p:cNvPr>
          <p:cNvSpPr txBox="1"/>
          <p:nvPr/>
        </p:nvSpPr>
        <p:spPr>
          <a:xfrm>
            <a:off x="115754" y="4736093"/>
            <a:ext cx="3227760" cy="3785652"/>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Direkt olarak iş ile ilgili bir şey sorulmuyorsa yani net olarak iş ne kadardır diye işe kendiniz değer verebilirsiniz. Örneğin ister 240, ister 240x bir fark olmayacaktır. Peki yolu yordamı nedir? Sorudaki sayıların hepsine tam bölünen bir değer atarsanız işiniz çok kolaylaşır ve işlem yaparken daha kötü durumlara nazaran daha pratik ve hızlı yapabilirsiniz. </a:t>
            </a:r>
          </a:p>
          <a:p>
            <a:pPr marL="171450" indent="-171450">
              <a:buFont typeface="Wingdings" panose="05000000000000000000" pitchFamily="2" charset="2"/>
              <a:buChar char="q"/>
            </a:pPr>
            <a:r>
              <a:rPr lang="tr-TR" sz="1000" noProof="1">
                <a:cs typeface="Arial" panose="020B0604020202020204" pitchFamily="34" charset="0"/>
              </a:rPr>
              <a:t>Bir çok problem için bu geçerlidir. Dikkat etmeniz gereken şey değer verdiğiniz şey soruda net bilgi şekilde verilmemiş veya istenmiyor olmasıdır. Eğer böyle aksine verirsek sorudaki bilgiyle çelişkiye düşeriz. Bu durumda da soruyu yanlış çözümleriz. </a:t>
            </a:r>
          </a:p>
          <a:p>
            <a:pPr marL="171450" indent="-171450">
              <a:buFont typeface="Wingdings" panose="05000000000000000000" pitchFamily="2" charset="2"/>
              <a:buChar char="q"/>
            </a:pPr>
            <a:r>
              <a:rPr lang="tr-TR" sz="1000" noProof="1">
                <a:cs typeface="Arial" panose="020B0604020202020204" pitchFamily="34" charset="0"/>
              </a:rPr>
              <a:t>Ayrıca oran orantı içeren problemlerde de oran yapacağınız için bu taktiği daha fazla kullanabilirsiniz. Örneğin yukarıdaki gibi 240 veya 240x demek farketmez demiştik. Toplamları 240 olacak şekilde rastgele bir oran yapalım. 180/60 ile 180x/60x  burada x ler sadeleşeceğinden ötürü bir fark oluşmayacaktır. Her soruda tabi ki bunu yapamazsınız fakat bazı sorularda ciddi boyutta işe yaramaktadır ve çevremdeki arkadaşlara bu tarz taktikleri paylaştığımda çok olumlu dönüşler aldım. Daha fazla detay için videolarımızı kesintisiz izlemenizi tavsiye ediyoruz. Hepsi çok değerli bilgiler içeriyor ve esirgemeden paylaşıyoruz </a:t>
            </a:r>
            <a:r>
              <a:rPr lang="tr-TR" sz="1000" noProof="1">
                <a:cs typeface="Arial" panose="020B0604020202020204" pitchFamily="34" charset="0"/>
                <a:sym typeface="Wingdings" panose="05000000000000000000" pitchFamily="2" charset="2"/>
              </a:rPr>
              <a:t></a:t>
            </a:r>
            <a:endParaRPr lang="tr-TR" sz="1000" noProof="1">
              <a:cs typeface="Arial" panose="020B0604020202020204" pitchFamily="34" charset="0"/>
            </a:endParaRPr>
          </a:p>
        </p:txBody>
      </p:sp>
      <p:sp>
        <p:nvSpPr>
          <p:cNvPr id="31" name="Dikdörtgen: Köşeleri Yuvarlatılmış 30">
            <a:extLst>
              <a:ext uri="{FF2B5EF4-FFF2-40B4-BE49-F238E27FC236}">
                <a16:creationId xmlns:a16="http://schemas.microsoft.com/office/drawing/2014/main" id="{60A24AD2-D716-4777-93A9-DA5AD67EC694}"/>
              </a:ext>
            </a:extLst>
          </p:cNvPr>
          <p:cNvSpPr/>
          <p:nvPr/>
        </p:nvSpPr>
        <p:spPr>
          <a:xfrm>
            <a:off x="3548094" y="6359987"/>
            <a:ext cx="3114353" cy="2375524"/>
          </a:xfrm>
          <a:prstGeom prst="roundRect">
            <a:avLst/>
          </a:prstGeom>
          <a:solidFill>
            <a:schemeClr val="accent4">
              <a:lumMod val="20000"/>
              <a:lumOff val="8000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Ok: Aşağı 31">
            <a:extLst>
              <a:ext uri="{FF2B5EF4-FFF2-40B4-BE49-F238E27FC236}">
                <a16:creationId xmlns:a16="http://schemas.microsoft.com/office/drawing/2014/main" id="{55F2A7EF-286E-422F-A0EB-B11524590B7E}"/>
              </a:ext>
            </a:extLst>
          </p:cNvPr>
          <p:cNvSpPr/>
          <p:nvPr/>
        </p:nvSpPr>
        <p:spPr>
          <a:xfrm rot="16200000">
            <a:off x="4949100" y="6397825"/>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4" name="Ok: Aşağı 33">
            <a:extLst>
              <a:ext uri="{FF2B5EF4-FFF2-40B4-BE49-F238E27FC236}">
                <a16:creationId xmlns:a16="http://schemas.microsoft.com/office/drawing/2014/main" id="{7FD1E0E3-82A3-45C7-8A23-1F0F8DE81788}"/>
              </a:ext>
            </a:extLst>
          </p:cNvPr>
          <p:cNvSpPr/>
          <p:nvPr/>
        </p:nvSpPr>
        <p:spPr>
          <a:xfrm rot="16200000">
            <a:off x="4949100" y="7160564"/>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Ok: Aşağı 34">
            <a:extLst>
              <a:ext uri="{FF2B5EF4-FFF2-40B4-BE49-F238E27FC236}">
                <a16:creationId xmlns:a16="http://schemas.microsoft.com/office/drawing/2014/main" id="{BBCD235C-BDA9-499B-A690-AE46EB61745C}"/>
              </a:ext>
            </a:extLst>
          </p:cNvPr>
          <p:cNvSpPr/>
          <p:nvPr/>
        </p:nvSpPr>
        <p:spPr>
          <a:xfrm rot="16200000">
            <a:off x="4946285" y="7899602"/>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6" name="Metin kutusu 35">
            <a:extLst>
              <a:ext uri="{FF2B5EF4-FFF2-40B4-BE49-F238E27FC236}">
                <a16:creationId xmlns:a16="http://schemas.microsoft.com/office/drawing/2014/main" id="{8060D750-6D51-494D-9044-FC100F8FFD64}"/>
              </a:ext>
            </a:extLst>
          </p:cNvPr>
          <p:cNvSpPr txBox="1"/>
          <p:nvPr/>
        </p:nvSpPr>
        <p:spPr>
          <a:xfrm>
            <a:off x="3728352" y="6604299"/>
            <a:ext cx="929948" cy="400110"/>
          </a:xfrm>
          <a:prstGeom prst="rect">
            <a:avLst/>
          </a:prstGeom>
          <a:noFill/>
        </p:spPr>
        <p:txBody>
          <a:bodyPr wrap="square" rtlCol="0">
            <a:spAutoFit/>
          </a:bodyPr>
          <a:lstStyle/>
          <a:p>
            <a:pPr algn="ctr"/>
            <a:r>
              <a:rPr lang="tr-TR" sz="1000" b="1" noProof="1">
                <a:cs typeface="Arial" panose="020B0604020202020204" pitchFamily="34" charset="0"/>
              </a:rPr>
              <a:t>Konu</a:t>
            </a:r>
          </a:p>
          <a:p>
            <a:pPr algn="ctr"/>
            <a:r>
              <a:rPr lang="tr-TR" sz="1000" b="1" noProof="1">
                <a:cs typeface="Arial" panose="020B0604020202020204" pitchFamily="34" charset="0"/>
              </a:rPr>
              <a:t> Anlatım</a:t>
            </a:r>
            <a:endParaRPr lang="tr-TR" sz="900" b="1" noProof="1">
              <a:cs typeface="Arial" panose="020B0604020202020204" pitchFamily="34" charset="0"/>
            </a:endParaRPr>
          </a:p>
        </p:txBody>
      </p:sp>
      <p:sp>
        <p:nvSpPr>
          <p:cNvPr id="37" name="Metin kutusu 36">
            <a:extLst>
              <a:ext uri="{FF2B5EF4-FFF2-40B4-BE49-F238E27FC236}">
                <a16:creationId xmlns:a16="http://schemas.microsoft.com/office/drawing/2014/main" id="{071C5A00-6137-4A25-A77F-C9C17E85D23C}"/>
              </a:ext>
            </a:extLst>
          </p:cNvPr>
          <p:cNvSpPr txBox="1"/>
          <p:nvPr/>
        </p:nvSpPr>
        <p:spPr>
          <a:xfrm>
            <a:off x="3728352" y="7324991"/>
            <a:ext cx="929948" cy="400110"/>
          </a:xfrm>
          <a:prstGeom prst="rect">
            <a:avLst/>
          </a:prstGeom>
          <a:noFill/>
        </p:spPr>
        <p:txBody>
          <a:bodyPr wrap="square" rtlCol="0">
            <a:spAutoFit/>
          </a:bodyPr>
          <a:lstStyle/>
          <a:p>
            <a:pPr algn="ctr"/>
            <a:r>
              <a:rPr lang="tr-TR" sz="1000" b="1" noProof="1">
                <a:cs typeface="Arial" panose="020B0604020202020204" pitchFamily="34" charset="0"/>
              </a:rPr>
              <a:t>1-10.Sorular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39" name="Metin kutusu 38">
            <a:extLst>
              <a:ext uri="{FF2B5EF4-FFF2-40B4-BE49-F238E27FC236}">
                <a16:creationId xmlns:a16="http://schemas.microsoft.com/office/drawing/2014/main" id="{C396995B-B049-41FF-9603-F465C62814C3}"/>
              </a:ext>
            </a:extLst>
          </p:cNvPr>
          <p:cNvSpPr txBox="1"/>
          <p:nvPr/>
        </p:nvSpPr>
        <p:spPr>
          <a:xfrm>
            <a:off x="3754335" y="8036281"/>
            <a:ext cx="929948" cy="400110"/>
          </a:xfrm>
          <a:prstGeom prst="rect">
            <a:avLst/>
          </a:prstGeom>
          <a:noFill/>
        </p:spPr>
        <p:txBody>
          <a:bodyPr wrap="square" rtlCol="0">
            <a:spAutoFit/>
          </a:bodyPr>
          <a:lstStyle/>
          <a:p>
            <a:pPr algn="ctr"/>
            <a:r>
              <a:rPr lang="tr-TR" sz="1000" b="1" noProof="1">
                <a:cs typeface="Arial" panose="020B0604020202020204" pitchFamily="34" charset="0"/>
              </a:rPr>
              <a:t>11-20.Sorular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pic>
        <p:nvPicPr>
          <p:cNvPr id="40" name="Grafik 39">
            <a:extLst>
              <a:ext uri="{FF2B5EF4-FFF2-40B4-BE49-F238E27FC236}">
                <a16:creationId xmlns:a16="http://schemas.microsoft.com/office/drawing/2014/main" id="{ABEA4DD0-A455-4C33-87C0-91663087B39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84946" y="6457174"/>
            <a:ext cx="645654" cy="645654"/>
          </a:xfrm>
          <a:prstGeom prst="rect">
            <a:avLst/>
          </a:prstGeom>
        </p:spPr>
      </p:pic>
      <p:pic>
        <p:nvPicPr>
          <p:cNvPr id="41" name="Grafik 40">
            <a:extLst>
              <a:ext uri="{FF2B5EF4-FFF2-40B4-BE49-F238E27FC236}">
                <a16:creationId xmlns:a16="http://schemas.microsoft.com/office/drawing/2014/main" id="{42F53758-A8CE-4603-B923-F379861883CD}"/>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84946" y="7200015"/>
            <a:ext cx="645654" cy="645654"/>
          </a:xfrm>
          <a:prstGeom prst="rect">
            <a:avLst/>
          </a:prstGeom>
        </p:spPr>
      </p:pic>
      <p:pic>
        <p:nvPicPr>
          <p:cNvPr id="42" name="Grafik 41">
            <a:extLst>
              <a:ext uri="{FF2B5EF4-FFF2-40B4-BE49-F238E27FC236}">
                <a16:creationId xmlns:a16="http://schemas.microsoft.com/office/drawing/2014/main" id="{5FDF02BD-7243-4486-90EA-37605CCE301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82365" y="7958021"/>
            <a:ext cx="645654" cy="645654"/>
          </a:xfrm>
          <a:prstGeom prst="rect">
            <a:avLst/>
          </a:prstGeom>
        </p:spPr>
      </p:pic>
      <p:sp>
        <p:nvSpPr>
          <p:cNvPr id="43" name="Ok: Beşgen 42">
            <a:extLst>
              <a:ext uri="{FF2B5EF4-FFF2-40B4-BE49-F238E27FC236}">
                <a16:creationId xmlns:a16="http://schemas.microsoft.com/office/drawing/2014/main" id="{38A7DCCB-DE80-4251-87E9-9E7B239A961C}"/>
              </a:ext>
            </a:extLst>
          </p:cNvPr>
          <p:cNvSpPr/>
          <p:nvPr/>
        </p:nvSpPr>
        <p:spPr>
          <a:xfrm>
            <a:off x="3607957" y="5958119"/>
            <a:ext cx="3157657" cy="281148"/>
          </a:xfrm>
          <a:prstGeom prst="homePlate">
            <a:avLst/>
          </a:prstGeom>
          <a:solidFill>
            <a:srgbClr val="99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b="1" dirty="0">
                <a:ln w="3175">
                  <a:noFill/>
                </a:ln>
                <a:solidFill>
                  <a:schemeClr val="bg1"/>
                </a:solidFill>
              </a:rPr>
              <a:t>Konu Anlatımlar ve Video Çözümler</a:t>
            </a:r>
          </a:p>
        </p:txBody>
      </p:sp>
      <p:sp>
        <p:nvSpPr>
          <p:cNvPr id="44" name="Akış Çizelgesi: Depolanmış Veri 43">
            <a:extLst>
              <a:ext uri="{FF2B5EF4-FFF2-40B4-BE49-F238E27FC236}">
                <a16:creationId xmlns:a16="http://schemas.microsoft.com/office/drawing/2014/main" id="{133BD5F4-38BF-4B78-83B4-324B335A4237}"/>
              </a:ext>
            </a:extLst>
          </p:cNvPr>
          <p:cNvSpPr/>
          <p:nvPr/>
        </p:nvSpPr>
        <p:spPr>
          <a:xfrm rot="10800000">
            <a:off x="3624897" y="6592978"/>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45" name="Akış Çizelgesi: Depolanmış Veri 44">
            <a:extLst>
              <a:ext uri="{FF2B5EF4-FFF2-40B4-BE49-F238E27FC236}">
                <a16:creationId xmlns:a16="http://schemas.microsoft.com/office/drawing/2014/main" id="{650F048E-7DD3-416F-B7DE-7BDBBE08987F}"/>
              </a:ext>
            </a:extLst>
          </p:cNvPr>
          <p:cNvSpPr/>
          <p:nvPr/>
        </p:nvSpPr>
        <p:spPr>
          <a:xfrm rot="10800000">
            <a:off x="3621537" y="7316928"/>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46" name="Akış Çizelgesi: Depolanmış Veri 45">
            <a:extLst>
              <a:ext uri="{FF2B5EF4-FFF2-40B4-BE49-F238E27FC236}">
                <a16:creationId xmlns:a16="http://schemas.microsoft.com/office/drawing/2014/main" id="{5C6FC36F-6A50-4D99-B7A9-86B97F5AE188}"/>
              </a:ext>
            </a:extLst>
          </p:cNvPr>
          <p:cNvSpPr/>
          <p:nvPr/>
        </p:nvSpPr>
        <p:spPr>
          <a:xfrm rot="10800000">
            <a:off x="3619571" y="8034720"/>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47" name="Metin kutusu 46">
            <a:extLst>
              <a:ext uri="{FF2B5EF4-FFF2-40B4-BE49-F238E27FC236}">
                <a16:creationId xmlns:a16="http://schemas.microsoft.com/office/drawing/2014/main" id="{30214D84-8C34-4764-860B-2717CBE67DC2}"/>
              </a:ext>
            </a:extLst>
          </p:cNvPr>
          <p:cNvSpPr txBox="1"/>
          <p:nvPr/>
        </p:nvSpPr>
        <p:spPr>
          <a:xfrm>
            <a:off x="3691048" y="6578630"/>
            <a:ext cx="929948" cy="400110"/>
          </a:xfrm>
          <a:prstGeom prst="rect">
            <a:avLst/>
          </a:prstGeom>
          <a:noFill/>
        </p:spPr>
        <p:txBody>
          <a:bodyPr wrap="square" rtlCol="0">
            <a:spAutoFit/>
          </a:bodyPr>
          <a:lstStyle/>
          <a:p>
            <a:pPr algn="ctr"/>
            <a:r>
              <a:rPr lang="tr-TR" sz="1000" b="1" noProof="1">
                <a:cs typeface="Arial" panose="020B0604020202020204" pitchFamily="34" charset="0"/>
              </a:rPr>
              <a:t>Konu</a:t>
            </a:r>
          </a:p>
          <a:p>
            <a:pPr algn="ctr"/>
            <a:r>
              <a:rPr lang="tr-TR" sz="1000" b="1" noProof="1">
                <a:cs typeface="Arial" panose="020B0604020202020204" pitchFamily="34" charset="0"/>
              </a:rPr>
              <a:t> Anlatım</a:t>
            </a:r>
            <a:endParaRPr lang="tr-TR" sz="900" b="1" noProof="1">
              <a:cs typeface="Arial" panose="020B0604020202020204" pitchFamily="34" charset="0"/>
            </a:endParaRPr>
          </a:p>
        </p:txBody>
      </p:sp>
      <p:sp>
        <p:nvSpPr>
          <p:cNvPr id="48" name="Metin kutusu 47">
            <a:extLst>
              <a:ext uri="{FF2B5EF4-FFF2-40B4-BE49-F238E27FC236}">
                <a16:creationId xmlns:a16="http://schemas.microsoft.com/office/drawing/2014/main" id="{BAF37359-0B8A-44A9-9983-0FE4DD2022DE}"/>
              </a:ext>
            </a:extLst>
          </p:cNvPr>
          <p:cNvSpPr txBox="1"/>
          <p:nvPr/>
        </p:nvSpPr>
        <p:spPr>
          <a:xfrm>
            <a:off x="3699069" y="7313670"/>
            <a:ext cx="929948" cy="400110"/>
          </a:xfrm>
          <a:prstGeom prst="rect">
            <a:avLst/>
          </a:prstGeom>
          <a:noFill/>
        </p:spPr>
        <p:txBody>
          <a:bodyPr wrap="square" rtlCol="0">
            <a:spAutoFit/>
          </a:bodyPr>
          <a:lstStyle/>
          <a:p>
            <a:pPr algn="ctr"/>
            <a:r>
              <a:rPr lang="tr-TR" sz="1000" b="1" noProof="1">
                <a:cs typeface="Arial" panose="020B0604020202020204" pitchFamily="34" charset="0"/>
              </a:rPr>
              <a:t>1-10.Sorular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49" name="Metin kutusu 48">
            <a:extLst>
              <a:ext uri="{FF2B5EF4-FFF2-40B4-BE49-F238E27FC236}">
                <a16:creationId xmlns:a16="http://schemas.microsoft.com/office/drawing/2014/main" id="{12653BC7-314A-424B-8006-75C21D31DC02}"/>
              </a:ext>
            </a:extLst>
          </p:cNvPr>
          <p:cNvSpPr txBox="1"/>
          <p:nvPr/>
        </p:nvSpPr>
        <p:spPr>
          <a:xfrm>
            <a:off x="3725052" y="8024960"/>
            <a:ext cx="929948" cy="400110"/>
          </a:xfrm>
          <a:prstGeom prst="rect">
            <a:avLst/>
          </a:prstGeom>
          <a:noFill/>
        </p:spPr>
        <p:txBody>
          <a:bodyPr wrap="square" rtlCol="0">
            <a:spAutoFit/>
          </a:bodyPr>
          <a:lstStyle/>
          <a:p>
            <a:pPr algn="ctr"/>
            <a:r>
              <a:rPr lang="tr-TR" sz="1000" b="1" noProof="1">
                <a:cs typeface="Arial" panose="020B0604020202020204" pitchFamily="34" charset="0"/>
              </a:rPr>
              <a:t>11-20.Sorular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50" name="Metin kutusu 49">
            <a:extLst>
              <a:ext uri="{FF2B5EF4-FFF2-40B4-BE49-F238E27FC236}">
                <a16:creationId xmlns:a16="http://schemas.microsoft.com/office/drawing/2014/main" id="{0C53B998-9CCD-4AE3-8B27-732F2182CED6}"/>
              </a:ext>
            </a:extLst>
          </p:cNvPr>
          <p:cNvSpPr txBox="1"/>
          <p:nvPr/>
        </p:nvSpPr>
        <p:spPr>
          <a:xfrm>
            <a:off x="3529914" y="387529"/>
            <a:ext cx="3250440"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Orantı Durumları</a:t>
            </a:r>
          </a:p>
        </p:txBody>
      </p:sp>
      <mc:AlternateContent xmlns:mc="http://schemas.openxmlformats.org/markup-compatibility/2006" xmlns:a14="http://schemas.microsoft.com/office/drawing/2010/main">
        <mc:Choice Requires="a14">
          <p:sp>
            <p:nvSpPr>
              <p:cNvPr id="55" name="Metin kutusu 54">
                <a:extLst>
                  <a:ext uri="{FF2B5EF4-FFF2-40B4-BE49-F238E27FC236}">
                    <a16:creationId xmlns:a16="http://schemas.microsoft.com/office/drawing/2014/main" id="{0AB9429D-1B2F-4868-A419-61397C93C974}"/>
                  </a:ext>
                </a:extLst>
              </p:cNvPr>
              <p:cNvSpPr txBox="1"/>
              <p:nvPr/>
            </p:nvSpPr>
            <p:spPr>
              <a:xfrm>
                <a:off x="3592048" y="675149"/>
                <a:ext cx="3126171" cy="861774"/>
              </a:xfrm>
              <a:prstGeom prst="rect">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tr-TR" sz="1000" dirty="0"/>
                  <a:t>Yapılan iş miktarı ; işçi sayısı, işçi hızı ve süre ile doğru orantılıdır. Aşağıdaki gibi orantı kurulabilir.</a:t>
                </a:r>
                <a:br>
                  <a:rPr lang="tr-TR" sz="1000" dirty="0"/>
                </a:br>
                <a:r>
                  <a:rPr lang="tr-TR" sz="1000" dirty="0">
                    <a:solidFill>
                      <a:schemeClr val="tx1"/>
                    </a:solidFill>
                  </a:rPr>
                  <a:t>İş Miktarı </a:t>
                </a:r>
                <a:br>
                  <a:rPr lang="tr-TR" sz="1000" dirty="0">
                    <a:solidFill>
                      <a:schemeClr val="tx1"/>
                    </a:solidFill>
                  </a:rPr>
                </a:br>
                <a:br>
                  <a:rPr lang="tr-TR" sz="1000" dirty="0">
                    <a:solidFill>
                      <a:schemeClr val="tx1"/>
                    </a:solidFill>
                  </a:rPr>
                </a:br>
                <a:r>
                  <a:rPr lang="tr-TR" sz="1000" dirty="0">
                    <a:solidFill>
                      <a:schemeClr val="tx1"/>
                    </a:solidFill>
                  </a:rPr>
                  <a:t>(İşçi sayısı) </a:t>
                </a:r>
                <a14:m>
                  <m:oMath xmlns:m="http://schemas.openxmlformats.org/officeDocument/2006/math">
                    <m:r>
                      <a:rPr lang="tr-TR" sz="1000" i="1" dirty="0" smtClean="0">
                        <a:solidFill>
                          <a:schemeClr val="tx1"/>
                        </a:solidFill>
                        <a:latin typeface="Cambria Math" panose="02040503050406030204" pitchFamily="18" charset="0"/>
                        <a:ea typeface="Cambria Math" panose="02040503050406030204" pitchFamily="18" charset="0"/>
                      </a:rPr>
                      <m:t>∙</m:t>
                    </m:r>
                  </m:oMath>
                </a14:m>
                <a:r>
                  <a:rPr lang="tr-TR" sz="1000" dirty="0">
                    <a:solidFill>
                      <a:schemeClr val="tx1"/>
                    </a:solidFill>
                  </a:rPr>
                  <a:t>  (İşçi Hızı)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dirty="0">
                    <a:solidFill>
                      <a:schemeClr val="tx1"/>
                    </a:solidFill>
                  </a:rPr>
                  <a:t> (İş bitim süresi)</a:t>
                </a:r>
                <a:endParaRPr lang="tr-TR" sz="1000" dirty="0"/>
              </a:p>
            </p:txBody>
          </p:sp>
        </mc:Choice>
        <mc:Fallback xmlns="">
          <p:sp>
            <p:nvSpPr>
              <p:cNvPr id="55" name="Metin kutusu 54">
                <a:extLst>
                  <a:ext uri="{FF2B5EF4-FFF2-40B4-BE49-F238E27FC236}">
                    <a16:creationId xmlns:a16="http://schemas.microsoft.com/office/drawing/2014/main" id="{0AB9429D-1B2F-4868-A419-61397C93C974}"/>
                  </a:ext>
                </a:extLst>
              </p:cNvPr>
              <p:cNvSpPr txBox="1">
                <a:spLocks noRot="1" noChangeAspect="1" noMove="1" noResize="1" noEditPoints="1" noAdjustHandles="1" noChangeArrowheads="1" noChangeShapeType="1" noTextEdit="1"/>
              </p:cNvSpPr>
              <p:nvPr/>
            </p:nvSpPr>
            <p:spPr>
              <a:xfrm>
                <a:off x="3592048" y="675149"/>
                <a:ext cx="3126171" cy="861774"/>
              </a:xfrm>
              <a:prstGeom prst="rect">
                <a:avLst/>
              </a:prstGeom>
              <a:blipFill>
                <a:blip r:embed="rId9"/>
                <a:stretch>
                  <a:fillRect b="-3546"/>
                </a:stretch>
              </a:blipFill>
              <a:ln>
                <a:noFill/>
              </a:ln>
            </p:spPr>
            <p:txBody>
              <a:bodyPr/>
              <a:lstStyle/>
              <a:p>
                <a:r>
                  <a:rPr lang="tr-TR">
                    <a:noFill/>
                  </a:rPr>
                  <a:t> </a:t>
                </a:r>
              </a:p>
            </p:txBody>
          </p:sp>
        </mc:Fallback>
      </mc:AlternateContent>
      <p:cxnSp>
        <p:nvCxnSpPr>
          <p:cNvPr id="6" name="Düz Bağlayıcı 5">
            <a:extLst>
              <a:ext uri="{FF2B5EF4-FFF2-40B4-BE49-F238E27FC236}">
                <a16:creationId xmlns:a16="http://schemas.microsoft.com/office/drawing/2014/main" id="{CF241383-CF5A-4B73-8426-1F2FA1FA9A5E}"/>
              </a:ext>
            </a:extLst>
          </p:cNvPr>
          <p:cNvCxnSpPr/>
          <p:nvPr/>
        </p:nvCxnSpPr>
        <p:spPr>
          <a:xfrm>
            <a:off x="3929458" y="1259632"/>
            <a:ext cx="2395957" cy="0"/>
          </a:xfrm>
          <a:prstGeom prst="line">
            <a:avLst/>
          </a:prstGeom>
        </p:spPr>
        <p:style>
          <a:lnRef idx="1">
            <a:schemeClr val="dk1"/>
          </a:lnRef>
          <a:fillRef idx="0">
            <a:schemeClr val="dk1"/>
          </a:fillRef>
          <a:effectRef idx="0">
            <a:schemeClr val="dk1"/>
          </a:effectRef>
          <a:fontRef idx="minor">
            <a:schemeClr val="tx1"/>
          </a:fontRef>
        </p:style>
      </p:cxnSp>
      <p:sp>
        <p:nvSpPr>
          <p:cNvPr id="56" name="Metin kutusu 55">
            <a:extLst>
              <a:ext uri="{FF2B5EF4-FFF2-40B4-BE49-F238E27FC236}">
                <a16:creationId xmlns:a16="http://schemas.microsoft.com/office/drawing/2014/main" id="{6ECA89CD-9192-4E4D-97C0-C4DDE0DCF1E0}"/>
              </a:ext>
            </a:extLst>
          </p:cNvPr>
          <p:cNvSpPr txBox="1"/>
          <p:nvPr/>
        </p:nvSpPr>
        <p:spPr>
          <a:xfrm>
            <a:off x="3562665" y="1586120"/>
            <a:ext cx="3184935" cy="1785104"/>
          </a:xfrm>
          <a:prstGeom prst="rect">
            <a:avLst/>
          </a:prstGeom>
          <a:solidFill>
            <a:schemeClr val="accent1">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tr-TR" sz="1000" dirty="0">
                <a:solidFill>
                  <a:schemeClr val="tx1"/>
                </a:solidFill>
              </a:rPr>
              <a:t>Ancak sadece orantı mantığı olarak bilin ezberlemeniz gerekmiyor ki zaten çoğu soruyu biz daha basit yollardan çözümünü öğreteceğiz, problemlerde patronun soruyu çözen yani sizin olduğunu tekrardan vurgulayacağız.</a:t>
            </a:r>
            <a:br>
              <a:rPr lang="tr-TR" sz="1000" dirty="0">
                <a:solidFill>
                  <a:schemeClr val="tx1"/>
                </a:solidFill>
              </a:rPr>
            </a:br>
            <a:r>
              <a:rPr lang="tr-TR" sz="1000" dirty="0">
                <a:solidFill>
                  <a:schemeClr val="tx1"/>
                </a:solidFill>
              </a:rPr>
              <a:t>İşçi sayısıyla işi bitirme süresi ters orantılıdır. Eğer doğru orantılı olsaydı 3 işçi aynı işi 3 günde yaparken 5 işçi 5 günde yapabiliyor olurdu. İşçiler tabi özdeş. Aynı işi el birliği ile daha fazla işçi çalışırsa bitiş süresi azalacaktır. </a:t>
            </a:r>
          </a:p>
          <a:p>
            <a:pPr algn="ctr"/>
            <a:r>
              <a:rPr lang="tr-TR" sz="1000" dirty="0">
                <a:solidFill>
                  <a:schemeClr val="tx1"/>
                </a:solidFill>
              </a:rPr>
              <a:t>Oran orantıda öğrendiğimiz üzere bir veri artarken diğeri azalıyorsa ters orantı denir. Ters orantıya da bu örnek verilebilir.  Sorularda en çok karıştırılan kısım budur.</a:t>
            </a:r>
          </a:p>
        </p:txBody>
      </p:sp>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F9519B9A-C954-40FF-905F-7415D3565F6B}"/>
                  </a:ext>
                </a:extLst>
              </p:cNvPr>
              <p:cNvSpPr txBox="1"/>
              <p:nvPr/>
            </p:nvSpPr>
            <p:spPr>
              <a:xfrm>
                <a:off x="3542584" y="3417662"/>
                <a:ext cx="3236356" cy="2402581"/>
              </a:xfrm>
              <a:prstGeom prst="rect">
                <a:avLst/>
              </a:prstGeom>
              <a:solidFill>
                <a:schemeClr val="accent2">
                  <a:lumMod val="20000"/>
                  <a:lumOff val="80000"/>
                </a:schemeClr>
              </a:solidFill>
            </p:spPr>
            <p:txBody>
              <a:bodyPr wrap="square">
                <a:spAutoFit/>
              </a:bodyPr>
              <a:lstStyle/>
              <a:p>
                <a:r>
                  <a:rPr lang="tr-TR" sz="1000" b="1" noProof="1">
                    <a:solidFill>
                      <a:schemeClr val="tx1"/>
                    </a:solidFill>
                  </a:rPr>
                  <a:t>Bir işin tamamını tek başına ;</a:t>
                </a:r>
              </a:p>
              <a:p>
                <a:endParaRPr lang="tr-TR" sz="1000" noProof="1"/>
              </a:p>
              <a:p>
                <a:pPr marL="171450" indent="-171450">
                  <a:buFont typeface="Wingdings" panose="05000000000000000000" pitchFamily="2" charset="2"/>
                  <a:buChar char="q"/>
                </a:pPr>
                <a:r>
                  <a:rPr lang="tr-TR" sz="1000" noProof="1">
                    <a:solidFill>
                      <a:schemeClr val="tx1"/>
                    </a:solidFill>
                  </a:rPr>
                  <a:t>İşçi a günde yaparsa, 1 günde </a:t>
                </a:r>
                <a14:m>
                  <m:oMath xmlns:m="http://schemas.openxmlformats.org/officeDocument/2006/math">
                    <m:f>
                      <m:fPr>
                        <m:ctrlPr>
                          <a:rPr lang="tr-TR" sz="800" i="1" noProof="1" dirty="0" smtClean="0">
                            <a:solidFill>
                              <a:schemeClr val="tx1"/>
                            </a:solidFill>
                            <a:latin typeface="Cambria Math" panose="02040503050406030204" pitchFamily="18" charset="0"/>
                          </a:rPr>
                        </m:ctrlPr>
                      </m:fPr>
                      <m:num>
                        <m:r>
                          <m:rPr>
                            <m:nor/>
                          </m:rPr>
                          <a:rPr lang="tr-TR" sz="800" b="0" i="0" noProof="1" dirty="0" smtClean="0">
                            <a:solidFill>
                              <a:schemeClr val="tx1"/>
                            </a:solidFill>
                          </a:rPr>
                          <m:t> </m:t>
                        </m:r>
                        <m:r>
                          <m:rPr>
                            <m:nor/>
                          </m:rPr>
                          <a:rPr lang="tr-TR" sz="800" i="0" noProof="1" dirty="0" smtClean="0">
                            <a:solidFill>
                              <a:schemeClr val="tx1"/>
                            </a:solidFill>
                          </a:rPr>
                          <m:t>1</m:t>
                        </m:r>
                        <m:r>
                          <m:rPr>
                            <m:nor/>
                          </m:rPr>
                          <a:rPr lang="tr-TR" sz="800" b="0" i="0" noProof="1" dirty="0" smtClean="0">
                            <a:solidFill>
                              <a:schemeClr val="tx1"/>
                            </a:solidFill>
                          </a:rPr>
                          <m:t> </m:t>
                        </m:r>
                      </m:num>
                      <m:den>
                        <m:r>
                          <m:rPr>
                            <m:nor/>
                          </m:rPr>
                          <a:rPr lang="tr-TR" sz="800" i="0" noProof="1" dirty="0" smtClean="0">
                            <a:solidFill>
                              <a:schemeClr val="tx1"/>
                            </a:solidFill>
                          </a:rPr>
                          <m:t>a</m:t>
                        </m:r>
                      </m:den>
                    </m:f>
                  </m:oMath>
                </a14:m>
                <a:r>
                  <a:rPr lang="tr-TR" sz="1000" noProof="1">
                    <a:solidFill>
                      <a:schemeClr val="tx1"/>
                    </a:solidFill>
                  </a:rPr>
                  <a:t>`sını</a:t>
                </a:r>
                <a:endParaRPr lang="tr-TR" sz="1000" noProof="1"/>
              </a:p>
              <a:p>
                <a:pPr marL="171450" indent="-171450">
                  <a:buFont typeface="Wingdings" panose="05000000000000000000" pitchFamily="2" charset="2"/>
                  <a:buChar char="q"/>
                </a:pPr>
                <a:r>
                  <a:rPr lang="tr-TR" sz="1000" noProof="1"/>
                  <a:t>İşçi b günde yaparsa, 1 günde </a:t>
                </a:r>
                <a14:m>
                  <m:oMath xmlns:m="http://schemas.openxmlformats.org/officeDocument/2006/math">
                    <m:f>
                      <m:fPr>
                        <m:ctrlPr>
                          <a:rPr lang="tr-TR" sz="800" i="1" noProof="1" dirty="0" smtClean="0">
                            <a:solidFill>
                              <a:schemeClr val="tx1"/>
                            </a:solidFill>
                            <a:latin typeface="Cambria Math" panose="02040503050406030204" pitchFamily="18" charset="0"/>
                          </a:rPr>
                        </m:ctrlPr>
                      </m:fPr>
                      <m:num>
                        <m:r>
                          <m:rPr>
                            <m:nor/>
                          </m:rPr>
                          <a:rPr lang="tr-TR" sz="800" b="0" i="0" noProof="1" dirty="0" smtClean="0">
                            <a:solidFill>
                              <a:schemeClr val="tx1"/>
                            </a:solidFill>
                          </a:rPr>
                          <m:t> </m:t>
                        </m:r>
                        <m:r>
                          <m:rPr>
                            <m:nor/>
                          </m:rPr>
                          <a:rPr lang="tr-TR" sz="800" i="0" noProof="1" dirty="0" smtClean="0">
                            <a:solidFill>
                              <a:schemeClr val="tx1"/>
                            </a:solidFill>
                          </a:rPr>
                          <m:t>1</m:t>
                        </m:r>
                        <m:r>
                          <m:rPr>
                            <m:nor/>
                          </m:rPr>
                          <a:rPr lang="tr-TR" sz="800" b="0" i="0" noProof="1" dirty="0" smtClean="0">
                            <a:solidFill>
                              <a:schemeClr val="tx1"/>
                            </a:solidFill>
                          </a:rPr>
                          <m:t> </m:t>
                        </m:r>
                      </m:num>
                      <m:den>
                        <m:r>
                          <m:rPr>
                            <m:nor/>
                          </m:rPr>
                          <a:rPr lang="tr-TR" sz="800" b="0" i="0" noProof="1" dirty="0" smtClean="0">
                            <a:solidFill>
                              <a:schemeClr val="tx1"/>
                            </a:solidFill>
                          </a:rPr>
                          <m:t>b</m:t>
                        </m:r>
                      </m:den>
                    </m:f>
                  </m:oMath>
                </a14:m>
                <a:r>
                  <a:rPr lang="tr-TR" sz="1000" noProof="1">
                    <a:solidFill>
                      <a:schemeClr val="tx1"/>
                    </a:solidFill>
                  </a:rPr>
                  <a:t>`sinı</a:t>
                </a:r>
                <a:endParaRPr lang="tr-TR" sz="1000" noProof="1"/>
              </a:p>
              <a:p>
                <a:pPr marL="171450" indent="-171450">
                  <a:buFont typeface="Wingdings" panose="05000000000000000000" pitchFamily="2" charset="2"/>
                  <a:buChar char="q"/>
                </a:pPr>
                <a:r>
                  <a:rPr lang="tr-TR" sz="1000" noProof="1"/>
                  <a:t>İşçi c günde yaparsa, 1 günde </a:t>
                </a:r>
                <a14:m>
                  <m:oMath xmlns:m="http://schemas.openxmlformats.org/officeDocument/2006/math">
                    <m:f>
                      <m:fPr>
                        <m:ctrlPr>
                          <a:rPr lang="tr-TR" sz="800" i="1" noProof="1" dirty="0" smtClean="0">
                            <a:solidFill>
                              <a:schemeClr val="tx1"/>
                            </a:solidFill>
                            <a:latin typeface="Cambria Math" panose="02040503050406030204" pitchFamily="18" charset="0"/>
                          </a:rPr>
                        </m:ctrlPr>
                      </m:fPr>
                      <m:num>
                        <m:r>
                          <m:rPr>
                            <m:nor/>
                          </m:rPr>
                          <a:rPr lang="tr-TR" sz="800" b="0" i="0" noProof="1" dirty="0" smtClean="0">
                            <a:solidFill>
                              <a:schemeClr val="tx1"/>
                            </a:solidFill>
                          </a:rPr>
                          <m:t> </m:t>
                        </m:r>
                        <m:r>
                          <m:rPr>
                            <m:nor/>
                          </m:rPr>
                          <a:rPr lang="tr-TR" sz="800" i="0" noProof="1" dirty="0" smtClean="0">
                            <a:solidFill>
                              <a:schemeClr val="tx1"/>
                            </a:solidFill>
                          </a:rPr>
                          <m:t>1</m:t>
                        </m:r>
                        <m:r>
                          <m:rPr>
                            <m:nor/>
                          </m:rPr>
                          <a:rPr lang="tr-TR" sz="800" b="0" i="0" noProof="1" dirty="0" smtClean="0">
                            <a:solidFill>
                              <a:schemeClr val="tx1"/>
                            </a:solidFill>
                          </a:rPr>
                          <m:t> </m:t>
                        </m:r>
                      </m:num>
                      <m:den>
                        <m:r>
                          <m:rPr>
                            <m:nor/>
                          </m:rPr>
                          <a:rPr lang="tr-TR" sz="800" b="0" i="0" noProof="1" dirty="0" smtClean="0">
                            <a:solidFill>
                              <a:schemeClr val="tx1"/>
                            </a:solidFill>
                          </a:rPr>
                          <m:t>c</m:t>
                        </m:r>
                      </m:den>
                    </m:f>
                  </m:oMath>
                </a14:m>
                <a:r>
                  <a:rPr lang="tr-TR" sz="1000" noProof="1">
                    <a:solidFill>
                      <a:schemeClr val="tx1"/>
                    </a:solidFill>
                  </a:rPr>
                  <a:t>`sinı</a:t>
                </a:r>
                <a:br>
                  <a:rPr lang="tr-TR" sz="1000" noProof="1"/>
                </a:br>
                <a:r>
                  <a:rPr lang="tr-TR" sz="1000" noProof="1">
                    <a:solidFill>
                      <a:schemeClr val="tx1"/>
                    </a:solidFill>
                  </a:rPr>
                  <a:t>Üç işçi birlikt</a:t>
                </a:r>
                <a:r>
                  <a:rPr lang="tr-TR" sz="1000" noProof="1"/>
                  <a:t>e, 1 günde </a:t>
                </a:r>
                <a:r>
                  <a:rPr lang="tr-TR" sz="1500" noProof="1"/>
                  <a:t>(</a:t>
                </a:r>
                <a:r>
                  <a:rPr lang="tr-TR" sz="1000" noProof="1"/>
                  <a:t>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noProof="1" dirty="0" smtClean="0"/>
                          <m:t> 1 </m:t>
                        </m:r>
                      </m:num>
                      <m:den>
                        <m:r>
                          <m:rPr>
                            <m:nor/>
                          </m:rPr>
                          <a:rPr lang="tr-TR" sz="800" noProof="1" dirty="0" smtClean="0"/>
                          <m:t>a</m:t>
                        </m:r>
                      </m:den>
                    </m:f>
                  </m:oMath>
                </a14:m>
                <a:r>
                  <a:rPr lang="tr-TR" sz="800" noProof="1"/>
                  <a:t> +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noProof="1" dirty="0" smtClean="0"/>
                          <m:t> 1 </m:t>
                        </m:r>
                      </m:num>
                      <m:den>
                        <m:r>
                          <m:rPr>
                            <m:nor/>
                          </m:rPr>
                          <a:rPr lang="tr-TR" sz="800" b="0" i="0" noProof="1" dirty="0" smtClean="0"/>
                          <m:t>b</m:t>
                        </m:r>
                      </m:den>
                    </m:f>
                  </m:oMath>
                </a14:m>
                <a:r>
                  <a:rPr lang="tr-TR" sz="800" noProof="1"/>
                  <a:t> +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noProof="1" dirty="0" smtClean="0"/>
                          <m:t> 1 </m:t>
                        </m:r>
                      </m:num>
                      <m:den>
                        <m:r>
                          <m:rPr>
                            <m:nor/>
                          </m:rPr>
                          <a:rPr lang="tr-TR" sz="800" b="0" i="0" noProof="1" dirty="0" smtClean="0"/>
                          <m:t>c</m:t>
                        </m:r>
                      </m:den>
                    </m:f>
                  </m:oMath>
                </a14:m>
                <a:r>
                  <a:rPr lang="tr-TR" sz="800" noProof="1"/>
                  <a:t> </a:t>
                </a:r>
                <a:r>
                  <a:rPr lang="tr-TR" sz="1500" noProof="1"/>
                  <a:t>)</a:t>
                </a:r>
                <a:r>
                  <a:rPr lang="tr-TR" sz="1000" noProof="1"/>
                  <a:t> sını yaparlar.</a:t>
                </a:r>
                <a:br>
                  <a:rPr lang="tr-TR" sz="1000" noProof="1"/>
                </a:br>
                <a:r>
                  <a:rPr lang="tr-TR" sz="1000" noProof="1"/>
                  <a:t>Üç işçi aynı işi birlikte x günde yaparsa, 1 günde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noProof="1" dirty="0" smtClean="0"/>
                          <m:t> 1 </m:t>
                        </m:r>
                      </m:num>
                      <m:den>
                        <m:r>
                          <m:rPr>
                            <m:nor/>
                          </m:rPr>
                          <a:rPr lang="tr-TR" sz="800" b="0" i="0" noProof="1" dirty="0" smtClean="0"/>
                          <m:t>x</m:t>
                        </m:r>
                      </m:den>
                    </m:f>
                    <m:r>
                      <a:rPr lang="tr-TR" sz="800" i="1" noProof="1" dirty="0" smtClean="0">
                        <a:latin typeface="Cambria Math" panose="02040503050406030204" pitchFamily="18" charset="0"/>
                      </a:rPr>
                      <m:t> </m:t>
                    </m:r>
                  </m:oMath>
                </a14:m>
                <a:r>
                  <a:rPr lang="tr-TR" sz="1000" noProof="1"/>
                  <a:t>ini yaparlar. Yani ( </a:t>
                </a:r>
                <a14:m>
                  <m:oMath xmlns:m="http://schemas.openxmlformats.org/officeDocument/2006/math">
                    <m:f>
                      <m:fPr>
                        <m:ctrlPr>
                          <a:rPr lang="tr-TR" sz="800" i="1" noProof="1" dirty="0">
                            <a:latin typeface="Cambria Math" panose="02040503050406030204" pitchFamily="18" charset="0"/>
                          </a:rPr>
                        </m:ctrlPr>
                      </m:fPr>
                      <m:num>
                        <m:r>
                          <m:rPr>
                            <m:nor/>
                          </m:rPr>
                          <a:rPr lang="tr-TR" sz="800" noProof="1" dirty="0"/>
                          <m:t> 1 </m:t>
                        </m:r>
                      </m:num>
                      <m:den>
                        <m:r>
                          <m:rPr>
                            <m:nor/>
                          </m:rPr>
                          <a:rPr lang="tr-TR" sz="800" noProof="1" dirty="0"/>
                          <m:t>a</m:t>
                        </m:r>
                      </m:den>
                    </m:f>
                  </m:oMath>
                </a14:m>
                <a:r>
                  <a:rPr lang="tr-TR" sz="800" noProof="1"/>
                  <a:t> + </a:t>
                </a:r>
                <a14:m>
                  <m:oMath xmlns:m="http://schemas.openxmlformats.org/officeDocument/2006/math">
                    <m:f>
                      <m:fPr>
                        <m:ctrlPr>
                          <a:rPr lang="tr-TR" sz="800" i="1" noProof="1" dirty="0">
                            <a:latin typeface="Cambria Math" panose="02040503050406030204" pitchFamily="18" charset="0"/>
                          </a:rPr>
                        </m:ctrlPr>
                      </m:fPr>
                      <m:num>
                        <m:r>
                          <m:rPr>
                            <m:nor/>
                          </m:rPr>
                          <a:rPr lang="tr-TR" sz="800" noProof="1" dirty="0"/>
                          <m:t> 1 </m:t>
                        </m:r>
                      </m:num>
                      <m:den>
                        <m:r>
                          <m:rPr>
                            <m:nor/>
                          </m:rPr>
                          <a:rPr lang="tr-TR" sz="800" noProof="1" dirty="0"/>
                          <m:t>b</m:t>
                        </m:r>
                      </m:den>
                    </m:f>
                  </m:oMath>
                </a14:m>
                <a:r>
                  <a:rPr lang="tr-TR" sz="800" noProof="1"/>
                  <a:t> + </a:t>
                </a:r>
                <a14:m>
                  <m:oMath xmlns:m="http://schemas.openxmlformats.org/officeDocument/2006/math">
                    <m:f>
                      <m:fPr>
                        <m:ctrlPr>
                          <a:rPr lang="tr-TR" sz="800" i="1" noProof="1" dirty="0">
                            <a:latin typeface="Cambria Math" panose="02040503050406030204" pitchFamily="18" charset="0"/>
                          </a:rPr>
                        </m:ctrlPr>
                      </m:fPr>
                      <m:num>
                        <m:r>
                          <m:rPr>
                            <m:nor/>
                          </m:rPr>
                          <a:rPr lang="tr-TR" sz="800" noProof="1" dirty="0"/>
                          <m:t> 1 </m:t>
                        </m:r>
                      </m:num>
                      <m:den>
                        <m:r>
                          <m:rPr>
                            <m:nor/>
                          </m:rPr>
                          <a:rPr lang="tr-TR" sz="800" noProof="1" dirty="0"/>
                          <m:t>c</m:t>
                        </m:r>
                      </m:den>
                    </m:f>
                  </m:oMath>
                </a14:m>
                <a:r>
                  <a:rPr lang="tr-TR" sz="800" noProof="1"/>
                  <a:t> </a:t>
                </a:r>
                <a:r>
                  <a:rPr lang="tr-TR" sz="1500" noProof="1"/>
                  <a:t>)</a:t>
                </a:r>
                <a:r>
                  <a:rPr lang="tr-TR" sz="1000" noProof="1"/>
                  <a:t> = </a:t>
                </a:r>
                <a14:m>
                  <m:oMath xmlns:m="http://schemas.openxmlformats.org/officeDocument/2006/math">
                    <m:f>
                      <m:fPr>
                        <m:ctrlPr>
                          <a:rPr lang="tr-TR" sz="800" i="1" noProof="1" dirty="0">
                            <a:latin typeface="Cambria Math" panose="02040503050406030204" pitchFamily="18" charset="0"/>
                          </a:rPr>
                        </m:ctrlPr>
                      </m:fPr>
                      <m:num>
                        <m:r>
                          <m:rPr>
                            <m:nor/>
                          </m:rPr>
                          <a:rPr lang="tr-TR" sz="800" noProof="1" dirty="0"/>
                          <m:t> 1 </m:t>
                        </m:r>
                      </m:num>
                      <m:den>
                        <m:r>
                          <m:rPr>
                            <m:nor/>
                          </m:rPr>
                          <a:rPr lang="tr-TR" sz="800" noProof="1" dirty="0"/>
                          <m:t>x</m:t>
                        </m:r>
                      </m:den>
                    </m:f>
                    <m:r>
                      <a:rPr lang="tr-TR" sz="800" i="1" noProof="1" dirty="0">
                        <a:latin typeface="Cambria Math" panose="02040503050406030204" pitchFamily="18" charset="0"/>
                      </a:rPr>
                      <m:t> </m:t>
                    </m:r>
                  </m:oMath>
                </a14:m>
                <a:r>
                  <a:rPr lang="tr-TR" sz="1000" noProof="1">
                    <a:solidFill>
                      <a:schemeClr val="tx1"/>
                    </a:solidFill>
                  </a:rPr>
                  <a:t>olacaktır. </a:t>
                </a:r>
                <a:br>
                  <a:rPr lang="tr-TR" sz="1000" noProof="1">
                    <a:solidFill>
                      <a:schemeClr val="tx1"/>
                    </a:solidFill>
                  </a:rPr>
                </a:br>
                <a:endParaRPr lang="tr-TR" sz="1000" noProof="1"/>
              </a:p>
              <a:p>
                <a:r>
                  <a:rPr lang="tr-TR" sz="1000" noProof="1">
                    <a:solidFill>
                      <a:schemeClr val="tx1"/>
                    </a:solidFill>
                  </a:rPr>
                  <a:t>Ayrıca yol = hız . zaman diye bir formül öğrenmiştik kanıtı ve mantığını da hareket problemlerinde vermiştik. Benzetme yapalım yol = iş miktarı olsun, hızımız işçinin kapasitesi olsun. Zaman da bu şekilde bulunabilir.</a:t>
                </a:r>
              </a:p>
            </p:txBody>
          </p:sp>
        </mc:Choice>
        <mc:Fallback xmlns="">
          <p:sp>
            <p:nvSpPr>
              <p:cNvPr id="58" name="Metin kutusu 57">
                <a:extLst>
                  <a:ext uri="{FF2B5EF4-FFF2-40B4-BE49-F238E27FC236}">
                    <a16:creationId xmlns:a16="http://schemas.microsoft.com/office/drawing/2014/main" id="{F9519B9A-C954-40FF-905F-7415D3565F6B}"/>
                  </a:ext>
                </a:extLst>
              </p:cNvPr>
              <p:cNvSpPr txBox="1">
                <a:spLocks noRot="1" noChangeAspect="1" noMove="1" noResize="1" noEditPoints="1" noAdjustHandles="1" noChangeArrowheads="1" noChangeShapeType="1" noTextEdit="1"/>
              </p:cNvSpPr>
              <p:nvPr/>
            </p:nvSpPr>
            <p:spPr>
              <a:xfrm>
                <a:off x="3542584" y="3417662"/>
                <a:ext cx="3236356" cy="2402581"/>
              </a:xfrm>
              <a:prstGeom prst="rect">
                <a:avLst/>
              </a:prstGeom>
              <a:blipFill>
                <a:blip r:embed="rId10"/>
                <a:stretch>
                  <a:fillRect b="-508"/>
                </a:stretch>
              </a:blipFill>
            </p:spPr>
            <p:txBody>
              <a:bodyPr/>
              <a:lstStyle/>
              <a:p>
                <a:r>
                  <a:rPr lang="tr-TR">
                    <a:noFill/>
                  </a:rPr>
                  <a:t> </a:t>
                </a:r>
              </a:p>
            </p:txBody>
          </p:sp>
        </mc:Fallback>
      </mc:AlternateContent>
    </p:spTree>
    <p:extLst>
      <p:ext uri="{BB962C8B-B14F-4D97-AF65-F5344CB8AC3E}">
        <p14:creationId xmlns:p14="http://schemas.microsoft.com/office/powerpoint/2010/main" val="3848593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96417" y="216630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89130" y="5706386"/>
            <a:ext cx="3192957" cy="281148"/>
          </a:xfrm>
          <a:prstGeom prst="homePlate">
            <a:avLst/>
          </a:prstGeom>
          <a:solidFill>
            <a:srgbClr val="00B0F0"/>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bg1"/>
                </a:solidFill>
              </a:rPr>
              <a:t>Sınavda bu sorular sorulur mu?</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4815" y="484350"/>
            <a:ext cx="2375535" cy="307777"/>
          </a:xfrm>
          <a:prstGeom prst="rect">
            <a:avLst/>
          </a:prstGeom>
          <a:noFill/>
        </p:spPr>
        <p:txBody>
          <a:bodyPr wrap="square">
            <a:spAutoFit/>
          </a:bodyPr>
          <a:lstStyle/>
          <a:p>
            <a:pPr algn="ctr"/>
            <a:r>
              <a:rPr lang="tr-TR" sz="700" i="0" dirty="0">
                <a:effectLst/>
                <a:latin typeface="Arial Narrow" panose="020B0606020202030204" pitchFamily="34" charset="0"/>
              </a:rPr>
              <a:t>“Hak etmeyene hak etmediği bilgiyi vermek zulümdür. ” </a:t>
            </a:r>
            <a:br>
              <a:rPr lang="tr-TR" sz="700" i="0" dirty="0">
                <a:effectLst/>
                <a:latin typeface="Arial Narrow" panose="020B0606020202030204" pitchFamily="34" charset="0"/>
              </a:rPr>
            </a:br>
            <a:r>
              <a:rPr lang="tr-TR" sz="700" i="0" dirty="0">
                <a:effectLst/>
                <a:latin typeface="Arial Narrow" panose="020B0606020202030204" pitchFamily="34" charset="0"/>
              </a:rPr>
              <a:t> - Teşkilat Dizisi Repliği</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91373" y="425670"/>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7468" y="461022"/>
            <a:ext cx="2375535" cy="307777"/>
          </a:xfrm>
          <a:prstGeom prst="rect">
            <a:avLst/>
          </a:prstGeom>
          <a:noFill/>
        </p:spPr>
        <p:txBody>
          <a:bodyPr wrap="square">
            <a:spAutoFit/>
          </a:bodyPr>
          <a:lstStyle/>
          <a:p>
            <a:pPr algn="ctr"/>
            <a:r>
              <a:rPr lang="tr-TR" sz="700" i="0" dirty="0">
                <a:effectLst/>
                <a:latin typeface="Arial Narrow" panose="020B0606020202030204" pitchFamily="34" charset="0"/>
              </a:rPr>
              <a:t>“Devlet uğruna yaptığın her şey, sadakatin bir göstergesidir. ”  </a:t>
            </a:r>
            <a:br>
              <a:rPr lang="tr-TR" sz="700" i="0" dirty="0">
                <a:effectLst/>
                <a:latin typeface="Arial Narrow" panose="020B0606020202030204" pitchFamily="34" charset="0"/>
              </a:rPr>
            </a:br>
            <a:r>
              <a:rPr lang="tr-TR" sz="700" i="0" dirty="0">
                <a:effectLst/>
                <a:latin typeface="Arial Narrow" panose="020B0606020202030204" pitchFamily="34" charset="0"/>
              </a:rPr>
              <a:t>- Teşkilat Dizisi Repliği </a:t>
            </a:r>
            <a:endParaRPr lang="tr-TR" sz="700" dirty="0">
              <a:latin typeface="Arial Narrow" panose="020B0606020202030204" pitchFamily="34" charset="0"/>
            </a:endParaRPr>
          </a:p>
        </p:txBody>
      </p:sp>
      <p:sp>
        <p:nvSpPr>
          <p:cNvPr id="66" name="Metin kutusu 65">
            <a:extLst>
              <a:ext uri="{FF2B5EF4-FFF2-40B4-BE49-F238E27FC236}">
                <a16:creationId xmlns:a16="http://schemas.microsoft.com/office/drawing/2014/main" id="{EA432DC9-2442-4CF0-81C9-C31616F7FCBE}"/>
              </a:ext>
            </a:extLst>
          </p:cNvPr>
          <p:cNvSpPr txBox="1"/>
          <p:nvPr/>
        </p:nvSpPr>
        <p:spPr>
          <a:xfrm>
            <a:off x="-11079" y="6064450"/>
            <a:ext cx="3466741" cy="2554545"/>
          </a:xfrm>
          <a:prstGeom prst="rect">
            <a:avLst/>
          </a:prstGeom>
          <a:noFill/>
        </p:spPr>
        <p:txBody>
          <a:bodyPr wrap="square" rtlCol="0">
            <a:spAutoFit/>
          </a:bodyPr>
          <a:lstStyle/>
          <a:p>
            <a:r>
              <a:rPr lang="tr-TR" sz="1000" noProof="1">
                <a:cs typeface="Arial" panose="020B0604020202020204" pitchFamily="34" charset="0"/>
              </a:rPr>
              <a:t>Benim çok sevdiğim bir felsefe vardır bu felsefe ; yazdığım veya anlattığım konu ile soruların sınavda çıkmasa bile sınavdaki soruyu çözdürecebilecek bakış açısı katmasıdır. Gel görün ki bu tarz sorular bilgi yarışmalarında bile çıkıyor. Kimi zaman yüksek miktarlarda para ödülleri kazandıran yarışmalar bile tercih ediyor. Çünkü bu tarz sorular klasik olabilir fakat klasik diye geçmeyelim, mantığa başvurarak gerekirse deneme yanılma yaparak bir şeyin doğruluğunu hesap etmeye çalışıyoruz.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Sınav sorularının günümüzdeki hazırlanış ana prensibi budur. Analitik düşünmeyi ön plana çıkaran, deneme yanılma durumlarıyla istenileni pratik ve daha hızlı elde etmemizi isteyen, aynı zamanda bu stratejimiz ile zamanı iyi yönetebilmeyi bize bu sınav sistemi öğretmekteyi yeğliyor.  </a:t>
            </a:r>
            <a:br>
              <a:rPr lang="tr-TR" sz="1000" noProof="1">
                <a:cs typeface="Arial" panose="020B0604020202020204" pitchFamily="34" charset="0"/>
              </a:rPr>
            </a:br>
            <a:endParaRPr lang="tr-TR" sz="1000" noProof="1">
              <a:cs typeface="Arial" panose="020B0604020202020204" pitchFamily="34" charset="0"/>
            </a:endParaRPr>
          </a:p>
          <a:p>
            <a:r>
              <a:rPr lang="tr-TR" sz="1000" b="1" noProof="1">
                <a:cs typeface="Arial" panose="020B0604020202020204" pitchFamily="34" charset="0"/>
              </a:rPr>
              <a:t>Ne yapacağız ; net cevap çok ve verimli çalışmamız gerekiyor.</a:t>
            </a:r>
          </a:p>
        </p:txBody>
      </p:sp>
      <p:sp>
        <p:nvSpPr>
          <p:cNvPr id="67" name="Metin kutusu 66">
            <a:extLst>
              <a:ext uri="{FF2B5EF4-FFF2-40B4-BE49-F238E27FC236}">
                <a16:creationId xmlns:a16="http://schemas.microsoft.com/office/drawing/2014/main" id="{2B08B209-54FC-4AB5-9584-B611C6984854}"/>
              </a:ext>
            </a:extLst>
          </p:cNvPr>
          <p:cNvSpPr txBox="1"/>
          <p:nvPr/>
        </p:nvSpPr>
        <p:spPr>
          <a:xfrm>
            <a:off x="-15200" y="791359"/>
            <a:ext cx="3329773" cy="784830"/>
          </a:xfrm>
          <a:prstGeom prst="rect">
            <a:avLst/>
          </a:prstGeom>
          <a:noFill/>
        </p:spPr>
        <p:txBody>
          <a:bodyPr wrap="square" rtlCol="0">
            <a:spAutoFit/>
          </a:bodyPr>
          <a:lstStyle/>
          <a:p>
            <a:pPr algn="ctr"/>
            <a:r>
              <a:rPr lang="tr-TR" sz="900" i="1" noProof="1">
                <a:cs typeface="Arial" panose="020B0604020202020204" pitchFamily="34" charset="0"/>
              </a:rPr>
              <a:t>Bilgi : 4 ün tam katı olan yıllarda şubat ayları 29 gün olduğundan ötürü normalde 365 gün olan bir yıl 366 gün olmaktadır.  </a:t>
            </a:r>
          </a:p>
          <a:p>
            <a:pPr algn="ctr"/>
            <a:endParaRPr lang="tr-TR" sz="900" b="1" i="1" noProof="1">
              <a:cs typeface="Arial" panose="020B0604020202020204" pitchFamily="34" charset="0"/>
            </a:endParaRPr>
          </a:p>
          <a:p>
            <a:r>
              <a:rPr lang="tr-TR" sz="900" b="1" noProof="1">
                <a:cs typeface="Arial" panose="020B0604020202020204" pitchFamily="34" charset="0"/>
              </a:rPr>
              <a:t>1 Ocak 2017 günü pazar gününe denk gelmektedir. 1 Ocak 2025 yılı hangi güne denk gelmektedir?</a:t>
            </a:r>
          </a:p>
        </p:txBody>
      </p:sp>
      <p:sp>
        <p:nvSpPr>
          <p:cNvPr id="68" name="Metin kutusu 67">
            <a:extLst>
              <a:ext uri="{FF2B5EF4-FFF2-40B4-BE49-F238E27FC236}">
                <a16:creationId xmlns:a16="http://schemas.microsoft.com/office/drawing/2014/main" id="{72C7D68F-DFA2-456A-808C-E47E79414547}"/>
              </a:ext>
            </a:extLst>
          </p:cNvPr>
          <p:cNvSpPr txBox="1"/>
          <p:nvPr/>
        </p:nvSpPr>
        <p:spPr>
          <a:xfrm>
            <a:off x="12920" y="2447456"/>
            <a:ext cx="3329773" cy="3194721"/>
          </a:xfrm>
          <a:prstGeom prst="rect">
            <a:avLst/>
          </a:prstGeom>
          <a:noFill/>
        </p:spPr>
        <p:txBody>
          <a:bodyPr wrap="square" rtlCol="0">
            <a:spAutoFit/>
          </a:bodyPr>
          <a:lstStyle/>
          <a:p>
            <a:r>
              <a:rPr lang="tr-TR" sz="960" noProof="1">
                <a:cs typeface="Arial" panose="020B0604020202020204" pitchFamily="34" charset="0"/>
              </a:rPr>
              <a:t>Öncelikle kaç adet 4 ün katı yıl var onu tespit edelim. Sırasıyla 2020 ve 2024 4 ün katı olan yıllardır. Yani 366 gün olan 2 adet yıl vardır diğer her yıl 365 gün olacaktır. 2025-2017 = 8 yıl var arada 2 yılı 4 ün katıysa 4 ün katı olmayan 6 yıl vardır ki bu yılların hepsi 365 gün olduğuna göre artık kaç gün olduğunu bulalım. 365.6 + 366.2 = 2922 gün yapacaktır. </a:t>
            </a:r>
            <a:br>
              <a:rPr lang="tr-TR" sz="960" noProof="1">
                <a:cs typeface="Arial" panose="020B0604020202020204" pitchFamily="34" charset="0"/>
              </a:rPr>
            </a:br>
            <a:br>
              <a:rPr lang="tr-TR" sz="960" noProof="1">
                <a:cs typeface="Arial" panose="020B0604020202020204" pitchFamily="34" charset="0"/>
              </a:rPr>
            </a:br>
            <a:r>
              <a:rPr lang="tr-TR" sz="960" noProof="1">
                <a:cs typeface="Arial" panose="020B0604020202020204" pitchFamily="34" charset="0"/>
              </a:rPr>
              <a:t>2922 = 417.7 + 3 şeklinde bulmuş olduk. Yani 417 kere 7 günlük olan periyot bitmiştir. 1 Ocak günü pazar denmişti, bu periyot 7 günlük tekrarları bittikten sonra başlangıç olarak yine pazar gününe denk gelmiş olacaktır. Peki bu ilaveyi nasıl yapacağız?</a:t>
            </a:r>
          </a:p>
          <a:p>
            <a:endParaRPr lang="tr-TR" sz="960" b="1" noProof="1">
              <a:cs typeface="Arial" panose="020B0604020202020204" pitchFamily="34" charset="0"/>
            </a:endParaRPr>
          </a:p>
          <a:p>
            <a:pPr marL="228600" indent="-228600">
              <a:buAutoNum type="arabicPeriod"/>
            </a:pPr>
            <a:r>
              <a:rPr lang="tr-TR" sz="960" b="1" noProof="1">
                <a:cs typeface="Arial" panose="020B0604020202020204" pitchFamily="34" charset="0"/>
              </a:rPr>
              <a:t>Durum : pazar, pazartesi, salı </a:t>
            </a:r>
          </a:p>
          <a:p>
            <a:pPr marL="228600" indent="-228600">
              <a:buAutoNum type="arabicPeriod"/>
            </a:pPr>
            <a:r>
              <a:rPr lang="tr-TR" sz="960" b="1" noProof="1">
                <a:cs typeface="Arial" panose="020B0604020202020204" pitchFamily="34" charset="0"/>
              </a:rPr>
              <a:t>Durum : pazartesi,salı,çarşamba  hangisi doğru?</a:t>
            </a:r>
          </a:p>
          <a:p>
            <a:pPr marL="228600" indent="-228600">
              <a:buAutoNum type="arabicPeriod"/>
            </a:pPr>
            <a:endParaRPr lang="tr-TR" sz="960" b="1" noProof="1">
              <a:cs typeface="Arial" panose="020B0604020202020204" pitchFamily="34" charset="0"/>
            </a:endParaRPr>
          </a:p>
          <a:p>
            <a:r>
              <a:rPr lang="tr-TR" sz="960" noProof="1">
                <a:cs typeface="Arial" panose="020B0604020202020204" pitchFamily="34" charset="0"/>
              </a:rPr>
              <a:t>Biz şunu biliyoruz 7 gün sonra tekrar başlangıç pazar gününe gelmiş olmamız gerekiyor. Sonra dediğimiz için pazarı saymamalıyız. O halde pzt,sal,çrş,prş,cum,cts,pzr evet bakın doğru durum budur. Pazarı başlangıç aldığımız durum yanlıştır. O halde 3 ilave ederek bulalım cevabı. Pzt,sal,çrş olduğunu bulmuş olduk. </a:t>
            </a:r>
            <a:r>
              <a:rPr lang="tr-TR" sz="960" b="1" noProof="1">
                <a:cs typeface="Arial" panose="020B0604020202020204" pitchFamily="34" charset="0"/>
              </a:rPr>
              <a:t>1 Ocak 2025 günü çarşamba günüdür.</a:t>
            </a:r>
          </a:p>
        </p:txBody>
      </p:sp>
    </p:spTree>
    <p:extLst>
      <p:ext uri="{BB962C8B-B14F-4D97-AF65-F5344CB8AC3E}">
        <p14:creationId xmlns:p14="http://schemas.microsoft.com/office/powerpoint/2010/main" val="292261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29914" y="428302"/>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Sütun Grafikleri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437112" y="55435"/>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Sütun Grafikleri</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44624" y="683568"/>
            <a:ext cx="3353471" cy="861774"/>
          </a:xfrm>
          <a:prstGeom prst="rect">
            <a:avLst/>
          </a:prstGeom>
          <a:noFill/>
        </p:spPr>
        <p:txBody>
          <a:bodyPr wrap="square" rtlCol="0">
            <a:spAutoFit/>
          </a:bodyPr>
          <a:lstStyle/>
          <a:p>
            <a:r>
              <a:rPr lang="tr-TR" sz="1000" noProof="1">
                <a:cs typeface="Arial" panose="020B0604020202020204" pitchFamily="34" charset="0"/>
              </a:rPr>
              <a:t>Sütun grafiklerinin yorumu diğerlerine nazaran biraz daha kolaydır. Düşey ve yatay eksen neleri belirtiyorsa ona göre kolaylıkla yorum yapabiliriz. Konu anlatımı olarak yapabilecek bir şey şahsi olarak görmüyorum. Direkt grafik üzerinden uygulma yaparak bitirelim işi </a:t>
            </a:r>
            <a:r>
              <a:rPr lang="tr-TR" sz="1000" noProof="1">
                <a:cs typeface="Arial" panose="020B0604020202020204" pitchFamily="34" charset="0"/>
                <a:sym typeface="Wingdings" panose="05000000000000000000" pitchFamily="2" charset="2"/>
              </a:rPr>
              <a:t></a:t>
            </a:r>
            <a:endParaRPr lang="tr-TR" sz="1000" noProof="1">
              <a:cs typeface="Arial" panose="020B0604020202020204" pitchFamily="34" charset="0"/>
            </a:endParaRP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cxnSp>
        <p:nvCxnSpPr>
          <p:cNvPr id="6" name="Düz Ok Bağlayıcısı 5">
            <a:extLst>
              <a:ext uri="{FF2B5EF4-FFF2-40B4-BE49-F238E27FC236}">
                <a16:creationId xmlns:a16="http://schemas.microsoft.com/office/drawing/2014/main" id="{AEB68C1B-B200-407A-B78B-87F46237B788}"/>
              </a:ext>
            </a:extLst>
          </p:cNvPr>
          <p:cNvCxnSpPr>
            <a:cxnSpLocks/>
          </p:cNvCxnSpPr>
          <p:nvPr/>
        </p:nvCxnSpPr>
        <p:spPr>
          <a:xfrm flipV="1">
            <a:off x="285056" y="1619672"/>
            <a:ext cx="0" cy="1728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Düz Ok Bağlayıcısı 48">
            <a:extLst>
              <a:ext uri="{FF2B5EF4-FFF2-40B4-BE49-F238E27FC236}">
                <a16:creationId xmlns:a16="http://schemas.microsoft.com/office/drawing/2014/main" id="{D33727CF-86B8-4000-847F-097E2FCCF058}"/>
              </a:ext>
            </a:extLst>
          </p:cNvPr>
          <p:cNvCxnSpPr>
            <a:cxnSpLocks/>
          </p:cNvCxnSpPr>
          <p:nvPr/>
        </p:nvCxnSpPr>
        <p:spPr>
          <a:xfrm>
            <a:off x="161260" y="2852192"/>
            <a:ext cx="15600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Dikdörtgen 62">
            <a:extLst>
              <a:ext uri="{FF2B5EF4-FFF2-40B4-BE49-F238E27FC236}">
                <a16:creationId xmlns:a16="http://schemas.microsoft.com/office/drawing/2014/main" id="{66B6A24F-1480-47AC-95D7-B0A83A550321}"/>
              </a:ext>
            </a:extLst>
          </p:cNvPr>
          <p:cNvSpPr/>
          <p:nvPr/>
        </p:nvSpPr>
        <p:spPr>
          <a:xfrm>
            <a:off x="1359859" y="2495217"/>
            <a:ext cx="216024" cy="356973"/>
          </a:xfrm>
          <a:prstGeom prst="rect">
            <a:avLst/>
          </a:prstGeom>
          <a:solidFill>
            <a:schemeClr val="accent5">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4" name="Dikdörtgen 63">
            <a:extLst>
              <a:ext uri="{FF2B5EF4-FFF2-40B4-BE49-F238E27FC236}">
                <a16:creationId xmlns:a16="http://schemas.microsoft.com/office/drawing/2014/main" id="{E289F103-E65C-4DF1-B348-441E069F80ED}"/>
              </a:ext>
            </a:extLst>
          </p:cNvPr>
          <p:cNvSpPr/>
          <p:nvPr/>
        </p:nvSpPr>
        <p:spPr>
          <a:xfrm>
            <a:off x="404665" y="1932309"/>
            <a:ext cx="216024" cy="919881"/>
          </a:xfrm>
          <a:prstGeom prst="rect">
            <a:avLst/>
          </a:prstGeom>
          <a:solidFill>
            <a:schemeClr val="accent5">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7" name="Dikdörtgen 66">
            <a:extLst>
              <a:ext uri="{FF2B5EF4-FFF2-40B4-BE49-F238E27FC236}">
                <a16:creationId xmlns:a16="http://schemas.microsoft.com/office/drawing/2014/main" id="{0B319BDC-1FC4-42D0-BCA4-E03DEEC76484}"/>
              </a:ext>
            </a:extLst>
          </p:cNvPr>
          <p:cNvSpPr/>
          <p:nvPr/>
        </p:nvSpPr>
        <p:spPr>
          <a:xfrm>
            <a:off x="744977" y="2331988"/>
            <a:ext cx="216024" cy="520202"/>
          </a:xfrm>
          <a:prstGeom prst="rect">
            <a:avLst/>
          </a:prstGeom>
          <a:solidFill>
            <a:schemeClr val="accent5">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8" name="Dikdörtgen 67">
            <a:extLst>
              <a:ext uri="{FF2B5EF4-FFF2-40B4-BE49-F238E27FC236}">
                <a16:creationId xmlns:a16="http://schemas.microsoft.com/office/drawing/2014/main" id="{6AC454D0-94A4-49CE-AA70-926230F55991}"/>
              </a:ext>
            </a:extLst>
          </p:cNvPr>
          <p:cNvSpPr/>
          <p:nvPr/>
        </p:nvSpPr>
        <p:spPr>
          <a:xfrm>
            <a:off x="1040734" y="2852190"/>
            <a:ext cx="216024" cy="423666"/>
          </a:xfrm>
          <a:prstGeom prst="rect">
            <a:avLst/>
          </a:prstGeom>
          <a:solidFill>
            <a:schemeClr val="accent5">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22" name="Düz Bağlayıcı 21">
            <a:extLst>
              <a:ext uri="{FF2B5EF4-FFF2-40B4-BE49-F238E27FC236}">
                <a16:creationId xmlns:a16="http://schemas.microsoft.com/office/drawing/2014/main" id="{EC224CDB-BEC5-42E2-BF77-480E0902E5F5}"/>
              </a:ext>
            </a:extLst>
          </p:cNvPr>
          <p:cNvCxnSpPr>
            <a:stCxn id="63" idx="0"/>
          </p:cNvCxnSpPr>
          <p:nvPr/>
        </p:nvCxnSpPr>
        <p:spPr>
          <a:xfrm flipH="1">
            <a:off x="285056" y="2495217"/>
            <a:ext cx="118281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9" name="Düz Bağlayıcı 68">
            <a:extLst>
              <a:ext uri="{FF2B5EF4-FFF2-40B4-BE49-F238E27FC236}">
                <a16:creationId xmlns:a16="http://schemas.microsoft.com/office/drawing/2014/main" id="{D2DB1871-7C87-40DC-AF0F-1428BD0B20B1}"/>
              </a:ext>
            </a:extLst>
          </p:cNvPr>
          <p:cNvCxnSpPr>
            <a:cxnSpLocks/>
            <a:stCxn id="67" idx="0"/>
          </p:cNvCxnSpPr>
          <p:nvPr/>
        </p:nvCxnSpPr>
        <p:spPr>
          <a:xfrm flipH="1">
            <a:off x="285057" y="2331988"/>
            <a:ext cx="5679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0" name="Düz Bağlayıcı 69">
            <a:extLst>
              <a:ext uri="{FF2B5EF4-FFF2-40B4-BE49-F238E27FC236}">
                <a16:creationId xmlns:a16="http://schemas.microsoft.com/office/drawing/2014/main" id="{0B64EC0F-B2B0-4D8D-A861-6424DEACC56F}"/>
              </a:ext>
            </a:extLst>
          </p:cNvPr>
          <p:cNvCxnSpPr>
            <a:cxnSpLocks/>
          </p:cNvCxnSpPr>
          <p:nvPr/>
        </p:nvCxnSpPr>
        <p:spPr>
          <a:xfrm flipH="1">
            <a:off x="285056" y="3275856"/>
            <a:ext cx="75567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1" name="Düz Bağlayıcı 70">
            <a:extLst>
              <a:ext uri="{FF2B5EF4-FFF2-40B4-BE49-F238E27FC236}">
                <a16:creationId xmlns:a16="http://schemas.microsoft.com/office/drawing/2014/main" id="{8A0D3DF8-3826-404A-9644-20083F50C50D}"/>
              </a:ext>
            </a:extLst>
          </p:cNvPr>
          <p:cNvCxnSpPr>
            <a:cxnSpLocks/>
          </p:cNvCxnSpPr>
          <p:nvPr/>
        </p:nvCxnSpPr>
        <p:spPr>
          <a:xfrm flipH="1">
            <a:off x="285056" y="1932309"/>
            <a:ext cx="263624"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2" name="Metin kutusu 71">
            <a:extLst>
              <a:ext uri="{FF2B5EF4-FFF2-40B4-BE49-F238E27FC236}">
                <a16:creationId xmlns:a16="http://schemas.microsoft.com/office/drawing/2014/main" id="{77C6857C-64FB-4248-8009-F03C142F1407}"/>
              </a:ext>
            </a:extLst>
          </p:cNvPr>
          <p:cNvSpPr txBox="1"/>
          <p:nvPr/>
        </p:nvSpPr>
        <p:spPr>
          <a:xfrm>
            <a:off x="-48996" y="1787090"/>
            <a:ext cx="408539" cy="246221"/>
          </a:xfrm>
          <a:prstGeom prst="rect">
            <a:avLst/>
          </a:prstGeom>
          <a:noFill/>
        </p:spPr>
        <p:txBody>
          <a:bodyPr wrap="square" rtlCol="0">
            <a:spAutoFit/>
          </a:bodyPr>
          <a:lstStyle/>
          <a:p>
            <a:r>
              <a:rPr lang="tr-TR" sz="1000" noProof="1">
                <a:cs typeface="Arial" panose="020B0604020202020204" pitchFamily="34" charset="0"/>
              </a:rPr>
              <a:t>+20</a:t>
            </a:r>
          </a:p>
        </p:txBody>
      </p:sp>
      <p:sp>
        <p:nvSpPr>
          <p:cNvPr id="73" name="Metin kutusu 72">
            <a:extLst>
              <a:ext uri="{FF2B5EF4-FFF2-40B4-BE49-F238E27FC236}">
                <a16:creationId xmlns:a16="http://schemas.microsoft.com/office/drawing/2014/main" id="{F9606CE8-FB50-46F6-94B9-F6EF5A1D0C56}"/>
              </a:ext>
            </a:extLst>
          </p:cNvPr>
          <p:cNvSpPr txBox="1"/>
          <p:nvPr/>
        </p:nvSpPr>
        <p:spPr>
          <a:xfrm>
            <a:off x="-38898" y="2184974"/>
            <a:ext cx="417006" cy="400110"/>
          </a:xfrm>
          <a:prstGeom prst="rect">
            <a:avLst/>
          </a:prstGeom>
          <a:noFill/>
        </p:spPr>
        <p:txBody>
          <a:bodyPr wrap="square" rtlCol="0">
            <a:spAutoFit/>
          </a:bodyPr>
          <a:lstStyle/>
          <a:p>
            <a:r>
              <a:rPr lang="tr-TR" sz="1000" noProof="1">
                <a:cs typeface="Arial" panose="020B0604020202020204" pitchFamily="34" charset="0"/>
              </a:rPr>
              <a:t>+15</a:t>
            </a:r>
            <a:br>
              <a:rPr lang="tr-TR" sz="1000" noProof="1">
                <a:cs typeface="Arial" panose="020B0604020202020204" pitchFamily="34" charset="0"/>
              </a:rPr>
            </a:br>
            <a:r>
              <a:rPr lang="tr-TR" sz="1000" noProof="1">
                <a:cs typeface="Arial" panose="020B0604020202020204" pitchFamily="34" charset="0"/>
              </a:rPr>
              <a:t>+10</a:t>
            </a:r>
          </a:p>
        </p:txBody>
      </p:sp>
      <p:sp>
        <p:nvSpPr>
          <p:cNvPr id="75" name="Metin kutusu 74">
            <a:extLst>
              <a:ext uri="{FF2B5EF4-FFF2-40B4-BE49-F238E27FC236}">
                <a16:creationId xmlns:a16="http://schemas.microsoft.com/office/drawing/2014/main" id="{676DB410-603B-4469-A486-922AAD8C62B9}"/>
              </a:ext>
            </a:extLst>
          </p:cNvPr>
          <p:cNvSpPr txBox="1"/>
          <p:nvPr/>
        </p:nvSpPr>
        <p:spPr>
          <a:xfrm>
            <a:off x="0" y="3133204"/>
            <a:ext cx="658912" cy="246221"/>
          </a:xfrm>
          <a:prstGeom prst="rect">
            <a:avLst/>
          </a:prstGeom>
          <a:noFill/>
        </p:spPr>
        <p:txBody>
          <a:bodyPr wrap="square" rtlCol="0">
            <a:spAutoFit/>
          </a:bodyPr>
          <a:lstStyle/>
          <a:p>
            <a:r>
              <a:rPr lang="tr-TR" sz="1000" noProof="1">
                <a:cs typeface="Arial" panose="020B0604020202020204" pitchFamily="34" charset="0"/>
              </a:rPr>
              <a:t>-25</a:t>
            </a:r>
          </a:p>
        </p:txBody>
      </p:sp>
      <p:sp>
        <p:nvSpPr>
          <p:cNvPr id="76" name="Metin kutusu 75">
            <a:extLst>
              <a:ext uri="{FF2B5EF4-FFF2-40B4-BE49-F238E27FC236}">
                <a16:creationId xmlns:a16="http://schemas.microsoft.com/office/drawing/2014/main" id="{AC0AC1F6-BA57-4B81-A156-B7A00412D637}"/>
              </a:ext>
            </a:extLst>
          </p:cNvPr>
          <p:cNvSpPr txBox="1"/>
          <p:nvPr/>
        </p:nvSpPr>
        <p:spPr>
          <a:xfrm>
            <a:off x="378107" y="2794417"/>
            <a:ext cx="430253" cy="246221"/>
          </a:xfrm>
          <a:prstGeom prst="rect">
            <a:avLst/>
          </a:prstGeom>
          <a:noFill/>
        </p:spPr>
        <p:txBody>
          <a:bodyPr wrap="square" rtlCol="0">
            <a:spAutoFit/>
          </a:bodyPr>
          <a:lstStyle/>
          <a:p>
            <a:r>
              <a:rPr lang="tr-TR" sz="1000" noProof="1">
                <a:cs typeface="Arial" panose="020B0604020202020204" pitchFamily="34" charset="0"/>
              </a:rPr>
              <a:t>1</a:t>
            </a:r>
          </a:p>
        </p:txBody>
      </p:sp>
      <p:sp>
        <p:nvSpPr>
          <p:cNvPr id="77" name="Metin kutusu 76">
            <a:extLst>
              <a:ext uri="{FF2B5EF4-FFF2-40B4-BE49-F238E27FC236}">
                <a16:creationId xmlns:a16="http://schemas.microsoft.com/office/drawing/2014/main" id="{F86F7E7C-BB36-4A02-8B16-F5B7CF7E4E5C}"/>
              </a:ext>
            </a:extLst>
          </p:cNvPr>
          <p:cNvSpPr txBox="1"/>
          <p:nvPr/>
        </p:nvSpPr>
        <p:spPr>
          <a:xfrm>
            <a:off x="724267" y="2800027"/>
            <a:ext cx="430253" cy="246221"/>
          </a:xfrm>
          <a:prstGeom prst="rect">
            <a:avLst/>
          </a:prstGeom>
          <a:noFill/>
        </p:spPr>
        <p:txBody>
          <a:bodyPr wrap="square" rtlCol="0">
            <a:spAutoFit/>
          </a:bodyPr>
          <a:lstStyle/>
          <a:p>
            <a:r>
              <a:rPr lang="tr-TR" sz="1000" noProof="1">
                <a:cs typeface="Arial" panose="020B0604020202020204" pitchFamily="34" charset="0"/>
              </a:rPr>
              <a:t>2</a:t>
            </a:r>
          </a:p>
        </p:txBody>
      </p:sp>
      <p:sp>
        <p:nvSpPr>
          <p:cNvPr id="78" name="Metin kutusu 77">
            <a:extLst>
              <a:ext uri="{FF2B5EF4-FFF2-40B4-BE49-F238E27FC236}">
                <a16:creationId xmlns:a16="http://schemas.microsoft.com/office/drawing/2014/main" id="{79258AD0-84F0-4145-8410-137F51CDE2B4}"/>
              </a:ext>
            </a:extLst>
          </p:cNvPr>
          <p:cNvSpPr txBox="1"/>
          <p:nvPr/>
        </p:nvSpPr>
        <p:spPr>
          <a:xfrm>
            <a:off x="1021271" y="2658411"/>
            <a:ext cx="257537" cy="246221"/>
          </a:xfrm>
          <a:prstGeom prst="rect">
            <a:avLst/>
          </a:prstGeom>
          <a:noFill/>
        </p:spPr>
        <p:txBody>
          <a:bodyPr wrap="square" rtlCol="0">
            <a:spAutoFit/>
          </a:bodyPr>
          <a:lstStyle/>
          <a:p>
            <a:r>
              <a:rPr lang="tr-TR" sz="1000" noProof="1">
                <a:cs typeface="Arial" panose="020B0604020202020204" pitchFamily="34" charset="0"/>
              </a:rPr>
              <a:t>3</a:t>
            </a:r>
          </a:p>
        </p:txBody>
      </p:sp>
      <p:sp>
        <p:nvSpPr>
          <p:cNvPr id="79" name="Metin kutusu 78">
            <a:extLst>
              <a:ext uri="{FF2B5EF4-FFF2-40B4-BE49-F238E27FC236}">
                <a16:creationId xmlns:a16="http://schemas.microsoft.com/office/drawing/2014/main" id="{E7874F8E-706B-4CCE-8DE3-933CB66A2B0A}"/>
              </a:ext>
            </a:extLst>
          </p:cNvPr>
          <p:cNvSpPr txBox="1"/>
          <p:nvPr/>
        </p:nvSpPr>
        <p:spPr>
          <a:xfrm>
            <a:off x="1336228" y="2805461"/>
            <a:ext cx="430253" cy="246221"/>
          </a:xfrm>
          <a:prstGeom prst="rect">
            <a:avLst/>
          </a:prstGeom>
          <a:noFill/>
        </p:spPr>
        <p:txBody>
          <a:bodyPr wrap="square" rtlCol="0">
            <a:spAutoFit/>
          </a:bodyPr>
          <a:lstStyle/>
          <a:p>
            <a:r>
              <a:rPr lang="tr-TR" sz="1000" noProof="1">
                <a:cs typeface="Arial" panose="020B0604020202020204" pitchFamily="34" charset="0"/>
              </a:rPr>
              <a:t>4</a:t>
            </a:r>
          </a:p>
        </p:txBody>
      </p:sp>
      <p:sp>
        <p:nvSpPr>
          <p:cNvPr id="80" name="Metin kutusu 79">
            <a:extLst>
              <a:ext uri="{FF2B5EF4-FFF2-40B4-BE49-F238E27FC236}">
                <a16:creationId xmlns:a16="http://schemas.microsoft.com/office/drawing/2014/main" id="{0B89BD23-EDE7-4253-B2F0-DD4A51C92C09}"/>
              </a:ext>
            </a:extLst>
          </p:cNvPr>
          <p:cNvSpPr txBox="1"/>
          <p:nvPr/>
        </p:nvSpPr>
        <p:spPr>
          <a:xfrm>
            <a:off x="263323" y="1537572"/>
            <a:ext cx="3041495" cy="400110"/>
          </a:xfrm>
          <a:prstGeom prst="rect">
            <a:avLst/>
          </a:prstGeom>
          <a:noFill/>
        </p:spPr>
        <p:txBody>
          <a:bodyPr wrap="square" rtlCol="0">
            <a:spAutoFit/>
          </a:bodyPr>
          <a:lstStyle/>
          <a:p>
            <a:pPr algn="ctr"/>
            <a:r>
              <a:rPr lang="tr-TR" sz="1000" noProof="1">
                <a:cs typeface="Arial" panose="020B0604020202020204" pitchFamily="34" charset="0"/>
              </a:rPr>
              <a:t>Her ay </a:t>
            </a:r>
            <a:r>
              <a:rPr lang="tr-TR" sz="1000" u="sng" noProof="1">
                <a:cs typeface="Arial" panose="020B0604020202020204" pitchFamily="34" charset="0"/>
              </a:rPr>
              <a:t>aynı</a:t>
            </a:r>
            <a:r>
              <a:rPr lang="tr-TR" sz="1000" noProof="1">
                <a:cs typeface="Arial" panose="020B0604020202020204" pitchFamily="34" charset="0"/>
              </a:rPr>
              <a:t> sayıda satılan ürünlerden maliyet üzerine elde edilen ücret (%) </a:t>
            </a:r>
          </a:p>
        </p:txBody>
      </p:sp>
      <p:sp>
        <p:nvSpPr>
          <p:cNvPr id="81" name="Metin kutusu 80">
            <a:extLst>
              <a:ext uri="{FF2B5EF4-FFF2-40B4-BE49-F238E27FC236}">
                <a16:creationId xmlns:a16="http://schemas.microsoft.com/office/drawing/2014/main" id="{5EAF1C8D-294E-49F5-9A91-3692C3FC0E90}"/>
              </a:ext>
            </a:extLst>
          </p:cNvPr>
          <p:cNvSpPr txBox="1"/>
          <p:nvPr/>
        </p:nvSpPr>
        <p:spPr>
          <a:xfrm>
            <a:off x="1674312" y="2706588"/>
            <a:ext cx="1538663" cy="246221"/>
          </a:xfrm>
          <a:prstGeom prst="rect">
            <a:avLst/>
          </a:prstGeom>
          <a:noFill/>
        </p:spPr>
        <p:txBody>
          <a:bodyPr wrap="square" rtlCol="0">
            <a:spAutoFit/>
          </a:bodyPr>
          <a:lstStyle/>
          <a:p>
            <a:r>
              <a:rPr lang="tr-TR" sz="1000" noProof="1">
                <a:cs typeface="Arial" panose="020B0604020202020204" pitchFamily="34" charset="0"/>
              </a:rPr>
              <a:t>Ay </a:t>
            </a:r>
          </a:p>
        </p:txBody>
      </p:sp>
      <p:sp>
        <p:nvSpPr>
          <p:cNvPr id="82" name="Metin kutusu 81">
            <a:extLst>
              <a:ext uri="{FF2B5EF4-FFF2-40B4-BE49-F238E27FC236}">
                <a16:creationId xmlns:a16="http://schemas.microsoft.com/office/drawing/2014/main" id="{FDE06059-55B5-4870-B8BC-F2C53C173CBC}"/>
              </a:ext>
            </a:extLst>
          </p:cNvPr>
          <p:cNvSpPr txBox="1"/>
          <p:nvPr/>
        </p:nvSpPr>
        <p:spPr>
          <a:xfrm>
            <a:off x="65135" y="3341588"/>
            <a:ext cx="3302648" cy="5478423"/>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Öncelikle grafiğin düşey ekseninde söylenen ifade önemli. Her ay aynı sayıda ürün satılmakta ve maliyet üzerine farklı gelir elde edilmektedir. Yatay eksende ise geçen aylar sıralanmıştır.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İlk ay maliyet üzerine +%20  gelir elde edilmiştir.</a:t>
            </a:r>
            <a:br>
              <a:rPr lang="tr-TR" sz="1000" noProof="1">
                <a:cs typeface="Arial" panose="020B0604020202020204" pitchFamily="34" charset="0"/>
              </a:rPr>
            </a:b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Satış – Maliyet = Kar olduğu için yüzde olarak baktığımızda Satışı burada %120 alabiliriz çünkü maliyet üzerine +20 yüzde oran denilmektedir. Yani Satış %120 maliyet zaten %100 dür çünkü grafikte belirtilen maliyet üzerine olan yüzde değişikliler var yani maliyeti burada %100 alabiliriz. Nihai olarak yorumumuz ise %120-%100= %20 dir yani buradan %20 pozitif olarak çıktığı için </a:t>
            </a:r>
            <a:r>
              <a:rPr lang="tr-TR" sz="1000" noProof="1">
                <a:latin typeface="Calibri "/>
              </a:rPr>
              <a:t>k</a:t>
            </a:r>
            <a:r>
              <a:rPr lang="tr-TR" sz="1000" dirty="0">
                <a:latin typeface="Calibri "/>
              </a:rPr>
              <a:t>â</a:t>
            </a:r>
            <a:r>
              <a:rPr lang="tr-TR" sz="1000" noProof="1">
                <a:latin typeface="Calibri "/>
              </a:rPr>
              <a:t>rdır. Burada maliyeti %100 almak zorunda değiliz ne alırsak aynı prensipte işlem yaptığımızda k</a:t>
            </a:r>
            <a:r>
              <a:rPr lang="tr-TR" sz="1000" dirty="0">
                <a:latin typeface="Calibri "/>
              </a:rPr>
              <a:t>â</a:t>
            </a:r>
            <a:r>
              <a:rPr lang="tr-TR" sz="1000" noProof="1">
                <a:latin typeface="Calibri "/>
              </a:rPr>
              <a:t>rın %20 olduğu bulunur. </a:t>
            </a:r>
          </a:p>
          <a:p>
            <a:pPr marL="171450" indent="-171450">
              <a:buFont typeface="Wingdings" panose="05000000000000000000" pitchFamily="2" charset="2"/>
              <a:buChar char="q"/>
            </a:pPr>
            <a:endParaRPr lang="tr-TR" sz="1000" noProof="1">
              <a:latin typeface="Calibri "/>
              <a:cs typeface="Arial" panose="020B0604020202020204" pitchFamily="34" charset="0"/>
            </a:endParaRPr>
          </a:p>
          <a:p>
            <a:pPr marL="171450" indent="-171450">
              <a:buFont typeface="Wingdings" panose="05000000000000000000" pitchFamily="2" charset="2"/>
              <a:buChar char="q"/>
            </a:pPr>
            <a:r>
              <a:rPr lang="tr-TR" sz="1000" noProof="1">
                <a:latin typeface="Calibri "/>
                <a:cs typeface="Arial" panose="020B0604020202020204" pitchFamily="34" charset="0"/>
              </a:rPr>
              <a:t>2.ayda %15 </a:t>
            </a:r>
            <a:r>
              <a:rPr lang="tr-TR" sz="1000" noProof="1">
                <a:latin typeface="Calibri "/>
              </a:rPr>
              <a:t>k</a:t>
            </a:r>
            <a:r>
              <a:rPr lang="tr-TR" sz="1000" dirty="0">
                <a:latin typeface="Calibri "/>
              </a:rPr>
              <a:t>â</a:t>
            </a:r>
            <a:r>
              <a:rPr lang="tr-TR" sz="1000" noProof="1">
                <a:latin typeface="Calibri "/>
              </a:rPr>
              <a:t>r 4.ayda %10 k</a:t>
            </a:r>
            <a:r>
              <a:rPr lang="tr-TR" sz="1000" dirty="0">
                <a:latin typeface="Calibri "/>
              </a:rPr>
              <a:t>â</a:t>
            </a:r>
            <a:r>
              <a:rPr lang="tr-TR" sz="1000" noProof="1">
                <a:latin typeface="Calibri "/>
              </a:rPr>
              <a:t>r elde edildiğini görüyoruz.</a:t>
            </a:r>
          </a:p>
          <a:p>
            <a:pPr marL="171450" indent="-171450">
              <a:buFont typeface="Wingdings" panose="05000000000000000000" pitchFamily="2" charset="2"/>
              <a:buChar char="q"/>
            </a:pPr>
            <a:endParaRPr lang="tr-TR" sz="1000" noProof="1">
              <a:latin typeface="Calibri "/>
              <a:cs typeface="Arial" panose="020B0604020202020204" pitchFamily="34" charset="0"/>
            </a:endParaRPr>
          </a:p>
          <a:p>
            <a:pPr marL="171450" indent="-171450">
              <a:buFont typeface="Wingdings" panose="05000000000000000000" pitchFamily="2" charset="2"/>
              <a:buChar char="q"/>
            </a:pPr>
            <a:r>
              <a:rPr lang="tr-TR" sz="1000" noProof="1">
                <a:latin typeface="Calibri "/>
                <a:cs typeface="Arial" panose="020B0604020202020204" pitchFamily="34" charset="0"/>
              </a:rPr>
              <a:t>Gelelim 3.aya burada grafikteki değerin negatifte kaldığını görmekteyiz. Tekrardan Satış – Maliyet = Kar veya zarar durumuna bakacağız. Eğer satışımız maliyetten düşükse zarar etmiş olacağız. Yüzde olarak hesaplayalım. Normalde maliyete %100 oran verelim. </a:t>
            </a:r>
            <a:br>
              <a:rPr lang="tr-TR" sz="1000" noProof="1">
                <a:latin typeface="Calibri "/>
                <a:cs typeface="Arial" panose="020B0604020202020204" pitchFamily="34" charset="0"/>
              </a:rPr>
            </a:br>
            <a:r>
              <a:rPr lang="tr-TR" sz="1000" noProof="1">
                <a:latin typeface="Calibri "/>
                <a:cs typeface="Arial" panose="020B0604020202020204" pitchFamily="34" charset="0"/>
              </a:rPr>
              <a:t>-%25 gelir elde edildiyse satışımızın %75 olduğunu söyleyebiliriz çünkü %25 lik azalma söz konusu. Satış  %75 - %100 = -%25 çıktı yani buradan da aslında biraz uzatarak söyledik nihai olarak yorumumuz %25 zarardır.</a:t>
            </a:r>
          </a:p>
          <a:p>
            <a:pPr marL="171450" indent="-171450">
              <a:buFont typeface="Wingdings" panose="05000000000000000000" pitchFamily="2" charset="2"/>
              <a:buChar char="q"/>
            </a:pPr>
            <a:endParaRPr lang="tr-TR" sz="1000" noProof="1">
              <a:latin typeface="Calibri "/>
              <a:cs typeface="Arial" panose="020B0604020202020204" pitchFamily="34" charset="0"/>
            </a:endParaRPr>
          </a:p>
          <a:p>
            <a:pPr marL="171450" indent="-171450">
              <a:buFont typeface="Wingdings" panose="05000000000000000000" pitchFamily="2" charset="2"/>
              <a:buChar char="q"/>
            </a:pPr>
            <a:r>
              <a:rPr lang="tr-TR" sz="1000" noProof="1">
                <a:latin typeface="Calibri "/>
                <a:cs typeface="Arial" panose="020B0604020202020204" pitchFamily="34" charset="0"/>
              </a:rPr>
              <a:t>Bu grafikte biraz yüzde bilgisini harmanladık gireceğiniz sınavlarda da bu tarz harmanlamalar yapılarak sizlerin analitik düşünme yeteneği zamanla sınanıyor. O yüzden harmanlanmış sorular sınav tarzı sorulardır. Bu tarz soruları bolca çözün.</a:t>
            </a:r>
          </a:p>
        </p:txBody>
      </p:sp>
      <p:sp>
        <p:nvSpPr>
          <p:cNvPr id="83" name="Metin kutusu 82">
            <a:extLst>
              <a:ext uri="{FF2B5EF4-FFF2-40B4-BE49-F238E27FC236}">
                <a16:creationId xmlns:a16="http://schemas.microsoft.com/office/drawing/2014/main" id="{2E366674-EF94-4A22-9FBB-B85A6A7B8A7C}"/>
              </a:ext>
            </a:extLst>
          </p:cNvPr>
          <p:cNvSpPr txBox="1"/>
          <p:nvPr/>
        </p:nvSpPr>
        <p:spPr>
          <a:xfrm>
            <a:off x="5807" y="2713373"/>
            <a:ext cx="430253" cy="246221"/>
          </a:xfrm>
          <a:prstGeom prst="rect">
            <a:avLst/>
          </a:prstGeom>
          <a:noFill/>
        </p:spPr>
        <p:txBody>
          <a:bodyPr wrap="square" rtlCol="0">
            <a:spAutoFit/>
          </a:bodyPr>
          <a:lstStyle/>
          <a:p>
            <a:r>
              <a:rPr lang="tr-TR" sz="1000" b="1" noProof="1">
                <a:cs typeface="Arial" panose="020B0604020202020204" pitchFamily="34" charset="0"/>
              </a:rPr>
              <a:t>0</a:t>
            </a:r>
          </a:p>
        </p:txBody>
      </p:sp>
      <p:sp>
        <p:nvSpPr>
          <p:cNvPr id="38" name="Dikdörtgen 37">
            <a:extLst>
              <a:ext uri="{FF2B5EF4-FFF2-40B4-BE49-F238E27FC236}">
                <a16:creationId xmlns:a16="http://schemas.microsoft.com/office/drawing/2014/main" id="{3E2AB68B-528B-4275-B2F5-E2C6261F0E6D}"/>
              </a:ext>
            </a:extLst>
          </p:cNvPr>
          <p:cNvSpPr/>
          <p:nvPr/>
        </p:nvSpPr>
        <p:spPr>
          <a:xfrm>
            <a:off x="3534493" y="428301"/>
            <a:ext cx="3245861" cy="8287397"/>
          </a:xfrm>
          <a:prstGeom prst="rect">
            <a:avLst/>
          </a:prstGeom>
          <a:solidFill>
            <a:schemeClr val="bg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4" name="Metin kutusu 83">
            <a:extLst>
              <a:ext uri="{FF2B5EF4-FFF2-40B4-BE49-F238E27FC236}">
                <a16:creationId xmlns:a16="http://schemas.microsoft.com/office/drawing/2014/main" id="{9D38D885-1832-4C78-ABE5-EC96657E3873}"/>
              </a:ext>
            </a:extLst>
          </p:cNvPr>
          <p:cNvSpPr txBox="1"/>
          <p:nvPr/>
        </p:nvSpPr>
        <p:spPr>
          <a:xfrm>
            <a:off x="3550988" y="409848"/>
            <a:ext cx="3214970"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Grafikten neler çıkarılamaz?</a:t>
            </a:r>
          </a:p>
        </p:txBody>
      </p:sp>
      <p:sp>
        <p:nvSpPr>
          <p:cNvPr id="87" name="Metin kutusu 86">
            <a:extLst>
              <a:ext uri="{FF2B5EF4-FFF2-40B4-BE49-F238E27FC236}">
                <a16:creationId xmlns:a16="http://schemas.microsoft.com/office/drawing/2014/main" id="{3CAAE1AF-1E54-44DD-8762-35955F8A36DA}"/>
              </a:ext>
            </a:extLst>
          </p:cNvPr>
          <p:cNvSpPr txBox="1"/>
          <p:nvPr/>
        </p:nvSpPr>
        <p:spPr>
          <a:xfrm>
            <a:off x="3487391" y="764985"/>
            <a:ext cx="3314238" cy="7940635"/>
          </a:xfrm>
          <a:prstGeom prst="rect">
            <a:avLst/>
          </a:prstGeom>
          <a:noFill/>
        </p:spPr>
        <p:txBody>
          <a:bodyPr wrap="square">
            <a:spAutoFit/>
          </a:bodyPr>
          <a:lstStyle/>
          <a:p>
            <a:pPr marL="171450" indent="-171450">
              <a:buFont typeface="Wingdings" panose="05000000000000000000" pitchFamily="2" charset="2"/>
              <a:buChar char="v"/>
            </a:pPr>
            <a:r>
              <a:rPr lang="tr-TR" sz="1000" noProof="1">
                <a:latin typeface="Calibri "/>
              </a:rPr>
              <a:t>K</a:t>
            </a:r>
            <a:r>
              <a:rPr lang="tr-TR" sz="1000" dirty="0">
                <a:latin typeface="Calibri "/>
              </a:rPr>
              <a:t>â</a:t>
            </a:r>
            <a:r>
              <a:rPr lang="tr-TR" sz="1000" noProof="1">
                <a:latin typeface="Calibri "/>
              </a:rPr>
              <a:t>r elde edilen grafiklerde fiyatların ne derecede arttığı ürün sayıları vs bu tarz yorumlar yapılamaz. Tahmin edilebilir tabi ki fakat kesin olarak bu tarz yorumlar yapılamaz. Grafik net bilgi içerir bu yapacağımız tahminler adı üstüne tahminlerde kesinlik payı olmaz.</a:t>
            </a:r>
          </a:p>
          <a:p>
            <a:pPr marL="171450" indent="-171450">
              <a:buFont typeface="Wingdings" panose="05000000000000000000" pitchFamily="2" charset="2"/>
              <a:buChar char="v"/>
            </a:pPr>
            <a:endParaRPr lang="tr-TR" sz="1000" noProof="1">
              <a:latin typeface="Calibri "/>
            </a:endParaRPr>
          </a:p>
          <a:p>
            <a:pPr marL="171450" indent="-171450">
              <a:buFont typeface="Wingdings" panose="05000000000000000000" pitchFamily="2" charset="2"/>
              <a:buChar char="v"/>
            </a:pPr>
            <a:r>
              <a:rPr lang="tr-TR" sz="1000" dirty="0"/>
              <a:t>Benzer şekilde 5.ayda neler olacağı diğer aylar referans alarak tahminler ve yorumlar yapılabilir fakat kesin bir yargı ilave bilgi verilmediği müddetçe bulunamaz. Örneğin ilk 4 aydaki aritmetik ortalama gibi bilgiler verilirse bulunabilir fakat bu şekilde kesinlik sunulamaz. Birim belirtilmediği için TL olup olmadığı da bilinemez.</a:t>
            </a:r>
          </a:p>
          <a:p>
            <a:pPr marL="171450" indent="-171450">
              <a:buFont typeface="Wingdings" panose="05000000000000000000" pitchFamily="2" charset="2"/>
              <a:buChar char="v"/>
            </a:pPr>
            <a:endParaRPr lang="tr-TR" sz="1000" dirty="0"/>
          </a:p>
          <a:p>
            <a:pPr marL="171450" indent="-171450">
              <a:buFont typeface="Wingdings" panose="05000000000000000000" pitchFamily="2" charset="2"/>
              <a:buChar char="v"/>
            </a:pPr>
            <a:r>
              <a:rPr lang="tr-TR" sz="1000" dirty="0"/>
              <a:t>Grafikten dikkat ettiyseniz yukarıdaki açıklamalarda sadece yatay ve düşey eksendeki tüm verileri okuduktan sonra ilave bir kesinlik çıkaramıyoruz. Yani grafik sadece üstündeki verilerin doğruluğunu garantiler ; bu verilerin oluşmasına sebep olan etkenler hakkında yorum ve tahmin sunmamızı başta fen olmak üzere başka alanlarda da </a:t>
            </a:r>
            <a:r>
              <a:rPr lang="tr-TR" sz="1000" b="1" u="sng" dirty="0"/>
              <a:t>olabilir</a:t>
            </a:r>
            <a:r>
              <a:rPr lang="tr-TR" sz="1000" dirty="0"/>
              <a:t> soru kalıbıyla sorulabilir. Matematikte böyle bir soru kalıbı sınav müfredatına uygun derecede sorulması tercih edilmeyeceğini düşünüyoruz. Bu kısma biraz daha önem verdik çünkü yakın yıllarda böyle grafik yorum soruları farklı branşlarda da gelebilmektedir. Örneğin bir grafik verir fakat kesinlikle çıkarılamayacak bilgiyi sorabilir grafik okurken yatay ve düşey eksenin çok dikkatli incelenmesi ve incelenen verilerin neyi kapsadığı önemlidir. Örneğin sadece birkaç ülkenin herhangi bir konudaki verileri verildiğinde grafikteki en az veriye sahip ülkenin tüm ülkeler arasında o veriye en az sahip olduğu anlamına gelmez çünkü grafikte sadece birkaç ülkenin verileri vardır ve başka ülkelerin daha fazla veya daha az verisi olabilir. Yukarıdaki anlattığımız kısımla ilgili yakın tarihte çıkmış farklı branşlarda bile olsa sorular var.</a:t>
            </a:r>
          </a:p>
          <a:p>
            <a:pPr marL="171450" indent="-171450">
              <a:buFont typeface="Wingdings" panose="05000000000000000000" pitchFamily="2" charset="2"/>
              <a:buChar char="v"/>
            </a:pPr>
            <a:endParaRPr lang="tr-TR" sz="1000" dirty="0"/>
          </a:p>
          <a:p>
            <a:pPr marL="171450" indent="-171450">
              <a:buFont typeface="Wingdings" panose="05000000000000000000" pitchFamily="2" charset="2"/>
              <a:buChar char="v"/>
            </a:pPr>
            <a:r>
              <a:rPr lang="tr-TR" sz="1000" dirty="0"/>
              <a:t> Grafik yorumlamak hayatınızın her alanında karşınıza çıkacak bir durum olacaktır; şunu da unutmayın grafikler bize gerçekleri her zaman söylemez bizlerden yorumlamamızı ister. Grafikler yorum odaklı olduğu için günümüz sınavlarının vazgeçilmez içeriğinin bir parçasıdır. Yapılan sınavlara baktığınızda her soruda grafiklerin olduğunu ve o tarz soruları çözebilenlerin genellikle  yorum güçlerinin ve pratiklerinin fazla olduğunu görebilmekteyiz. Kitabımızda bol bol yorum ve matematik branşına uygun işlemli soruda bulunmaktadır. </a:t>
            </a:r>
          </a:p>
          <a:p>
            <a:pPr marL="171450" indent="-171450">
              <a:buFont typeface="Wingdings" panose="05000000000000000000" pitchFamily="2" charset="2"/>
              <a:buChar char="v"/>
            </a:pPr>
            <a:endParaRPr lang="tr-TR" sz="1000" dirty="0"/>
          </a:p>
          <a:p>
            <a:pPr marL="171450" indent="-171450">
              <a:buFont typeface="Wingdings" panose="05000000000000000000" pitchFamily="2" charset="2"/>
              <a:buChar char="v"/>
            </a:pPr>
            <a:r>
              <a:rPr lang="tr-TR" sz="1000" dirty="0"/>
              <a:t>Sizleri en iyi şekilde sınava hazırlamaya çalışıyoruz </a:t>
            </a:r>
            <a:r>
              <a:rPr lang="tr-TR" sz="1000" dirty="0">
                <a:sym typeface="Wingdings" panose="05000000000000000000" pitchFamily="2" charset="2"/>
              </a:rPr>
              <a:t></a:t>
            </a:r>
          </a:p>
          <a:p>
            <a:pPr marL="171450" indent="-171450">
              <a:buFont typeface="Wingdings" panose="05000000000000000000" pitchFamily="2" charset="2"/>
              <a:buChar char="v"/>
            </a:pPr>
            <a:endParaRPr lang="tr-TR" sz="1000" dirty="0">
              <a:sym typeface="Wingdings" panose="05000000000000000000" pitchFamily="2" charset="2"/>
            </a:endParaRPr>
          </a:p>
          <a:p>
            <a:pPr marL="171450" indent="-171450">
              <a:buFont typeface="Wingdings" panose="05000000000000000000" pitchFamily="2" charset="2"/>
              <a:buChar char="v"/>
            </a:pPr>
            <a:r>
              <a:rPr lang="tr-TR" sz="1000" dirty="0">
                <a:sym typeface="Wingdings" panose="05000000000000000000" pitchFamily="2" charset="2"/>
              </a:rPr>
              <a:t>Bir sonraki sayfamızda çözümlü sorularla devam edeceğiz  ve böylelikle sütun grafiklerini tamamen öğrenmiş olacaksınız.</a:t>
            </a:r>
            <a:endParaRPr lang="tr-TR" sz="1000" dirty="0"/>
          </a:p>
        </p:txBody>
      </p:sp>
    </p:spTree>
    <p:extLst>
      <p:ext uri="{BB962C8B-B14F-4D97-AF65-F5344CB8AC3E}">
        <p14:creationId xmlns:p14="http://schemas.microsoft.com/office/powerpoint/2010/main" val="3547267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Sütun Grafikleri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00242" y="543645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6320" y="808378"/>
            <a:ext cx="891274" cy="246221"/>
          </a:xfrm>
          <a:prstGeom prst="rect">
            <a:avLst/>
          </a:prstGeom>
          <a:noFill/>
        </p:spPr>
        <p:txBody>
          <a:bodyPr wrap="square" rtlCol="0">
            <a:spAutoFit/>
          </a:bodyPr>
          <a:lstStyle/>
          <a:p>
            <a:r>
              <a:rPr lang="tr-TR" sz="1000" noProof="1">
                <a:cs typeface="Arial" panose="020B0604020202020204" pitchFamily="34" charset="0"/>
              </a:rPr>
              <a:t>Okunan Sayfa </a:t>
            </a:r>
          </a:p>
        </p:txBody>
      </p:sp>
      <p:sp>
        <p:nvSpPr>
          <p:cNvPr id="56" name="Ok: Beşgen 55">
            <a:extLst>
              <a:ext uri="{FF2B5EF4-FFF2-40B4-BE49-F238E27FC236}">
                <a16:creationId xmlns:a16="http://schemas.microsoft.com/office/drawing/2014/main" id="{D327283C-46A4-4C86-A990-995946C89AA1}"/>
              </a:ext>
            </a:extLst>
          </p:cNvPr>
          <p:cNvSpPr/>
          <p:nvPr/>
        </p:nvSpPr>
        <p:spPr>
          <a:xfrm>
            <a:off x="3633740" y="5277045"/>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4815" y="484350"/>
            <a:ext cx="2375535" cy="307777"/>
          </a:xfrm>
          <a:prstGeom prst="rect">
            <a:avLst/>
          </a:prstGeom>
          <a:noFill/>
        </p:spPr>
        <p:txBody>
          <a:bodyPr wrap="square">
            <a:spAutoFit/>
          </a:bodyPr>
          <a:lstStyle/>
          <a:p>
            <a:pPr algn="ctr"/>
            <a:r>
              <a:rPr lang="tr-TR" sz="700" i="0" dirty="0">
                <a:effectLst/>
                <a:latin typeface="Arial Narrow" panose="020B0606020202030204" pitchFamily="34" charset="0"/>
              </a:rPr>
              <a:t>“Papağanlar iyi şiir okuyabilir ama asla şiir yazamazlar. ”  </a:t>
            </a:r>
            <a:br>
              <a:rPr lang="tr-TR" sz="700" i="0" dirty="0">
                <a:effectLst/>
                <a:latin typeface="Arial Narrow" panose="020B0606020202030204" pitchFamily="34" charset="0"/>
              </a:rPr>
            </a:br>
            <a:r>
              <a:rPr lang="tr-TR" sz="700" i="0" dirty="0">
                <a:effectLst/>
                <a:latin typeface="Arial Narrow" panose="020B0606020202030204" pitchFamily="34" charset="0"/>
              </a:rPr>
              <a:t>- Selçuk Bayraktar</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84638" y="388758"/>
            <a:ext cx="2406123" cy="415498"/>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71276" y="394529"/>
            <a:ext cx="2444799" cy="415498"/>
          </a:xfrm>
          <a:prstGeom prst="rect">
            <a:avLst/>
          </a:prstGeom>
          <a:noFill/>
        </p:spPr>
        <p:txBody>
          <a:bodyPr wrap="square">
            <a:spAutoFit/>
          </a:bodyPr>
          <a:lstStyle/>
          <a:p>
            <a:pPr algn="ctr"/>
            <a:r>
              <a:rPr lang="tr-TR" sz="680" i="0" dirty="0">
                <a:effectLst/>
                <a:latin typeface="Arial Narrow" panose="020B0606020202030204" pitchFamily="34" charset="0"/>
              </a:rPr>
              <a:t>“Beni görmek demek mutlaka yüzümü görmek demek değildir. Benim fikirlerimi, benim duygularımı anlıyorsanız ve hissediyorsanız bu yeterlidir. ”  - Mustafa Kemal Atatürk</a:t>
            </a:r>
            <a:endParaRPr lang="tr-TR" sz="680" dirty="0">
              <a:latin typeface="Arial Narrow" panose="020B0606020202030204" pitchFamily="34" charset="0"/>
            </a:endParaRPr>
          </a:p>
        </p:txBody>
      </p:sp>
      <p:cxnSp>
        <p:nvCxnSpPr>
          <p:cNvPr id="7" name="Düz Ok Bağlayıcısı 6">
            <a:extLst>
              <a:ext uri="{FF2B5EF4-FFF2-40B4-BE49-F238E27FC236}">
                <a16:creationId xmlns:a16="http://schemas.microsoft.com/office/drawing/2014/main" id="{F79463B4-AA8C-4F6F-9F26-F501F856FCA0}"/>
              </a:ext>
            </a:extLst>
          </p:cNvPr>
          <p:cNvCxnSpPr>
            <a:cxnSpLocks/>
          </p:cNvCxnSpPr>
          <p:nvPr/>
        </p:nvCxnSpPr>
        <p:spPr>
          <a:xfrm flipV="1">
            <a:off x="236645" y="1054599"/>
            <a:ext cx="0" cy="1035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Düz Ok Bağlayıcısı 14">
            <a:extLst>
              <a:ext uri="{FF2B5EF4-FFF2-40B4-BE49-F238E27FC236}">
                <a16:creationId xmlns:a16="http://schemas.microsoft.com/office/drawing/2014/main" id="{3F32ED5B-F3B4-45AD-8306-D34E23328E54}"/>
              </a:ext>
            </a:extLst>
          </p:cNvPr>
          <p:cNvCxnSpPr>
            <a:cxnSpLocks/>
          </p:cNvCxnSpPr>
          <p:nvPr/>
        </p:nvCxnSpPr>
        <p:spPr>
          <a:xfrm>
            <a:off x="92629" y="1918695"/>
            <a:ext cx="1368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Metin kutusu 59">
            <a:extLst>
              <a:ext uri="{FF2B5EF4-FFF2-40B4-BE49-F238E27FC236}">
                <a16:creationId xmlns:a16="http://schemas.microsoft.com/office/drawing/2014/main" id="{B74EF419-43CE-4CD7-8A88-8E481AA3693F}"/>
              </a:ext>
            </a:extLst>
          </p:cNvPr>
          <p:cNvSpPr txBox="1"/>
          <p:nvPr/>
        </p:nvSpPr>
        <p:spPr>
          <a:xfrm>
            <a:off x="1399186" y="1795584"/>
            <a:ext cx="2046325" cy="246221"/>
          </a:xfrm>
          <a:prstGeom prst="rect">
            <a:avLst/>
          </a:prstGeom>
          <a:noFill/>
        </p:spPr>
        <p:txBody>
          <a:bodyPr wrap="square" rtlCol="0">
            <a:spAutoFit/>
          </a:bodyPr>
          <a:lstStyle/>
          <a:p>
            <a:r>
              <a:rPr lang="tr-TR" sz="1000" noProof="1">
                <a:cs typeface="Arial" panose="020B0604020202020204" pitchFamily="34" charset="0"/>
              </a:rPr>
              <a:t>Kitabı bitirmek için kalan süre (gün)</a:t>
            </a:r>
          </a:p>
        </p:txBody>
      </p:sp>
      <p:sp>
        <p:nvSpPr>
          <p:cNvPr id="62" name="Metin kutusu 61">
            <a:extLst>
              <a:ext uri="{FF2B5EF4-FFF2-40B4-BE49-F238E27FC236}">
                <a16:creationId xmlns:a16="http://schemas.microsoft.com/office/drawing/2014/main" id="{1D1703BC-5D51-4CA1-9F1E-F37F4721F121}"/>
              </a:ext>
            </a:extLst>
          </p:cNvPr>
          <p:cNvSpPr txBox="1"/>
          <p:nvPr/>
        </p:nvSpPr>
        <p:spPr>
          <a:xfrm>
            <a:off x="3565918" y="770268"/>
            <a:ext cx="3033568" cy="246221"/>
          </a:xfrm>
          <a:prstGeom prst="rect">
            <a:avLst/>
          </a:prstGeom>
          <a:noFill/>
        </p:spPr>
        <p:txBody>
          <a:bodyPr wrap="square" rtlCol="0">
            <a:spAutoFit/>
          </a:bodyPr>
          <a:lstStyle/>
          <a:p>
            <a:r>
              <a:rPr lang="tr-TR" sz="1000" b="1" noProof="1">
                <a:cs typeface="Arial" panose="020B0604020202020204" pitchFamily="34" charset="0"/>
              </a:rPr>
              <a:t>İnternet Hızı (Mbps)</a:t>
            </a:r>
          </a:p>
        </p:txBody>
      </p:sp>
      <p:cxnSp>
        <p:nvCxnSpPr>
          <p:cNvPr id="63" name="Düz Ok Bağlayıcısı 62">
            <a:extLst>
              <a:ext uri="{FF2B5EF4-FFF2-40B4-BE49-F238E27FC236}">
                <a16:creationId xmlns:a16="http://schemas.microsoft.com/office/drawing/2014/main" id="{20D46491-ADEB-4E95-8DC9-BCC6A26A671E}"/>
              </a:ext>
            </a:extLst>
          </p:cNvPr>
          <p:cNvCxnSpPr>
            <a:cxnSpLocks/>
          </p:cNvCxnSpPr>
          <p:nvPr/>
        </p:nvCxnSpPr>
        <p:spPr>
          <a:xfrm flipV="1">
            <a:off x="3782031" y="984633"/>
            <a:ext cx="0" cy="8997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Düz Ok Bağlayıcısı 65">
            <a:extLst>
              <a:ext uri="{FF2B5EF4-FFF2-40B4-BE49-F238E27FC236}">
                <a16:creationId xmlns:a16="http://schemas.microsoft.com/office/drawing/2014/main" id="{9881F56B-5A06-4AC7-B52E-D93D4589FDC4}"/>
              </a:ext>
            </a:extLst>
          </p:cNvPr>
          <p:cNvCxnSpPr>
            <a:cxnSpLocks/>
          </p:cNvCxnSpPr>
          <p:nvPr/>
        </p:nvCxnSpPr>
        <p:spPr>
          <a:xfrm>
            <a:off x="3638015" y="1848729"/>
            <a:ext cx="1368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Metin kutusu 66">
            <a:extLst>
              <a:ext uri="{FF2B5EF4-FFF2-40B4-BE49-F238E27FC236}">
                <a16:creationId xmlns:a16="http://schemas.microsoft.com/office/drawing/2014/main" id="{0AFF2C52-AAD6-4D51-BE5B-5D9E78B0DDDF}"/>
              </a:ext>
            </a:extLst>
          </p:cNvPr>
          <p:cNvSpPr txBox="1"/>
          <p:nvPr/>
        </p:nvSpPr>
        <p:spPr>
          <a:xfrm>
            <a:off x="4944573" y="1725618"/>
            <a:ext cx="1562544" cy="246221"/>
          </a:xfrm>
          <a:prstGeom prst="rect">
            <a:avLst/>
          </a:prstGeom>
          <a:noFill/>
        </p:spPr>
        <p:txBody>
          <a:bodyPr wrap="square" rtlCol="0">
            <a:spAutoFit/>
          </a:bodyPr>
          <a:lstStyle/>
          <a:p>
            <a:r>
              <a:rPr lang="tr-TR" sz="1000" b="1" noProof="1">
                <a:cs typeface="Arial" panose="020B0604020202020204" pitchFamily="34" charset="0"/>
              </a:rPr>
              <a:t>Veri Merkezi</a:t>
            </a:r>
          </a:p>
        </p:txBody>
      </p:sp>
      <p:sp>
        <p:nvSpPr>
          <p:cNvPr id="72" name="Metin kutusu 71">
            <a:extLst>
              <a:ext uri="{FF2B5EF4-FFF2-40B4-BE49-F238E27FC236}">
                <a16:creationId xmlns:a16="http://schemas.microsoft.com/office/drawing/2014/main" id="{0A052A3C-43EC-462E-AD19-8A9D87468C2A}"/>
              </a:ext>
            </a:extLst>
          </p:cNvPr>
          <p:cNvSpPr txBox="1"/>
          <p:nvPr/>
        </p:nvSpPr>
        <p:spPr>
          <a:xfrm>
            <a:off x="350883" y="1884384"/>
            <a:ext cx="1160669" cy="246221"/>
          </a:xfrm>
          <a:prstGeom prst="rect">
            <a:avLst/>
          </a:prstGeom>
          <a:noFill/>
        </p:spPr>
        <p:txBody>
          <a:bodyPr wrap="square" rtlCol="0">
            <a:spAutoFit/>
          </a:bodyPr>
          <a:lstStyle/>
          <a:p>
            <a:r>
              <a:rPr lang="tr-TR" sz="1000" noProof="1">
                <a:cs typeface="Arial" panose="020B0604020202020204" pitchFamily="34" charset="0"/>
              </a:rPr>
              <a:t>4         3        2      1</a:t>
            </a:r>
          </a:p>
        </p:txBody>
      </p:sp>
      <p:sp>
        <p:nvSpPr>
          <p:cNvPr id="73" name="Metin kutusu 72">
            <a:extLst>
              <a:ext uri="{FF2B5EF4-FFF2-40B4-BE49-F238E27FC236}">
                <a16:creationId xmlns:a16="http://schemas.microsoft.com/office/drawing/2014/main" id="{1A688A92-B7EC-49D3-A6DA-BD4672AA4B4B}"/>
              </a:ext>
            </a:extLst>
          </p:cNvPr>
          <p:cNvSpPr txBox="1"/>
          <p:nvPr/>
        </p:nvSpPr>
        <p:spPr>
          <a:xfrm>
            <a:off x="25997" y="2063419"/>
            <a:ext cx="3353471" cy="1785104"/>
          </a:xfrm>
          <a:prstGeom prst="rect">
            <a:avLst/>
          </a:prstGeom>
          <a:noFill/>
        </p:spPr>
        <p:txBody>
          <a:bodyPr wrap="square" rtlCol="0">
            <a:spAutoFit/>
          </a:bodyPr>
          <a:lstStyle/>
          <a:p>
            <a:r>
              <a:rPr lang="tr-TR" sz="1000" b="1" noProof="1">
                <a:cs typeface="Arial" panose="020B0604020202020204" pitchFamily="34" charset="0"/>
              </a:rPr>
              <a:t>Yukarıda Nergis`in okuduğu kitabın sayfa sayısı ve kitabı bitirmek için kendine verdiği kalan süre sütun grafiği ile gösterilmiştir. Sadece bu grafiğe bakarak;</a:t>
            </a:r>
          </a:p>
          <a:p>
            <a:endParaRPr lang="tr-TR" sz="1000" noProof="1">
              <a:cs typeface="Arial" panose="020B0604020202020204" pitchFamily="34" charset="0"/>
            </a:endParaRPr>
          </a:p>
          <a:p>
            <a:r>
              <a:rPr lang="tr-TR" sz="1000" noProof="1">
                <a:cs typeface="Arial" panose="020B0604020202020204" pitchFamily="34" charset="0"/>
              </a:rPr>
              <a:t>I. Kitap toplamda 180 sayfadır. </a:t>
            </a:r>
          </a:p>
          <a:p>
            <a:r>
              <a:rPr lang="tr-TR" sz="1000" noProof="1">
                <a:cs typeface="Arial" panose="020B0604020202020204" pitchFamily="34" charset="0"/>
              </a:rPr>
              <a:t>II. Nergis kitabı hedeflediği süreden daha erken bitirmiştir.</a:t>
            </a:r>
          </a:p>
          <a:p>
            <a:r>
              <a:rPr lang="tr-TR" sz="1000" noProof="1">
                <a:cs typeface="Arial" panose="020B0604020202020204" pitchFamily="34" charset="0"/>
              </a:rPr>
              <a:t>III. Nergis`in kitap okuduğu son üç gün ortalama 60 sayfa okumuştur. </a:t>
            </a:r>
          </a:p>
          <a:p>
            <a:r>
              <a:rPr lang="tr-TR" sz="1000" noProof="1">
                <a:cs typeface="Arial" panose="020B0604020202020204" pitchFamily="34" charset="0"/>
              </a:rPr>
              <a:t>IV. Kitabın bitmesine 4 gün kala kitabın üçte birini okumuştur.</a:t>
            </a:r>
          </a:p>
          <a:p>
            <a:endParaRPr lang="tr-TR" sz="1000" noProof="1">
              <a:cs typeface="Arial" panose="020B0604020202020204" pitchFamily="34" charset="0"/>
            </a:endParaRPr>
          </a:p>
          <a:p>
            <a:r>
              <a:rPr lang="tr-TR" sz="1000" b="1" noProof="1">
                <a:cs typeface="Arial" panose="020B0604020202020204" pitchFamily="34" charset="0"/>
              </a:rPr>
              <a:t>Yukarıdaki önermelerden hangileri </a:t>
            </a:r>
            <a:r>
              <a:rPr lang="tr-TR" sz="1000" b="1" u="sng" noProof="1">
                <a:cs typeface="Arial" panose="020B0604020202020204" pitchFamily="34" charset="0"/>
              </a:rPr>
              <a:t>kesinlikle</a:t>
            </a:r>
            <a:r>
              <a:rPr lang="tr-TR" sz="1000" b="1" noProof="1">
                <a:cs typeface="Arial" panose="020B0604020202020204" pitchFamily="34" charset="0"/>
              </a:rPr>
              <a:t> doğrudur?</a:t>
            </a:r>
          </a:p>
        </p:txBody>
      </p:sp>
      <p:sp>
        <p:nvSpPr>
          <p:cNvPr id="74" name="Metin kutusu 73">
            <a:extLst>
              <a:ext uri="{FF2B5EF4-FFF2-40B4-BE49-F238E27FC236}">
                <a16:creationId xmlns:a16="http://schemas.microsoft.com/office/drawing/2014/main" id="{F145A3EF-3074-46A5-BFB2-8C1370CC1633}"/>
              </a:ext>
            </a:extLst>
          </p:cNvPr>
          <p:cNvSpPr txBox="1"/>
          <p:nvPr/>
        </p:nvSpPr>
        <p:spPr>
          <a:xfrm>
            <a:off x="-12447" y="1421221"/>
            <a:ext cx="417111" cy="246221"/>
          </a:xfrm>
          <a:prstGeom prst="rect">
            <a:avLst/>
          </a:prstGeom>
          <a:noFill/>
        </p:spPr>
        <p:txBody>
          <a:bodyPr wrap="square" rtlCol="0">
            <a:spAutoFit/>
          </a:bodyPr>
          <a:lstStyle/>
          <a:p>
            <a:r>
              <a:rPr lang="tr-TR" sz="1000" noProof="1">
                <a:cs typeface="Arial" panose="020B0604020202020204" pitchFamily="34" charset="0"/>
              </a:rPr>
              <a:t>60</a:t>
            </a:r>
          </a:p>
        </p:txBody>
      </p:sp>
      <p:sp>
        <p:nvSpPr>
          <p:cNvPr id="75" name="Metin kutusu 74">
            <a:extLst>
              <a:ext uri="{FF2B5EF4-FFF2-40B4-BE49-F238E27FC236}">
                <a16:creationId xmlns:a16="http://schemas.microsoft.com/office/drawing/2014/main" id="{35C1022F-132F-4AFB-8F76-6CD2453621A8}"/>
              </a:ext>
            </a:extLst>
          </p:cNvPr>
          <p:cNvSpPr txBox="1"/>
          <p:nvPr/>
        </p:nvSpPr>
        <p:spPr>
          <a:xfrm>
            <a:off x="-12448" y="1210849"/>
            <a:ext cx="417111" cy="246221"/>
          </a:xfrm>
          <a:prstGeom prst="rect">
            <a:avLst/>
          </a:prstGeom>
          <a:noFill/>
        </p:spPr>
        <p:txBody>
          <a:bodyPr wrap="square" rtlCol="0">
            <a:spAutoFit/>
          </a:bodyPr>
          <a:lstStyle/>
          <a:p>
            <a:r>
              <a:rPr lang="tr-TR" sz="1000" noProof="1">
                <a:cs typeface="Arial" panose="020B0604020202020204" pitchFamily="34" charset="0"/>
              </a:rPr>
              <a:t>80</a:t>
            </a:r>
          </a:p>
        </p:txBody>
      </p:sp>
      <p:sp>
        <p:nvSpPr>
          <p:cNvPr id="76" name="Metin kutusu 75">
            <a:extLst>
              <a:ext uri="{FF2B5EF4-FFF2-40B4-BE49-F238E27FC236}">
                <a16:creationId xmlns:a16="http://schemas.microsoft.com/office/drawing/2014/main" id="{00FDFDD5-8F08-4136-9024-EC2925D34B50}"/>
              </a:ext>
            </a:extLst>
          </p:cNvPr>
          <p:cNvSpPr txBox="1"/>
          <p:nvPr/>
        </p:nvSpPr>
        <p:spPr>
          <a:xfrm>
            <a:off x="-23265" y="1597255"/>
            <a:ext cx="417111" cy="246221"/>
          </a:xfrm>
          <a:prstGeom prst="rect">
            <a:avLst/>
          </a:prstGeom>
          <a:noFill/>
        </p:spPr>
        <p:txBody>
          <a:bodyPr wrap="square" rtlCol="0">
            <a:spAutoFit/>
          </a:bodyPr>
          <a:lstStyle/>
          <a:p>
            <a:r>
              <a:rPr lang="tr-TR" sz="1000" noProof="1">
                <a:cs typeface="Arial" panose="020B0604020202020204" pitchFamily="34" charset="0"/>
              </a:rPr>
              <a:t>40</a:t>
            </a:r>
          </a:p>
        </p:txBody>
      </p:sp>
      <p:cxnSp>
        <p:nvCxnSpPr>
          <p:cNvPr id="41" name="Düz Bağlayıcı 40">
            <a:extLst>
              <a:ext uri="{FF2B5EF4-FFF2-40B4-BE49-F238E27FC236}">
                <a16:creationId xmlns:a16="http://schemas.microsoft.com/office/drawing/2014/main" id="{14334ACC-626A-4EB3-8224-1D7B00A47C02}"/>
              </a:ext>
            </a:extLst>
          </p:cNvPr>
          <p:cNvCxnSpPr>
            <a:cxnSpLocks/>
          </p:cNvCxnSpPr>
          <p:nvPr/>
        </p:nvCxnSpPr>
        <p:spPr>
          <a:xfrm flipH="1">
            <a:off x="231893" y="1724780"/>
            <a:ext cx="85145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 name="Düz Bağlayıcı 76">
            <a:extLst>
              <a:ext uri="{FF2B5EF4-FFF2-40B4-BE49-F238E27FC236}">
                <a16:creationId xmlns:a16="http://schemas.microsoft.com/office/drawing/2014/main" id="{74CC6185-DACD-4E4A-80F3-E7FC570230C8}"/>
              </a:ext>
            </a:extLst>
          </p:cNvPr>
          <p:cNvCxnSpPr>
            <a:cxnSpLocks/>
          </p:cNvCxnSpPr>
          <p:nvPr/>
        </p:nvCxnSpPr>
        <p:spPr>
          <a:xfrm flipH="1">
            <a:off x="236645" y="1548598"/>
            <a:ext cx="306290" cy="164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0" name="Düz Bağlayıcı 79">
            <a:extLst>
              <a:ext uri="{FF2B5EF4-FFF2-40B4-BE49-F238E27FC236}">
                <a16:creationId xmlns:a16="http://schemas.microsoft.com/office/drawing/2014/main" id="{A3A3F514-6705-46D0-B622-852ADDFB838A}"/>
              </a:ext>
            </a:extLst>
          </p:cNvPr>
          <p:cNvCxnSpPr>
            <a:cxnSpLocks/>
            <a:stCxn id="69" idx="0"/>
          </p:cNvCxnSpPr>
          <p:nvPr/>
        </p:nvCxnSpPr>
        <p:spPr>
          <a:xfrm flipH="1">
            <a:off x="231893" y="1333626"/>
            <a:ext cx="546586"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8" name="Dikdörtgen 67">
            <a:extLst>
              <a:ext uri="{FF2B5EF4-FFF2-40B4-BE49-F238E27FC236}">
                <a16:creationId xmlns:a16="http://schemas.microsoft.com/office/drawing/2014/main" id="{8040D0C5-49FA-4DF6-865E-676F139C4747}"/>
              </a:ext>
            </a:extLst>
          </p:cNvPr>
          <p:cNvSpPr/>
          <p:nvPr/>
        </p:nvSpPr>
        <p:spPr>
          <a:xfrm>
            <a:off x="424460" y="1544000"/>
            <a:ext cx="160481" cy="37532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9" name="Dikdörtgen 68">
            <a:extLst>
              <a:ext uri="{FF2B5EF4-FFF2-40B4-BE49-F238E27FC236}">
                <a16:creationId xmlns:a16="http://schemas.microsoft.com/office/drawing/2014/main" id="{69BC384C-9A7A-4DFA-B746-E1A66E83A39E}"/>
              </a:ext>
            </a:extLst>
          </p:cNvPr>
          <p:cNvSpPr/>
          <p:nvPr/>
        </p:nvSpPr>
        <p:spPr>
          <a:xfrm>
            <a:off x="698238" y="1333626"/>
            <a:ext cx="160481" cy="585698"/>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0" name="Dikdörtgen 69">
            <a:extLst>
              <a:ext uri="{FF2B5EF4-FFF2-40B4-BE49-F238E27FC236}">
                <a16:creationId xmlns:a16="http://schemas.microsoft.com/office/drawing/2014/main" id="{EAED657C-85CC-4E18-A20F-C065DEBD65F2}"/>
              </a:ext>
            </a:extLst>
          </p:cNvPr>
          <p:cNvSpPr/>
          <p:nvPr/>
        </p:nvSpPr>
        <p:spPr>
          <a:xfrm>
            <a:off x="1004623" y="1724780"/>
            <a:ext cx="160481" cy="19454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9" name="Metin kutusu 88">
            <a:extLst>
              <a:ext uri="{FF2B5EF4-FFF2-40B4-BE49-F238E27FC236}">
                <a16:creationId xmlns:a16="http://schemas.microsoft.com/office/drawing/2014/main" id="{79BA191E-8ECD-48A8-B9C8-3A65BECED273}"/>
              </a:ext>
            </a:extLst>
          </p:cNvPr>
          <p:cNvSpPr txBox="1"/>
          <p:nvPr/>
        </p:nvSpPr>
        <p:spPr>
          <a:xfrm>
            <a:off x="44624" y="5747912"/>
            <a:ext cx="3300369" cy="3170099"/>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Sadece son 4 günde Nergis`in kaç sayfa okuduğunu görebilmekteyiz. Yani kitabın tamamı kaç sayfadan oluşuyor bunu bu grafikten kesinlik bilgisi olarak çıkaramayız.</a:t>
            </a:r>
          </a:p>
          <a:p>
            <a:endParaRPr lang="tr-TR" sz="1000"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Nergis son 1 gün kala kitap okumadığını görüyoruz. Buradan kitabını bitirdiğini çıkaramayız. Kitabı okumaması bitirdiği anlamına gelmez. Kitabı bitirmişte olabilir veya bitirmeyip okumamazlık yapmışta olabiliri. Kesinlik sunduğu için buna doğru diyemiyoruz. Farkederseniz geçmiş yıllarda ki soru kalıpları böyle değildi, kitabımızda en güncel anlamaya yönelik sorular ve  çözümleriyle sizleri sınava hazırlamaya çalışıyoruz.</a:t>
            </a:r>
          </a:p>
          <a:p>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Kitap okuduğu son üç diyor dikkat edelim arkadaşlar. Yani son günü saymayınız çünkü o gün kitap okumamıştır. Son üç gün toplam 180 sayfa 3`e bölersek 60 sayfa ortalama.</a:t>
            </a:r>
          </a:p>
          <a:p>
            <a:endParaRPr lang="tr-TR" sz="1000" noProof="1">
              <a:cs typeface="Arial" panose="020B0604020202020204" pitchFamily="34" charset="0"/>
            </a:endParaRPr>
          </a:p>
          <a:p>
            <a:r>
              <a:rPr lang="tr-TR" sz="1000" b="1" noProof="1">
                <a:cs typeface="Arial" panose="020B0604020202020204" pitchFamily="34" charset="0"/>
              </a:rPr>
              <a:t>IV. </a:t>
            </a:r>
            <a:r>
              <a:rPr lang="tr-TR" sz="1000" noProof="1">
                <a:cs typeface="Arial" panose="020B0604020202020204" pitchFamily="34" charset="0"/>
              </a:rPr>
              <a:t>Kitabın tamamının kaç sayfa olmadığını bilmediğimiz için böyle bir yorum da kesinlikle yapamayız.</a:t>
            </a:r>
          </a:p>
          <a:p>
            <a:endParaRPr lang="tr-TR" sz="1000" noProof="1">
              <a:cs typeface="Arial" panose="020B0604020202020204" pitchFamily="34" charset="0"/>
            </a:endParaRPr>
          </a:p>
        </p:txBody>
      </p:sp>
      <p:sp>
        <p:nvSpPr>
          <p:cNvPr id="90" name="Metin kutusu 89">
            <a:extLst>
              <a:ext uri="{FF2B5EF4-FFF2-40B4-BE49-F238E27FC236}">
                <a16:creationId xmlns:a16="http://schemas.microsoft.com/office/drawing/2014/main" id="{E3CEE10B-C5AB-413C-A05B-FBD1C4083D4D}"/>
              </a:ext>
            </a:extLst>
          </p:cNvPr>
          <p:cNvSpPr txBox="1"/>
          <p:nvPr/>
        </p:nvSpPr>
        <p:spPr>
          <a:xfrm>
            <a:off x="3766084" y="1783693"/>
            <a:ext cx="1160669" cy="246221"/>
          </a:xfrm>
          <a:prstGeom prst="rect">
            <a:avLst/>
          </a:prstGeom>
          <a:noFill/>
        </p:spPr>
        <p:txBody>
          <a:bodyPr wrap="square" rtlCol="0">
            <a:spAutoFit/>
          </a:bodyPr>
          <a:lstStyle/>
          <a:p>
            <a:r>
              <a:rPr lang="tr-TR" sz="1000" noProof="1">
                <a:cs typeface="Arial" panose="020B0604020202020204" pitchFamily="34" charset="0"/>
              </a:rPr>
              <a:t>A        B        C      D</a:t>
            </a:r>
          </a:p>
        </p:txBody>
      </p:sp>
      <p:sp>
        <p:nvSpPr>
          <p:cNvPr id="95" name="Metin kutusu 94">
            <a:extLst>
              <a:ext uri="{FF2B5EF4-FFF2-40B4-BE49-F238E27FC236}">
                <a16:creationId xmlns:a16="http://schemas.microsoft.com/office/drawing/2014/main" id="{B63F9009-B28E-4AA7-8EA0-8B2803196D18}"/>
              </a:ext>
            </a:extLst>
          </p:cNvPr>
          <p:cNvSpPr txBox="1"/>
          <p:nvPr/>
        </p:nvSpPr>
        <p:spPr>
          <a:xfrm>
            <a:off x="3480593" y="1007053"/>
            <a:ext cx="430669" cy="246221"/>
          </a:xfrm>
          <a:prstGeom prst="rect">
            <a:avLst/>
          </a:prstGeom>
          <a:noFill/>
        </p:spPr>
        <p:txBody>
          <a:bodyPr wrap="square" rtlCol="0">
            <a:spAutoFit/>
          </a:bodyPr>
          <a:lstStyle/>
          <a:p>
            <a:r>
              <a:rPr lang="tr-TR" sz="1000" noProof="1">
                <a:cs typeface="Arial" panose="020B0604020202020204" pitchFamily="34" charset="0"/>
              </a:rPr>
              <a:t>720</a:t>
            </a:r>
          </a:p>
        </p:txBody>
      </p:sp>
      <p:sp>
        <p:nvSpPr>
          <p:cNvPr id="96" name="Metin kutusu 95">
            <a:extLst>
              <a:ext uri="{FF2B5EF4-FFF2-40B4-BE49-F238E27FC236}">
                <a16:creationId xmlns:a16="http://schemas.microsoft.com/office/drawing/2014/main" id="{65E64D9E-5230-4ABA-856B-33A7D594629A}"/>
              </a:ext>
            </a:extLst>
          </p:cNvPr>
          <p:cNvSpPr txBox="1"/>
          <p:nvPr/>
        </p:nvSpPr>
        <p:spPr>
          <a:xfrm>
            <a:off x="3486368" y="1194453"/>
            <a:ext cx="430669" cy="246221"/>
          </a:xfrm>
          <a:prstGeom prst="rect">
            <a:avLst/>
          </a:prstGeom>
          <a:noFill/>
        </p:spPr>
        <p:txBody>
          <a:bodyPr wrap="square" rtlCol="0">
            <a:spAutoFit/>
          </a:bodyPr>
          <a:lstStyle/>
          <a:p>
            <a:r>
              <a:rPr lang="tr-TR" sz="1000" noProof="1">
                <a:cs typeface="Arial" panose="020B0604020202020204" pitchFamily="34" charset="0"/>
              </a:rPr>
              <a:t>540</a:t>
            </a:r>
          </a:p>
        </p:txBody>
      </p:sp>
      <p:sp>
        <p:nvSpPr>
          <p:cNvPr id="97" name="Metin kutusu 96">
            <a:extLst>
              <a:ext uri="{FF2B5EF4-FFF2-40B4-BE49-F238E27FC236}">
                <a16:creationId xmlns:a16="http://schemas.microsoft.com/office/drawing/2014/main" id="{D59E72BA-4927-4FE5-A97B-4984F769452B}"/>
              </a:ext>
            </a:extLst>
          </p:cNvPr>
          <p:cNvSpPr txBox="1"/>
          <p:nvPr/>
        </p:nvSpPr>
        <p:spPr>
          <a:xfrm>
            <a:off x="3484357" y="1366948"/>
            <a:ext cx="430669" cy="246221"/>
          </a:xfrm>
          <a:prstGeom prst="rect">
            <a:avLst/>
          </a:prstGeom>
          <a:noFill/>
        </p:spPr>
        <p:txBody>
          <a:bodyPr wrap="square" rtlCol="0">
            <a:spAutoFit/>
          </a:bodyPr>
          <a:lstStyle/>
          <a:p>
            <a:r>
              <a:rPr lang="tr-TR" sz="1000" noProof="1">
                <a:cs typeface="Arial" panose="020B0604020202020204" pitchFamily="34" charset="0"/>
              </a:rPr>
              <a:t>360</a:t>
            </a:r>
          </a:p>
        </p:txBody>
      </p:sp>
      <p:sp>
        <p:nvSpPr>
          <p:cNvPr id="98" name="Metin kutusu 97">
            <a:extLst>
              <a:ext uri="{FF2B5EF4-FFF2-40B4-BE49-F238E27FC236}">
                <a16:creationId xmlns:a16="http://schemas.microsoft.com/office/drawing/2014/main" id="{EAABA363-F51D-43AB-A951-DBCD2CBA071F}"/>
              </a:ext>
            </a:extLst>
          </p:cNvPr>
          <p:cNvSpPr txBox="1"/>
          <p:nvPr/>
        </p:nvSpPr>
        <p:spPr>
          <a:xfrm>
            <a:off x="3482346" y="1528636"/>
            <a:ext cx="430669" cy="246221"/>
          </a:xfrm>
          <a:prstGeom prst="rect">
            <a:avLst/>
          </a:prstGeom>
          <a:noFill/>
        </p:spPr>
        <p:txBody>
          <a:bodyPr wrap="square" rtlCol="0">
            <a:spAutoFit/>
          </a:bodyPr>
          <a:lstStyle/>
          <a:p>
            <a:r>
              <a:rPr lang="tr-TR" sz="1000" noProof="1">
                <a:cs typeface="Arial" panose="020B0604020202020204" pitchFamily="34" charset="0"/>
              </a:rPr>
              <a:t>180</a:t>
            </a:r>
          </a:p>
        </p:txBody>
      </p:sp>
      <p:cxnSp>
        <p:nvCxnSpPr>
          <p:cNvPr id="99" name="Düz Bağlayıcı 98">
            <a:extLst>
              <a:ext uri="{FF2B5EF4-FFF2-40B4-BE49-F238E27FC236}">
                <a16:creationId xmlns:a16="http://schemas.microsoft.com/office/drawing/2014/main" id="{4787E477-E66F-4810-92EB-AA17D672626E}"/>
              </a:ext>
            </a:extLst>
          </p:cNvPr>
          <p:cNvCxnSpPr>
            <a:cxnSpLocks/>
          </p:cNvCxnSpPr>
          <p:nvPr/>
        </p:nvCxnSpPr>
        <p:spPr>
          <a:xfrm flipH="1">
            <a:off x="3782031" y="1652622"/>
            <a:ext cx="781612"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1" name="Düz Bağlayıcı 100">
            <a:extLst>
              <a:ext uri="{FF2B5EF4-FFF2-40B4-BE49-F238E27FC236}">
                <a16:creationId xmlns:a16="http://schemas.microsoft.com/office/drawing/2014/main" id="{F0DC02A6-B5F7-4A14-97F3-C068B6E9CF6D}"/>
              </a:ext>
            </a:extLst>
          </p:cNvPr>
          <p:cNvCxnSpPr>
            <a:cxnSpLocks/>
          </p:cNvCxnSpPr>
          <p:nvPr/>
        </p:nvCxnSpPr>
        <p:spPr>
          <a:xfrm flipH="1">
            <a:off x="3782031" y="1333626"/>
            <a:ext cx="99341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3" name="Düz Bağlayıcı 102">
            <a:extLst>
              <a:ext uri="{FF2B5EF4-FFF2-40B4-BE49-F238E27FC236}">
                <a16:creationId xmlns:a16="http://schemas.microsoft.com/office/drawing/2014/main" id="{84C1AA28-71B6-481D-8D08-17A801A17BAD}"/>
              </a:ext>
            </a:extLst>
          </p:cNvPr>
          <p:cNvCxnSpPr>
            <a:cxnSpLocks/>
          </p:cNvCxnSpPr>
          <p:nvPr/>
        </p:nvCxnSpPr>
        <p:spPr>
          <a:xfrm flipH="1">
            <a:off x="3782031" y="1472082"/>
            <a:ext cx="15246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5" name="Düz Bağlayıcı 104">
            <a:extLst>
              <a:ext uri="{FF2B5EF4-FFF2-40B4-BE49-F238E27FC236}">
                <a16:creationId xmlns:a16="http://schemas.microsoft.com/office/drawing/2014/main" id="{9DE4DA4A-2EA1-41BA-86A3-6094A85032F0}"/>
              </a:ext>
            </a:extLst>
          </p:cNvPr>
          <p:cNvCxnSpPr>
            <a:cxnSpLocks/>
          </p:cNvCxnSpPr>
          <p:nvPr/>
        </p:nvCxnSpPr>
        <p:spPr>
          <a:xfrm flipH="1">
            <a:off x="3777659" y="1108619"/>
            <a:ext cx="408608" cy="46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1" name="Dikdörtgen 90">
            <a:extLst>
              <a:ext uri="{FF2B5EF4-FFF2-40B4-BE49-F238E27FC236}">
                <a16:creationId xmlns:a16="http://schemas.microsoft.com/office/drawing/2014/main" id="{D3B3F96E-1A7C-4070-87C8-10D2D839CC92}"/>
              </a:ext>
            </a:extLst>
          </p:cNvPr>
          <p:cNvSpPr/>
          <p:nvPr/>
        </p:nvSpPr>
        <p:spPr>
          <a:xfrm>
            <a:off x="3822999" y="1472082"/>
            <a:ext cx="160481" cy="375324"/>
          </a:xfrm>
          <a:prstGeom prst="rect">
            <a:avLst/>
          </a:prstGeom>
          <a:solidFill>
            <a:srgbClr val="F3BFE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2" name="Dikdörtgen 91">
            <a:extLst>
              <a:ext uri="{FF2B5EF4-FFF2-40B4-BE49-F238E27FC236}">
                <a16:creationId xmlns:a16="http://schemas.microsoft.com/office/drawing/2014/main" id="{25FA45BF-252A-409B-B29A-E7292D5019BC}"/>
              </a:ext>
            </a:extLst>
          </p:cNvPr>
          <p:cNvSpPr/>
          <p:nvPr/>
        </p:nvSpPr>
        <p:spPr>
          <a:xfrm>
            <a:off x="4096777" y="1107074"/>
            <a:ext cx="160481" cy="740332"/>
          </a:xfrm>
          <a:prstGeom prst="rect">
            <a:avLst/>
          </a:prstGeom>
          <a:solidFill>
            <a:srgbClr val="F3BFE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3" name="Dikdörtgen 92">
            <a:extLst>
              <a:ext uri="{FF2B5EF4-FFF2-40B4-BE49-F238E27FC236}">
                <a16:creationId xmlns:a16="http://schemas.microsoft.com/office/drawing/2014/main" id="{30D8F841-3102-45EE-8069-633431A8BB87}"/>
              </a:ext>
            </a:extLst>
          </p:cNvPr>
          <p:cNvSpPr/>
          <p:nvPr/>
        </p:nvSpPr>
        <p:spPr>
          <a:xfrm>
            <a:off x="4403162" y="1652862"/>
            <a:ext cx="160481" cy="194544"/>
          </a:xfrm>
          <a:prstGeom prst="rect">
            <a:avLst/>
          </a:prstGeom>
          <a:solidFill>
            <a:srgbClr val="F3BFE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4" name="Dikdörtgen 93">
            <a:extLst>
              <a:ext uri="{FF2B5EF4-FFF2-40B4-BE49-F238E27FC236}">
                <a16:creationId xmlns:a16="http://schemas.microsoft.com/office/drawing/2014/main" id="{CBDE2016-9D47-4781-99A3-DF13064EB631}"/>
              </a:ext>
            </a:extLst>
          </p:cNvPr>
          <p:cNvSpPr/>
          <p:nvPr/>
        </p:nvSpPr>
        <p:spPr>
          <a:xfrm>
            <a:off x="4670162" y="1333626"/>
            <a:ext cx="160481" cy="509323"/>
          </a:xfrm>
          <a:prstGeom prst="rect">
            <a:avLst/>
          </a:prstGeom>
          <a:solidFill>
            <a:srgbClr val="F3BFE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7" name="Metin kutusu 106">
            <a:extLst>
              <a:ext uri="{FF2B5EF4-FFF2-40B4-BE49-F238E27FC236}">
                <a16:creationId xmlns:a16="http://schemas.microsoft.com/office/drawing/2014/main" id="{26073F23-4A45-48CC-A9C5-D0D1533F2B9B}"/>
              </a:ext>
            </a:extLst>
          </p:cNvPr>
          <p:cNvSpPr txBox="1"/>
          <p:nvPr/>
        </p:nvSpPr>
        <p:spPr>
          <a:xfrm>
            <a:off x="3534038" y="1937991"/>
            <a:ext cx="3352933" cy="2092881"/>
          </a:xfrm>
          <a:prstGeom prst="rect">
            <a:avLst/>
          </a:prstGeom>
          <a:noFill/>
        </p:spPr>
        <p:txBody>
          <a:bodyPr wrap="square" rtlCol="0">
            <a:spAutoFit/>
          </a:bodyPr>
          <a:lstStyle/>
          <a:p>
            <a:r>
              <a:rPr lang="tr-TR" sz="1000" b="1" noProof="1">
                <a:cs typeface="Arial" panose="020B0604020202020204" pitchFamily="34" charset="0"/>
              </a:rPr>
              <a:t>A,B,C,D veri merkezlerinin internet hızları mbps biriminden grafikte verilmiştir. Buna göre,  </a:t>
            </a:r>
          </a:p>
          <a:p>
            <a:endParaRPr lang="tr-TR" sz="1000" noProof="1">
              <a:cs typeface="Arial" panose="020B0604020202020204" pitchFamily="34" charset="0"/>
            </a:endParaRPr>
          </a:p>
          <a:p>
            <a:r>
              <a:rPr lang="tr-TR" sz="1000" noProof="1">
                <a:cs typeface="Arial" panose="020B0604020202020204" pitchFamily="34" charset="0"/>
              </a:rPr>
              <a:t>I. B veri merkezinin hızı C veri merkezinin internet hızının %300 daha fazladır. </a:t>
            </a:r>
          </a:p>
          <a:p>
            <a:r>
              <a:rPr lang="tr-TR" sz="1000" noProof="1">
                <a:cs typeface="Arial" panose="020B0604020202020204" pitchFamily="34" charset="0"/>
              </a:rPr>
              <a:t>II. C veri merkezinin internet hızının %100 fazlası A veri merkezinin hızıdır. </a:t>
            </a:r>
          </a:p>
          <a:p>
            <a:r>
              <a:rPr lang="tr-TR" sz="1000" noProof="1">
                <a:cs typeface="Arial" panose="020B0604020202020204" pitchFamily="34" charset="0"/>
              </a:rPr>
              <a:t>III. 4 veri merkezinin internet hızlarının aritmetik ortalamasının üstünde sadece 2 veri merkezi vardır. </a:t>
            </a:r>
          </a:p>
          <a:p>
            <a:r>
              <a:rPr lang="tr-TR" sz="1000" noProof="1">
                <a:cs typeface="Arial" panose="020B0604020202020204" pitchFamily="34" charset="0"/>
              </a:rPr>
              <a:t>IV. D veri merkezinin verileri grafikten silinirse A,B,C veri merkezlerinin internet hızları ortlaması azalır. </a:t>
            </a:r>
          </a:p>
          <a:p>
            <a:endParaRPr lang="tr-TR" sz="1000" noProof="1">
              <a:cs typeface="Arial" panose="020B0604020202020204" pitchFamily="34" charset="0"/>
            </a:endParaRPr>
          </a:p>
          <a:p>
            <a:r>
              <a:rPr lang="tr-TR" sz="1000" b="1" noProof="1">
                <a:cs typeface="Arial" panose="020B0604020202020204" pitchFamily="34" charset="0"/>
              </a:rPr>
              <a:t>yukarıdaki önermelerden hangileri doğrudur?</a:t>
            </a:r>
          </a:p>
        </p:txBody>
      </p:sp>
      <mc:AlternateContent xmlns:mc="http://schemas.openxmlformats.org/markup-compatibility/2006" xmlns:a14="http://schemas.microsoft.com/office/drawing/2010/main">
        <mc:Choice Requires="a14">
          <p:sp>
            <p:nvSpPr>
              <p:cNvPr id="108" name="Metin kutusu 107">
                <a:extLst>
                  <a:ext uri="{FF2B5EF4-FFF2-40B4-BE49-F238E27FC236}">
                    <a16:creationId xmlns:a16="http://schemas.microsoft.com/office/drawing/2014/main" id="{A0E60597-8CBA-4643-B0AB-155E1F8AF936}"/>
                  </a:ext>
                </a:extLst>
              </p:cNvPr>
              <p:cNvSpPr txBox="1"/>
              <p:nvPr/>
            </p:nvSpPr>
            <p:spPr>
              <a:xfrm>
                <a:off x="3565918" y="5534099"/>
                <a:ext cx="3300369" cy="3251018"/>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C veri merkezinin internet hızının %x daha fazladır olmuş olsun. C`nin hızı 180 mbps %x daha fazla olduğunu ifade etmek için 180 + 180 . </a:t>
                </a:r>
                <a14:m>
                  <m:oMath xmlns:m="http://schemas.openxmlformats.org/officeDocument/2006/math">
                    <m:f>
                      <m:fPr>
                        <m:ctrlPr>
                          <a:rPr lang="tr-TR" sz="800" i="1" noProof="1" smtClean="0">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x</m:t>
                        </m:r>
                        <m:r>
                          <m:rPr>
                            <m:nor/>
                          </m:rPr>
                          <a:rPr lang="tr-TR" sz="800" b="0" i="0" noProof="1" smtClean="0">
                            <a:latin typeface="Helvetica" panose="020B0604020202020204" pitchFamily="34" charset="0"/>
                            <a:cs typeface="Helvetica" panose="020B0604020202020204" pitchFamily="34" charset="0"/>
                          </a:rPr>
                          <m:t> </m:t>
                        </m:r>
                      </m:num>
                      <m:den>
                        <m:r>
                          <m:rPr>
                            <m:nor/>
                          </m:rPr>
                          <a:rPr lang="tr-TR" sz="800" b="0" i="0" noProof="1" smtClean="0">
                            <a:latin typeface="Helvetica" panose="020B0604020202020204" pitchFamily="34" charset="0"/>
                            <a:cs typeface="Helvetica" panose="020B0604020202020204" pitchFamily="34" charset="0"/>
                          </a:rPr>
                          <m:t>100</m:t>
                        </m:r>
                      </m:den>
                    </m:f>
                  </m:oMath>
                </a14:m>
                <a:r>
                  <a:rPr lang="tr-TR" sz="800" noProof="1">
                    <a:cs typeface="Arial" panose="020B0604020202020204" pitchFamily="34" charset="0"/>
                  </a:rPr>
                  <a:t> = </a:t>
                </a:r>
                <a:r>
                  <a:rPr lang="tr-TR" sz="1000" noProof="1">
                    <a:cs typeface="Arial" panose="020B0604020202020204" pitchFamily="34" charset="0"/>
                  </a:rPr>
                  <a:t>720  ise  540 = 180 .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noProof="1">
                            <a:latin typeface="Cambria Math" panose="02040503050406030204" pitchFamily="18" charset="0"/>
                          </a:rPr>
                          <m:t> </m:t>
                        </m:r>
                        <m:r>
                          <m:rPr>
                            <m:nor/>
                          </m:rPr>
                          <a:rPr lang="tr-TR" sz="800" noProof="1">
                            <a:latin typeface="Helvetica" panose="020B0604020202020204" pitchFamily="34" charset="0"/>
                            <a:cs typeface="Helvetica" panose="020B0604020202020204" pitchFamily="34" charset="0"/>
                          </a:rPr>
                          <m:t>x</m:t>
                        </m:r>
                        <m:r>
                          <m:rPr>
                            <m:nor/>
                          </m:rPr>
                          <a:rPr lang="tr-TR" sz="800" noProof="1">
                            <a:latin typeface="Helvetica" panose="020B0604020202020204" pitchFamily="34" charset="0"/>
                            <a:cs typeface="Helvetica" panose="020B0604020202020204" pitchFamily="34" charset="0"/>
                          </a:rPr>
                          <m:t> </m:t>
                        </m:r>
                      </m:num>
                      <m:den>
                        <m:r>
                          <m:rPr>
                            <m:nor/>
                          </m:rPr>
                          <a:rPr lang="tr-TR" sz="800" noProof="1">
                            <a:latin typeface="Helvetica" panose="020B0604020202020204" pitchFamily="34" charset="0"/>
                            <a:cs typeface="Helvetica" panose="020B0604020202020204" pitchFamily="34" charset="0"/>
                          </a:rPr>
                          <m:t>100</m:t>
                        </m:r>
                      </m:den>
                    </m:f>
                  </m:oMath>
                </a14:m>
                <a:r>
                  <a:rPr lang="tr-TR" sz="800" noProof="1">
                    <a:cs typeface="Arial" panose="020B0604020202020204" pitchFamily="34" charset="0"/>
                  </a:rPr>
                  <a:t>  </a:t>
                </a:r>
              </a:p>
              <a:p>
                <a:r>
                  <a:rPr lang="tr-TR" sz="1000" b="1" noProof="1">
                    <a:cs typeface="Arial" panose="020B0604020202020204" pitchFamily="34" charset="0"/>
                  </a:rPr>
                  <a:t>x=300 olarak bulunur.</a:t>
                </a:r>
              </a:p>
              <a:p>
                <a:endParaRPr lang="tr-TR" sz="1000"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Bir sayının %100 fazlası iki katına erişmesi demektir. C nin %100 daha fazlası 180+180 den 360 yapar ve A veri merkezinin internet hızına denk gelmiş olur. Formaliteden yapmak gerekirse 180 + 180. </a:t>
                </a:r>
                <a14:m>
                  <m:oMath xmlns:m="http://schemas.openxmlformats.org/officeDocument/2006/math">
                    <m:f>
                      <m:fPr>
                        <m:ctrlPr>
                          <a:rPr lang="tr-TR" sz="800" i="1" noProof="1" smtClean="0">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100 </m:t>
                        </m:r>
                      </m:num>
                      <m:den>
                        <m:r>
                          <m:rPr>
                            <m:nor/>
                          </m:rPr>
                          <a:rPr lang="tr-TR" sz="800" b="0" i="0" noProof="1" smtClean="0">
                            <a:latin typeface="Helvetica" panose="020B0604020202020204" pitchFamily="34" charset="0"/>
                            <a:cs typeface="Helvetica" panose="020B0604020202020204" pitchFamily="34" charset="0"/>
                          </a:rPr>
                          <m:t>100</m:t>
                        </m:r>
                      </m:den>
                    </m:f>
                  </m:oMath>
                </a14:m>
                <a:r>
                  <a:rPr lang="tr-TR" sz="800" noProof="1">
                    <a:cs typeface="Arial" panose="020B0604020202020204" pitchFamily="34" charset="0"/>
                  </a:rPr>
                  <a:t> </a:t>
                </a:r>
                <a:r>
                  <a:rPr lang="tr-TR" sz="1000" noProof="1">
                    <a:cs typeface="Arial" panose="020B0604020202020204" pitchFamily="34" charset="0"/>
                  </a:rPr>
                  <a:t>= 360</a:t>
                </a:r>
              </a:p>
              <a:p>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720 + 540 + 360 + 180 = 1800/4 = 450 yapar yani 450 mbps internet hızından fazla olan veri merkezleri ortalamanın üstündedir. B ve D veri merkezleri ortalamanın üstündedir A ve C veri merkezlerinin internet hızları kendi aralarındaki ortalamanın altındadır. </a:t>
                </a:r>
              </a:p>
              <a:p>
                <a:endParaRPr lang="tr-TR" sz="1000" noProof="1">
                  <a:cs typeface="Arial" panose="020B0604020202020204" pitchFamily="34" charset="0"/>
                </a:endParaRPr>
              </a:p>
              <a:p>
                <a:r>
                  <a:rPr lang="tr-TR" sz="1000" b="1" noProof="1">
                    <a:cs typeface="Arial" panose="020B0604020202020204" pitchFamily="34" charset="0"/>
                  </a:rPr>
                  <a:t>IV. </a:t>
                </a:r>
                <a:r>
                  <a:rPr lang="tr-TR" sz="1000" noProof="1">
                    <a:cs typeface="Arial" panose="020B0604020202020204" pitchFamily="34" charset="0"/>
                  </a:rPr>
                  <a:t>D veri merkezi III. çözümümüzde bulduğumuz üzere ortalamanın üstünde ve ortalama üstü bir veri gruptan ayrılırsa ortalamayı düşürecektir çünkü bu veri grubun ortalamasını yükseltmektedir yokluğu azaltacaktır.  </a:t>
                </a:r>
                <a:endParaRPr lang="tr-TR" sz="800" noProof="1">
                  <a:cs typeface="Arial" panose="020B0604020202020204" pitchFamily="34" charset="0"/>
                </a:endParaRPr>
              </a:p>
            </p:txBody>
          </p:sp>
        </mc:Choice>
        <mc:Fallback xmlns="">
          <p:sp>
            <p:nvSpPr>
              <p:cNvPr id="108" name="Metin kutusu 107">
                <a:extLst>
                  <a:ext uri="{FF2B5EF4-FFF2-40B4-BE49-F238E27FC236}">
                    <a16:creationId xmlns:a16="http://schemas.microsoft.com/office/drawing/2014/main" id="{A0E60597-8CBA-4643-B0AB-155E1F8AF936}"/>
                  </a:ext>
                </a:extLst>
              </p:cNvPr>
              <p:cNvSpPr txBox="1">
                <a:spLocks noRot="1" noChangeAspect="1" noMove="1" noResize="1" noEditPoints="1" noAdjustHandles="1" noChangeArrowheads="1" noChangeShapeType="1" noTextEdit="1"/>
              </p:cNvSpPr>
              <p:nvPr/>
            </p:nvSpPr>
            <p:spPr>
              <a:xfrm>
                <a:off x="3565918" y="5534099"/>
                <a:ext cx="3300369" cy="3251018"/>
              </a:xfrm>
              <a:prstGeom prst="rect">
                <a:avLst/>
              </a:prstGeom>
              <a:blipFill>
                <a:blip r:embed="rId6"/>
                <a:stretch>
                  <a:fillRect b="-188"/>
                </a:stretch>
              </a:blipFill>
            </p:spPr>
            <p:txBody>
              <a:bodyPr/>
              <a:lstStyle/>
              <a:p>
                <a:r>
                  <a:rPr lang="tr-TR">
                    <a:noFill/>
                  </a:rPr>
                  <a:t> </a:t>
                </a:r>
              </a:p>
            </p:txBody>
          </p:sp>
        </mc:Fallback>
      </mc:AlternateContent>
    </p:spTree>
    <p:extLst>
      <p:ext uri="{BB962C8B-B14F-4D97-AF65-F5344CB8AC3E}">
        <p14:creationId xmlns:p14="http://schemas.microsoft.com/office/powerpoint/2010/main" val="1276265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Sütun Grafikleri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10014" y="530179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6319" y="808378"/>
            <a:ext cx="2953265" cy="246221"/>
          </a:xfrm>
          <a:prstGeom prst="rect">
            <a:avLst/>
          </a:prstGeom>
          <a:noFill/>
        </p:spPr>
        <p:txBody>
          <a:bodyPr wrap="square" rtlCol="0">
            <a:spAutoFit/>
          </a:bodyPr>
          <a:lstStyle/>
          <a:p>
            <a:r>
              <a:rPr lang="tr-TR" sz="1000" noProof="1">
                <a:cs typeface="Arial" panose="020B0604020202020204" pitchFamily="34" charset="0"/>
              </a:rPr>
              <a:t>Faruk`un Matematik Sınavı (Net doğru sayısı)</a:t>
            </a:r>
          </a:p>
        </p:txBody>
      </p:sp>
      <p:sp>
        <p:nvSpPr>
          <p:cNvPr id="56" name="Ok: Beşgen 55">
            <a:extLst>
              <a:ext uri="{FF2B5EF4-FFF2-40B4-BE49-F238E27FC236}">
                <a16:creationId xmlns:a16="http://schemas.microsoft.com/office/drawing/2014/main" id="{D327283C-46A4-4C86-A990-995946C89AA1}"/>
              </a:ext>
            </a:extLst>
          </p:cNvPr>
          <p:cNvSpPr/>
          <p:nvPr/>
        </p:nvSpPr>
        <p:spPr>
          <a:xfrm>
            <a:off x="3613861" y="559091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58296" y="448998"/>
            <a:ext cx="2432055"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17764" y="515342"/>
            <a:ext cx="2565778" cy="230832"/>
          </a:xfrm>
          <a:prstGeom prst="rect">
            <a:avLst/>
          </a:prstGeom>
          <a:noFill/>
        </p:spPr>
        <p:txBody>
          <a:bodyPr wrap="square">
            <a:spAutoFit/>
          </a:bodyPr>
          <a:lstStyle/>
          <a:p>
            <a:pPr algn="ctr"/>
            <a:r>
              <a:rPr lang="tr-TR" sz="800" i="0" dirty="0">
                <a:effectLst/>
                <a:latin typeface="Arial Narrow" panose="020B0606020202030204" pitchFamily="34" charset="0"/>
              </a:rPr>
              <a:t>“</a:t>
            </a:r>
            <a:r>
              <a:rPr lang="tr-TR" sz="900" i="0" dirty="0">
                <a:effectLst/>
                <a:latin typeface="Arial Narrow" panose="020B0606020202030204" pitchFamily="34" charset="0"/>
              </a:rPr>
              <a:t>Daha ileriye, en iyiye. </a:t>
            </a:r>
            <a:r>
              <a:rPr lang="tr-TR" sz="800" i="0" dirty="0">
                <a:effectLst/>
                <a:latin typeface="Arial Narrow" panose="020B0606020202030204" pitchFamily="34" charset="0"/>
              </a:rPr>
              <a:t>”  - Hacettepe Üniversitesi Sloganı</a:t>
            </a:r>
            <a:endParaRPr lang="tr-TR" sz="8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81276" y="408682"/>
            <a:ext cx="2406123" cy="363087"/>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6123" y="438911"/>
            <a:ext cx="2444799" cy="301621"/>
          </a:xfrm>
          <a:prstGeom prst="rect">
            <a:avLst/>
          </a:prstGeom>
          <a:noFill/>
        </p:spPr>
        <p:txBody>
          <a:bodyPr wrap="square">
            <a:spAutoFit/>
          </a:bodyPr>
          <a:lstStyle/>
          <a:p>
            <a:pPr algn="ctr"/>
            <a:r>
              <a:rPr lang="tr-TR" sz="680" i="0" dirty="0">
                <a:effectLst/>
                <a:latin typeface="Arial Narrow" panose="020B0606020202030204" pitchFamily="34" charset="0"/>
              </a:rPr>
              <a:t>“Eğer daha uzağı görebiliyorsam bu, benden önceki devlerin omuzlarında durduğum içindir.”  - Isaac Newton</a:t>
            </a:r>
            <a:endParaRPr lang="tr-TR" sz="680" dirty="0">
              <a:latin typeface="Arial Narrow" panose="020B0606020202030204" pitchFamily="34" charset="0"/>
            </a:endParaRPr>
          </a:p>
        </p:txBody>
      </p:sp>
      <p:cxnSp>
        <p:nvCxnSpPr>
          <p:cNvPr id="7" name="Düz Ok Bağlayıcısı 6">
            <a:extLst>
              <a:ext uri="{FF2B5EF4-FFF2-40B4-BE49-F238E27FC236}">
                <a16:creationId xmlns:a16="http://schemas.microsoft.com/office/drawing/2014/main" id="{F79463B4-AA8C-4F6F-9F26-F501F856FCA0}"/>
              </a:ext>
            </a:extLst>
          </p:cNvPr>
          <p:cNvCxnSpPr>
            <a:cxnSpLocks/>
          </p:cNvCxnSpPr>
          <p:nvPr/>
        </p:nvCxnSpPr>
        <p:spPr>
          <a:xfrm flipV="1">
            <a:off x="236645" y="1054599"/>
            <a:ext cx="0" cy="1035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Düz Ok Bağlayıcısı 14">
            <a:extLst>
              <a:ext uri="{FF2B5EF4-FFF2-40B4-BE49-F238E27FC236}">
                <a16:creationId xmlns:a16="http://schemas.microsoft.com/office/drawing/2014/main" id="{3F32ED5B-F3B4-45AD-8306-D34E23328E54}"/>
              </a:ext>
            </a:extLst>
          </p:cNvPr>
          <p:cNvCxnSpPr>
            <a:cxnSpLocks/>
          </p:cNvCxnSpPr>
          <p:nvPr/>
        </p:nvCxnSpPr>
        <p:spPr>
          <a:xfrm>
            <a:off x="92629" y="1918695"/>
            <a:ext cx="1368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Metin kutusu 59">
            <a:extLst>
              <a:ext uri="{FF2B5EF4-FFF2-40B4-BE49-F238E27FC236}">
                <a16:creationId xmlns:a16="http://schemas.microsoft.com/office/drawing/2014/main" id="{B74EF419-43CE-4CD7-8A88-8E481AA3693F}"/>
              </a:ext>
            </a:extLst>
          </p:cNvPr>
          <p:cNvSpPr txBox="1"/>
          <p:nvPr/>
        </p:nvSpPr>
        <p:spPr>
          <a:xfrm>
            <a:off x="1399186" y="1795584"/>
            <a:ext cx="2046325" cy="246221"/>
          </a:xfrm>
          <a:prstGeom prst="rect">
            <a:avLst/>
          </a:prstGeom>
          <a:noFill/>
        </p:spPr>
        <p:txBody>
          <a:bodyPr wrap="square" rtlCol="0">
            <a:spAutoFit/>
          </a:bodyPr>
          <a:lstStyle/>
          <a:p>
            <a:r>
              <a:rPr lang="tr-TR" sz="1000" noProof="1">
                <a:cs typeface="Arial" panose="020B0604020202020204" pitchFamily="34" charset="0"/>
              </a:rPr>
              <a:t>Deneme Sınavları</a:t>
            </a:r>
          </a:p>
        </p:txBody>
      </p:sp>
      <p:sp>
        <p:nvSpPr>
          <p:cNvPr id="62" name="Metin kutusu 61">
            <a:extLst>
              <a:ext uri="{FF2B5EF4-FFF2-40B4-BE49-F238E27FC236}">
                <a16:creationId xmlns:a16="http://schemas.microsoft.com/office/drawing/2014/main" id="{1D1703BC-5D51-4CA1-9F1E-F37F4721F121}"/>
              </a:ext>
            </a:extLst>
          </p:cNvPr>
          <p:cNvSpPr txBox="1"/>
          <p:nvPr/>
        </p:nvSpPr>
        <p:spPr>
          <a:xfrm>
            <a:off x="3565918" y="770268"/>
            <a:ext cx="3033568" cy="246221"/>
          </a:xfrm>
          <a:prstGeom prst="rect">
            <a:avLst/>
          </a:prstGeom>
          <a:noFill/>
        </p:spPr>
        <p:txBody>
          <a:bodyPr wrap="square" rtlCol="0">
            <a:spAutoFit/>
          </a:bodyPr>
          <a:lstStyle/>
          <a:p>
            <a:r>
              <a:rPr lang="tr-TR" sz="1000" b="1" noProof="1">
                <a:cs typeface="Arial" panose="020B0604020202020204" pitchFamily="34" charset="0"/>
              </a:rPr>
              <a:t>Türkiye Kripto Para Arama Hacmi (%)</a:t>
            </a:r>
          </a:p>
        </p:txBody>
      </p:sp>
      <p:cxnSp>
        <p:nvCxnSpPr>
          <p:cNvPr id="63" name="Düz Ok Bağlayıcısı 62">
            <a:extLst>
              <a:ext uri="{FF2B5EF4-FFF2-40B4-BE49-F238E27FC236}">
                <a16:creationId xmlns:a16="http://schemas.microsoft.com/office/drawing/2014/main" id="{20D46491-ADEB-4E95-8DC9-BCC6A26A671E}"/>
              </a:ext>
            </a:extLst>
          </p:cNvPr>
          <p:cNvCxnSpPr>
            <a:cxnSpLocks/>
          </p:cNvCxnSpPr>
          <p:nvPr/>
        </p:nvCxnSpPr>
        <p:spPr>
          <a:xfrm flipV="1">
            <a:off x="3782031" y="984633"/>
            <a:ext cx="0" cy="8997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Düz Ok Bağlayıcısı 65">
            <a:extLst>
              <a:ext uri="{FF2B5EF4-FFF2-40B4-BE49-F238E27FC236}">
                <a16:creationId xmlns:a16="http://schemas.microsoft.com/office/drawing/2014/main" id="{9881F56B-5A06-4AC7-B52E-D93D4589FDC4}"/>
              </a:ext>
            </a:extLst>
          </p:cNvPr>
          <p:cNvCxnSpPr>
            <a:cxnSpLocks/>
          </p:cNvCxnSpPr>
          <p:nvPr/>
        </p:nvCxnSpPr>
        <p:spPr>
          <a:xfrm>
            <a:off x="3638015" y="1848729"/>
            <a:ext cx="1368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Metin kutusu 66">
            <a:extLst>
              <a:ext uri="{FF2B5EF4-FFF2-40B4-BE49-F238E27FC236}">
                <a16:creationId xmlns:a16="http://schemas.microsoft.com/office/drawing/2014/main" id="{0AFF2C52-AAD6-4D51-BE5B-5D9E78B0DDDF}"/>
              </a:ext>
            </a:extLst>
          </p:cNvPr>
          <p:cNvSpPr txBox="1"/>
          <p:nvPr/>
        </p:nvSpPr>
        <p:spPr>
          <a:xfrm>
            <a:off x="4952191" y="1731000"/>
            <a:ext cx="1562544" cy="246221"/>
          </a:xfrm>
          <a:prstGeom prst="rect">
            <a:avLst/>
          </a:prstGeom>
          <a:noFill/>
        </p:spPr>
        <p:txBody>
          <a:bodyPr wrap="square" rtlCol="0">
            <a:spAutoFit/>
          </a:bodyPr>
          <a:lstStyle/>
          <a:p>
            <a:r>
              <a:rPr lang="tr-TR" sz="1000" b="1" noProof="1">
                <a:cs typeface="Arial" panose="020B0604020202020204" pitchFamily="34" charset="0"/>
              </a:rPr>
              <a:t>Veri Merkezi</a:t>
            </a:r>
          </a:p>
        </p:txBody>
      </p:sp>
      <p:sp>
        <p:nvSpPr>
          <p:cNvPr id="72" name="Metin kutusu 71">
            <a:extLst>
              <a:ext uri="{FF2B5EF4-FFF2-40B4-BE49-F238E27FC236}">
                <a16:creationId xmlns:a16="http://schemas.microsoft.com/office/drawing/2014/main" id="{0A052A3C-43EC-462E-AD19-8A9D87468C2A}"/>
              </a:ext>
            </a:extLst>
          </p:cNvPr>
          <p:cNvSpPr txBox="1"/>
          <p:nvPr/>
        </p:nvSpPr>
        <p:spPr>
          <a:xfrm>
            <a:off x="350883" y="1884384"/>
            <a:ext cx="1160669" cy="246221"/>
          </a:xfrm>
          <a:prstGeom prst="rect">
            <a:avLst/>
          </a:prstGeom>
          <a:noFill/>
        </p:spPr>
        <p:txBody>
          <a:bodyPr wrap="square" rtlCol="0">
            <a:spAutoFit/>
          </a:bodyPr>
          <a:lstStyle/>
          <a:p>
            <a:r>
              <a:rPr lang="tr-TR" sz="1000" noProof="1">
                <a:cs typeface="Arial" panose="020B0604020202020204" pitchFamily="34" charset="0"/>
              </a:rPr>
              <a:t>A        B        C</a:t>
            </a:r>
          </a:p>
        </p:txBody>
      </p:sp>
      <p:sp>
        <p:nvSpPr>
          <p:cNvPr id="73" name="Metin kutusu 72">
            <a:extLst>
              <a:ext uri="{FF2B5EF4-FFF2-40B4-BE49-F238E27FC236}">
                <a16:creationId xmlns:a16="http://schemas.microsoft.com/office/drawing/2014/main" id="{1A688A92-B7EC-49D3-A6DA-BD4672AA4B4B}"/>
              </a:ext>
            </a:extLst>
          </p:cNvPr>
          <p:cNvSpPr txBox="1"/>
          <p:nvPr/>
        </p:nvSpPr>
        <p:spPr>
          <a:xfrm>
            <a:off x="25998" y="2051432"/>
            <a:ext cx="3336222" cy="2246769"/>
          </a:xfrm>
          <a:prstGeom prst="rect">
            <a:avLst/>
          </a:prstGeom>
          <a:noFill/>
        </p:spPr>
        <p:txBody>
          <a:bodyPr wrap="square" rtlCol="0">
            <a:spAutoFit/>
          </a:bodyPr>
          <a:lstStyle/>
          <a:p>
            <a:r>
              <a:rPr lang="tr-TR" sz="1000" b="1" noProof="1">
                <a:cs typeface="Arial" panose="020B0604020202020204" pitchFamily="34" charset="0"/>
              </a:rPr>
              <a:t>Yukarıda matematik deneme sınavında öğrencinin yaptığı netler verilmiştir. 4 yanlışın bir doğruyu götürdüğü sınavda net doğru sayısı grafikte gösterilmiştir. Her bir sınavda 40 soru sorulmaktadır. Sınavda puanın hesaplanmasında yanlış sayısının az olması önemlidir. Yanlış yapmaktansa boş bırakan öğrencinin daha fazla puan aldığı bilinmektedir.</a:t>
            </a:r>
          </a:p>
          <a:p>
            <a:endParaRPr lang="tr-TR" sz="1000" b="1" noProof="1">
              <a:cs typeface="Arial" panose="020B0604020202020204" pitchFamily="34" charset="0"/>
            </a:endParaRPr>
          </a:p>
          <a:p>
            <a:r>
              <a:rPr lang="tr-TR" sz="1000" noProof="1">
                <a:cs typeface="Arial" panose="020B0604020202020204" pitchFamily="34" charset="0"/>
              </a:rPr>
              <a:t>I. Meltem B sınavında boş bırakmadan Faruk ile aynı neti yaparak daha fazla puan almış olabilir. </a:t>
            </a:r>
          </a:p>
          <a:p>
            <a:r>
              <a:rPr lang="tr-TR" sz="1000" noProof="1">
                <a:cs typeface="Arial" panose="020B0604020202020204" pitchFamily="34" charset="0"/>
              </a:rPr>
              <a:t>II. Faruk A sınavında 16 doğru 8 yanlış yapmış olabilir. </a:t>
            </a:r>
          </a:p>
          <a:p>
            <a:r>
              <a:rPr lang="tr-TR" sz="1000" noProof="1">
                <a:cs typeface="Arial" panose="020B0604020202020204" pitchFamily="34" charset="0"/>
              </a:rPr>
              <a:t>III. Faruk C sınavından en az sayıda soru cevaplayarak bu neti elde ettiğine göre 14 soru cevaplamıştır.</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p:txBody>
      </p:sp>
      <p:sp>
        <p:nvSpPr>
          <p:cNvPr id="74" name="Metin kutusu 73">
            <a:extLst>
              <a:ext uri="{FF2B5EF4-FFF2-40B4-BE49-F238E27FC236}">
                <a16:creationId xmlns:a16="http://schemas.microsoft.com/office/drawing/2014/main" id="{F145A3EF-3074-46A5-BFB2-8C1370CC1633}"/>
              </a:ext>
            </a:extLst>
          </p:cNvPr>
          <p:cNvSpPr txBox="1"/>
          <p:nvPr/>
        </p:nvSpPr>
        <p:spPr>
          <a:xfrm>
            <a:off x="-12447" y="1421221"/>
            <a:ext cx="417111" cy="246221"/>
          </a:xfrm>
          <a:prstGeom prst="rect">
            <a:avLst/>
          </a:prstGeom>
          <a:noFill/>
        </p:spPr>
        <p:txBody>
          <a:bodyPr wrap="square" rtlCol="0">
            <a:spAutoFit/>
          </a:bodyPr>
          <a:lstStyle/>
          <a:p>
            <a:r>
              <a:rPr lang="tr-TR" sz="1000" noProof="1">
                <a:cs typeface="Arial" panose="020B0604020202020204" pitchFamily="34" charset="0"/>
              </a:rPr>
              <a:t>14</a:t>
            </a:r>
          </a:p>
        </p:txBody>
      </p:sp>
      <p:sp>
        <p:nvSpPr>
          <p:cNvPr id="75" name="Metin kutusu 74">
            <a:extLst>
              <a:ext uri="{FF2B5EF4-FFF2-40B4-BE49-F238E27FC236}">
                <a16:creationId xmlns:a16="http://schemas.microsoft.com/office/drawing/2014/main" id="{35C1022F-132F-4AFB-8F76-6CD2453621A8}"/>
              </a:ext>
            </a:extLst>
          </p:cNvPr>
          <p:cNvSpPr txBox="1"/>
          <p:nvPr/>
        </p:nvSpPr>
        <p:spPr>
          <a:xfrm>
            <a:off x="-12448" y="1210849"/>
            <a:ext cx="417111" cy="246221"/>
          </a:xfrm>
          <a:prstGeom prst="rect">
            <a:avLst/>
          </a:prstGeom>
          <a:noFill/>
        </p:spPr>
        <p:txBody>
          <a:bodyPr wrap="square" rtlCol="0">
            <a:spAutoFit/>
          </a:bodyPr>
          <a:lstStyle/>
          <a:p>
            <a:r>
              <a:rPr lang="tr-TR" sz="1000" noProof="1">
                <a:cs typeface="Arial" panose="020B0604020202020204" pitchFamily="34" charset="0"/>
              </a:rPr>
              <a:t>20</a:t>
            </a:r>
          </a:p>
        </p:txBody>
      </p:sp>
      <p:sp>
        <p:nvSpPr>
          <p:cNvPr id="76" name="Metin kutusu 75">
            <a:extLst>
              <a:ext uri="{FF2B5EF4-FFF2-40B4-BE49-F238E27FC236}">
                <a16:creationId xmlns:a16="http://schemas.microsoft.com/office/drawing/2014/main" id="{00FDFDD5-8F08-4136-9024-EC2925D34B50}"/>
              </a:ext>
            </a:extLst>
          </p:cNvPr>
          <p:cNvSpPr txBox="1"/>
          <p:nvPr/>
        </p:nvSpPr>
        <p:spPr>
          <a:xfrm>
            <a:off x="-14861" y="1592672"/>
            <a:ext cx="417111" cy="246221"/>
          </a:xfrm>
          <a:prstGeom prst="rect">
            <a:avLst/>
          </a:prstGeom>
          <a:noFill/>
        </p:spPr>
        <p:txBody>
          <a:bodyPr wrap="square" rtlCol="0">
            <a:spAutoFit/>
          </a:bodyPr>
          <a:lstStyle/>
          <a:p>
            <a:r>
              <a:rPr lang="tr-TR" sz="1000" noProof="1">
                <a:cs typeface="Arial" panose="020B0604020202020204" pitchFamily="34" charset="0"/>
              </a:rPr>
              <a:t>10</a:t>
            </a:r>
          </a:p>
        </p:txBody>
      </p:sp>
      <p:cxnSp>
        <p:nvCxnSpPr>
          <p:cNvPr id="41" name="Düz Bağlayıcı 40">
            <a:extLst>
              <a:ext uri="{FF2B5EF4-FFF2-40B4-BE49-F238E27FC236}">
                <a16:creationId xmlns:a16="http://schemas.microsoft.com/office/drawing/2014/main" id="{14334ACC-626A-4EB3-8224-1D7B00A47C02}"/>
              </a:ext>
            </a:extLst>
          </p:cNvPr>
          <p:cNvCxnSpPr>
            <a:cxnSpLocks/>
          </p:cNvCxnSpPr>
          <p:nvPr/>
        </p:nvCxnSpPr>
        <p:spPr>
          <a:xfrm flipH="1">
            <a:off x="231893" y="1724780"/>
            <a:ext cx="85145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 name="Düz Bağlayıcı 76">
            <a:extLst>
              <a:ext uri="{FF2B5EF4-FFF2-40B4-BE49-F238E27FC236}">
                <a16:creationId xmlns:a16="http://schemas.microsoft.com/office/drawing/2014/main" id="{74CC6185-DACD-4E4A-80F3-E7FC570230C8}"/>
              </a:ext>
            </a:extLst>
          </p:cNvPr>
          <p:cNvCxnSpPr>
            <a:cxnSpLocks/>
          </p:cNvCxnSpPr>
          <p:nvPr/>
        </p:nvCxnSpPr>
        <p:spPr>
          <a:xfrm flipH="1">
            <a:off x="236645" y="1548598"/>
            <a:ext cx="306290" cy="164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0" name="Düz Bağlayıcı 79">
            <a:extLst>
              <a:ext uri="{FF2B5EF4-FFF2-40B4-BE49-F238E27FC236}">
                <a16:creationId xmlns:a16="http://schemas.microsoft.com/office/drawing/2014/main" id="{A3A3F514-6705-46D0-B622-852ADDFB838A}"/>
              </a:ext>
            </a:extLst>
          </p:cNvPr>
          <p:cNvCxnSpPr>
            <a:cxnSpLocks/>
            <a:stCxn id="69" idx="0"/>
          </p:cNvCxnSpPr>
          <p:nvPr/>
        </p:nvCxnSpPr>
        <p:spPr>
          <a:xfrm flipH="1">
            <a:off x="231893" y="1333626"/>
            <a:ext cx="546586"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8" name="Dikdörtgen 67">
            <a:extLst>
              <a:ext uri="{FF2B5EF4-FFF2-40B4-BE49-F238E27FC236}">
                <a16:creationId xmlns:a16="http://schemas.microsoft.com/office/drawing/2014/main" id="{8040D0C5-49FA-4DF6-865E-676F139C4747}"/>
              </a:ext>
            </a:extLst>
          </p:cNvPr>
          <p:cNvSpPr/>
          <p:nvPr/>
        </p:nvSpPr>
        <p:spPr>
          <a:xfrm>
            <a:off x="424460" y="1544000"/>
            <a:ext cx="160481" cy="375324"/>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69" name="Dikdörtgen 68">
            <a:extLst>
              <a:ext uri="{FF2B5EF4-FFF2-40B4-BE49-F238E27FC236}">
                <a16:creationId xmlns:a16="http://schemas.microsoft.com/office/drawing/2014/main" id="{69BC384C-9A7A-4DFA-B746-E1A66E83A39E}"/>
              </a:ext>
            </a:extLst>
          </p:cNvPr>
          <p:cNvSpPr/>
          <p:nvPr/>
        </p:nvSpPr>
        <p:spPr>
          <a:xfrm>
            <a:off x="698238" y="1333626"/>
            <a:ext cx="160481" cy="585698"/>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70" name="Dikdörtgen 69">
            <a:extLst>
              <a:ext uri="{FF2B5EF4-FFF2-40B4-BE49-F238E27FC236}">
                <a16:creationId xmlns:a16="http://schemas.microsoft.com/office/drawing/2014/main" id="{EAED657C-85CC-4E18-A20F-C065DEBD65F2}"/>
              </a:ext>
            </a:extLst>
          </p:cNvPr>
          <p:cNvSpPr/>
          <p:nvPr/>
        </p:nvSpPr>
        <p:spPr>
          <a:xfrm>
            <a:off x="1004623" y="1724780"/>
            <a:ext cx="160481" cy="194544"/>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89" name="Metin kutusu 88">
                <a:extLst>
                  <a:ext uri="{FF2B5EF4-FFF2-40B4-BE49-F238E27FC236}">
                    <a16:creationId xmlns:a16="http://schemas.microsoft.com/office/drawing/2014/main" id="{79BA191E-8ECD-48A8-B9C8-3A65BECED273}"/>
                  </a:ext>
                </a:extLst>
              </p:cNvPr>
              <p:cNvSpPr txBox="1"/>
              <p:nvPr/>
            </p:nvSpPr>
            <p:spPr>
              <a:xfrm>
                <a:off x="-10224" y="5622640"/>
                <a:ext cx="3459956" cy="3058594"/>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Meltem`in boş sorusu yoksa ya doğru ya yanlış olacaktır ve toplamları 40 olacaktır. Doğru sayısına x, yanlış sayısına 40-x diyelim. Yanlış sayısını 4`e bölüp doğru sayısından çıkardığımız-</a:t>
                </a:r>
              </a:p>
              <a:p>
                <a:r>
                  <a:rPr lang="tr-TR" sz="1000" noProof="1">
                    <a:cs typeface="Arial" panose="020B0604020202020204" pitchFamily="34" charset="0"/>
                  </a:rPr>
                  <a:t>da net doğru sayısını bulmuş oluruz.  </a:t>
                </a:r>
                <a:r>
                  <a:rPr lang="tr-TR" sz="1100" noProof="1">
                    <a:cs typeface="Arial" panose="020B0604020202020204" pitchFamily="34" charset="0"/>
                  </a:rPr>
                  <a:t>x - </a:t>
                </a:r>
                <a14:m>
                  <m:oMath xmlns:m="http://schemas.openxmlformats.org/officeDocument/2006/math">
                    <m:d>
                      <m:dPr>
                        <m:ctrlPr>
                          <a:rPr lang="tr-TR" sz="800" i="1" noProof="1" smtClean="0">
                            <a:latin typeface="Cambria Math" panose="02040503050406030204" pitchFamily="18" charset="0"/>
                          </a:rPr>
                        </m:ctrlPr>
                      </m:dPr>
                      <m:e>
                        <m:f>
                          <m:fPr>
                            <m:ctrlPr>
                              <a:rPr lang="tr-TR" sz="800" i="1" noProof="1">
                                <a:latin typeface="Cambria Math" panose="02040503050406030204" pitchFamily="18" charset="0"/>
                              </a:rPr>
                            </m:ctrlPr>
                          </m:fPr>
                          <m:num>
                            <m:r>
                              <m:rPr>
                                <m:nor/>
                              </m:rPr>
                              <a:rPr lang="tr-TR" sz="800" i="0" noProof="1"/>
                              <m:t> </m:t>
                            </m:r>
                            <m:r>
                              <m:rPr>
                                <m:nor/>
                              </m:rPr>
                              <a:rPr lang="tr-TR" sz="800" noProof="1"/>
                              <m:t> </m:t>
                            </m:r>
                            <m:r>
                              <m:rPr>
                                <m:nor/>
                              </m:rPr>
                              <a:rPr lang="tr-TR" sz="800" b="0" i="0" noProof="1" smtClean="0">
                                <a:cs typeface="Helvetica" panose="020B0604020202020204" pitchFamily="34" charset="0"/>
                              </a:rPr>
                              <m:t>40−</m:t>
                            </m:r>
                            <m:r>
                              <m:rPr>
                                <m:nor/>
                              </m:rPr>
                              <a:rPr lang="tr-TR" sz="800" b="0" i="0" noProof="1" smtClean="0">
                                <a:cs typeface="Helvetica" panose="020B0604020202020204" pitchFamily="34" charset="0"/>
                              </a:rPr>
                              <m:t>x</m:t>
                            </m:r>
                            <m:r>
                              <m:rPr>
                                <m:nor/>
                              </m:rPr>
                              <a:rPr lang="tr-TR" sz="800" noProof="1">
                                <a:cs typeface="Helvetica" panose="020B0604020202020204" pitchFamily="34" charset="0"/>
                              </a:rPr>
                              <m:t> </m:t>
                            </m:r>
                          </m:num>
                          <m:den>
                            <m:r>
                              <m:rPr>
                                <m:nor/>
                              </m:rPr>
                              <a:rPr lang="tr-TR" sz="800" b="0" i="0" noProof="1" smtClean="0">
                                <a:cs typeface="Helvetica" panose="020B0604020202020204" pitchFamily="34" charset="0"/>
                              </a:rPr>
                              <m:t>4</m:t>
                            </m:r>
                          </m:den>
                        </m:f>
                      </m:e>
                    </m:d>
                  </m:oMath>
                </a14:m>
                <a:r>
                  <a:rPr lang="tr-TR" sz="1100" noProof="1">
                    <a:cs typeface="Arial" panose="020B0604020202020204" pitchFamily="34" charset="0"/>
                  </a:rPr>
                  <a:t>= 20</a:t>
                </a:r>
                <a:endParaRPr lang="tr-TR" sz="1000" noProof="1">
                  <a:cs typeface="Arial" panose="020B0604020202020204" pitchFamily="34" charset="0"/>
                </a:endParaRPr>
              </a:p>
              <a:p>
                <a:r>
                  <a:rPr lang="tr-TR" sz="1000" noProof="1">
                    <a:cs typeface="Arial" panose="020B0604020202020204" pitchFamily="34" charset="0"/>
                  </a:rPr>
                  <a:t>Meltem ile Faruk 20 net yapmışlardı eşit olarak x=24 bulunur.</a:t>
                </a:r>
              </a:p>
              <a:p>
                <a:br>
                  <a:rPr lang="tr-TR" sz="1000" noProof="1">
                    <a:cs typeface="Arial" panose="020B0604020202020204" pitchFamily="34" charset="0"/>
                  </a:rPr>
                </a:br>
                <a:r>
                  <a:rPr lang="tr-TR" sz="1000" noProof="1">
                    <a:cs typeface="Arial" panose="020B0604020202020204" pitchFamily="34" charset="0"/>
                  </a:rPr>
                  <a:t>Meltem 24 doğru 16 yanlış ile 20 net doğrusu vardır.  Meltem yapabileceği </a:t>
                </a:r>
                <a:r>
                  <a:rPr lang="tr-TR" sz="1000" u="sng" noProof="1">
                    <a:cs typeface="Arial" panose="020B0604020202020204" pitchFamily="34" charset="0"/>
                  </a:rPr>
                  <a:t>en fazla </a:t>
                </a:r>
                <a:r>
                  <a:rPr lang="tr-TR" sz="1000" noProof="1">
                    <a:cs typeface="Arial" panose="020B0604020202020204" pitchFamily="34" charset="0"/>
                  </a:rPr>
                  <a:t>yanlış sayısını yapmıştır. Doğru ve yanlışı toplandığında 40 olmaktadır. Faruk daha fazla yanlış yapamayacağı için Faruk`un yanlış sayısı daha az veya eşittir. Dolayısıyla Meltem`in daha fazla puan alamaz.</a:t>
                </a:r>
                <a:br>
                  <a:rPr lang="tr-TR" sz="1000" noProof="1">
                    <a:cs typeface="Arial" panose="020B0604020202020204" pitchFamily="34" charset="0"/>
                  </a:rPr>
                </a:br>
                <a:endParaRPr lang="tr-TR" sz="1000"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16 doğru - 8/4  = 14 net doğru gelmiş olabilir. </a:t>
                </a:r>
              </a:p>
              <a:p>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Net doğru sayısına en az sayıda soru cevaplayarak ulaşmak demek yapılan tüm soruların net olarak direkt doğru olmasıdır. Çünkü her yanlış bizim aleyhimize etkiyerek hedef net sayımıza engel olacak nitelikte işlev görmektedir. Yani 10 net sayısına en az sayıda 10 soruda ulaşılabilir.</a:t>
                </a:r>
              </a:p>
            </p:txBody>
          </p:sp>
        </mc:Choice>
        <mc:Fallback xmlns="">
          <p:sp>
            <p:nvSpPr>
              <p:cNvPr id="89" name="Metin kutusu 88">
                <a:extLst>
                  <a:ext uri="{FF2B5EF4-FFF2-40B4-BE49-F238E27FC236}">
                    <a16:creationId xmlns:a16="http://schemas.microsoft.com/office/drawing/2014/main" id="{79BA191E-8ECD-48A8-B9C8-3A65BECED273}"/>
                  </a:ext>
                </a:extLst>
              </p:cNvPr>
              <p:cNvSpPr txBox="1">
                <a:spLocks noRot="1" noChangeAspect="1" noMove="1" noResize="1" noEditPoints="1" noAdjustHandles="1" noChangeArrowheads="1" noChangeShapeType="1" noTextEdit="1"/>
              </p:cNvSpPr>
              <p:nvPr/>
            </p:nvSpPr>
            <p:spPr>
              <a:xfrm>
                <a:off x="-10224" y="5622640"/>
                <a:ext cx="3459956" cy="3058594"/>
              </a:xfrm>
              <a:prstGeom prst="rect">
                <a:avLst/>
              </a:prstGeom>
              <a:blipFill>
                <a:blip r:embed="rId6"/>
                <a:stretch>
                  <a:fillRect b="-199"/>
                </a:stretch>
              </a:blipFill>
            </p:spPr>
            <p:txBody>
              <a:bodyPr/>
              <a:lstStyle/>
              <a:p>
                <a:r>
                  <a:rPr lang="tr-TR">
                    <a:noFill/>
                  </a:rPr>
                  <a:t> </a:t>
                </a:r>
              </a:p>
            </p:txBody>
          </p:sp>
        </mc:Fallback>
      </mc:AlternateContent>
      <p:sp>
        <p:nvSpPr>
          <p:cNvPr id="95" name="Metin kutusu 94">
            <a:extLst>
              <a:ext uri="{FF2B5EF4-FFF2-40B4-BE49-F238E27FC236}">
                <a16:creationId xmlns:a16="http://schemas.microsoft.com/office/drawing/2014/main" id="{B63F9009-B28E-4AA7-8EA0-8B2803196D18}"/>
              </a:ext>
            </a:extLst>
          </p:cNvPr>
          <p:cNvSpPr txBox="1"/>
          <p:nvPr/>
        </p:nvSpPr>
        <p:spPr>
          <a:xfrm>
            <a:off x="3513440" y="989352"/>
            <a:ext cx="430669" cy="400110"/>
          </a:xfrm>
          <a:prstGeom prst="rect">
            <a:avLst/>
          </a:prstGeom>
          <a:noFill/>
        </p:spPr>
        <p:txBody>
          <a:bodyPr wrap="square" rtlCol="0">
            <a:spAutoFit/>
          </a:bodyPr>
          <a:lstStyle/>
          <a:p>
            <a:r>
              <a:rPr lang="tr-TR" sz="1000" noProof="1">
                <a:cs typeface="Arial" panose="020B0604020202020204" pitchFamily="34" charset="0"/>
              </a:rPr>
              <a:t>78</a:t>
            </a:r>
            <a:br>
              <a:rPr lang="tr-TR" sz="1000" noProof="1">
                <a:cs typeface="Arial" panose="020B0604020202020204" pitchFamily="34" charset="0"/>
              </a:rPr>
            </a:br>
            <a:endParaRPr lang="tr-TR" sz="1000" noProof="1">
              <a:cs typeface="Arial" panose="020B0604020202020204" pitchFamily="34" charset="0"/>
            </a:endParaRPr>
          </a:p>
        </p:txBody>
      </p:sp>
      <p:cxnSp>
        <p:nvCxnSpPr>
          <p:cNvPr id="99" name="Düz Bağlayıcı 98">
            <a:extLst>
              <a:ext uri="{FF2B5EF4-FFF2-40B4-BE49-F238E27FC236}">
                <a16:creationId xmlns:a16="http://schemas.microsoft.com/office/drawing/2014/main" id="{4787E477-E66F-4810-92EB-AA17D672626E}"/>
              </a:ext>
            </a:extLst>
          </p:cNvPr>
          <p:cNvCxnSpPr>
            <a:cxnSpLocks/>
          </p:cNvCxnSpPr>
          <p:nvPr/>
        </p:nvCxnSpPr>
        <p:spPr>
          <a:xfrm flipH="1">
            <a:off x="3782031" y="1652622"/>
            <a:ext cx="781612"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1" name="Düz Bağlayıcı 100">
            <a:extLst>
              <a:ext uri="{FF2B5EF4-FFF2-40B4-BE49-F238E27FC236}">
                <a16:creationId xmlns:a16="http://schemas.microsoft.com/office/drawing/2014/main" id="{F0DC02A6-B5F7-4A14-97F3-C068B6E9CF6D}"/>
              </a:ext>
            </a:extLst>
          </p:cNvPr>
          <p:cNvCxnSpPr>
            <a:cxnSpLocks/>
          </p:cNvCxnSpPr>
          <p:nvPr/>
        </p:nvCxnSpPr>
        <p:spPr>
          <a:xfrm flipH="1">
            <a:off x="3782031" y="1333626"/>
            <a:ext cx="99341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3" name="Düz Bağlayıcı 102">
            <a:extLst>
              <a:ext uri="{FF2B5EF4-FFF2-40B4-BE49-F238E27FC236}">
                <a16:creationId xmlns:a16="http://schemas.microsoft.com/office/drawing/2014/main" id="{84C1AA28-71B6-481D-8D08-17A801A17BAD}"/>
              </a:ext>
            </a:extLst>
          </p:cNvPr>
          <p:cNvCxnSpPr>
            <a:cxnSpLocks/>
          </p:cNvCxnSpPr>
          <p:nvPr/>
        </p:nvCxnSpPr>
        <p:spPr>
          <a:xfrm flipH="1">
            <a:off x="3782031" y="1472082"/>
            <a:ext cx="15246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5" name="Düz Bağlayıcı 104">
            <a:extLst>
              <a:ext uri="{FF2B5EF4-FFF2-40B4-BE49-F238E27FC236}">
                <a16:creationId xmlns:a16="http://schemas.microsoft.com/office/drawing/2014/main" id="{9DE4DA4A-2EA1-41BA-86A3-6094A85032F0}"/>
              </a:ext>
            </a:extLst>
          </p:cNvPr>
          <p:cNvCxnSpPr>
            <a:cxnSpLocks/>
          </p:cNvCxnSpPr>
          <p:nvPr/>
        </p:nvCxnSpPr>
        <p:spPr>
          <a:xfrm flipH="1">
            <a:off x="3777659" y="1108619"/>
            <a:ext cx="408608" cy="46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1" name="Dikdörtgen 90">
            <a:extLst>
              <a:ext uri="{FF2B5EF4-FFF2-40B4-BE49-F238E27FC236}">
                <a16:creationId xmlns:a16="http://schemas.microsoft.com/office/drawing/2014/main" id="{D3B3F96E-1A7C-4070-87C8-10D2D839CC92}"/>
              </a:ext>
            </a:extLst>
          </p:cNvPr>
          <p:cNvSpPr/>
          <p:nvPr/>
        </p:nvSpPr>
        <p:spPr>
          <a:xfrm>
            <a:off x="3822999" y="1472082"/>
            <a:ext cx="160481" cy="375324"/>
          </a:xfrm>
          <a:prstGeom prst="rect">
            <a:avLst/>
          </a:prstGeom>
          <a:solidFill>
            <a:srgbClr val="EC465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2" name="Dikdörtgen 91">
            <a:extLst>
              <a:ext uri="{FF2B5EF4-FFF2-40B4-BE49-F238E27FC236}">
                <a16:creationId xmlns:a16="http://schemas.microsoft.com/office/drawing/2014/main" id="{25FA45BF-252A-409B-B29A-E7292D5019BC}"/>
              </a:ext>
            </a:extLst>
          </p:cNvPr>
          <p:cNvSpPr/>
          <p:nvPr/>
        </p:nvSpPr>
        <p:spPr>
          <a:xfrm>
            <a:off x="4096777" y="1107074"/>
            <a:ext cx="160481" cy="740332"/>
          </a:xfrm>
          <a:prstGeom prst="rect">
            <a:avLst/>
          </a:prstGeom>
          <a:solidFill>
            <a:srgbClr val="EC465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3" name="Dikdörtgen 92">
            <a:extLst>
              <a:ext uri="{FF2B5EF4-FFF2-40B4-BE49-F238E27FC236}">
                <a16:creationId xmlns:a16="http://schemas.microsoft.com/office/drawing/2014/main" id="{30D8F841-3102-45EE-8069-633431A8BB87}"/>
              </a:ext>
            </a:extLst>
          </p:cNvPr>
          <p:cNvSpPr/>
          <p:nvPr/>
        </p:nvSpPr>
        <p:spPr>
          <a:xfrm>
            <a:off x="4403162" y="1652862"/>
            <a:ext cx="160481" cy="194544"/>
          </a:xfrm>
          <a:prstGeom prst="rect">
            <a:avLst/>
          </a:prstGeom>
          <a:solidFill>
            <a:srgbClr val="EC465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4" name="Dikdörtgen 93">
            <a:extLst>
              <a:ext uri="{FF2B5EF4-FFF2-40B4-BE49-F238E27FC236}">
                <a16:creationId xmlns:a16="http://schemas.microsoft.com/office/drawing/2014/main" id="{CBDE2016-9D47-4781-99A3-DF13064EB631}"/>
              </a:ext>
            </a:extLst>
          </p:cNvPr>
          <p:cNvSpPr/>
          <p:nvPr/>
        </p:nvSpPr>
        <p:spPr>
          <a:xfrm>
            <a:off x="4670162" y="1333626"/>
            <a:ext cx="160481" cy="509323"/>
          </a:xfrm>
          <a:prstGeom prst="rect">
            <a:avLst/>
          </a:prstGeom>
          <a:solidFill>
            <a:srgbClr val="EC4656"/>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7" name="Metin kutusu 106">
            <a:extLst>
              <a:ext uri="{FF2B5EF4-FFF2-40B4-BE49-F238E27FC236}">
                <a16:creationId xmlns:a16="http://schemas.microsoft.com/office/drawing/2014/main" id="{26073F23-4A45-48CC-A9C5-D0D1533F2B9B}"/>
              </a:ext>
            </a:extLst>
          </p:cNvPr>
          <p:cNvSpPr txBox="1"/>
          <p:nvPr/>
        </p:nvSpPr>
        <p:spPr>
          <a:xfrm>
            <a:off x="3539635" y="2382129"/>
            <a:ext cx="3379216" cy="1785104"/>
          </a:xfrm>
          <a:prstGeom prst="rect">
            <a:avLst/>
          </a:prstGeom>
          <a:noFill/>
        </p:spPr>
        <p:txBody>
          <a:bodyPr wrap="square" rtlCol="0">
            <a:spAutoFit/>
          </a:bodyPr>
          <a:lstStyle/>
          <a:p>
            <a:r>
              <a:rPr lang="tr-TR" sz="1000" b="1" noProof="1">
                <a:cs typeface="Arial" panose="020B0604020202020204" pitchFamily="34" charset="0"/>
              </a:rPr>
              <a:t>Yukarıda Türkye`de aratılan önde gelen kripto paraların arama hacimleri yüzde olarak verilmiştir. Buna grafiğe göre ;</a:t>
            </a:r>
          </a:p>
          <a:p>
            <a:endParaRPr lang="tr-TR" sz="1000" noProof="1">
              <a:cs typeface="Arial" panose="020B0604020202020204" pitchFamily="34" charset="0"/>
            </a:endParaRPr>
          </a:p>
          <a:p>
            <a:r>
              <a:rPr lang="tr-TR" sz="1000" noProof="1">
                <a:cs typeface="Arial" panose="020B0604020202020204" pitchFamily="34" charset="0"/>
              </a:rPr>
              <a:t>I.  Türkiye`de gelen kripto paralarda arama hacminin yüzde olarak en düşük Litecoin dir.</a:t>
            </a:r>
          </a:p>
          <a:p>
            <a:r>
              <a:rPr lang="tr-TR" sz="1000" noProof="1">
                <a:cs typeface="Arial" panose="020B0604020202020204" pitchFamily="34" charset="0"/>
              </a:rPr>
              <a:t>II. Bitcoin dünyada diğer kripto paraların hepsinin </a:t>
            </a:r>
            <a:br>
              <a:rPr lang="tr-TR" sz="1000" noProof="1">
                <a:cs typeface="Arial" panose="020B0604020202020204" pitchFamily="34" charset="0"/>
              </a:rPr>
            </a:br>
            <a:r>
              <a:rPr lang="tr-TR" sz="1000" noProof="1">
                <a:cs typeface="Arial" panose="020B0604020202020204" pitchFamily="34" charset="0"/>
              </a:rPr>
              <a:t>toplamından daha fazla arama hacmine sahiptir.</a:t>
            </a:r>
          </a:p>
          <a:p>
            <a:r>
              <a:rPr lang="tr-TR" sz="1000" noProof="1">
                <a:cs typeface="Arial" panose="020B0604020202020204" pitchFamily="34" charset="0"/>
              </a:rPr>
              <a:t>III. Türkiye`de Bitcoin harici diğer kripto paralar birbirlerine çok yakın arama hacimlerine sahiptirler.</a:t>
            </a:r>
          </a:p>
          <a:p>
            <a:endParaRPr lang="tr-TR" sz="1000" noProof="1">
              <a:cs typeface="Arial" panose="020B0604020202020204" pitchFamily="34" charset="0"/>
            </a:endParaRPr>
          </a:p>
          <a:p>
            <a:r>
              <a:rPr lang="tr-TR" sz="1000" b="1" noProof="1">
                <a:cs typeface="Arial" panose="020B0604020202020204" pitchFamily="34" charset="0"/>
              </a:rPr>
              <a:t>yukarıdaki yorumlardan hangileri yapılabilir?</a:t>
            </a:r>
          </a:p>
        </p:txBody>
      </p:sp>
      <p:sp>
        <p:nvSpPr>
          <p:cNvPr id="108" name="Metin kutusu 107">
            <a:extLst>
              <a:ext uri="{FF2B5EF4-FFF2-40B4-BE49-F238E27FC236}">
                <a16:creationId xmlns:a16="http://schemas.microsoft.com/office/drawing/2014/main" id="{A0E60597-8CBA-4643-B0AB-155E1F8AF936}"/>
              </a:ext>
            </a:extLst>
          </p:cNvPr>
          <p:cNvSpPr txBox="1"/>
          <p:nvPr/>
        </p:nvSpPr>
        <p:spPr>
          <a:xfrm>
            <a:off x="3542802" y="5884684"/>
            <a:ext cx="3344169" cy="2862322"/>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Doğrudur %2 oranla en düşük arama hacmine sahiptir.</a:t>
            </a:r>
          </a:p>
          <a:p>
            <a:endParaRPr lang="tr-TR" sz="1000" b="1"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Bitcoin Türkiye`de diğer para birimlerinin arama hacimlerinden daha fazla yüzdelik orana sahiptir çünkü %78 dir. %50 den bile fazla olsa diğerlerinin toplamı geçemeyecektir %78 hayli hayli geçmiş bir orandır. Yalnız öncülde dünyada diyor Türkiye`deki arama hacim grafiğinden dünya ile ilgili yorum yapamayız.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Şunu tekrar belirtelim; grafikteki verilenlerden başka bir şeyler kesin olarak sunulamaz tahmin ve ihtimal olarak yorumlanabilir lakin matematik sorularında bu tarz yorumlara pek yer verilmez kesinlik soruları daha yoğundur.</a:t>
            </a:r>
          </a:p>
          <a:p>
            <a:endParaRPr lang="tr-TR" sz="1000" noProof="1">
              <a:cs typeface="Arial" panose="020B0604020202020204" pitchFamily="34" charset="0"/>
            </a:endParaRPr>
          </a:p>
          <a:p>
            <a:r>
              <a:rPr lang="tr-TR" sz="1000" noProof="1">
                <a:cs typeface="Arial" panose="020B0604020202020204" pitchFamily="34" charset="0"/>
              </a:rPr>
              <a:t>III. Grafikte gördüğümüz üzere Bitcoin çok yüksek bir arama hacmine sahip. %78, diğer %22 lik oran başka kripto para birimlerine ait ve hepsinin birbirlerine yakın olduğunu görmekteyiz. Buradan rekabet yorumu yapabiliriz.</a:t>
            </a:r>
            <a:endParaRPr lang="tr-TR" sz="800" noProof="1">
              <a:cs typeface="Arial" panose="020B0604020202020204" pitchFamily="34" charset="0"/>
            </a:endParaRPr>
          </a:p>
        </p:txBody>
      </p:sp>
      <p:sp>
        <p:nvSpPr>
          <p:cNvPr id="90" name="Metin kutusu 89">
            <a:extLst>
              <a:ext uri="{FF2B5EF4-FFF2-40B4-BE49-F238E27FC236}">
                <a16:creationId xmlns:a16="http://schemas.microsoft.com/office/drawing/2014/main" id="{E3CEE10B-C5AB-413C-A05B-FBD1C4083D4D}"/>
              </a:ext>
            </a:extLst>
          </p:cNvPr>
          <p:cNvSpPr txBox="1"/>
          <p:nvPr/>
        </p:nvSpPr>
        <p:spPr>
          <a:xfrm rot="16200000">
            <a:off x="3783642" y="1949586"/>
            <a:ext cx="740334" cy="246221"/>
          </a:xfrm>
          <a:prstGeom prst="rect">
            <a:avLst/>
          </a:prstGeom>
          <a:noFill/>
        </p:spPr>
        <p:txBody>
          <a:bodyPr wrap="square" rtlCol="0">
            <a:spAutoFit/>
          </a:bodyPr>
          <a:lstStyle/>
          <a:p>
            <a:pPr algn="ctr"/>
            <a:r>
              <a:rPr lang="tr-TR" sz="1000" i="1" noProof="1">
                <a:cs typeface="Arial" panose="020B0604020202020204" pitchFamily="34" charset="0"/>
              </a:rPr>
              <a:t>Bitcoin</a:t>
            </a:r>
          </a:p>
        </p:txBody>
      </p:sp>
      <p:sp>
        <p:nvSpPr>
          <p:cNvPr id="71" name="Metin kutusu 70">
            <a:extLst>
              <a:ext uri="{FF2B5EF4-FFF2-40B4-BE49-F238E27FC236}">
                <a16:creationId xmlns:a16="http://schemas.microsoft.com/office/drawing/2014/main" id="{6F864301-D6C3-46CD-A598-3AF82CFE9521}"/>
              </a:ext>
            </a:extLst>
          </p:cNvPr>
          <p:cNvSpPr txBox="1"/>
          <p:nvPr/>
        </p:nvSpPr>
        <p:spPr>
          <a:xfrm rot="16200000">
            <a:off x="4367451" y="1997125"/>
            <a:ext cx="740334" cy="246221"/>
          </a:xfrm>
          <a:prstGeom prst="rect">
            <a:avLst/>
          </a:prstGeom>
          <a:noFill/>
        </p:spPr>
        <p:txBody>
          <a:bodyPr wrap="square" rtlCol="0">
            <a:spAutoFit/>
          </a:bodyPr>
          <a:lstStyle/>
          <a:p>
            <a:pPr algn="ctr"/>
            <a:r>
              <a:rPr lang="tr-TR" sz="1000" i="1" noProof="1">
                <a:cs typeface="Arial" panose="020B0604020202020204" pitchFamily="34" charset="0"/>
              </a:rPr>
              <a:t>Etheryum</a:t>
            </a:r>
          </a:p>
        </p:txBody>
      </p:sp>
      <p:sp>
        <p:nvSpPr>
          <p:cNvPr id="78" name="Metin kutusu 77">
            <a:extLst>
              <a:ext uri="{FF2B5EF4-FFF2-40B4-BE49-F238E27FC236}">
                <a16:creationId xmlns:a16="http://schemas.microsoft.com/office/drawing/2014/main" id="{09F32B73-C071-409C-9124-C77BD1D5CFEE}"/>
              </a:ext>
            </a:extLst>
          </p:cNvPr>
          <p:cNvSpPr txBox="1"/>
          <p:nvPr/>
        </p:nvSpPr>
        <p:spPr>
          <a:xfrm>
            <a:off x="3591598" y="1190052"/>
            <a:ext cx="430669" cy="707886"/>
          </a:xfrm>
          <a:prstGeom prst="rect">
            <a:avLst/>
          </a:prstGeom>
          <a:noFill/>
        </p:spPr>
        <p:txBody>
          <a:bodyPr wrap="square" rtlCol="0">
            <a:spAutoFit/>
          </a:bodyPr>
          <a:lstStyle/>
          <a:p>
            <a:r>
              <a:rPr lang="tr-TR" sz="1000" noProof="1">
                <a:cs typeface="Arial" panose="020B0604020202020204" pitchFamily="34" charset="0"/>
              </a:rPr>
              <a:t>7</a:t>
            </a:r>
            <a:br>
              <a:rPr lang="tr-TR" sz="1000" noProof="1">
                <a:cs typeface="Arial" panose="020B0604020202020204" pitchFamily="34" charset="0"/>
              </a:rPr>
            </a:br>
            <a:r>
              <a:rPr lang="tr-TR" sz="1000" noProof="1">
                <a:cs typeface="Arial" panose="020B0604020202020204" pitchFamily="34" charset="0"/>
              </a:rPr>
              <a:t>4</a:t>
            </a:r>
            <a:br>
              <a:rPr lang="tr-TR" sz="1000" noProof="1">
                <a:cs typeface="Arial" panose="020B0604020202020204" pitchFamily="34" charset="0"/>
              </a:rPr>
            </a:br>
            <a:r>
              <a:rPr lang="tr-TR" sz="1000" noProof="1">
                <a:cs typeface="Arial" panose="020B0604020202020204" pitchFamily="34" charset="0"/>
              </a:rPr>
              <a:t>2</a:t>
            </a:r>
            <a:br>
              <a:rPr lang="tr-TR" sz="1000" noProof="1">
                <a:cs typeface="Arial" panose="020B0604020202020204" pitchFamily="34" charset="0"/>
              </a:rPr>
            </a:br>
            <a:endParaRPr lang="tr-TR" sz="1000" noProof="1">
              <a:cs typeface="Arial" panose="020B0604020202020204" pitchFamily="34" charset="0"/>
            </a:endParaRPr>
          </a:p>
        </p:txBody>
      </p:sp>
      <p:sp>
        <p:nvSpPr>
          <p:cNvPr id="79" name="Metin kutusu 78">
            <a:extLst>
              <a:ext uri="{FF2B5EF4-FFF2-40B4-BE49-F238E27FC236}">
                <a16:creationId xmlns:a16="http://schemas.microsoft.com/office/drawing/2014/main" id="{C4BB30E3-0416-4C23-A7E1-5849796A9898}"/>
              </a:ext>
            </a:extLst>
          </p:cNvPr>
          <p:cNvSpPr txBox="1"/>
          <p:nvPr/>
        </p:nvSpPr>
        <p:spPr>
          <a:xfrm rot="16200000">
            <a:off x="4084209" y="1981349"/>
            <a:ext cx="740334" cy="246221"/>
          </a:xfrm>
          <a:prstGeom prst="rect">
            <a:avLst/>
          </a:prstGeom>
          <a:noFill/>
        </p:spPr>
        <p:txBody>
          <a:bodyPr wrap="square" rtlCol="0">
            <a:spAutoFit/>
          </a:bodyPr>
          <a:lstStyle/>
          <a:p>
            <a:pPr algn="ctr"/>
            <a:r>
              <a:rPr lang="tr-TR" sz="1000" i="1" noProof="1">
                <a:cs typeface="Arial" panose="020B0604020202020204" pitchFamily="34" charset="0"/>
              </a:rPr>
              <a:t>Litecoin</a:t>
            </a:r>
          </a:p>
        </p:txBody>
      </p:sp>
      <p:sp>
        <p:nvSpPr>
          <p:cNvPr id="81" name="Metin kutusu 80">
            <a:extLst>
              <a:ext uri="{FF2B5EF4-FFF2-40B4-BE49-F238E27FC236}">
                <a16:creationId xmlns:a16="http://schemas.microsoft.com/office/drawing/2014/main" id="{892BFDE2-E7C7-48CF-A4FC-8762538B2142}"/>
              </a:ext>
            </a:extLst>
          </p:cNvPr>
          <p:cNvSpPr txBox="1"/>
          <p:nvPr/>
        </p:nvSpPr>
        <p:spPr>
          <a:xfrm rot="16200000">
            <a:off x="3516787" y="1855602"/>
            <a:ext cx="740334" cy="246221"/>
          </a:xfrm>
          <a:prstGeom prst="rect">
            <a:avLst/>
          </a:prstGeom>
          <a:noFill/>
        </p:spPr>
        <p:txBody>
          <a:bodyPr wrap="square" rtlCol="0">
            <a:spAutoFit/>
          </a:bodyPr>
          <a:lstStyle/>
          <a:p>
            <a:pPr algn="ctr"/>
            <a:r>
              <a:rPr lang="tr-TR" sz="1000" i="1" noProof="1">
                <a:cs typeface="Arial" panose="020B0604020202020204" pitchFamily="34" charset="0"/>
              </a:rPr>
              <a:t>XRP</a:t>
            </a:r>
          </a:p>
        </p:txBody>
      </p:sp>
    </p:spTree>
    <p:extLst>
      <p:ext uri="{BB962C8B-B14F-4D97-AF65-F5344CB8AC3E}">
        <p14:creationId xmlns:p14="http://schemas.microsoft.com/office/powerpoint/2010/main" val="262750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Sütun Grafikleri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2"/>
            <a:ext cx="3255556" cy="864168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22311" y="479442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6040" y="856376"/>
            <a:ext cx="3463228" cy="230832"/>
          </a:xfrm>
          <a:prstGeom prst="rect">
            <a:avLst/>
          </a:prstGeom>
          <a:noFill/>
        </p:spPr>
        <p:txBody>
          <a:bodyPr wrap="square" rtlCol="0">
            <a:spAutoFit/>
          </a:bodyPr>
          <a:lstStyle/>
          <a:p>
            <a:r>
              <a:rPr lang="tr-TR" sz="900" noProof="1">
                <a:solidFill>
                  <a:srgbClr val="C00000"/>
                </a:solidFill>
                <a:cs typeface="Arial" panose="020B0604020202020204" pitchFamily="34" charset="0"/>
              </a:rPr>
              <a:t>Planlanan ile çözülen soru arasındaki tutarsızlık (soru adedi)</a:t>
            </a:r>
          </a:p>
        </p:txBody>
      </p:sp>
      <p:sp>
        <p:nvSpPr>
          <p:cNvPr id="56" name="Ok: Beşgen 55">
            <a:extLst>
              <a:ext uri="{FF2B5EF4-FFF2-40B4-BE49-F238E27FC236}">
                <a16:creationId xmlns:a16="http://schemas.microsoft.com/office/drawing/2014/main" id="{D327283C-46A4-4C86-A990-995946C89AA1}"/>
              </a:ext>
            </a:extLst>
          </p:cNvPr>
          <p:cNvSpPr/>
          <p:nvPr/>
        </p:nvSpPr>
        <p:spPr>
          <a:xfrm>
            <a:off x="3650737" y="6796892"/>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6.</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58296" y="448998"/>
            <a:ext cx="2432055"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18036" y="494067"/>
            <a:ext cx="2565778" cy="307777"/>
          </a:xfrm>
          <a:prstGeom prst="rect">
            <a:avLst/>
          </a:prstGeom>
          <a:noFill/>
        </p:spPr>
        <p:txBody>
          <a:bodyPr wrap="square">
            <a:spAutoFit/>
          </a:bodyPr>
          <a:lstStyle/>
          <a:p>
            <a:pPr algn="ctr"/>
            <a:r>
              <a:rPr lang="tr-TR" sz="700" i="0" dirty="0">
                <a:effectLst/>
                <a:latin typeface="Arial Narrow" panose="020B0606020202030204" pitchFamily="34" charset="0"/>
              </a:rPr>
              <a:t>“Başkasının hayatına değer vermeyenin yaşamaya hakkı yoktur. ”  </a:t>
            </a:r>
            <a:br>
              <a:rPr lang="tr-TR" sz="700" i="0" dirty="0">
                <a:effectLst/>
                <a:latin typeface="Arial Narrow" panose="020B0606020202030204" pitchFamily="34" charset="0"/>
              </a:rPr>
            </a:br>
            <a:r>
              <a:rPr lang="tr-TR" sz="700" i="0" dirty="0">
                <a:effectLst/>
                <a:latin typeface="Arial Narrow" panose="020B0606020202030204" pitchFamily="34" charset="0"/>
              </a:rPr>
              <a:t>- Leonardo da vinci</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84638" y="388758"/>
            <a:ext cx="2406123" cy="415498"/>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66881" y="432702"/>
            <a:ext cx="2444799" cy="307777"/>
          </a:xfrm>
          <a:prstGeom prst="rect">
            <a:avLst/>
          </a:prstGeom>
          <a:noFill/>
        </p:spPr>
        <p:txBody>
          <a:bodyPr wrap="square">
            <a:spAutoFit/>
          </a:bodyPr>
          <a:lstStyle/>
          <a:p>
            <a:pPr algn="ctr"/>
            <a:r>
              <a:rPr lang="tr-TR" sz="700" i="0" dirty="0">
                <a:effectLst/>
                <a:latin typeface="Arial Narrow" panose="020B0606020202030204" pitchFamily="34" charset="0"/>
              </a:rPr>
              <a:t>“Yakarsa dünyayı garipler yakar. Acıyı bilmeyen tatlı iş yapamaz.”  - </a:t>
            </a:r>
            <a:r>
              <a:rPr lang="tr-TR" sz="700" dirty="0">
                <a:latin typeface="Arial Narrow" panose="020B0606020202030204" pitchFamily="34" charset="0"/>
              </a:rPr>
              <a:t>Müslüm Gürses.</a:t>
            </a:r>
          </a:p>
        </p:txBody>
      </p:sp>
      <p:cxnSp>
        <p:nvCxnSpPr>
          <p:cNvPr id="7" name="Düz Ok Bağlayıcısı 6">
            <a:extLst>
              <a:ext uri="{FF2B5EF4-FFF2-40B4-BE49-F238E27FC236}">
                <a16:creationId xmlns:a16="http://schemas.microsoft.com/office/drawing/2014/main" id="{F79463B4-AA8C-4F6F-9F26-F501F856FCA0}"/>
              </a:ext>
            </a:extLst>
          </p:cNvPr>
          <p:cNvCxnSpPr>
            <a:cxnSpLocks/>
          </p:cNvCxnSpPr>
          <p:nvPr/>
        </p:nvCxnSpPr>
        <p:spPr>
          <a:xfrm flipV="1">
            <a:off x="215240" y="1054600"/>
            <a:ext cx="21405" cy="14545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Düz Ok Bağlayıcısı 14">
            <a:extLst>
              <a:ext uri="{FF2B5EF4-FFF2-40B4-BE49-F238E27FC236}">
                <a16:creationId xmlns:a16="http://schemas.microsoft.com/office/drawing/2014/main" id="{3F32ED5B-F3B4-45AD-8306-D34E23328E54}"/>
              </a:ext>
            </a:extLst>
          </p:cNvPr>
          <p:cNvCxnSpPr>
            <a:cxnSpLocks/>
          </p:cNvCxnSpPr>
          <p:nvPr/>
        </p:nvCxnSpPr>
        <p:spPr>
          <a:xfrm>
            <a:off x="227648" y="1921066"/>
            <a:ext cx="2809483" cy="46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Metin kutusu 59">
            <a:extLst>
              <a:ext uri="{FF2B5EF4-FFF2-40B4-BE49-F238E27FC236}">
                <a16:creationId xmlns:a16="http://schemas.microsoft.com/office/drawing/2014/main" id="{B74EF419-43CE-4CD7-8A88-8E481AA3693F}"/>
              </a:ext>
            </a:extLst>
          </p:cNvPr>
          <p:cNvSpPr txBox="1"/>
          <p:nvPr/>
        </p:nvSpPr>
        <p:spPr>
          <a:xfrm>
            <a:off x="2986565" y="1773451"/>
            <a:ext cx="508660" cy="246221"/>
          </a:xfrm>
          <a:prstGeom prst="rect">
            <a:avLst/>
          </a:prstGeom>
          <a:noFill/>
        </p:spPr>
        <p:txBody>
          <a:bodyPr wrap="square" rtlCol="0">
            <a:spAutoFit/>
          </a:bodyPr>
          <a:lstStyle/>
          <a:p>
            <a:r>
              <a:rPr lang="tr-TR" sz="1000" noProof="1">
                <a:solidFill>
                  <a:srgbClr val="C00000"/>
                </a:solidFill>
                <a:cs typeface="Arial" panose="020B0604020202020204" pitchFamily="34" charset="0"/>
              </a:rPr>
              <a:t>Gün</a:t>
            </a:r>
          </a:p>
        </p:txBody>
      </p:sp>
      <p:sp>
        <p:nvSpPr>
          <p:cNvPr id="62" name="Metin kutusu 61">
            <a:extLst>
              <a:ext uri="{FF2B5EF4-FFF2-40B4-BE49-F238E27FC236}">
                <a16:creationId xmlns:a16="http://schemas.microsoft.com/office/drawing/2014/main" id="{1D1703BC-5D51-4CA1-9F1E-F37F4721F121}"/>
              </a:ext>
            </a:extLst>
          </p:cNvPr>
          <p:cNvSpPr txBox="1"/>
          <p:nvPr/>
        </p:nvSpPr>
        <p:spPr>
          <a:xfrm>
            <a:off x="3565918" y="770268"/>
            <a:ext cx="3033568" cy="246221"/>
          </a:xfrm>
          <a:prstGeom prst="rect">
            <a:avLst/>
          </a:prstGeom>
          <a:noFill/>
        </p:spPr>
        <p:txBody>
          <a:bodyPr wrap="square" rtlCol="0">
            <a:spAutoFit/>
          </a:bodyPr>
          <a:lstStyle/>
          <a:p>
            <a:r>
              <a:rPr lang="tr-TR" sz="1000" b="1" noProof="1">
                <a:cs typeface="Arial" panose="020B0604020202020204" pitchFamily="34" charset="0"/>
              </a:rPr>
              <a:t>Melis`in Evine Uzaklığı (metre)</a:t>
            </a:r>
          </a:p>
        </p:txBody>
      </p:sp>
      <p:cxnSp>
        <p:nvCxnSpPr>
          <p:cNvPr id="63" name="Düz Ok Bağlayıcısı 62">
            <a:extLst>
              <a:ext uri="{FF2B5EF4-FFF2-40B4-BE49-F238E27FC236}">
                <a16:creationId xmlns:a16="http://schemas.microsoft.com/office/drawing/2014/main" id="{20D46491-ADEB-4E95-8DC9-BCC6A26A671E}"/>
              </a:ext>
            </a:extLst>
          </p:cNvPr>
          <p:cNvCxnSpPr>
            <a:cxnSpLocks/>
          </p:cNvCxnSpPr>
          <p:nvPr/>
        </p:nvCxnSpPr>
        <p:spPr>
          <a:xfrm flipV="1">
            <a:off x="3782031" y="984633"/>
            <a:ext cx="0" cy="8997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Düz Ok Bağlayıcısı 65">
            <a:extLst>
              <a:ext uri="{FF2B5EF4-FFF2-40B4-BE49-F238E27FC236}">
                <a16:creationId xmlns:a16="http://schemas.microsoft.com/office/drawing/2014/main" id="{9881F56B-5A06-4AC7-B52E-D93D4589FDC4}"/>
              </a:ext>
            </a:extLst>
          </p:cNvPr>
          <p:cNvCxnSpPr>
            <a:cxnSpLocks/>
          </p:cNvCxnSpPr>
          <p:nvPr/>
        </p:nvCxnSpPr>
        <p:spPr>
          <a:xfrm>
            <a:off x="3638015" y="1848729"/>
            <a:ext cx="13681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Metin kutusu 66">
            <a:extLst>
              <a:ext uri="{FF2B5EF4-FFF2-40B4-BE49-F238E27FC236}">
                <a16:creationId xmlns:a16="http://schemas.microsoft.com/office/drawing/2014/main" id="{0AFF2C52-AAD6-4D51-BE5B-5D9E78B0DDDF}"/>
              </a:ext>
            </a:extLst>
          </p:cNvPr>
          <p:cNvSpPr txBox="1"/>
          <p:nvPr/>
        </p:nvSpPr>
        <p:spPr>
          <a:xfrm>
            <a:off x="4952191" y="1731000"/>
            <a:ext cx="1562544" cy="246221"/>
          </a:xfrm>
          <a:prstGeom prst="rect">
            <a:avLst/>
          </a:prstGeom>
          <a:noFill/>
        </p:spPr>
        <p:txBody>
          <a:bodyPr wrap="square" rtlCol="0">
            <a:spAutoFit/>
          </a:bodyPr>
          <a:lstStyle/>
          <a:p>
            <a:r>
              <a:rPr lang="tr-TR" sz="1000" noProof="1">
                <a:cs typeface="Arial" panose="020B0604020202020204" pitchFamily="34" charset="0"/>
              </a:rPr>
              <a:t>Lokasyonlar</a:t>
            </a:r>
          </a:p>
        </p:txBody>
      </p:sp>
      <p:sp>
        <p:nvSpPr>
          <p:cNvPr id="73" name="Metin kutusu 72">
            <a:extLst>
              <a:ext uri="{FF2B5EF4-FFF2-40B4-BE49-F238E27FC236}">
                <a16:creationId xmlns:a16="http://schemas.microsoft.com/office/drawing/2014/main" id="{1A688A92-B7EC-49D3-A6DA-BD4672AA4B4B}"/>
              </a:ext>
            </a:extLst>
          </p:cNvPr>
          <p:cNvSpPr txBox="1"/>
          <p:nvPr/>
        </p:nvSpPr>
        <p:spPr>
          <a:xfrm>
            <a:off x="6897" y="2521562"/>
            <a:ext cx="3561280" cy="1477328"/>
          </a:xfrm>
          <a:prstGeom prst="rect">
            <a:avLst/>
          </a:prstGeom>
          <a:noFill/>
        </p:spPr>
        <p:txBody>
          <a:bodyPr wrap="square" rtlCol="0">
            <a:spAutoFit/>
          </a:bodyPr>
          <a:lstStyle/>
          <a:p>
            <a:r>
              <a:rPr lang="tr-TR" sz="1000" b="1" noProof="1">
                <a:cs typeface="Arial" panose="020B0604020202020204" pitchFamily="34" charset="0"/>
              </a:rPr>
              <a:t>Hasan pazartesi, salı,çarşamba,perşembe, cuma günleri </a:t>
            </a:r>
            <a:br>
              <a:rPr lang="tr-TR" sz="1000" b="1" noProof="1">
                <a:cs typeface="Arial" panose="020B0604020202020204" pitchFamily="34" charset="0"/>
              </a:rPr>
            </a:br>
            <a:r>
              <a:rPr lang="tr-TR" sz="1000" b="1" noProof="1">
                <a:cs typeface="Arial" panose="020B0604020202020204" pitchFamily="34" charset="0"/>
              </a:rPr>
              <a:t>sırasıyla 50,70,110,40,65,40 soru çözmüştür.  </a:t>
            </a:r>
            <a:br>
              <a:rPr lang="tr-TR" sz="1000" b="1" noProof="1">
                <a:cs typeface="Arial" panose="020B0604020202020204" pitchFamily="34" charset="0"/>
              </a:rPr>
            </a:br>
            <a:br>
              <a:rPr lang="tr-TR" sz="1000" b="1" noProof="1">
                <a:cs typeface="Arial" panose="020B0604020202020204" pitchFamily="34" charset="0"/>
              </a:rPr>
            </a:br>
            <a:r>
              <a:rPr lang="tr-TR" sz="1000" noProof="1">
                <a:cs typeface="Arial" panose="020B0604020202020204" pitchFamily="34" charset="0"/>
              </a:rPr>
              <a:t>I. Planına en sadık kaldığı gün cumartesidir. </a:t>
            </a:r>
          </a:p>
          <a:p>
            <a:r>
              <a:rPr lang="tr-TR" sz="1000" noProof="1">
                <a:cs typeface="Arial" panose="020B0604020202020204" pitchFamily="34" charset="0"/>
              </a:rPr>
              <a:t>II. Yaptığı plandan 55 daha fazla soru çözmüştür.</a:t>
            </a:r>
          </a:p>
          <a:p>
            <a:r>
              <a:rPr lang="tr-TR" sz="1000" noProof="1">
                <a:cs typeface="Arial" panose="020B0604020202020204" pitchFamily="34" charset="0"/>
              </a:rPr>
              <a:t>III. En fazla soru çözdüğü gün çarşambadır.</a:t>
            </a:r>
          </a:p>
          <a:p>
            <a:r>
              <a:rPr lang="tr-TR" sz="1000" noProof="1">
                <a:cs typeface="Arial" panose="020B0604020202020204" pitchFamily="34" charset="0"/>
              </a:rPr>
              <a:t>IV. Cumartesi günü hiç soru çözme planı yapmamıştır.</a:t>
            </a:r>
          </a:p>
          <a:p>
            <a:r>
              <a:rPr lang="tr-TR" sz="1000" noProof="1">
                <a:cs typeface="Arial" panose="020B0604020202020204" pitchFamily="34" charset="0"/>
              </a:rPr>
              <a:t> V. Her gün ortalama yaklaşık olarak 33 soru çözme </a:t>
            </a:r>
            <a:br>
              <a:rPr lang="tr-TR" sz="1000" noProof="1">
                <a:cs typeface="Arial" panose="020B0604020202020204" pitchFamily="34" charset="0"/>
              </a:rPr>
            </a:br>
            <a:r>
              <a:rPr lang="tr-TR" sz="1000" noProof="1">
                <a:cs typeface="Arial" panose="020B0604020202020204" pitchFamily="34" charset="0"/>
              </a:rPr>
              <a:t>planlanmıştır. </a:t>
            </a:r>
            <a:r>
              <a:rPr lang="tr-TR" sz="1000" b="1" noProof="1">
                <a:cs typeface="Arial" panose="020B0604020202020204" pitchFamily="34" charset="0"/>
              </a:rPr>
              <a:t>önermelerinden hangileri doğru bir yorumdur?</a:t>
            </a:r>
          </a:p>
        </p:txBody>
      </p:sp>
      <p:sp>
        <p:nvSpPr>
          <p:cNvPr id="74" name="Metin kutusu 73">
            <a:extLst>
              <a:ext uri="{FF2B5EF4-FFF2-40B4-BE49-F238E27FC236}">
                <a16:creationId xmlns:a16="http://schemas.microsoft.com/office/drawing/2014/main" id="{F145A3EF-3074-46A5-BFB2-8C1370CC1633}"/>
              </a:ext>
            </a:extLst>
          </p:cNvPr>
          <p:cNvSpPr txBox="1"/>
          <p:nvPr/>
        </p:nvSpPr>
        <p:spPr>
          <a:xfrm>
            <a:off x="-35322" y="1316373"/>
            <a:ext cx="417111" cy="215444"/>
          </a:xfrm>
          <a:prstGeom prst="rect">
            <a:avLst/>
          </a:prstGeom>
          <a:noFill/>
        </p:spPr>
        <p:txBody>
          <a:bodyPr wrap="square" rtlCol="0">
            <a:spAutoFit/>
          </a:bodyPr>
          <a:lstStyle/>
          <a:p>
            <a:r>
              <a:rPr lang="tr-TR" sz="800" noProof="1">
                <a:cs typeface="Arial" panose="020B0604020202020204" pitchFamily="34" charset="0"/>
              </a:rPr>
              <a:t>+50</a:t>
            </a:r>
          </a:p>
        </p:txBody>
      </p:sp>
      <p:sp>
        <p:nvSpPr>
          <p:cNvPr id="75" name="Metin kutusu 74">
            <a:extLst>
              <a:ext uri="{FF2B5EF4-FFF2-40B4-BE49-F238E27FC236}">
                <a16:creationId xmlns:a16="http://schemas.microsoft.com/office/drawing/2014/main" id="{35C1022F-132F-4AFB-8F76-6CD2453621A8}"/>
              </a:ext>
            </a:extLst>
          </p:cNvPr>
          <p:cNvSpPr txBox="1"/>
          <p:nvPr/>
        </p:nvSpPr>
        <p:spPr>
          <a:xfrm>
            <a:off x="-48020" y="1103604"/>
            <a:ext cx="417111" cy="215444"/>
          </a:xfrm>
          <a:prstGeom prst="rect">
            <a:avLst/>
          </a:prstGeom>
          <a:noFill/>
        </p:spPr>
        <p:txBody>
          <a:bodyPr wrap="square" rtlCol="0">
            <a:spAutoFit/>
          </a:bodyPr>
          <a:lstStyle/>
          <a:p>
            <a:r>
              <a:rPr lang="tr-TR" sz="800" noProof="1">
                <a:cs typeface="Arial" panose="020B0604020202020204" pitchFamily="34" charset="0"/>
              </a:rPr>
              <a:t>+70</a:t>
            </a:r>
          </a:p>
        </p:txBody>
      </p:sp>
      <p:sp>
        <p:nvSpPr>
          <p:cNvPr id="76" name="Metin kutusu 75">
            <a:extLst>
              <a:ext uri="{FF2B5EF4-FFF2-40B4-BE49-F238E27FC236}">
                <a16:creationId xmlns:a16="http://schemas.microsoft.com/office/drawing/2014/main" id="{00FDFDD5-8F08-4136-9024-EC2925D34B50}"/>
              </a:ext>
            </a:extLst>
          </p:cNvPr>
          <p:cNvSpPr txBox="1"/>
          <p:nvPr/>
        </p:nvSpPr>
        <p:spPr>
          <a:xfrm>
            <a:off x="-45783" y="1612210"/>
            <a:ext cx="417111" cy="215444"/>
          </a:xfrm>
          <a:prstGeom prst="rect">
            <a:avLst/>
          </a:prstGeom>
          <a:noFill/>
        </p:spPr>
        <p:txBody>
          <a:bodyPr wrap="square" rtlCol="0">
            <a:spAutoFit/>
          </a:bodyPr>
          <a:lstStyle/>
          <a:p>
            <a:r>
              <a:rPr lang="tr-TR" sz="800" noProof="1">
                <a:cs typeface="Arial" panose="020B0604020202020204" pitchFamily="34" charset="0"/>
              </a:rPr>
              <a:t>+25</a:t>
            </a:r>
          </a:p>
        </p:txBody>
      </p:sp>
      <p:cxnSp>
        <p:nvCxnSpPr>
          <p:cNvPr id="41" name="Düz Bağlayıcı 40">
            <a:extLst>
              <a:ext uri="{FF2B5EF4-FFF2-40B4-BE49-F238E27FC236}">
                <a16:creationId xmlns:a16="http://schemas.microsoft.com/office/drawing/2014/main" id="{14334ACC-626A-4EB3-8224-1D7B00A47C02}"/>
              </a:ext>
            </a:extLst>
          </p:cNvPr>
          <p:cNvCxnSpPr>
            <a:cxnSpLocks/>
            <a:stCxn id="70" idx="0"/>
          </p:cNvCxnSpPr>
          <p:nvPr/>
        </p:nvCxnSpPr>
        <p:spPr>
          <a:xfrm flipH="1" flipV="1">
            <a:off x="231895" y="1724781"/>
            <a:ext cx="2203566" cy="199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 name="Düz Bağlayıcı 76">
            <a:extLst>
              <a:ext uri="{FF2B5EF4-FFF2-40B4-BE49-F238E27FC236}">
                <a16:creationId xmlns:a16="http://schemas.microsoft.com/office/drawing/2014/main" id="{74CC6185-DACD-4E4A-80F3-E7FC570230C8}"/>
              </a:ext>
            </a:extLst>
          </p:cNvPr>
          <p:cNvCxnSpPr>
            <a:cxnSpLocks/>
          </p:cNvCxnSpPr>
          <p:nvPr/>
        </p:nvCxnSpPr>
        <p:spPr>
          <a:xfrm flipH="1">
            <a:off x="232746" y="1207390"/>
            <a:ext cx="1297556"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0" name="Düz Bağlayıcı 79">
            <a:extLst>
              <a:ext uri="{FF2B5EF4-FFF2-40B4-BE49-F238E27FC236}">
                <a16:creationId xmlns:a16="http://schemas.microsoft.com/office/drawing/2014/main" id="{A3A3F514-6705-46D0-B622-852ADDFB838A}"/>
              </a:ext>
            </a:extLst>
          </p:cNvPr>
          <p:cNvCxnSpPr>
            <a:cxnSpLocks/>
            <a:stCxn id="69" idx="2"/>
          </p:cNvCxnSpPr>
          <p:nvPr/>
        </p:nvCxnSpPr>
        <p:spPr>
          <a:xfrm flipH="1">
            <a:off x="227648" y="2509172"/>
            <a:ext cx="308672"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0" name="Dikdörtgen 69">
            <a:extLst>
              <a:ext uri="{FF2B5EF4-FFF2-40B4-BE49-F238E27FC236}">
                <a16:creationId xmlns:a16="http://schemas.microsoft.com/office/drawing/2014/main" id="{EAED657C-85CC-4E18-A20F-C065DEBD65F2}"/>
              </a:ext>
            </a:extLst>
          </p:cNvPr>
          <p:cNvSpPr/>
          <p:nvPr/>
        </p:nvSpPr>
        <p:spPr>
          <a:xfrm>
            <a:off x="2355220" y="1726777"/>
            <a:ext cx="160481" cy="194319"/>
          </a:xfrm>
          <a:prstGeom prst="rect">
            <a:avLst/>
          </a:prstGeom>
          <a:solidFill>
            <a:srgbClr val="32BEA6"/>
          </a:soli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89" name="Metin kutusu 88">
            <a:extLst>
              <a:ext uri="{FF2B5EF4-FFF2-40B4-BE49-F238E27FC236}">
                <a16:creationId xmlns:a16="http://schemas.microsoft.com/office/drawing/2014/main" id="{79BA191E-8ECD-48A8-B9C8-3A65BECED273}"/>
              </a:ext>
            </a:extLst>
          </p:cNvPr>
          <p:cNvSpPr txBox="1"/>
          <p:nvPr/>
        </p:nvSpPr>
        <p:spPr>
          <a:xfrm>
            <a:off x="-729" y="5085436"/>
            <a:ext cx="3396840" cy="3477875"/>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Plana sadık kalınması için planlanan soru sayısı ilgili günde çözülmeli yada yaklaşık prensipte soru sayısı çözülmelidir. Yapılan plan ile çözülen soru arasındaki değişim grafiği olduğundan en düşük sayısal değere bakmalıyız. Cumartesi plan ile çözülen soru sayısının 0 olduğunu yani plana sadık kalındığını görmekteyiz. </a:t>
            </a:r>
          </a:p>
          <a:p>
            <a:br>
              <a:rPr lang="tr-TR" sz="1000" noProof="1">
                <a:cs typeface="Arial" panose="020B0604020202020204" pitchFamily="34" charset="0"/>
              </a:rPr>
            </a:br>
            <a:r>
              <a:rPr lang="tr-TR" sz="1000" b="1" noProof="1">
                <a:cs typeface="Arial" panose="020B0604020202020204" pitchFamily="34" charset="0"/>
              </a:rPr>
              <a:t>II. </a:t>
            </a:r>
            <a:r>
              <a:rPr lang="tr-TR" sz="1000" noProof="1">
                <a:cs typeface="Arial" panose="020B0604020202020204" pitchFamily="34" charset="0"/>
              </a:rPr>
              <a:t>Grafik plan ile çözülen soru sayısının değişimi olduğu için sadece değişimlere bakarak yorumlayabiliriz, kontrol edelim.</a:t>
            </a:r>
            <a:br>
              <a:rPr lang="tr-TR" sz="1000" noProof="1">
                <a:cs typeface="Arial" panose="020B0604020202020204" pitchFamily="34" charset="0"/>
              </a:rPr>
            </a:br>
            <a:r>
              <a:rPr lang="tr-TR" sz="1000" noProof="1">
                <a:cs typeface="Arial" panose="020B0604020202020204" pitchFamily="34" charset="0"/>
              </a:rPr>
              <a:t>50+70+25-40-50+0 = 55 adet planan sayıya göre daha fazla çözülmüştür.</a:t>
            </a:r>
          </a:p>
          <a:p>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Sorunun en başında zaten bu durum dile getiriliyor. Hasan çarşamba toplamda 110 soru çözülmüştür.</a:t>
            </a:r>
          </a:p>
          <a:p>
            <a:endParaRPr lang="tr-TR" sz="1000" noProof="1">
              <a:cs typeface="Arial" panose="020B0604020202020204" pitchFamily="34" charset="0"/>
            </a:endParaRPr>
          </a:p>
          <a:p>
            <a:r>
              <a:rPr lang="tr-TR" sz="1000" b="1" noProof="1">
                <a:cs typeface="Arial" panose="020B0604020202020204" pitchFamily="34" charset="0"/>
              </a:rPr>
              <a:t>IV. </a:t>
            </a:r>
            <a:r>
              <a:rPr lang="tr-TR" sz="1000" noProof="1">
                <a:cs typeface="Arial" panose="020B0604020202020204" pitchFamily="34" charset="0"/>
              </a:rPr>
              <a:t>Grafikte plan ile çözülen soru sayısının değişimini gösteriyor yani bu hiç plan yapılmadığı anlamına gelmez cumartesi günü planla çözülen sayının aynı olduğu anlaşılır.</a:t>
            </a:r>
          </a:p>
          <a:p>
            <a:endParaRPr lang="tr-TR" sz="1000" noProof="1">
              <a:cs typeface="Arial" panose="020B0604020202020204" pitchFamily="34" charset="0"/>
            </a:endParaRPr>
          </a:p>
          <a:p>
            <a:r>
              <a:rPr lang="tr-TR" sz="1000" b="1" noProof="1">
                <a:cs typeface="Arial" panose="020B0604020202020204" pitchFamily="34" charset="0"/>
              </a:rPr>
              <a:t>V. </a:t>
            </a:r>
            <a:br>
              <a:rPr lang="tr-TR" sz="1000" b="1" noProof="1">
                <a:cs typeface="Arial" panose="020B0604020202020204" pitchFamily="34" charset="0"/>
              </a:rPr>
            </a:br>
            <a:endParaRPr lang="tr-TR" sz="1000" noProof="1">
              <a:cs typeface="Arial" panose="020B0604020202020204" pitchFamily="34" charset="0"/>
            </a:endParaRPr>
          </a:p>
          <a:p>
            <a:endParaRPr lang="tr-TR" sz="1000" noProof="1">
              <a:cs typeface="Arial" panose="020B0604020202020204" pitchFamily="34" charset="0"/>
            </a:endParaRPr>
          </a:p>
        </p:txBody>
      </p:sp>
      <p:sp>
        <p:nvSpPr>
          <p:cNvPr id="95" name="Metin kutusu 94">
            <a:extLst>
              <a:ext uri="{FF2B5EF4-FFF2-40B4-BE49-F238E27FC236}">
                <a16:creationId xmlns:a16="http://schemas.microsoft.com/office/drawing/2014/main" id="{B63F9009-B28E-4AA7-8EA0-8B2803196D18}"/>
              </a:ext>
            </a:extLst>
          </p:cNvPr>
          <p:cNvSpPr txBox="1"/>
          <p:nvPr/>
        </p:nvSpPr>
        <p:spPr>
          <a:xfrm>
            <a:off x="3491719" y="1000291"/>
            <a:ext cx="430669" cy="369332"/>
          </a:xfrm>
          <a:prstGeom prst="rect">
            <a:avLst/>
          </a:prstGeom>
          <a:noFill/>
        </p:spPr>
        <p:txBody>
          <a:bodyPr wrap="square" rtlCol="0">
            <a:spAutoFit/>
          </a:bodyPr>
          <a:lstStyle/>
          <a:p>
            <a:r>
              <a:rPr lang="tr-TR" sz="800" noProof="1">
                <a:cs typeface="Arial" panose="020B0604020202020204" pitchFamily="34" charset="0"/>
              </a:rPr>
              <a:t>320</a:t>
            </a:r>
            <a:br>
              <a:rPr lang="tr-TR" sz="1000" noProof="1">
                <a:cs typeface="Arial" panose="020B0604020202020204" pitchFamily="34" charset="0"/>
              </a:rPr>
            </a:br>
            <a:endParaRPr lang="tr-TR" sz="1000" noProof="1">
              <a:cs typeface="Arial" panose="020B0604020202020204" pitchFamily="34" charset="0"/>
            </a:endParaRPr>
          </a:p>
        </p:txBody>
      </p:sp>
      <p:cxnSp>
        <p:nvCxnSpPr>
          <p:cNvPr id="99" name="Düz Bağlayıcı 98">
            <a:extLst>
              <a:ext uri="{FF2B5EF4-FFF2-40B4-BE49-F238E27FC236}">
                <a16:creationId xmlns:a16="http://schemas.microsoft.com/office/drawing/2014/main" id="{4787E477-E66F-4810-92EB-AA17D672626E}"/>
              </a:ext>
            </a:extLst>
          </p:cNvPr>
          <p:cNvCxnSpPr>
            <a:cxnSpLocks/>
          </p:cNvCxnSpPr>
          <p:nvPr/>
        </p:nvCxnSpPr>
        <p:spPr>
          <a:xfrm flipH="1">
            <a:off x="3782031" y="1652622"/>
            <a:ext cx="781612"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1" name="Düz Bağlayıcı 100">
            <a:extLst>
              <a:ext uri="{FF2B5EF4-FFF2-40B4-BE49-F238E27FC236}">
                <a16:creationId xmlns:a16="http://schemas.microsoft.com/office/drawing/2014/main" id="{F0DC02A6-B5F7-4A14-97F3-C068B6E9CF6D}"/>
              </a:ext>
            </a:extLst>
          </p:cNvPr>
          <p:cNvCxnSpPr>
            <a:cxnSpLocks/>
          </p:cNvCxnSpPr>
          <p:nvPr/>
        </p:nvCxnSpPr>
        <p:spPr>
          <a:xfrm flipH="1">
            <a:off x="3782031" y="1333626"/>
            <a:ext cx="99341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3" name="Düz Bağlayıcı 102">
            <a:extLst>
              <a:ext uri="{FF2B5EF4-FFF2-40B4-BE49-F238E27FC236}">
                <a16:creationId xmlns:a16="http://schemas.microsoft.com/office/drawing/2014/main" id="{84C1AA28-71B6-481D-8D08-17A801A17BAD}"/>
              </a:ext>
            </a:extLst>
          </p:cNvPr>
          <p:cNvCxnSpPr>
            <a:cxnSpLocks/>
          </p:cNvCxnSpPr>
          <p:nvPr/>
        </p:nvCxnSpPr>
        <p:spPr>
          <a:xfrm flipH="1">
            <a:off x="3782031" y="1472082"/>
            <a:ext cx="15246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5" name="Düz Bağlayıcı 104">
            <a:extLst>
              <a:ext uri="{FF2B5EF4-FFF2-40B4-BE49-F238E27FC236}">
                <a16:creationId xmlns:a16="http://schemas.microsoft.com/office/drawing/2014/main" id="{9DE4DA4A-2EA1-41BA-86A3-6094A85032F0}"/>
              </a:ext>
            </a:extLst>
          </p:cNvPr>
          <p:cNvCxnSpPr>
            <a:cxnSpLocks/>
          </p:cNvCxnSpPr>
          <p:nvPr/>
        </p:nvCxnSpPr>
        <p:spPr>
          <a:xfrm flipH="1">
            <a:off x="3777659" y="1108619"/>
            <a:ext cx="408608" cy="46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1" name="Dikdörtgen 90">
            <a:extLst>
              <a:ext uri="{FF2B5EF4-FFF2-40B4-BE49-F238E27FC236}">
                <a16:creationId xmlns:a16="http://schemas.microsoft.com/office/drawing/2014/main" id="{D3B3F96E-1A7C-4070-87C8-10D2D839CC92}"/>
              </a:ext>
            </a:extLst>
          </p:cNvPr>
          <p:cNvSpPr/>
          <p:nvPr/>
        </p:nvSpPr>
        <p:spPr>
          <a:xfrm>
            <a:off x="3822999" y="1472082"/>
            <a:ext cx="160481" cy="375324"/>
          </a:xfrm>
          <a:prstGeom prst="rect">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2" name="Dikdörtgen 91">
            <a:extLst>
              <a:ext uri="{FF2B5EF4-FFF2-40B4-BE49-F238E27FC236}">
                <a16:creationId xmlns:a16="http://schemas.microsoft.com/office/drawing/2014/main" id="{25FA45BF-252A-409B-B29A-E7292D5019BC}"/>
              </a:ext>
            </a:extLst>
          </p:cNvPr>
          <p:cNvSpPr/>
          <p:nvPr/>
        </p:nvSpPr>
        <p:spPr>
          <a:xfrm>
            <a:off x="4096777" y="1107074"/>
            <a:ext cx="160481" cy="740332"/>
          </a:xfrm>
          <a:prstGeom prst="rect">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3" name="Dikdörtgen 92">
            <a:extLst>
              <a:ext uri="{FF2B5EF4-FFF2-40B4-BE49-F238E27FC236}">
                <a16:creationId xmlns:a16="http://schemas.microsoft.com/office/drawing/2014/main" id="{30D8F841-3102-45EE-8069-633431A8BB87}"/>
              </a:ext>
            </a:extLst>
          </p:cNvPr>
          <p:cNvSpPr/>
          <p:nvPr/>
        </p:nvSpPr>
        <p:spPr>
          <a:xfrm>
            <a:off x="4403162" y="1652862"/>
            <a:ext cx="160481" cy="194544"/>
          </a:xfrm>
          <a:prstGeom prst="rect">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4" name="Dikdörtgen 93">
            <a:extLst>
              <a:ext uri="{FF2B5EF4-FFF2-40B4-BE49-F238E27FC236}">
                <a16:creationId xmlns:a16="http://schemas.microsoft.com/office/drawing/2014/main" id="{CBDE2016-9D47-4781-99A3-DF13064EB631}"/>
              </a:ext>
            </a:extLst>
          </p:cNvPr>
          <p:cNvSpPr/>
          <p:nvPr/>
        </p:nvSpPr>
        <p:spPr>
          <a:xfrm>
            <a:off x="4670162" y="1333626"/>
            <a:ext cx="160481" cy="509323"/>
          </a:xfrm>
          <a:prstGeom prst="rect">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7" name="Metin kutusu 106">
            <a:extLst>
              <a:ext uri="{FF2B5EF4-FFF2-40B4-BE49-F238E27FC236}">
                <a16:creationId xmlns:a16="http://schemas.microsoft.com/office/drawing/2014/main" id="{26073F23-4A45-48CC-A9C5-D0D1533F2B9B}"/>
              </a:ext>
            </a:extLst>
          </p:cNvPr>
          <p:cNvSpPr txBox="1"/>
          <p:nvPr/>
        </p:nvSpPr>
        <p:spPr>
          <a:xfrm>
            <a:off x="3569337" y="2916692"/>
            <a:ext cx="3294275" cy="1323439"/>
          </a:xfrm>
          <a:prstGeom prst="rect">
            <a:avLst/>
          </a:prstGeom>
          <a:noFill/>
        </p:spPr>
        <p:txBody>
          <a:bodyPr wrap="square" rtlCol="0">
            <a:spAutoFit/>
          </a:bodyPr>
          <a:lstStyle/>
          <a:p>
            <a:r>
              <a:rPr lang="tr-TR" sz="1000" b="1" noProof="1">
                <a:cs typeface="Arial" panose="020B0604020202020204" pitchFamily="34" charset="0"/>
              </a:rPr>
              <a:t>Grafiğe göre ve bu 4 lokasyonla ilgili,</a:t>
            </a:r>
          </a:p>
          <a:p>
            <a:endParaRPr lang="tr-TR" sz="1000" noProof="1">
              <a:cs typeface="Arial" panose="020B0604020202020204" pitchFamily="34" charset="0"/>
            </a:endParaRPr>
          </a:p>
          <a:p>
            <a:r>
              <a:rPr lang="tr-TR" sz="1000" noProof="1">
                <a:cs typeface="Arial" panose="020B0604020202020204" pitchFamily="34" charset="0"/>
              </a:rPr>
              <a:t>I.  Melis`in evine en uzak Kıraathanedir.</a:t>
            </a:r>
          </a:p>
          <a:p>
            <a:r>
              <a:rPr lang="tr-TR" sz="1000" noProof="1">
                <a:cs typeface="Arial" panose="020B0604020202020204" pitchFamily="34" charset="0"/>
              </a:rPr>
              <a:t>II. Verilen haber bilgisine göre Melis`in evinin konut prestiji daha yükselecektir.</a:t>
            </a:r>
          </a:p>
          <a:p>
            <a:r>
              <a:rPr lang="tr-TR" sz="1000" noProof="1">
                <a:cs typeface="Arial" panose="020B0604020202020204" pitchFamily="34" charset="0"/>
              </a:rPr>
              <a:t>III. Melis`in evine en yakın lokasyon okuldur.</a:t>
            </a:r>
          </a:p>
          <a:p>
            <a:endParaRPr lang="tr-TR" sz="1000" noProof="1">
              <a:cs typeface="Arial" panose="020B0604020202020204" pitchFamily="34" charset="0"/>
            </a:endParaRPr>
          </a:p>
          <a:p>
            <a:r>
              <a:rPr lang="tr-TR" sz="1000" b="1" noProof="1">
                <a:cs typeface="Arial" panose="020B0604020202020204" pitchFamily="34" charset="0"/>
              </a:rPr>
              <a:t>yukarıdaki yorumlardan hangileri yapılabilir?</a:t>
            </a:r>
          </a:p>
        </p:txBody>
      </p:sp>
      <mc:AlternateContent xmlns:mc="http://schemas.openxmlformats.org/markup-compatibility/2006" xmlns:a14="http://schemas.microsoft.com/office/drawing/2010/main">
        <mc:Choice Requires="a14">
          <p:sp>
            <p:nvSpPr>
              <p:cNvPr id="108" name="Metin kutusu 107">
                <a:extLst>
                  <a:ext uri="{FF2B5EF4-FFF2-40B4-BE49-F238E27FC236}">
                    <a16:creationId xmlns:a16="http://schemas.microsoft.com/office/drawing/2014/main" id="{A0E60597-8CBA-4643-B0AB-155E1F8AF936}"/>
                  </a:ext>
                </a:extLst>
              </p:cNvPr>
              <p:cNvSpPr txBox="1"/>
              <p:nvPr/>
            </p:nvSpPr>
            <p:spPr>
              <a:xfrm>
                <a:off x="3579678" y="7090662"/>
                <a:ext cx="3344169" cy="1680332"/>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Doğrudur, en uzak 320 metre ile kıraathanedir. </a:t>
                </a:r>
              </a:p>
              <a:p>
                <a:endParaRPr lang="tr-TR" sz="1000" b="1"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Ortalama uzaklığı bulmak için tüm uzunlukları toplayıp lokasyon adedine böleriz. </a:t>
                </a:r>
                <a14:m>
                  <m:oMath xmlns:m="http://schemas.openxmlformats.org/officeDocument/2006/math">
                    <m:f>
                      <m:fPr>
                        <m:ctrlPr>
                          <a:rPr lang="tr-TR" sz="800" i="1" noProof="1" smtClean="0">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320+240+90+150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800" noProof="1">
                    <a:cs typeface="Arial" panose="020B0604020202020204" pitchFamily="34" charset="0"/>
                  </a:rPr>
                  <a:t>  </a:t>
                </a:r>
                <a:r>
                  <a:rPr lang="tr-TR" sz="1000" noProof="1">
                    <a:cs typeface="Arial" panose="020B0604020202020204" pitchFamily="34" charset="0"/>
                  </a:rPr>
                  <a:t>= 200 bulunur.</a:t>
                </a:r>
              </a:p>
              <a:p>
                <a:r>
                  <a:rPr lang="tr-TR" sz="1000" noProof="1">
                    <a:cs typeface="Arial" panose="020B0604020202020204" pitchFamily="34" charset="0"/>
                  </a:rPr>
                  <a:t>Haberdeki ibareye göre 200 metre altındakilerin konut prestiji yükselecektir Melis`in evinin bu konudaki sayısal değeri 200 dür ve şartı sağlamadığından prestiji yükselmez.</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III. </a:t>
                </a:r>
                <a:r>
                  <a:rPr lang="tr-TR" sz="1000" noProof="1">
                    <a:cs typeface="Arial" panose="020B0604020202020204" pitchFamily="34" charset="0"/>
                  </a:rPr>
                  <a:t>Melis`in evine en yakın 4 lokasyon içerisinde okuldur. Grafikten uzaklığı 90 km görülmektedir.</a:t>
                </a:r>
              </a:p>
            </p:txBody>
          </p:sp>
        </mc:Choice>
        <mc:Fallback xmlns="">
          <p:sp>
            <p:nvSpPr>
              <p:cNvPr id="108" name="Metin kutusu 107">
                <a:extLst>
                  <a:ext uri="{FF2B5EF4-FFF2-40B4-BE49-F238E27FC236}">
                    <a16:creationId xmlns:a16="http://schemas.microsoft.com/office/drawing/2014/main" id="{A0E60597-8CBA-4643-B0AB-155E1F8AF936}"/>
                  </a:ext>
                </a:extLst>
              </p:cNvPr>
              <p:cNvSpPr txBox="1">
                <a:spLocks noRot="1" noChangeAspect="1" noMove="1" noResize="1" noEditPoints="1" noAdjustHandles="1" noChangeArrowheads="1" noChangeShapeType="1" noTextEdit="1"/>
              </p:cNvSpPr>
              <p:nvPr/>
            </p:nvSpPr>
            <p:spPr>
              <a:xfrm>
                <a:off x="3579678" y="7090662"/>
                <a:ext cx="3344169" cy="1680332"/>
              </a:xfrm>
              <a:prstGeom prst="rect">
                <a:avLst/>
              </a:prstGeom>
              <a:blipFill>
                <a:blip r:embed="rId5"/>
                <a:stretch>
                  <a:fillRect b="-1087"/>
                </a:stretch>
              </a:blipFill>
            </p:spPr>
            <p:txBody>
              <a:bodyPr/>
              <a:lstStyle/>
              <a:p>
                <a:r>
                  <a:rPr lang="tr-TR">
                    <a:noFill/>
                  </a:rPr>
                  <a:t> </a:t>
                </a:r>
              </a:p>
            </p:txBody>
          </p:sp>
        </mc:Fallback>
      </mc:AlternateContent>
      <p:sp>
        <p:nvSpPr>
          <p:cNvPr id="90" name="Metin kutusu 89">
            <a:extLst>
              <a:ext uri="{FF2B5EF4-FFF2-40B4-BE49-F238E27FC236}">
                <a16:creationId xmlns:a16="http://schemas.microsoft.com/office/drawing/2014/main" id="{E3CEE10B-C5AB-413C-A05B-FBD1C4083D4D}"/>
              </a:ext>
            </a:extLst>
          </p:cNvPr>
          <p:cNvSpPr txBox="1"/>
          <p:nvPr/>
        </p:nvSpPr>
        <p:spPr>
          <a:xfrm rot="16200000">
            <a:off x="3839666" y="1985921"/>
            <a:ext cx="647453" cy="215444"/>
          </a:xfrm>
          <a:prstGeom prst="rect">
            <a:avLst/>
          </a:prstGeom>
          <a:noFill/>
        </p:spPr>
        <p:txBody>
          <a:bodyPr wrap="square" rtlCol="0">
            <a:spAutoFit/>
          </a:bodyPr>
          <a:lstStyle/>
          <a:p>
            <a:pPr algn="ctr"/>
            <a:r>
              <a:rPr lang="tr-TR" sz="800" i="1" noProof="1">
                <a:cs typeface="Arial" panose="020B0604020202020204" pitchFamily="34" charset="0"/>
              </a:rPr>
              <a:t>Kıraathane</a:t>
            </a:r>
          </a:p>
        </p:txBody>
      </p:sp>
      <p:sp>
        <p:nvSpPr>
          <p:cNvPr id="71" name="Metin kutusu 70">
            <a:extLst>
              <a:ext uri="{FF2B5EF4-FFF2-40B4-BE49-F238E27FC236}">
                <a16:creationId xmlns:a16="http://schemas.microsoft.com/office/drawing/2014/main" id="{6F864301-D6C3-46CD-A598-3AF82CFE9521}"/>
              </a:ext>
            </a:extLst>
          </p:cNvPr>
          <p:cNvSpPr txBox="1"/>
          <p:nvPr/>
        </p:nvSpPr>
        <p:spPr>
          <a:xfrm rot="16200000">
            <a:off x="4526475" y="1870538"/>
            <a:ext cx="438680" cy="215444"/>
          </a:xfrm>
          <a:prstGeom prst="rect">
            <a:avLst/>
          </a:prstGeom>
          <a:noFill/>
        </p:spPr>
        <p:txBody>
          <a:bodyPr wrap="square" rtlCol="0">
            <a:spAutoFit/>
          </a:bodyPr>
          <a:lstStyle/>
          <a:p>
            <a:pPr algn="ctr"/>
            <a:r>
              <a:rPr lang="tr-TR" sz="800" i="1" noProof="1">
                <a:cs typeface="Arial" panose="020B0604020202020204" pitchFamily="34" charset="0"/>
              </a:rPr>
              <a:t>Cami</a:t>
            </a:r>
          </a:p>
        </p:txBody>
      </p:sp>
      <p:sp>
        <p:nvSpPr>
          <p:cNvPr id="78" name="Metin kutusu 77">
            <a:extLst>
              <a:ext uri="{FF2B5EF4-FFF2-40B4-BE49-F238E27FC236}">
                <a16:creationId xmlns:a16="http://schemas.microsoft.com/office/drawing/2014/main" id="{09F32B73-C071-409C-9124-C77BD1D5CFEE}"/>
              </a:ext>
            </a:extLst>
          </p:cNvPr>
          <p:cNvSpPr txBox="1"/>
          <p:nvPr/>
        </p:nvSpPr>
        <p:spPr>
          <a:xfrm>
            <a:off x="3491719" y="1187127"/>
            <a:ext cx="430669" cy="215444"/>
          </a:xfrm>
          <a:prstGeom prst="rect">
            <a:avLst/>
          </a:prstGeom>
          <a:noFill/>
        </p:spPr>
        <p:txBody>
          <a:bodyPr wrap="square" rtlCol="0">
            <a:spAutoFit/>
          </a:bodyPr>
          <a:lstStyle/>
          <a:p>
            <a:r>
              <a:rPr lang="tr-TR" sz="800" noProof="1">
                <a:cs typeface="Arial" panose="020B0604020202020204" pitchFamily="34" charset="0"/>
              </a:rPr>
              <a:t>240</a:t>
            </a:r>
          </a:p>
        </p:txBody>
      </p:sp>
      <p:sp>
        <p:nvSpPr>
          <p:cNvPr id="79" name="Metin kutusu 78">
            <a:extLst>
              <a:ext uri="{FF2B5EF4-FFF2-40B4-BE49-F238E27FC236}">
                <a16:creationId xmlns:a16="http://schemas.microsoft.com/office/drawing/2014/main" id="{C4BB30E3-0416-4C23-A7E1-5849796A9898}"/>
              </a:ext>
            </a:extLst>
          </p:cNvPr>
          <p:cNvSpPr txBox="1"/>
          <p:nvPr/>
        </p:nvSpPr>
        <p:spPr>
          <a:xfrm rot="16200000">
            <a:off x="4046589" y="2005861"/>
            <a:ext cx="944466" cy="215444"/>
          </a:xfrm>
          <a:prstGeom prst="rect">
            <a:avLst/>
          </a:prstGeom>
          <a:noFill/>
        </p:spPr>
        <p:txBody>
          <a:bodyPr wrap="square" rtlCol="0">
            <a:spAutoFit/>
          </a:bodyPr>
          <a:lstStyle/>
          <a:p>
            <a:pPr algn="ctr"/>
            <a:r>
              <a:rPr lang="tr-TR" sz="800" i="1" noProof="1">
                <a:cs typeface="Arial" panose="020B0604020202020204" pitchFamily="34" charset="0"/>
              </a:rPr>
              <a:t>Yeni Metro</a:t>
            </a:r>
          </a:p>
        </p:txBody>
      </p:sp>
      <p:sp>
        <p:nvSpPr>
          <p:cNvPr id="81" name="Metin kutusu 80">
            <a:extLst>
              <a:ext uri="{FF2B5EF4-FFF2-40B4-BE49-F238E27FC236}">
                <a16:creationId xmlns:a16="http://schemas.microsoft.com/office/drawing/2014/main" id="{892BFDE2-E7C7-48CF-A4FC-8762538B2142}"/>
              </a:ext>
            </a:extLst>
          </p:cNvPr>
          <p:cNvSpPr txBox="1"/>
          <p:nvPr/>
        </p:nvSpPr>
        <p:spPr>
          <a:xfrm rot="16200000">
            <a:off x="3611586" y="1933695"/>
            <a:ext cx="542998" cy="215444"/>
          </a:xfrm>
          <a:prstGeom prst="rect">
            <a:avLst/>
          </a:prstGeom>
          <a:noFill/>
        </p:spPr>
        <p:txBody>
          <a:bodyPr wrap="square" rtlCol="0">
            <a:spAutoFit/>
          </a:bodyPr>
          <a:lstStyle/>
          <a:p>
            <a:pPr algn="ctr"/>
            <a:r>
              <a:rPr lang="tr-TR" sz="800" i="1" noProof="1">
                <a:cs typeface="Arial" panose="020B0604020202020204" pitchFamily="34" charset="0"/>
              </a:rPr>
              <a:t>Hastane</a:t>
            </a:r>
          </a:p>
        </p:txBody>
      </p:sp>
      <p:sp>
        <p:nvSpPr>
          <p:cNvPr id="72" name="Metin kutusu 71">
            <a:extLst>
              <a:ext uri="{FF2B5EF4-FFF2-40B4-BE49-F238E27FC236}">
                <a16:creationId xmlns:a16="http://schemas.microsoft.com/office/drawing/2014/main" id="{0A052A3C-43EC-462E-AD19-8A9D87468C2A}"/>
              </a:ext>
            </a:extLst>
          </p:cNvPr>
          <p:cNvSpPr txBox="1"/>
          <p:nvPr/>
        </p:nvSpPr>
        <p:spPr>
          <a:xfrm>
            <a:off x="256373" y="1902929"/>
            <a:ext cx="3064767" cy="246221"/>
          </a:xfrm>
          <a:prstGeom prst="rect">
            <a:avLst/>
          </a:prstGeom>
          <a:noFill/>
        </p:spPr>
        <p:txBody>
          <a:bodyPr wrap="square" rtlCol="0">
            <a:spAutoFit/>
          </a:bodyPr>
          <a:lstStyle/>
          <a:p>
            <a:r>
              <a:rPr lang="tr-TR" sz="1000" noProof="1">
                <a:cs typeface="Arial" panose="020B0604020202020204" pitchFamily="34" charset="0"/>
              </a:rPr>
              <a:t>                   Salı       Çarşamba                Cuma   Cumartesi</a:t>
            </a:r>
          </a:p>
        </p:txBody>
      </p:sp>
      <p:sp>
        <p:nvSpPr>
          <p:cNvPr id="84" name="Metin kutusu 83">
            <a:extLst>
              <a:ext uri="{FF2B5EF4-FFF2-40B4-BE49-F238E27FC236}">
                <a16:creationId xmlns:a16="http://schemas.microsoft.com/office/drawing/2014/main" id="{922604B0-06C7-4145-96DB-4ED90F36E6A9}"/>
              </a:ext>
            </a:extLst>
          </p:cNvPr>
          <p:cNvSpPr txBox="1"/>
          <p:nvPr/>
        </p:nvSpPr>
        <p:spPr>
          <a:xfrm>
            <a:off x="163425" y="1724780"/>
            <a:ext cx="2760506" cy="230832"/>
          </a:xfrm>
          <a:prstGeom prst="rect">
            <a:avLst/>
          </a:prstGeom>
          <a:noFill/>
        </p:spPr>
        <p:txBody>
          <a:bodyPr wrap="square" rtlCol="0">
            <a:spAutoFit/>
          </a:bodyPr>
          <a:lstStyle/>
          <a:p>
            <a:r>
              <a:rPr lang="tr-TR" sz="900" noProof="1">
                <a:cs typeface="Arial" panose="020B0604020202020204" pitchFamily="34" charset="0"/>
              </a:rPr>
              <a:t>    Pazartesi                                      Perşembe</a:t>
            </a:r>
          </a:p>
        </p:txBody>
      </p:sp>
      <p:cxnSp>
        <p:nvCxnSpPr>
          <p:cNvPr id="85" name="Düz Bağlayıcı 84">
            <a:extLst>
              <a:ext uri="{FF2B5EF4-FFF2-40B4-BE49-F238E27FC236}">
                <a16:creationId xmlns:a16="http://schemas.microsoft.com/office/drawing/2014/main" id="{96636AF3-79DF-4337-B514-D5F53F36EDC5}"/>
              </a:ext>
            </a:extLst>
          </p:cNvPr>
          <p:cNvCxnSpPr>
            <a:cxnSpLocks/>
          </p:cNvCxnSpPr>
          <p:nvPr/>
        </p:nvCxnSpPr>
        <p:spPr>
          <a:xfrm flipH="1">
            <a:off x="227649" y="2373155"/>
            <a:ext cx="1816562"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6" name="Metin kutusu 85">
            <a:extLst>
              <a:ext uri="{FF2B5EF4-FFF2-40B4-BE49-F238E27FC236}">
                <a16:creationId xmlns:a16="http://schemas.microsoft.com/office/drawing/2014/main" id="{1B1E5758-5193-4617-AC4A-2F586D1EAA99}"/>
              </a:ext>
            </a:extLst>
          </p:cNvPr>
          <p:cNvSpPr txBox="1"/>
          <p:nvPr/>
        </p:nvSpPr>
        <p:spPr>
          <a:xfrm>
            <a:off x="-44146" y="2235690"/>
            <a:ext cx="417111" cy="215444"/>
          </a:xfrm>
          <a:prstGeom prst="rect">
            <a:avLst/>
          </a:prstGeom>
          <a:noFill/>
        </p:spPr>
        <p:txBody>
          <a:bodyPr wrap="square" rtlCol="0">
            <a:spAutoFit/>
          </a:bodyPr>
          <a:lstStyle/>
          <a:p>
            <a:r>
              <a:rPr lang="tr-TR" sz="800" noProof="1">
                <a:cs typeface="Arial" panose="020B0604020202020204" pitchFamily="34" charset="0"/>
              </a:rPr>
              <a:t>-40</a:t>
            </a:r>
          </a:p>
        </p:txBody>
      </p:sp>
      <p:sp>
        <p:nvSpPr>
          <p:cNvPr id="87" name="Metin kutusu 86">
            <a:extLst>
              <a:ext uri="{FF2B5EF4-FFF2-40B4-BE49-F238E27FC236}">
                <a16:creationId xmlns:a16="http://schemas.microsoft.com/office/drawing/2014/main" id="{89E9D4A8-AEAE-4D39-983B-974C1A0AD323}"/>
              </a:ext>
            </a:extLst>
          </p:cNvPr>
          <p:cNvSpPr txBox="1"/>
          <p:nvPr/>
        </p:nvSpPr>
        <p:spPr>
          <a:xfrm>
            <a:off x="-51289" y="2382567"/>
            <a:ext cx="417111" cy="215444"/>
          </a:xfrm>
          <a:prstGeom prst="rect">
            <a:avLst/>
          </a:prstGeom>
          <a:noFill/>
        </p:spPr>
        <p:txBody>
          <a:bodyPr wrap="square" rtlCol="0">
            <a:spAutoFit/>
          </a:bodyPr>
          <a:lstStyle/>
          <a:p>
            <a:r>
              <a:rPr lang="tr-TR" sz="800" noProof="1">
                <a:cs typeface="Arial" panose="020B0604020202020204" pitchFamily="34" charset="0"/>
              </a:rPr>
              <a:t>-50</a:t>
            </a:r>
          </a:p>
        </p:txBody>
      </p:sp>
      <p:sp>
        <p:nvSpPr>
          <p:cNvPr id="68" name="Dikdörtgen 67">
            <a:extLst>
              <a:ext uri="{FF2B5EF4-FFF2-40B4-BE49-F238E27FC236}">
                <a16:creationId xmlns:a16="http://schemas.microsoft.com/office/drawing/2014/main" id="{8040D0C5-49FA-4DF6-865E-676F139C4747}"/>
              </a:ext>
            </a:extLst>
          </p:cNvPr>
          <p:cNvSpPr/>
          <p:nvPr/>
        </p:nvSpPr>
        <p:spPr>
          <a:xfrm>
            <a:off x="976129" y="1389462"/>
            <a:ext cx="160481" cy="533012"/>
          </a:xfrm>
          <a:prstGeom prst="rect">
            <a:avLst/>
          </a:prstGeom>
          <a:solidFill>
            <a:srgbClr val="32BEA6"/>
          </a:soli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69" name="Dikdörtgen 68">
            <a:extLst>
              <a:ext uri="{FF2B5EF4-FFF2-40B4-BE49-F238E27FC236}">
                <a16:creationId xmlns:a16="http://schemas.microsoft.com/office/drawing/2014/main" id="{69BC384C-9A7A-4DFA-B746-E1A66E83A39E}"/>
              </a:ext>
            </a:extLst>
          </p:cNvPr>
          <p:cNvSpPr/>
          <p:nvPr/>
        </p:nvSpPr>
        <p:spPr>
          <a:xfrm>
            <a:off x="456079" y="1923474"/>
            <a:ext cx="160481" cy="585698"/>
          </a:xfrm>
          <a:prstGeom prst="rect">
            <a:avLst/>
          </a:prstGeom>
          <a:solidFill>
            <a:schemeClr val="accent2">
              <a:lumMod val="40000"/>
              <a:lumOff val="60000"/>
            </a:schemeClr>
          </a:soli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82" name="Dikdörtgen 81">
            <a:extLst>
              <a:ext uri="{FF2B5EF4-FFF2-40B4-BE49-F238E27FC236}">
                <a16:creationId xmlns:a16="http://schemas.microsoft.com/office/drawing/2014/main" id="{A1DF0654-0551-492B-8DBB-2E3A106FB142}"/>
              </a:ext>
            </a:extLst>
          </p:cNvPr>
          <p:cNvSpPr/>
          <p:nvPr/>
        </p:nvSpPr>
        <p:spPr>
          <a:xfrm>
            <a:off x="1402043" y="1206668"/>
            <a:ext cx="160481" cy="717018"/>
          </a:xfrm>
          <a:prstGeom prst="rect">
            <a:avLst/>
          </a:prstGeom>
          <a:solidFill>
            <a:srgbClr val="32BEA6"/>
          </a:soli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83" name="Dikdörtgen 82">
            <a:extLst>
              <a:ext uri="{FF2B5EF4-FFF2-40B4-BE49-F238E27FC236}">
                <a16:creationId xmlns:a16="http://schemas.microsoft.com/office/drawing/2014/main" id="{2BE2AFF3-E0A0-4D0C-AD3D-C59D8C1E9B40}"/>
              </a:ext>
            </a:extLst>
          </p:cNvPr>
          <p:cNvSpPr/>
          <p:nvPr/>
        </p:nvSpPr>
        <p:spPr>
          <a:xfrm>
            <a:off x="1883730" y="1923175"/>
            <a:ext cx="160481" cy="449980"/>
          </a:xfrm>
          <a:prstGeom prst="rect">
            <a:avLst/>
          </a:prstGeom>
          <a:solidFill>
            <a:schemeClr val="accent2">
              <a:lumMod val="40000"/>
              <a:lumOff val="60000"/>
            </a:schemeClr>
          </a:soli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cxnSp>
        <p:nvCxnSpPr>
          <p:cNvPr id="98" name="Düz Bağlayıcı 97">
            <a:extLst>
              <a:ext uri="{FF2B5EF4-FFF2-40B4-BE49-F238E27FC236}">
                <a16:creationId xmlns:a16="http://schemas.microsoft.com/office/drawing/2014/main" id="{9CF86770-199C-417B-BCD0-29EBADFA7BAF}"/>
              </a:ext>
            </a:extLst>
          </p:cNvPr>
          <p:cNvCxnSpPr>
            <a:cxnSpLocks/>
          </p:cNvCxnSpPr>
          <p:nvPr/>
        </p:nvCxnSpPr>
        <p:spPr>
          <a:xfrm flipH="1">
            <a:off x="232746" y="1389462"/>
            <a:ext cx="81999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0" name="Metin kutusu 99">
            <a:extLst>
              <a:ext uri="{FF2B5EF4-FFF2-40B4-BE49-F238E27FC236}">
                <a16:creationId xmlns:a16="http://schemas.microsoft.com/office/drawing/2014/main" id="{70C8F935-3588-411B-B8F2-42A1E98EFED2}"/>
              </a:ext>
            </a:extLst>
          </p:cNvPr>
          <p:cNvSpPr txBox="1"/>
          <p:nvPr/>
        </p:nvSpPr>
        <p:spPr>
          <a:xfrm>
            <a:off x="900177" y="4772727"/>
            <a:ext cx="2548054" cy="369332"/>
          </a:xfrm>
          <a:prstGeom prst="rect">
            <a:avLst/>
          </a:prstGeom>
          <a:noFill/>
        </p:spPr>
        <p:txBody>
          <a:bodyPr wrap="square" rtlCol="0">
            <a:spAutoFit/>
          </a:bodyPr>
          <a:lstStyle/>
          <a:p>
            <a:r>
              <a:rPr lang="tr-TR" sz="900" b="1" noProof="1"/>
              <a:t>Plana sadık kalmak : Plana ilgili süre zarfında sürekli uymak, plan dışına çıkmamak</a:t>
            </a:r>
          </a:p>
        </p:txBody>
      </p:sp>
      <p:graphicFrame>
        <p:nvGraphicFramePr>
          <p:cNvPr id="44" name="Tablo 48">
            <a:extLst>
              <a:ext uri="{FF2B5EF4-FFF2-40B4-BE49-F238E27FC236}">
                <a16:creationId xmlns:a16="http://schemas.microsoft.com/office/drawing/2014/main" id="{A95788F1-F028-4622-A9C5-79688C46DFC4}"/>
              </a:ext>
            </a:extLst>
          </p:cNvPr>
          <p:cNvGraphicFramePr>
            <a:graphicFrameLocks noGrp="1"/>
          </p:cNvGraphicFramePr>
          <p:nvPr>
            <p:extLst>
              <p:ext uri="{D42A27DB-BD31-4B8C-83A1-F6EECF244321}">
                <p14:modId xmlns:p14="http://schemas.microsoft.com/office/powerpoint/2010/main" val="787473759"/>
              </p:ext>
            </p:extLst>
          </p:nvPr>
        </p:nvGraphicFramePr>
        <p:xfrm>
          <a:off x="242584" y="7972176"/>
          <a:ext cx="3057156" cy="853440"/>
        </p:xfrm>
        <a:graphic>
          <a:graphicData uri="http://schemas.openxmlformats.org/drawingml/2006/table">
            <a:tbl>
              <a:tblPr firstRow="1" bandRow="1">
                <a:tableStyleId>{00A15C55-8517-42AA-B614-E9B94910E393}</a:tableStyleId>
              </a:tblPr>
              <a:tblGrid>
                <a:gridCol w="907912">
                  <a:extLst>
                    <a:ext uri="{9D8B030D-6E8A-4147-A177-3AD203B41FA5}">
                      <a16:colId xmlns:a16="http://schemas.microsoft.com/office/drawing/2014/main" val="3243609143"/>
                    </a:ext>
                  </a:extLst>
                </a:gridCol>
                <a:gridCol w="360040">
                  <a:extLst>
                    <a:ext uri="{9D8B030D-6E8A-4147-A177-3AD203B41FA5}">
                      <a16:colId xmlns:a16="http://schemas.microsoft.com/office/drawing/2014/main" val="334595838"/>
                    </a:ext>
                  </a:extLst>
                </a:gridCol>
                <a:gridCol w="360040">
                  <a:extLst>
                    <a:ext uri="{9D8B030D-6E8A-4147-A177-3AD203B41FA5}">
                      <a16:colId xmlns:a16="http://schemas.microsoft.com/office/drawing/2014/main" val="3523462365"/>
                    </a:ext>
                  </a:extLst>
                </a:gridCol>
                <a:gridCol w="360040">
                  <a:extLst>
                    <a:ext uri="{9D8B030D-6E8A-4147-A177-3AD203B41FA5}">
                      <a16:colId xmlns:a16="http://schemas.microsoft.com/office/drawing/2014/main" val="261808069"/>
                    </a:ext>
                  </a:extLst>
                </a:gridCol>
                <a:gridCol w="360040">
                  <a:extLst>
                    <a:ext uri="{9D8B030D-6E8A-4147-A177-3AD203B41FA5}">
                      <a16:colId xmlns:a16="http://schemas.microsoft.com/office/drawing/2014/main" val="1266230399"/>
                    </a:ext>
                  </a:extLst>
                </a:gridCol>
                <a:gridCol w="360040">
                  <a:extLst>
                    <a:ext uri="{9D8B030D-6E8A-4147-A177-3AD203B41FA5}">
                      <a16:colId xmlns:a16="http://schemas.microsoft.com/office/drawing/2014/main" val="3692759374"/>
                    </a:ext>
                  </a:extLst>
                </a:gridCol>
                <a:gridCol w="349044">
                  <a:extLst>
                    <a:ext uri="{9D8B030D-6E8A-4147-A177-3AD203B41FA5}">
                      <a16:colId xmlns:a16="http://schemas.microsoft.com/office/drawing/2014/main" val="4186109945"/>
                    </a:ext>
                  </a:extLst>
                </a:gridCol>
              </a:tblGrid>
              <a:tr h="168019">
                <a:tc>
                  <a:txBody>
                    <a:bodyPr/>
                    <a:lstStyle/>
                    <a:p>
                      <a:pPr algn="ctr"/>
                      <a:endParaRPr lang="tr-TR" sz="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600" dirty="0"/>
                        <a:t>PZT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600" dirty="0"/>
                        <a:t>SALI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600" dirty="0"/>
                        <a:t>ÇRŞ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600" dirty="0"/>
                        <a:t>PRŞ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600" dirty="0"/>
                        <a:t>CUM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600" dirty="0"/>
                        <a:t>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8117738"/>
                  </a:ext>
                </a:extLst>
              </a:tr>
              <a:tr h="168019">
                <a:tc>
                  <a:txBody>
                    <a:bodyPr/>
                    <a:lstStyle/>
                    <a:p>
                      <a:pPr algn="ctr"/>
                      <a:r>
                        <a:rPr lang="tr-TR" sz="600" dirty="0"/>
                        <a:t>Çözülen Soru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0" dirty="0"/>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0"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0" dirty="0"/>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0"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0228368"/>
                  </a:ext>
                </a:extLst>
              </a:tr>
              <a:tr h="168019">
                <a:tc>
                  <a:txBody>
                    <a:bodyPr/>
                    <a:lstStyle/>
                    <a:p>
                      <a:pPr algn="ctr"/>
                      <a:r>
                        <a:rPr lang="tr-TR" sz="600" dirty="0"/>
                        <a:t>Çözülen soru sayısının plandaki değişimi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dirty="0"/>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718192"/>
                  </a:ext>
                </a:extLst>
              </a:tr>
              <a:tr h="168019">
                <a:tc>
                  <a:txBody>
                    <a:bodyPr/>
                    <a:lstStyle/>
                    <a:p>
                      <a:pPr algn="ctr"/>
                      <a:r>
                        <a:rPr lang="tr-TR" sz="600" dirty="0"/>
                        <a:t>Planlanan Sayı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1"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1" dirty="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1"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1"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1"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700" b="1"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9014108"/>
                  </a:ext>
                </a:extLst>
              </a:tr>
            </a:tbl>
          </a:graphicData>
        </a:graphic>
      </p:graphicFrame>
      <mc:AlternateContent xmlns:mc="http://schemas.openxmlformats.org/markup-compatibility/2006" xmlns:a14="http://schemas.microsoft.com/office/drawing/2010/main">
        <mc:Choice Requires="a14">
          <p:sp>
            <p:nvSpPr>
              <p:cNvPr id="29" name="Metin kutusu 28"/>
              <p:cNvSpPr txBox="1"/>
              <p:nvPr/>
            </p:nvSpPr>
            <p:spPr>
              <a:xfrm>
                <a:off x="32273" y="8798299"/>
                <a:ext cx="3235856" cy="272062"/>
              </a:xfrm>
              <a:prstGeom prst="rect">
                <a:avLst/>
              </a:prstGeom>
              <a:noFill/>
            </p:spPr>
            <p:txBody>
              <a:bodyPr wrap="square" rtlCol="0">
                <a:spAutoFit/>
              </a:bodyPr>
              <a:lstStyle/>
              <a:p>
                <a:r>
                  <a:rPr lang="tr-TR" sz="800" b="1" dirty="0"/>
                  <a:t>Planlanan sayı ortalama olarak </a:t>
                </a:r>
                <a:r>
                  <a:rPr lang="tr-TR" sz="800" b="1" dirty="0">
                    <a:solidFill>
                      <a:schemeClr val="tx1"/>
                    </a:solidFill>
                  </a:rPr>
                  <a:t> </a:t>
                </a:r>
                <a14:m>
                  <m:oMath xmlns:m="http://schemas.openxmlformats.org/officeDocument/2006/math">
                    <m:f>
                      <m:fPr>
                        <m:ctrlPr>
                          <a:rPr lang="tr-TR" sz="800" b="1" i="1" smtClean="0">
                            <a:solidFill>
                              <a:schemeClr val="tx1"/>
                            </a:solidFill>
                            <a:latin typeface="Cambria Math" panose="02040503050406030204" pitchFamily="18" charset="0"/>
                          </a:rPr>
                        </m:ctrlPr>
                      </m:fPr>
                      <m:num>
                        <m:r>
                          <a:rPr lang="tr-TR" sz="800" b="1" i="1" smtClean="0">
                            <a:solidFill>
                              <a:schemeClr val="tx1"/>
                            </a:solidFill>
                            <a:latin typeface="Cambria Math" panose="02040503050406030204" pitchFamily="18" charset="0"/>
                          </a:rPr>
                          <m:t>𝟐𝟒𝟎</m:t>
                        </m:r>
                      </m:num>
                      <m:den>
                        <m:r>
                          <a:rPr lang="tr-TR" sz="800" b="1" i="1" smtClean="0">
                            <a:solidFill>
                              <a:schemeClr val="tx1"/>
                            </a:solidFill>
                            <a:latin typeface="Cambria Math" panose="02040503050406030204" pitchFamily="18" charset="0"/>
                          </a:rPr>
                          <m:t>𝟔</m:t>
                        </m:r>
                      </m:den>
                    </m:f>
                  </m:oMath>
                </a14:m>
                <a:r>
                  <a:rPr lang="tr-TR" sz="800" b="1" dirty="0">
                    <a:solidFill>
                      <a:schemeClr val="tx1"/>
                    </a:solidFill>
                  </a:rPr>
                  <a:t> = 40 olarak bulunur. </a:t>
                </a:r>
              </a:p>
            </p:txBody>
          </p:sp>
        </mc:Choice>
        <mc:Fallback xmlns="">
          <p:sp>
            <p:nvSpPr>
              <p:cNvPr id="29" name="Metin kutusu 28"/>
              <p:cNvSpPr txBox="1">
                <a:spLocks noRot="1" noChangeAspect="1" noMove="1" noResize="1" noEditPoints="1" noAdjustHandles="1" noChangeArrowheads="1" noChangeShapeType="1" noTextEdit="1"/>
              </p:cNvSpPr>
              <p:nvPr/>
            </p:nvSpPr>
            <p:spPr>
              <a:xfrm>
                <a:off x="32273" y="8798299"/>
                <a:ext cx="3235856" cy="272062"/>
              </a:xfrm>
              <a:prstGeom prst="rect">
                <a:avLst/>
              </a:prstGeom>
              <a:blipFill>
                <a:blip r:embed="rId6"/>
                <a:stretch>
                  <a:fillRect/>
                </a:stretch>
              </a:blipFill>
            </p:spPr>
            <p:txBody>
              <a:bodyPr/>
              <a:lstStyle/>
              <a:p>
                <a:r>
                  <a:rPr lang="tr-TR">
                    <a:noFill/>
                  </a:rPr>
                  <a:t> </a:t>
                </a:r>
              </a:p>
            </p:txBody>
          </p:sp>
        </mc:Fallback>
      </mc:AlternateContent>
      <p:sp>
        <p:nvSpPr>
          <p:cNvPr id="104" name="Akış Çizelgesi: Bağlayıcı 103">
            <a:extLst>
              <a:ext uri="{FF2B5EF4-FFF2-40B4-BE49-F238E27FC236}">
                <a16:creationId xmlns:a16="http://schemas.microsoft.com/office/drawing/2014/main" id="{76963D6C-0AF5-4926-9416-88EC03D0EAAA}"/>
              </a:ext>
            </a:extLst>
          </p:cNvPr>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29704" y="8824256"/>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88" name="Metin kutusu 87">
            <a:extLst>
              <a:ext uri="{FF2B5EF4-FFF2-40B4-BE49-F238E27FC236}">
                <a16:creationId xmlns:a16="http://schemas.microsoft.com/office/drawing/2014/main" id="{3D9347E1-9ECE-4BB5-A0BB-A8E8EF5B25B3}"/>
              </a:ext>
            </a:extLst>
          </p:cNvPr>
          <p:cNvSpPr txBox="1"/>
          <p:nvPr/>
        </p:nvSpPr>
        <p:spPr>
          <a:xfrm>
            <a:off x="3479891" y="1368895"/>
            <a:ext cx="430669" cy="215444"/>
          </a:xfrm>
          <a:prstGeom prst="rect">
            <a:avLst/>
          </a:prstGeom>
          <a:noFill/>
        </p:spPr>
        <p:txBody>
          <a:bodyPr wrap="square" rtlCol="0">
            <a:spAutoFit/>
          </a:bodyPr>
          <a:lstStyle/>
          <a:p>
            <a:r>
              <a:rPr lang="tr-TR" sz="800" noProof="1">
                <a:cs typeface="Arial" panose="020B0604020202020204" pitchFamily="34" charset="0"/>
              </a:rPr>
              <a:t>150</a:t>
            </a:r>
          </a:p>
        </p:txBody>
      </p:sp>
      <p:sp>
        <p:nvSpPr>
          <p:cNvPr id="96" name="Metin kutusu 95">
            <a:extLst>
              <a:ext uri="{FF2B5EF4-FFF2-40B4-BE49-F238E27FC236}">
                <a16:creationId xmlns:a16="http://schemas.microsoft.com/office/drawing/2014/main" id="{04569D9A-5F60-4C7E-A56C-B3194B2E8F61}"/>
              </a:ext>
            </a:extLst>
          </p:cNvPr>
          <p:cNvSpPr txBox="1"/>
          <p:nvPr/>
        </p:nvSpPr>
        <p:spPr>
          <a:xfrm>
            <a:off x="3430162" y="1531591"/>
            <a:ext cx="430669" cy="215444"/>
          </a:xfrm>
          <a:prstGeom prst="rect">
            <a:avLst/>
          </a:prstGeom>
          <a:noFill/>
        </p:spPr>
        <p:txBody>
          <a:bodyPr wrap="square" rtlCol="0">
            <a:spAutoFit/>
          </a:bodyPr>
          <a:lstStyle/>
          <a:p>
            <a:pPr algn="ctr"/>
            <a:r>
              <a:rPr lang="tr-TR" sz="800" noProof="1">
                <a:cs typeface="Arial" panose="020B0604020202020204" pitchFamily="34" charset="0"/>
              </a:rPr>
              <a:t>90</a:t>
            </a:r>
          </a:p>
        </p:txBody>
      </p:sp>
      <p:sp>
        <p:nvSpPr>
          <p:cNvPr id="4" name="Dikdörtgen 3">
            <a:extLst>
              <a:ext uri="{FF2B5EF4-FFF2-40B4-BE49-F238E27FC236}">
                <a16:creationId xmlns:a16="http://schemas.microsoft.com/office/drawing/2014/main" id="{06915876-4B52-4761-B57B-22DAD6C7377D}"/>
              </a:ext>
            </a:extLst>
          </p:cNvPr>
          <p:cNvSpPr/>
          <p:nvPr/>
        </p:nvSpPr>
        <p:spPr>
          <a:xfrm>
            <a:off x="3633234" y="2457401"/>
            <a:ext cx="3203436" cy="388863"/>
          </a:xfrm>
          <a:prstGeom prst="rect">
            <a:avLst/>
          </a:prstGeom>
          <a:solidFill>
            <a:srgbClr val="CCFFFF"/>
          </a:solidFill>
          <a:ln w="3175">
            <a:solidFill>
              <a:schemeClr val="tx1"/>
            </a:solidFill>
          </a:ln>
          <a:effectLst>
            <a:softEdge rad="63500"/>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 name="Dikdörtgen 5">
            <a:extLst>
              <a:ext uri="{FF2B5EF4-FFF2-40B4-BE49-F238E27FC236}">
                <a16:creationId xmlns:a16="http://schemas.microsoft.com/office/drawing/2014/main" id="{8E3536E6-A627-4ACD-A6BA-DB44C69C457C}"/>
              </a:ext>
            </a:extLst>
          </p:cNvPr>
          <p:cNvSpPr/>
          <p:nvPr/>
        </p:nvSpPr>
        <p:spPr>
          <a:xfrm>
            <a:off x="3639148" y="2401150"/>
            <a:ext cx="3108135" cy="507831"/>
          </a:xfrm>
          <a:prstGeom prst="rect">
            <a:avLst/>
          </a:prstGeom>
        </p:spPr>
        <p:style>
          <a:lnRef idx="1">
            <a:schemeClr val="dk1"/>
          </a:lnRef>
          <a:fillRef idx="2">
            <a:schemeClr val="dk1"/>
          </a:fillRef>
          <a:effectRef idx="1">
            <a:schemeClr val="dk1"/>
          </a:effectRef>
          <a:fontRef idx="minor">
            <a:schemeClr val="dk1"/>
          </a:fontRef>
        </p:style>
        <p:txBody>
          <a:bodyPr wrap="square" lIns="91440" tIns="45720" rIns="91440" bIns="45720">
            <a:spAutoFit/>
          </a:bodyPr>
          <a:lstStyle/>
          <a:p>
            <a:pPr algn="ctr"/>
            <a:r>
              <a:rPr lang="tr-TR" sz="900" dirty="0">
                <a:ln w="0"/>
                <a:solidFill>
                  <a:schemeClr val="bg1"/>
                </a:solidFill>
                <a:effectLst>
                  <a:outerShdw blurRad="38100" dist="25400" dir="5400000" algn="ctr" rotWithShape="0">
                    <a:srgbClr val="6E747A">
                      <a:alpha val="43000"/>
                    </a:srgbClr>
                  </a:outerShdw>
                </a:effectLst>
              </a:rPr>
              <a:t>Hastane kıraathane , </a:t>
            </a:r>
            <a:r>
              <a:rPr lang="tr-TR" sz="900" b="1" dirty="0">
                <a:ln w="0"/>
                <a:solidFill>
                  <a:schemeClr val="bg1"/>
                </a:solidFill>
                <a:effectLst>
                  <a:outerShdw blurRad="38100" dist="25400" dir="5400000" algn="ctr" rotWithShape="0">
                    <a:srgbClr val="6E747A">
                      <a:alpha val="43000"/>
                    </a:srgbClr>
                  </a:outerShdw>
                </a:effectLst>
              </a:rPr>
              <a:t>yeni yapılan metro </a:t>
            </a:r>
            <a:r>
              <a:rPr lang="tr-TR" sz="900" dirty="0">
                <a:ln w="0"/>
                <a:solidFill>
                  <a:schemeClr val="bg1"/>
                </a:solidFill>
                <a:effectLst>
                  <a:outerShdw blurRad="38100" dist="25400" dir="5400000" algn="ctr" rotWithShape="0">
                    <a:srgbClr val="6E747A">
                      <a:alpha val="43000"/>
                    </a:srgbClr>
                  </a:outerShdw>
                </a:effectLst>
              </a:rPr>
              <a:t>ve cami  ye uzaklıkları ortalama 200 metre altı olan evlerin konut prestiji daha yükselecektir!</a:t>
            </a:r>
          </a:p>
        </p:txBody>
      </p:sp>
    </p:spTree>
    <p:extLst>
      <p:ext uri="{BB962C8B-B14F-4D97-AF65-F5344CB8AC3E}">
        <p14:creationId xmlns:p14="http://schemas.microsoft.com/office/powerpoint/2010/main" val="3133575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Sütun Grafikleri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2218" y="3930890"/>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44566" y="682556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67239" y="779991"/>
            <a:ext cx="1381667" cy="215444"/>
          </a:xfrm>
          <a:prstGeom prst="rect">
            <a:avLst/>
          </a:prstGeom>
          <a:noFill/>
        </p:spPr>
        <p:txBody>
          <a:bodyPr wrap="square" rtlCol="0">
            <a:spAutoFit/>
          </a:bodyPr>
          <a:lstStyle/>
          <a:p>
            <a:r>
              <a:rPr lang="tr-TR" sz="800" noProof="1">
                <a:cs typeface="Arial" panose="020B0604020202020204" pitchFamily="34" charset="0"/>
              </a:rPr>
              <a:t>Doğru Sayısı (adet)</a:t>
            </a:r>
          </a:p>
        </p:txBody>
      </p:sp>
      <p:sp>
        <p:nvSpPr>
          <p:cNvPr id="56" name="Ok: Beşgen 55">
            <a:extLst>
              <a:ext uri="{FF2B5EF4-FFF2-40B4-BE49-F238E27FC236}">
                <a16:creationId xmlns:a16="http://schemas.microsoft.com/office/drawing/2014/main" id="{D327283C-46A4-4C86-A990-995946C89AA1}"/>
              </a:ext>
            </a:extLst>
          </p:cNvPr>
          <p:cNvSpPr/>
          <p:nvPr/>
        </p:nvSpPr>
        <p:spPr>
          <a:xfrm>
            <a:off x="3530463" y="665292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47491" y="503168"/>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7.</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8.</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40153" y="385256"/>
            <a:ext cx="2562635" cy="442328"/>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03533" y="454110"/>
            <a:ext cx="2734759" cy="292388"/>
          </a:xfrm>
          <a:prstGeom prst="rect">
            <a:avLst/>
          </a:prstGeom>
          <a:noFill/>
        </p:spPr>
        <p:txBody>
          <a:bodyPr wrap="square">
            <a:spAutoFit/>
          </a:bodyPr>
          <a:lstStyle/>
          <a:p>
            <a:pPr algn="ctr"/>
            <a:r>
              <a:rPr lang="tr-TR" sz="650" i="0" noProof="1">
                <a:effectLst/>
                <a:latin typeface="Arial Narrow" panose="020B0606020202030204" pitchFamily="34" charset="0"/>
              </a:rPr>
              <a:t>“İnsanlık o kadar şerefli bir nimettir ki sevgili için bile feda edilemez. Kadınların duyguları oyuncak değil, siz fazla çocuksunuz.”  - Nabizade Nazım</a:t>
            </a:r>
            <a:endParaRPr lang="tr-TR" sz="650" noProof="1">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81276" y="408682"/>
            <a:ext cx="2406123" cy="363087"/>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11206" y="439414"/>
            <a:ext cx="2444799" cy="301621"/>
          </a:xfrm>
          <a:prstGeom prst="rect">
            <a:avLst/>
          </a:prstGeom>
          <a:noFill/>
        </p:spPr>
        <p:txBody>
          <a:bodyPr wrap="square">
            <a:spAutoFit/>
          </a:bodyPr>
          <a:lstStyle/>
          <a:p>
            <a:pPr algn="ctr"/>
            <a:r>
              <a:rPr lang="tr-TR" sz="680" i="0" dirty="0">
                <a:effectLst/>
                <a:latin typeface="Arial Narrow" panose="020B0606020202030204" pitchFamily="34" charset="0"/>
              </a:rPr>
              <a:t>“Zihin fukara olunca akıl ukala olurmuş. İnsan ne söylediğini bilmeli fakat her bildiğini söylememelidir.- Namık Kemal</a:t>
            </a:r>
            <a:endParaRPr lang="tr-TR" sz="680" dirty="0">
              <a:latin typeface="Arial Narrow" panose="020B0606020202030204" pitchFamily="34" charset="0"/>
            </a:endParaRPr>
          </a:p>
        </p:txBody>
      </p:sp>
      <p:cxnSp>
        <p:nvCxnSpPr>
          <p:cNvPr id="7" name="Düz Ok Bağlayıcısı 6">
            <a:extLst>
              <a:ext uri="{FF2B5EF4-FFF2-40B4-BE49-F238E27FC236}">
                <a16:creationId xmlns:a16="http://schemas.microsoft.com/office/drawing/2014/main" id="{F79463B4-AA8C-4F6F-9F26-F501F856FCA0}"/>
              </a:ext>
            </a:extLst>
          </p:cNvPr>
          <p:cNvCxnSpPr>
            <a:cxnSpLocks/>
          </p:cNvCxnSpPr>
          <p:nvPr/>
        </p:nvCxnSpPr>
        <p:spPr>
          <a:xfrm flipV="1">
            <a:off x="197513" y="953864"/>
            <a:ext cx="0" cy="1035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Düz Ok Bağlayıcısı 14">
            <a:extLst>
              <a:ext uri="{FF2B5EF4-FFF2-40B4-BE49-F238E27FC236}">
                <a16:creationId xmlns:a16="http://schemas.microsoft.com/office/drawing/2014/main" id="{3F32ED5B-F3B4-45AD-8306-D34E23328E54}"/>
              </a:ext>
            </a:extLst>
          </p:cNvPr>
          <p:cNvCxnSpPr>
            <a:cxnSpLocks/>
          </p:cNvCxnSpPr>
          <p:nvPr/>
        </p:nvCxnSpPr>
        <p:spPr>
          <a:xfrm>
            <a:off x="53497" y="1817960"/>
            <a:ext cx="16271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Metin kutusu 59">
            <a:extLst>
              <a:ext uri="{FF2B5EF4-FFF2-40B4-BE49-F238E27FC236}">
                <a16:creationId xmlns:a16="http://schemas.microsoft.com/office/drawing/2014/main" id="{B74EF419-43CE-4CD7-8A88-8E481AA3693F}"/>
              </a:ext>
            </a:extLst>
          </p:cNvPr>
          <p:cNvSpPr txBox="1"/>
          <p:nvPr/>
        </p:nvSpPr>
        <p:spPr>
          <a:xfrm>
            <a:off x="1620034" y="1707161"/>
            <a:ext cx="1186277" cy="246221"/>
          </a:xfrm>
          <a:prstGeom prst="rect">
            <a:avLst/>
          </a:prstGeom>
          <a:noFill/>
        </p:spPr>
        <p:txBody>
          <a:bodyPr wrap="square" rtlCol="0">
            <a:spAutoFit/>
          </a:bodyPr>
          <a:lstStyle/>
          <a:p>
            <a:r>
              <a:rPr lang="tr-TR" sz="1000" noProof="1">
                <a:cs typeface="Arial" panose="020B0604020202020204" pitchFamily="34" charset="0"/>
              </a:rPr>
              <a:t>Branşlar</a:t>
            </a:r>
          </a:p>
        </p:txBody>
      </p:sp>
      <p:sp>
        <p:nvSpPr>
          <p:cNvPr id="72" name="Metin kutusu 71">
            <a:extLst>
              <a:ext uri="{FF2B5EF4-FFF2-40B4-BE49-F238E27FC236}">
                <a16:creationId xmlns:a16="http://schemas.microsoft.com/office/drawing/2014/main" id="{0A052A3C-43EC-462E-AD19-8A9D87468C2A}"/>
              </a:ext>
            </a:extLst>
          </p:cNvPr>
          <p:cNvSpPr txBox="1"/>
          <p:nvPr/>
        </p:nvSpPr>
        <p:spPr>
          <a:xfrm>
            <a:off x="170490" y="1789736"/>
            <a:ext cx="1381666" cy="215444"/>
          </a:xfrm>
          <a:prstGeom prst="rect">
            <a:avLst/>
          </a:prstGeom>
          <a:noFill/>
        </p:spPr>
        <p:txBody>
          <a:bodyPr wrap="square" rtlCol="0">
            <a:spAutoFit/>
          </a:bodyPr>
          <a:lstStyle/>
          <a:p>
            <a:r>
              <a:rPr lang="tr-TR" sz="800" noProof="1">
                <a:cs typeface="Arial" panose="020B0604020202020204" pitchFamily="34" charset="0"/>
              </a:rPr>
              <a:t>Türkçe    Mat.     Sosyal    Fen</a:t>
            </a:r>
          </a:p>
        </p:txBody>
      </p:sp>
      <p:sp>
        <p:nvSpPr>
          <p:cNvPr id="73" name="Metin kutusu 72">
            <a:extLst>
              <a:ext uri="{FF2B5EF4-FFF2-40B4-BE49-F238E27FC236}">
                <a16:creationId xmlns:a16="http://schemas.microsoft.com/office/drawing/2014/main" id="{1A688A92-B7EC-49D3-A6DA-BD4672AA4B4B}"/>
              </a:ext>
            </a:extLst>
          </p:cNvPr>
          <p:cNvSpPr txBox="1"/>
          <p:nvPr/>
        </p:nvSpPr>
        <p:spPr>
          <a:xfrm>
            <a:off x="6896" y="3261220"/>
            <a:ext cx="3336222" cy="1323439"/>
          </a:xfrm>
          <a:prstGeom prst="rect">
            <a:avLst/>
          </a:prstGeom>
          <a:noFill/>
        </p:spPr>
        <p:txBody>
          <a:bodyPr wrap="square" rtlCol="0">
            <a:spAutoFit/>
          </a:bodyPr>
          <a:lstStyle/>
          <a:p>
            <a:r>
              <a:rPr lang="tr-TR" sz="1000" b="1" noProof="1">
                <a:cs typeface="Arial" panose="020B0604020202020204" pitchFamily="34" charset="0"/>
              </a:rPr>
              <a:t>Bu iki grafiğe bakarak öğrenciyle ilgili,</a:t>
            </a:r>
          </a:p>
          <a:p>
            <a:endParaRPr lang="tr-TR" sz="1000" b="1" noProof="1">
              <a:cs typeface="Arial" panose="020B0604020202020204" pitchFamily="34" charset="0"/>
            </a:endParaRPr>
          </a:p>
          <a:p>
            <a:r>
              <a:rPr lang="tr-TR" sz="1000" noProof="1">
                <a:cs typeface="Arial" panose="020B0604020202020204" pitchFamily="34" charset="0"/>
              </a:rPr>
              <a:t>I. Türkçeden 24,75 net yapmıştır.</a:t>
            </a:r>
          </a:p>
          <a:p>
            <a:r>
              <a:rPr lang="tr-TR" sz="1000" noProof="1">
                <a:cs typeface="Arial" panose="020B0604020202020204" pitchFamily="34" charset="0"/>
              </a:rPr>
              <a:t>II. Matematikten 2 boş sorusu vardır.</a:t>
            </a:r>
          </a:p>
          <a:p>
            <a:r>
              <a:rPr lang="tr-TR" sz="1000" noProof="1">
                <a:cs typeface="Arial" panose="020B0604020202020204" pitchFamily="34" charset="0"/>
              </a:rPr>
              <a:t>III. Fendeki yanlış sayısının 1/5`i eksiği kadar yanlış sayısını sosyalde yapmıştır. </a:t>
            </a:r>
          </a:p>
          <a:p>
            <a:endParaRPr lang="tr-TR" sz="1000" noProof="1">
              <a:cs typeface="Arial" panose="020B0604020202020204" pitchFamily="34" charset="0"/>
            </a:endParaRPr>
          </a:p>
          <a:p>
            <a:r>
              <a:rPr lang="tr-TR" sz="1000" b="1" noProof="1">
                <a:cs typeface="Arial" panose="020B0604020202020204" pitchFamily="34" charset="0"/>
              </a:rPr>
              <a:t>yukarıdaki yorumlardan hangileri yapılabilir?</a:t>
            </a:r>
          </a:p>
        </p:txBody>
      </p:sp>
      <p:sp>
        <p:nvSpPr>
          <p:cNvPr id="74" name="Metin kutusu 73">
            <a:extLst>
              <a:ext uri="{FF2B5EF4-FFF2-40B4-BE49-F238E27FC236}">
                <a16:creationId xmlns:a16="http://schemas.microsoft.com/office/drawing/2014/main" id="{F145A3EF-3074-46A5-BFB2-8C1370CC1633}"/>
              </a:ext>
            </a:extLst>
          </p:cNvPr>
          <p:cNvSpPr txBox="1"/>
          <p:nvPr/>
        </p:nvSpPr>
        <p:spPr>
          <a:xfrm>
            <a:off x="-29967" y="1323970"/>
            <a:ext cx="417111" cy="215444"/>
          </a:xfrm>
          <a:prstGeom prst="rect">
            <a:avLst/>
          </a:prstGeom>
          <a:noFill/>
        </p:spPr>
        <p:txBody>
          <a:bodyPr wrap="square" rtlCol="0">
            <a:spAutoFit/>
          </a:bodyPr>
          <a:lstStyle/>
          <a:p>
            <a:r>
              <a:rPr lang="tr-TR" sz="800" noProof="1">
                <a:cs typeface="Arial" panose="020B0604020202020204" pitchFamily="34" charset="0"/>
              </a:rPr>
              <a:t>14</a:t>
            </a:r>
          </a:p>
        </p:txBody>
      </p:sp>
      <p:sp>
        <p:nvSpPr>
          <p:cNvPr id="75" name="Metin kutusu 74">
            <a:extLst>
              <a:ext uri="{FF2B5EF4-FFF2-40B4-BE49-F238E27FC236}">
                <a16:creationId xmlns:a16="http://schemas.microsoft.com/office/drawing/2014/main" id="{35C1022F-132F-4AFB-8F76-6CD2453621A8}"/>
              </a:ext>
            </a:extLst>
          </p:cNvPr>
          <p:cNvSpPr txBox="1"/>
          <p:nvPr/>
        </p:nvSpPr>
        <p:spPr>
          <a:xfrm>
            <a:off x="-31278" y="971600"/>
            <a:ext cx="417111" cy="215444"/>
          </a:xfrm>
          <a:prstGeom prst="rect">
            <a:avLst/>
          </a:prstGeom>
          <a:noFill/>
        </p:spPr>
        <p:txBody>
          <a:bodyPr wrap="square" rtlCol="0">
            <a:spAutoFit/>
          </a:bodyPr>
          <a:lstStyle/>
          <a:p>
            <a:r>
              <a:rPr lang="tr-TR" sz="800" noProof="1">
                <a:cs typeface="Arial" panose="020B0604020202020204" pitchFamily="34" charset="0"/>
              </a:rPr>
              <a:t>26</a:t>
            </a:r>
          </a:p>
        </p:txBody>
      </p:sp>
      <p:sp>
        <p:nvSpPr>
          <p:cNvPr id="76" name="Metin kutusu 75">
            <a:extLst>
              <a:ext uri="{FF2B5EF4-FFF2-40B4-BE49-F238E27FC236}">
                <a16:creationId xmlns:a16="http://schemas.microsoft.com/office/drawing/2014/main" id="{00FDFDD5-8F08-4136-9024-EC2925D34B50}"/>
              </a:ext>
            </a:extLst>
          </p:cNvPr>
          <p:cNvSpPr txBox="1"/>
          <p:nvPr/>
        </p:nvSpPr>
        <p:spPr>
          <a:xfrm>
            <a:off x="-32381" y="1495421"/>
            <a:ext cx="417111" cy="338554"/>
          </a:xfrm>
          <a:prstGeom prst="rect">
            <a:avLst/>
          </a:prstGeom>
          <a:noFill/>
        </p:spPr>
        <p:txBody>
          <a:bodyPr wrap="square" rtlCol="0">
            <a:spAutoFit/>
          </a:bodyPr>
          <a:lstStyle/>
          <a:p>
            <a:r>
              <a:rPr lang="tr-TR" sz="800" noProof="1">
                <a:cs typeface="Arial" panose="020B0604020202020204" pitchFamily="34" charset="0"/>
              </a:rPr>
              <a:t>10</a:t>
            </a:r>
            <a:br>
              <a:rPr lang="tr-TR" sz="800" noProof="1">
                <a:cs typeface="Arial" panose="020B0604020202020204" pitchFamily="34" charset="0"/>
              </a:rPr>
            </a:br>
            <a:r>
              <a:rPr lang="tr-TR" sz="800" noProof="1">
                <a:cs typeface="Arial" panose="020B0604020202020204" pitchFamily="34" charset="0"/>
              </a:rPr>
              <a:t>  </a:t>
            </a:r>
          </a:p>
        </p:txBody>
      </p:sp>
      <p:cxnSp>
        <p:nvCxnSpPr>
          <p:cNvPr id="41" name="Düz Bağlayıcı 40">
            <a:extLst>
              <a:ext uri="{FF2B5EF4-FFF2-40B4-BE49-F238E27FC236}">
                <a16:creationId xmlns:a16="http://schemas.microsoft.com/office/drawing/2014/main" id="{14334ACC-626A-4EB3-8224-1D7B00A47C02}"/>
              </a:ext>
            </a:extLst>
          </p:cNvPr>
          <p:cNvCxnSpPr>
            <a:cxnSpLocks/>
          </p:cNvCxnSpPr>
          <p:nvPr/>
        </p:nvCxnSpPr>
        <p:spPr>
          <a:xfrm flipH="1">
            <a:off x="192761" y="1624045"/>
            <a:ext cx="85145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 name="Düz Bağlayıcı 76">
            <a:extLst>
              <a:ext uri="{FF2B5EF4-FFF2-40B4-BE49-F238E27FC236}">
                <a16:creationId xmlns:a16="http://schemas.microsoft.com/office/drawing/2014/main" id="{74CC6185-DACD-4E4A-80F3-E7FC570230C8}"/>
              </a:ext>
            </a:extLst>
          </p:cNvPr>
          <p:cNvCxnSpPr>
            <a:cxnSpLocks/>
            <a:stCxn id="85" idx="0"/>
          </p:cNvCxnSpPr>
          <p:nvPr/>
        </p:nvCxnSpPr>
        <p:spPr>
          <a:xfrm flipH="1" flipV="1">
            <a:off x="197514" y="1449508"/>
            <a:ext cx="1167792" cy="34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0" name="Düz Bağlayıcı 79">
            <a:extLst>
              <a:ext uri="{FF2B5EF4-FFF2-40B4-BE49-F238E27FC236}">
                <a16:creationId xmlns:a16="http://schemas.microsoft.com/office/drawing/2014/main" id="{A3A3F514-6705-46D0-B622-852ADDFB838A}"/>
              </a:ext>
            </a:extLst>
          </p:cNvPr>
          <p:cNvCxnSpPr>
            <a:cxnSpLocks/>
            <a:stCxn id="69" idx="0"/>
          </p:cNvCxnSpPr>
          <p:nvPr/>
        </p:nvCxnSpPr>
        <p:spPr>
          <a:xfrm flipH="1">
            <a:off x="199773" y="1074858"/>
            <a:ext cx="546586" cy="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8" name="Dikdörtgen 67">
            <a:extLst>
              <a:ext uri="{FF2B5EF4-FFF2-40B4-BE49-F238E27FC236}">
                <a16:creationId xmlns:a16="http://schemas.microsoft.com/office/drawing/2014/main" id="{8040D0C5-49FA-4DF6-865E-676F139C4747}"/>
              </a:ext>
            </a:extLst>
          </p:cNvPr>
          <p:cNvSpPr/>
          <p:nvPr/>
        </p:nvSpPr>
        <p:spPr>
          <a:xfrm>
            <a:off x="385328" y="1443265"/>
            <a:ext cx="160481" cy="375324"/>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69" name="Dikdörtgen 68">
            <a:extLst>
              <a:ext uri="{FF2B5EF4-FFF2-40B4-BE49-F238E27FC236}">
                <a16:creationId xmlns:a16="http://schemas.microsoft.com/office/drawing/2014/main" id="{69BC384C-9A7A-4DFA-B746-E1A66E83A39E}"/>
              </a:ext>
            </a:extLst>
          </p:cNvPr>
          <p:cNvSpPr/>
          <p:nvPr/>
        </p:nvSpPr>
        <p:spPr>
          <a:xfrm>
            <a:off x="666118" y="1074858"/>
            <a:ext cx="160481" cy="738455"/>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70" name="Dikdörtgen 69">
            <a:extLst>
              <a:ext uri="{FF2B5EF4-FFF2-40B4-BE49-F238E27FC236}">
                <a16:creationId xmlns:a16="http://schemas.microsoft.com/office/drawing/2014/main" id="{EAED657C-85CC-4E18-A20F-C065DEBD65F2}"/>
              </a:ext>
            </a:extLst>
          </p:cNvPr>
          <p:cNvSpPr/>
          <p:nvPr/>
        </p:nvSpPr>
        <p:spPr>
          <a:xfrm>
            <a:off x="965491" y="1624045"/>
            <a:ext cx="160481" cy="194544"/>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89" name="Metin kutusu 88">
            <a:extLst>
              <a:ext uri="{FF2B5EF4-FFF2-40B4-BE49-F238E27FC236}">
                <a16:creationId xmlns:a16="http://schemas.microsoft.com/office/drawing/2014/main" id="{79BA191E-8ECD-48A8-B9C8-3A65BECED273}"/>
              </a:ext>
            </a:extLst>
          </p:cNvPr>
          <p:cNvSpPr txBox="1"/>
          <p:nvPr/>
        </p:nvSpPr>
        <p:spPr>
          <a:xfrm>
            <a:off x="34552" y="7096768"/>
            <a:ext cx="3363573" cy="1631216"/>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Türkçedeki topam doğru sayısı 14 dür. 24,75 net doğru yapılması imkansızdır.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II. </a:t>
            </a:r>
            <a:r>
              <a:rPr lang="tr-TR" sz="1000" noProof="1">
                <a:cs typeface="Arial" panose="020B0604020202020204" pitchFamily="34" charset="0"/>
              </a:rPr>
              <a:t>Doğru ve yanlış sayısını toplayıp tüm soru sayısından çıkar-</a:t>
            </a:r>
            <a:br>
              <a:rPr lang="tr-TR" sz="1000" noProof="1">
                <a:cs typeface="Arial" panose="020B0604020202020204" pitchFamily="34" charset="0"/>
              </a:rPr>
            </a:br>
            <a:r>
              <a:rPr lang="tr-TR" sz="1000" noProof="1">
                <a:cs typeface="Arial" panose="020B0604020202020204" pitchFamily="34" charset="0"/>
              </a:rPr>
              <a:t>dığımızda boş sayısını buluruz.  40 – (26+12) = 2 doğrudur. </a:t>
            </a:r>
            <a:br>
              <a:rPr lang="tr-TR" sz="1000" noProof="1">
                <a:cs typeface="Arial" panose="020B0604020202020204" pitchFamily="34" charset="0"/>
              </a:rPr>
            </a:br>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Fendeki yanlış sayısının beşte biri 1 adet yapar. Bunu çıkarmamız istenmiş. Toplamda zaten 5 idi yanlış sayısı 1 eksiği 4 olacaktır ki bu öncülde sosyaldeki yanlış sayısının 4 olduğunu söylemektedir, doğrudur.</a:t>
            </a:r>
          </a:p>
        </p:txBody>
      </p:sp>
      <p:sp>
        <p:nvSpPr>
          <p:cNvPr id="107" name="Metin kutusu 106">
            <a:extLst>
              <a:ext uri="{FF2B5EF4-FFF2-40B4-BE49-F238E27FC236}">
                <a16:creationId xmlns:a16="http://schemas.microsoft.com/office/drawing/2014/main" id="{26073F23-4A45-48CC-A9C5-D0D1533F2B9B}"/>
              </a:ext>
            </a:extLst>
          </p:cNvPr>
          <p:cNvSpPr txBox="1"/>
          <p:nvPr/>
        </p:nvSpPr>
        <p:spPr>
          <a:xfrm>
            <a:off x="3489894" y="2833013"/>
            <a:ext cx="3460901" cy="1785104"/>
          </a:xfrm>
          <a:prstGeom prst="rect">
            <a:avLst/>
          </a:prstGeom>
          <a:noFill/>
        </p:spPr>
        <p:txBody>
          <a:bodyPr wrap="square" rtlCol="0">
            <a:spAutoFit/>
          </a:bodyPr>
          <a:lstStyle/>
          <a:p>
            <a:r>
              <a:rPr lang="tr-TR" sz="1000" b="1" noProof="1">
                <a:cs typeface="Arial" panose="020B0604020202020204" pitchFamily="34" charset="0"/>
              </a:rPr>
              <a:t>Yukarıda 2019 yılında tespit edilen güvenlik açığı sayıları bir derginin kaynağına göre grafiğe belirtilmiştir. Buna göre, </a:t>
            </a:r>
          </a:p>
          <a:p>
            <a:endParaRPr lang="tr-TR" sz="1000" noProof="1">
              <a:cs typeface="Arial" panose="020B0604020202020204" pitchFamily="34" charset="0"/>
            </a:endParaRPr>
          </a:p>
          <a:p>
            <a:r>
              <a:rPr lang="tr-TR" sz="1000" noProof="1">
                <a:cs typeface="Arial" panose="020B0604020202020204" pitchFamily="34" charset="0"/>
              </a:rPr>
              <a:t>I.  Android te 400 den fazla açık tespit edilmiştir. </a:t>
            </a:r>
          </a:p>
          <a:p>
            <a:r>
              <a:rPr lang="tr-TR" sz="1000" noProof="1">
                <a:cs typeface="Arial" panose="020B0604020202020204" pitchFamily="34" charset="0"/>
              </a:rPr>
              <a:t>II. Windows 10, Windows 7`ye göre güvenlik açıkları sayısını azaltmıştır.</a:t>
            </a:r>
          </a:p>
          <a:p>
            <a:r>
              <a:rPr lang="tr-TR" sz="1000" noProof="1">
                <a:cs typeface="Arial" panose="020B0604020202020204" pitchFamily="34" charset="0"/>
              </a:rPr>
              <a:t>III. Adobe 2 veride de yakın sayıda açık tespiti yapılmıştır.</a:t>
            </a:r>
          </a:p>
          <a:p>
            <a:r>
              <a:rPr lang="tr-TR" sz="1000" noProof="1">
                <a:cs typeface="Arial" panose="020B0604020202020204" pitchFamily="34" charset="0"/>
              </a:rPr>
              <a:t>IV. Debian Linux da 360 adet güvenlik açığı tespit edilmiş ve tamamı giderilmiştir.</a:t>
            </a:r>
          </a:p>
          <a:p>
            <a:endParaRPr lang="tr-TR" sz="1000" noProof="1">
              <a:cs typeface="Arial" panose="020B0604020202020204" pitchFamily="34" charset="0"/>
            </a:endParaRPr>
          </a:p>
          <a:p>
            <a:r>
              <a:rPr lang="tr-TR" sz="1000" b="1" noProof="1">
                <a:cs typeface="Arial" panose="020B0604020202020204" pitchFamily="34" charset="0"/>
              </a:rPr>
              <a:t>hangileri sadece grafiğe bakılarak yorumlanabilir?</a:t>
            </a:r>
          </a:p>
        </p:txBody>
      </p:sp>
      <p:sp>
        <p:nvSpPr>
          <p:cNvPr id="108" name="Metin kutusu 107">
            <a:extLst>
              <a:ext uri="{FF2B5EF4-FFF2-40B4-BE49-F238E27FC236}">
                <a16:creationId xmlns:a16="http://schemas.microsoft.com/office/drawing/2014/main" id="{A0E60597-8CBA-4643-B0AB-155E1F8AF936}"/>
              </a:ext>
            </a:extLst>
          </p:cNvPr>
          <p:cNvSpPr txBox="1"/>
          <p:nvPr/>
        </p:nvSpPr>
        <p:spPr>
          <a:xfrm>
            <a:off x="3453046" y="6995617"/>
            <a:ext cx="3344169" cy="1631216"/>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Andorid verisine baktığımızda 400 ün hafif üstünde kaldığını görebilmekteyiz. Net sayı 414 açık tespitidir.</a:t>
            </a:r>
            <a:br>
              <a:rPr lang="tr-TR" sz="1000" noProof="1">
                <a:cs typeface="Arial" panose="020B0604020202020204" pitchFamily="34" charset="0"/>
              </a:rPr>
            </a:br>
            <a:endParaRPr lang="tr-TR" sz="1000" b="1"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Windows 10 da daha az güvenlik açığı tespit edilmiştir. Windows 7`ye nazaran azaldığını söyleyebiliriz. </a:t>
            </a:r>
            <a:br>
              <a:rPr lang="tr-TR" sz="1000" noProof="1">
                <a:cs typeface="Arial" panose="020B0604020202020204" pitchFamily="34" charset="0"/>
              </a:rPr>
            </a:br>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Adobe her iki veride de aynı sayıda açık tespiti yapılmıştır.</a:t>
            </a:r>
          </a:p>
          <a:p>
            <a:endParaRPr lang="tr-TR" sz="1000" noProof="1">
              <a:cs typeface="Arial" panose="020B0604020202020204" pitchFamily="34" charset="0"/>
            </a:endParaRPr>
          </a:p>
          <a:p>
            <a:r>
              <a:rPr lang="tr-TR" sz="1000" noProof="1">
                <a:cs typeface="Arial" panose="020B0604020202020204" pitchFamily="34" charset="0"/>
              </a:rPr>
              <a:t>IV. 360 adet güvenlik açığı olduğu doğrudur fakat grafikten açığın giderildiği çıkarılamaz. </a:t>
            </a:r>
            <a:endParaRPr lang="tr-TR" sz="800" noProof="1">
              <a:cs typeface="Arial" panose="020B0604020202020204" pitchFamily="34" charset="0"/>
            </a:endParaRPr>
          </a:p>
        </p:txBody>
      </p:sp>
      <p:sp>
        <p:nvSpPr>
          <p:cNvPr id="85" name="Dikdörtgen 84">
            <a:extLst>
              <a:ext uri="{FF2B5EF4-FFF2-40B4-BE49-F238E27FC236}">
                <a16:creationId xmlns:a16="http://schemas.microsoft.com/office/drawing/2014/main" id="{83EF1C03-151B-44CA-AD75-63D05E93D186}"/>
              </a:ext>
            </a:extLst>
          </p:cNvPr>
          <p:cNvSpPr/>
          <p:nvPr/>
        </p:nvSpPr>
        <p:spPr>
          <a:xfrm>
            <a:off x="1285065" y="1449854"/>
            <a:ext cx="160481" cy="368736"/>
          </a:xfrm>
          <a:prstGeom prst="rect">
            <a:avLst/>
          </a:prstGeom>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88" name="Metin kutusu 87">
            <a:extLst>
              <a:ext uri="{FF2B5EF4-FFF2-40B4-BE49-F238E27FC236}">
                <a16:creationId xmlns:a16="http://schemas.microsoft.com/office/drawing/2014/main" id="{AA8770DE-41F2-4EA8-B82B-F82BBB5B4C94}"/>
              </a:ext>
            </a:extLst>
          </p:cNvPr>
          <p:cNvSpPr txBox="1"/>
          <p:nvPr/>
        </p:nvSpPr>
        <p:spPr>
          <a:xfrm>
            <a:off x="127237" y="2048037"/>
            <a:ext cx="1381667" cy="215444"/>
          </a:xfrm>
          <a:prstGeom prst="rect">
            <a:avLst/>
          </a:prstGeom>
          <a:noFill/>
        </p:spPr>
        <p:txBody>
          <a:bodyPr wrap="square" rtlCol="0">
            <a:spAutoFit/>
          </a:bodyPr>
          <a:lstStyle/>
          <a:p>
            <a:r>
              <a:rPr lang="tr-TR" sz="800" noProof="1">
                <a:cs typeface="Arial" panose="020B0604020202020204" pitchFamily="34" charset="0"/>
              </a:rPr>
              <a:t>Yanlış Sayısı (adet)</a:t>
            </a:r>
          </a:p>
        </p:txBody>
      </p:sp>
      <p:cxnSp>
        <p:nvCxnSpPr>
          <p:cNvPr id="96" name="Düz Ok Bağlayıcısı 95">
            <a:extLst>
              <a:ext uri="{FF2B5EF4-FFF2-40B4-BE49-F238E27FC236}">
                <a16:creationId xmlns:a16="http://schemas.microsoft.com/office/drawing/2014/main" id="{6EED1FCC-9D62-48FF-AE32-59AE28319631}"/>
              </a:ext>
            </a:extLst>
          </p:cNvPr>
          <p:cNvCxnSpPr>
            <a:cxnSpLocks/>
          </p:cNvCxnSpPr>
          <p:nvPr/>
        </p:nvCxnSpPr>
        <p:spPr>
          <a:xfrm flipV="1">
            <a:off x="257511" y="2221910"/>
            <a:ext cx="0" cy="1035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Düz Ok Bağlayıcısı 96">
            <a:extLst>
              <a:ext uri="{FF2B5EF4-FFF2-40B4-BE49-F238E27FC236}">
                <a16:creationId xmlns:a16="http://schemas.microsoft.com/office/drawing/2014/main" id="{A6FB4D3A-6BA3-46F3-8E52-2E09452FAF9A}"/>
              </a:ext>
            </a:extLst>
          </p:cNvPr>
          <p:cNvCxnSpPr>
            <a:cxnSpLocks/>
          </p:cNvCxnSpPr>
          <p:nvPr/>
        </p:nvCxnSpPr>
        <p:spPr>
          <a:xfrm>
            <a:off x="113495" y="3086006"/>
            <a:ext cx="16271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8" name="Metin kutusu 97">
            <a:extLst>
              <a:ext uri="{FF2B5EF4-FFF2-40B4-BE49-F238E27FC236}">
                <a16:creationId xmlns:a16="http://schemas.microsoft.com/office/drawing/2014/main" id="{CB0F8958-EBCF-4199-ADBD-C0A4A6AC58C4}"/>
              </a:ext>
            </a:extLst>
          </p:cNvPr>
          <p:cNvSpPr txBox="1"/>
          <p:nvPr/>
        </p:nvSpPr>
        <p:spPr>
          <a:xfrm>
            <a:off x="1700997" y="2958248"/>
            <a:ext cx="1186277" cy="246221"/>
          </a:xfrm>
          <a:prstGeom prst="rect">
            <a:avLst/>
          </a:prstGeom>
          <a:noFill/>
        </p:spPr>
        <p:txBody>
          <a:bodyPr wrap="square" rtlCol="0">
            <a:spAutoFit/>
          </a:bodyPr>
          <a:lstStyle/>
          <a:p>
            <a:r>
              <a:rPr lang="tr-TR" sz="1000" noProof="1">
                <a:cs typeface="Arial" panose="020B0604020202020204" pitchFamily="34" charset="0"/>
              </a:rPr>
              <a:t>Branşlar</a:t>
            </a:r>
          </a:p>
        </p:txBody>
      </p:sp>
      <p:sp>
        <p:nvSpPr>
          <p:cNvPr id="100" name="Metin kutusu 99">
            <a:extLst>
              <a:ext uri="{FF2B5EF4-FFF2-40B4-BE49-F238E27FC236}">
                <a16:creationId xmlns:a16="http://schemas.microsoft.com/office/drawing/2014/main" id="{67F12450-07C7-4214-9599-CD7FF069E319}"/>
              </a:ext>
            </a:extLst>
          </p:cNvPr>
          <p:cNvSpPr txBox="1"/>
          <p:nvPr/>
        </p:nvSpPr>
        <p:spPr>
          <a:xfrm>
            <a:off x="230488" y="3057782"/>
            <a:ext cx="1381666" cy="215444"/>
          </a:xfrm>
          <a:prstGeom prst="rect">
            <a:avLst/>
          </a:prstGeom>
          <a:noFill/>
        </p:spPr>
        <p:txBody>
          <a:bodyPr wrap="square" rtlCol="0">
            <a:spAutoFit/>
          </a:bodyPr>
          <a:lstStyle/>
          <a:p>
            <a:r>
              <a:rPr lang="tr-TR" sz="800" noProof="1">
                <a:cs typeface="Arial" panose="020B0604020202020204" pitchFamily="34" charset="0"/>
              </a:rPr>
              <a:t>Türkçe    Mat.     Sosyal    Fen</a:t>
            </a:r>
          </a:p>
        </p:txBody>
      </p:sp>
      <p:sp>
        <p:nvSpPr>
          <p:cNvPr id="102" name="Metin kutusu 101">
            <a:extLst>
              <a:ext uri="{FF2B5EF4-FFF2-40B4-BE49-F238E27FC236}">
                <a16:creationId xmlns:a16="http://schemas.microsoft.com/office/drawing/2014/main" id="{2DFE9745-67CD-4081-A62C-A8FC75213920}"/>
              </a:ext>
            </a:extLst>
          </p:cNvPr>
          <p:cNvSpPr txBox="1"/>
          <p:nvPr/>
        </p:nvSpPr>
        <p:spPr>
          <a:xfrm>
            <a:off x="8276" y="2593802"/>
            <a:ext cx="417111" cy="215444"/>
          </a:xfrm>
          <a:prstGeom prst="rect">
            <a:avLst/>
          </a:prstGeom>
          <a:noFill/>
        </p:spPr>
        <p:txBody>
          <a:bodyPr wrap="square" rtlCol="0">
            <a:spAutoFit/>
          </a:bodyPr>
          <a:lstStyle/>
          <a:p>
            <a:r>
              <a:rPr lang="tr-TR" sz="800" noProof="1">
                <a:cs typeface="Arial" panose="020B0604020202020204" pitchFamily="34" charset="0"/>
              </a:rPr>
              <a:t> 5</a:t>
            </a:r>
          </a:p>
        </p:txBody>
      </p:sp>
      <p:sp>
        <p:nvSpPr>
          <p:cNvPr id="104" name="Metin kutusu 103">
            <a:extLst>
              <a:ext uri="{FF2B5EF4-FFF2-40B4-BE49-F238E27FC236}">
                <a16:creationId xmlns:a16="http://schemas.microsoft.com/office/drawing/2014/main" id="{A7222BDF-A1A6-456E-AECE-260B20A19B95}"/>
              </a:ext>
            </a:extLst>
          </p:cNvPr>
          <p:cNvSpPr txBox="1"/>
          <p:nvPr/>
        </p:nvSpPr>
        <p:spPr>
          <a:xfrm>
            <a:off x="-6917" y="2243809"/>
            <a:ext cx="417111" cy="215444"/>
          </a:xfrm>
          <a:prstGeom prst="rect">
            <a:avLst/>
          </a:prstGeom>
          <a:noFill/>
        </p:spPr>
        <p:txBody>
          <a:bodyPr wrap="square" rtlCol="0">
            <a:spAutoFit/>
          </a:bodyPr>
          <a:lstStyle/>
          <a:p>
            <a:r>
              <a:rPr lang="tr-TR" sz="800" noProof="1">
                <a:cs typeface="Arial" panose="020B0604020202020204" pitchFamily="34" charset="0"/>
              </a:rPr>
              <a:t>12</a:t>
            </a:r>
          </a:p>
        </p:txBody>
      </p:sp>
      <p:sp>
        <p:nvSpPr>
          <p:cNvPr id="106" name="Metin kutusu 105">
            <a:extLst>
              <a:ext uri="{FF2B5EF4-FFF2-40B4-BE49-F238E27FC236}">
                <a16:creationId xmlns:a16="http://schemas.microsoft.com/office/drawing/2014/main" id="{7FDCC014-A011-4EF7-836D-53DBB071DAF1}"/>
              </a:ext>
            </a:extLst>
          </p:cNvPr>
          <p:cNvSpPr txBox="1"/>
          <p:nvPr/>
        </p:nvSpPr>
        <p:spPr>
          <a:xfrm>
            <a:off x="27617" y="2763467"/>
            <a:ext cx="417111" cy="338554"/>
          </a:xfrm>
          <a:prstGeom prst="rect">
            <a:avLst/>
          </a:prstGeom>
          <a:noFill/>
        </p:spPr>
        <p:txBody>
          <a:bodyPr wrap="square" rtlCol="0">
            <a:spAutoFit/>
          </a:bodyPr>
          <a:lstStyle/>
          <a:p>
            <a:r>
              <a:rPr lang="tr-TR" sz="800" noProof="1">
                <a:cs typeface="Arial" panose="020B0604020202020204" pitchFamily="34" charset="0"/>
              </a:rPr>
              <a:t>4</a:t>
            </a:r>
            <a:br>
              <a:rPr lang="tr-TR" sz="800" noProof="1">
                <a:cs typeface="Arial" panose="020B0604020202020204" pitchFamily="34" charset="0"/>
              </a:rPr>
            </a:br>
            <a:r>
              <a:rPr lang="tr-TR" sz="800" noProof="1">
                <a:cs typeface="Arial" panose="020B0604020202020204" pitchFamily="34" charset="0"/>
              </a:rPr>
              <a:t>  </a:t>
            </a:r>
          </a:p>
        </p:txBody>
      </p:sp>
      <p:cxnSp>
        <p:nvCxnSpPr>
          <p:cNvPr id="109" name="Düz Bağlayıcı 108">
            <a:extLst>
              <a:ext uri="{FF2B5EF4-FFF2-40B4-BE49-F238E27FC236}">
                <a16:creationId xmlns:a16="http://schemas.microsoft.com/office/drawing/2014/main" id="{472C045A-6816-444B-A24E-839554BE8338}"/>
              </a:ext>
            </a:extLst>
          </p:cNvPr>
          <p:cNvCxnSpPr>
            <a:cxnSpLocks/>
          </p:cNvCxnSpPr>
          <p:nvPr/>
        </p:nvCxnSpPr>
        <p:spPr>
          <a:xfrm flipH="1">
            <a:off x="252759" y="2892091"/>
            <a:ext cx="85145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0" name="Düz Bağlayıcı 109">
            <a:extLst>
              <a:ext uri="{FF2B5EF4-FFF2-40B4-BE49-F238E27FC236}">
                <a16:creationId xmlns:a16="http://schemas.microsoft.com/office/drawing/2014/main" id="{9C8FB820-5027-4342-B0AE-1A3031A8B0A9}"/>
              </a:ext>
            </a:extLst>
          </p:cNvPr>
          <p:cNvCxnSpPr>
            <a:cxnSpLocks/>
            <a:stCxn id="115" idx="0"/>
          </p:cNvCxnSpPr>
          <p:nvPr/>
        </p:nvCxnSpPr>
        <p:spPr>
          <a:xfrm flipH="1" flipV="1">
            <a:off x="257512" y="2717554"/>
            <a:ext cx="1167792" cy="34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1" name="Düz Bağlayıcı 110">
            <a:extLst>
              <a:ext uri="{FF2B5EF4-FFF2-40B4-BE49-F238E27FC236}">
                <a16:creationId xmlns:a16="http://schemas.microsoft.com/office/drawing/2014/main" id="{FAB43921-063A-41EF-BDE2-6A2836491463}"/>
              </a:ext>
            </a:extLst>
          </p:cNvPr>
          <p:cNvCxnSpPr>
            <a:cxnSpLocks/>
            <a:stCxn id="113" idx="0"/>
          </p:cNvCxnSpPr>
          <p:nvPr/>
        </p:nvCxnSpPr>
        <p:spPr>
          <a:xfrm flipH="1">
            <a:off x="251887" y="2348880"/>
            <a:ext cx="546586" cy="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2" name="Dikdörtgen 111">
            <a:extLst>
              <a:ext uri="{FF2B5EF4-FFF2-40B4-BE49-F238E27FC236}">
                <a16:creationId xmlns:a16="http://schemas.microsoft.com/office/drawing/2014/main" id="{34096AE2-9533-45D0-AB9D-E0996C046FCD}"/>
              </a:ext>
            </a:extLst>
          </p:cNvPr>
          <p:cNvSpPr/>
          <p:nvPr/>
        </p:nvSpPr>
        <p:spPr>
          <a:xfrm>
            <a:off x="445326" y="2711311"/>
            <a:ext cx="160481" cy="3753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113" name="Dikdörtgen 112">
            <a:extLst>
              <a:ext uri="{FF2B5EF4-FFF2-40B4-BE49-F238E27FC236}">
                <a16:creationId xmlns:a16="http://schemas.microsoft.com/office/drawing/2014/main" id="{BFDECD04-542A-47C1-B04B-8DBC41E8E52B}"/>
              </a:ext>
            </a:extLst>
          </p:cNvPr>
          <p:cNvSpPr/>
          <p:nvPr/>
        </p:nvSpPr>
        <p:spPr>
          <a:xfrm>
            <a:off x="718232" y="2348880"/>
            <a:ext cx="160481" cy="7384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114" name="Dikdörtgen 113">
            <a:extLst>
              <a:ext uri="{FF2B5EF4-FFF2-40B4-BE49-F238E27FC236}">
                <a16:creationId xmlns:a16="http://schemas.microsoft.com/office/drawing/2014/main" id="{702C5546-C5C8-4C99-917B-E79C46A7B029}"/>
              </a:ext>
            </a:extLst>
          </p:cNvPr>
          <p:cNvSpPr/>
          <p:nvPr/>
        </p:nvSpPr>
        <p:spPr>
          <a:xfrm>
            <a:off x="1025489" y="2892091"/>
            <a:ext cx="160481" cy="19454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115" name="Dikdörtgen 114">
            <a:extLst>
              <a:ext uri="{FF2B5EF4-FFF2-40B4-BE49-F238E27FC236}">
                <a16:creationId xmlns:a16="http://schemas.microsoft.com/office/drawing/2014/main" id="{AEEF89FC-AD4D-49DB-A081-31D5C45560A7}"/>
              </a:ext>
            </a:extLst>
          </p:cNvPr>
          <p:cNvSpPr/>
          <p:nvPr/>
        </p:nvSpPr>
        <p:spPr>
          <a:xfrm>
            <a:off x="1345063" y="2717900"/>
            <a:ext cx="160481" cy="368736"/>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tr-TR"/>
          </a:p>
        </p:txBody>
      </p:sp>
      <p:sp>
        <p:nvSpPr>
          <p:cNvPr id="116" name="Metin kutusu 115">
            <a:extLst>
              <a:ext uri="{FF2B5EF4-FFF2-40B4-BE49-F238E27FC236}">
                <a16:creationId xmlns:a16="http://schemas.microsoft.com/office/drawing/2014/main" id="{ADA92B16-E6FB-44B4-8C6A-29EF22696197}"/>
              </a:ext>
            </a:extLst>
          </p:cNvPr>
          <p:cNvSpPr txBox="1"/>
          <p:nvPr/>
        </p:nvSpPr>
        <p:spPr>
          <a:xfrm>
            <a:off x="1516267" y="889308"/>
            <a:ext cx="1706722" cy="46166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noProof="1">
                <a:cs typeface="Arial" panose="020B0604020202020204" pitchFamily="34" charset="0"/>
              </a:rPr>
              <a:t>Sınavda 40 matematik ve türkçe, </a:t>
            </a:r>
            <a:br>
              <a:rPr lang="tr-TR" sz="800" noProof="1">
                <a:cs typeface="Arial" panose="020B0604020202020204" pitchFamily="34" charset="0"/>
              </a:rPr>
            </a:br>
            <a:r>
              <a:rPr lang="tr-TR" sz="800" noProof="1">
                <a:cs typeface="Arial" panose="020B0604020202020204" pitchFamily="34" charset="0"/>
              </a:rPr>
              <a:t>20 adet sosyal ve fen sorusu sorulmuştur.</a:t>
            </a:r>
          </a:p>
        </p:txBody>
      </p:sp>
      <p:sp>
        <p:nvSpPr>
          <p:cNvPr id="117" name="Metin kutusu 116">
            <a:extLst>
              <a:ext uri="{FF2B5EF4-FFF2-40B4-BE49-F238E27FC236}">
                <a16:creationId xmlns:a16="http://schemas.microsoft.com/office/drawing/2014/main" id="{55A6DBC4-893D-4F22-B51C-1E2C649FEE72}"/>
              </a:ext>
            </a:extLst>
          </p:cNvPr>
          <p:cNvSpPr txBox="1"/>
          <p:nvPr/>
        </p:nvSpPr>
        <p:spPr>
          <a:xfrm>
            <a:off x="1486283" y="2093200"/>
            <a:ext cx="1736706" cy="46166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noProof="1">
                <a:solidFill>
                  <a:schemeClr val="tx1"/>
                </a:solidFill>
                <a:cs typeface="Arial" panose="020B0604020202020204" pitchFamily="34" charset="0"/>
              </a:rPr>
              <a:t>Bir branşta yapılan 4 yanlış ilgili branştaki 4 doğruyu götürmektedir.  Kalan doğru sayısına net denir.</a:t>
            </a:r>
          </a:p>
        </p:txBody>
      </p:sp>
      <p:graphicFrame>
        <p:nvGraphicFramePr>
          <p:cNvPr id="8" name="Grafik 7">
            <a:extLst>
              <a:ext uri="{FF2B5EF4-FFF2-40B4-BE49-F238E27FC236}">
                <a16:creationId xmlns:a16="http://schemas.microsoft.com/office/drawing/2014/main" id="{2472372A-BF16-4B3E-A8FD-5499C0D07A6D}"/>
              </a:ext>
            </a:extLst>
          </p:cNvPr>
          <p:cNvGraphicFramePr/>
          <p:nvPr>
            <p:extLst>
              <p:ext uri="{D42A27DB-BD31-4B8C-83A1-F6EECF244321}">
                <p14:modId xmlns:p14="http://schemas.microsoft.com/office/powerpoint/2010/main" val="2812660656"/>
              </p:ext>
            </p:extLst>
          </p:nvPr>
        </p:nvGraphicFramePr>
        <p:xfrm>
          <a:off x="3550987" y="769076"/>
          <a:ext cx="2836825" cy="214587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717592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Yaş Problemleri</a:t>
            </a:r>
          </a:p>
          <a:p>
            <a:pPr marL="171450" indent="-171450">
              <a:buFont typeface="Wingdings" panose="05000000000000000000" pitchFamily="2" charset="2"/>
              <a:buChar char="Ø"/>
            </a:pPr>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128" y="5143524"/>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0" y="506360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08227" y="208766"/>
            <a:ext cx="1523698"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400110"/>
          </a:xfrm>
          <a:prstGeom prst="rect">
            <a:avLst/>
          </a:prstGeom>
          <a:noFill/>
        </p:spPr>
        <p:txBody>
          <a:bodyPr wrap="square" rtlCol="0">
            <a:spAutoFit/>
          </a:bodyPr>
          <a:lstStyle/>
          <a:p>
            <a:r>
              <a:rPr lang="tr-TR" sz="1000" noProof="1">
                <a:cs typeface="Arial" panose="020B0604020202020204" pitchFamily="34" charset="0"/>
              </a:rPr>
              <a:t>Şimdiki yaşı 6 olan Yunus`un abisinin Yunus`un yaşına oranı 3/7 dir. Bu oranın 3/4 olması için kaç yıl geçmelidir?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0437" y="3220263"/>
            <a:ext cx="3372745" cy="861774"/>
          </a:xfrm>
          <a:prstGeom prst="rect">
            <a:avLst/>
          </a:prstGeom>
          <a:noFill/>
        </p:spPr>
        <p:txBody>
          <a:bodyPr wrap="square" rtlCol="0">
            <a:spAutoFit/>
          </a:bodyPr>
          <a:lstStyle/>
          <a:p>
            <a:r>
              <a:rPr lang="tr-TR" sz="1000" noProof="1">
                <a:cs typeface="Arial" panose="020B0604020202020204" pitchFamily="34" charset="0"/>
              </a:rPr>
              <a:t>Mustafa cep telefonundan asistan uygulamasından kardeşinin ve kendinin yaşları hakkında bilgi almıştır. </a:t>
            </a:r>
          </a:p>
          <a:p>
            <a:endParaRPr lang="tr-TR" sz="1000" noProof="1">
              <a:cs typeface="Arial" panose="020B0604020202020204" pitchFamily="34" charset="0"/>
            </a:endParaRPr>
          </a:p>
          <a:p>
            <a:r>
              <a:rPr lang="tr-TR" sz="1000" b="1" noProof="1">
                <a:cs typeface="Arial" panose="020B0604020202020204" pitchFamily="34" charset="0"/>
              </a:rPr>
              <a:t>Konuşmanın yaşandığı zamanki yaşlar toplamı asistanın konuşmasına göre kaçtır?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21067" y="8819360"/>
            <a:ext cx="1394345"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1.B    2.C    3.C    4.B</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146160" y="5174302"/>
            <a:ext cx="3359093" cy="861774"/>
          </a:xfrm>
          <a:prstGeom prst="rect">
            <a:avLst/>
          </a:prstGeom>
          <a:noFill/>
        </p:spPr>
        <p:txBody>
          <a:bodyPr wrap="square" rtlCol="0">
            <a:spAutoFit/>
          </a:bodyPr>
          <a:lstStyle/>
          <a:p>
            <a:r>
              <a:rPr lang="tr-TR" sz="1000" noProof="1">
                <a:cs typeface="Arial" panose="020B0604020202020204" pitchFamily="34" charset="0"/>
              </a:rPr>
              <a:t>İki kardeşin sırasıyla yaşları sırasıyla 4 ve 5 ile doğru orantılıdır. Bir süre sonra yaşları sırasıyla 8 ve 9 ile doğru orantılı olmuştur. </a:t>
            </a:r>
          </a:p>
          <a:p>
            <a:endParaRPr lang="tr-TR" sz="1000" noProof="1">
              <a:cs typeface="Arial" panose="020B0604020202020204" pitchFamily="34" charset="0"/>
            </a:endParaRPr>
          </a:p>
          <a:p>
            <a:r>
              <a:rPr lang="tr-TR" sz="1000" b="1" noProof="1">
                <a:cs typeface="Arial" panose="020B0604020202020204" pitchFamily="34" charset="0"/>
              </a:rPr>
              <a:t>Buna göre bu kardeşlerin yaşları toplamı en az kaç olabilir?</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51634" y="5076987"/>
            <a:ext cx="3278526" cy="1323439"/>
          </a:xfrm>
          <a:prstGeom prst="rect">
            <a:avLst/>
          </a:prstGeom>
          <a:noFill/>
        </p:spPr>
        <p:txBody>
          <a:bodyPr wrap="square" rtlCol="0">
            <a:spAutoFit/>
          </a:bodyPr>
          <a:lstStyle/>
          <a:p>
            <a:r>
              <a:rPr lang="tr-TR" sz="1000" noProof="1">
                <a:cs typeface="Arial" panose="020B0604020202020204" pitchFamily="34" charset="0"/>
              </a:rPr>
              <a:t>Yaşları şimdi 3 ve 5 ile doğru orantılı olan kişi kişinin x yıl sonraki yaşları oransıtı sırasıyla a ve b dir. </a:t>
            </a:r>
            <a:r>
              <a:rPr lang="tr-TR" sz="1000" b="1" noProof="1">
                <a:cs typeface="Arial" panose="020B0604020202020204" pitchFamily="34" charset="0"/>
              </a:rPr>
              <a:t>Buna göre,</a:t>
            </a:r>
          </a:p>
          <a:p>
            <a:endParaRPr lang="tr-TR" sz="1000" b="1" noProof="1">
              <a:cs typeface="Arial" panose="020B0604020202020204" pitchFamily="34" charset="0"/>
            </a:endParaRPr>
          </a:p>
          <a:p>
            <a:r>
              <a:rPr lang="tr-TR" sz="1000" i="1" noProof="1">
                <a:cs typeface="Arial" panose="020B0604020202020204" pitchFamily="34" charset="0"/>
              </a:rPr>
              <a:t> </a:t>
            </a:r>
            <a:r>
              <a:rPr lang="tr-TR" sz="1000" noProof="1">
                <a:cs typeface="Arial" panose="020B0604020202020204" pitchFamily="34" charset="0"/>
              </a:rPr>
              <a:t>I. a ve b giderek büyürler ve birbirlerine daha yaklaşırlar.</a:t>
            </a:r>
          </a:p>
          <a:p>
            <a:r>
              <a:rPr lang="tr-TR" sz="1000" noProof="1">
                <a:cs typeface="Arial" panose="020B0604020202020204" pitchFamily="34" charset="0"/>
              </a:rPr>
              <a:t> II. a+b nin alabileceği en küçük değeri 10 dur.</a:t>
            </a:r>
          </a:p>
          <a:p>
            <a:r>
              <a:rPr lang="tr-TR" sz="1000" noProof="1">
                <a:cs typeface="Arial" panose="020B0604020202020204" pitchFamily="34" charset="0"/>
              </a:rPr>
              <a:t>III. Birdaha 3 ve 5 ile doğru orantılı olamazlar.</a:t>
            </a:r>
          </a:p>
          <a:p>
            <a:endParaRPr lang="tr-TR" sz="1000" noProof="1">
              <a:cs typeface="Arial" panose="020B0604020202020204" pitchFamily="34" charset="0"/>
            </a:endParaRPr>
          </a:p>
          <a:p>
            <a:r>
              <a:rPr lang="tr-TR" sz="1000" b="1" noProof="1">
                <a:cs typeface="Arial" panose="020B0604020202020204" pitchFamily="34" charset="0"/>
              </a:rPr>
              <a:t>yargılarından hangileri doğrudur? </a:t>
            </a:r>
            <a:r>
              <a:rPr lang="tr-TR" sz="1000" noProof="1">
                <a:cs typeface="Arial" panose="020B0604020202020204" pitchFamily="34" charset="0"/>
              </a:rPr>
              <a:t>(x pozitif tam sayıdır.)</a:t>
            </a:r>
          </a:p>
        </p:txBody>
      </p:sp>
      <p:pic>
        <p:nvPicPr>
          <p:cNvPr id="36" name="Grafik 35">
            <a:extLst>
              <a:ext uri="{FF2B5EF4-FFF2-40B4-BE49-F238E27FC236}">
                <a16:creationId xmlns:a16="http://schemas.microsoft.com/office/drawing/2014/main" id="{83D1573E-2AA3-4174-AD59-62EE321090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
        <p:nvSpPr>
          <p:cNvPr id="37" name="Metin kutusu 36">
            <a:extLst>
              <a:ext uri="{FF2B5EF4-FFF2-40B4-BE49-F238E27FC236}">
                <a16:creationId xmlns:a16="http://schemas.microsoft.com/office/drawing/2014/main" id="{98030E5B-F06D-4A3A-B19B-6CF4CCF06F04}"/>
              </a:ext>
            </a:extLst>
          </p:cNvPr>
          <p:cNvSpPr txBox="1"/>
          <p:nvPr/>
        </p:nvSpPr>
        <p:spPr>
          <a:xfrm>
            <a:off x="88039" y="872815"/>
            <a:ext cx="3435975" cy="246221"/>
          </a:xfrm>
          <a:prstGeom prst="rect">
            <a:avLst/>
          </a:prstGeom>
          <a:noFill/>
        </p:spPr>
        <p:txBody>
          <a:bodyPr wrap="square" rtlCol="0">
            <a:spAutoFit/>
          </a:bodyPr>
          <a:lstStyle/>
          <a:p>
            <a:r>
              <a:rPr lang="tr-TR" sz="1000" noProof="1"/>
              <a:t>A) 12                 B) 15             C) 18                  D) 21             E) 24                        </a:t>
            </a:r>
          </a:p>
        </p:txBody>
      </p:sp>
      <p:sp>
        <p:nvSpPr>
          <p:cNvPr id="38" name="Metin kutusu 37">
            <a:extLst>
              <a:ext uri="{FF2B5EF4-FFF2-40B4-BE49-F238E27FC236}">
                <a16:creationId xmlns:a16="http://schemas.microsoft.com/office/drawing/2014/main" id="{E0C82F6F-0FEA-4114-86D4-E871842DA321}"/>
              </a:ext>
            </a:extLst>
          </p:cNvPr>
          <p:cNvSpPr txBox="1"/>
          <p:nvPr/>
        </p:nvSpPr>
        <p:spPr>
          <a:xfrm>
            <a:off x="97680" y="5988406"/>
            <a:ext cx="3435975" cy="246221"/>
          </a:xfrm>
          <a:prstGeom prst="rect">
            <a:avLst/>
          </a:prstGeom>
          <a:noFill/>
        </p:spPr>
        <p:txBody>
          <a:bodyPr wrap="square" rtlCol="0">
            <a:spAutoFit/>
          </a:bodyPr>
          <a:lstStyle/>
          <a:p>
            <a:r>
              <a:rPr lang="tr-TR" sz="1000" noProof="1"/>
              <a:t>A) 6                 B) 8                C) 9                  D) 10                E) 12                         </a:t>
            </a:r>
          </a:p>
        </p:txBody>
      </p:sp>
      <p:sp>
        <p:nvSpPr>
          <p:cNvPr id="39" name="Dikdörtgen 38">
            <a:extLst>
              <a:ext uri="{FF2B5EF4-FFF2-40B4-BE49-F238E27FC236}">
                <a16:creationId xmlns:a16="http://schemas.microsoft.com/office/drawing/2014/main" id="{9A177A32-712F-47B0-BB04-35970BBA530F}"/>
              </a:ext>
            </a:extLst>
          </p:cNvPr>
          <p:cNvSpPr/>
          <p:nvPr/>
        </p:nvSpPr>
        <p:spPr>
          <a:xfrm>
            <a:off x="3853163" y="1329896"/>
            <a:ext cx="2384147" cy="1453659"/>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0" name="Metin kutusu 39">
            <a:extLst>
              <a:ext uri="{FF2B5EF4-FFF2-40B4-BE49-F238E27FC236}">
                <a16:creationId xmlns:a16="http://schemas.microsoft.com/office/drawing/2014/main" id="{1DA31F69-2E25-46EB-932B-85D4C74B088E}"/>
              </a:ext>
            </a:extLst>
          </p:cNvPr>
          <p:cNvSpPr txBox="1"/>
          <p:nvPr/>
        </p:nvSpPr>
        <p:spPr>
          <a:xfrm>
            <a:off x="3929302" y="1346347"/>
            <a:ext cx="2303460" cy="430887"/>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Akıllı Asistan :  </a:t>
            </a:r>
            <a:r>
              <a:rPr lang="tr-TR" sz="1000" dirty="0">
                <a:solidFill>
                  <a:schemeClr val="tx1"/>
                </a:solidFill>
              </a:rPr>
              <a:t>Senin ve kardeşinin yaşları sırasıyla 11 ve 8 ile doğru orantılı. </a:t>
            </a:r>
          </a:p>
        </p:txBody>
      </p:sp>
      <p:sp>
        <p:nvSpPr>
          <p:cNvPr id="46" name="Metin kutusu 45">
            <a:extLst>
              <a:ext uri="{FF2B5EF4-FFF2-40B4-BE49-F238E27FC236}">
                <a16:creationId xmlns:a16="http://schemas.microsoft.com/office/drawing/2014/main" id="{51F7973F-D108-427A-9F0E-4642DD5437A5}"/>
              </a:ext>
            </a:extLst>
          </p:cNvPr>
          <p:cNvSpPr txBox="1"/>
          <p:nvPr/>
        </p:nvSpPr>
        <p:spPr>
          <a:xfrm>
            <a:off x="3927935" y="1821224"/>
            <a:ext cx="2302392" cy="27699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Mustafa :  </a:t>
            </a:r>
            <a:r>
              <a:rPr lang="tr-TR" sz="1000" dirty="0">
                <a:solidFill>
                  <a:schemeClr val="tx1"/>
                </a:solidFill>
              </a:rPr>
              <a:t>7 yıl sonra ne olur peki?</a:t>
            </a:r>
          </a:p>
        </p:txBody>
      </p:sp>
      <p:sp>
        <p:nvSpPr>
          <p:cNvPr id="53" name="Metin kutusu 52">
            <a:extLst>
              <a:ext uri="{FF2B5EF4-FFF2-40B4-BE49-F238E27FC236}">
                <a16:creationId xmlns:a16="http://schemas.microsoft.com/office/drawing/2014/main" id="{A2F1020F-79F6-4000-9A00-7DE2B2E09F30}"/>
              </a:ext>
            </a:extLst>
          </p:cNvPr>
          <p:cNvSpPr txBox="1"/>
          <p:nvPr/>
        </p:nvSpPr>
        <p:spPr>
          <a:xfrm>
            <a:off x="3850889" y="1088558"/>
            <a:ext cx="2384147" cy="169277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dirty="0"/>
              <a:t>Akıllı Asistan</a:t>
            </a: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endParaRPr lang="tr-TR" sz="800" dirty="0"/>
          </a:p>
        </p:txBody>
      </p:sp>
      <p:pic>
        <p:nvPicPr>
          <p:cNvPr id="55" name="Grafik 54">
            <a:extLst>
              <a:ext uri="{FF2B5EF4-FFF2-40B4-BE49-F238E27FC236}">
                <a16:creationId xmlns:a16="http://schemas.microsoft.com/office/drawing/2014/main" id="{4B3D6460-D252-4256-9D37-D51D038B8F84}"/>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67123" y="836832"/>
            <a:ext cx="144097" cy="144097"/>
          </a:xfrm>
          <a:prstGeom prst="rect">
            <a:avLst/>
          </a:prstGeom>
        </p:spPr>
      </p:pic>
      <p:pic>
        <p:nvPicPr>
          <p:cNvPr id="56" name="Grafik 55">
            <a:extLst>
              <a:ext uri="{FF2B5EF4-FFF2-40B4-BE49-F238E27FC236}">
                <a16:creationId xmlns:a16="http://schemas.microsoft.com/office/drawing/2014/main" id="{403B1BE3-E94B-41A5-99E4-5A8A0C9E39CB}"/>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07294" y="835774"/>
            <a:ext cx="144097" cy="144097"/>
          </a:xfrm>
          <a:prstGeom prst="rect">
            <a:avLst/>
          </a:prstGeom>
        </p:spPr>
      </p:pic>
      <p:pic>
        <p:nvPicPr>
          <p:cNvPr id="61" name="Grafik 60">
            <a:extLst>
              <a:ext uri="{FF2B5EF4-FFF2-40B4-BE49-F238E27FC236}">
                <a16:creationId xmlns:a16="http://schemas.microsoft.com/office/drawing/2014/main" id="{E9B031EE-2842-408E-943A-94C934307F29}"/>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07099" y="790068"/>
            <a:ext cx="223373" cy="223373"/>
          </a:xfrm>
          <a:prstGeom prst="rect">
            <a:avLst/>
          </a:prstGeom>
        </p:spPr>
      </p:pic>
      <p:pic>
        <p:nvPicPr>
          <p:cNvPr id="63" name="Grafik 62">
            <a:extLst>
              <a:ext uri="{FF2B5EF4-FFF2-40B4-BE49-F238E27FC236}">
                <a16:creationId xmlns:a16="http://schemas.microsoft.com/office/drawing/2014/main" id="{6FA00DC8-4B82-476D-81B4-857B5597AB46}"/>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71263" y="831767"/>
            <a:ext cx="158422" cy="158422"/>
          </a:xfrm>
          <a:prstGeom prst="rect">
            <a:avLst/>
          </a:prstGeom>
        </p:spPr>
      </p:pic>
      <p:sp>
        <p:nvSpPr>
          <p:cNvPr id="65" name="Metin kutusu 64">
            <a:extLst>
              <a:ext uri="{FF2B5EF4-FFF2-40B4-BE49-F238E27FC236}">
                <a16:creationId xmlns:a16="http://schemas.microsoft.com/office/drawing/2014/main" id="{CCEE77EF-E3A2-4FF2-B1A8-B6878D2DFBCC}"/>
              </a:ext>
            </a:extLst>
          </p:cNvPr>
          <p:cNvSpPr txBox="1"/>
          <p:nvPr/>
        </p:nvSpPr>
        <p:spPr>
          <a:xfrm>
            <a:off x="5824228" y="822746"/>
            <a:ext cx="502169" cy="230832"/>
          </a:xfrm>
          <a:prstGeom prst="rect">
            <a:avLst/>
          </a:prstGeom>
          <a:noFill/>
        </p:spPr>
        <p:txBody>
          <a:bodyPr wrap="square" rtlCol="0">
            <a:spAutoFit/>
          </a:bodyPr>
          <a:lstStyle/>
          <a:p>
            <a:r>
              <a:rPr lang="tr-TR" sz="900" b="1" noProof="1"/>
              <a:t>20.22</a:t>
            </a:r>
          </a:p>
        </p:txBody>
      </p:sp>
      <p:pic>
        <p:nvPicPr>
          <p:cNvPr id="66" name="Grafik 65">
            <a:extLst>
              <a:ext uri="{FF2B5EF4-FFF2-40B4-BE49-F238E27FC236}">
                <a16:creationId xmlns:a16="http://schemas.microsoft.com/office/drawing/2014/main" id="{A11279F1-84C5-47FB-B305-64A7DF5AC74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50056" y="786689"/>
            <a:ext cx="222485" cy="222485"/>
          </a:xfrm>
          <a:prstGeom prst="rect">
            <a:avLst/>
          </a:prstGeom>
        </p:spPr>
      </p:pic>
      <p:sp>
        <p:nvSpPr>
          <p:cNvPr id="68" name="Metin kutusu 67">
            <a:extLst>
              <a:ext uri="{FF2B5EF4-FFF2-40B4-BE49-F238E27FC236}">
                <a16:creationId xmlns:a16="http://schemas.microsoft.com/office/drawing/2014/main" id="{81AE316E-030F-4236-9E31-B309806A3737}"/>
              </a:ext>
            </a:extLst>
          </p:cNvPr>
          <p:cNvSpPr txBox="1"/>
          <p:nvPr/>
        </p:nvSpPr>
        <p:spPr>
          <a:xfrm>
            <a:off x="3926867" y="2142213"/>
            <a:ext cx="2303460" cy="58477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Akıllı Asistan :  </a:t>
            </a:r>
            <a:r>
              <a:rPr lang="tr-TR" sz="1000" dirty="0">
                <a:solidFill>
                  <a:schemeClr val="tx1"/>
                </a:solidFill>
              </a:rPr>
              <a:t>Senin ve kardeşinin yaşları sırasıyla 6 ve 5 ile doğru orantılı olacaktır </a:t>
            </a:r>
            <a:r>
              <a:rPr lang="tr-TR" sz="1000" dirty="0">
                <a:solidFill>
                  <a:schemeClr val="tx1"/>
                </a:solidFill>
                <a:sym typeface="Wingdings" panose="05000000000000000000" pitchFamily="2" charset="2"/>
              </a:rPr>
              <a:t></a:t>
            </a:r>
            <a:r>
              <a:rPr lang="tr-TR" sz="1000" dirty="0">
                <a:solidFill>
                  <a:schemeClr val="tx1"/>
                </a:solidFill>
              </a:rPr>
              <a:t> </a:t>
            </a:r>
          </a:p>
        </p:txBody>
      </p:sp>
      <p:pic>
        <p:nvPicPr>
          <p:cNvPr id="69" name="Grafik 68">
            <a:extLst>
              <a:ext uri="{FF2B5EF4-FFF2-40B4-BE49-F238E27FC236}">
                <a16:creationId xmlns:a16="http://schemas.microsoft.com/office/drawing/2014/main" id="{C93F1C90-45D2-4A0A-BB3A-BAA183C1DE9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530437" y="516321"/>
            <a:ext cx="5025049" cy="2711334"/>
          </a:xfrm>
          <a:prstGeom prst="rect">
            <a:avLst/>
          </a:prstGeom>
        </p:spPr>
      </p:pic>
      <p:sp>
        <p:nvSpPr>
          <p:cNvPr id="70" name="Metin kutusu 69">
            <a:extLst>
              <a:ext uri="{FF2B5EF4-FFF2-40B4-BE49-F238E27FC236}">
                <a16:creationId xmlns:a16="http://schemas.microsoft.com/office/drawing/2014/main" id="{F70DBA31-4504-4244-AC92-66076D8C98E4}"/>
              </a:ext>
            </a:extLst>
          </p:cNvPr>
          <p:cNvSpPr txBox="1"/>
          <p:nvPr/>
        </p:nvSpPr>
        <p:spPr>
          <a:xfrm>
            <a:off x="3528135" y="4007029"/>
            <a:ext cx="3307074" cy="246221"/>
          </a:xfrm>
          <a:prstGeom prst="rect">
            <a:avLst/>
          </a:prstGeom>
          <a:noFill/>
        </p:spPr>
        <p:txBody>
          <a:bodyPr wrap="square" rtlCol="0">
            <a:spAutoFit/>
          </a:bodyPr>
          <a:lstStyle/>
          <a:p>
            <a:r>
              <a:rPr lang="tr-TR" sz="1000" noProof="1"/>
              <a:t>A) 57                 B) 17             C) 19               D) 38                E) 76                        </a:t>
            </a:r>
          </a:p>
        </p:txBody>
      </p:sp>
      <p:sp>
        <p:nvSpPr>
          <p:cNvPr id="71" name="Metin kutusu 70">
            <a:extLst>
              <a:ext uri="{FF2B5EF4-FFF2-40B4-BE49-F238E27FC236}">
                <a16:creationId xmlns:a16="http://schemas.microsoft.com/office/drawing/2014/main" id="{FD018233-FAAD-4341-950A-E0E38B194C38}"/>
              </a:ext>
            </a:extLst>
          </p:cNvPr>
          <p:cNvSpPr txBox="1"/>
          <p:nvPr/>
        </p:nvSpPr>
        <p:spPr>
          <a:xfrm>
            <a:off x="3525655" y="6357276"/>
            <a:ext cx="3217245" cy="553998"/>
          </a:xfrm>
          <a:prstGeom prst="rect">
            <a:avLst/>
          </a:prstGeom>
          <a:noFill/>
        </p:spPr>
        <p:txBody>
          <a:bodyPr wrap="square" rtlCol="0">
            <a:spAutoFit/>
          </a:bodyPr>
          <a:lstStyle/>
          <a:p>
            <a:r>
              <a:rPr lang="tr-TR" sz="1000" dirty="0">
                <a:cs typeface="Arial" panose="020B0604020202020204" pitchFamily="34" charset="0"/>
              </a:rPr>
              <a:t>A) Yalnız I                         B) I,II,III                           C) I ve III</a:t>
            </a:r>
          </a:p>
          <a:p>
            <a:r>
              <a:rPr lang="tr-TR" sz="1000" dirty="0">
                <a:cs typeface="Arial" panose="020B0604020202020204" pitchFamily="34" charset="0"/>
              </a:rPr>
              <a:t>  </a:t>
            </a:r>
          </a:p>
          <a:p>
            <a:r>
              <a:rPr lang="tr-TR" sz="1000" dirty="0">
                <a:cs typeface="Arial" panose="020B0604020202020204" pitchFamily="34" charset="0"/>
              </a:rPr>
              <a:t>                       D) II ve III                          E) I ve II</a:t>
            </a:r>
          </a:p>
        </p:txBody>
      </p:sp>
    </p:spTree>
    <p:extLst>
      <p:ext uri="{BB962C8B-B14F-4D97-AF65-F5344CB8AC3E}">
        <p14:creationId xmlns:p14="http://schemas.microsoft.com/office/powerpoint/2010/main" val="22661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Yaş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42601" y="1604246"/>
            <a:ext cx="3386399" cy="553998"/>
          </a:xfrm>
          <a:prstGeom prst="rect">
            <a:avLst/>
          </a:prstGeom>
          <a:noFill/>
        </p:spPr>
        <p:txBody>
          <a:bodyPr wrap="square" rtlCol="0">
            <a:spAutoFit/>
          </a:bodyPr>
          <a:lstStyle/>
          <a:p>
            <a:r>
              <a:rPr lang="tr-TR" sz="1000" noProof="1"/>
              <a:t>A) 71                                       B) 72                                        C) 73</a:t>
            </a:r>
          </a:p>
          <a:p>
            <a:pPr marL="228600" indent="-228600">
              <a:buAutoNum type="alphaUcParenR"/>
            </a:pPr>
            <a:endParaRPr lang="tr-TR" sz="1000" noProof="1"/>
          </a:p>
          <a:p>
            <a:r>
              <a:rPr lang="tr-TR" sz="1000" noProof="1"/>
              <a:t>                      D) 74                                        E) 75</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1169551"/>
          </a:xfrm>
          <a:prstGeom prst="rect">
            <a:avLst/>
          </a:prstGeom>
          <a:noFill/>
        </p:spPr>
        <p:txBody>
          <a:bodyPr wrap="square" rtlCol="0">
            <a:spAutoFit/>
          </a:bodyPr>
          <a:lstStyle/>
          <a:p>
            <a:r>
              <a:rPr lang="tr-TR" sz="1000" noProof="1">
                <a:cs typeface="Arial" panose="020B0604020202020204" pitchFamily="34" charset="0"/>
              </a:rPr>
              <a:t>Bir arkadaş grubuyla ilgili aşağıdakiler bilinmektedir.</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Grubun 2 yıl önceki yaş ortalaması 16 dır.</a:t>
            </a:r>
          </a:p>
          <a:p>
            <a:pPr marL="171450" indent="-171450">
              <a:buFont typeface="Arial" panose="020B0604020202020204" pitchFamily="34" charset="0"/>
              <a:buChar char="•"/>
            </a:pPr>
            <a:r>
              <a:rPr lang="tr-TR" sz="1000" noProof="1">
                <a:cs typeface="Arial" panose="020B0604020202020204" pitchFamily="34" charset="0"/>
              </a:rPr>
              <a:t>Yaşlar toplamı 44 olan 2 kişi gruptan ayrıldığında grubun yeni yaşlarının ortalaması 14 oluyor. </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gruptaki kişilerin yaşları toplamı kaçtır?</a:t>
            </a:r>
          </a:p>
        </p:txBody>
      </p:sp>
      <mc:AlternateContent xmlns:mc="http://schemas.openxmlformats.org/markup-compatibility/2006" xmlns:a14="http://schemas.microsoft.com/office/drawing/2010/main">
        <mc:Choice Requires="a14">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3359093" cy="910827"/>
              </a:xfrm>
              <a:prstGeom prst="rect">
                <a:avLst/>
              </a:prstGeom>
              <a:noFill/>
            </p:spPr>
            <p:txBody>
              <a:bodyPr wrap="square" rtlCol="0">
                <a:spAutoFit/>
              </a:bodyPr>
              <a:lstStyle/>
              <a:p>
                <a:r>
                  <a:rPr lang="tr-TR" sz="1000" noProof="1">
                    <a:cs typeface="Arial" panose="020B0604020202020204" pitchFamily="34" charset="0"/>
                  </a:rPr>
                  <a:t>Salime Ozan`ın yaşına geldiğinde Ozan`ın yaşı Salime`nin yaşının </a:t>
                </a:r>
                <a14:m>
                  <m:oMath xmlns:m="http://schemas.openxmlformats.org/officeDocument/2006/math">
                    <m:f>
                      <m:fPr>
                        <m:ctrlPr>
                          <a:rPr lang="tr-TR" sz="800" i="1" noProof="1" smtClean="0">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5 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800" noProof="1">
                    <a:cs typeface="Arial" panose="020B0604020202020204" pitchFamily="34" charset="0"/>
                  </a:rPr>
                  <a:t> </a:t>
                </a:r>
                <a:r>
                  <a:rPr lang="tr-TR" sz="1000" noProof="1">
                    <a:cs typeface="Arial" panose="020B0604020202020204" pitchFamily="34" charset="0"/>
                  </a:rPr>
                  <a:t>i kadar olacaktır.</a:t>
                </a:r>
              </a:p>
              <a:p>
                <a:endParaRPr lang="tr-TR" sz="1000" noProof="1">
                  <a:cs typeface="Arial" panose="020B0604020202020204" pitchFamily="34" charset="0"/>
                </a:endParaRPr>
              </a:p>
              <a:p>
                <a:r>
                  <a:rPr lang="tr-TR" sz="1000" b="1" noProof="1">
                    <a:cs typeface="Arial" panose="020B0604020202020204" pitchFamily="34" charset="0"/>
                  </a:rPr>
                  <a:t>Buna göre; başlangıçta Salime`nin yaşı, Salime`nin Ozan`ın yaşına geldiği zamandaki Ozan`ın yaşının kaç katıdır?</a:t>
                </a:r>
              </a:p>
            </p:txBody>
          </p:sp>
        </mc:Choice>
        <mc:Fallback xmlns="">
          <p:sp>
            <p:nvSpPr>
              <p:cNvPr id="86" name="Metin kutusu 85">
                <a:extLst>
                  <a:ext uri="{FF2B5EF4-FFF2-40B4-BE49-F238E27FC236}">
                    <a16:creationId xmlns:a16="http://schemas.microsoft.com/office/drawing/2014/main" id="{A58FA874-F23F-4E19-8775-056F42ECA063}"/>
                  </a:ext>
                </a:extLst>
              </p:cNvPr>
              <p:cNvSpPr txBox="1">
                <a:spLocks noRot="1" noChangeAspect="1" noMove="1" noResize="1" noEditPoints="1" noAdjustHandles="1" noChangeArrowheads="1" noChangeShapeType="1" noTextEdit="1"/>
              </p:cNvSpPr>
              <p:nvPr/>
            </p:nvSpPr>
            <p:spPr>
              <a:xfrm>
                <a:off x="3485254" y="469853"/>
                <a:ext cx="3359093" cy="910827"/>
              </a:xfrm>
              <a:prstGeom prst="rect">
                <a:avLst/>
              </a:prstGeom>
              <a:blipFill>
                <a:blip r:embed="rId4"/>
                <a:stretch>
                  <a:fillRect b="-3356"/>
                </a:stretch>
              </a:blipFill>
            </p:spPr>
            <p:txBody>
              <a:bodyPr/>
              <a:lstStyle/>
              <a:p>
                <a:r>
                  <a:rPr lang="tr-TR">
                    <a:noFill/>
                  </a:rPr>
                  <a:t> </a:t>
                </a:r>
              </a:p>
            </p:txBody>
          </p:sp>
        </mc:Fallback>
      </mc:AlternateContent>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5.B    6.C    7.B    8.A</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146005" y="4696451"/>
            <a:ext cx="3245637" cy="1015663"/>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Tuna ile Berk`in yaşları toplamı 38 dir.</a:t>
            </a:r>
          </a:p>
          <a:p>
            <a:pPr marL="171450" indent="-171450">
              <a:buFont typeface="Arial" panose="020B0604020202020204" pitchFamily="34" charset="0"/>
              <a:buChar char="•"/>
            </a:pPr>
            <a:r>
              <a:rPr lang="tr-TR" sz="1000" noProof="1">
                <a:cs typeface="Arial" panose="020B0604020202020204" pitchFamily="34" charset="0"/>
              </a:rPr>
              <a:t>Tuna Berk`in yaşına geldiğinde Berk 46 yaşındadır.</a:t>
            </a:r>
          </a:p>
          <a:p>
            <a:pPr marL="171450" indent="-171450">
              <a:buFont typeface="Arial" panose="020B0604020202020204" pitchFamily="34" charset="0"/>
              <a:buChar char="•"/>
            </a:pPr>
            <a:r>
              <a:rPr lang="tr-TR" sz="1000" noProof="1">
                <a:cs typeface="Arial" panose="020B0604020202020204" pitchFamily="34" charset="0"/>
              </a:rPr>
              <a:t>Berk Tuna`dan büyüktür.</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Yukarıda verilen bilgilere göre, Berk ve Tuna arasındaki yaşlar farkı kaçtır?</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72349" y="4680267"/>
            <a:ext cx="3365746" cy="1477328"/>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Bir sınıfta bir gözetmen ile 10.sınıf ve 12.sınıf öğrenci-lerinin karışık olduğu kelebek sistemiyle sınav yapılacaktır. </a:t>
            </a:r>
          </a:p>
          <a:p>
            <a:pPr marL="171450" indent="-171450">
              <a:buFont typeface="Arial" panose="020B0604020202020204" pitchFamily="34" charset="0"/>
              <a:buChar char="•"/>
            </a:pPr>
            <a:r>
              <a:rPr lang="tr-TR" sz="1000" noProof="1">
                <a:cs typeface="Arial" panose="020B0604020202020204" pitchFamily="34" charset="0"/>
              </a:rPr>
              <a:t>10.sınıftaki tüm öğrencilerin yaşları 16, 12.sınıftaki öğrencilerin yaşlarının 18 dir. </a:t>
            </a:r>
          </a:p>
          <a:p>
            <a:pPr marL="171450" indent="-171450">
              <a:buFont typeface="Arial" panose="020B0604020202020204" pitchFamily="34" charset="0"/>
              <a:buChar char="•"/>
            </a:pPr>
            <a:r>
              <a:rPr lang="tr-TR" sz="1000" noProof="1">
                <a:cs typeface="Arial" panose="020B0604020202020204" pitchFamily="34" charset="0"/>
              </a:rPr>
              <a:t>Sınıfta toplam 32 adet öğrenci vardır.</a:t>
            </a:r>
          </a:p>
          <a:p>
            <a:pPr marL="171450" indent="-171450">
              <a:buFont typeface="Arial" panose="020B0604020202020204" pitchFamily="34" charset="0"/>
              <a:buChar char="•"/>
            </a:pPr>
            <a:r>
              <a:rPr lang="tr-TR" sz="1000" noProof="1">
                <a:cs typeface="Arial" panose="020B0604020202020204" pitchFamily="34" charset="0"/>
              </a:rPr>
              <a:t>10.sınıflar 12.sınıfların şimdiki yaşlarına geldiklerinde sınıftdaki öğrencilerin yaşları toplamı 436 oluyor.</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10.sınıf öğrencisi olmayan sınıfta kaç kişi vardır?</a:t>
            </a:r>
          </a:p>
        </p:txBody>
      </p:sp>
      <p:pic>
        <p:nvPicPr>
          <p:cNvPr id="36" name="Grafik 35">
            <a:extLst>
              <a:ext uri="{FF2B5EF4-FFF2-40B4-BE49-F238E27FC236}">
                <a16:creationId xmlns:a16="http://schemas.microsoft.com/office/drawing/2014/main" id="{1B40F82D-5A6D-432E-93CA-C8C5ECF14C1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92058" y="9449"/>
            <a:ext cx="456499" cy="456499"/>
          </a:xfrm>
          <a:prstGeom prst="rect">
            <a:avLst/>
          </a:prstGeom>
        </p:spPr>
      </p:pic>
      <p:sp>
        <p:nvSpPr>
          <p:cNvPr id="35" name="Metin kutusu 34">
            <a:extLst>
              <a:ext uri="{FF2B5EF4-FFF2-40B4-BE49-F238E27FC236}">
                <a16:creationId xmlns:a16="http://schemas.microsoft.com/office/drawing/2014/main" id="{725E5B19-1D6C-4CEB-9D14-8B1954C0EDC8}"/>
              </a:ext>
            </a:extLst>
          </p:cNvPr>
          <p:cNvSpPr txBox="1"/>
          <p:nvPr/>
        </p:nvSpPr>
        <p:spPr>
          <a:xfrm>
            <a:off x="69907" y="5729911"/>
            <a:ext cx="3386399" cy="553998"/>
          </a:xfrm>
          <a:prstGeom prst="rect">
            <a:avLst/>
          </a:prstGeom>
          <a:noFill/>
        </p:spPr>
        <p:txBody>
          <a:bodyPr wrap="square" rtlCol="0">
            <a:spAutoFit/>
          </a:bodyPr>
          <a:lstStyle/>
          <a:p>
            <a:r>
              <a:rPr lang="tr-TR" sz="1000" noProof="1"/>
              <a:t>A) 12                                       B) 14                                        C) 18</a:t>
            </a:r>
          </a:p>
          <a:p>
            <a:pPr marL="228600" indent="-228600">
              <a:buAutoNum type="alphaUcParenR"/>
            </a:pPr>
            <a:endParaRPr lang="tr-TR" sz="1000" noProof="1"/>
          </a:p>
          <a:p>
            <a:r>
              <a:rPr lang="tr-TR" sz="1000" noProof="1"/>
              <a:t>                      D) 20                                        E) 28</a:t>
            </a:r>
          </a:p>
        </p:txBody>
      </p:sp>
      <mc:AlternateContent xmlns:mc="http://schemas.openxmlformats.org/markup-compatibility/2006" xmlns:a14="http://schemas.microsoft.com/office/drawing/2010/main">
        <mc:Choice Requires="a14">
          <p:sp>
            <p:nvSpPr>
              <p:cNvPr id="38" name="Metin kutusu 37">
                <a:extLst>
                  <a:ext uri="{FF2B5EF4-FFF2-40B4-BE49-F238E27FC236}">
                    <a16:creationId xmlns:a16="http://schemas.microsoft.com/office/drawing/2014/main" id="{2AB20D60-2816-4D9C-B12D-5A5E1CE77154}"/>
                  </a:ext>
                </a:extLst>
              </p:cNvPr>
              <p:cNvSpPr txBox="1"/>
              <p:nvPr/>
            </p:nvSpPr>
            <p:spPr>
              <a:xfrm>
                <a:off x="3470604" y="1350306"/>
                <a:ext cx="3362533" cy="622093"/>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4 </m:t>
                        </m:r>
                      </m:num>
                      <m:den>
                        <m:r>
                          <m:rPr>
                            <m:nor/>
                          </m:rPr>
                          <a:rPr lang="tr-TR" sz="800" b="0" i="0" noProof="1" smtClean="0">
                            <a:latin typeface="Helvetica" panose="020B0604020202020204" pitchFamily="34" charset="0"/>
                            <a:cs typeface="Helvetica" panose="020B0604020202020204" pitchFamily="34" charset="0"/>
                          </a:rPr>
                          <m:t>5</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5 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4</m:t>
                        </m:r>
                      </m:den>
                    </m:f>
                  </m:oMath>
                </a14:m>
                <a:r>
                  <a:rPr lang="tr-TR" sz="1000" noProof="1">
                    <a:solidFill>
                      <a:schemeClr val="tx1"/>
                    </a:solidFill>
                  </a:rPr>
                  <a:t>                                         C) </a:t>
                </a:r>
                <a:r>
                  <a:rPr lang="tr-TR" sz="1000" noProof="1"/>
                  <a:t>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4</m:t>
                        </m:r>
                        <m:r>
                          <m:rPr>
                            <m:nor/>
                          </m:rPr>
                          <a:rPr lang="tr-TR" sz="800" noProof="1">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endParaRPr lang="tr-TR" sz="800" noProof="1"/>
              </a:p>
              <a:p>
                <a:br>
                  <a:rPr lang="tr-TR" sz="8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2 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5</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3</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5</m:t>
                        </m:r>
                      </m:den>
                    </m:f>
                  </m:oMath>
                </a14:m>
                <a:endParaRPr lang="tr-TR" sz="800" noProof="1"/>
              </a:p>
            </p:txBody>
          </p:sp>
        </mc:Choice>
        <mc:Fallback xmlns="">
          <p:sp>
            <p:nvSpPr>
              <p:cNvPr id="38" name="Metin kutusu 37">
                <a:extLst>
                  <a:ext uri="{FF2B5EF4-FFF2-40B4-BE49-F238E27FC236}">
                    <a16:creationId xmlns:a16="http://schemas.microsoft.com/office/drawing/2014/main" id="{2AB20D60-2816-4D9C-B12D-5A5E1CE77154}"/>
                  </a:ext>
                </a:extLst>
              </p:cNvPr>
              <p:cNvSpPr txBox="1">
                <a:spLocks noRot="1" noChangeAspect="1" noMove="1" noResize="1" noEditPoints="1" noAdjustHandles="1" noChangeArrowheads="1" noChangeShapeType="1" noTextEdit="1"/>
              </p:cNvSpPr>
              <p:nvPr/>
            </p:nvSpPr>
            <p:spPr>
              <a:xfrm>
                <a:off x="3470604" y="1350306"/>
                <a:ext cx="3362533" cy="622093"/>
              </a:xfrm>
              <a:prstGeom prst="rect">
                <a:avLst/>
              </a:prstGeom>
              <a:blipFill>
                <a:blip r:embed="rId7"/>
                <a:stretch>
                  <a:fillRect b="-980"/>
                </a:stretch>
              </a:blipFill>
            </p:spPr>
            <p:txBody>
              <a:bodyPr/>
              <a:lstStyle/>
              <a:p>
                <a:r>
                  <a:rPr lang="tr-TR">
                    <a:noFill/>
                  </a:rPr>
                  <a:t> </a:t>
                </a:r>
              </a:p>
            </p:txBody>
          </p:sp>
        </mc:Fallback>
      </mc:AlternateContent>
      <p:sp>
        <p:nvSpPr>
          <p:cNvPr id="39" name="Metin kutusu 38">
            <a:extLst>
              <a:ext uri="{FF2B5EF4-FFF2-40B4-BE49-F238E27FC236}">
                <a16:creationId xmlns:a16="http://schemas.microsoft.com/office/drawing/2014/main" id="{4EBCE8CA-1F9D-4C22-BDCA-BC44EB4D74B9}"/>
              </a:ext>
            </a:extLst>
          </p:cNvPr>
          <p:cNvSpPr txBox="1"/>
          <p:nvPr/>
        </p:nvSpPr>
        <p:spPr>
          <a:xfrm>
            <a:off x="3562022" y="6079584"/>
            <a:ext cx="3386399" cy="553998"/>
          </a:xfrm>
          <a:prstGeom prst="rect">
            <a:avLst/>
          </a:prstGeom>
          <a:noFill/>
        </p:spPr>
        <p:txBody>
          <a:bodyPr wrap="square" rtlCol="0">
            <a:spAutoFit/>
          </a:bodyPr>
          <a:lstStyle/>
          <a:p>
            <a:r>
              <a:rPr lang="tr-TR" sz="1000" noProof="1"/>
              <a:t>A) 21                                       B) 12                                        C) 13</a:t>
            </a:r>
          </a:p>
          <a:p>
            <a:pPr marL="228600" indent="-228600">
              <a:buAutoNum type="alphaUcParenR"/>
            </a:pPr>
            <a:endParaRPr lang="tr-TR" sz="1000" noProof="1"/>
          </a:p>
          <a:p>
            <a:r>
              <a:rPr lang="tr-TR" sz="1000" noProof="1"/>
              <a:t>                      D) 20                                        E) 11</a:t>
            </a:r>
          </a:p>
        </p:txBody>
      </p:sp>
    </p:spTree>
    <p:extLst>
      <p:ext uri="{BB962C8B-B14F-4D97-AF65-F5344CB8AC3E}">
        <p14:creationId xmlns:p14="http://schemas.microsoft.com/office/powerpoint/2010/main" val="2249618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Yaş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2451948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FC4393DA-DAA0-4909-A4BC-B3D5393C2321}"/>
              </a:ext>
            </a:extLst>
          </p:cNvPr>
          <p:cNvSpPr/>
          <p:nvPr/>
        </p:nvSpPr>
        <p:spPr>
          <a:xfrm>
            <a:off x="194373" y="714652"/>
            <a:ext cx="3104950" cy="2443007"/>
          </a:xfrm>
          <a:prstGeom prst="rect">
            <a:avLst/>
          </a:prstGeom>
          <a:solidFill>
            <a:schemeClr val="bg2"/>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36381083-AA49-44A3-9F55-88DC3AF08441}"/>
                  </a:ext>
                </a:extLst>
              </p:cNvPr>
              <p:cNvSpPr txBox="1"/>
              <p:nvPr/>
            </p:nvSpPr>
            <p:spPr>
              <a:xfrm>
                <a:off x="194373" y="720517"/>
                <a:ext cx="3104950" cy="2437142"/>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Grupta x kişi vardır ve yaşlar toplamı bugün y dir. </a:t>
                </a:r>
              </a:p>
              <a:p>
                <a:pPr marL="171450" indent="-171450">
                  <a:buFont typeface="Arial" panose="020B0604020202020204" pitchFamily="34" charset="0"/>
                  <a:buChar char="•"/>
                </a:pPr>
                <a:r>
                  <a:rPr lang="tr-TR" sz="1000" noProof="1">
                    <a:cs typeface="Arial" panose="020B0604020202020204" pitchFamily="34" charset="0"/>
                  </a:rPr>
                  <a:t>3 yıl önce yaşlarının ortalaması 21 dir.</a:t>
                </a:r>
              </a:p>
              <a:p>
                <a:pPr marL="171450" indent="-171450">
                  <a:buFont typeface="Arial" panose="020B0604020202020204" pitchFamily="34" charset="0"/>
                  <a:buChar char="•"/>
                </a:pPr>
                <a:r>
                  <a:rPr lang="tr-TR" sz="1000" noProof="1">
                    <a:cs typeface="Arial" panose="020B0604020202020204" pitchFamily="34" charset="0"/>
                  </a:rPr>
                  <a:t>Yaşlar ortalaması 65 olan 3 kişi gruba ilave olarak geldiğinde yeni yaşlar ortalaması 22 oluyor.</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x sayısı kaçtır?</a:t>
                </a:r>
              </a:p>
              <a:p>
                <a:endParaRPr lang="tr-TR" sz="1000" noProof="1">
                  <a:cs typeface="Arial" panose="020B0604020202020204" pitchFamily="34" charset="0"/>
                </a:endParaRPr>
              </a:p>
              <a:p>
                <a:r>
                  <a:rPr lang="tr-TR" sz="1000" noProof="1">
                    <a:cs typeface="Arial" panose="020B0604020202020204" pitchFamily="34" charset="0"/>
                  </a:rPr>
                  <a:t>I.</a:t>
                </a:r>
              </a:p>
              <a:p>
                <a:endParaRPr lang="tr-TR" sz="1000" noProof="1">
                  <a:cs typeface="Arial" panose="020B0604020202020204" pitchFamily="34" charset="0"/>
                </a:endParaRPr>
              </a:p>
              <a:p>
                <a:r>
                  <a:rPr lang="tr-TR" sz="1000" noProof="1">
                    <a:cs typeface="Arial" panose="020B0604020202020204" pitchFamily="34" charset="0"/>
                  </a:rPr>
                  <a:t>II.  y-3x = 21x  ise y=24x olur.</a:t>
                </a:r>
              </a:p>
              <a:p>
                <a:endParaRPr lang="tr-TR" sz="1000" noProof="1">
                  <a:cs typeface="Arial" panose="020B0604020202020204" pitchFamily="34" charset="0"/>
                </a:endParaRPr>
              </a:p>
              <a:p>
                <a:r>
                  <a:rPr lang="tr-TR" sz="1000" noProof="1">
                    <a:cs typeface="Arial" panose="020B0604020202020204" pitchFamily="34" charset="0"/>
                  </a:rPr>
                  <a:t>III. </a:t>
                </a:r>
                <a14:m>
                  <m:oMath xmlns:m="http://schemas.openxmlformats.org/officeDocument/2006/math">
                    <m:f>
                      <m:fPr>
                        <m:ctrlPr>
                          <a:rPr lang="tr-TR" sz="1000" i="1" noProof="1" smtClean="0">
                            <a:solidFill>
                              <a:schemeClr val="tx1"/>
                            </a:solidFill>
                            <a:latin typeface="Cambria Math" panose="02040503050406030204" pitchFamily="18" charset="0"/>
                          </a:rPr>
                        </m:ctrlPr>
                      </m:fPr>
                      <m:num>
                        <m:r>
                          <a:rPr lang="tr-TR" sz="1000" b="0" i="0" noProof="1" smtClean="0">
                            <a:solidFill>
                              <a:schemeClr val="tx1"/>
                            </a:solidFill>
                            <a:latin typeface="Cambria Math" panose="02040503050406030204" pitchFamily="18" charset="0"/>
                          </a:rPr>
                          <m:t> </m:t>
                        </m:r>
                        <m:r>
                          <m:rPr>
                            <m:nor/>
                          </m:rPr>
                          <a:rPr lang="tr-TR" sz="1000" b="0" i="0" noProof="1" smtClean="0">
                            <a:solidFill>
                              <a:schemeClr val="tx1"/>
                            </a:solidFill>
                            <a:latin typeface="Cambria Math" panose="02040503050406030204" pitchFamily="18" charset="0"/>
                          </a:rPr>
                          <m:t> </m:t>
                        </m:r>
                        <m:r>
                          <m:rPr>
                            <m:nor/>
                          </m:rPr>
                          <a:rPr lang="tr-TR" sz="1000" b="0" i="0" noProof="1" smtClean="0">
                            <a:solidFill>
                              <a:schemeClr val="tx1"/>
                            </a:solidFill>
                            <a:cs typeface="Helvetica" panose="020B0604020202020204" pitchFamily="34" charset="0"/>
                          </a:rPr>
                          <m:t>y</m:t>
                        </m:r>
                        <m:r>
                          <m:rPr>
                            <m:nor/>
                          </m:rPr>
                          <a:rPr lang="tr-TR" sz="1000" b="0" i="0" noProof="1" smtClean="0">
                            <a:solidFill>
                              <a:schemeClr val="tx1"/>
                            </a:solidFill>
                            <a:cs typeface="Helvetica" panose="020B0604020202020204" pitchFamily="34" charset="0"/>
                          </a:rPr>
                          <m:t>+65</m:t>
                        </m:r>
                        <m:r>
                          <a:rPr lang="tr-TR" sz="1000" b="0" i="0" noProof="1" smtClean="0">
                            <a:solidFill>
                              <a:schemeClr val="tx1"/>
                            </a:solidFill>
                            <a:latin typeface="Cambria Math" panose="02040503050406030204" pitchFamily="18" charset="0"/>
                            <a:cs typeface="Helvetica" panose="020B0604020202020204" pitchFamily="34" charset="0"/>
                          </a:rPr>
                          <m:t> </m:t>
                        </m:r>
                        <m:r>
                          <a:rPr lang="tr-TR" sz="1000" b="0" i="0" noProof="1" smtClean="0">
                            <a:solidFill>
                              <a:schemeClr val="tx1"/>
                            </a:solidFill>
                            <a:latin typeface="Cambria Math" panose="02040503050406030204" pitchFamily="18" charset="0"/>
                          </a:rPr>
                          <m:t> </m:t>
                        </m:r>
                      </m:num>
                      <m:den>
                        <m:r>
                          <m:rPr>
                            <m:nor/>
                          </m:rPr>
                          <a:rPr lang="tr-TR" sz="1000" b="0" i="0" noProof="1" smtClean="0">
                            <a:solidFill>
                              <a:schemeClr val="tx1"/>
                            </a:solidFill>
                            <a:cs typeface="Helvetica" panose="020B0604020202020204" pitchFamily="34" charset="0"/>
                          </a:rPr>
                          <m:t>x</m:t>
                        </m:r>
                        <m:r>
                          <m:rPr>
                            <m:nor/>
                          </m:rPr>
                          <a:rPr lang="tr-TR" sz="1000" b="0" i="0" noProof="1" smtClean="0">
                            <a:solidFill>
                              <a:schemeClr val="tx1"/>
                            </a:solidFill>
                            <a:cs typeface="Helvetica" panose="020B0604020202020204" pitchFamily="34" charset="0"/>
                          </a:rPr>
                          <m:t>+3</m:t>
                        </m:r>
                      </m:den>
                    </m:f>
                  </m:oMath>
                </a14:m>
                <a:r>
                  <a:rPr lang="tr-TR" sz="1000" noProof="1"/>
                  <a:t> = </a:t>
                </a:r>
                <a:r>
                  <a:rPr lang="tr-TR" sz="1100" noProof="1"/>
                  <a:t>22</a:t>
                </a:r>
              </a:p>
              <a:p>
                <a:endParaRPr lang="tr-TR" sz="1100" noProof="1">
                  <a:cs typeface="Arial" panose="020B0604020202020204" pitchFamily="34" charset="0"/>
                </a:endParaRPr>
              </a:p>
              <a:p>
                <a:r>
                  <a:rPr lang="tr-TR" sz="1100" noProof="1">
                    <a:cs typeface="Arial" panose="020B0604020202020204" pitchFamily="34" charset="0"/>
                  </a:rPr>
                  <a:t>IV.  24x+65 = 22x+66 ise 2x=1 ve </a:t>
                </a:r>
                <a:r>
                  <a:rPr lang="tr-TR" sz="1100" b="1" noProof="1">
                    <a:cs typeface="Arial" panose="020B0604020202020204" pitchFamily="34" charset="0"/>
                  </a:rPr>
                  <a:t>x=</a:t>
                </a:r>
                <a:r>
                  <a:rPr lang="tr-TR" sz="1000" b="1" noProof="1">
                    <a:solidFill>
                      <a:schemeClr val="tx1"/>
                    </a:solidFill>
                  </a:rPr>
                  <a:t> </a:t>
                </a:r>
                <a14:m>
                  <m:oMath xmlns:m="http://schemas.openxmlformats.org/officeDocument/2006/math">
                    <m:f>
                      <m:fPr>
                        <m:ctrlPr>
                          <a:rPr lang="tr-TR" sz="1000" b="1" i="1" noProof="1" smtClean="0">
                            <a:solidFill>
                              <a:schemeClr val="tx1"/>
                            </a:solidFill>
                            <a:latin typeface="Cambria Math" panose="02040503050406030204" pitchFamily="18" charset="0"/>
                          </a:rPr>
                        </m:ctrlPr>
                      </m:fPr>
                      <m:num>
                        <m:r>
                          <a:rPr lang="tr-TR" sz="1000" b="1" i="0" noProof="1" smtClean="0">
                            <a:solidFill>
                              <a:schemeClr val="tx1"/>
                            </a:solidFill>
                            <a:latin typeface="Cambria Math" panose="02040503050406030204" pitchFamily="18" charset="0"/>
                          </a:rPr>
                          <m:t> </m:t>
                        </m:r>
                        <m:r>
                          <m:rPr>
                            <m:nor/>
                          </m:rPr>
                          <a:rPr lang="tr-TR" sz="1000" b="1" i="0" noProof="1" smtClean="0">
                            <a:solidFill>
                              <a:schemeClr val="tx1"/>
                            </a:solidFill>
                            <a:latin typeface="Cambria Math" panose="02040503050406030204" pitchFamily="18" charset="0"/>
                          </a:rPr>
                          <m:t> </m:t>
                        </m:r>
                        <m:r>
                          <m:rPr>
                            <m:nor/>
                          </m:rPr>
                          <a:rPr lang="tr-TR" sz="1000" b="1" i="0" noProof="1" smtClean="0">
                            <a:solidFill>
                              <a:schemeClr val="tx1"/>
                            </a:solidFill>
                            <a:cs typeface="Helvetica" panose="020B0604020202020204" pitchFamily="34" charset="0"/>
                          </a:rPr>
                          <m:t>1</m:t>
                        </m:r>
                        <m:r>
                          <a:rPr lang="tr-TR" sz="1000" b="1" i="0" noProof="1" smtClean="0">
                            <a:solidFill>
                              <a:schemeClr val="tx1"/>
                            </a:solidFill>
                            <a:latin typeface="Cambria Math" panose="02040503050406030204" pitchFamily="18" charset="0"/>
                            <a:cs typeface="Helvetica" panose="020B0604020202020204" pitchFamily="34" charset="0"/>
                          </a:rPr>
                          <m:t> </m:t>
                        </m:r>
                        <m:r>
                          <a:rPr lang="tr-TR" sz="1000" b="1" i="0" noProof="1" smtClean="0">
                            <a:solidFill>
                              <a:schemeClr val="tx1"/>
                            </a:solidFill>
                            <a:latin typeface="Cambria Math" panose="02040503050406030204" pitchFamily="18" charset="0"/>
                          </a:rPr>
                          <m:t> </m:t>
                        </m:r>
                      </m:num>
                      <m:den>
                        <m:r>
                          <m:rPr>
                            <m:nor/>
                          </m:rPr>
                          <a:rPr lang="tr-TR" sz="1000" b="1" i="0" noProof="1" smtClean="0">
                            <a:solidFill>
                              <a:schemeClr val="tx1"/>
                            </a:solidFill>
                            <a:cs typeface="Helvetica" panose="020B0604020202020204" pitchFamily="34" charset="0"/>
                          </a:rPr>
                          <m:t>2</m:t>
                        </m:r>
                      </m:den>
                    </m:f>
                  </m:oMath>
                </a14:m>
                <a:r>
                  <a:rPr lang="tr-TR" sz="1000" b="1" noProof="1"/>
                  <a:t> bulunur.</a:t>
                </a:r>
                <a:endParaRPr lang="tr-TR" sz="1000" b="1" noProof="1">
                  <a:cs typeface="Arial" panose="020B0604020202020204" pitchFamily="34" charset="0"/>
                </a:endParaRPr>
              </a:p>
            </p:txBody>
          </p:sp>
        </mc:Choice>
        <mc:Fallback xmlns="">
          <p:sp>
            <p:nvSpPr>
              <p:cNvPr id="58" name="Metin kutusu 57">
                <a:extLst>
                  <a:ext uri="{FF2B5EF4-FFF2-40B4-BE49-F238E27FC236}">
                    <a16:creationId xmlns:a16="http://schemas.microsoft.com/office/drawing/2014/main" id="{36381083-AA49-44A3-9F55-88DC3AF08441}"/>
                  </a:ext>
                </a:extLst>
              </p:cNvPr>
              <p:cNvSpPr txBox="1">
                <a:spLocks noRot="1" noChangeAspect="1" noMove="1" noResize="1" noEditPoints="1" noAdjustHandles="1" noChangeArrowheads="1" noChangeShapeType="1" noTextEdit="1"/>
              </p:cNvSpPr>
              <p:nvPr/>
            </p:nvSpPr>
            <p:spPr>
              <a:xfrm>
                <a:off x="194373" y="720517"/>
                <a:ext cx="3104950" cy="2437142"/>
              </a:xfrm>
              <a:prstGeom prst="rect">
                <a:avLst/>
              </a:prstGeom>
              <a:blipFill>
                <a:blip r:embed="rId2"/>
                <a:stretch>
                  <a:fillRect/>
                </a:stretch>
              </a:blipFill>
            </p:spPr>
            <p:txBody>
              <a:bodyPr/>
              <a:lstStyle/>
              <a:p>
                <a:r>
                  <a:rPr lang="tr-TR">
                    <a:noFill/>
                  </a:rPr>
                  <a:t> </a:t>
                </a:r>
              </a:p>
            </p:txBody>
          </p:sp>
        </mc:Fallback>
      </mc:AlternateContent>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Problemler Denemesi</a:t>
            </a:r>
          </a:p>
          <a:p>
            <a:pPr marL="171450" indent="-171450">
              <a:buFont typeface="Wingdings" panose="05000000000000000000" pitchFamily="2" charset="2"/>
              <a:buChar char="Ø"/>
            </a:pPr>
            <a:r>
              <a:rPr lang="tr-TR" sz="1000" b="1" noProof="1">
                <a:latin typeface="+mj-lt"/>
                <a:cs typeface="Arial" panose="020B0604020202020204" pitchFamily="34" charset="0"/>
              </a:rPr>
              <a:t>YouTube Ahmet Çelen</a:t>
            </a:r>
          </a:p>
        </p:txBody>
      </p:sp>
      <p:cxnSp>
        <p:nvCxnSpPr>
          <p:cNvPr id="18" name="Düz Bağlayıcı 17"/>
          <p:cNvCxnSpPr>
            <a:cxnSpLocks/>
          </p:cNvCxnSpPr>
          <p:nvPr/>
        </p:nvCxnSpPr>
        <p:spPr>
          <a:xfrm>
            <a:off x="3427450" y="474844"/>
            <a:ext cx="1" cy="2956575"/>
          </a:xfrm>
          <a:prstGeom prst="line">
            <a:avLst/>
          </a:prstGeom>
          <a:ln w="9525">
            <a:solidFill>
              <a:srgbClr val="7030A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127681" y="5887150"/>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431101" cy="246221"/>
          </a:xfrm>
          <a:prstGeom prst="rect">
            <a:avLst/>
          </a:prstGeom>
          <a:noFill/>
        </p:spPr>
        <p:txBody>
          <a:bodyPr wrap="square" rtlCol="0">
            <a:spAutoFit/>
          </a:bodyPr>
          <a:lstStyle/>
          <a:p>
            <a:r>
              <a:rPr lang="tr-TR" sz="1000" noProof="1">
                <a:cs typeface="Arial" panose="020B0604020202020204" pitchFamily="34" charset="0"/>
              </a:rPr>
              <a:t>Fatih aşağıdaki problemi okuyor dijital olarak çözmeye başlıyor.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9.E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69907" y="5917928"/>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26" name="Dikdörtgen: Köşeleri Yuvarlatılmış 25">
            <a:extLst>
              <a:ext uri="{FF2B5EF4-FFF2-40B4-BE49-F238E27FC236}">
                <a16:creationId xmlns:a16="http://schemas.microsoft.com/office/drawing/2014/main" id="{08E6CAA1-9430-4FD3-8802-B4AFC659EA60}"/>
              </a:ext>
            </a:extLst>
          </p:cNvPr>
          <p:cNvSpPr/>
          <p:nvPr/>
        </p:nvSpPr>
        <p:spPr>
          <a:xfrm>
            <a:off x="2348880" y="1547664"/>
            <a:ext cx="864096" cy="1224136"/>
          </a:xfrm>
          <a:prstGeom prst="round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92058" y="9449"/>
            <a:ext cx="456499" cy="456499"/>
          </a:xfrm>
          <a:prstGeom prst="rect">
            <a:avLst/>
          </a:prstGeom>
        </p:spPr>
      </p:pic>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EB49186C-4B44-4C69-9BD9-E388B6778772}"/>
                  </a:ext>
                </a:extLst>
              </p:cNvPr>
              <p:cNvSpPr txBox="1"/>
              <p:nvPr/>
            </p:nvSpPr>
            <p:spPr>
              <a:xfrm>
                <a:off x="329925" y="1781192"/>
                <a:ext cx="794820" cy="293542"/>
              </a:xfrm>
              <a:prstGeom prst="rect">
                <a:avLst/>
              </a:prstGeom>
              <a:noFill/>
            </p:spPr>
            <p:txBody>
              <a:bodyPr wrap="square" rtlCol="0">
                <a:spAutoFit/>
              </a:bodyPr>
              <a:lstStyle/>
              <a:p>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cs typeface="Helvetica" panose="020B0604020202020204" pitchFamily="34" charset="0"/>
                          </a:rPr>
                          <m:t>y</m:t>
                        </m:r>
                        <m:r>
                          <m:rPr>
                            <m:nor/>
                          </m:rPr>
                          <a:rPr lang="tr-TR" sz="800" b="0" i="0" noProof="1" smtClean="0">
                            <a:solidFill>
                              <a:schemeClr val="tx1"/>
                            </a:solidFill>
                            <a:cs typeface="Helvetica" panose="020B0604020202020204" pitchFamily="34" charset="0"/>
                          </a:rPr>
                          <m:t>−3</m:t>
                        </m:r>
                        <m:r>
                          <m:rPr>
                            <m:nor/>
                          </m:rPr>
                          <a:rPr lang="tr-TR" sz="800" b="0" i="0" noProof="1" smtClean="0">
                            <a:solidFill>
                              <a:schemeClr val="tx1"/>
                            </a:solidFill>
                            <a:cs typeface="Helvetica" panose="020B0604020202020204" pitchFamily="34" charset="0"/>
                          </a:rPr>
                          <m:t>x</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cs typeface="Helvetica" panose="020B0604020202020204" pitchFamily="34" charset="0"/>
                          </a:rPr>
                          <m:t>x</m:t>
                        </m:r>
                      </m:den>
                    </m:f>
                  </m:oMath>
                </a14:m>
                <a:r>
                  <a:rPr lang="tr-TR" sz="800" noProof="1"/>
                  <a:t> = </a:t>
                </a:r>
                <a:r>
                  <a:rPr lang="tr-TR" sz="1000" noProof="1"/>
                  <a:t>21</a:t>
                </a:r>
              </a:p>
            </p:txBody>
          </p:sp>
        </mc:Choice>
        <mc:Fallback xmlns="">
          <p:sp>
            <p:nvSpPr>
              <p:cNvPr id="59" name="Metin kutusu 58">
                <a:extLst>
                  <a:ext uri="{FF2B5EF4-FFF2-40B4-BE49-F238E27FC236}">
                    <a16:creationId xmlns:a16="http://schemas.microsoft.com/office/drawing/2014/main" id="{EB49186C-4B44-4C69-9BD9-E388B6778772}"/>
                  </a:ext>
                </a:extLst>
              </p:cNvPr>
              <p:cNvSpPr txBox="1">
                <a:spLocks noRot="1" noChangeAspect="1" noMove="1" noResize="1" noEditPoints="1" noAdjustHandles="1" noChangeArrowheads="1" noChangeShapeType="1" noTextEdit="1"/>
              </p:cNvSpPr>
              <p:nvPr/>
            </p:nvSpPr>
            <p:spPr>
              <a:xfrm>
                <a:off x="329925" y="1781192"/>
                <a:ext cx="794820" cy="293542"/>
              </a:xfrm>
              <a:prstGeom prst="rect">
                <a:avLst/>
              </a:prstGeom>
              <a:blipFill>
                <a:blip r:embed="rId7"/>
                <a:stretch>
                  <a:fillRect b="-4167"/>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5A93A4ED-5A6C-4FD2-AEEE-6647B8B9274D}"/>
              </a:ext>
            </a:extLst>
          </p:cNvPr>
          <p:cNvSpPr txBox="1"/>
          <p:nvPr/>
        </p:nvSpPr>
        <p:spPr>
          <a:xfrm>
            <a:off x="-49313" y="3169353"/>
            <a:ext cx="3597197" cy="400110"/>
          </a:xfrm>
          <a:prstGeom prst="rect">
            <a:avLst/>
          </a:prstGeom>
          <a:noFill/>
        </p:spPr>
        <p:txBody>
          <a:bodyPr wrap="square" rtlCol="0">
            <a:spAutoFit/>
          </a:bodyPr>
          <a:lstStyle/>
          <a:p>
            <a:r>
              <a:rPr lang="tr-TR" sz="1000" b="1" noProof="1">
                <a:cs typeface="Arial" panose="020B0604020202020204" pitchFamily="34" charset="0"/>
              </a:rPr>
              <a:t>Fatih`in öğretmeni bir hata olduğunu söylemiş ve uyarıda bulunmuştur. Öğretmeni neredeki hatayı vurgulamıştır?</a:t>
            </a:r>
          </a:p>
        </p:txBody>
      </p:sp>
      <p:pic>
        <p:nvPicPr>
          <p:cNvPr id="4" name="Grafik 3">
            <a:extLst>
              <a:ext uri="{FF2B5EF4-FFF2-40B4-BE49-F238E27FC236}">
                <a16:creationId xmlns:a16="http://schemas.microsoft.com/office/drawing/2014/main" id="{729E7CD2-5B2D-4174-843C-EBF4F8FD909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30105" y="1645897"/>
            <a:ext cx="286445" cy="286445"/>
          </a:xfrm>
          <a:prstGeom prst="rect">
            <a:avLst/>
          </a:prstGeom>
        </p:spPr>
      </p:pic>
      <p:pic>
        <p:nvPicPr>
          <p:cNvPr id="10" name="Grafik 9">
            <a:extLst>
              <a:ext uri="{FF2B5EF4-FFF2-40B4-BE49-F238E27FC236}">
                <a16:creationId xmlns:a16="http://schemas.microsoft.com/office/drawing/2014/main" id="{0648E172-3E13-4416-857D-92F36CD8C483}"/>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17361" y="1621518"/>
            <a:ext cx="326678" cy="326678"/>
          </a:xfrm>
          <a:prstGeom prst="rect">
            <a:avLst/>
          </a:prstGeom>
        </p:spPr>
      </p:pic>
      <p:pic>
        <p:nvPicPr>
          <p:cNvPr id="13" name="Grafik 12">
            <a:extLst>
              <a:ext uri="{FF2B5EF4-FFF2-40B4-BE49-F238E27FC236}">
                <a16:creationId xmlns:a16="http://schemas.microsoft.com/office/drawing/2014/main" id="{AD2EB5C6-D40C-420E-BF4E-60932939FBE6}"/>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57765" y="2014641"/>
            <a:ext cx="293542" cy="293542"/>
          </a:xfrm>
          <a:prstGeom prst="rect">
            <a:avLst/>
          </a:prstGeom>
        </p:spPr>
      </p:pic>
      <p:pic>
        <p:nvPicPr>
          <p:cNvPr id="17" name="Grafik 16">
            <a:extLst>
              <a:ext uri="{FF2B5EF4-FFF2-40B4-BE49-F238E27FC236}">
                <a16:creationId xmlns:a16="http://schemas.microsoft.com/office/drawing/2014/main" id="{4738C335-D918-4594-98B3-CA2068E76E2A}"/>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82318" y="2396655"/>
            <a:ext cx="337325" cy="337325"/>
          </a:xfrm>
          <a:prstGeom prst="rect">
            <a:avLst/>
          </a:prstGeom>
        </p:spPr>
      </p:pic>
      <p:pic>
        <p:nvPicPr>
          <p:cNvPr id="25" name="Grafik 24">
            <a:extLst>
              <a:ext uri="{FF2B5EF4-FFF2-40B4-BE49-F238E27FC236}">
                <a16:creationId xmlns:a16="http://schemas.microsoft.com/office/drawing/2014/main" id="{70BB702F-7C9B-44A2-9A94-3047E279F518}"/>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18560" y="2014641"/>
            <a:ext cx="293542" cy="293542"/>
          </a:xfrm>
          <a:prstGeom prst="rect">
            <a:avLst/>
          </a:prstGeom>
        </p:spPr>
      </p:pic>
      <p:sp>
        <p:nvSpPr>
          <p:cNvPr id="61" name="Metin kutusu 60">
            <a:extLst>
              <a:ext uri="{FF2B5EF4-FFF2-40B4-BE49-F238E27FC236}">
                <a16:creationId xmlns:a16="http://schemas.microsoft.com/office/drawing/2014/main" id="{B8EC09B0-B37B-4728-88BC-47065BB92F72}"/>
              </a:ext>
            </a:extLst>
          </p:cNvPr>
          <p:cNvSpPr txBox="1"/>
          <p:nvPr/>
        </p:nvSpPr>
        <p:spPr>
          <a:xfrm>
            <a:off x="-31429" y="3529652"/>
            <a:ext cx="3460429" cy="553998"/>
          </a:xfrm>
          <a:prstGeom prst="rect">
            <a:avLst/>
          </a:prstGeom>
          <a:noFill/>
        </p:spPr>
        <p:txBody>
          <a:bodyPr wrap="square" rtlCol="0">
            <a:spAutoFit/>
          </a:bodyPr>
          <a:lstStyle/>
          <a:p>
            <a:r>
              <a:rPr lang="tr-TR" sz="1000" noProof="1"/>
              <a:t>A) I.adım                              B) II.adım                           C) III.adım</a:t>
            </a:r>
          </a:p>
          <a:p>
            <a:pPr marL="228600" indent="-228600">
              <a:buAutoNum type="alphaUcParenR"/>
            </a:pPr>
            <a:endParaRPr lang="tr-TR" sz="1000" noProof="1"/>
          </a:p>
          <a:p>
            <a:r>
              <a:rPr lang="tr-TR" sz="1000" noProof="1"/>
              <a:t>                 D) IV.adım                        E) Soruda hata vardır.</a:t>
            </a:r>
          </a:p>
        </p:txBody>
      </p:sp>
      <p:sp>
        <p:nvSpPr>
          <p:cNvPr id="63" name="Metin kutusu 62">
            <a:extLst>
              <a:ext uri="{FF2B5EF4-FFF2-40B4-BE49-F238E27FC236}">
                <a16:creationId xmlns:a16="http://schemas.microsoft.com/office/drawing/2014/main" id="{C71A5846-5254-4A7D-BCD8-61B6953B6BD6}"/>
              </a:ext>
            </a:extLst>
          </p:cNvPr>
          <p:cNvSpPr txBox="1"/>
          <p:nvPr/>
        </p:nvSpPr>
        <p:spPr>
          <a:xfrm>
            <a:off x="3521666" y="473565"/>
            <a:ext cx="3295578" cy="246221"/>
          </a:xfrm>
          <a:prstGeom prst="rect">
            <a:avLst/>
          </a:prstGeom>
          <a:noFill/>
        </p:spPr>
        <p:txBody>
          <a:bodyPr wrap="square" rtlCol="0">
            <a:spAutoFit/>
          </a:bodyPr>
          <a:lstStyle/>
          <a:p>
            <a:r>
              <a:rPr lang="tr-TR" sz="1000" noProof="1">
                <a:cs typeface="Arial" panose="020B0604020202020204" pitchFamily="34" charset="0"/>
              </a:rPr>
              <a:t>Aşağıda bir tanım veriliyor ve örneklendiriliyor.</a:t>
            </a:r>
          </a:p>
        </p:txBody>
      </p:sp>
      <mc:AlternateContent xmlns:mc="http://schemas.openxmlformats.org/markup-compatibility/2006" xmlns:a14="http://schemas.microsoft.com/office/drawing/2010/main">
        <mc:Choice Requires="a14">
          <p:sp>
            <p:nvSpPr>
              <p:cNvPr id="64" name="Metin kutusu 63">
                <a:extLst>
                  <a:ext uri="{FF2B5EF4-FFF2-40B4-BE49-F238E27FC236}">
                    <a16:creationId xmlns:a16="http://schemas.microsoft.com/office/drawing/2014/main" id="{22FC1537-2372-40B7-96EB-03500F1ADDB1}"/>
                  </a:ext>
                </a:extLst>
              </p:cNvPr>
              <p:cNvSpPr txBox="1"/>
              <p:nvPr/>
            </p:nvSpPr>
            <p:spPr>
              <a:xfrm>
                <a:off x="3601819" y="692165"/>
                <a:ext cx="3202637" cy="1198533"/>
              </a:xfrm>
              <a:prstGeom prst="rect">
                <a:avLst/>
              </a:prstGeom>
              <a:solidFill>
                <a:schemeClr val="accent4">
                  <a:lumMod val="20000"/>
                  <a:lumOff val="80000"/>
                </a:schemeClr>
              </a:solidFill>
            </p:spPr>
            <p:txBody>
              <a:bodyPr wrap="square" rtlCol="0">
                <a:spAutoFit/>
              </a:bodyPr>
              <a:lstStyle/>
              <a:p>
                <a:r>
                  <a:rPr lang="tr-TR" sz="1000" noProof="1">
                    <a:cs typeface="Arial" panose="020B0604020202020204" pitchFamily="34" charset="0"/>
                  </a:rPr>
                  <a:t>n. dereceden kök içerisindeki sayının rakamları toplamı ile n sayısının mutlak farkı ilgili ifadenin doğru sonucuna eşitse bu tür gösterimlere kökteş gösterimler denir.</a:t>
                </a:r>
              </a:p>
              <a:p>
                <a:endParaRPr lang="tr-TR" sz="1000" noProof="1">
                  <a:cs typeface="Arial" panose="020B0604020202020204" pitchFamily="34" charset="0"/>
                </a:endParaRPr>
              </a:p>
              <a:p>
                <a:r>
                  <a:rPr lang="tr-TR" sz="1000" noProof="1">
                    <a:cs typeface="Arial" panose="020B0604020202020204" pitchFamily="34" charset="0"/>
                  </a:rPr>
                  <a:t>Örneğin : </a:t>
                </a:r>
                <a14:m>
                  <m:oMath xmlns:m="http://schemas.openxmlformats.org/officeDocument/2006/math">
                    <m:rad>
                      <m:radPr>
                        <m:ctrlPr>
                          <a:rPr lang="tr-TR" sz="1000" b="0" i="1" noProof="1" smtClean="0">
                            <a:solidFill>
                              <a:srgbClr val="836967"/>
                            </a:solidFill>
                            <a:latin typeface="Cambria Math" panose="02040503050406030204" pitchFamily="18" charset="0"/>
                            <a:ea typeface="Cambria Math" panose="02040503050406030204" pitchFamily="18" charset="0"/>
                          </a:rPr>
                        </m:ctrlPr>
                      </m:radPr>
                      <m:deg>
                        <m:r>
                          <a:rPr lang="tr-TR" sz="1000" b="0" i="1" noProof="1" smtClean="0">
                            <a:latin typeface="Cambria Math" panose="02040503050406030204" pitchFamily="18" charset="0"/>
                            <a:ea typeface="Cambria Math" panose="02040503050406030204" pitchFamily="18" charset="0"/>
                          </a:rPr>
                          <m:t>2</m:t>
                        </m:r>
                      </m:deg>
                      <m:e>
                        <m:r>
                          <m:rPr>
                            <m:nor/>
                          </m:rPr>
                          <a:rPr lang="tr-TR" sz="1000" b="0" i="0" noProof="1" smtClean="0">
                            <a:ea typeface="Cambria Math" panose="02040503050406030204" pitchFamily="18" charset="0"/>
                          </a:rPr>
                          <m:t>64</m:t>
                        </m:r>
                      </m:e>
                    </m:rad>
                  </m:oMath>
                </a14:m>
                <a:r>
                  <a:rPr lang="tr-TR" sz="1000" noProof="1">
                    <a:cs typeface="Arial" panose="020B0604020202020204" pitchFamily="34" charset="0"/>
                  </a:rPr>
                  <a:t> kökün derecesi yazılmasa da standart olarak 2 dir. İçerdekilerin toplamı ve n nin farkı |10-2| = 8 ve </a:t>
                </a:r>
                <a14:m>
                  <m:oMath xmlns:m="http://schemas.openxmlformats.org/officeDocument/2006/math">
                    <m:rad>
                      <m:radPr>
                        <m:ctrlPr>
                          <a:rPr lang="tr-TR" sz="1000" i="1" noProof="1" smtClean="0">
                            <a:solidFill>
                              <a:srgbClr val="836967"/>
                            </a:solidFill>
                            <a:latin typeface="Cambria Math" panose="02040503050406030204" pitchFamily="18" charset="0"/>
                            <a:ea typeface="Cambria Math" panose="02040503050406030204" pitchFamily="18" charset="0"/>
                          </a:rPr>
                        </m:ctrlPr>
                      </m:radPr>
                      <m:deg>
                        <m:r>
                          <a:rPr lang="tr-TR" sz="1000" i="1" noProof="1">
                            <a:latin typeface="Cambria Math" panose="02040503050406030204" pitchFamily="18" charset="0"/>
                            <a:ea typeface="Cambria Math" panose="02040503050406030204" pitchFamily="18" charset="0"/>
                          </a:rPr>
                          <m:t>2</m:t>
                        </m:r>
                      </m:deg>
                      <m:e>
                        <m:r>
                          <m:rPr>
                            <m:nor/>
                          </m:rPr>
                          <a:rPr lang="tr-TR" sz="1000" i="0" noProof="1">
                            <a:ea typeface="Cambria Math" panose="02040503050406030204" pitchFamily="18" charset="0"/>
                          </a:rPr>
                          <m:t>64</m:t>
                        </m:r>
                      </m:e>
                    </m:rad>
                  </m:oMath>
                </a14:m>
                <a:r>
                  <a:rPr lang="tr-TR" sz="1000" noProof="1">
                    <a:cs typeface="Arial" panose="020B0604020202020204" pitchFamily="34" charset="0"/>
                  </a:rPr>
                  <a:t>  = 8 olduğundan </a:t>
                </a:r>
                <a14:m>
                  <m:oMath xmlns:m="http://schemas.openxmlformats.org/officeDocument/2006/math">
                    <m:rad>
                      <m:radPr>
                        <m:ctrlPr>
                          <a:rPr lang="tr-TR" sz="1000" i="1" noProof="1" smtClean="0">
                            <a:solidFill>
                              <a:srgbClr val="836967"/>
                            </a:solidFill>
                            <a:latin typeface="Cambria Math" panose="02040503050406030204" pitchFamily="18" charset="0"/>
                            <a:ea typeface="Cambria Math" panose="02040503050406030204" pitchFamily="18" charset="0"/>
                          </a:rPr>
                        </m:ctrlPr>
                      </m:radPr>
                      <m:deg>
                        <m:r>
                          <a:rPr lang="tr-TR" sz="1000" i="1" noProof="1">
                            <a:latin typeface="Cambria Math" panose="02040503050406030204" pitchFamily="18" charset="0"/>
                            <a:ea typeface="Cambria Math" panose="02040503050406030204" pitchFamily="18" charset="0"/>
                          </a:rPr>
                          <m:t>2</m:t>
                        </m:r>
                      </m:deg>
                      <m:e>
                        <m:r>
                          <m:rPr>
                            <m:nor/>
                          </m:rPr>
                          <a:rPr lang="tr-TR" sz="1000" i="0" noProof="1">
                            <a:ea typeface="Cambria Math" panose="02040503050406030204" pitchFamily="18" charset="0"/>
                          </a:rPr>
                          <m:t>64</m:t>
                        </m:r>
                      </m:e>
                    </m:rad>
                  </m:oMath>
                </a14:m>
                <a:r>
                  <a:rPr lang="tr-TR" sz="1000" noProof="1">
                    <a:cs typeface="Arial" panose="020B0604020202020204" pitchFamily="34" charset="0"/>
                  </a:rPr>
                  <a:t> ifadesi kökteş gösterimdir.</a:t>
                </a:r>
              </a:p>
            </p:txBody>
          </p:sp>
        </mc:Choice>
        <mc:Fallback xmlns="">
          <p:sp>
            <p:nvSpPr>
              <p:cNvPr id="64" name="Metin kutusu 63">
                <a:extLst>
                  <a:ext uri="{FF2B5EF4-FFF2-40B4-BE49-F238E27FC236}">
                    <a16:creationId xmlns:a16="http://schemas.microsoft.com/office/drawing/2014/main" id="{22FC1537-2372-40B7-96EB-03500F1ADDB1}"/>
                  </a:ext>
                </a:extLst>
              </p:cNvPr>
              <p:cNvSpPr txBox="1">
                <a:spLocks noRot="1" noChangeAspect="1" noMove="1" noResize="1" noEditPoints="1" noAdjustHandles="1" noChangeArrowheads="1" noChangeShapeType="1" noTextEdit="1"/>
              </p:cNvSpPr>
              <p:nvPr/>
            </p:nvSpPr>
            <p:spPr>
              <a:xfrm>
                <a:off x="3601819" y="692165"/>
                <a:ext cx="3202637" cy="1198533"/>
              </a:xfrm>
              <a:prstGeom prst="rect">
                <a:avLst/>
              </a:prstGeom>
              <a:blipFill>
                <a:blip r:embed="rId18"/>
                <a:stretch>
                  <a:fillRect b="-204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5" name="Metin kutusu 64">
                <a:extLst>
                  <a:ext uri="{FF2B5EF4-FFF2-40B4-BE49-F238E27FC236}">
                    <a16:creationId xmlns:a16="http://schemas.microsoft.com/office/drawing/2014/main" id="{FDA90F36-C0A3-4E9E-B31F-C9BF4C18621E}"/>
                  </a:ext>
                </a:extLst>
              </p:cNvPr>
              <p:cNvSpPr txBox="1"/>
              <p:nvPr/>
            </p:nvSpPr>
            <p:spPr>
              <a:xfrm>
                <a:off x="3530931" y="1882027"/>
                <a:ext cx="3295578" cy="1216102"/>
              </a:xfrm>
              <a:prstGeom prst="rect">
                <a:avLst/>
              </a:prstGeom>
              <a:noFill/>
            </p:spPr>
            <p:txBody>
              <a:bodyPr wrap="square" rtlCol="0">
                <a:spAutoFit/>
              </a:bodyPr>
              <a:lstStyle/>
              <a:p>
                <a:r>
                  <a:rPr lang="tr-TR" sz="1000" b="1" noProof="1">
                    <a:cs typeface="Arial" panose="020B0604020202020204" pitchFamily="34" charset="0"/>
                  </a:rPr>
                  <a:t>Buna göre,</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I. </a:t>
                </a:r>
                <a14:m>
                  <m:oMath xmlns:m="http://schemas.openxmlformats.org/officeDocument/2006/math">
                    <m:rad>
                      <m:radPr>
                        <m:ctrlPr>
                          <a:rPr lang="tr-TR" sz="1000" b="0" i="1" noProof="1" smtClean="0">
                            <a:solidFill>
                              <a:schemeClr val="tx1"/>
                            </a:solidFill>
                            <a:latin typeface="Cambria Math" panose="02040503050406030204" pitchFamily="18" charset="0"/>
                            <a:ea typeface="Cambria Math" panose="02040503050406030204" pitchFamily="18" charset="0"/>
                          </a:rPr>
                        </m:ctrlPr>
                      </m:radPr>
                      <m:deg>
                        <m:r>
                          <a:rPr lang="tr-TR" sz="1000" b="0" i="0" noProof="1" smtClean="0">
                            <a:solidFill>
                              <a:schemeClr val="tx1"/>
                            </a:solidFill>
                            <a:latin typeface="Cambria Math" panose="02040503050406030204" pitchFamily="18" charset="0"/>
                            <a:ea typeface="Cambria Math" panose="02040503050406030204" pitchFamily="18" charset="0"/>
                          </a:rPr>
                          <m:t>3</m:t>
                        </m:r>
                      </m:deg>
                      <m:e>
                        <m:r>
                          <m:rPr>
                            <m:nor/>
                          </m:rPr>
                          <a:rPr lang="tr-TR" sz="1000" b="0" i="0" noProof="1" smtClean="0">
                            <a:solidFill>
                              <a:schemeClr val="tx1"/>
                            </a:solidFill>
                            <a:ea typeface="Cambria Math" panose="02040503050406030204" pitchFamily="18" charset="0"/>
                          </a:rPr>
                          <m:t>125</m:t>
                        </m:r>
                      </m:e>
                    </m:rad>
                  </m:oMath>
                </a14:m>
                <a:r>
                  <a:rPr lang="tr-TR" sz="1000" b="0" noProof="1">
                    <a:solidFill>
                      <a:schemeClr val="tx1"/>
                    </a:solidFill>
                    <a:ea typeface="Cambria Math" panose="02040503050406030204" pitchFamily="18" charset="0"/>
                  </a:rPr>
                  <a:t> </a:t>
                </a:r>
              </a:p>
              <a:p>
                <a:r>
                  <a:rPr lang="tr-TR" sz="1000" b="0" noProof="1">
                    <a:solidFill>
                      <a:schemeClr val="tx1"/>
                    </a:solidFill>
                    <a:ea typeface="Cambria Math" panose="02040503050406030204" pitchFamily="18" charset="0"/>
                  </a:rPr>
                  <a:t>II. </a:t>
                </a:r>
                <a14:m>
                  <m:oMath xmlns:m="http://schemas.openxmlformats.org/officeDocument/2006/math">
                    <m:rad>
                      <m:radPr>
                        <m:ctrlPr>
                          <a:rPr lang="tr-TR" sz="1000" b="0" i="1" noProof="1" smtClean="0">
                            <a:solidFill>
                              <a:schemeClr val="tx1"/>
                            </a:solidFill>
                            <a:latin typeface="Cambria Math" panose="02040503050406030204" pitchFamily="18" charset="0"/>
                            <a:ea typeface="Cambria Math" panose="02040503050406030204" pitchFamily="18" charset="0"/>
                          </a:rPr>
                        </m:ctrlPr>
                      </m:radPr>
                      <m:deg>
                        <m:r>
                          <a:rPr lang="tr-TR" sz="1000" b="0" i="0" noProof="1" smtClean="0">
                            <a:solidFill>
                              <a:schemeClr val="tx1"/>
                            </a:solidFill>
                            <a:latin typeface="Cambria Math" panose="02040503050406030204" pitchFamily="18" charset="0"/>
                            <a:ea typeface="Cambria Math" panose="02040503050406030204" pitchFamily="18" charset="0"/>
                          </a:rPr>
                          <m:t>2</m:t>
                        </m:r>
                      </m:deg>
                      <m:e>
                        <m:r>
                          <m:rPr>
                            <m:nor/>
                          </m:rPr>
                          <a:rPr lang="tr-TR" sz="1000" b="0" i="0" noProof="1" smtClean="0">
                            <a:solidFill>
                              <a:schemeClr val="tx1"/>
                            </a:solidFill>
                            <a:ea typeface="Cambria Math" panose="02040503050406030204" pitchFamily="18" charset="0"/>
                          </a:rPr>
                          <m:t>25</m:t>
                        </m:r>
                      </m:e>
                    </m:rad>
                  </m:oMath>
                </a14:m>
                <a:r>
                  <a:rPr lang="tr-TR" sz="1000" noProof="1">
                    <a:solidFill>
                      <a:schemeClr val="tx1"/>
                    </a:solidFill>
                    <a:ea typeface="Cambria Math" panose="02040503050406030204" pitchFamily="18" charset="0"/>
                  </a:rPr>
                  <a:t> </a:t>
                </a:r>
              </a:p>
              <a:p>
                <a:r>
                  <a:rPr lang="tr-TR" sz="1000" b="0" noProof="1">
                    <a:solidFill>
                      <a:schemeClr val="tx1"/>
                    </a:solidFill>
                    <a:ea typeface="Cambria Math" panose="02040503050406030204" pitchFamily="18" charset="0"/>
                  </a:rPr>
                  <a:t>III. </a:t>
                </a:r>
                <a14:m>
                  <m:oMath xmlns:m="http://schemas.openxmlformats.org/officeDocument/2006/math">
                    <m:rad>
                      <m:radPr>
                        <m:ctrlPr>
                          <a:rPr lang="tr-TR" sz="1000" b="0" i="1" noProof="1" smtClean="0">
                            <a:solidFill>
                              <a:schemeClr val="tx1"/>
                            </a:solidFill>
                            <a:latin typeface="Cambria Math" panose="02040503050406030204" pitchFamily="18" charset="0"/>
                            <a:ea typeface="Cambria Math" panose="02040503050406030204" pitchFamily="18" charset="0"/>
                          </a:rPr>
                        </m:ctrlPr>
                      </m:radPr>
                      <m:deg>
                        <m:r>
                          <a:rPr lang="tr-TR" sz="1000" b="0" i="0" noProof="1" smtClean="0">
                            <a:solidFill>
                              <a:schemeClr val="tx1"/>
                            </a:solidFill>
                            <a:latin typeface="Cambria Math" panose="02040503050406030204" pitchFamily="18" charset="0"/>
                            <a:ea typeface="Cambria Math" panose="02040503050406030204" pitchFamily="18" charset="0"/>
                          </a:rPr>
                          <m:t>3</m:t>
                        </m:r>
                      </m:deg>
                      <m:e>
                        <m:r>
                          <m:rPr>
                            <m:nor/>
                          </m:rPr>
                          <a:rPr lang="tr-TR" sz="1000" b="0" i="0" noProof="1" smtClean="0">
                            <a:solidFill>
                              <a:schemeClr val="tx1"/>
                            </a:solidFill>
                            <a:ea typeface="Cambria Math" panose="02040503050406030204" pitchFamily="18" charset="0"/>
                          </a:rPr>
                          <m:t>216</m:t>
                        </m:r>
                      </m:e>
                    </m:rad>
                  </m:oMath>
                </a14:m>
                <a:endParaRPr lang="tr-TR" sz="1000" b="0" noProof="1">
                  <a:solidFill>
                    <a:schemeClr val="tx1"/>
                  </a:solidFill>
                  <a:ea typeface="Cambria Math" panose="02040503050406030204" pitchFamily="18" charset="0"/>
                </a:endParaRPr>
              </a:p>
              <a:p>
                <a:endParaRPr lang="tr-TR" sz="1000" noProof="1">
                  <a:ea typeface="Cambria Math" panose="02040503050406030204" pitchFamily="18" charset="0"/>
                </a:endParaRPr>
              </a:p>
              <a:p>
                <a:r>
                  <a:rPr lang="tr-TR" sz="1000" b="1" noProof="1">
                    <a:ea typeface="Cambria Math" panose="02040503050406030204" pitchFamily="18" charset="0"/>
                  </a:rPr>
                  <a:t>ifadelerinden hangileri kökteş gösterimdir?</a:t>
                </a:r>
                <a:r>
                  <a:rPr lang="tr-TR" sz="1000" b="1" noProof="1">
                    <a:solidFill>
                      <a:schemeClr val="tx1"/>
                    </a:solidFill>
                    <a:ea typeface="Cambria Math" panose="02040503050406030204" pitchFamily="18" charset="0"/>
                  </a:rPr>
                  <a:t> </a:t>
                </a:r>
                <a:endParaRPr lang="tr-TR" sz="1000" b="1" noProof="1">
                  <a:ea typeface="Cambria Math" panose="02040503050406030204" pitchFamily="18" charset="0"/>
                </a:endParaRPr>
              </a:p>
            </p:txBody>
          </p:sp>
        </mc:Choice>
        <mc:Fallback xmlns="">
          <p:sp>
            <p:nvSpPr>
              <p:cNvPr id="65" name="Metin kutusu 64">
                <a:extLst>
                  <a:ext uri="{FF2B5EF4-FFF2-40B4-BE49-F238E27FC236}">
                    <a16:creationId xmlns:a16="http://schemas.microsoft.com/office/drawing/2014/main" id="{FDA90F36-C0A3-4E9E-B31F-C9BF4C18621E}"/>
                  </a:ext>
                </a:extLst>
              </p:cNvPr>
              <p:cNvSpPr txBox="1">
                <a:spLocks noRot="1" noChangeAspect="1" noMove="1" noResize="1" noEditPoints="1" noAdjustHandles="1" noChangeArrowheads="1" noChangeShapeType="1" noTextEdit="1"/>
              </p:cNvSpPr>
              <p:nvPr/>
            </p:nvSpPr>
            <p:spPr>
              <a:xfrm>
                <a:off x="3530931" y="1882027"/>
                <a:ext cx="3295578" cy="1216102"/>
              </a:xfrm>
              <a:prstGeom prst="rect">
                <a:avLst/>
              </a:prstGeom>
              <a:blipFill>
                <a:blip r:embed="rId19"/>
                <a:stretch>
                  <a:fillRect b="-1005"/>
                </a:stretch>
              </a:blipFill>
            </p:spPr>
            <p:txBody>
              <a:bodyPr/>
              <a:lstStyle/>
              <a:p>
                <a:r>
                  <a:rPr lang="tr-TR">
                    <a:noFill/>
                  </a:rPr>
                  <a:t> </a:t>
                </a:r>
              </a:p>
            </p:txBody>
          </p:sp>
        </mc:Fallback>
      </mc:AlternateContent>
      <p:sp>
        <p:nvSpPr>
          <p:cNvPr id="66" name="Metin kutusu 65">
            <a:extLst>
              <a:ext uri="{FF2B5EF4-FFF2-40B4-BE49-F238E27FC236}">
                <a16:creationId xmlns:a16="http://schemas.microsoft.com/office/drawing/2014/main" id="{64280639-BCC9-4406-B29D-9692922750E1}"/>
              </a:ext>
            </a:extLst>
          </p:cNvPr>
          <p:cNvSpPr txBox="1"/>
          <p:nvPr/>
        </p:nvSpPr>
        <p:spPr>
          <a:xfrm>
            <a:off x="3536697" y="3024723"/>
            <a:ext cx="3317934" cy="553998"/>
          </a:xfrm>
          <a:prstGeom prst="rect">
            <a:avLst/>
          </a:prstGeom>
          <a:noFill/>
        </p:spPr>
        <p:txBody>
          <a:bodyPr wrap="square" rtlCol="0">
            <a:spAutoFit/>
          </a:bodyPr>
          <a:lstStyle/>
          <a:p>
            <a:r>
              <a:rPr lang="tr-TR" sz="1000" dirty="0">
                <a:cs typeface="Arial" panose="020B0604020202020204" pitchFamily="34" charset="0"/>
              </a:rPr>
              <a:t>A) Yalnız I                              B) I,II ve III                            C) I ve III</a:t>
            </a:r>
          </a:p>
          <a:p>
            <a:r>
              <a:rPr lang="tr-TR" sz="1000" dirty="0">
                <a:cs typeface="Arial" panose="020B0604020202020204" pitchFamily="34" charset="0"/>
              </a:rPr>
              <a:t>  </a:t>
            </a:r>
          </a:p>
          <a:p>
            <a:r>
              <a:rPr lang="tr-TR" sz="1000" dirty="0">
                <a:cs typeface="Arial" panose="020B0604020202020204" pitchFamily="34" charset="0"/>
              </a:rPr>
              <a:t>                       D) II ve III                          E) I ve II</a:t>
            </a:r>
          </a:p>
        </p:txBody>
      </p:sp>
    </p:spTree>
    <p:extLst>
      <p:ext uri="{BB962C8B-B14F-4D97-AF65-F5344CB8AC3E}">
        <p14:creationId xmlns:p14="http://schemas.microsoft.com/office/powerpoint/2010/main" val="2744829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492228" y="442529"/>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Sayı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437112" y="55435"/>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457574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Periyodik Problemler</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59017" y="711941"/>
            <a:ext cx="3284320" cy="3016210"/>
          </a:xfrm>
          <a:prstGeom prst="rect">
            <a:avLst/>
          </a:prstGeom>
          <a:noFill/>
        </p:spPr>
        <p:txBody>
          <a:bodyPr wrap="square" rtlCol="0">
            <a:spAutoFit/>
          </a:bodyPr>
          <a:lstStyle/>
          <a:p>
            <a:r>
              <a:rPr lang="tr-TR" sz="1000" noProof="1">
                <a:cs typeface="Arial" panose="020B0604020202020204" pitchFamily="34" charset="0"/>
              </a:rPr>
              <a:t>Başlangıç olarak periyodun tanımını yapalım.</a:t>
            </a:r>
          </a:p>
          <a:p>
            <a:endParaRPr lang="tr-TR" sz="1000" noProof="1">
              <a:cs typeface="Arial" panose="020B0604020202020204" pitchFamily="34" charset="0"/>
            </a:endParaRPr>
          </a:p>
          <a:p>
            <a:r>
              <a:rPr lang="tr-TR" sz="1000" noProof="1">
                <a:cs typeface="Arial" panose="020B0604020202020204" pitchFamily="34" charset="0"/>
              </a:rPr>
              <a:t>Periyot : Belli aralıklarla </a:t>
            </a:r>
            <a:r>
              <a:rPr lang="tr-TR" sz="1000" u="sng" noProof="1">
                <a:cs typeface="Arial" panose="020B0604020202020204" pitchFamily="34" charset="0"/>
              </a:rPr>
              <a:t>sürekli</a:t>
            </a:r>
            <a:r>
              <a:rPr lang="tr-TR" sz="1000" noProof="1">
                <a:cs typeface="Arial" panose="020B0604020202020204" pitchFamily="34" charset="0"/>
              </a:rPr>
              <a:t> tekrar eden döngüdür.</a:t>
            </a:r>
          </a:p>
          <a:p>
            <a:endParaRPr lang="tr-TR" sz="1000" noProof="1">
              <a:cs typeface="Arial" panose="020B0604020202020204" pitchFamily="34" charset="0"/>
            </a:endParaRPr>
          </a:p>
          <a:p>
            <a:r>
              <a:rPr lang="tr-TR" sz="1000" noProof="1">
                <a:cs typeface="Arial" panose="020B0604020202020204" pitchFamily="34" charset="0"/>
              </a:rPr>
              <a:t>Periyodik problemlerin mantığı çok basittir. Periyot bulunur. Örneğin bir hafta 7 gündür. Bugün pazartesiyse 7 gün sonra da pazartesidir. Peki 40 gün sonra hangi gün olacaktır diye sorsam ne dersiniz? Periyot 7 idi kaç tane tam periyot geçtiğini bulalım. Tamamlanmamış olan günler burada bizim kalanımız olacaktır. 40/7 yaptığımızda 7.5 = 35 + 5 şeklinde buluyoruz. Yani kalan 5 dır.</a:t>
            </a:r>
          </a:p>
          <a:p>
            <a:endParaRPr lang="tr-TR" sz="1000" noProof="1">
              <a:cs typeface="Arial" panose="020B0604020202020204" pitchFamily="34" charset="0"/>
            </a:endParaRPr>
          </a:p>
          <a:p>
            <a:r>
              <a:rPr lang="tr-TR" sz="1000" noProof="1">
                <a:cs typeface="Arial" panose="020B0604020202020204" pitchFamily="34" charset="0"/>
              </a:rPr>
              <a:t>Eğer tam periyot olsaydı yani 7 olsaydı Pazartesi olurdu. 6 olsa cumartesi 5 olsa demek ki cumaymış. Dikkat ettiyseniz tam periyotlar bizim için önem taşımıyor çünkü zaten periyodik şekilde tekrar ediyor bizim için nihai durum önemli onuda kalanlarla buluyoruz. Kalansız bölünüyorsa başlangıçtaki durum geçerli olacaktır kalanlar içinde değerlendirmeler yapılır soruda daha net göreceğiz.</a:t>
            </a: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52" name="Dikdörtgen 9">
            <a:extLst>
              <a:ext uri="{FF2B5EF4-FFF2-40B4-BE49-F238E27FC236}">
                <a16:creationId xmlns:a16="http://schemas.microsoft.com/office/drawing/2014/main" id="{3FDEAB17-D58D-4FC6-9850-887384AFD5AE}"/>
              </a:ext>
            </a:extLst>
          </p:cNvPr>
          <p:cNvSpPr/>
          <p:nvPr/>
        </p:nvSpPr>
        <p:spPr>
          <a:xfrm>
            <a:off x="117634" y="3779912"/>
            <a:ext cx="3118411" cy="1158978"/>
          </a:xfrm>
          <a:custGeom>
            <a:avLst/>
            <a:gdLst>
              <a:gd name="connsiteX0" fmla="*/ 0 w 2978385"/>
              <a:gd name="connsiteY0" fmla="*/ 0 h 7077712"/>
              <a:gd name="connsiteX1" fmla="*/ 2978385 w 2978385"/>
              <a:gd name="connsiteY1" fmla="*/ 0 h 7077712"/>
              <a:gd name="connsiteX2" fmla="*/ 2978385 w 2978385"/>
              <a:gd name="connsiteY2" fmla="*/ 7077712 h 7077712"/>
              <a:gd name="connsiteX3" fmla="*/ 0 w 2978385"/>
              <a:gd name="connsiteY3" fmla="*/ 7077712 h 7077712"/>
              <a:gd name="connsiteX4" fmla="*/ 0 w 2978385"/>
              <a:gd name="connsiteY4" fmla="*/ 0 h 7077712"/>
              <a:gd name="connsiteX0" fmla="*/ 0 w 2978385"/>
              <a:gd name="connsiteY0" fmla="*/ 0 h 7382512"/>
              <a:gd name="connsiteX1" fmla="*/ 2978385 w 2978385"/>
              <a:gd name="connsiteY1" fmla="*/ 0 h 7382512"/>
              <a:gd name="connsiteX2" fmla="*/ 2978385 w 2978385"/>
              <a:gd name="connsiteY2" fmla="*/ 7077712 h 7382512"/>
              <a:gd name="connsiteX3" fmla="*/ 0 w 2978385"/>
              <a:gd name="connsiteY3" fmla="*/ 7077712 h 7382512"/>
              <a:gd name="connsiteX4" fmla="*/ 0 w 2978385"/>
              <a:gd name="connsiteY4" fmla="*/ 0 h 7382512"/>
              <a:gd name="connsiteX0" fmla="*/ 0 w 2978385"/>
              <a:gd name="connsiteY0" fmla="*/ 0 h 7510541"/>
              <a:gd name="connsiteX1" fmla="*/ 2978385 w 2978385"/>
              <a:gd name="connsiteY1" fmla="*/ 0 h 7510541"/>
              <a:gd name="connsiteX2" fmla="*/ 2978385 w 2978385"/>
              <a:gd name="connsiteY2" fmla="*/ 7077712 h 7510541"/>
              <a:gd name="connsiteX3" fmla="*/ 0 w 2978385"/>
              <a:gd name="connsiteY3" fmla="*/ 7077712 h 7510541"/>
              <a:gd name="connsiteX4" fmla="*/ 0 w 2978385"/>
              <a:gd name="connsiteY4" fmla="*/ 0 h 7510541"/>
              <a:gd name="connsiteX0" fmla="*/ 0 w 2991085"/>
              <a:gd name="connsiteY0" fmla="*/ 0 h 7503317"/>
              <a:gd name="connsiteX1" fmla="*/ 2978385 w 2991085"/>
              <a:gd name="connsiteY1" fmla="*/ 0 h 7503317"/>
              <a:gd name="connsiteX2" fmla="*/ 2991085 w 2991085"/>
              <a:gd name="connsiteY2" fmla="*/ 7065012 h 7503317"/>
              <a:gd name="connsiteX3" fmla="*/ 0 w 2991085"/>
              <a:gd name="connsiteY3" fmla="*/ 7077712 h 7503317"/>
              <a:gd name="connsiteX4" fmla="*/ 0 w 2991085"/>
              <a:gd name="connsiteY4" fmla="*/ 0 h 750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085" h="7503317">
                <a:moveTo>
                  <a:pt x="0" y="0"/>
                </a:moveTo>
                <a:lnTo>
                  <a:pt x="2978385" y="0"/>
                </a:lnTo>
                <a:cubicBezTo>
                  <a:pt x="2982618" y="2355004"/>
                  <a:pt x="2986852" y="4710008"/>
                  <a:pt x="2991085" y="7065012"/>
                </a:cubicBezTo>
                <a:cubicBezTo>
                  <a:pt x="1490290" y="7750812"/>
                  <a:pt x="21245" y="7534912"/>
                  <a:pt x="0" y="7077712"/>
                </a:cubicBezTo>
                <a:lnTo>
                  <a:pt x="0" y="0"/>
                </a:lnTo>
                <a:close/>
              </a:path>
            </a:pathLst>
          </a:cu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3" name="Metin kutusu 52">
            <a:extLst>
              <a:ext uri="{FF2B5EF4-FFF2-40B4-BE49-F238E27FC236}">
                <a16:creationId xmlns:a16="http://schemas.microsoft.com/office/drawing/2014/main" id="{60643309-02C4-4495-9BC1-59A8EC1BBA4A}"/>
              </a:ext>
            </a:extLst>
          </p:cNvPr>
          <p:cNvSpPr txBox="1"/>
          <p:nvPr/>
        </p:nvSpPr>
        <p:spPr>
          <a:xfrm>
            <a:off x="74093" y="3761577"/>
            <a:ext cx="3215380" cy="1169551"/>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cs typeface="Arial" panose="020B0604020202020204" pitchFamily="34" charset="0"/>
              </a:rPr>
              <a:t>Herhangi bir durum belli aralıklar ile kendini tekrar ederse bu duruma periyodik durum denir.</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Geçen aralığa ise periyot denir. </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Periyot bulunduktan sonra kalanlar kontrol edilir ve kalanlarla işlem nihai olarak değerlendirilir.</a:t>
            </a:r>
          </a:p>
        </p:txBody>
      </p:sp>
      <p:sp>
        <p:nvSpPr>
          <p:cNvPr id="43" name="Akış Çizelgesi: Depolanmış Veri 42">
            <a:extLst>
              <a:ext uri="{FF2B5EF4-FFF2-40B4-BE49-F238E27FC236}">
                <a16:creationId xmlns:a16="http://schemas.microsoft.com/office/drawing/2014/main" id="{7F2EBC4D-62A5-4D65-8DD0-2E2F8ACC098E}"/>
              </a:ext>
            </a:extLst>
          </p:cNvPr>
          <p:cNvSpPr/>
          <p:nvPr/>
        </p:nvSpPr>
        <p:spPr>
          <a:xfrm rot="10800000">
            <a:off x="194964" y="504752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9" name="Metin kutusu 48">
            <a:extLst>
              <a:ext uri="{FF2B5EF4-FFF2-40B4-BE49-F238E27FC236}">
                <a16:creationId xmlns:a16="http://schemas.microsoft.com/office/drawing/2014/main" id="{539DC3C1-A069-438B-8678-31E363D6A54A}"/>
              </a:ext>
            </a:extLst>
          </p:cNvPr>
          <p:cNvSpPr txBox="1"/>
          <p:nvPr/>
        </p:nvSpPr>
        <p:spPr>
          <a:xfrm>
            <a:off x="236645" y="506607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5" name="Oval 54">
            <a:extLst>
              <a:ext uri="{FF2B5EF4-FFF2-40B4-BE49-F238E27FC236}">
                <a16:creationId xmlns:a16="http://schemas.microsoft.com/office/drawing/2014/main" id="{1057FDED-2DB0-4570-86FD-2D48FBD600AE}"/>
              </a:ext>
            </a:extLst>
          </p:cNvPr>
          <p:cNvSpPr/>
          <p:nvPr/>
        </p:nvSpPr>
        <p:spPr>
          <a:xfrm>
            <a:off x="45370" y="504752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Metin kutusu 55">
            <a:extLst>
              <a:ext uri="{FF2B5EF4-FFF2-40B4-BE49-F238E27FC236}">
                <a16:creationId xmlns:a16="http://schemas.microsoft.com/office/drawing/2014/main" id="{D97BBB60-8350-4CD6-A8B9-82EA4A4D1B50}"/>
              </a:ext>
            </a:extLst>
          </p:cNvPr>
          <p:cNvSpPr txBox="1"/>
          <p:nvPr/>
        </p:nvSpPr>
        <p:spPr>
          <a:xfrm>
            <a:off x="-86043" y="505792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59" name="Akış Çizelgesi: Depolanmış Veri 58">
            <a:extLst>
              <a:ext uri="{FF2B5EF4-FFF2-40B4-BE49-F238E27FC236}">
                <a16:creationId xmlns:a16="http://schemas.microsoft.com/office/drawing/2014/main" id="{1DC6F350-C087-43E7-A3EB-4EE2BA51445B}"/>
              </a:ext>
            </a:extLst>
          </p:cNvPr>
          <p:cNvSpPr/>
          <p:nvPr/>
        </p:nvSpPr>
        <p:spPr>
          <a:xfrm rot="10800000">
            <a:off x="3679027" y="508602"/>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60" name="Metin kutusu 59">
            <a:extLst>
              <a:ext uri="{FF2B5EF4-FFF2-40B4-BE49-F238E27FC236}">
                <a16:creationId xmlns:a16="http://schemas.microsoft.com/office/drawing/2014/main" id="{8A333DB0-91B3-433D-88CB-3A2D09920052}"/>
              </a:ext>
            </a:extLst>
          </p:cNvPr>
          <p:cNvSpPr txBox="1"/>
          <p:nvPr/>
        </p:nvSpPr>
        <p:spPr>
          <a:xfrm>
            <a:off x="3720708" y="527153"/>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61" name="Oval 60">
            <a:extLst>
              <a:ext uri="{FF2B5EF4-FFF2-40B4-BE49-F238E27FC236}">
                <a16:creationId xmlns:a16="http://schemas.microsoft.com/office/drawing/2014/main" id="{64EE7BA9-0A39-4BDC-93A5-30E1DE346880}"/>
              </a:ext>
            </a:extLst>
          </p:cNvPr>
          <p:cNvSpPr/>
          <p:nvPr/>
        </p:nvSpPr>
        <p:spPr>
          <a:xfrm>
            <a:off x="3529433" y="508602"/>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62" name="Metin kutusu 61">
            <a:extLst>
              <a:ext uri="{FF2B5EF4-FFF2-40B4-BE49-F238E27FC236}">
                <a16:creationId xmlns:a16="http://schemas.microsoft.com/office/drawing/2014/main" id="{0BB7F703-4345-4CE1-A117-89D741FE1D36}"/>
              </a:ext>
            </a:extLst>
          </p:cNvPr>
          <p:cNvSpPr txBox="1"/>
          <p:nvPr/>
        </p:nvSpPr>
        <p:spPr>
          <a:xfrm>
            <a:off x="3398020" y="51899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9" name="Metin kutusu 68">
            <a:extLst>
              <a:ext uri="{FF2B5EF4-FFF2-40B4-BE49-F238E27FC236}">
                <a16:creationId xmlns:a16="http://schemas.microsoft.com/office/drawing/2014/main" id="{0DACAF8B-B77C-4BC9-A0AE-CF29196ADAAE}"/>
              </a:ext>
            </a:extLst>
          </p:cNvPr>
          <p:cNvSpPr txBox="1"/>
          <p:nvPr/>
        </p:nvSpPr>
        <p:spPr>
          <a:xfrm>
            <a:off x="9636" y="5341455"/>
            <a:ext cx="3284320" cy="246221"/>
          </a:xfrm>
          <a:prstGeom prst="rect">
            <a:avLst/>
          </a:prstGeom>
          <a:noFill/>
        </p:spPr>
        <p:txBody>
          <a:bodyPr wrap="square" rtlCol="0">
            <a:spAutoFit/>
          </a:bodyPr>
          <a:lstStyle/>
          <a:p>
            <a:r>
              <a:rPr lang="tr-TR" sz="1000" noProof="1">
                <a:cs typeface="Arial" panose="020B0604020202020204" pitchFamily="34" charset="0"/>
              </a:rPr>
              <a:t>Bugün günlerden salı ise 7 gün sonraki gün hangi gündür? </a:t>
            </a:r>
          </a:p>
        </p:txBody>
      </p:sp>
      <p:sp>
        <p:nvSpPr>
          <p:cNvPr id="70" name="Ok: Beşgen 69">
            <a:extLst>
              <a:ext uri="{FF2B5EF4-FFF2-40B4-BE49-F238E27FC236}">
                <a16:creationId xmlns:a16="http://schemas.microsoft.com/office/drawing/2014/main" id="{C8CB7FAA-4C09-44CD-85BD-321788295888}"/>
              </a:ext>
            </a:extLst>
          </p:cNvPr>
          <p:cNvSpPr/>
          <p:nvPr/>
        </p:nvSpPr>
        <p:spPr>
          <a:xfrm>
            <a:off x="61939" y="680719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71" name="Metin kutusu 70">
            <a:extLst>
              <a:ext uri="{FF2B5EF4-FFF2-40B4-BE49-F238E27FC236}">
                <a16:creationId xmlns:a16="http://schemas.microsoft.com/office/drawing/2014/main" id="{63844060-435C-49C9-B59F-4E845B06DB71}"/>
              </a:ext>
            </a:extLst>
          </p:cNvPr>
          <p:cNvSpPr txBox="1"/>
          <p:nvPr/>
        </p:nvSpPr>
        <p:spPr>
          <a:xfrm>
            <a:off x="19749" y="7107376"/>
            <a:ext cx="3284320" cy="1785104"/>
          </a:xfrm>
          <a:prstGeom prst="rect">
            <a:avLst/>
          </a:prstGeom>
          <a:noFill/>
        </p:spPr>
        <p:txBody>
          <a:bodyPr wrap="square" rtlCol="0">
            <a:spAutoFit/>
          </a:bodyPr>
          <a:lstStyle/>
          <a:p>
            <a:r>
              <a:rPr lang="tr-TR" sz="1000" noProof="1">
                <a:cs typeface="Arial" panose="020B0604020202020204" pitchFamily="34" charset="0"/>
              </a:rPr>
              <a:t>Periyot burada 7 dir ve 7 gün </a:t>
            </a:r>
            <a:r>
              <a:rPr lang="tr-TR" sz="1000" b="1" u="sng" noProof="1">
                <a:cs typeface="Arial" panose="020B0604020202020204" pitchFamily="34" charset="0"/>
              </a:rPr>
              <a:t>sonra</a:t>
            </a:r>
            <a:r>
              <a:rPr lang="tr-TR" sz="1000" noProof="1">
                <a:cs typeface="Arial" panose="020B0604020202020204" pitchFamily="34" charset="0"/>
              </a:rPr>
              <a:t> tekrardan aynı güne denk gelinecektir. Geliniz kontrol edelim.</a:t>
            </a:r>
          </a:p>
          <a:p>
            <a:endParaRPr lang="tr-TR" sz="1000" noProof="1">
              <a:cs typeface="Arial" panose="020B0604020202020204" pitchFamily="34" charset="0"/>
            </a:endParaRPr>
          </a:p>
          <a:p>
            <a:r>
              <a:rPr lang="tr-TR" sz="1000" noProof="1">
                <a:cs typeface="Arial" panose="020B0604020202020204" pitchFamily="34" charset="0"/>
              </a:rPr>
              <a:t>Salıdan 1 gün sonra :  Çarşamba</a:t>
            </a:r>
          </a:p>
          <a:p>
            <a:r>
              <a:rPr lang="tr-TR" sz="1000" noProof="1">
                <a:cs typeface="Arial" panose="020B0604020202020204" pitchFamily="34" charset="0"/>
              </a:rPr>
              <a:t>Salıdan 2 gün sonra :  Perşembe</a:t>
            </a:r>
          </a:p>
          <a:p>
            <a:r>
              <a:rPr lang="tr-TR" sz="1000" noProof="1">
                <a:cs typeface="Arial" panose="020B0604020202020204" pitchFamily="34" charset="0"/>
              </a:rPr>
              <a:t>Salıdan 3 gün sonra :  Cuma</a:t>
            </a:r>
          </a:p>
          <a:p>
            <a:r>
              <a:rPr lang="tr-TR" sz="1000" noProof="1">
                <a:cs typeface="Arial" panose="020B0604020202020204" pitchFamily="34" charset="0"/>
              </a:rPr>
              <a:t>Salıdan 4 gün sonra :  Cumartesi</a:t>
            </a:r>
          </a:p>
          <a:p>
            <a:r>
              <a:rPr lang="tr-TR" sz="1000" noProof="1">
                <a:cs typeface="Arial" panose="020B0604020202020204" pitchFamily="34" charset="0"/>
              </a:rPr>
              <a:t>Salıdan 5 gün sonra :  Pazar</a:t>
            </a:r>
          </a:p>
          <a:p>
            <a:r>
              <a:rPr lang="tr-TR" sz="1000" noProof="1">
                <a:cs typeface="Arial" panose="020B0604020202020204" pitchFamily="34" charset="0"/>
              </a:rPr>
              <a:t>Salıdan 6 gün sonra :  Pazartesi</a:t>
            </a:r>
          </a:p>
          <a:p>
            <a:r>
              <a:rPr lang="tr-TR" sz="1000" noProof="1">
                <a:cs typeface="Arial" panose="020B0604020202020204" pitchFamily="34" charset="0"/>
              </a:rPr>
              <a:t>Salıdan 7 gün sonra :  Salı gününe denk gelmektedir. </a:t>
            </a:r>
          </a:p>
          <a:p>
            <a:endParaRPr lang="tr-TR" sz="1000" noProof="1">
              <a:cs typeface="Arial" panose="020B0604020202020204" pitchFamily="34" charset="0"/>
            </a:endParaRPr>
          </a:p>
        </p:txBody>
      </p:sp>
      <p:sp>
        <p:nvSpPr>
          <p:cNvPr id="72" name="Metin kutusu 71">
            <a:extLst>
              <a:ext uri="{FF2B5EF4-FFF2-40B4-BE49-F238E27FC236}">
                <a16:creationId xmlns:a16="http://schemas.microsoft.com/office/drawing/2014/main" id="{F9CCA400-9A74-4B50-80C7-942488ACE8EF}"/>
              </a:ext>
            </a:extLst>
          </p:cNvPr>
          <p:cNvSpPr txBox="1"/>
          <p:nvPr/>
        </p:nvSpPr>
        <p:spPr>
          <a:xfrm>
            <a:off x="3477846" y="801663"/>
            <a:ext cx="3284320" cy="246221"/>
          </a:xfrm>
          <a:prstGeom prst="rect">
            <a:avLst/>
          </a:prstGeom>
          <a:noFill/>
        </p:spPr>
        <p:txBody>
          <a:bodyPr wrap="square" rtlCol="0">
            <a:spAutoFit/>
          </a:bodyPr>
          <a:lstStyle/>
          <a:p>
            <a:r>
              <a:rPr lang="tr-TR" sz="1000" noProof="1">
                <a:cs typeface="Arial" panose="020B0604020202020204" pitchFamily="34" charset="0"/>
              </a:rPr>
              <a:t>Bugün ilk gün cuma ise </a:t>
            </a:r>
            <a:r>
              <a:rPr lang="tr-TR" sz="1000" b="1" noProof="1">
                <a:cs typeface="Arial" panose="020B0604020202020204" pitchFamily="34" charset="0"/>
              </a:rPr>
              <a:t>5.gün </a:t>
            </a:r>
            <a:r>
              <a:rPr lang="tr-TR" sz="1000" noProof="1">
                <a:cs typeface="Arial" panose="020B0604020202020204" pitchFamily="34" charset="0"/>
              </a:rPr>
              <a:t>hangi gün olur?</a:t>
            </a:r>
          </a:p>
        </p:txBody>
      </p:sp>
      <p:graphicFrame>
        <p:nvGraphicFramePr>
          <p:cNvPr id="4" name="Tablo 5">
            <a:extLst>
              <a:ext uri="{FF2B5EF4-FFF2-40B4-BE49-F238E27FC236}">
                <a16:creationId xmlns:a16="http://schemas.microsoft.com/office/drawing/2014/main" id="{DF6AE56D-48D7-4999-B800-FC2E9DAF02AE}"/>
              </a:ext>
            </a:extLst>
          </p:cNvPr>
          <p:cNvGraphicFramePr>
            <a:graphicFrameLocks noGrp="1"/>
          </p:cNvGraphicFramePr>
          <p:nvPr>
            <p:extLst>
              <p:ext uri="{D42A27DB-BD31-4B8C-83A1-F6EECF244321}">
                <p14:modId xmlns:p14="http://schemas.microsoft.com/office/powerpoint/2010/main" val="3435943768"/>
              </p:ext>
            </p:extLst>
          </p:nvPr>
        </p:nvGraphicFramePr>
        <p:xfrm>
          <a:off x="3538737" y="2438589"/>
          <a:ext cx="3172020" cy="621702"/>
        </p:xfrm>
        <a:graphic>
          <a:graphicData uri="http://schemas.openxmlformats.org/drawingml/2006/table">
            <a:tbl>
              <a:tblPr firstRow="1" bandRow="1">
                <a:tableStyleId>{93296810-A885-4BE3-A3E7-6D5BEEA58F35}</a:tableStyleId>
              </a:tblPr>
              <a:tblGrid>
                <a:gridCol w="634404">
                  <a:extLst>
                    <a:ext uri="{9D8B030D-6E8A-4147-A177-3AD203B41FA5}">
                      <a16:colId xmlns:a16="http://schemas.microsoft.com/office/drawing/2014/main" val="301212600"/>
                    </a:ext>
                  </a:extLst>
                </a:gridCol>
                <a:gridCol w="740360">
                  <a:extLst>
                    <a:ext uri="{9D8B030D-6E8A-4147-A177-3AD203B41FA5}">
                      <a16:colId xmlns:a16="http://schemas.microsoft.com/office/drawing/2014/main" val="444384344"/>
                    </a:ext>
                  </a:extLst>
                </a:gridCol>
                <a:gridCol w="528448">
                  <a:extLst>
                    <a:ext uri="{9D8B030D-6E8A-4147-A177-3AD203B41FA5}">
                      <a16:colId xmlns:a16="http://schemas.microsoft.com/office/drawing/2014/main" val="3010107178"/>
                    </a:ext>
                  </a:extLst>
                </a:gridCol>
                <a:gridCol w="767696">
                  <a:extLst>
                    <a:ext uri="{9D8B030D-6E8A-4147-A177-3AD203B41FA5}">
                      <a16:colId xmlns:a16="http://schemas.microsoft.com/office/drawing/2014/main" val="3420101691"/>
                    </a:ext>
                  </a:extLst>
                </a:gridCol>
                <a:gridCol w="501112">
                  <a:extLst>
                    <a:ext uri="{9D8B030D-6E8A-4147-A177-3AD203B41FA5}">
                      <a16:colId xmlns:a16="http://schemas.microsoft.com/office/drawing/2014/main" val="4261263244"/>
                    </a:ext>
                  </a:extLst>
                </a:gridCol>
              </a:tblGrid>
              <a:tr h="310851">
                <a:tc>
                  <a:txBody>
                    <a:bodyPr/>
                    <a:lstStyle/>
                    <a:p>
                      <a:pPr algn="ctr"/>
                      <a:r>
                        <a:rPr lang="tr-TR" sz="1000" dirty="0"/>
                        <a:t>Cuma</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Cumartesi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Pazar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Pazartesi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Salı</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114528"/>
                  </a:ext>
                </a:extLst>
              </a:tr>
              <a:tr h="310851">
                <a:tc>
                  <a:txBody>
                    <a:bodyPr/>
                    <a:lstStyle/>
                    <a:p>
                      <a:pPr algn="ctr"/>
                      <a:r>
                        <a:rPr lang="tr-TR" sz="1000" dirty="0"/>
                        <a:t>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541251"/>
                  </a:ext>
                </a:extLst>
              </a:tr>
            </a:tbl>
          </a:graphicData>
        </a:graphic>
      </p:graphicFrame>
      <p:sp>
        <p:nvSpPr>
          <p:cNvPr id="75" name="Ok: Beşgen 74">
            <a:extLst>
              <a:ext uri="{FF2B5EF4-FFF2-40B4-BE49-F238E27FC236}">
                <a16:creationId xmlns:a16="http://schemas.microsoft.com/office/drawing/2014/main" id="{566E7F98-87B7-4662-A074-EEF86595776B}"/>
              </a:ext>
            </a:extLst>
          </p:cNvPr>
          <p:cNvSpPr/>
          <p:nvPr/>
        </p:nvSpPr>
        <p:spPr>
          <a:xfrm>
            <a:off x="3529433" y="209815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76" name="Ok: Beşgen 75">
            <a:extLst>
              <a:ext uri="{FF2B5EF4-FFF2-40B4-BE49-F238E27FC236}">
                <a16:creationId xmlns:a16="http://schemas.microsoft.com/office/drawing/2014/main" id="{2576D8A1-0AAD-40A9-8606-420978595863}"/>
              </a:ext>
            </a:extLst>
          </p:cNvPr>
          <p:cNvSpPr/>
          <p:nvPr/>
        </p:nvSpPr>
        <p:spPr>
          <a:xfrm>
            <a:off x="3570238" y="3115878"/>
            <a:ext cx="3112200" cy="281148"/>
          </a:xfrm>
          <a:prstGeom prst="homePlat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tr-TR" sz="1500" b="1" dirty="0">
                <a:solidFill>
                  <a:schemeClr val="bg1"/>
                </a:solidFill>
              </a:rPr>
              <a:t>Neler öğrendik, kazanımlar :</a:t>
            </a:r>
          </a:p>
        </p:txBody>
      </p:sp>
      <p:sp>
        <p:nvSpPr>
          <p:cNvPr id="77" name="Metin kutusu 76">
            <a:extLst>
              <a:ext uri="{FF2B5EF4-FFF2-40B4-BE49-F238E27FC236}">
                <a16:creationId xmlns:a16="http://schemas.microsoft.com/office/drawing/2014/main" id="{44394BF3-2653-4EED-AD9F-C5F8102C2827}"/>
              </a:ext>
            </a:extLst>
          </p:cNvPr>
          <p:cNvSpPr txBox="1"/>
          <p:nvPr/>
        </p:nvSpPr>
        <p:spPr>
          <a:xfrm>
            <a:off x="3548504" y="3475939"/>
            <a:ext cx="3120856" cy="1169551"/>
          </a:xfrm>
          <a:prstGeom prst="rect">
            <a:avLst/>
          </a:prstGeom>
          <a:ln w="12700">
            <a:prstDash val="dash"/>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sz="1000" b="1" noProof="1">
                <a:cs typeface="Arial" panose="020B0604020202020204" pitchFamily="34" charset="0"/>
              </a:rPr>
              <a:t>X gün </a:t>
            </a:r>
            <a:r>
              <a:rPr lang="tr-TR" sz="1000" b="1" u="sng" noProof="1">
                <a:cs typeface="Arial" panose="020B0604020202020204" pitchFamily="34" charset="0"/>
              </a:rPr>
              <a:t>sonrasını</a:t>
            </a:r>
            <a:r>
              <a:rPr lang="tr-TR" sz="1000" b="1" noProof="1">
                <a:cs typeface="Arial" panose="020B0604020202020204" pitchFamily="34" charset="0"/>
              </a:rPr>
              <a:t> bulurken </a:t>
            </a:r>
            <a:r>
              <a:rPr lang="tr-TR" sz="1000" noProof="1">
                <a:cs typeface="Arial" panose="020B0604020202020204" pitchFamily="34" charset="0"/>
              </a:rPr>
              <a:t>periyodumuz 7 dir. Şöyle düşünebilirsiniz bir hafta 7 gündür farzedelim ki ilk gün pazartesi olmasın. Bize sonrası sorulduğu için bugünün bir </a:t>
            </a:r>
            <a:r>
              <a:rPr lang="tr-TR" sz="1000" b="1" noProof="1">
                <a:cs typeface="Arial" panose="020B0604020202020204" pitchFamily="34" charset="0"/>
              </a:rPr>
              <a:t>sonraki</a:t>
            </a:r>
            <a:r>
              <a:rPr lang="tr-TR" sz="1000" noProof="1">
                <a:cs typeface="Arial" panose="020B0604020202020204" pitchFamily="34" charset="0"/>
              </a:rPr>
              <a:t> gününü başlangıç kabul edebiliriz. Örneğin cuma gününün 4 gün sonrasını arayalım. Sonrası dediği için cumayı almıyoruz sonraki günü ilk gün yapıyoruz ve 4 gün sayıyoruz. Cumartesi, Pazar, Pazartesi, Salı </a:t>
            </a:r>
            <a:r>
              <a:rPr lang="tr-TR" sz="1000" noProof="1">
                <a:cs typeface="Arial" panose="020B0604020202020204" pitchFamily="34" charset="0"/>
                <a:sym typeface="Wingdings" panose="05000000000000000000" pitchFamily="2" charset="2"/>
              </a:rPr>
              <a:t></a:t>
            </a:r>
            <a:endParaRPr lang="tr-TR" sz="1000" noProof="1">
              <a:cs typeface="Arial" panose="020B0604020202020204" pitchFamily="34" charset="0"/>
            </a:endParaRPr>
          </a:p>
        </p:txBody>
      </p:sp>
      <p:sp>
        <p:nvSpPr>
          <p:cNvPr id="78" name="Metin kutusu 77">
            <a:extLst>
              <a:ext uri="{FF2B5EF4-FFF2-40B4-BE49-F238E27FC236}">
                <a16:creationId xmlns:a16="http://schemas.microsoft.com/office/drawing/2014/main" id="{AE675A00-FD73-4E02-8EF2-D7A717F564EF}"/>
              </a:ext>
            </a:extLst>
          </p:cNvPr>
          <p:cNvSpPr txBox="1"/>
          <p:nvPr/>
        </p:nvSpPr>
        <p:spPr>
          <a:xfrm>
            <a:off x="3551308" y="4719896"/>
            <a:ext cx="3120856" cy="1015663"/>
          </a:xfrm>
          <a:prstGeom prst="rect">
            <a:avLst/>
          </a:prstGeom>
          <a:ln w="12700">
            <a:solidFill>
              <a:srgbClr val="C00000"/>
            </a:solidFill>
            <a:prstDash val="dash"/>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sz="1000" b="1" noProof="1">
                <a:cs typeface="Arial" panose="020B0604020202020204" pitchFamily="34" charset="0"/>
              </a:rPr>
              <a:t>X. günü bulurken </a:t>
            </a:r>
            <a:r>
              <a:rPr lang="tr-TR" sz="1000" noProof="1">
                <a:cs typeface="Arial" panose="020B0604020202020204" pitchFamily="34" charset="0"/>
              </a:rPr>
              <a:t>periyodumuz 7 dir burada değişen bir şey yok zaten. Bu kısımda ise günleri bulunduğumuz günde dahil olmak üzere numaralandırıyoruz. Yani bulunduğumuz gün 1.gün oluyor yani sırasıyla sayabiliriz. pazar 4.günümüz ise 6.günümüz nedir diye sorulursa pazartesi 5.günümüz Salı ise 6.günümüz olmuş olacaktır.</a:t>
            </a:r>
          </a:p>
        </p:txBody>
      </p:sp>
      <p:sp>
        <p:nvSpPr>
          <p:cNvPr id="79" name="Metin kutusu 78">
            <a:extLst>
              <a:ext uri="{FF2B5EF4-FFF2-40B4-BE49-F238E27FC236}">
                <a16:creationId xmlns:a16="http://schemas.microsoft.com/office/drawing/2014/main" id="{BA42571B-B3CB-4E9F-81F9-06F2DCCCAAA0}"/>
              </a:ext>
            </a:extLst>
          </p:cNvPr>
          <p:cNvSpPr txBox="1"/>
          <p:nvPr/>
        </p:nvSpPr>
        <p:spPr>
          <a:xfrm>
            <a:off x="3551278" y="5824863"/>
            <a:ext cx="3131160" cy="2862322"/>
          </a:xfrm>
          <a:prstGeom prst="rect">
            <a:avLst/>
          </a:prstGeom>
          <a:ln w="12700">
            <a:solidFill>
              <a:schemeClr val="accent6"/>
            </a:solidFill>
            <a:prstDash val="dash"/>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sz="1000" noProof="1">
                <a:cs typeface="Arial" panose="020B0604020202020204" pitchFamily="34" charset="0"/>
              </a:rPr>
              <a:t>Arkadaşlar buraya bir soru sığdıramazdım size de boş yer bırakıyorum birde çözüm için ondan dolayı biraz sizlerden ricalarımı ifade etmek istedim. Normalde böyle şeyler fazla istemem ama YouTube kanalımda</a:t>
            </a:r>
            <a:br>
              <a:rPr lang="tr-TR" sz="1000" noProof="1">
                <a:cs typeface="Arial" panose="020B0604020202020204" pitchFamily="34" charset="0"/>
              </a:rPr>
            </a:br>
            <a:r>
              <a:rPr lang="tr-TR" sz="1000" noProof="1">
                <a:cs typeface="Arial" panose="020B0604020202020204" pitchFamily="34" charset="0"/>
              </a:rPr>
              <a:t>Ahmet Çelen olarak abone olup çevrenizle paylaşırsanız memnun kalırım. Yorumlarınızı da esirgemezseniz sevinirim. Ücretsiz olarak şu ana kadar bir çok PDF, video yayımladım inanın bu işin tek kaynağı sizlerden gelen geri dönüşlerdir. Olaki bir gün bir kendinizi bir mecrada başarılarınızın öyküsünü anlatırken bulursanız benden ve nice başarılarınıza katkıda olan aklınıza gelen her şeyden de bahsetmeyi unutmayın. Daha fazla kişinin yararlanması için paylaşmayı ihmal etmeyelim bencillik etmeyelim. Eğer çok bencilim sizi paylaşmam diyorsanız sınav senenizden sonra arkadaşlarınıza önerdiğiniz kanallar veya kitaplar listesinde yer almak isterim </a:t>
            </a:r>
            <a:r>
              <a:rPr lang="tr-TR" sz="1000" noProof="1">
                <a:cs typeface="Arial" panose="020B0604020202020204" pitchFamily="34" charset="0"/>
                <a:sym typeface="Wingdings" panose="05000000000000000000" pitchFamily="2" charset="2"/>
              </a:rPr>
              <a:t> Paylaşmaktan zarar gelmez ne demiş Mevlana: Bir mum, diğer mumu tutuşturmakla ışığından bir şey kaybetmez. </a:t>
            </a:r>
            <a:endParaRPr lang="tr-TR" sz="1000" noProof="1">
              <a:cs typeface="Arial" panose="020B0604020202020204" pitchFamily="34" charset="0"/>
            </a:endParaRPr>
          </a:p>
        </p:txBody>
      </p:sp>
    </p:spTree>
    <p:extLst>
      <p:ext uri="{BB962C8B-B14F-4D97-AF65-F5344CB8AC3E}">
        <p14:creationId xmlns:p14="http://schemas.microsoft.com/office/powerpoint/2010/main" val="527744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1620" y="307300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800685" y="4897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81620" y="6576899"/>
            <a:ext cx="874048"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5172" y="803037"/>
            <a:ext cx="3269399" cy="553998"/>
          </a:xfrm>
          <a:prstGeom prst="rect">
            <a:avLst/>
          </a:prstGeom>
          <a:noFill/>
        </p:spPr>
        <p:txBody>
          <a:bodyPr wrap="square" rtlCol="0">
            <a:spAutoFit/>
          </a:bodyPr>
          <a:lstStyle/>
          <a:p>
            <a:r>
              <a:rPr lang="tr-TR" sz="1000" b="1" noProof="1">
                <a:cs typeface="Arial" panose="020B0604020202020204" pitchFamily="34" charset="0"/>
              </a:rPr>
              <a:t>Arslan 6 günde bir taşra yerleşkesine gitmektedir. İlk gidişini cumartesi günü yapan Arslan, taşraya 50.gidişini hangi gün yapar?</a:t>
            </a:r>
          </a:p>
        </p:txBody>
      </p:sp>
      <p:sp>
        <p:nvSpPr>
          <p:cNvPr id="56" name="Ok: Beşgen 55">
            <a:extLst>
              <a:ext uri="{FF2B5EF4-FFF2-40B4-BE49-F238E27FC236}">
                <a16:creationId xmlns:a16="http://schemas.microsoft.com/office/drawing/2014/main" id="{D327283C-46A4-4C86-A990-995946C89AA1}"/>
              </a:ext>
            </a:extLst>
          </p:cNvPr>
          <p:cNvSpPr/>
          <p:nvPr/>
        </p:nvSpPr>
        <p:spPr>
          <a:xfrm>
            <a:off x="3663033" y="278894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45068" y="395753"/>
            <a:ext cx="2445284" cy="431831"/>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36712" y="411337"/>
            <a:ext cx="2477857" cy="415498"/>
          </a:xfrm>
          <a:prstGeom prst="rect">
            <a:avLst/>
          </a:prstGeom>
          <a:noFill/>
        </p:spPr>
        <p:txBody>
          <a:bodyPr wrap="square">
            <a:spAutoFit/>
          </a:bodyPr>
          <a:lstStyle/>
          <a:p>
            <a:pPr algn="ctr"/>
            <a:r>
              <a:rPr lang="tr-TR" sz="700" i="0" dirty="0">
                <a:effectLst/>
                <a:latin typeface="Arial Narrow" panose="020B0606020202030204" pitchFamily="34" charset="0"/>
              </a:rPr>
              <a:t>İHA,SİHA ve TİHA araçlarının üretimini yapan milli gururumuz </a:t>
            </a:r>
            <a:br>
              <a:rPr lang="tr-TR" sz="700" i="0" dirty="0">
                <a:effectLst/>
                <a:latin typeface="Arial Narrow" panose="020B0606020202030204" pitchFamily="34" charset="0"/>
              </a:rPr>
            </a:br>
            <a:r>
              <a:rPr lang="tr-TR" sz="700" i="0" dirty="0">
                <a:effectLst/>
                <a:latin typeface="Arial Narrow" panose="020B0606020202030204" pitchFamily="34" charset="0"/>
              </a:rPr>
              <a:t>Selçuk Bayraktar ve ekibini tebrik ediyoruz. Örnek alınacak değerli kişilerden olduğunu gördüğüm için yer vermek istedim </a:t>
            </a:r>
            <a:r>
              <a:rPr lang="tr-TR" sz="700" i="0" dirty="0">
                <a:effectLst/>
                <a:latin typeface="Arial Narrow" panose="020B0606020202030204" pitchFamily="34" charset="0"/>
                <a:sym typeface="Wingdings" panose="05000000000000000000" pitchFamily="2" charset="2"/>
              </a:rPr>
              <a:t></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91373" y="425670"/>
            <a:ext cx="2381631" cy="266352"/>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7469" y="458818"/>
            <a:ext cx="2375535" cy="200055"/>
          </a:xfrm>
          <a:prstGeom prst="rect">
            <a:avLst/>
          </a:prstGeom>
          <a:noFill/>
        </p:spPr>
        <p:txBody>
          <a:bodyPr wrap="square">
            <a:spAutoFit/>
          </a:bodyPr>
          <a:lstStyle/>
          <a:p>
            <a:pPr algn="ctr"/>
            <a:r>
              <a:rPr lang="tr-TR" sz="700" i="0" dirty="0">
                <a:effectLst/>
                <a:latin typeface="Arial Narrow" panose="020B0606020202030204" pitchFamily="34" charset="0"/>
              </a:rPr>
              <a:t>“Bir çocuk gelsin bir uçağa dokunsun. ”  - Selçuk Bayraktar</a:t>
            </a:r>
            <a:endParaRPr lang="tr-TR" sz="700" dirty="0">
              <a:latin typeface="Arial Narrow" panose="020B0606020202030204" pitchFamily="34" charset="0"/>
            </a:endParaRPr>
          </a:p>
        </p:txBody>
      </p:sp>
      <p:sp>
        <p:nvSpPr>
          <p:cNvPr id="4" name="Metin kutusu 3">
            <a:extLst>
              <a:ext uri="{FF2B5EF4-FFF2-40B4-BE49-F238E27FC236}">
                <a16:creationId xmlns:a16="http://schemas.microsoft.com/office/drawing/2014/main" id="{1CF5A299-2A37-4268-AAB7-DC982C989779}"/>
              </a:ext>
            </a:extLst>
          </p:cNvPr>
          <p:cNvSpPr txBox="1"/>
          <p:nvPr/>
        </p:nvSpPr>
        <p:spPr>
          <a:xfrm>
            <a:off x="87051" y="3380792"/>
            <a:ext cx="3160106" cy="400110"/>
          </a:xfrm>
          <a:prstGeom prst="rect">
            <a:avLst/>
          </a:prstGeom>
          <a:noFill/>
        </p:spPr>
        <p:txBody>
          <a:bodyPr wrap="square" rtlCol="0">
            <a:spAutoFit/>
          </a:bodyPr>
          <a:lstStyle/>
          <a:p>
            <a:r>
              <a:rPr lang="tr-TR" sz="1000" dirty="0"/>
              <a:t>Pazartesi                                                                 ? Gün</a:t>
            </a:r>
          </a:p>
          <a:p>
            <a:r>
              <a:rPr lang="tr-TR" sz="1000" dirty="0"/>
              <a:t>    1.Kez                                                                    50.Kez</a:t>
            </a:r>
          </a:p>
        </p:txBody>
      </p:sp>
      <p:sp>
        <p:nvSpPr>
          <p:cNvPr id="6" name="Sağ Ayraç 5">
            <a:extLst>
              <a:ext uri="{FF2B5EF4-FFF2-40B4-BE49-F238E27FC236}">
                <a16:creationId xmlns:a16="http://schemas.microsoft.com/office/drawing/2014/main" id="{FC262E85-07E2-4ABC-AC12-15024C58D348}"/>
              </a:ext>
            </a:extLst>
          </p:cNvPr>
          <p:cNvSpPr/>
          <p:nvPr/>
        </p:nvSpPr>
        <p:spPr>
          <a:xfrm rot="5400000">
            <a:off x="1479446" y="2834928"/>
            <a:ext cx="153501" cy="18585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60" name="Metin kutusu 59">
            <a:extLst>
              <a:ext uri="{FF2B5EF4-FFF2-40B4-BE49-F238E27FC236}">
                <a16:creationId xmlns:a16="http://schemas.microsoft.com/office/drawing/2014/main" id="{CBC80910-08C1-46AD-A64F-0876F5FAA59E}"/>
              </a:ext>
            </a:extLst>
          </p:cNvPr>
          <p:cNvSpPr txBox="1"/>
          <p:nvPr/>
        </p:nvSpPr>
        <p:spPr>
          <a:xfrm>
            <a:off x="685255" y="3411571"/>
            <a:ext cx="1740910" cy="400110"/>
          </a:xfrm>
          <a:prstGeom prst="rect">
            <a:avLst/>
          </a:prstGeom>
          <a:noFill/>
        </p:spPr>
        <p:txBody>
          <a:bodyPr wrap="square" rtlCol="0">
            <a:spAutoFit/>
          </a:bodyPr>
          <a:lstStyle/>
          <a:p>
            <a:pPr algn="ctr"/>
            <a:r>
              <a:rPr lang="tr-TR" sz="1000" dirty="0"/>
              <a:t>49 kez 6 gün geçtiği</a:t>
            </a:r>
          </a:p>
          <a:p>
            <a:pPr algn="ctr"/>
            <a:r>
              <a:rPr lang="tr-TR" sz="1000" dirty="0"/>
              <a:t>süre zarfı toplam 296 gün</a:t>
            </a:r>
          </a:p>
        </p:txBody>
      </p:sp>
      <p:sp>
        <p:nvSpPr>
          <p:cNvPr id="62" name="Metin kutusu 61">
            <a:extLst>
              <a:ext uri="{FF2B5EF4-FFF2-40B4-BE49-F238E27FC236}">
                <a16:creationId xmlns:a16="http://schemas.microsoft.com/office/drawing/2014/main" id="{FB5FADBE-C094-4887-85AC-B3150B44F473}"/>
              </a:ext>
            </a:extLst>
          </p:cNvPr>
          <p:cNvSpPr txBox="1"/>
          <p:nvPr/>
        </p:nvSpPr>
        <p:spPr>
          <a:xfrm>
            <a:off x="30850" y="3760528"/>
            <a:ext cx="3340792" cy="707886"/>
          </a:xfrm>
          <a:prstGeom prst="rect">
            <a:avLst/>
          </a:prstGeom>
          <a:noFill/>
        </p:spPr>
        <p:txBody>
          <a:bodyPr wrap="square" rtlCol="0">
            <a:spAutoFit/>
          </a:bodyPr>
          <a:lstStyle/>
          <a:p>
            <a:r>
              <a:rPr lang="tr-TR" sz="1000" noProof="1"/>
              <a:t>Toplamda 296 gün geçmiş oldu 296 = 7.42 + 2 yani kalan 2 dir. Arada geçen gün 296 periyot 7 dir kalan 2 olmuş oldu. İlk gün pazartesi gitmişti 2 gün daha gidersek üstüne Çarşamba sonucuna ulaşmış oluruz.</a:t>
            </a:r>
          </a:p>
        </p:txBody>
      </p:sp>
      <p:sp>
        <p:nvSpPr>
          <p:cNvPr id="66" name="Metin kutusu 65">
            <a:extLst>
              <a:ext uri="{FF2B5EF4-FFF2-40B4-BE49-F238E27FC236}">
                <a16:creationId xmlns:a16="http://schemas.microsoft.com/office/drawing/2014/main" id="{509C6920-7D16-469A-A9DF-C2E4C9671C54}"/>
              </a:ext>
            </a:extLst>
          </p:cNvPr>
          <p:cNvSpPr txBox="1"/>
          <p:nvPr/>
        </p:nvSpPr>
        <p:spPr>
          <a:xfrm>
            <a:off x="3510406" y="734646"/>
            <a:ext cx="3471120" cy="1169551"/>
          </a:xfrm>
          <a:prstGeom prst="rect">
            <a:avLst/>
          </a:prstGeom>
          <a:noFill/>
        </p:spPr>
        <p:txBody>
          <a:bodyPr wrap="square" rtlCol="0">
            <a:spAutoFit/>
          </a:bodyPr>
          <a:lstStyle/>
          <a:p>
            <a:r>
              <a:rPr lang="tr-TR" sz="1000" b="1" noProof="1"/>
              <a:t>Belediye kaldırım taşlarına sırasıyla daire, üçgen ve dörtgen şeklinde sırayı takip ederek motif işleyecektir. Buna göre;</a:t>
            </a:r>
          </a:p>
          <a:p>
            <a:endParaRPr lang="tr-TR" sz="1000" noProof="1"/>
          </a:p>
          <a:p>
            <a:r>
              <a:rPr lang="tr-TR" sz="1000" noProof="1"/>
              <a:t>I. 34.motifte daire bulunur.</a:t>
            </a:r>
          </a:p>
          <a:p>
            <a:r>
              <a:rPr lang="tr-TR" sz="1000" noProof="1"/>
              <a:t>II. Toplam 24 tane üçgen motif işlenmişse en az 25 daire vardır.</a:t>
            </a:r>
          </a:p>
          <a:p>
            <a:r>
              <a:rPr lang="tr-TR" sz="1000" noProof="1"/>
              <a:t>III. Toplam 8 dörtgen motif işlenmişse en fazla 24 geometrik motif işlenmiştir. </a:t>
            </a:r>
            <a:r>
              <a:rPr lang="tr-TR" sz="1000" b="1" noProof="1"/>
              <a:t>Hangileri doğrudur?</a:t>
            </a:r>
          </a:p>
        </p:txBody>
      </p:sp>
      <p:sp>
        <p:nvSpPr>
          <p:cNvPr id="67" name="Metin kutusu 66">
            <a:extLst>
              <a:ext uri="{FF2B5EF4-FFF2-40B4-BE49-F238E27FC236}">
                <a16:creationId xmlns:a16="http://schemas.microsoft.com/office/drawing/2014/main" id="{397A825C-1A72-41AB-A994-68E1FEA4ED53}"/>
              </a:ext>
            </a:extLst>
          </p:cNvPr>
          <p:cNvSpPr txBox="1"/>
          <p:nvPr/>
        </p:nvSpPr>
        <p:spPr>
          <a:xfrm>
            <a:off x="3600031" y="3047683"/>
            <a:ext cx="3318822" cy="5786199"/>
          </a:xfrm>
          <a:prstGeom prst="rect">
            <a:avLst/>
          </a:prstGeom>
          <a:noFill/>
        </p:spPr>
        <p:txBody>
          <a:bodyPr wrap="square" rtlCol="0">
            <a:spAutoFit/>
          </a:bodyPr>
          <a:lstStyle/>
          <a:p>
            <a:r>
              <a:rPr lang="tr-TR" sz="1000" b="1" noProof="1"/>
              <a:t>I. </a:t>
            </a:r>
            <a:r>
              <a:rPr lang="tr-TR" sz="1000" noProof="1"/>
              <a:t>Periyot burada üçtür. 34 = 3.11 + 1 şeklinde elde edilir. İşlemin anlamı 11 adet üçlü motif döngüsü tamamlanmış ve 12.döngünün başlangıcına geçilişidir. Kalan 1 olduğu için ilk sıradan </a:t>
            </a:r>
            <a:r>
              <a:rPr lang="tr-TR" sz="1000" b="1" noProof="1"/>
              <a:t>daire motif </a:t>
            </a:r>
            <a:r>
              <a:rPr lang="tr-TR" sz="1000" noProof="1"/>
              <a:t>işlenmiş olacaktır.</a:t>
            </a:r>
          </a:p>
          <a:p>
            <a:endParaRPr lang="tr-TR" sz="1000" noProof="1"/>
          </a:p>
          <a:p>
            <a:r>
              <a:rPr lang="tr-TR" sz="1000" b="1" noProof="1"/>
              <a:t>II. </a:t>
            </a:r>
            <a:r>
              <a:rPr lang="tr-TR" sz="1000" noProof="1"/>
              <a:t>24 adet üçgen işlenmiş olması için 24 kez bu döngünün tekrarlanması gerekir. Yani 24.döngüde daire ve üçgenin kesinlikle oluştuğunu söyleyebiliriz. </a:t>
            </a:r>
            <a:br>
              <a:rPr lang="tr-TR" sz="1000" noProof="1"/>
            </a:br>
            <a:br>
              <a:rPr lang="tr-TR" sz="1000" noProof="1"/>
            </a:br>
            <a:r>
              <a:rPr lang="tr-TR" sz="1000" b="1" noProof="1"/>
              <a:t>Peki en fazla 25 daire nasıl olur? </a:t>
            </a:r>
            <a:r>
              <a:rPr lang="tr-TR" sz="1000" noProof="1"/>
              <a:t>Döngüye dikkat edilirse 24 döngü bitti ve üçgenin kesin yapıldığını biliyoruz. En fazla daire olması için sorudaki verilen ifadeyi destekler nitelikte olacak şekilde 25.periyoda geçmemiz gerekir. 24.periyotta üçgen oluştu fakat periyodu tamamlamamız için periyotta bulunan tüm motifleri tamamlamalıyız. Dörtgenide olduğunu varsayarak 25.periyoda geçelim. 25 de daire oluşturabiliriz ve artık durmak zorundayız. Çünkü bir daha üçgen oluşturarak devam etsek üçgen sayısı 25 olacak yani soruda verilen bilgiyle ters düşecek ve bu üçgen eksik olduğu için sırayı bozamayız periyot ilerletemeyiz ve üçgen eksik diye dörtgen de işletemeyiz. Bu bağlamda en fazla 25 daire olacağını söyleyebiliriz çünkü 25.periyota ulaşan tek geometrik motif şekil dairedir. Umarım anlatabilmişimdir. Baştan sağma çözümler yapmak istemiyorum video da anlattığım gibi açıklamak istiyorum haliyle uzun oluyor.</a:t>
            </a:r>
          </a:p>
          <a:p>
            <a:endParaRPr lang="tr-TR" sz="1000" noProof="1"/>
          </a:p>
          <a:p>
            <a:r>
              <a:rPr lang="tr-TR" sz="1000" noProof="1"/>
              <a:t>III. Toplam 8 dörtgen motifin olması ve en fazla geometrik motif sayısı isteniyor. En fazla tabiri yukarıdaki öncüldeki belirttiğimiz gibi aynı mantıkla çözeceğiz. 8 dörtgen oluşmuşsa 8 adet periyot tamamlanmıştır ve bir periyotta toplam 3 motif şekli olduğundan 24 adet kesinlikle olduğunu söyleyebiliriz. 8 adet dörtgen olduğunu esgeçmeden olabildiğince daha fazla motif elde etmeliyiz. Demek ki 9.dörtgen oluşmadan işlenen şekilleri en fazla istenildiği için ilave edeceğiz. Üçgen ve daire ilave edilerek </a:t>
            </a:r>
            <a:r>
              <a:rPr lang="tr-TR" sz="1000" b="1" noProof="1"/>
              <a:t>toplamda 26 </a:t>
            </a:r>
            <a:r>
              <a:rPr lang="tr-TR" sz="1000" noProof="1"/>
              <a:t>şekil elde edilir. 9.periyot olarak dörtgen elde edilmez elde edilirse soruda ki bilgiyle çelişkiye düşecektir.</a:t>
            </a:r>
          </a:p>
        </p:txBody>
      </p:sp>
      <p:sp>
        <p:nvSpPr>
          <p:cNvPr id="68" name="Metin kutusu 67">
            <a:extLst>
              <a:ext uri="{FF2B5EF4-FFF2-40B4-BE49-F238E27FC236}">
                <a16:creationId xmlns:a16="http://schemas.microsoft.com/office/drawing/2014/main" id="{0E768204-7E58-4100-AB9E-B3FD914923AC}"/>
              </a:ext>
            </a:extLst>
          </p:cNvPr>
          <p:cNvSpPr txBox="1"/>
          <p:nvPr/>
        </p:nvSpPr>
        <p:spPr>
          <a:xfrm>
            <a:off x="-8672" y="4788024"/>
            <a:ext cx="3374313" cy="1169551"/>
          </a:xfrm>
          <a:prstGeom prst="rect">
            <a:avLst/>
          </a:prstGeom>
          <a:noFill/>
        </p:spPr>
        <p:txBody>
          <a:bodyPr wrap="square" rtlCol="0">
            <a:spAutoFit/>
          </a:bodyPr>
          <a:lstStyle/>
          <a:p>
            <a:r>
              <a:rPr lang="tr-TR" sz="1000" b="1" noProof="1"/>
              <a:t>30 günlük olan bir ayda, </a:t>
            </a:r>
          </a:p>
          <a:p>
            <a:endParaRPr lang="tr-TR" sz="1000" noProof="1"/>
          </a:p>
          <a:p>
            <a:r>
              <a:rPr lang="tr-TR" sz="1000" noProof="1"/>
              <a:t>I. En fazla 6 gün cumartesi olabilir.</a:t>
            </a:r>
          </a:p>
          <a:p>
            <a:r>
              <a:rPr lang="tr-TR" sz="1000" noProof="1"/>
              <a:t>II. En az 5 gün salı olabilir.</a:t>
            </a:r>
          </a:p>
          <a:p>
            <a:r>
              <a:rPr lang="tr-TR" sz="1000" noProof="1"/>
              <a:t>III. En fazla 5 gün cuma olabilir.</a:t>
            </a:r>
          </a:p>
          <a:p>
            <a:r>
              <a:rPr lang="tr-TR" sz="1000" noProof="1"/>
              <a:t>IV. Cuma ve pazartesi diğer günlerden bir fazla sayıda olabilir.  </a:t>
            </a:r>
            <a:r>
              <a:rPr lang="tr-TR" sz="1000" b="1" noProof="1"/>
              <a:t>Hangileri doğrudur?</a:t>
            </a:r>
          </a:p>
        </p:txBody>
      </p:sp>
      <p:sp>
        <p:nvSpPr>
          <p:cNvPr id="69" name="Metin kutusu 68">
            <a:extLst>
              <a:ext uri="{FF2B5EF4-FFF2-40B4-BE49-F238E27FC236}">
                <a16:creationId xmlns:a16="http://schemas.microsoft.com/office/drawing/2014/main" id="{80D2D402-9ACB-4986-B962-1806BE9FBDF8}"/>
              </a:ext>
            </a:extLst>
          </p:cNvPr>
          <p:cNvSpPr txBox="1"/>
          <p:nvPr/>
        </p:nvSpPr>
        <p:spPr>
          <a:xfrm>
            <a:off x="15774" y="6870978"/>
            <a:ext cx="3507341" cy="1938992"/>
          </a:xfrm>
          <a:prstGeom prst="rect">
            <a:avLst/>
          </a:prstGeom>
          <a:noFill/>
        </p:spPr>
        <p:txBody>
          <a:bodyPr wrap="square" rtlCol="0">
            <a:spAutoFit/>
          </a:bodyPr>
          <a:lstStyle/>
          <a:p>
            <a:r>
              <a:rPr lang="tr-TR" sz="1000" noProof="1"/>
              <a:t>30 = 7.4 + 2 kalan 2 gündür. Yani buradan anlaşılacağı üzere bir ayda 30 günlük zorunlu olarak her günden 4 adet kesinlikle bulunmaktadır. 2 günde ilave olarak ardışık (aralarındaki fark 1 olan) günler olacaktır. IV. öncülde bu durum söyleniyor 2 gün diğer günlerden sayıca daha fazla olacaktır fakat bunlar zorunlu ardışık olmalıdır. Yani Cuma ise ilave gün diğeri Cumartesi olmalıdır. </a:t>
            </a:r>
            <a:r>
              <a:rPr lang="tr-TR" sz="1000" b="1" noProof="1"/>
              <a:t>Peki başlangıç günü Pazartesi normal olarak burada neden ona dikkat etmedik</a:t>
            </a:r>
            <a:r>
              <a:rPr lang="tr-TR" sz="1000" noProof="1"/>
              <a:t>? Arkadaşlar ayın başı her daim pazartesi olmak zorunda değildir. Yani periyodun başı başka bir gün olabilir ve böyle devam edebilir. Buradan anlıyoruz ki bir ayda en fazla 5 gün örneğin salı olabilir. En az ve zorunlu 4 olmalıdır çünkü günlerde atlama gibi bir şansımız da yoktur. </a:t>
            </a:r>
          </a:p>
        </p:txBody>
      </p:sp>
    </p:spTree>
    <p:extLst>
      <p:ext uri="{BB962C8B-B14F-4D97-AF65-F5344CB8AC3E}">
        <p14:creationId xmlns:p14="http://schemas.microsoft.com/office/powerpoint/2010/main" val="1751496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Hareket Problemleri</a:t>
            </a:r>
          </a:p>
          <a:p>
            <a:r>
              <a:rPr lang="tr-TR" sz="1000" b="1" noProof="1">
                <a:latin typeface="+mj-lt"/>
                <a:cs typeface="Arial" panose="020B0604020202020204" pitchFamily="34" charset="0"/>
              </a:rPr>
              <a:t>Tren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6110" y="571836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42611" y="1189328"/>
            <a:ext cx="3386389" cy="553998"/>
          </a:xfrm>
          <a:prstGeom prst="rect">
            <a:avLst/>
          </a:prstGeom>
          <a:noFill/>
        </p:spPr>
        <p:txBody>
          <a:bodyPr wrap="square" rtlCol="0">
            <a:spAutoFit/>
          </a:bodyPr>
          <a:lstStyle/>
          <a:p>
            <a:r>
              <a:rPr lang="tr-TR" sz="1000" noProof="1"/>
              <a:t>A) 210                                      B) 240                                      C) 260</a:t>
            </a:r>
          </a:p>
          <a:p>
            <a:pPr marL="228600" indent="-228600">
              <a:buAutoNum type="alphaUcParenR"/>
            </a:pPr>
            <a:endParaRPr lang="tr-TR" sz="1000" noProof="1"/>
          </a:p>
          <a:p>
            <a:r>
              <a:rPr lang="tr-TR" sz="1000" noProof="1"/>
              <a:t>                      D) 360                                        E) 420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707886"/>
          </a:xfrm>
          <a:prstGeom prst="rect">
            <a:avLst/>
          </a:prstGeom>
          <a:noFill/>
        </p:spPr>
        <p:txBody>
          <a:bodyPr wrap="square" rtlCol="0">
            <a:spAutoFit/>
          </a:bodyPr>
          <a:lstStyle/>
          <a:p>
            <a:r>
              <a:rPr lang="tr-TR" sz="1000" noProof="1">
                <a:cs typeface="Arial" panose="020B0604020202020204" pitchFamily="34" charset="0"/>
              </a:rPr>
              <a:t>Saatteki hızı sabit 360 km olan yüksek hızlı tren 640 metre uzun-luğundaki tüneli 9 saniyede geçmektedir.</a:t>
            </a:r>
          </a:p>
          <a:p>
            <a:endParaRPr lang="tr-TR" sz="1000" noProof="1">
              <a:cs typeface="Arial" panose="020B0604020202020204" pitchFamily="34" charset="0"/>
            </a:endParaRPr>
          </a:p>
          <a:p>
            <a:r>
              <a:rPr lang="tr-TR" sz="1000" b="1" noProof="1">
                <a:cs typeface="Arial" panose="020B0604020202020204" pitchFamily="34" charset="0"/>
              </a:rPr>
              <a:t>Buna göre, trenin boyu kaç metredir?  </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72470" y="5747239"/>
            <a:ext cx="3392995" cy="1631216"/>
          </a:xfrm>
          <a:prstGeom prst="rect">
            <a:avLst/>
          </a:prstGeom>
          <a:noFill/>
        </p:spPr>
        <p:txBody>
          <a:bodyPr wrap="square" rtlCol="0">
            <a:spAutoFit/>
          </a:bodyPr>
          <a:lstStyle/>
          <a:p>
            <a:r>
              <a:rPr lang="tr-TR" sz="1000" b="1" noProof="1">
                <a:cs typeface="Arial" panose="020B0604020202020204" pitchFamily="34" charset="0"/>
              </a:rPr>
              <a:t>İki trenle ilgili olarak;</a:t>
            </a:r>
          </a:p>
          <a:p>
            <a:endParaRPr lang="tr-TR" sz="1000" noProof="1">
              <a:cs typeface="Arial" panose="020B0604020202020204" pitchFamily="34" charset="0"/>
            </a:endParaRPr>
          </a:p>
          <a:p>
            <a:r>
              <a:rPr lang="tr-TR" sz="1000" noProof="1">
                <a:cs typeface="Arial" panose="020B0604020202020204" pitchFamily="34" charset="0"/>
              </a:rPr>
              <a:t>I.  Aynı tünelden ikiside geçerlerse aynı sürede tüneli geçerler. </a:t>
            </a:r>
          </a:p>
          <a:p>
            <a:r>
              <a:rPr lang="tr-TR" sz="1000" noProof="1">
                <a:cs typeface="Arial" panose="020B0604020202020204" pitchFamily="34" charset="0"/>
              </a:rPr>
              <a:t>II. Trenlerin boyları ve geçtikleri tünellerin uzunlukları eşitse aynı sürede tüneli geçerler. </a:t>
            </a:r>
          </a:p>
          <a:p>
            <a:r>
              <a:rPr lang="tr-TR" sz="1000" noProof="1">
                <a:cs typeface="Arial" panose="020B0604020202020204" pitchFamily="34" charset="0"/>
              </a:rPr>
              <a:t>III. Trenlerin tüneli geçiş süresi kıyaslandığında trenlerin boylar farkının ayırt edici olabilmesi için trenlerin hızının ve geçtikleri tünelin aynı olması gerekir.  </a:t>
            </a:r>
          </a:p>
          <a:p>
            <a:endParaRPr lang="tr-TR" sz="1000" noProof="1">
              <a:cs typeface="Arial" panose="020B0604020202020204" pitchFamily="34" charset="0"/>
            </a:endParaRPr>
          </a:p>
          <a:p>
            <a:r>
              <a:rPr lang="tr-TR" sz="1000" b="1" noProof="1">
                <a:cs typeface="Arial" panose="020B0604020202020204" pitchFamily="34" charset="0"/>
              </a:rPr>
              <a:t>yargılarından hangileri </a:t>
            </a:r>
            <a:r>
              <a:rPr lang="tr-TR" sz="1000" b="1" u="sng" noProof="1">
                <a:cs typeface="Arial" panose="020B0604020202020204" pitchFamily="34" charset="0"/>
              </a:rPr>
              <a:t>kesinlikle</a:t>
            </a:r>
            <a:r>
              <a:rPr lang="tr-TR" sz="1000" b="1" noProof="1">
                <a:cs typeface="Arial" panose="020B0604020202020204" pitchFamily="34" charset="0"/>
              </a:rPr>
              <a:t> doğrudur?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1.C    2.D    3.X    4.B</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8525" y="4685057"/>
            <a:ext cx="3323500" cy="1477328"/>
          </a:xfrm>
          <a:prstGeom prst="rect">
            <a:avLst/>
          </a:prstGeom>
          <a:noFill/>
        </p:spPr>
        <p:txBody>
          <a:bodyPr wrap="square" rtlCol="0">
            <a:spAutoFit/>
          </a:bodyPr>
          <a:lstStyle/>
          <a:p>
            <a:r>
              <a:rPr lang="tr-TR" sz="1000" noProof="1">
                <a:cs typeface="Arial" panose="020B0604020202020204" pitchFamily="34" charset="0"/>
              </a:rPr>
              <a:t>Aşağıda iki trenle ilgili bilgiler veriliyor.</a:t>
            </a:r>
            <a:br>
              <a:rPr lang="tr-TR" sz="1000" noProof="1">
                <a:cs typeface="Arial" panose="020B0604020202020204" pitchFamily="34" charset="0"/>
              </a:rPr>
            </a:b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150 metrelik bir tüneli saatteki sabit hızı 60 km olan tren 15 saniyede geçmektedir. </a:t>
            </a:r>
          </a:p>
          <a:p>
            <a:pPr marL="171450" indent="-171450">
              <a:buFont typeface="Arial" panose="020B0604020202020204" pitchFamily="34" charset="0"/>
              <a:buChar char="•"/>
            </a:pPr>
            <a:r>
              <a:rPr lang="tr-TR" sz="1000" noProof="1">
                <a:cs typeface="Arial" panose="020B0604020202020204" pitchFamily="34" charset="0"/>
              </a:rPr>
              <a:t>Diğer tren ise aynı hızla tüneli 12 saniyede geçmektedir. </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trenlerin uzunluklarının birbirine oranı metre cinsinden en fazla kaç olabilir?</a:t>
            </a:r>
          </a:p>
          <a:p>
            <a:endParaRPr lang="tr-TR" sz="1000" noProof="1">
              <a:cs typeface="Arial" panose="020B0604020202020204" pitchFamily="34" charset="0"/>
            </a:endParaRPr>
          </a:p>
        </p:txBody>
      </p:sp>
      <p:sp>
        <p:nvSpPr>
          <p:cNvPr id="37" name="Metin kutusu 36">
            <a:extLst>
              <a:ext uri="{FF2B5EF4-FFF2-40B4-BE49-F238E27FC236}">
                <a16:creationId xmlns:a16="http://schemas.microsoft.com/office/drawing/2014/main" id="{0A440266-993B-4FAA-8B14-144CC8F36E5B}"/>
              </a:ext>
            </a:extLst>
          </p:cNvPr>
          <p:cNvSpPr txBox="1"/>
          <p:nvPr/>
        </p:nvSpPr>
        <p:spPr>
          <a:xfrm>
            <a:off x="3598910" y="7329103"/>
            <a:ext cx="3217245" cy="553998"/>
          </a:xfrm>
          <a:prstGeom prst="rect">
            <a:avLst/>
          </a:prstGeom>
          <a:noFill/>
        </p:spPr>
        <p:txBody>
          <a:bodyPr wrap="square" rtlCol="0">
            <a:spAutoFit/>
          </a:bodyPr>
          <a:lstStyle/>
          <a:p>
            <a:r>
              <a:rPr lang="tr-TR" sz="1000" dirty="0">
                <a:cs typeface="Arial" panose="020B0604020202020204" pitchFamily="34" charset="0"/>
              </a:rPr>
              <a:t>A) Yalnız II                         B) Yalnız III                          C) I ve III</a:t>
            </a:r>
          </a:p>
          <a:p>
            <a:r>
              <a:rPr lang="tr-TR" sz="1000" dirty="0">
                <a:cs typeface="Arial" panose="020B0604020202020204" pitchFamily="34" charset="0"/>
              </a:rPr>
              <a:t>  </a:t>
            </a:r>
          </a:p>
          <a:p>
            <a:r>
              <a:rPr lang="tr-TR" sz="1000" dirty="0">
                <a:cs typeface="Arial" panose="020B0604020202020204" pitchFamily="34" charset="0"/>
              </a:rPr>
              <a:t>                       D) II ve III                          E) I ve II</a:t>
            </a:r>
          </a:p>
        </p:txBody>
      </p:sp>
      <mc:AlternateContent xmlns:mc="http://schemas.openxmlformats.org/markup-compatibility/2006" xmlns:a14="http://schemas.microsoft.com/office/drawing/2010/main">
        <mc:Choice Requires="a14">
          <p:sp>
            <p:nvSpPr>
              <p:cNvPr id="38" name="Metin kutusu 37">
                <a:extLst>
                  <a:ext uri="{FF2B5EF4-FFF2-40B4-BE49-F238E27FC236}">
                    <a16:creationId xmlns:a16="http://schemas.microsoft.com/office/drawing/2014/main" id="{A0CA5D78-0286-4110-94A0-FA894BCD5AC3}"/>
                  </a:ext>
                </a:extLst>
              </p:cNvPr>
              <p:cNvSpPr txBox="1"/>
              <p:nvPr/>
            </p:nvSpPr>
            <p:spPr>
              <a:xfrm>
                <a:off x="59492" y="5934848"/>
                <a:ext cx="3362533" cy="622093"/>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3 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4 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3</m:t>
                        </m:r>
                      </m:den>
                    </m:f>
                  </m:oMath>
                </a14:m>
                <a:r>
                  <a:rPr lang="tr-TR" sz="1000" noProof="1">
                    <a:solidFill>
                      <a:schemeClr val="tx1"/>
                    </a:solidFill>
                  </a:rPr>
                  <a:t>                                         C) </a:t>
                </a:r>
                <a:r>
                  <a:rPr lang="tr-TR" sz="1000" noProof="1"/>
                  <a:t>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3</m:t>
                        </m:r>
                        <m:r>
                          <m:rPr>
                            <m:nor/>
                          </m:rPr>
                          <a:rPr lang="tr-TR" sz="800" noProof="1">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noProof="1">
                            <a:latin typeface="Helvetica" panose="020B0604020202020204" pitchFamily="34" charset="0"/>
                            <a:cs typeface="Helvetica" panose="020B0604020202020204" pitchFamily="34" charset="0"/>
                          </a:rPr>
                          <m:t>2</m:t>
                        </m:r>
                      </m:den>
                    </m:f>
                  </m:oMath>
                </a14:m>
                <a:endParaRPr lang="tr-TR" sz="800" noProof="1"/>
              </a:p>
              <a:p>
                <a:br>
                  <a:rPr lang="tr-TR" sz="800" noProof="1"/>
                </a:br>
                <a:r>
                  <a:rPr lang="tr-TR" sz="1000" noProof="1"/>
                  <a:t>                         D) 2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1</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38" name="Metin kutusu 37">
                <a:extLst>
                  <a:ext uri="{FF2B5EF4-FFF2-40B4-BE49-F238E27FC236}">
                    <a16:creationId xmlns:a16="http://schemas.microsoft.com/office/drawing/2014/main" id="{A0CA5D78-0286-4110-94A0-FA894BCD5AC3}"/>
                  </a:ext>
                </a:extLst>
              </p:cNvPr>
              <p:cNvSpPr txBox="1">
                <a:spLocks noRot="1" noChangeAspect="1" noMove="1" noResize="1" noEditPoints="1" noAdjustHandles="1" noChangeArrowheads="1" noChangeShapeType="1" noTextEdit="1"/>
              </p:cNvSpPr>
              <p:nvPr/>
            </p:nvSpPr>
            <p:spPr>
              <a:xfrm>
                <a:off x="59492" y="5934848"/>
                <a:ext cx="3362533" cy="622093"/>
              </a:xfrm>
              <a:prstGeom prst="rect">
                <a:avLst/>
              </a:prstGeom>
              <a:blipFill>
                <a:blip r:embed="rId5"/>
                <a:stretch>
                  <a:fillRect b="-980"/>
                </a:stretch>
              </a:blipFill>
            </p:spPr>
            <p:txBody>
              <a:bodyPr/>
              <a:lstStyle/>
              <a:p>
                <a:r>
                  <a:rPr lang="tr-TR">
                    <a:noFill/>
                  </a:rPr>
                  <a:t> </a:t>
                </a:r>
              </a:p>
            </p:txBody>
          </p:sp>
        </mc:Fallback>
      </mc:AlternateContent>
      <p:sp>
        <p:nvSpPr>
          <p:cNvPr id="39" name="Metin kutusu 38">
            <a:extLst>
              <a:ext uri="{FF2B5EF4-FFF2-40B4-BE49-F238E27FC236}">
                <a16:creationId xmlns:a16="http://schemas.microsoft.com/office/drawing/2014/main" id="{F8780528-37B5-49CE-8D65-3B6D7C1BEC3A}"/>
              </a:ext>
            </a:extLst>
          </p:cNvPr>
          <p:cNvSpPr txBox="1"/>
          <p:nvPr/>
        </p:nvSpPr>
        <p:spPr>
          <a:xfrm>
            <a:off x="3506142" y="474309"/>
            <a:ext cx="3392994" cy="553998"/>
          </a:xfrm>
          <a:prstGeom prst="rect">
            <a:avLst/>
          </a:prstGeom>
          <a:noFill/>
        </p:spPr>
        <p:txBody>
          <a:bodyPr wrap="square" rtlCol="0">
            <a:spAutoFit/>
          </a:bodyPr>
          <a:lstStyle/>
          <a:p>
            <a:r>
              <a:rPr lang="tr-TR" sz="1000" noProof="1">
                <a:cs typeface="Arial" panose="020B0604020202020204" pitchFamily="34" charset="0"/>
              </a:rPr>
              <a:t>Aşağıda A ve B trenleri verilmiştir. Her iki trende önünde bulunan tünelleri geçeceklerdir. Trenler boyları kadar tünelin hemen  gerisinde harekete sabit hızlarla başlayacaklardır.</a:t>
            </a:r>
          </a:p>
        </p:txBody>
      </p:sp>
      <p:pic>
        <p:nvPicPr>
          <p:cNvPr id="7" name="Grafik 6">
            <a:extLst>
              <a:ext uri="{FF2B5EF4-FFF2-40B4-BE49-F238E27FC236}">
                <a16:creationId xmlns:a16="http://schemas.microsoft.com/office/drawing/2014/main" id="{6EC85D6F-465B-497D-97FD-A979EB3BEBA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02642" y="1054259"/>
            <a:ext cx="486948" cy="397809"/>
          </a:xfrm>
          <a:prstGeom prst="rect">
            <a:avLst/>
          </a:prstGeom>
        </p:spPr>
      </p:pic>
      <p:pic>
        <p:nvPicPr>
          <p:cNvPr id="13" name="Grafik 12">
            <a:extLst>
              <a:ext uri="{FF2B5EF4-FFF2-40B4-BE49-F238E27FC236}">
                <a16:creationId xmlns:a16="http://schemas.microsoft.com/office/drawing/2014/main" id="{B7EF1BB0-7A52-4B05-B679-C5CD1AB6C242}"/>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68265" y="1054259"/>
            <a:ext cx="497046" cy="397809"/>
          </a:xfrm>
          <a:prstGeom prst="rect">
            <a:avLst/>
          </a:prstGeom>
        </p:spPr>
      </p:pic>
      <p:sp>
        <p:nvSpPr>
          <p:cNvPr id="46" name="Metin kutusu 45">
            <a:extLst>
              <a:ext uri="{FF2B5EF4-FFF2-40B4-BE49-F238E27FC236}">
                <a16:creationId xmlns:a16="http://schemas.microsoft.com/office/drawing/2014/main" id="{9B8FA398-11AC-433F-8419-A2565CC79E57}"/>
              </a:ext>
            </a:extLst>
          </p:cNvPr>
          <p:cNvSpPr txBox="1"/>
          <p:nvPr/>
        </p:nvSpPr>
        <p:spPr>
          <a:xfrm>
            <a:off x="3650568" y="933693"/>
            <a:ext cx="263740" cy="246221"/>
          </a:xfrm>
          <a:prstGeom prst="rect">
            <a:avLst/>
          </a:prstGeom>
          <a:noFill/>
        </p:spPr>
        <p:txBody>
          <a:bodyPr wrap="square" rtlCol="0">
            <a:spAutoFit/>
          </a:bodyPr>
          <a:lstStyle/>
          <a:p>
            <a:r>
              <a:rPr lang="tr-TR" sz="1000" noProof="1">
                <a:cs typeface="Arial" panose="020B0604020202020204" pitchFamily="34" charset="0"/>
              </a:rPr>
              <a:t>A</a:t>
            </a:r>
            <a:endParaRPr lang="tr-TR" sz="1000" b="1" noProof="1">
              <a:cs typeface="Arial" panose="020B0604020202020204" pitchFamily="34" charset="0"/>
            </a:endParaRPr>
          </a:p>
        </p:txBody>
      </p:sp>
      <p:sp>
        <p:nvSpPr>
          <p:cNvPr id="48" name="Metin kutusu 47">
            <a:extLst>
              <a:ext uri="{FF2B5EF4-FFF2-40B4-BE49-F238E27FC236}">
                <a16:creationId xmlns:a16="http://schemas.microsoft.com/office/drawing/2014/main" id="{8D54EB35-7E7A-49DB-813C-BB8280C85B96}"/>
              </a:ext>
            </a:extLst>
          </p:cNvPr>
          <p:cNvSpPr txBox="1"/>
          <p:nvPr/>
        </p:nvSpPr>
        <p:spPr>
          <a:xfrm>
            <a:off x="6200659" y="906217"/>
            <a:ext cx="263740" cy="246221"/>
          </a:xfrm>
          <a:prstGeom prst="rect">
            <a:avLst/>
          </a:prstGeom>
          <a:noFill/>
        </p:spPr>
        <p:txBody>
          <a:bodyPr wrap="square" rtlCol="0">
            <a:spAutoFit/>
          </a:bodyPr>
          <a:lstStyle/>
          <a:p>
            <a:r>
              <a:rPr lang="tr-TR" sz="1000" noProof="1">
                <a:cs typeface="Arial" panose="020B0604020202020204" pitchFamily="34" charset="0"/>
              </a:rPr>
              <a:t>B</a:t>
            </a:r>
            <a:endParaRPr lang="tr-TR" sz="1000" b="1" noProof="1">
              <a:cs typeface="Arial" panose="020B0604020202020204" pitchFamily="34" charset="0"/>
            </a:endParaRPr>
          </a:p>
        </p:txBody>
      </p:sp>
      <p:sp>
        <p:nvSpPr>
          <p:cNvPr id="15" name="Sağ Ayraç 14">
            <a:extLst>
              <a:ext uri="{FF2B5EF4-FFF2-40B4-BE49-F238E27FC236}">
                <a16:creationId xmlns:a16="http://schemas.microsoft.com/office/drawing/2014/main" id="{30F10ECA-4296-41AA-AA03-BCD4E70F6D81}"/>
              </a:ext>
            </a:extLst>
          </p:cNvPr>
          <p:cNvSpPr/>
          <p:nvPr/>
        </p:nvSpPr>
        <p:spPr>
          <a:xfrm rot="5400000">
            <a:off x="4343232" y="1145133"/>
            <a:ext cx="45719" cy="504056"/>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53" name="Sağ Ayraç 52">
            <a:extLst>
              <a:ext uri="{FF2B5EF4-FFF2-40B4-BE49-F238E27FC236}">
                <a16:creationId xmlns:a16="http://schemas.microsoft.com/office/drawing/2014/main" id="{F66D4572-2B0C-4F6F-BF34-7412609382D2}"/>
              </a:ext>
            </a:extLst>
          </p:cNvPr>
          <p:cNvSpPr/>
          <p:nvPr/>
        </p:nvSpPr>
        <p:spPr>
          <a:xfrm rot="5400000">
            <a:off x="4992869" y="1041930"/>
            <a:ext cx="45719" cy="720227"/>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55" name="Akış Çizelgesi: Doğrudan Erişimli Depolama 54">
            <a:extLst>
              <a:ext uri="{FF2B5EF4-FFF2-40B4-BE49-F238E27FC236}">
                <a16:creationId xmlns:a16="http://schemas.microsoft.com/office/drawing/2014/main" id="{DCDFE41D-5E13-4D76-88A7-C1A4210E9B45}"/>
              </a:ext>
            </a:extLst>
          </p:cNvPr>
          <p:cNvSpPr/>
          <p:nvPr/>
        </p:nvSpPr>
        <p:spPr>
          <a:xfrm>
            <a:off x="4093961" y="1144455"/>
            <a:ext cx="558730" cy="216024"/>
          </a:xfrm>
          <a:prstGeom prst="flowChartMagneticDrum">
            <a:avLst/>
          </a:prstGeom>
          <a:solidFill>
            <a:schemeClr val="bg1">
              <a:lumMod val="75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6" name="Oval 55">
            <a:extLst>
              <a:ext uri="{FF2B5EF4-FFF2-40B4-BE49-F238E27FC236}">
                <a16:creationId xmlns:a16="http://schemas.microsoft.com/office/drawing/2014/main" id="{C29C2914-18B8-4D45-B0FC-E8855C3B2D65}"/>
              </a:ext>
            </a:extLst>
          </p:cNvPr>
          <p:cNvSpPr/>
          <p:nvPr/>
        </p:nvSpPr>
        <p:spPr>
          <a:xfrm>
            <a:off x="4441844" y="1152437"/>
            <a:ext cx="200262" cy="207427"/>
          </a:xfrm>
          <a:prstGeom prst="ellipse">
            <a:avLst/>
          </a:prstGeom>
          <a:solidFill>
            <a:srgbClr val="BFBFBF"/>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57" name="Sağ Ayraç 56">
            <a:extLst>
              <a:ext uri="{FF2B5EF4-FFF2-40B4-BE49-F238E27FC236}">
                <a16:creationId xmlns:a16="http://schemas.microsoft.com/office/drawing/2014/main" id="{8CBF35F3-56EA-44AC-904D-2BE0B171E0F5}"/>
              </a:ext>
            </a:extLst>
          </p:cNvPr>
          <p:cNvSpPr/>
          <p:nvPr/>
        </p:nvSpPr>
        <p:spPr>
          <a:xfrm rot="5400000">
            <a:off x="5687726" y="1127797"/>
            <a:ext cx="45719" cy="553224"/>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58" name="Akış Çizelgesi: Doğrudan Erişimli Depolama 57">
            <a:extLst>
              <a:ext uri="{FF2B5EF4-FFF2-40B4-BE49-F238E27FC236}">
                <a16:creationId xmlns:a16="http://schemas.microsoft.com/office/drawing/2014/main" id="{38407890-9508-4F11-827F-29D9BC34A988}"/>
              </a:ext>
            </a:extLst>
          </p:cNvPr>
          <p:cNvSpPr/>
          <p:nvPr/>
        </p:nvSpPr>
        <p:spPr>
          <a:xfrm>
            <a:off x="5431643" y="1144455"/>
            <a:ext cx="558730" cy="216024"/>
          </a:xfrm>
          <a:prstGeom prst="flowChartMagneticDrum">
            <a:avLst/>
          </a:prstGeom>
          <a:solidFill>
            <a:schemeClr val="bg1">
              <a:lumMod val="75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9" name="Oval 58">
            <a:extLst>
              <a:ext uri="{FF2B5EF4-FFF2-40B4-BE49-F238E27FC236}">
                <a16:creationId xmlns:a16="http://schemas.microsoft.com/office/drawing/2014/main" id="{DA7C54D5-1EE1-4087-B3EA-A94F88311529}"/>
              </a:ext>
            </a:extLst>
          </p:cNvPr>
          <p:cNvSpPr/>
          <p:nvPr/>
        </p:nvSpPr>
        <p:spPr>
          <a:xfrm>
            <a:off x="5779526" y="1152437"/>
            <a:ext cx="200262" cy="207427"/>
          </a:xfrm>
          <a:prstGeom prst="ellipse">
            <a:avLst/>
          </a:prstGeom>
          <a:solidFill>
            <a:srgbClr val="BFBFBF"/>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50174520-92C3-4F0C-A261-37A3EF9F0541}"/>
                  </a:ext>
                </a:extLst>
              </p:cNvPr>
              <p:cNvSpPr txBox="1"/>
              <p:nvPr/>
            </p:nvSpPr>
            <p:spPr>
              <a:xfrm>
                <a:off x="3427333" y="1445671"/>
                <a:ext cx="3392994" cy="1986634"/>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A treni kendi boyunun </a:t>
                </a:r>
                <a14:m>
                  <m:oMath xmlns:m="http://schemas.openxmlformats.org/officeDocument/2006/math">
                    <m:f>
                      <m:fPr>
                        <m:ctrlPr>
                          <a:rPr lang="tr-TR" sz="1000" i="1" noProof="1" smtClean="0">
                            <a:solidFill>
                              <a:schemeClr val="tx1"/>
                            </a:solidFill>
                            <a:latin typeface="Cambria Math" panose="02040503050406030204" pitchFamily="18" charset="0"/>
                          </a:rPr>
                        </m:ctrlPr>
                      </m:fPr>
                      <m:num>
                        <m:r>
                          <a:rPr lang="tr-TR" sz="1000" b="0" i="0" noProof="1" smtClean="0">
                            <a:solidFill>
                              <a:schemeClr val="tx1"/>
                            </a:solidFill>
                            <a:latin typeface="Cambria Math" panose="02040503050406030204" pitchFamily="18" charset="0"/>
                          </a:rPr>
                          <m:t> </m:t>
                        </m:r>
                        <m:r>
                          <m:rPr>
                            <m:nor/>
                          </m:rPr>
                          <a:rPr lang="tr-TR" sz="1000" i="0" noProof="1" smtClean="0">
                            <a:solidFill>
                              <a:schemeClr val="tx1"/>
                            </a:solidFill>
                            <a:latin typeface="Cambria Math" panose="02040503050406030204" pitchFamily="18" charset="0"/>
                          </a:rPr>
                          <m:t> </m:t>
                        </m:r>
                        <m:r>
                          <m:rPr>
                            <m:nor/>
                          </m:rPr>
                          <a:rPr lang="tr-TR" sz="1000" i="0" noProof="1" smtClean="0">
                            <a:solidFill>
                              <a:schemeClr val="tx1"/>
                            </a:solidFill>
                            <a:latin typeface="Helvetica" panose="020B0604020202020204" pitchFamily="34" charset="0"/>
                            <a:cs typeface="Helvetica" panose="020B0604020202020204" pitchFamily="34" charset="0"/>
                          </a:rPr>
                          <m:t>3 </m:t>
                        </m:r>
                        <m:r>
                          <a:rPr lang="tr-TR" sz="1000" b="0" i="0" noProof="1" smtClean="0">
                            <a:solidFill>
                              <a:schemeClr val="tx1"/>
                            </a:solidFill>
                            <a:latin typeface="Cambria Math" panose="02040503050406030204" pitchFamily="18" charset="0"/>
                          </a:rPr>
                          <m:t> </m:t>
                        </m:r>
                      </m:num>
                      <m:den>
                        <m:r>
                          <m:rPr>
                            <m:nor/>
                          </m:rPr>
                          <a:rPr lang="tr-TR" sz="1000" i="0" noProof="1" smtClean="0">
                            <a:solidFill>
                              <a:schemeClr val="tx1"/>
                            </a:solidFill>
                            <a:latin typeface="Helvetica" panose="020B0604020202020204" pitchFamily="34" charset="0"/>
                            <a:cs typeface="Helvetica" panose="020B0604020202020204" pitchFamily="34" charset="0"/>
                          </a:rPr>
                          <m:t>4</m:t>
                        </m:r>
                      </m:den>
                    </m:f>
                    <m:r>
                      <a:rPr lang="tr-TR" sz="1000" b="0" i="0" noProof="1" smtClean="0">
                        <a:solidFill>
                          <a:schemeClr val="tx1"/>
                        </a:solidFill>
                        <a:latin typeface="Cambria Math" panose="02040503050406030204" pitchFamily="18" charset="0"/>
                        <a:cs typeface="Helvetica" panose="020B0604020202020204" pitchFamily="34" charset="0"/>
                      </a:rPr>
                      <m:t>`</m:t>
                    </m:r>
                  </m:oMath>
                </a14:m>
                <a:r>
                  <a:rPr lang="tr-TR" sz="1000" noProof="1">
                    <a:cs typeface="Arial" panose="020B0604020202020204" pitchFamily="34" charset="0"/>
                  </a:rPr>
                  <a:t>ü uzunluğundaki olan tüneli 140 saniyede geçmiştir. </a:t>
                </a:r>
              </a:p>
              <a:p>
                <a:pPr marL="171450" indent="-171450">
                  <a:buFont typeface="Arial" panose="020B0604020202020204" pitchFamily="34" charset="0"/>
                  <a:buChar char="•"/>
                </a:pPr>
                <a:r>
                  <a:rPr lang="tr-TR" sz="1000" noProof="1">
                    <a:cs typeface="Arial" panose="020B0604020202020204" pitchFamily="34" charset="0"/>
                  </a:rPr>
                  <a:t>B treni kendi boyunun </a:t>
                </a:r>
                <a14:m>
                  <m:oMath xmlns:m="http://schemas.openxmlformats.org/officeDocument/2006/math">
                    <m:f>
                      <m:fPr>
                        <m:ctrlPr>
                          <a:rPr lang="tr-TR" sz="1000" i="1" noProof="1" smtClean="0">
                            <a:solidFill>
                              <a:schemeClr val="tx1"/>
                            </a:solidFill>
                            <a:latin typeface="Cambria Math" panose="02040503050406030204" pitchFamily="18" charset="0"/>
                          </a:rPr>
                        </m:ctrlPr>
                      </m:fPr>
                      <m:num>
                        <m:r>
                          <a:rPr lang="tr-TR" sz="1000" b="0" i="0" noProof="1" smtClean="0">
                            <a:solidFill>
                              <a:schemeClr val="tx1"/>
                            </a:solidFill>
                            <a:latin typeface="Cambria Math" panose="02040503050406030204" pitchFamily="18" charset="0"/>
                          </a:rPr>
                          <m:t> </m:t>
                        </m:r>
                        <m:r>
                          <m:rPr>
                            <m:nor/>
                          </m:rPr>
                          <a:rPr lang="tr-TR" sz="1000" i="0" noProof="1" smtClean="0">
                            <a:solidFill>
                              <a:schemeClr val="tx1"/>
                            </a:solidFill>
                            <a:latin typeface="Cambria Math" panose="02040503050406030204" pitchFamily="18" charset="0"/>
                          </a:rPr>
                          <m:t> </m:t>
                        </m:r>
                        <m:r>
                          <m:rPr>
                            <m:nor/>
                          </m:rPr>
                          <a:rPr lang="tr-TR" sz="1000" b="0" i="0" noProof="1" smtClean="0">
                            <a:solidFill>
                              <a:schemeClr val="tx1"/>
                            </a:solidFill>
                            <a:latin typeface="Helvetica" panose="020B0604020202020204" pitchFamily="34" charset="0"/>
                            <a:cs typeface="Helvetica" panose="020B0604020202020204" pitchFamily="34" charset="0"/>
                          </a:rPr>
                          <m:t>4</m:t>
                        </m:r>
                        <m:r>
                          <m:rPr>
                            <m:nor/>
                          </m:rPr>
                          <a:rPr lang="tr-TR" sz="1000" i="0" noProof="1" smtClean="0">
                            <a:solidFill>
                              <a:schemeClr val="tx1"/>
                            </a:solidFill>
                            <a:latin typeface="Helvetica" panose="020B0604020202020204" pitchFamily="34" charset="0"/>
                            <a:cs typeface="Helvetica" panose="020B0604020202020204" pitchFamily="34" charset="0"/>
                          </a:rPr>
                          <m:t> </m:t>
                        </m:r>
                        <m:r>
                          <a:rPr lang="tr-TR" sz="1000" b="0" i="0" noProof="1" smtClean="0">
                            <a:solidFill>
                              <a:schemeClr val="tx1"/>
                            </a:solidFill>
                            <a:latin typeface="Cambria Math" panose="02040503050406030204" pitchFamily="18" charset="0"/>
                          </a:rPr>
                          <m:t> </m:t>
                        </m:r>
                      </m:num>
                      <m:den>
                        <m:r>
                          <m:rPr>
                            <m:nor/>
                          </m:rPr>
                          <a:rPr lang="tr-TR" sz="1000" b="0" i="0" noProof="1" smtClean="0">
                            <a:solidFill>
                              <a:schemeClr val="tx1"/>
                            </a:solidFill>
                            <a:latin typeface="Helvetica" panose="020B0604020202020204" pitchFamily="34" charset="0"/>
                            <a:cs typeface="Helvetica" panose="020B0604020202020204" pitchFamily="34" charset="0"/>
                          </a:rPr>
                          <m:t>3</m:t>
                        </m:r>
                      </m:den>
                    </m:f>
                    <m:r>
                      <a:rPr lang="tr-TR" sz="1000" b="0" i="0" noProof="1" smtClean="0">
                        <a:solidFill>
                          <a:schemeClr val="tx1"/>
                        </a:solidFill>
                        <a:latin typeface="Cambria Math" panose="02040503050406030204" pitchFamily="18" charset="0"/>
                        <a:cs typeface="Helvetica" panose="020B0604020202020204" pitchFamily="34" charset="0"/>
                      </a:rPr>
                      <m:t>`</m:t>
                    </m:r>
                  </m:oMath>
                </a14:m>
                <a:r>
                  <a:rPr lang="tr-TR" sz="1000" noProof="1">
                    <a:cs typeface="Arial" panose="020B0604020202020204" pitchFamily="34" charset="0"/>
                  </a:rPr>
                  <a:t>ü uzunluğundaki tüneli 140 saniyede geçmiştir. </a:t>
                </a:r>
              </a:p>
              <a:p>
                <a:pPr marL="171450" indent="-171450">
                  <a:buFont typeface="Arial" panose="020B0604020202020204" pitchFamily="34" charset="0"/>
                  <a:buChar char="•"/>
                </a:pPr>
                <a:r>
                  <a:rPr lang="tr-TR" sz="1000" noProof="1">
                    <a:cs typeface="Arial" panose="020B0604020202020204" pitchFamily="34" charset="0"/>
                  </a:rPr>
                  <a:t>Tüneller arası uzaklık 910 km olup, A ve B araçları sırasıyla saatte 60 ve 90 km hızla gitmektedirler.  </a:t>
                </a:r>
              </a:p>
              <a:p>
                <a:pPr marL="171450" indent="-171450">
                  <a:buFont typeface="Arial" panose="020B0604020202020204" pitchFamily="34" charset="0"/>
                  <a:buChar char="•"/>
                </a:pPr>
                <a:r>
                  <a:rPr lang="tr-TR" sz="1000" noProof="1">
                    <a:cs typeface="Arial" panose="020B0604020202020204" pitchFamily="34" charset="0"/>
                  </a:rPr>
                  <a:t>Tünellerin hemen gerisinde harekete başlayan A ve B trenleri C noktasında karşılaşmışlardır. </a:t>
                </a:r>
              </a:p>
              <a:p>
                <a:pPr marL="171450" indent="-171450">
                  <a:buFont typeface="Arial" panose="020B0604020202020204" pitchFamily="34" charset="0"/>
                  <a:buChar char="•"/>
                </a:pPr>
                <a:r>
                  <a:rPr lang="tr-TR" sz="1000" noProof="1">
                    <a:cs typeface="Arial" panose="020B0604020202020204" pitchFamily="34" charset="0"/>
                  </a:rPr>
                  <a:t>A trenin boyu B trenin boyunun yarısıdır.</a:t>
                </a:r>
              </a:p>
              <a:p>
                <a:pPr marL="171450" indent="-171450">
                  <a:buFont typeface="Arial" panose="020B0604020202020204" pitchFamily="34" charset="0"/>
                  <a:buChar char="•"/>
                </a:pPr>
                <a:endParaRPr lang="tr-TR" sz="1000" noProof="1">
                  <a:cs typeface="Arial" panose="020B0604020202020204" pitchFamily="34" charset="0"/>
                </a:endParaRPr>
              </a:p>
              <a:p>
                <a:endParaRPr lang="tr-TR" sz="1000" noProof="1">
                  <a:cs typeface="Arial" panose="020B0604020202020204" pitchFamily="34" charset="0"/>
                </a:endParaRPr>
              </a:p>
            </p:txBody>
          </p:sp>
        </mc:Choice>
        <mc:Fallback xmlns="">
          <p:sp>
            <p:nvSpPr>
              <p:cNvPr id="60" name="Metin kutusu 59">
                <a:extLst>
                  <a:ext uri="{FF2B5EF4-FFF2-40B4-BE49-F238E27FC236}">
                    <a16:creationId xmlns:a16="http://schemas.microsoft.com/office/drawing/2014/main" id="{50174520-92C3-4F0C-A261-37A3EF9F0541}"/>
                  </a:ext>
                </a:extLst>
              </p:cNvPr>
              <p:cNvSpPr txBox="1">
                <a:spLocks noRot="1" noChangeAspect="1" noMove="1" noResize="1" noEditPoints="1" noAdjustHandles="1" noChangeArrowheads="1" noChangeShapeType="1" noTextEdit="1"/>
              </p:cNvSpPr>
              <p:nvPr/>
            </p:nvSpPr>
            <p:spPr>
              <a:xfrm>
                <a:off x="3427333" y="1445671"/>
                <a:ext cx="3392994" cy="1986634"/>
              </a:xfrm>
              <a:prstGeom prst="rect">
                <a:avLst/>
              </a:prstGeom>
              <a:blipFill>
                <a:blip r:embed="rId10"/>
                <a:stretch>
                  <a:fillRect/>
                </a:stretch>
              </a:blipFill>
            </p:spPr>
            <p:txBody>
              <a:bodyPr/>
              <a:lstStyle/>
              <a:p>
                <a:r>
                  <a:rPr lang="tr-TR">
                    <a:noFill/>
                  </a:rPr>
                  <a:t> </a:t>
                </a:r>
              </a:p>
            </p:txBody>
          </p:sp>
        </mc:Fallback>
      </mc:AlternateContent>
      <p:sp>
        <p:nvSpPr>
          <p:cNvPr id="17" name="Oval 16">
            <a:extLst>
              <a:ext uri="{FF2B5EF4-FFF2-40B4-BE49-F238E27FC236}">
                <a16:creationId xmlns:a16="http://schemas.microsoft.com/office/drawing/2014/main" id="{6224D483-C203-42A8-ADD4-B3913A749AE5}"/>
              </a:ext>
            </a:extLst>
          </p:cNvPr>
          <p:cNvSpPr/>
          <p:nvPr/>
        </p:nvSpPr>
        <p:spPr>
          <a:xfrm>
            <a:off x="4979750" y="1361999"/>
            <a:ext cx="72008" cy="70323"/>
          </a:xfrm>
          <a:prstGeom prst="ellipse">
            <a:avLst/>
          </a:prstGeom>
          <a:solidFill>
            <a:schemeClr val="tx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1" name="Metin kutusu 60">
            <a:extLst>
              <a:ext uri="{FF2B5EF4-FFF2-40B4-BE49-F238E27FC236}">
                <a16:creationId xmlns:a16="http://schemas.microsoft.com/office/drawing/2014/main" id="{38F43AB5-88E0-4741-B941-C01F058B9E5B}"/>
              </a:ext>
            </a:extLst>
          </p:cNvPr>
          <p:cNvSpPr txBox="1"/>
          <p:nvPr/>
        </p:nvSpPr>
        <p:spPr>
          <a:xfrm>
            <a:off x="4875663" y="1129356"/>
            <a:ext cx="263740" cy="246221"/>
          </a:xfrm>
          <a:prstGeom prst="rect">
            <a:avLst/>
          </a:prstGeom>
          <a:noFill/>
        </p:spPr>
        <p:txBody>
          <a:bodyPr wrap="square" rtlCol="0">
            <a:spAutoFit/>
          </a:bodyPr>
          <a:lstStyle/>
          <a:p>
            <a:r>
              <a:rPr lang="tr-TR" sz="1000" noProof="1">
                <a:cs typeface="Arial" panose="020B0604020202020204" pitchFamily="34" charset="0"/>
              </a:rPr>
              <a:t>C</a:t>
            </a:r>
            <a:endParaRPr lang="tr-TR" sz="1000" b="1" noProof="1">
              <a:cs typeface="Arial" panose="020B0604020202020204" pitchFamily="34" charset="0"/>
            </a:endParaRPr>
          </a:p>
        </p:txBody>
      </p:sp>
      <p:sp>
        <p:nvSpPr>
          <p:cNvPr id="63" name="Metin kutusu 62">
            <a:extLst>
              <a:ext uri="{FF2B5EF4-FFF2-40B4-BE49-F238E27FC236}">
                <a16:creationId xmlns:a16="http://schemas.microsoft.com/office/drawing/2014/main" id="{E54F91CC-4F9F-4D6E-8B3B-29D7A58BE66E}"/>
              </a:ext>
            </a:extLst>
          </p:cNvPr>
          <p:cNvSpPr txBox="1"/>
          <p:nvPr/>
        </p:nvSpPr>
        <p:spPr>
          <a:xfrm>
            <a:off x="3459730" y="3087443"/>
            <a:ext cx="3564393" cy="400110"/>
          </a:xfrm>
          <a:prstGeom prst="rect">
            <a:avLst/>
          </a:prstGeom>
          <a:noFill/>
        </p:spPr>
        <p:txBody>
          <a:bodyPr wrap="square" rtlCol="0">
            <a:spAutoFit/>
          </a:bodyPr>
          <a:lstStyle/>
          <a:p>
            <a:r>
              <a:rPr lang="tr-TR" sz="1000" b="1" noProof="1">
                <a:cs typeface="Arial" panose="020B0604020202020204" pitchFamily="34" charset="0"/>
              </a:rPr>
              <a:t>Trenler tünelin hemen gerisinde harekete başlayıp C noktası-nda karşılaşana kadar yaklaşık kaç saat geçer?</a:t>
            </a:r>
          </a:p>
        </p:txBody>
      </p:sp>
      <p:sp>
        <p:nvSpPr>
          <p:cNvPr id="65" name="Metin kutusu 64">
            <a:extLst>
              <a:ext uri="{FF2B5EF4-FFF2-40B4-BE49-F238E27FC236}">
                <a16:creationId xmlns:a16="http://schemas.microsoft.com/office/drawing/2014/main" id="{C3851A0E-8AAF-4DED-8769-A0387EA4A4A6}"/>
              </a:ext>
            </a:extLst>
          </p:cNvPr>
          <p:cNvSpPr txBox="1"/>
          <p:nvPr/>
        </p:nvSpPr>
        <p:spPr>
          <a:xfrm>
            <a:off x="3463161" y="3440617"/>
            <a:ext cx="3435975" cy="246221"/>
          </a:xfrm>
          <a:prstGeom prst="rect">
            <a:avLst/>
          </a:prstGeom>
          <a:noFill/>
        </p:spPr>
        <p:txBody>
          <a:bodyPr wrap="square" rtlCol="0">
            <a:spAutoFit/>
          </a:bodyPr>
          <a:lstStyle/>
          <a:p>
            <a:r>
              <a:rPr lang="tr-TR" sz="1000" noProof="1"/>
              <a:t>A) 6                 B) 8                C) 9                  D) 10                E) 12                        </a:t>
            </a:r>
          </a:p>
        </p:txBody>
      </p:sp>
    </p:spTree>
    <p:extLst>
      <p:ext uri="{BB962C8B-B14F-4D97-AF65-F5344CB8AC3E}">
        <p14:creationId xmlns:p14="http://schemas.microsoft.com/office/powerpoint/2010/main" val="3559072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Hareket Problemleri</a:t>
            </a:r>
          </a:p>
          <a:p>
            <a:r>
              <a:rPr lang="tr-TR" sz="1000" b="1" noProof="1">
                <a:latin typeface="+mj-lt"/>
                <a:cs typeface="Arial" panose="020B0604020202020204" pitchFamily="34" charset="0"/>
              </a:rPr>
              <a:t>Tren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Aşağıda trenin brifing sistemi monotorize edilmiştir.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81442"/>
            <a:ext cx="3349954" cy="2862322"/>
          </a:xfrm>
          <a:prstGeom prst="rect">
            <a:avLst/>
          </a:prstGeom>
          <a:noFill/>
        </p:spPr>
        <p:txBody>
          <a:bodyPr wrap="square" rtlCol="0">
            <a:spAutoFit/>
          </a:bodyPr>
          <a:lstStyle/>
          <a:p>
            <a:r>
              <a:rPr lang="tr-TR" sz="1000" b="1" noProof="1">
                <a:cs typeface="Arial" panose="020B0604020202020204" pitchFamily="34" charset="0"/>
              </a:rPr>
              <a:t>İki trenle ilgili bilinenler şunlardır :</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Doğrusal bir yolda birbirlerine zıt yönde gitmektedirler.</a:t>
            </a:r>
          </a:p>
          <a:p>
            <a:pPr marL="171450" indent="-171450">
              <a:buFont typeface="Arial" panose="020B0604020202020204" pitchFamily="34" charset="0"/>
              <a:buChar char="•"/>
            </a:pPr>
            <a:r>
              <a:rPr lang="tr-TR" sz="1000" noProof="1">
                <a:cs typeface="Arial" panose="020B0604020202020204" pitchFamily="34" charset="0"/>
              </a:rPr>
              <a:t>Her iki trenin başlangıç noktası tünelin girişidir. </a:t>
            </a:r>
          </a:p>
          <a:p>
            <a:pPr marL="171450" indent="-171450">
              <a:buFont typeface="Arial" panose="020B0604020202020204" pitchFamily="34" charset="0"/>
              <a:buChar char="•"/>
            </a:pPr>
            <a:r>
              <a:rPr lang="tr-TR" sz="1000" noProof="1">
                <a:cs typeface="Arial" panose="020B0604020202020204" pitchFamily="34" charset="0"/>
              </a:rPr>
              <a:t>Trenlerin girecekleri tüneller eş uzunluktadır.</a:t>
            </a:r>
          </a:p>
          <a:p>
            <a:pPr marL="171450" indent="-171450">
              <a:buFont typeface="Arial" panose="020B0604020202020204" pitchFamily="34" charset="0"/>
              <a:buChar char="•"/>
            </a:pPr>
            <a:r>
              <a:rPr lang="tr-TR" sz="1000" noProof="1">
                <a:cs typeface="Arial" panose="020B0604020202020204" pitchFamily="34" charset="0"/>
              </a:rPr>
              <a:t>Trenler karşılaştıklarında iki trenin arka kısmı tünel çıkışının hemen önündedir. </a:t>
            </a:r>
          </a:p>
          <a:p>
            <a:endParaRPr lang="tr-TR" sz="1000" noProof="1">
              <a:cs typeface="Arial" panose="020B0604020202020204" pitchFamily="34" charset="0"/>
            </a:endParaRPr>
          </a:p>
          <a:p>
            <a:r>
              <a:rPr lang="tr-TR" sz="1000" b="1" noProof="1">
                <a:cs typeface="Arial" panose="020B0604020202020204" pitchFamily="34" charset="0"/>
              </a:rPr>
              <a:t>Verilenlere bilgilere göre ; </a:t>
            </a:r>
          </a:p>
          <a:p>
            <a:endParaRPr lang="tr-TR" sz="1000" noProof="1">
              <a:cs typeface="Arial" panose="020B0604020202020204" pitchFamily="34" charset="0"/>
            </a:endParaRPr>
          </a:p>
          <a:p>
            <a:r>
              <a:rPr lang="tr-TR" sz="1000" noProof="1">
                <a:cs typeface="Arial" panose="020B0604020202020204" pitchFamily="34" charset="0"/>
              </a:rPr>
              <a:t>I. Trenler toplamda iki tünel mesafesi ve kendi uzunlukları kadar yol almışlardır. </a:t>
            </a:r>
          </a:p>
          <a:p>
            <a:r>
              <a:rPr lang="tr-TR" sz="1000" noProof="1">
                <a:cs typeface="Arial" panose="020B0604020202020204" pitchFamily="34" charset="0"/>
              </a:rPr>
              <a:t>II. İki tünel arası mesafe trenlerin uzunluklarının 2 katıdır.</a:t>
            </a:r>
          </a:p>
          <a:p>
            <a:r>
              <a:rPr lang="tr-TR" sz="1000" noProof="1">
                <a:cs typeface="Arial" panose="020B0604020202020204" pitchFamily="34" charset="0"/>
              </a:rPr>
              <a:t>III. Trenler karşılaştıklarında her ikiside tüneli tamamen geçemediyse trenlerin uzunlukları toplamı iki tünel arasından fazladır. </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7.C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Metin kutusu 35">
            <a:extLst>
              <a:ext uri="{FF2B5EF4-FFF2-40B4-BE49-F238E27FC236}">
                <a16:creationId xmlns:a16="http://schemas.microsoft.com/office/drawing/2014/main" id="{067F5E96-EEA8-4719-B45C-72C5B517BC45}"/>
              </a:ext>
            </a:extLst>
          </p:cNvPr>
          <p:cNvSpPr txBox="1"/>
          <p:nvPr/>
        </p:nvSpPr>
        <p:spPr>
          <a:xfrm>
            <a:off x="3469220" y="3275856"/>
            <a:ext cx="3388780" cy="553998"/>
          </a:xfrm>
          <a:prstGeom prst="rect">
            <a:avLst/>
          </a:prstGeom>
          <a:noFill/>
        </p:spPr>
        <p:txBody>
          <a:bodyPr wrap="square" rtlCol="0">
            <a:spAutoFit/>
          </a:bodyPr>
          <a:lstStyle/>
          <a:p>
            <a:r>
              <a:rPr lang="tr-TR" sz="1000" dirty="0">
                <a:cs typeface="Arial" panose="020B0604020202020204" pitchFamily="34" charset="0"/>
              </a:rPr>
              <a:t>A) Yalnız II                       B) Yalnız III                          C) I ve III</a:t>
            </a:r>
          </a:p>
          <a:p>
            <a:r>
              <a:rPr lang="tr-TR" sz="1000" dirty="0">
                <a:cs typeface="Arial" panose="020B0604020202020204" pitchFamily="34" charset="0"/>
              </a:rPr>
              <a:t>  </a:t>
            </a:r>
          </a:p>
          <a:p>
            <a:r>
              <a:rPr lang="tr-TR" sz="1000" dirty="0">
                <a:cs typeface="Arial" panose="020B0604020202020204" pitchFamily="34" charset="0"/>
              </a:rPr>
              <a:t>                       D) I ve II                          E) Hepsi</a:t>
            </a:r>
          </a:p>
        </p:txBody>
      </p:sp>
      <p:sp>
        <p:nvSpPr>
          <p:cNvPr id="2" name="Dikdörtgen 1">
            <a:extLst>
              <a:ext uri="{FF2B5EF4-FFF2-40B4-BE49-F238E27FC236}">
                <a16:creationId xmlns:a16="http://schemas.microsoft.com/office/drawing/2014/main" id="{4C68E949-2A9D-41D8-9BDF-1491CAAA73EF}"/>
              </a:ext>
            </a:extLst>
          </p:cNvPr>
          <p:cNvSpPr/>
          <p:nvPr/>
        </p:nvSpPr>
        <p:spPr>
          <a:xfrm>
            <a:off x="188639" y="722973"/>
            <a:ext cx="3197041" cy="1086298"/>
          </a:xfrm>
          <a:prstGeom prst="rect">
            <a:avLst/>
          </a:prstGeom>
          <a:solidFill>
            <a:schemeClr val="accent4">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8" name="Metin kutusu 37">
            <a:extLst>
              <a:ext uri="{FF2B5EF4-FFF2-40B4-BE49-F238E27FC236}">
                <a16:creationId xmlns:a16="http://schemas.microsoft.com/office/drawing/2014/main" id="{37022CE3-A2A3-4CBA-8195-EB5683E2EF24}"/>
              </a:ext>
            </a:extLst>
          </p:cNvPr>
          <p:cNvSpPr txBox="1"/>
          <p:nvPr/>
        </p:nvSpPr>
        <p:spPr>
          <a:xfrm>
            <a:off x="197792" y="733710"/>
            <a:ext cx="3143617" cy="276999"/>
          </a:xfrm>
          <a:prstGeom prst="rect">
            <a:avLst/>
          </a:prstGeom>
          <a:noFill/>
        </p:spPr>
        <p:txBody>
          <a:bodyPr wrap="square" rtlCol="0">
            <a:spAutoFit/>
          </a:bodyPr>
          <a:lstStyle/>
          <a:p>
            <a:pPr algn="ctr"/>
            <a:r>
              <a:rPr lang="tr-TR" sz="1200" noProof="1">
                <a:cs typeface="Arial" panose="020B0604020202020204" pitchFamily="34" charset="0"/>
              </a:rPr>
              <a:t>Saatteki Hızı (Sabit) : 180 KM</a:t>
            </a:r>
          </a:p>
        </p:txBody>
      </p:sp>
      <p:sp>
        <p:nvSpPr>
          <p:cNvPr id="39" name="Metin kutusu 38">
            <a:extLst>
              <a:ext uri="{FF2B5EF4-FFF2-40B4-BE49-F238E27FC236}">
                <a16:creationId xmlns:a16="http://schemas.microsoft.com/office/drawing/2014/main" id="{074EF61D-35FB-4AF0-A675-A3C847507696}"/>
              </a:ext>
            </a:extLst>
          </p:cNvPr>
          <p:cNvSpPr txBox="1"/>
          <p:nvPr/>
        </p:nvSpPr>
        <p:spPr>
          <a:xfrm>
            <a:off x="188640" y="1076226"/>
            <a:ext cx="3190381" cy="323165"/>
          </a:xfrm>
          <a:prstGeom prst="rect">
            <a:avLst/>
          </a:prstGeom>
          <a:noFill/>
        </p:spPr>
        <p:txBody>
          <a:bodyPr wrap="square" rtlCol="0">
            <a:spAutoFit/>
          </a:bodyPr>
          <a:lstStyle/>
          <a:p>
            <a:r>
              <a:rPr lang="tr-TR" sz="1500" b="1" noProof="1">
                <a:cs typeface="Arial" panose="020B0604020202020204" pitchFamily="34" charset="0"/>
              </a:rPr>
              <a:t>Önümüzdeki Tüneller </a:t>
            </a:r>
            <a:r>
              <a:rPr lang="tr-TR" sz="1500" noProof="1">
                <a:cs typeface="Arial" panose="020B0604020202020204" pitchFamily="34" charset="0"/>
              </a:rPr>
              <a:t>–</a:t>
            </a:r>
            <a:r>
              <a:rPr lang="tr-TR" sz="1500" b="1" noProof="1">
                <a:cs typeface="Arial" panose="020B0604020202020204" pitchFamily="34" charset="0"/>
              </a:rPr>
              <a:t> </a:t>
            </a:r>
            <a:r>
              <a:rPr lang="tr-TR" sz="1500" noProof="1">
                <a:cs typeface="Arial" panose="020B0604020202020204" pitchFamily="34" charset="0"/>
              </a:rPr>
              <a:t>(</a:t>
            </a:r>
            <a:r>
              <a:rPr lang="tr-TR" sz="1400" noProof="1">
                <a:solidFill>
                  <a:srgbClr val="7030A0"/>
                </a:solidFill>
                <a:cs typeface="Arial" panose="020B0604020202020204" pitchFamily="34" charset="0"/>
              </a:rPr>
              <a:t>Tahmini Geçiş</a:t>
            </a:r>
            <a:r>
              <a:rPr lang="tr-TR" sz="1400" noProof="1">
                <a:cs typeface="Arial" panose="020B0604020202020204" pitchFamily="34" charset="0"/>
              </a:rPr>
              <a:t>)</a:t>
            </a:r>
          </a:p>
        </p:txBody>
      </p:sp>
      <p:cxnSp>
        <p:nvCxnSpPr>
          <p:cNvPr id="8" name="Düz Bağlayıcı 7">
            <a:extLst>
              <a:ext uri="{FF2B5EF4-FFF2-40B4-BE49-F238E27FC236}">
                <a16:creationId xmlns:a16="http://schemas.microsoft.com/office/drawing/2014/main" id="{D25E9623-8C9F-4542-8A91-E8E27C915A52}"/>
              </a:ext>
            </a:extLst>
          </p:cNvPr>
          <p:cNvCxnSpPr>
            <a:cxnSpLocks/>
          </p:cNvCxnSpPr>
          <p:nvPr/>
        </p:nvCxnSpPr>
        <p:spPr>
          <a:xfrm>
            <a:off x="188640" y="1056875"/>
            <a:ext cx="3190381" cy="0"/>
          </a:xfrm>
          <a:prstGeom prst="line">
            <a:avLst/>
          </a:prstGeom>
          <a:ln w="12700">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FAE16DD7-C723-422E-8628-891B6FC74C76}"/>
              </a:ext>
            </a:extLst>
          </p:cNvPr>
          <p:cNvSpPr txBox="1"/>
          <p:nvPr/>
        </p:nvSpPr>
        <p:spPr>
          <a:xfrm>
            <a:off x="196980" y="1339395"/>
            <a:ext cx="3143617" cy="461665"/>
          </a:xfrm>
          <a:prstGeom prst="rect">
            <a:avLst/>
          </a:prstGeom>
          <a:noFill/>
        </p:spPr>
        <p:txBody>
          <a:bodyPr wrap="square" rtlCol="0">
            <a:spAutoFit/>
          </a:bodyPr>
          <a:lstStyle/>
          <a:p>
            <a:pPr marL="171450" indent="-171450">
              <a:buFont typeface="Wingdings" panose="05000000000000000000" pitchFamily="2" charset="2"/>
              <a:buChar char="§"/>
            </a:pPr>
            <a:r>
              <a:rPr lang="tr-TR" sz="1200" noProof="1">
                <a:cs typeface="Arial" panose="020B0604020202020204" pitchFamily="34" charset="0"/>
              </a:rPr>
              <a:t>(X-1) KM Uzunluğunda A Tüneli</a:t>
            </a:r>
          </a:p>
          <a:p>
            <a:pPr marL="171450" indent="-171450">
              <a:buFont typeface="Wingdings" panose="05000000000000000000" pitchFamily="2" charset="2"/>
              <a:buChar char="§"/>
            </a:pPr>
            <a:r>
              <a:rPr lang="tr-TR" sz="1200" noProof="1">
                <a:cs typeface="Arial" panose="020B0604020202020204" pitchFamily="34" charset="0"/>
              </a:rPr>
              <a:t>5X KM Uzunluğunda B Tüneli</a:t>
            </a:r>
          </a:p>
        </p:txBody>
      </p:sp>
      <p:sp>
        <p:nvSpPr>
          <p:cNvPr id="55" name="Metin kutusu 54">
            <a:extLst>
              <a:ext uri="{FF2B5EF4-FFF2-40B4-BE49-F238E27FC236}">
                <a16:creationId xmlns:a16="http://schemas.microsoft.com/office/drawing/2014/main" id="{438587C0-3D4A-44B4-8644-37544FFB1CBA}"/>
              </a:ext>
            </a:extLst>
          </p:cNvPr>
          <p:cNvSpPr txBox="1"/>
          <p:nvPr/>
        </p:nvSpPr>
        <p:spPr>
          <a:xfrm>
            <a:off x="110127" y="1828008"/>
            <a:ext cx="3318873" cy="861774"/>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Sistemde tünellerin tahmini geçiş süresi belirtilmektedir.</a:t>
            </a:r>
          </a:p>
          <a:p>
            <a:pPr marL="171450" indent="-171450">
              <a:buFont typeface="Arial" panose="020B0604020202020204" pitchFamily="34" charset="0"/>
              <a:buChar char="•"/>
            </a:pPr>
            <a:r>
              <a:rPr lang="tr-TR" sz="1000" noProof="1">
                <a:cs typeface="Arial" panose="020B0604020202020204" pitchFamily="34" charset="0"/>
              </a:rPr>
              <a:t>Tren A tüneline 15.52 de giriş yapmıştır.</a:t>
            </a:r>
          </a:p>
          <a:p>
            <a:pPr marL="171450" indent="-171450">
              <a:buFont typeface="Arial" panose="020B0604020202020204" pitchFamily="34" charset="0"/>
              <a:buChar char="•"/>
            </a:pPr>
            <a:r>
              <a:rPr lang="tr-TR" sz="1000" noProof="1">
                <a:cs typeface="Arial" panose="020B0604020202020204" pitchFamily="34" charset="0"/>
              </a:rPr>
              <a:t>B tüneline 15.54 de giriş yapılmıştır.</a:t>
            </a:r>
          </a:p>
          <a:p>
            <a:endParaRPr lang="tr-TR" sz="1000" b="1" noProof="1">
              <a:cs typeface="Arial" panose="020B0604020202020204" pitchFamily="34" charset="0"/>
            </a:endParaRPr>
          </a:p>
          <a:p>
            <a:r>
              <a:rPr lang="tr-TR" sz="1000" b="1" noProof="1">
                <a:cs typeface="Arial" panose="020B0604020202020204" pitchFamily="34" charset="0"/>
              </a:rPr>
              <a:t>Trenin brifing sistemine göre, trenin uzunluğu kaç km dir?</a:t>
            </a:r>
          </a:p>
        </p:txBody>
      </p:sp>
      <p:sp>
        <p:nvSpPr>
          <p:cNvPr id="17" name="Dikdörtgen 16">
            <a:extLst>
              <a:ext uri="{FF2B5EF4-FFF2-40B4-BE49-F238E27FC236}">
                <a16:creationId xmlns:a16="http://schemas.microsoft.com/office/drawing/2014/main" id="{CD34B75C-9C70-4DCA-A485-EEE98711FE56}"/>
              </a:ext>
            </a:extLst>
          </p:cNvPr>
          <p:cNvSpPr/>
          <p:nvPr/>
        </p:nvSpPr>
        <p:spPr>
          <a:xfrm>
            <a:off x="2409657" y="1365554"/>
            <a:ext cx="443279" cy="409880"/>
          </a:xfrm>
          <a:prstGeom prst="rect">
            <a:avLst/>
          </a:prstGeom>
          <a:solidFill>
            <a:schemeClr val="tx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7" name="Metin kutusu 56">
            <a:extLst>
              <a:ext uri="{FF2B5EF4-FFF2-40B4-BE49-F238E27FC236}">
                <a16:creationId xmlns:a16="http://schemas.microsoft.com/office/drawing/2014/main" id="{B9D481B7-47D6-49E1-9145-B24761DF2E1A}"/>
              </a:ext>
            </a:extLst>
          </p:cNvPr>
          <p:cNvSpPr txBox="1"/>
          <p:nvPr/>
        </p:nvSpPr>
        <p:spPr>
          <a:xfrm>
            <a:off x="2386865" y="1296068"/>
            <a:ext cx="605456" cy="553998"/>
          </a:xfrm>
          <a:prstGeom prst="rect">
            <a:avLst/>
          </a:prstGeom>
          <a:noFill/>
        </p:spPr>
        <p:txBody>
          <a:bodyPr wrap="square">
            <a:spAutoFit/>
          </a:bodyPr>
          <a:lstStyle/>
          <a:p>
            <a:r>
              <a:rPr lang="tr-TR" sz="1500" noProof="1">
                <a:ln w="3175">
                  <a:noFill/>
                </a:ln>
                <a:solidFill>
                  <a:srgbClr val="FFC000"/>
                </a:solidFill>
                <a:latin typeface="Digital-7" panose="02000000000000000000" pitchFamily="2" charset="0"/>
                <a:cs typeface="Arial" panose="020B0604020202020204" pitchFamily="34" charset="0"/>
              </a:rPr>
              <a:t>15.53</a:t>
            </a:r>
          </a:p>
          <a:p>
            <a:r>
              <a:rPr lang="tr-TR" sz="1500" noProof="1">
                <a:ln w="3175">
                  <a:noFill/>
                </a:ln>
                <a:solidFill>
                  <a:srgbClr val="FFC000"/>
                </a:solidFill>
                <a:latin typeface="Digital-7" panose="02000000000000000000" pitchFamily="2" charset="0"/>
                <a:cs typeface="Arial" panose="020B0604020202020204" pitchFamily="34" charset="0"/>
              </a:rPr>
              <a:t>16.02</a:t>
            </a:r>
            <a:endParaRPr lang="tr-TR" sz="1500" dirty="0"/>
          </a:p>
        </p:txBody>
      </p:sp>
      <p:sp>
        <p:nvSpPr>
          <p:cNvPr id="21" name="Dikdörtgen 20">
            <a:extLst>
              <a:ext uri="{FF2B5EF4-FFF2-40B4-BE49-F238E27FC236}">
                <a16:creationId xmlns:a16="http://schemas.microsoft.com/office/drawing/2014/main" id="{8FE2E283-1EE8-4D1D-A21B-2224D14A1A97}"/>
              </a:ext>
            </a:extLst>
          </p:cNvPr>
          <p:cNvSpPr/>
          <p:nvPr/>
        </p:nvSpPr>
        <p:spPr>
          <a:xfrm>
            <a:off x="2167930" y="774207"/>
            <a:ext cx="576064" cy="194987"/>
          </a:xfrm>
          <a:prstGeom prst="rect">
            <a:avLst/>
          </a:prstGeom>
          <a:solidFill>
            <a:schemeClr val="tx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8BBC99AF-661D-4E94-AC23-B22DCB730422}"/>
              </a:ext>
            </a:extLst>
          </p:cNvPr>
          <p:cNvSpPr txBox="1"/>
          <p:nvPr/>
        </p:nvSpPr>
        <p:spPr>
          <a:xfrm>
            <a:off x="2136934" y="714973"/>
            <a:ext cx="700749" cy="323165"/>
          </a:xfrm>
          <a:prstGeom prst="rect">
            <a:avLst/>
          </a:prstGeom>
          <a:noFill/>
        </p:spPr>
        <p:txBody>
          <a:bodyPr wrap="square">
            <a:spAutoFit/>
          </a:bodyPr>
          <a:lstStyle/>
          <a:p>
            <a:r>
              <a:rPr lang="tr-TR" sz="1500" b="1" noProof="1">
                <a:ln w="3175">
                  <a:noFill/>
                </a:ln>
                <a:solidFill>
                  <a:srgbClr val="FFC000"/>
                </a:solidFill>
                <a:latin typeface="Digital-7" panose="02000000000000000000" pitchFamily="2" charset="0"/>
                <a:cs typeface="Arial" panose="020B0604020202020204" pitchFamily="34" charset="0"/>
              </a:rPr>
              <a:t>60 </a:t>
            </a:r>
            <a:r>
              <a:rPr lang="tr-TR" sz="1200" b="1" noProof="1">
                <a:ln w="3175">
                  <a:noFill/>
                </a:ln>
                <a:solidFill>
                  <a:srgbClr val="FFC000"/>
                </a:solidFill>
                <a:latin typeface="Arial" panose="020B0604020202020204" pitchFamily="34" charset="0"/>
                <a:cs typeface="Arial" panose="020B0604020202020204" pitchFamily="34" charset="0"/>
              </a:rPr>
              <a:t>KM</a:t>
            </a:r>
            <a:endParaRPr lang="tr-TR" sz="12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FD650A7A-57D0-4047-88EB-8DC6050981AA}"/>
                  </a:ext>
                </a:extLst>
              </p:cNvPr>
              <p:cNvSpPr txBox="1"/>
              <p:nvPr/>
            </p:nvSpPr>
            <p:spPr>
              <a:xfrm>
                <a:off x="148179" y="2645227"/>
                <a:ext cx="3362533" cy="623376"/>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1 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8</m:t>
                        </m:r>
                      </m:den>
                    </m:f>
                  </m:oMath>
                </a14:m>
                <a:r>
                  <a:rPr lang="tr-TR" sz="1000" noProof="1">
                    <a:solidFill>
                      <a:schemeClr val="tx1"/>
                    </a:solidFill>
                  </a:rPr>
                  <a:t>                                     C) </a:t>
                </a:r>
                <a:r>
                  <a:rPr lang="tr-TR" sz="1000" noProof="1"/>
                  <a:t>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3</m:t>
                        </m:r>
                        <m:r>
                          <m:rPr>
                            <m:nor/>
                          </m:rPr>
                          <a:rPr lang="tr-TR" sz="800" noProof="1">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5</m:t>
                        </m:r>
                      </m:den>
                    </m:f>
                  </m:oMath>
                </a14:m>
                <a:endParaRPr lang="tr-TR" sz="800" noProof="1"/>
              </a:p>
              <a:p>
                <a:br>
                  <a:rPr lang="tr-TR" sz="8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2</m:t>
                        </m:r>
                        <m:r>
                          <m:rPr>
                            <m:nor/>
                          </m:rPr>
                          <a:rPr lang="tr-TR" sz="800" noProof="1">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noProof="1">
                            <a:latin typeface="Helvetica" panose="020B0604020202020204" pitchFamily="34" charset="0"/>
                            <a:cs typeface="Helvetica" panose="020B0604020202020204" pitchFamily="34" charset="0"/>
                          </a:rPr>
                          <m:t>5</m:t>
                        </m:r>
                      </m:den>
                    </m:f>
                  </m:oMath>
                </a14:m>
                <a:r>
                  <a:rPr lang="tr-TR" sz="800" noProof="1"/>
                  <a:t>                                           </a:t>
                </a:r>
                <a:r>
                  <a:rPr lang="tr-TR" sz="1000" noProof="1"/>
                  <a:t>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1</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60" name="Metin kutusu 59">
                <a:extLst>
                  <a:ext uri="{FF2B5EF4-FFF2-40B4-BE49-F238E27FC236}">
                    <a16:creationId xmlns:a16="http://schemas.microsoft.com/office/drawing/2014/main" id="{FD650A7A-57D0-4047-88EB-8DC6050981AA}"/>
                  </a:ext>
                </a:extLst>
              </p:cNvPr>
              <p:cNvSpPr txBox="1">
                <a:spLocks noRot="1" noChangeAspect="1" noMove="1" noResize="1" noEditPoints="1" noAdjustHandles="1" noChangeArrowheads="1" noChangeShapeType="1" noTextEdit="1"/>
              </p:cNvSpPr>
              <p:nvPr/>
            </p:nvSpPr>
            <p:spPr>
              <a:xfrm>
                <a:off x="148179" y="2645227"/>
                <a:ext cx="3362533" cy="623376"/>
              </a:xfrm>
              <a:prstGeom prst="rect">
                <a:avLst/>
              </a:prstGeom>
              <a:blipFill>
                <a:blip r:embed="rId5"/>
                <a:stretch>
                  <a:fillRect b="-980"/>
                </a:stretch>
              </a:blipFill>
            </p:spPr>
            <p:txBody>
              <a:bodyPr/>
              <a:lstStyle/>
              <a:p>
                <a:r>
                  <a:rPr lang="tr-TR">
                    <a:noFill/>
                  </a:rPr>
                  <a:t> </a:t>
                </a:r>
              </a:p>
            </p:txBody>
          </p:sp>
        </mc:Fallback>
      </mc:AlternateContent>
    </p:spTree>
    <p:extLst>
      <p:ext uri="{BB962C8B-B14F-4D97-AF65-F5344CB8AC3E}">
        <p14:creationId xmlns:p14="http://schemas.microsoft.com/office/powerpoint/2010/main" val="3487264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Hareket Problemleri</a:t>
            </a:r>
          </a:p>
          <a:p>
            <a:r>
              <a:rPr lang="tr-TR" sz="1000" b="1" noProof="1">
                <a:latin typeface="+mj-lt"/>
                <a:cs typeface="Arial" panose="020B0604020202020204" pitchFamily="34" charset="0"/>
              </a:rPr>
              <a:t>Tren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099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Konu Anlatımı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437112" y="55435"/>
            <a:ext cx="2232248" cy="246221"/>
          </a:xfrm>
          <a:prstGeom prst="rect">
            <a:avLst/>
          </a:prstGeom>
          <a:noFill/>
        </p:spPr>
        <p:txBody>
          <a:bodyPr wrap="square" rtlCol="0">
            <a:spAutoFit/>
          </a:bodyPr>
          <a:lstStyle/>
          <a:p>
            <a:pPr algn="r"/>
            <a:r>
              <a:rPr lang="tr-TR" sz="1000" b="1" noProof="1"/>
              <a:t>Hareket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A10988F9-C6CB-4201-BB70-F949F7591248}"/>
                  </a:ext>
                </a:extLst>
              </p:cNvPr>
              <p:cNvSpPr txBox="1"/>
              <p:nvPr/>
            </p:nvSpPr>
            <p:spPr>
              <a:xfrm>
                <a:off x="59017" y="711941"/>
                <a:ext cx="3237679" cy="1938992"/>
              </a:xfrm>
              <a:prstGeom prst="rect">
                <a:avLst/>
              </a:prstGeom>
              <a:noFill/>
            </p:spPr>
            <p:txBody>
              <a:bodyPr wrap="square" rtlCol="0">
                <a:spAutoFit/>
              </a:bodyPr>
              <a:lstStyle/>
              <a:p>
                <a:r>
                  <a:rPr lang="tr-TR" sz="1000" noProof="1">
                    <a:cs typeface="Arial" panose="020B0604020202020204" pitchFamily="34" charset="0"/>
                  </a:rPr>
                  <a:t>Hareket problemlerinde çok iyi bilmemiz gereken bilgi ; hızımız ne kadarsa uygun birimlerde gittiğimiz süreyle çarptığımızda yolu bulmuş oluruz. Yani  </a:t>
                </a:r>
                <a:r>
                  <a:rPr lang="tr-TR" sz="1000" b="1" noProof="1">
                    <a:cs typeface="Arial" panose="020B0604020202020204" pitchFamily="34" charset="0"/>
                  </a:rPr>
                  <a:t>Yol = hız . Zaman</a:t>
                </a:r>
              </a:p>
              <a:p>
                <a:endParaRPr lang="tr-TR" sz="1000" b="1" noProof="1">
                  <a:cs typeface="Arial" panose="020B0604020202020204" pitchFamily="34" charset="0"/>
                </a:endParaRPr>
              </a:p>
              <a:p>
                <a:r>
                  <a:rPr lang="tr-TR" sz="1000" noProof="1">
                    <a:cs typeface="Arial" panose="020B0604020202020204" pitchFamily="34" charset="0"/>
                  </a:rPr>
                  <a:t>Hızın ve yolun birimi de önemli tabi fakat birimler daha çok fizik müfredatına girmektedir. Birim olarak sınav formatına uygun bir soruda ; yolu kilometreyi metreye , hızı da saat dakika veya saniyeye çevirmeniz gerekebilir fakat problemlerde daha çok sınav ayarında sorularda </a:t>
                </a:r>
                <a:br>
                  <a:rPr lang="tr-TR" sz="1000" noProof="1">
                    <a:cs typeface="Arial" panose="020B0604020202020204" pitchFamily="34" charset="0"/>
                  </a:rPr>
                </a:br>
                <a:r>
                  <a:rPr lang="tr-TR" sz="1000" b="1" noProof="1">
                    <a:cs typeface="Arial" panose="020B0604020202020204" pitchFamily="34" charset="0"/>
                  </a:rPr>
                  <a:t>yol = hız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cs typeface="Arial" panose="020B0604020202020204" pitchFamily="34" charset="0"/>
                  </a:rPr>
                  <a:t> zaman </a:t>
                </a:r>
                <a:r>
                  <a:rPr lang="tr-TR" sz="1000" noProof="1">
                    <a:cs typeface="Arial" panose="020B0604020202020204" pitchFamily="34" charset="0"/>
                  </a:rPr>
                  <a:t>denklemini ve karışık ibarelerle ifade edilen soruları matematiksel dile çevirip çözümlemeyi sorgulamaktadır.</a:t>
                </a:r>
              </a:p>
            </p:txBody>
          </p:sp>
        </mc:Choice>
        <mc:Fallback xmlns="">
          <p:sp>
            <p:nvSpPr>
              <p:cNvPr id="57" name="Metin kutusu 56">
                <a:extLst>
                  <a:ext uri="{FF2B5EF4-FFF2-40B4-BE49-F238E27FC236}">
                    <a16:creationId xmlns:a16="http://schemas.microsoft.com/office/drawing/2014/main" id="{A10988F9-C6CB-4201-BB70-F949F7591248}"/>
                  </a:ext>
                </a:extLst>
              </p:cNvPr>
              <p:cNvSpPr txBox="1">
                <a:spLocks noRot="1" noChangeAspect="1" noMove="1" noResize="1" noEditPoints="1" noAdjustHandles="1" noChangeArrowheads="1" noChangeShapeType="1" noTextEdit="1"/>
              </p:cNvSpPr>
              <p:nvPr/>
            </p:nvSpPr>
            <p:spPr>
              <a:xfrm>
                <a:off x="59017" y="711941"/>
                <a:ext cx="3237679" cy="1938992"/>
              </a:xfrm>
              <a:prstGeom prst="rect">
                <a:avLst/>
              </a:prstGeom>
              <a:blipFill>
                <a:blip r:embed="rId7"/>
                <a:stretch>
                  <a:fillRect b="-943"/>
                </a:stretch>
              </a:blipFill>
            </p:spPr>
            <p:txBody>
              <a:bodyPr/>
              <a:lstStyle/>
              <a:p>
                <a:r>
                  <a:rPr lang="tr-TR">
                    <a:noFill/>
                  </a:rPr>
                  <a:t> </a:t>
                </a:r>
              </a:p>
            </p:txBody>
          </p:sp>
        </mc:Fallback>
      </mc:AlternateContent>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52" name="Dikdörtgen 9">
            <a:extLst>
              <a:ext uri="{FF2B5EF4-FFF2-40B4-BE49-F238E27FC236}">
                <a16:creationId xmlns:a16="http://schemas.microsoft.com/office/drawing/2014/main" id="{3FDEAB17-D58D-4FC6-9850-887384AFD5AE}"/>
              </a:ext>
            </a:extLst>
          </p:cNvPr>
          <p:cNvSpPr/>
          <p:nvPr/>
        </p:nvSpPr>
        <p:spPr>
          <a:xfrm>
            <a:off x="117634" y="2592337"/>
            <a:ext cx="3118411" cy="6153470"/>
          </a:xfrm>
          <a:custGeom>
            <a:avLst/>
            <a:gdLst>
              <a:gd name="connsiteX0" fmla="*/ 0 w 2978385"/>
              <a:gd name="connsiteY0" fmla="*/ 0 h 7077712"/>
              <a:gd name="connsiteX1" fmla="*/ 2978385 w 2978385"/>
              <a:gd name="connsiteY1" fmla="*/ 0 h 7077712"/>
              <a:gd name="connsiteX2" fmla="*/ 2978385 w 2978385"/>
              <a:gd name="connsiteY2" fmla="*/ 7077712 h 7077712"/>
              <a:gd name="connsiteX3" fmla="*/ 0 w 2978385"/>
              <a:gd name="connsiteY3" fmla="*/ 7077712 h 7077712"/>
              <a:gd name="connsiteX4" fmla="*/ 0 w 2978385"/>
              <a:gd name="connsiteY4" fmla="*/ 0 h 7077712"/>
              <a:gd name="connsiteX0" fmla="*/ 0 w 2978385"/>
              <a:gd name="connsiteY0" fmla="*/ 0 h 7382512"/>
              <a:gd name="connsiteX1" fmla="*/ 2978385 w 2978385"/>
              <a:gd name="connsiteY1" fmla="*/ 0 h 7382512"/>
              <a:gd name="connsiteX2" fmla="*/ 2978385 w 2978385"/>
              <a:gd name="connsiteY2" fmla="*/ 7077712 h 7382512"/>
              <a:gd name="connsiteX3" fmla="*/ 0 w 2978385"/>
              <a:gd name="connsiteY3" fmla="*/ 7077712 h 7382512"/>
              <a:gd name="connsiteX4" fmla="*/ 0 w 2978385"/>
              <a:gd name="connsiteY4" fmla="*/ 0 h 7382512"/>
              <a:gd name="connsiteX0" fmla="*/ 0 w 2978385"/>
              <a:gd name="connsiteY0" fmla="*/ 0 h 7510541"/>
              <a:gd name="connsiteX1" fmla="*/ 2978385 w 2978385"/>
              <a:gd name="connsiteY1" fmla="*/ 0 h 7510541"/>
              <a:gd name="connsiteX2" fmla="*/ 2978385 w 2978385"/>
              <a:gd name="connsiteY2" fmla="*/ 7077712 h 7510541"/>
              <a:gd name="connsiteX3" fmla="*/ 0 w 2978385"/>
              <a:gd name="connsiteY3" fmla="*/ 7077712 h 7510541"/>
              <a:gd name="connsiteX4" fmla="*/ 0 w 2978385"/>
              <a:gd name="connsiteY4" fmla="*/ 0 h 7510541"/>
              <a:gd name="connsiteX0" fmla="*/ 0 w 2991085"/>
              <a:gd name="connsiteY0" fmla="*/ 0 h 7503317"/>
              <a:gd name="connsiteX1" fmla="*/ 2978385 w 2991085"/>
              <a:gd name="connsiteY1" fmla="*/ 0 h 7503317"/>
              <a:gd name="connsiteX2" fmla="*/ 2991085 w 2991085"/>
              <a:gd name="connsiteY2" fmla="*/ 7065012 h 7503317"/>
              <a:gd name="connsiteX3" fmla="*/ 0 w 2991085"/>
              <a:gd name="connsiteY3" fmla="*/ 7077712 h 7503317"/>
              <a:gd name="connsiteX4" fmla="*/ 0 w 2991085"/>
              <a:gd name="connsiteY4" fmla="*/ 0 h 750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085" h="7503317">
                <a:moveTo>
                  <a:pt x="0" y="0"/>
                </a:moveTo>
                <a:lnTo>
                  <a:pt x="2978385" y="0"/>
                </a:lnTo>
                <a:cubicBezTo>
                  <a:pt x="2982618" y="2355004"/>
                  <a:pt x="2986852" y="4710008"/>
                  <a:pt x="2991085" y="7065012"/>
                </a:cubicBezTo>
                <a:cubicBezTo>
                  <a:pt x="1490290" y="7750812"/>
                  <a:pt x="21245" y="7534912"/>
                  <a:pt x="0" y="7077712"/>
                </a:cubicBezTo>
                <a:lnTo>
                  <a:pt x="0" y="0"/>
                </a:lnTo>
                <a:close/>
              </a:path>
            </a:pathLst>
          </a:cu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60643309-02C4-4495-9BC1-59A8EC1BBA4A}"/>
                  </a:ext>
                </a:extLst>
              </p:cNvPr>
              <p:cNvSpPr txBox="1"/>
              <p:nvPr/>
            </p:nvSpPr>
            <p:spPr>
              <a:xfrm>
                <a:off x="105101" y="2591130"/>
                <a:ext cx="3215380" cy="6247864"/>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cs typeface="Arial" panose="020B0604020202020204" pitchFamily="34" charset="0"/>
                  </a:rPr>
                  <a:t>yol = x          </a:t>
                </a:r>
                <a:br>
                  <a:rPr lang="tr-TR" sz="1000" noProof="1">
                    <a:cs typeface="Arial" panose="020B0604020202020204" pitchFamily="34" charset="0"/>
                  </a:rPr>
                </a:br>
                <a:r>
                  <a:rPr lang="tr-TR" sz="1000" noProof="1">
                    <a:cs typeface="Arial" panose="020B0604020202020204" pitchFamily="34" charset="0"/>
                  </a:rPr>
                  <a:t>zaman = t   </a:t>
                </a:r>
                <a:br>
                  <a:rPr lang="tr-TR" sz="1000" noProof="1">
                    <a:cs typeface="Arial" panose="020B0604020202020204" pitchFamily="34" charset="0"/>
                  </a:rPr>
                </a:br>
                <a:r>
                  <a:rPr lang="tr-TR" sz="1000" noProof="1">
                    <a:cs typeface="Arial" panose="020B0604020202020204" pitchFamily="34" charset="0"/>
                  </a:rPr>
                  <a:t>hız = v    harfleriyle gösterilmektedir.</a:t>
                </a:r>
                <a:br>
                  <a:rPr lang="tr-TR" sz="1000" noProof="1">
                    <a:cs typeface="Arial" panose="020B0604020202020204" pitchFamily="34" charset="0"/>
                  </a:rPr>
                </a:b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x = v</a:t>
                </a:r>
                <a:r>
                  <a:rPr lang="tr-TR" sz="1000" noProof="1">
                    <a:ea typeface="Cambria Math" panose="02040503050406030204" pitchFamily="18" charset="0"/>
                    <a:cs typeface="Arial" panose="020B0604020202020204" pitchFamily="34" charset="0"/>
                  </a:rPr>
                  <a:t> </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 </m:t>
                    </m:r>
                  </m:oMath>
                </a14:m>
                <a:r>
                  <a:rPr lang="tr-TR" sz="1000" noProof="1">
                    <a:cs typeface="Arial" panose="020B0604020202020204" pitchFamily="34" charset="0"/>
                  </a:rPr>
                  <a:t>t   yani yol = hız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zaman formülü bu konunun tek ana formülüdür diyebiliriz. Mantığı ise süratimiz ne kadarsa o kadar süre yol aldığımızda gitmiş olduğumuz yolu buluruz.</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Nehirdeki akıntı veya rüzgarlı durumlarda iki farklı durum vardır.</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 Birinci durum nehir veya rüzgarın bizim lehimize (faydamıza) olduğu durumdur. Bu durumda nehirdeki akıntı yönü veya rüzgarın yönü eğer bizim gittiğimiz yönde ise bizim hızımız ile toplanacaktır çünkü bu etkenler bize destek olmaktadır. </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İkinci durum akıntının veya rüzgarın bizim gittiğimiz ters yönde oluşudur. Bu durumda ise hızlar farkı alınır ve hızı büyük olanın yönünde hareketli ilerler.</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Örneğin : Akıntı hızının saatteki hızı 40 km olan bir nehirde kayığın hızı saatte 90 km dir.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A)  Kayık akıntı yönünde ilerlerse hızı ne olur?</a:t>
                </a:r>
              </a:p>
              <a:p>
                <a:r>
                  <a:rPr lang="tr-TR" sz="1000" noProof="1">
                    <a:cs typeface="Arial" panose="020B0604020202020204" pitchFamily="34" charset="0"/>
                  </a:rPr>
                  <a:t>      B)  Kayık akıntı yönünün tersinde ilerlerse hızı ne olur?</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Akıntı yönünde ilerlerse akıntı da destek olacağı için hızlar toplanır. Yani 90+40 = 130 km/saat hızla gider.</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Akıntı yönün tersinde ilerlerse akıntı kayığı kendi yönüne çekmek isteyecek kayık ise akıntı yönü tersi gitmek isteyecektir. Hızı büyük olanın dediği olur bu bir fizik (vektör) kuralıdır. Kayığın hızı daha büyük olduğu için kayık gitmek istediği yere doğru ilerler fakat hızı 90 olarak ilerleyemez çünkü akıntı tersi gittiğinden akıntı direnmiştir yani hızlar farkı alınır. 90-40 = 50 km/saat hızıyla kayık gideceği rotada ilerleyecektir.</a:t>
                </a:r>
              </a:p>
              <a:p>
                <a:endParaRPr lang="tr-TR" sz="1000" noProof="1">
                  <a:cs typeface="Arial" panose="020B0604020202020204" pitchFamily="34" charset="0"/>
                </a:endParaRPr>
              </a:p>
            </p:txBody>
          </p:sp>
        </mc:Choice>
        <mc:Fallback xmlns="">
          <p:sp>
            <p:nvSpPr>
              <p:cNvPr id="53" name="Metin kutusu 52">
                <a:extLst>
                  <a:ext uri="{FF2B5EF4-FFF2-40B4-BE49-F238E27FC236}">
                    <a16:creationId xmlns:a16="http://schemas.microsoft.com/office/drawing/2014/main" id="{60643309-02C4-4495-9BC1-59A8EC1BBA4A}"/>
                  </a:ext>
                </a:extLst>
              </p:cNvPr>
              <p:cNvSpPr txBox="1">
                <a:spLocks noRot="1" noChangeAspect="1" noMove="1" noResize="1" noEditPoints="1" noAdjustHandles="1" noChangeArrowheads="1" noChangeShapeType="1" noTextEdit="1"/>
              </p:cNvSpPr>
              <p:nvPr/>
            </p:nvSpPr>
            <p:spPr>
              <a:xfrm>
                <a:off x="105101" y="2591130"/>
                <a:ext cx="3215380" cy="6247864"/>
              </a:xfrm>
              <a:prstGeom prst="rect">
                <a:avLst/>
              </a:prstGeom>
              <a:blipFill>
                <a:blip r:embed="rId8"/>
                <a:stretch>
                  <a:fillRect/>
                </a:stretch>
              </a:blipFill>
            </p:spPr>
            <p:txBody>
              <a:bodyPr/>
              <a:lstStyle/>
              <a:p>
                <a:r>
                  <a:rPr lang="tr-TR">
                    <a:noFill/>
                  </a:rPr>
                  <a:t> </a:t>
                </a:r>
              </a:p>
            </p:txBody>
          </p:sp>
        </mc:Fallback>
      </mc:AlternateContent>
      <p:sp>
        <p:nvSpPr>
          <p:cNvPr id="7" name="Dikdörtgen 6">
            <a:extLst>
              <a:ext uri="{FF2B5EF4-FFF2-40B4-BE49-F238E27FC236}">
                <a16:creationId xmlns:a16="http://schemas.microsoft.com/office/drawing/2014/main" id="{13DAE7D2-C2F4-4796-AE10-C165532A51DC}"/>
              </a:ext>
            </a:extLst>
          </p:cNvPr>
          <p:cNvSpPr/>
          <p:nvPr/>
        </p:nvSpPr>
        <p:spPr>
          <a:xfrm>
            <a:off x="3560676" y="428302"/>
            <a:ext cx="3255556" cy="1335360"/>
          </a:xfrm>
          <a:prstGeom prst="rect">
            <a:avLst/>
          </a:prstGeom>
          <a:solidFill>
            <a:schemeClr val="bg1"/>
          </a:solidFill>
          <a:ln w="12700">
            <a:solidFill>
              <a:srgbClr val="32BEA6"/>
            </a:solidFill>
            <a:prstDash val="lg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5BAB84D1-03AE-40F3-8E5F-5C503ABF0BB0}"/>
              </a:ext>
            </a:extLst>
          </p:cNvPr>
          <p:cNvSpPr txBox="1"/>
          <p:nvPr/>
        </p:nvSpPr>
        <p:spPr>
          <a:xfrm>
            <a:off x="3543428" y="413117"/>
            <a:ext cx="3341956" cy="1323439"/>
          </a:xfrm>
          <a:prstGeom prst="rect">
            <a:avLst/>
          </a:prstGeom>
          <a:noFill/>
        </p:spPr>
        <p:txBody>
          <a:bodyPr wrap="square" rtlCol="0">
            <a:spAutoFit/>
          </a:bodyPr>
          <a:lstStyle/>
          <a:p>
            <a:r>
              <a:rPr lang="tr-TR" sz="1000" noProof="1">
                <a:cs typeface="Arial" panose="020B0604020202020204" pitchFamily="34" charset="0"/>
              </a:rPr>
              <a:t>Matematik problemlerinde hız genellikle sabit olarak alınır. Çünkü hızın artması (olumlu ivme), azalması (olumsuz ivme)</a:t>
            </a:r>
          </a:p>
          <a:p>
            <a:r>
              <a:rPr lang="tr-TR" sz="1000" noProof="1">
                <a:cs typeface="Arial" panose="020B0604020202020204" pitchFamily="34" charset="0"/>
              </a:rPr>
              <a:t>olacaktır ve bu durumda fizik müfredatına girecektir.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Matematik problemlerinde hızlar sabit olarak alınır eğer hızın değişeceği durum varsa basit bir ibare ile anlatılır. Örneğin 2 saat sonra hızı 2 katına çıkıp sabit devam etmekte gibi ibarelerle fizikle arasındaki çizgi müfredat olarak korunur.</a:t>
            </a:r>
          </a:p>
        </p:txBody>
      </p:sp>
      <p:sp>
        <p:nvSpPr>
          <p:cNvPr id="65" name="Dikdörtgen 64">
            <a:extLst>
              <a:ext uri="{FF2B5EF4-FFF2-40B4-BE49-F238E27FC236}">
                <a16:creationId xmlns:a16="http://schemas.microsoft.com/office/drawing/2014/main" id="{5BCC38AF-211A-4C75-9BBD-8966C4F4E9D8}"/>
              </a:ext>
            </a:extLst>
          </p:cNvPr>
          <p:cNvSpPr/>
          <p:nvPr/>
        </p:nvSpPr>
        <p:spPr>
          <a:xfrm>
            <a:off x="3568236" y="1860376"/>
            <a:ext cx="3255556" cy="6888088"/>
          </a:xfrm>
          <a:prstGeom prst="rect">
            <a:avLst/>
          </a:prstGeom>
          <a:solidFill>
            <a:schemeClr val="bg1"/>
          </a:solidFill>
          <a:ln w="12700">
            <a:solidFill>
              <a:srgbClr val="32BEA6"/>
            </a:solidFill>
            <a:prstDash val="lg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6" name="Metin kutusu 65">
            <a:extLst>
              <a:ext uri="{FF2B5EF4-FFF2-40B4-BE49-F238E27FC236}">
                <a16:creationId xmlns:a16="http://schemas.microsoft.com/office/drawing/2014/main" id="{096F3028-7BCA-4BB6-9292-2A22C2C5E702}"/>
              </a:ext>
            </a:extLst>
          </p:cNvPr>
          <p:cNvSpPr txBox="1"/>
          <p:nvPr/>
        </p:nvSpPr>
        <p:spPr>
          <a:xfrm>
            <a:off x="3550987" y="1845192"/>
            <a:ext cx="3406401" cy="584775"/>
          </a:xfrm>
          <a:prstGeom prst="rect">
            <a:avLst/>
          </a:prstGeom>
          <a:noFill/>
        </p:spPr>
        <p:txBody>
          <a:bodyPr wrap="square" rtlCol="0">
            <a:spAutoFit/>
          </a:bodyPr>
          <a:lstStyle/>
          <a:p>
            <a:r>
              <a:rPr lang="tr-TR" sz="1200" b="1" noProof="1">
                <a:cs typeface="Arial" panose="020B0604020202020204" pitchFamily="34" charset="0"/>
              </a:rPr>
              <a:t>Karşılaşma</a:t>
            </a:r>
            <a:r>
              <a:rPr lang="tr-TR" sz="1000" b="1" noProof="1">
                <a:cs typeface="Arial" panose="020B0604020202020204" pitchFamily="34" charset="0"/>
              </a:rPr>
              <a:t> : </a:t>
            </a:r>
            <a:r>
              <a:rPr lang="tr-TR" sz="1000" noProof="1">
                <a:cs typeface="Arial" panose="020B0604020202020204" pitchFamily="34" charset="0"/>
              </a:rPr>
              <a:t>Zıt yöne giden yani birbirlerine yaklaşmakta olan iki aracın arasındaki yol farkını kapatmasıyla karşılaşması</a:t>
            </a:r>
          </a:p>
          <a:p>
            <a:r>
              <a:rPr lang="tr-TR" sz="1000" noProof="1">
                <a:cs typeface="Arial" panose="020B0604020202020204" pitchFamily="34" charset="0"/>
              </a:rPr>
              <a:t>durumudur. </a:t>
            </a:r>
          </a:p>
        </p:txBody>
      </p:sp>
      <p:pic>
        <p:nvPicPr>
          <p:cNvPr id="9" name="Grafik 8">
            <a:extLst>
              <a:ext uri="{FF2B5EF4-FFF2-40B4-BE49-F238E27FC236}">
                <a16:creationId xmlns:a16="http://schemas.microsoft.com/office/drawing/2014/main" id="{BF2B8E40-D84E-491A-9EC6-2B7FA287BEBB}"/>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717032" y="2429967"/>
            <a:ext cx="526606" cy="526606"/>
          </a:xfrm>
          <a:prstGeom prst="rect">
            <a:avLst/>
          </a:prstGeom>
        </p:spPr>
      </p:pic>
      <p:pic>
        <p:nvPicPr>
          <p:cNvPr id="21" name="Grafik 20">
            <a:extLst>
              <a:ext uri="{FF2B5EF4-FFF2-40B4-BE49-F238E27FC236}">
                <a16:creationId xmlns:a16="http://schemas.microsoft.com/office/drawing/2014/main" id="{FE3102AB-EF90-44E0-8E2F-28767A76C9EC}"/>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04512" y="2411760"/>
            <a:ext cx="637211" cy="637211"/>
          </a:xfrm>
          <a:prstGeom prst="rect">
            <a:avLst/>
          </a:prstGeom>
        </p:spPr>
      </p:pic>
      <p:sp>
        <p:nvSpPr>
          <p:cNvPr id="24" name="Sağ Ayraç 23">
            <a:extLst>
              <a:ext uri="{FF2B5EF4-FFF2-40B4-BE49-F238E27FC236}">
                <a16:creationId xmlns:a16="http://schemas.microsoft.com/office/drawing/2014/main" id="{741C8C2E-C71E-4E2A-ACB3-F59F8865F8FD}"/>
              </a:ext>
            </a:extLst>
          </p:cNvPr>
          <p:cNvSpPr/>
          <p:nvPr/>
        </p:nvSpPr>
        <p:spPr>
          <a:xfrm rot="5400000">
            <a:off x="4951200" y="2257256"/>
            <a:ext cx="311469" cy="1483662"/>
          </a:xfrm>
          <a:prstGeom prst="rightBrace">
            <a:avLst/>
          </a:prstGeom>
          <a:solidFill>
            <a:schemeClr val="accent2">
              <a:lumMod val="40000"/>
              <a:lumOff val="60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44" name="Metin kutusu 43">
            <a:extLst>
              <a:ext uri="{FF2B5EF4-FFF2-40B4-BE49-F238E27FC236}">
                <a16:creationId xmlns:a16="http://schemas.microsoft.com/office/drawing/2014/main" id="{36C313E9-5793-4F9E-B0B7-77D5770ECC72}"/>
              </a:ext>
            </a:extLst>
          </p:cNvPr>
          <p:cNvSpPr txBox="1"/>
          <p:nvPr/>
        </p:nvSpPr>
        <p:spPr>
          <a:xfrm>
            <a:off x="3530812" y="2833788"/>
            <a:ext cx="891581" cy="246221"/>
          </a:xfrm>
          <a:prstGeom prst="rect">
            <a:avLst/>
          </a:prstGeom>
          <a:noFill/>
        </p:spPr>
        <p:txBody>
          <a:bodyPr wrap="square" rtlCol="0">
            <a:spAutoFit/>
          </a:bodyPr>
          <a:lstStyle/>
          <a:p>
            <a:pPr algn="ctr"/>
            <a:r>
              <a:rPr lang="tr-TR" sz="1000" noProof="1">
                <a:cs typeface="Arial" panose="020B0604020202020204" pitchFamily="34" charset="0"/>
              </a:rPr>
              <a:t>18 km / saat</a:t>
            </a:r>
          </a:p>
        </p:txBody>
      </p:sp>
      <p:sp>
        <p:nvSpPr>
          <p:cNvPr id="45" name="Metin kutusu 44">
            <a:extLst>
              <a:ext uri="{FF2B5EF4-FFF2-40B4-BE49-F238E27FC236}">
                <a16:creationId xmlns:a16="http://schemas.microsoft.com/office/drawing/2014/main" id="{93B06B76-9385-4917-8DD3-58B5F6167C93}"/>
              </a:ext>
            </a:extLst>
          </p:cNvPr>
          <p:cNvSpPr txBox="1"/>
          <p:nvPr/>
        </p:nvSpPr>
        <p:spPr>
          <a:xfrm>
            <a:off x="5886708" y="2825950"/>
            <a:ext cx="891581" cy="246221"/>
          </a:xfrm>
          <a:prstGeom prst="rect">
            <a:avLst/>
          </a:prstGeom>
          <a:noFill/>
        </p:spPr>
        <p:txBody>
          <a:bodyPr wrap="square" rtlCol="0">
            <a:spAutoFit/>
          </a:bodyPr>
          <a:lstStyle/>
          <a:p>
            <a:pPr algn="ctr"/>
            <a:r>
              <a:rPr lang="tr-TR" sz="1000" noProof="1">
                <a:cs typeface="Arial" panose="020B0604020202020204" pitchFamily="34" charset="0"/>
              </a:rPr>
              <a:t>72 km / saat</a:t>
            </a:r>
          </a:p>
        </p:txBody>
      </p:sp>
      <mc:AlternateContent xmlns:mc="http://schemas.openxmlformats.org/markup-compatibility/2006" xmlns:a14="http://schemas.microsoft.com/office/drawing/2010/main">
        <mc:Choice Requires="a14">
          <p:sp>
            <p:nvSpPr>
              <p:cNvPr id="46" name="Metin kutusu 45">
                <a:extLst>
                  <a:ext uri="{FF2B5EF4-FFF2-40B4-BE49-F238E27FC236}">
                    <a16:creationId xmlns:a16="http://schemas.microsoft.com/office/drawing/2014/main" id="{BACF627F-7A0C-4137-A166-E95679C1948E}"/>
                  </a:ext>
                </a:extLst>
              </p:cNvPr>
              <p:cNvSpPr txBox="1"/>
              <p:nvPr/>
            </p:nvSpPr>
            <p:spPr>
              <a:xfrm>
                <a:off x="3520722" y="3056582"/>
                <a:ext cx="3295510" cy="5776966"/>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Karşılaşma durumunun gerçekleşebilmesi için araçların arasındaki mesafenin azalarak yok olması gerekir. Yani A ve B araçları ok yönünde ilerleyerek bu mesafeyi katedeceklerdir.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Örneğin 1 saat geçtiğindeki duruma bakalım. A aracı saatte 18 km, B aracı saatte 72 km gittiği için toplamda 90 km yol gitmişlerdir. Ok yönünde ilerledikleri için bu gittikleri toplam yollar aradaki mesafeyi azaltacaktır.  Toplam mesafe 360 arabalar bir saatte ikisi bu yolu 90 azaltmıştır geriye 270 kalmıştır.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Her saatte aynı durum gerçekleşecek olup her saatte hızlarının toplamı kadar yani 90 kadar yol iki araç arasındaki mesafeden düşecektir. Dolayısıyla şöyle bir yorum yapabilmekteyiz.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985" b="1" noProof="1">
                    <a:cs typeface="Arial" panose="020B0604020202020204" pitchFamily="34" charset="0"/>
                  </a:rPr>
                  <a:t>Karşılaşan araçların arasındaki mesafeyi giderebilmeleri için iki araç aktif olarak yolda gittiği durumda süratler toplamı süre ile çarpılır ve bu aradaki mesafeye eşitlenir. </a:t>
                </a:r>
              </a:p>
              <a:p>
                <a:pPr marL="171450" indent="-171450">
                  <a:buFont typeface="Wingdings" panose="05000000000000000000" pitchFamily="2" charset="2"/>
                  <a:buChar char="q"/>
                </a:pPr>
                <a:endParaRPr lang="tr-TR" sz="985" b="1" noProof="1">
                  <a:cs typeface="Arial" panose="020B0604020202020204" pitchFamily="34" charset="0"/>
                </a:endParaRPr>
              </a:p>
              <a:p>
                <a:r>
                  <a:rPr lang="tr-TR" sz="1000" noProof="1">
                    <a:cs typeface="Arial" panose="020B0604020202020204" pitchFamily="34" charset="0"/>
                  </a:rPr>
                  <a:t>Saatteki süratler toplamı (18+72) = 90 km/saat</a:t>
                </a:r>
              </a:p>
              <a:p>
                <a:r>
                  <a:rPr lang="tr-TR" sz="1000" noProof="1">
                    <a:cs typeface="Arial" panose="020B0604020202020204" pitchFamily="34" charset="0"/>
                  </a:rPr>
                  <a:t>Toplam mesafe 360 km ve iki araç aktiftir. </a:t>
                </a:r>
              </a:p>
              <a:p>
                <a:endParaRPr lang="tr-TR" sz="1000" noProof="1">
                  <a:cs typeface="Arial" panose="020B0604020202020204" pitchFamily="34" charset="0"/>
                </a:endParaRPr>
              </a:p>
              <a:p>
                <a:pPr marL="171450" indent="-171450">
                  <a:buFont typeface="Wingdings" panose="05000000000000000000" pitchFamily="2" charset="2"/>
                  <a:buChar char="q"/>
                </a:pPr>
                <a:endParaRPr lang="tr-TR" sz="1000" noProof="1">
                  <a:cs typeface="Arial" panose="020B0604020202020204" pitchFamily="34" charset="0"/>
                </a:endParaRPr>
              </a:p>
              <a:p>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Toplam süreyi bulmak için yukarıdaki denklemden yararlanalım. Mesafe 360, süratler toplamı 90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      360 = 90 </a:t>
                </a:r>
                <a14:m>
                  <m:oMath xmlns:m="http://schemas.openxmlformats.org/officeDocument/2006/math">
                    <m:r>
                      <a:rPr lang="tr-TR" sz="100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t        t=4 olarak bulunur. 4 saat sonra bu iki araç sürekli ok yönünde ilerlerse karşılaşacaklardır.</a:t>
                </a:r>
              </a:p>
              <a:p>
                <a:pPr marL="171450" indent="-171450">
                  <a:buFont typeface="Wingdings" panose="05000000000000000000" pitchFamily="2" charset="2"/>
                  <a:buChar char="v"/>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Özet : Doğrusal yolda birbirlerine doğru ilerleyen araçlardaki karşılaşma süresini bulmak için süratler toplanır zamanla çarpılır aradaki mesafeye eşitlenir. Dikkat edilmesi gereken husus araçların kesintisiz yolda devam etmesidir, aksi durumlarda inceleme gerekir.</a:t>
                </a:r>
              </a:p>
            </p:txBody>
          </p:sp>
        </mc:Choice>
        <mc:Fallback xmlns="">
          <p:sp>
            <p:nvSpPr>
              <p:cNvPr id="46" name="Metin kutusu 45">
                <a:extLst>
                  <a:ext uri="{FF2B5EF4-FFF2-40B4-BE49-F238E27FC236}">
                    <a16:creationId xmlns:a16="http://schemas.microsoft.com/office/drawing/2014/main" id="{BACF627F-7A0C-4137-A166-E95679C1948E}"/>
                  </a:ext>
                </a:extLst>
              </p:cNvPr>
              <p:cNvSpPr txBox="1">
                <a:spLocks noRot="1" noChangeAspect="1" noMove="1" noResize="1" noEditPoints="1" noAdjustHandles="1" noChangeArrowheads="1" noChangeShapeType="1" noTextEdit="1"/>
              </p:cNvSpPr>
              <p:nvPr/>
            </p:nvSpPr>
            <p:spPr>
              <a:xfrm>
                <a:off x="3520722" y="3056582"/>
                <a:ext cx="3295510" cy="5776966"/>
              </a:xfrm>
              <a:prstGeom prst="rect">
                <a:avLst/>
              </a:prstGeom>
              <a:blipFill>
                <a:blip r:embed="rId13"/>
                <a:stretch>
                  <a:fillRect r="-185"/>
                </a:stretch>
              </a:blipFill>
            </p:spPr>
            <p:txBody>
              <a:bodyPr/>
              <a:lstStyle/>
              <a:p>
                <a:r>
                  <a:rPr lang="tr-TR">
                    <a:noFill/>
                  </a:rPr>
                  <a:t> </a:t>
                </a:r>
              </a:p>
            </p:txBody>
          </p:sp>
        </mc:Fallback>
      </mc:AlternateContent>
      <p:sp>
        <p:nvSpPr>
          <p:cNvPr id="47" name="Metin kutusu 46">
            <a:extLst>
              <a:ext uri="{FF2B5EF4-FFF2-40B4-BE49-F238E27FC236}">
                <a16:creationId xmlns:a16="http://schemas.microsoft.com/office/drawing/2014/main" id="{A6AA36B1-9048-430C-9497-779D612D9325}"/>
              </a:ext>
            </a:extLst>
          </p:cNvPr>
          <p:cNvSpPr txBox="1"/>
          <p:nvPr/>
        </p:nvSpPr>
        <p:spPr>
          <a:xfrm>
            <a:off x="3727801" y="2418461"/>
            <a:ext cx="891581" cy="246221"/>
          </a:xfrm>
          <a:prstGeom prst="rect">
            <a:avLst/>
          </a:prstGeom>
          <a:noFill/>
        </p:spPr>
        <p:txBody>
          <a:bodyPr wrap="square" rtlCol="0">
            <a:spAutoFit/>
          </a:bodyPr>
          <a:lstStyle/>
          <a:p>
            <a:pPr algn="ctr"/>
            <a:r>
              <a:rPr lang="tr-TR" sz="1000" noProof="1">
                <a:cs typeface="Arial" panose="020B0604020202020204" pitchFamily="34" charset="0"/>
              </a:rPr>
              <a:t>A</a:t>
            </a:r>
          </a:p>
        </p:txBody>
      </p:sp>
      <p:sp>
        <p:nvSpPr>
          <p:cNvPr id="48" name="Metin kutusu 47">
            <a:extLst>
              <a:ext uri="{FF2B5EF4-FFF2-40B4-BE49-F238E27FC236}">
                <a16:creationId xmlns:a16="http://schemas.microsoft.com/office/drawing/2014/main" id="{95F526A7-275F-4F52-8F65-A1DFF205AE55}"/>
              </a:ext>
            </a:extLst>
          </p:cNvPr>
          <p:cNvSpPr txBox="1"/>
          <p:nvPr/>
        </p:nvSpPr>
        <p:spPr>
          <a:xfrm>
            <a:off x="5873611" y="2351848"/>
            <a:ext cx="891581" cy="246221"/>
          </a:xfrm>
          <a:prstGeom prst="rect">
            <a:avLst/>
          </a:prstGeom>
          <a:noFill/>
        </p:spPr>
        <p:txBody>
          <a:bodyPr wrap="square" rtlCol="0">
            <a:spAutoFit/>
          </a:bodyPr>
          <a:lstStyle/>
          <a:p>
            <a:pPr algn="ctr"/>
            <a:r>
              <a:rPr lang="tr-TR" sz="1000" noProof="1">
                <a:cs typeface="Arial" panose="020B0604020202020204" pitchFamily="34" charset="0"/>
              </a:rPr>
              <a:t>B</a:t>
            </a:r>
          </a:p>
        </p:txBody>
      </p:sp>
      <p:cxnSp>
        <p:nvCxnSpPr>
          <p:cNvPr id="30" name="Düz Ok Bağlayıcısı 29">
            <a:extLst>
              <a:ext uri="{FF2B5EF4-FFF2-40B4-BE49-F238E27FC236}">
                <a16:creationId xmlns:a16="http://schemas.microsoft.com/office/drawing/2014/main" id="{F2D866F7-1225-420A-822D-69B3733266D6}"/>
              </a:ext>
            </a:extLst>
          </p:cNvPr>
          <p:cNvCxnSpPr/>
          <p:nvPr/>
        </p:nvCxnSpPr>
        <p:spPr>
          <a:xfrm>
            <a:off x="3934579" y="2453696"/>
            <a:ext cx="651670"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2" name="Düz Ok Bağlayıcısı 31">
            <a:extLst>
              <a:ext uri="{FF2B5EF4-FFF2-40B4-BE49-F238E27FC236}">
                <a16:creationId xmlns:a16="http://schemas.microsoft.com/office/drawing/2014/main" id="{3F34E517-2E42-4354-83F6-CEC9868DC094}"/>
              </a:ext>
            </a:extLst>
          </p:cNvPr>
          <p:cNvCxnSpPr/>
          <p:nvPr/>
        </p:nvCxnSpPr>
        <p:spPr>
          <a:xfrm flipH="1">
            <a:off x="6021288" y="2361150"/>
            <a:ext cx="559002"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54" name="Metin kutusu 53">
            <a:extLst>
              <a:ext uri="{FF2B5EF4-FFF2-40B4-BE49-F238E27FC236}">
                <a16:creationId xmlns:a16="http://schemas.microsoft.com/office/drawing/2014/main" id="{4E01E05E-3619-4BDB-864B-0D161F44EAEA}"/>
              </a:ext>
            </a:extLst>
          </p:cNvPr>
          <p:cNvSpPr txBox="1"/>
          <p:nvPr/>
        </p:nvSpPr>
        <p:spPr>
          <a:xfrm>
            <a:off x="4335646" y="2795431"/>
            <a:ext cx="1636489" cy="246221"/>
          </a:xfrm>
          <a:prstGeom prst="rect">
            <a:avLst/>
          </a:prstGeom>
          <a:noFill/>
        </p:spPr>
        <p:txBody>
          <a:bodyPr wrap="square" rtlCol="0">
            <a:spAutoFit/>
          </a:bodyPr>
          <a:lstStyle/>
          <a:p>
            <a:pPr algn="ctr"/>
            <a:r>
              <a:rPr lang="tr-TR" sz="1000" noProof="1">
                <a:cs typeface="Arial" panose="020B0604020202020204" pitchFamily="34" charset="0"/>
              </a:rPr>
              <a:t>Aradaki mesafe : 360 km</a:t>
            </a:r>
          </a:p>
        </p:txBody>
      </p:sp>
      <mc:AlternateContent xmlns:mc="http://schemas.openxmlformats.org/markup-compatibility/2006" xmlns:a14="http://schemas.microsoft.com/office/drawing/2010/main">
        <mc:Choice Requires="a14">
          <p:sp>
            <p:nvSpPr>
              <p:cNvPr id="36" name="Metin kutusu 35">
                <a:extLst>
                  <a:ext uri="{FF2B5EF4-FFF2-40B4-BE49-F238E27FC236}">
                    <a16:creationId xmlns:a16="http://schemas.microsoft.com/office/drawing/2014/main" id="{F3DA79EB-2B40-41A5-B161-FBA5D01360A4}"/>
                  </a:ext>
                </a:extLst>
              </p:cNvPr>
              <p:cNvSpPr txBox="1"/>
              <p:nvPr/>
            </p:nvSpPr>
            <p:spPr>
              <a:xfrm>
                <a:off x="3652944" y="6744515"/>
                <a:ext cx="3115472" cy="276999"/>
              </a:xfrm>
              <a:prstGeom prst="rect">
                <a:avLst/>
              </a:prstGeom>
              <a:noFill/>
              <a:ln w="9525"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r>
                  <a:rPr lang="tr-TR" sz="1200" dirty="0">
                    <a:solidFill>
                      <a:schemeClr val="tx1"/>
                    </a:solidFill>
                  </a:rPr>
                  <a:t>Aradaki Mesafe = (Süratler toplamı) </a:t>
                </a:r>
                <a14:m>
                  <m:oMath xmlns:m="http://schemas.openxmlformats.org/officeDocument/2006/math">
                    <m:r>
                      <a:rPr lang="tr-TR" sz="120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200" dirty="0">
                    <a:solidFill>
                      <a:schemeClr val="tx1"/>
                    </a:solidFill>
                  </a:rPr>
                  <a:t> Zaman </a:t>
                </a:r>
              </a:p>
            </p:txBody>
          </p:sp>
        </mc:Choice>
        <mc:Fallback xmlns="">
          <p:sp>
            <p:nvSpPr>
              <p:cNvPr id="36" name="Metin kutusu 35">
                <a:extLst>
                  <a:ext uri="{FF2B5EF4-FFF2-40B4-BE49-F238E27FC236}">
                    <a16:creationId xmlns:a16="http://schemas.microsoft.com/office/drawing/2014/main" id="{F3DA79EB-2B40-41A5-B161-FBA5D01360A4}"/>
                  </a:ext>
                </a:extLst>
              </p:cNvPr>
              <p:cNvSpPr txBox="1">
                <a:spLocks noRot="1" noChangeAspect="1" noMove="1" noResize="1" noEditPoints="1" noAdjustHandles="1" noChangeArrowheads="1" noChangeShapeType="1" noTextEdit="1"/>
              </p:cNvSpPr>
              <p:nvPr/>
            </p:nvSpPr>
            <p:spPr>
              <a:xfrm>
                <a:off x="3652944" y="6744515"/>
                <a:ext cx="3115472" cy="276999"/>
              </a:xfrm>
              <a:prstGeom prst="rect">
                <a:avLst/>
              </a:prstGeom>
              <a:blipFill>
                <a:blip r:embed="rId14"/>
                <a:stretch>
                  <a:fillRect b="-12500"/>
                </a:stretch>
              </a:blipFill>
              <a:ln w="9525" cap="flat" cmpd="sng" algn="ctr">
                <a:solidFill>
                  <a:schemeClr val="accent2"/>
                </a:solidFill>
                <a:prstDash val="sysDot"/>
                <a:round/>
                <a:headEnd type="none" w="med" len="med"/>
                <a:tailEnd type="none" w="med" len="med"/>
              </a:ln>
            </p:spPr>
            <p:txBody>
              <a:bodyPr/>
              <a:lstStyle/>
              <a:p>
                <a:r>
                  <a:rPr lang="tr-TR">
                    <a:noFill/>
                  </a:rPr>
                  <a:t> </a:t>
                </a:r>
              </a:p>
            </p:txBody>
          </p:sp>
        </mc:Fallback>
      </mc:AlternateContent>
    </p:spTree>
    <p:extLst>
      <p:ext uri="{BB962C8B-B14F-4D97-AF65-F5344CB8AC3E}">
        <p14:creationId xmlns:p14="http://schemas.microsoft.com/office/powerpoint/2010/main" val="1358562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Konu Anlatımı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57413" y="3971223"/>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437112" y="55435"/>
            <a:ext cx="2232248" cy="246221"/>
          </a:xfrm>
          <a:prstGeom prst="rect">
            <a:avLst/>
          </a:prstGeom>
          <a:noFill/>
        </p:spPr>
        <p:txBody>
          <a:bodyPr wrap="square" rtlCol="0">
            <a:spAutoFit/>
          </a:bodyPr>
          <a:lstStyle/>
          <a:p>
            <a:pPr algn="r"/>
            <a:r>
              <a:rPr lang="tr-TR" sz="1000" b="1" noProof="1"/>
              <a:t>Hareket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110" name="Dikdörtgen: Köşeleri Yuvarlatılmış 109">
            <a:extLst>
              <a:ext uri="{FF2B5EF4-FFF2-40B4-BE49-F238E27FC236}">
                <a16:creationId xmlns:a16="http://schemas.microsoft.com/office/drawing/2014/main" id="{77F96295-04B2-4B4C-B0A5-7FE7AF19C0BF}"/>
              </a:ext>
            </a:extLst>
          </p:cNvPr>
          <p:cNvSpPr/>
          <p:nvPr/>
        </p:nvSpPr>
        <p:spPr>
          <a:xfrm>
            <a:off x="3624100" y="5053359"/>
            <a:ext cx="3133488" cy="3641808"/>
          </a:xfrm>
          <a:prstGeom prst="roundRect">
            <a:avLst>
              <a:gd name="adj" fmla="val 3885"/>
            </a:avLst>
          </a:prstGeom>
          <a:solidFill>
            <a:srgbClr val="CCCCFF"/>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tr-TR" dirty="0"/>
          </a:p>
        </p:txBody>
      </p:sp>
      <p:sp>
        <p:nvSpPr>
          <p:cNvPr id="56" name="Metin kutusu 55">
            <a:extLst>
              <a:ext uri="{FF2B5EF4-FFF2-40B4-BE49-F238E27FC236}">
                <a16:creationId xmlns:a16="http://schemas.microsoft.com/office/drawing/2014/main" id="{098F0AB4-5381-49EE-8ABE-E271DA8A99DC}"/>
              </a:ext>
            </a:extLst>
          </p:cNvPr>
          <p:cNvSpPr txBox="1"/>
          <p:nvPr/>
        </p:nvSpPr>
        <p:spPr>
          <a:xfrm>
            <a:off x="3641702" y="5080466"/>
            <a:ext cx="3098283" cy="3631763"/>
          </a:xfrm>
          <a:prstGeom prst="rect">
            <a:avLst/>
          </a:prstGeom>
          <a:noFill/>
        </p:spPr>
        <p:txBody>
          <a:bodyPr wrap="square">
            <a:spAutoFit/>
          </a:bodyPr>
          <a:lstStyle/>
          <a:p>
            <a:r>
              <a:rPr lang="tr-TR" sz="1600" b="1" i="1" noProof="1">
                <a:cs typeface="Arial" panose="020B0604020202020204" pitchFamily="34" charset="0"/>
              </a:rPr>
              <a:t>Sürat ve hız arasındaki fark nedir?</a:t>
            </a:r>
          </a:p>
          <a:p>
            <a:endParaRPr lang="tr-TR" sz="1500" noProof="1">
              <a:cs typeface="Arial" panose="020B0604020202020204" pitchFamily="34" charset="0"/>
            </a:endParaRPr>
          </a:p>
          <a:p>
            <a:pPr marL="171450" indent="-171450">
              <a:buFontTx/>
              <a:buChar char="-"/>
            </a:pPr>
            <a:r>
              <a:rPr lang="tr-TR" sz="1000" noProof="1">
                <a:cs typeface="Arial" panose="020B0604020202020204" pitchFamily="34" charset="0"/>
              </a:rPr>
              <a:t>Süratte yön belirtilmez fakat hızda belirtilmesi gerekir. Örneğin </a:t>
            </a:r>
            <a:r>
              <a:rPr lang="tr-TR" sz="1000" b="1" noProof="1">
                <a:cs typeface="Arial" panose="020B0604020202020204" pitchFamily="34" charset="0"/>
              </a:rPr>
              <a:t>hızı</a:t>
            </a:r>
            <a:r>
              <a:rPr lang="tr-TR" sz="1000" noProof="1">
                <a:cs typeface="Arial" panose="020B0604020202020204" pitchFamily="34" charset="0"/>
              </a:rPr>
              <a:t> kuzey </a:t>
            </a:r>
            <a:r>
              <a:rPr lang="tr-TR" sz="1000" b="1" noProof="1">
                <a:cs typeface="Arial" panose="020B0604020202020204" pitchFamily="34" charset="0"/>
              </a:rPr>
              <a:t>yönünde</a:t>
            </a:r>
            <a:r>
              <a:rPr lang="tr-TR" sz="1000" noProof="1">
                <a:cs typeface="Arial" panose="020B0604020202020204" pitchFamily="34" charset="0"/>
              </a:rPr>
              <a:t> 50 km/saat</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Matematik sorularında genelde hız diye ifade edilir fakat bir nevi yanlışlık vardır aslında çünkü hız ifade edildiğinde bir yön belirtir fakat matematikte hata önemsenmeyecek duruma gelmiştir. Bu durum tıpkı arabaların sürat göstergelerine hız göstergesi dediğimiz gibidir halbuki doğrusu sürat göstergesidir çünkü arabanızla yol ve şehir mimari yapısı gereği sadece bir yönde gitme olanağınız yoktur. Kitabımızda bu duruma dikkat etmeyi deneyeceğiz fakat dikkat ettiğimizde soruları fizik sorusu sanıyor öğrenciler. </a:t>
            </a:r>
            <a:r>
              <a:rPr lang="tr-TR" sz="1000" noProof="1">
                <a:cs typeface="Arial" panose="020B0604020202020204" pitchFamily="34" charset="0"/>
                <a:sym typeface="Wingdings" panose="05000000000000000000" pitchFamily="2" charset="2"/>
              </a:rPr>
              <a:t> Dilimize kolay geldiğinden ötürü hız diyoruz fakat </a:t>
            </a:r>
            <a:r>
              <a:rPr lang="tr-TR" sz="1000" u="sng" noProof="1">
                <a:cs typeface="Arial" panose="020B0604020202020204" pitchFamily="34" charset="0"/>
                <a:sym typeface="Wingdings" panose="05000000000000000000" pitchFamily="2" charset="2"/>
              </a:rPr>
              <a:t>sadece bir yönde gitmeyen</a:t>
            </a:r>
            <a:r>
              <a:rPr lang="tr-TR" sz="1000" noProof="1">
                <a:cs typeface="Arial" panose="020B0604020202020204" pitchFamily="34" charset="0"/>
                <a:sym typeface="Wingdings" panose="05000000000000000000" pitchFamily="2" charset="2"/>
              </a:rPr>
              <a:t> hareketliler içeren problemler için doğru ibare aslında sürattir fakat matematik sorularında hız gördüğünüzde de siz soruyu çözmeye odaklanın doğrusunu bilmeniz yeterlidir sevgili arkadaşlar bu yanlışı açıklamak ve netleştirmek istedim. </a:t>
            </a:r>
            <a:r>
              <a:rPr lang="tr-TR" sz="1000" noProof="1">
                <a:cs typeface="Arial" panose="020B0604020202020204" pitchFamily="34" charset="0"/>
              </a:rPr>
              <a:t> </a:t>
            </a:r>
          </a:p>
        </p:txBody>
      </p:sp>
      <p:sp>
        <p:nvSpPr>
          <p:cNvPr id="34" name="Dikdörtgen 33">
            <a:extLst>
              <a:ext uri="{FF2B5EF4-FFF2-40B4-BE49-F238E27FC236}">
                <a16:creationId xmlns:a16="http://schemas.microsoft.com/office/drawing/2014/main" id="{F73F49E2-1B2E-4D58-B778-02D2D09BED80}"/>
              </a:ext>
            </a:extLst>
          </p:cNvPr>
          <p:cNvSpPr/>
          <p:nvPr/>
        </p:nvSpPr>
        <p:spPr>
          <a:xfrm>
            <a:off x="72873" y="422595"/>
            <a:ext cx="3255556" cy="8382866"/>
          </a:xfrm>
          <a:prstGeom prst="rect">
            <a:avLst/>
          </a:prstGeom>
          <a:solidFill>
            <a:schemeClr val="bg1"/>
          </a:solidFill>
          <a:ln w="12700">
            <a:solidFill>
              <a:srgbClr val="32BEA6"/>
            </a:solidFill>
            <a:prstDash val="lg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pic>
        <p:nvPicPr>
          <p:cNvPr id="6" name="Grafik 5">
            <a:extLst>
              <a:ext uri="{FF2B5EF4-FFF2-40B4-BE49-F238E27FC236}">
                <a16:creationId xmlns:a16="http://schemas.microsoft.com/office/drawing/2014/main" id="{B03376B9-3615-41E0-ACAF-672D5319A3C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539968" y="1152194"/>
            <a:ext cx="670299" cy="659125"/>
          </a:xfrm>
          <a:prstGeom prst="rect">
            <a:avLst/>
          </a:prstGeom>
        </p:spPr>
      </p:pic>
      <p:pic>
        <p:nvPicPr>
          <p:cNvPr id="9" name="Grafik 8">
            <a:extLst>
              <a:ext uri="{FF2B5EF4-FFF2-40B4-BE49-F238E27FC236}">
                <a16:creationId xmlns:a16="http://schemas.microsoft.com/office/drawing/2014/main" id="{304CFC40-7126-4415-A389-7E640AEC4067}"/>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45976" y="1154117"/>
            <a:ext cx="660880" cy="660880"/>
          </a:xfrm>
          <a:prstGeom prst="rect">
            <a:avLst/>
          </a:prstGeom>
        </p:spPr>
      </p:pic>
      <p:sp>
        <p:nvSpPr>
          <p:cNvPr id="39" name="Metin kutusu 38">
            <a:extLst>
              <a:ext uri="{FF2B5EF4-FFF2-40B4-BE49-F238E27FC236}">
                <a16:creationId xmlns:a16="http://schemas.microsoft.com/office/drawing/2014/main" id="{3E5A350D-6088-42AE-BBCE-4357B552000D}"/>
              </a:ext>
            </a:extLst>
          </p:cNvPr>
          <p:cNvSpPr txBox="1"/>
          <p:nvPr/>
        </p:nvSpPr>
        <p:spPr>
          <a:xfrm>
            <a:off x="20142" y="1628228"/>
            <a:ext cx="891581" cy="246221"/>
          </a:xfrm>
          <a:prstGeom prst="rect">
            <a:avLst/>
          </a:prstGeom>
          <a:noFill/>
        </p:spPr>
        <p:txBody>
          <a:bodyPr wrap="square" rtlCol="0">
            <a:spAutoFit/>
          </a:bodyPr>
          <a:lstStyle/>
          <a:p>
            <a:pPr algn="ctr"/>
            <a:r>
              <a:rPr lang="tr-TR" sz="1000" noProof="1">
                <a:cs typeface="Arial" panose="020B0604020202020204" pitchFamily="34" charset="0"/>
              </a:rPr>
              <a:t>60 km / saat</a:t>
            </a:r>
          </a:p>
        </p:txBody>
      </p:sp>
      <p:sp>
        <p:nvSpPr>
          <p:cNvPr id="40" name="Metin kutusu 39">
            <a:extLst>
              <a:ext uri="{FF2B5EF4-FFF2-40B4-BE49-F238E27FC236}">
                <a16:creationId xmlns:a16="http://schemas.microsoft.com/office/drawing/2014/main" id="{74AAEF59-6CBC-4ECB-B95C-EAC3AB827B65}"/>
              </a:ext>
            </a:extLst>
          </p:cNvPr>
          <p:cNvSpPr txBox="1"/>
          <p:nvPr/>
        </p:nvSpPr>
        <p:spPr>
          <a:xfrm>
            <a:off x="2432680" y="1568776"/>
            <a:ext cx="891581" cy="246221"/>
          </a:xfrm>
          <a:prstGeom prst="rect">
            <a:avLst/>
          </a:prstGeom>
          <a:noFill/>
        </p:spPr>
        <p:txBody>
          <a:bodyPr wrap="square" rtlCol="0">
            <a:spAutoFit/>
          </a:bodyPr>
          <a:lstStyle/>
          <a:p>
            <a:pPr algn="ctr"/>
            <a:r>
              <a:rPr lang="tr-TR" sz="1000" noProof="1">
                <a:cs typeface="Arial" panose="020B0604020202020204" pitchFamily="34" charset="0"/>
              </a:rPr>
              <a:t>90 km / saat</a:t>
            </a:r>
          </a:p>
        </p:txBody>
      </p:sp>
      <p:sp>
        <p:nvSpPr>
          <p:cNvPr id="41" name="Metin kutusu 40">
            <a:extLst>
              <a:ext uri="{FF2B5EF4-FFF2-40B4-BE49-F238E27FC236}">
                <a16:creationId xmlns:a16="http://schemas.microsoft.com/office/drawing/2014/main" id="{3E35EF73-E8F9-4B9D-8C26-EE2291102884}"/>
              </a:ext>
            </a:extLst>
          </p:cNvPr>
          <p:cNvSpPr txBox="1"/>
          <p:nvPr/>
        </p:nvSpPr>
        <p:spPr>
          <a:xfrm>
            <a:off x="-184326" y="1154117"/>
            <a:ext cx="891581" cy="246221"/>
          </a:xfrm>
          <a:prstGeom prst="rect">
            <a:avLst/>
          </a:prstGeom>
          <a:noFill/>
        </p:spPr>
        <p:txBody>
          <a:bodyPr wrap="square" rtlCol="0">
            <a:spAutoFit/>
          </a:bodyPr>
          <a:lstStyle/>
          <a:p>
            <a:pPr algn="ctr"/>
            <a:r>
              <a:rPr lang="tr-TR" sz="1000" noProof="1">
                <a:cs typeface="Arial" panose="020B0604020202020204" pitchFamily="34" charset="0"/>
              </a:rPr>
              <a:t>A</a:t>
            </a:r>
          </a:p>
        </p:txBody>
      </p:sp>
      <p:sp>
        <p:nvSpPr>
          <p:cNvPr id="42" name="Metin kutusu 41">
            <a:extLst>
              <a:ext uri="{FF2B5EF4-FFF2-40B4-BE49-F238E27FC236}">
                <a16:creationId xmlns:a16="http://schemas.microsoft.com/office/drawing/2014/main" id="{563DED1A-05FF-40DB-9F06-F7F22E63F6D2}"/>
              </a:ext>
            </a:extLst>
          </p:cNvPr>
          <p:cNvSpPr txBox="1"/>
          <p:nvPr/>
        </p:nvSpPr>
        <p:spPr>
          <a:xfrm>
            <a:off x="2439079" y="1122329"/>
            <a:ext cx="891581" cy="246221"/>
          </a:xfrm>
          <a:prstGeom prst="rect">
            <a:avLst/>
          </a:prstGeom>
          <a:noFill/>
        </p:spPr>
        <p:txBody>
          <a:bodyPr wrap="square" rtlCol="0">
            <a:spAutoFit/>
          </a:bodyPr>
          <a:lstStyle/>
          <a:p>
            <a:pPr algn="ctr"/>
            <a:r>
              <a:rPr lang="tr-TR" sz="1000" noProof="1">
                <a:cs typeface="Arial" panose="020B0604020202020204" pitchFamily="34" charset="0"/>
              </a:rPr>
              <a:t>B</a:t>
            </a:r>
          </a:p>
        </p:txBody>
      </p:sp>
      <p:sp>
        <p:nvSpPr>
          <p:cNvPr id="10" name="Sağ Ayraç 9">
            <a:extLst>
              <a:ext uri="{FF2B5EF4-FFF2-40B4-BE49-F238E27FC236}">
                <a16:creationId xmlns:a16="http://schemas.microsoft.com/office/drawing/2014/main" id="{87F8C3D7-871A-4128-BB2A-3229120209FA}"/>
              </a:ext>
            </a:extLst>
          </p:cNvPr>
          <p:cNvSpPr/>
          <p:nvPr/>
        </p:nvSpPr>
        <p:spPr>
          <a:xfrm rot="5400000">
            <a:off x="1525325" y="931545"/>
            <a:ext cx="305745" cy="1689046"/>
          </a:xfrm>
          <a:prstGeom prst="rightBrace">
            <a:avLst/>
          </a:prstGeom>
          <a:solidFill>
            <a:schemeClr val="accent4">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44" name="Metin kutusu 43">
            <a:extLst>
              <a:ext uri="{FF2B5EF4-FFF2-40B4-BE49-F238E27FC236}">
                <a16:creationId xmlns:a16="http://schemas.microsoft.com/office/drawing/2014/main" id="{CDAFF470-2A8F-4269-B285-BF5AEA838631}"/>
              </a:ext>
            </a:extLst>
          </p:cNvPr>
          <p:cNvSpPr txBox="1"/>
          <p:nvPr/>
        </p:nvSpPr>
        <p:spPr>
          <a:xfrm>
            <a:off x="730988" y="1573809"/>
            <a:ext cx="1791733" cy="246221"/>
          </a:xfrm>
          <a:prstGeom prst="rect">
            <a:avLst/>
          </a:prstGeom>
          <a:noFill/>
        </p:spPr>
        <p:txBody>
          <a:bodyPr wrap="square" rtlCol="0">
            <a:spAutoFit/>
          </a:bodyPr>
          <a:lstStyle/>
          <a:p>
            <a:pPr algn="ctr"/>
            <a:r>
              <a:rPr lang="tr-TR" sz="1000" noProof="1">
                <a:cs typeface="Arial" panose="020B0604020202020204" pitchFamily="34" charset="0"/>
              </a:rPr>
              <a:t>Aradaki mesafe 1080 km</a:t>
            </a:r>
          </a:p>
        </p:txBody>
      </p:sp>
      <p:sp>
        <p:nvSpPr>
          <p:cNvPr id="45" name="Metin kutusu 44">
            <a:extLst>
              <a:ext uri="{FF2B5EF4-FFF2-40B4-BE49-F238E27FC236}">
                <a16:creationId xmlns:a16="http://schemas.microsoft.com/office/drawing/2014/main" id="{52343ACD-3348-4A84-ADA4-A3E6725CB423}"/>
              </a:ext>
            </a:extLst>
          </p:cNvPr>
          <p:cNvSpPr txBox="1"/>
          <p:nvPr/>
        </p:nvSpPr>
        <p:spPr>
          <a:xfrm>
            <a:off x="82370" y="1920396"/>
            <a:ext cx="3248289" cy="1046440"/>
          </a:xfrm>
          <a:prstGeom prst="rect">
            <a:avLst/>
          </a:prstGeom>
          <a:noFill/>
        </p:spPr>
        <p:txBody>
          <a:bodyPr wrap="square" rtlCol="0">
            <a:spAutoFit/>
          </a:bodyPr>
          <a:lstStyle/>
          <a:p>
            <a:r>
              <a:rPr lang="tr-TR" sz="1200" b="1" noProof="1">
                <a:cs typeface="Arial" panose="020B0604020202020204" pitchFamily="34" charset="0"/>
              </a:rPr>
              <a:t>1 Saat sonra ki durum : </a:t>
            </a:r>
            <a:r>
              <a:rPr lang="tr-TR" sz="1000" noProof="1">
                <a:cs typeface="Arial" panose="020B0604020202020204" pitchFamily="34" charset="0"/>
              </a:rPr>
              <a:t>Ezbere yönelmeyelim mantığını oturtmaya çalışalım hiç unutmayalım. 1 saat sonra A aracı 60 km giderken, B aracı ise 90 km gitmiştir. Yani nihai olarak aradaki mesafe bu sefer </a:t>
            </a:r>
            <a:br>
              <a:rPr lang="tr-TR" sz="1000" noProof="1">
                <a:cs typeface="Arial" panose="020B0604020202020204" pitchFamily="34" charset="0"/>
              </a:rPr>
            </a:br>
            <a:r>
              <a:rPr lang="tr-TR" sz="1000" noProof="1">
                <a:cs typeface="Arial" panose="020B0604020202020204" pitchFamily="34" charset="0"/>
              </a:rPr>
              <a:t>1080-(90-60) = 1050 km olmuştur. Hızı yüksek olan araç her saat hızlar farkı kadar km yol farkını indirgeyecektir. </a:t>
            </a:r>
          </a:p>
        </p:txBody>
      </p:sp>
      <p:pic>
        <p:nvPicPr>
          <p:cNvPr id="46" name="Grafik 45">
            <a:extLst>
              <a:ext uri="{FF2B5EF4-FFF2-40B4-BE49-F238E27FC236}">
                <a16:creationId xmlns:a16="http://schemas.microsoft.com/office/drawing/2014/main" id="{0F5B554F-4747-4AA1-8B7D-DC9EAC16A92D}"/>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548830" y="2934312"/>
            <a:ext cx="670299" cy="659125"/>
          </a:xfrm>
          <a:prstGeom prst="rect">
            <a:avLst/>
          </a:prstGeom>
        </p:spPr>
      </p:pic>
      <p:pic>
        <p:nvPicPr>
          <p:cNvPr id="47" name="Grafik 46">
            <a:extLst>
              <a:ext uri="{FF2B5EF4-FFF2-40B4-BE49-F238E27FC236}">
                <a16:creationId xmlns:a16="http://schemas.microsoft.com/office/drawing/2014/main" id="{9356E218-4ED2-48B3-BDB2-F863C7DBDD8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4838" y="2936235"/>
            <a:ext cx="660880" cy="660880"/>
          </a:xfrm>
          <a:prstGeom prst="rect">
            <a:avLst/>
          </a:prstGeom>
        </p:spPr>
      </p:pic>
      <p:sp>
        <p:nvSpPr>
          <p:cNvPr id="48" name="Metin kutusu 47">
            <a:extLst>
              <a:ext uri="{FF2B5EF4-FFF2-40B4-BE49-F238E27FC236}">
                <a16:creationId xmlns:a16="http://schemas.microsoft.com/office/drawing/2014/main" id="{243ABE8D-03C5-4226-8663-C0BB93F97BE8}"/>
              </a:ext>
            </a:extLst>
          </p:cNvPr>
          <p:cNvSpPr txBox="1"/>
          <p:nvPr/>
        </p:nvSpPr>
        <p:spPr>
          <a:xfrm>
            <a:off x="29004" y="3410346"/>
            <a:ext cx="891581" cy="246221"/>
          </a:xfrm>
          <a:prstGeom prst="rect">
            <a:avLst/>
          </a:prstGeom>
          <a:noFill/>
        </p:spPr>
        <p:txBody>
          <a:bodyPr wrap="square" rtlCol="0">
            <a:spAutoFit/>
          </a:bodyPr>
          <a:lstStyle/>
          <a:p>
            <a:pPr algn="ctr"/>
            <a:r>
              <a:rPr lang="tr-TR" sz="1000" noProof="1">
                <a:cs typeface="Arial" panose="020B0604020202020204" pitchFamily="34" charset="0"/>
              </a:rPr>
              <a:t>60 km / saat</a:t>
            </a:r>
          </a:p>
        </p:txBody>
      </p:sp>
      <p:sp>
        <p:nvSpPr>
          <p:cNvPr id="49" name="Metin kutusu 48">
            <a:extLst>
              <a:ext uri="{FF2B5EF4-FFF2-40B4-BE49-F238E27FC236}">
                <a16:creationId xmlns:a16="http://schemas.microsoft.com/office/drawing/2014/main" id="{A0033F09-609E-42D7-91E7-F8B2B503DDEB}"/>
              </a:ext>
            </a:extLst>
          </p:cNvPr>
          <p:cNvSpPr txBox="1"/>
          <p:nvPr/>
        </p:nvSpPr>
        <p:spPr>
          <a:xfrm>
            <a:off x="2441542" y="3350894"/>
            <a:ext cx="891581" cy="246221"/>
          </a:xfrm>
          <a:prstGeom prst="rect">
            <a:avLst/>
          </a:prstGeom>
          <a:noFill/>
        </p:spPr>
        <p:txBody>
          <a:bodyPr wrap="square" rtlCol="0">
            <a:spAutoFit/>
          </a:bodyPr>
          <a:lstStyle/>
          <a:p>
            <a:pPr algn="ctr"/>
            <a:r>
              <a:rPr lang="tr-TR" sz="1000" noProof="1">
                <a:cs typeface="Arial" panose="020B0604020202020204" pitchFamily="34" charset="0"/>
              </a:rPr>
              <a:t>90 km / saat</a:t>
            </a:r>
          </a:p>
        </p:txBody>
      </p:sp>
      <p:sp>
        <p:nvSpPr>
          <p:cNvPr id="54" name="Metin kutusu 53">
            <a:extLst>
              <a:ext uri="{FF2B5EF4-FFF2-40B4-BE49-F238E27FC236}">
                <a16:creationId xmlns:a16="http://schemas.microsoft.com/office/drawing/2014/main" id="{AC680AA4-875B-49E8-A98B-58A7A9AF040B}"/>
              </a:ext>
            </a:extLst>
          </p:cNvPr>
          <p:cNvSpPr txBox="1"/>
          <p:nvPr/>
        </p:nvSpPr>
        <p:spPr>
          <a:xfrm>
            <a:off x="-175464" y="2936235"/>
            <a:ext cx="891581" cy="246221"/>
          </a:xfrm>
          <a:prstGeom prst="rect">
            <a:avLst/>
          </a:prstGeom>
          <a:noFill/>
        </p:spPr>
        <p:txBody>
          <a:bodyPr wrap="square" rtlCol="0">
            <a:spAutoFit/>
          </a:bodyPr>
          <a:lstStyle/>
          <a:p>
            <a:pPr algn="ctr"/>
            <a:r>
              <a:rPr lang="tr-TR" sz="1000" noProof="1">
                <a:cs typeface="Arial" panose="020B0604020202020204" pitchFamily="34" charset="0"/>
              </a:rPr>
              <a:t>A</a:t>
            </a:r>
          </a:p>
        </p:txBody>
      </p:sp>
      <p:sp>
        <p:nvSpPr>
          <p:cNvPr id="55" name="Metin kutusu 54">
            <a:extLst>
              <a:ext uri="{FF2B5EF4-FFF2-40B4-BE49-F238E27FC236}">
                <a16:creationId xmlns:a16="http://schemas.microsoft.com/office/drawing/2014/main" id="{A57458B7-29A0-4D7B-961D-D58A07473B3E}"/>
              </a:ext>
            </a:extLst>
          </p:cNvPr>
          <p:cNvSpPr txBox="1"/>
          <p:nvPr/>
        </p:nvSpPr>
        <p:spPr>
          <a:xfrm>
            <a:off x="2447941" y="2904447"/>
            <a:ext cx="891581" cy="246221"/>
          </a:xfrm>
          <a:prstGeom prst="rect">
            <a:avLst/>
          </a:prstGeom>
          <a:noFill/>
        </p:spPr>
        <p:txBody>
          <a:bodyPr wrap="square" rtlCol="0">
            <a:spAutoFit/>
          </a:bodyPr>
          <a:lstStyle/>
          <a:p>
            <a:pPr algn="ctr"/>
            <a:r>
              <a:rPr lang="tr-TR" sz="1000" noProof="1">
                <a:cs typeface="Arial" panose="020B0604020202020204" pitchFamily="34" charset="0"/>
              </a:rPr>
              <a:t>B</a:t>
            </a:r>
          </a:p>
        </p:txBody>
      </p:sp>
      <p:sp>
        <p:nvSpPr>
          <p:cNvPr id="59" name="Sağ Ayraç 58">
            <a:extLst>
              <a:ext uri="{FF2B5EF4-FFF2-40B4-BE49-F238E27FC236}">
                <a16:creationId xmlns:a16="http://schemas.microsoft.com/office/drawing/2014/main" id="{D1F7621D-2756-483C-ABBF-2A349658E267}"/>
              </a:ext>
            </a:extLst>
          </p:cNvPr>
          <p:cNvSpPr/>
          <p:nvPr/>
        </p:nvSpPr>
        <p:spPr>
          <a:xfrm rot="5400000">
            <a:off x="1534187" y="2713663"/>
            <a:ext cx="305745" cy="1689046"/>
          </a:xfrm>
          <a:prstGeom prst="rightBrace">
            <a:avLst/>
          </a:prstGeom>
          <a:solidFill>
            <a:schemeClr val="accent4">
              <a:lumMod val="40000"/>
              <a:lumOff val="6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60" name="Metin kutusu 59">
            <a:extLst>
              <a:ext uri="{FF2B5EF4-FFF2-40B4-BE49-F238E27FC236}">
                <a16:creationId xmlns:a16="http://schemas.microsoft.com/office/drawing/2014/main" id="{03077FF9-9FE2-46AA-B7A4-C6087F3A5E3B}"/>
              </a:ext>
            </a:extLst>
          </p:cNvPr>
          <p:cNvSpPr txBox="1"/>
          <p:nvPr/>
        </p:nvSpPr>
        <p:spPr>
          <a:xfrm>
            <a:off x="739850" y="3355927"/>
            <a:ext cx="1791733" cy="246221"/>
          </a:xfrm>
          <a:prstGeom prst="rect">
            <a:avLst/>
          </a:prstGeom>
          <a:noFill/>
        </p:spPr>
        <p:txBody>
          <a:bodyPr wrap="square" rtlCol="0">
            <a:spAutoFit/>
          </a:bodyPr>
          <a:lstStyle/>
          <a:p>
            <a:pPr algn="ctr"/>
            <a:r>
              <a:rPr lang="tr-TR" sz="1000" noProof="1">
                <a:cs typeface="Arial" panose="020B0604020202020204" pitchFamily="34" charset="0"/>
              </a:rPr>
              <a:t>Aradaki mesafe 1050 km</a:t>
            </a:r>
          </a:p>
        </p:txBody>
      </p:sp>
      <p:sp>
        <p:nvSpPr>
          <p:cNvPr id="61" name="Metin kutusu 60">
            <a:extLst>
              <a:ext uri="{FF2B5EF4-FFF2-40B4-BE49-F238E27FC236}">
                <a16:creationId xmlns:a16="http://schemas.microsoft.com/office/drawing/2014/main" id="{634F558C-A6DC-48F8-9E21-C01D8B622542}"/>
              </a:ext>
            </a:extLst>
          </p:cNvPr>
          <p:cNvSpPr txBox="1"/>
          <p:nvPr/>
        </p:nvSpPr>
        <p:spPr>
          <a:xfrm>
            <a:off x="56848" y="3621959"/>
            <a:ext cx="3267413" cy="1508105"/>
          </a:xfrm>
          <a:prstGeom prst="rect">
            <a:avLst/>
          </a:prstGeom>
          <a:noFill/>
        </p:spPr>
        <p:txBody>
          <a:bodyPr wrap="square" rtlCol="0">
            <a:spAutoFit/>
          </a:bodyPr>
          <a:lstStyle/>
          <a:p>
            <a:r>
              <a:rPr lang="tr-TR" sz="1200" b="1" noProof="1">
                <a:cs typeface="Arial" panose="020B0604020202020204" pitchFamily="34" charset="0"/>
              </a:rPr>
              <a:t>Sonuç: </a:t>
            </a:r>
            <a:r>
              <a:rPr lang="tr-TR" sz="1000" noProof="1">
                <a:cs typeface="Arial" panose="020B0604020202020204" pitchFamily="34" charset="0"/>
              </a:rPr>
              <a:t>Hızı düşük olan A arabasının saatte 60 km gidebildiği hızı yüksek olan B arabasının saatte 90 km gittiğini görmüş olduk. Yani B arabası 90 km giderken A arabası 60 km gidiyor. Tabi hızlarında sabit olduğunu unutmayalım ki hatalı olmasın.</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1 saatte araçların gittikleri yol farkı kadar yani 90-60 = 30 km kadar azalmaktadır. Yol da tabi ki hıza bağlıdır hız ne kadar fazlaysa ilgili süre zarfında daha fazla yol alırız.</a:t>
            </a:r>
          </a:p>
        </p:txBody>
      </p:sp>
      <mc:AlternateContent xmlns:mc="http://schemas.openxmlformats.org/markup-compatibility/2006" xmlns:a14="http://schemas.microsoft.com/office/drawing/2010/main">
        <mc:Choice Requires="a14">
          <p:sp>
            <p:nvSpPr>
              <p:cNvPr id="62" name="Metin kutusu 61">
                <a:extLst>
                  <a:ext uri="{FF2B5EF4-FFF2-40B4-BE49-F238E27FC236}">
                    <a16:creationId xmlns:a16="http://schemas.microsoft.com/office/drawing/2014/main" id="{56CC9AEC-7DCD-455A-B4DF-6732B01523D9}"/>
                  </a:ext>
                </a:extLst>
              </p:cNvPr>
              <p:cNvSpPr txBox="1"/>
              <p:nvPr/>
            </p:nvSpPr>
            <p:spPr>
              <a:xfrm>
                <a:off x="120461" y="5110525"/>
                <a:ext cx="3153527" cy="3600986"/>
              </a:xfrm>
              <a:prstGeom prst="rect">
                <a:avLst/>
              </a:prstGeom>
              <a:noFill/>
              <a:ln w="9525"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pPr marL="171450" indent="-171450">
                  <a:buFont typeface="Wingdings" panose="05000000000000000000" pitchFamily="2" charset="2"/>
                  <a:buChar char="Ø"/>
                </a:pPr>
                <a:r>
                  <a:rPr lang="tr-TR" sz="1200" dirty="0">
                    <a:solidFill>
                      <a:schemeClr val="tx1"/>
                    </a:solidFill>
                  </a:rPr>
                  <a:t>Birbirlerini yakalayıp fark atmaları için hızı yüksek olandan küçük olan çıkarılır ve süreyle çarpılır. Elde edilen sonuç aradaki mesafeye eşitlenir. </a:t>
                </a:r>
              </a:p>
              <a:p>
                <a:pPr marL="171450" indent="-171450">
                  <a:buFont typeface="Wingdings" panose="05000000000000000000" pitchFamily="2" charset="2"/>
                  <a:buChar char="Ø"/>
                </a:pPr>
                <a:endParaRPr lang="tr-TR" sz="1200" dirty="0">
                  <a:solidFill>
                    <a:schemeClr val="tx1"/>
                  </a:solidFill>
                </a:endParaRPr>
              </a:p>
              <a:p>
                <a:pPr marL="171450" indent="-171450">
                  <a:buFont typeface="Wingdings" panose="05000000000000000000" pitchFamily="2" charset="2"/>
                  <a:buChar char="Ø"/>
                </a:pPr>
                <a:r>
                  <a:rPr lang="tr-TR" sz="1200" b="1" dirty="0">
                    <a:solidFill>
                      <a:schemeClr val="tx1"/>
                    </a:solidFill>
                  </a:rPr>
                  <a:t> </a:t>
                </a:r>
                <a:r>
                  <a:rPr lang="tr-TR" sz="1200" b="1" dirty="0">
                    <a:solidFill>
                      <a:srgbClr val="7030A0"/>
                    </a:solidFill>
                  </a:rPr>
                  <a:t>Aradaki Mesafe = | Hızlar farkı | </a:t>
                </a:r>
                <a14:m>
                  <m:oMath xmlns:m="http://schemas.openxmlformats.org/officeDocument/2006/math">
                    <m:r>
                      <a:rPr lang="tr-TR" sz="1200" b="1" i="1" noProof="1" smtClean="0">
                        <a:solidFill>
                          <a:srgbClr val="7030A0"/>
                        </a:solidFill>
                        <a:latin typeface="Cambria Math" panose="02040503050406030204" pitchFamily="18" charset="0"/>
                        <a:ea typeface="Cambria Math" panose="02040503050406030204" pitchFamily="18" charset="0"/>
                        <a:cs typeface="Arial" panose="020B0604020202020204" pitchFamily="34" charset="0"/>
                      </a:rPr>
                      <m:t>∙</m:t>
                    </m:r>
                  </m:oMath>
                </a14:m>
                <a:r>
                  <a:rPr lang="tr-TR" sz="1200" b="1" dirty="0">
                    <a:solidFill>
                      <a:srgbClr val="7030A0"/>
                    </a:solidFill>
                  </a:rPr>
                  <a:t> Zaman </a:t>
                </a:r>
                <a:br>
                  <a:rPr lang="tr-TR" sz="1200" b="1" dirty="0">
                    <a:solidFill>
                      <a:srgbClr val="7030A0"/>
                    </a:solidFill>
                  </a:rPr>
                </a:br>
                <a:endParaRPr lang="tr-TR" sz="1200" b="1" dirty="0">
                  <a:solidFill>
                    <a:srgbClr val="7030A0"/>
                  </a:solidFill>
                </a:endParaRPr>
              </a:p>
              <a:p>
                <a:r>
                  <a:rPr lang="tr-TR" sz="1200" dirty="0">
                    <a:solidFill>
                      <a:schemeClr val="tx1"/>
                    </a:solidFill>
                  </a:rPr>
                  <a:t>Yukarıdaki örneğe uyarlayalım :</a:t>
                </a:r>
              </a:p>
              <a:p>
                <a:r>
                  <a:rPr lang="tr-TR" sz="1200" dirty="0">
                    <a:solidFill>
                      <a:schemeClr val="tx1"/>
                    </a:solidFill>
                  </a:rPr>
                  <a:t>1080 km = | 90 – 60 | </a:t>
                </a:r>
                <a14:m>
                  <m:oMath xmlns:m="http://schemas.openxmlformats.org/officeDocument/2006/math">
                    <m:r>
                      <a:rPr lang="tr-TR" sz="120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200" dirty="0">
                    <a:solidFill>
                      <a:schemeClr val="tx1"/>
                    </a:solidFill>
                  </a:rPr>
                  <a:t> Zaman </a:t>
                </a:r>
              </a:p>
              <a:p>
                <a:r>
                  <a:rPr lang="tr-TR" sz="1200" dirty="0">
                    <a:solidFill>
                      <a:schemeClr val="tx1"/>
                    </a:solidFill>
                  </a:rPr>
                  <a:t>1080 km = 30 </a:t>
                </a:r>
                <a14:m>
                  <m:oMath xmlns:m="http://schemas.openxmlformats.org/officeDocument/2006/math">
                    <m:r>
                      <a:rPr lang="tr-TR" sz="120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200" dirty="0">
                    <a:solidFill>
                      <a:schemeClr val="tx1"/>
                    </a:solidFill>
                  </a:rPr>
                  <a:t> Zaman      </a:t>
                </a:r>
              </a:p>
              <a:p>
                <a:r>
                  <a:rPr lang="tr-TR" sz="1200" dirty="0">
                    <a:solidFill>
                      <a:schemeClr val="tx1"/>
                    </a:solidFill>
                  </a:rPr>
                  <a:t>Zaman = 36 saat olarak bulunur. (birimi saatti)</a:t>
                </a:r>
              </a:p>
              <a:p>
                <a:endParaRPr lang="tr-TR" sz="1200" dirty="0">
                  <a:solidFill>
                    <a:schemeClr val="tx1"/>
                  </a:solidFill>
                </a:endParaRPr>
              </a:p>
              <a:p>
                <a:pPr marL="171450" indent="-171450">
                  <a:buFont typeface="Wingdings" panose="05000000000000000000" pitchFamily="2" charset="2"/>
                  <a:buChar char="ü"/>
                </a:pPr>
                <a:r>
                  <a:rPr lang="tr-TR" sz="1200" dirty="0">
                    <a:solidFill>
                      <a:schemeClr val="tx1"/>
                    </a:solidFill>
                  </a:rPr>
                  <a:t> 36 saat sonra aradaki fark tamamen kapanır. 36 saatten sonra hızı yüksek olan araç hız farkı kadar yol farkı atacaktır. Fark kapandıktan sonra B aracı 90 km gider, A aracı 60 km gider ve B aracı A aracından bu bağlamda 30 km önde olur ve her saat 30 km katlanarak aradaki fark açılacaktır.</a:t>
                </a:r>
              </a:p>
            </p:txBody>
          </p:sp>
        </mc:Choice>
        <mc:Fallback xmlns="">
          <p:sp>
            <p:nvSpPr>
              <p:cNvPr id="62" name="Metin kutusu 61">
                <a:extLst>
                  <a:ext uri="{FF2B5EF4-FFF2-40B4-BE49-F238E27FC236}">
                    <a16:creationId xmlns:a16="http://schemas.microsoft.com/office/drawing/2014/main" id="{56CC9AEC-7DCD-455A-B4DF-6732B01523D9}"/>
                  </a:ext>
                </a:extLst>
              </p:cNvPr>
              <p:cNvSpPr txBox="1">
                <a:spLocks noRot="1" noChangeAspect="1" noMove="1" noResize="1" noEditPoints="1" noAdjustHandles="1" noChangeArrowheads="1" noChangeShapeType="1" noTextEdit="1"/>
              </p:cNvSpPr>
              <p:nvPr/>
            </p:nvSpPr>
            <p:spPr>
              <a:xfrm>
                <a:off x="120461" y="5110525"/>
                <a:ext cx="3153527" cy="3600986"/>
              </a:xfrm>
              <a:prstGeom prst="rect">
                <a:avLst/>
              </a:prstGeom>
              <a:blipFill>
                <a:blip r:embed="rId11"/>
                <a:stretch>
                  <a:fillRect r="-578" b="-169"/>
                </a:stretch>
              </a:blipFill>
              <a:ln w="9525" cap="flat" cmpd="sng" algn="ctr">
                <a:solidFill>
                  <a:schemeClr val="accent2"/>
                </a:solidFill>
                <a:prstDash val="sysDot"/>
                <a:round/>
                <a:headEnd type="none" w="med" len="med"/>
                <a:tailEnd type="none" w="med" len="med"/>
              </a:ln>
            </p:spPr>
            <p:txBody>
              <a:bodyPr/>
              <a:lstStyle/>
              <a:p>
                <a:r>
                  <a:rPr lang="tr-TR">
                    <a:noFill/>
                  </a:rPr>
                  <a:t> </a:t>
                </a:r>
              </a:p>
            </p:txBody>
          </p:sp>
        </mc:Fallback>
      </mc:AlternateContent>
      <p:sp>
        <p:nvSpPr>
          <p:cNvPr id="13" name="Oval 12">
            <a:extLst>
              <a:ext uri="{FF2B5EF4-FFF2-40B4-BE49-F238E27FC236}">
                <a16:creationId xmlns:a16="http://schemas.microsoft.com/office/drawing/2014/main" id="{36A69A0F-B3B5-4D0B-A87D-7FA3313B16F7}"/>
              </a:ext>
            </a:extLst>
          </p:cNvPr>
          <p:cNvSpPr/>
          <p:nvPr/>
        </p:nvSpPr>
        <p:spPr>
          <a:xfrm>
            <a:off x="3623277" y="1432744"/>
            <a:ext cx="946214" cy="928537"/>
          </a:xfrm>
          <a:prstGeom prst="ellipse">
            <a:avLst/>
          </a:prstGeom>
          <a:noFill/>
          <a:ln w="1270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3" name="Metin kutusu 62">
            <a:extLst>
              <a:ext uri="{FF2B5EF4-FFF2-40B4-BE49-F238E27FC236}">
                <a16:creationId xmlns:a16="http://schemas.microsoft.com/office/drawing/2014/main" id="{B30D5867-347F-43E8-A60C-1DA53DF72504}"/>
              </a:ext>
            </a:extLst>
          </p:cNvPr>
          <p:cNvSpPr txBox="1"/>
          <p:nvPr/>
        </p:nvSpPr>
        <p:spPr>
          <a:xfrm>
            <a:off x="38152" y="422594"/>
            <a:ext cx="3305186" cy="738664"/>
          </a:xfrm>
          <a:prstGeom prst="rect">
            <a:avLst/>
          </a:prstGeom>
          <a:noFill/>
        </p:spPr>
        <p:txBody>
          <a:bodyPr wrap="square" rtlCol="0">
            <a:spAutoFit/>
          </a:bodyPr>
          <a:lstStyle/>
          <a:p>
            <a:r>
              <a:rPr lang="tr-TR" sz="1200" b="1" noProof="1">
                <a:cs typeface="Arial" panose="020B0604020202020204" pitchFamily="34" charset="0"/>
              </a:rPr>
              <a:t>Birbirlerini yakalayıp fark atma </a:t>
            </a:r>
            <a:r>
              <a:rPr lang="tr-TR" sz="1000" b="1" noProof="1">
                <a:cs typeface="Arial" panose="020B0604020202020204" pitchFamily="34" charset="0"/>
              </a:rPr>
              <a:t> : </a:t>
            </a:r>
            <a:r>
              <a:rPr lang="tr-TR" sz="1000" noProof="1">
                <a:cs typeface="Arial" panose="020B0604020202020204" pitchFamily="34" charset="0"/>
              </a:rPr>
              <a:t>Hızı fazla olan araç ile hızı düşük olan araç doğrusal bir yolda ilerlediğini varsayalım. Hızı küçük olan (A) daha ileride olmuş olsun hızı yüksek olan (B) ise daha arkadan ilerlemiş olsun. Hızlar sabit. </a:t>
            </a:r>
          </a:p>
        </p:txBody>
      </p:sp>
      <mc:AlternateContent xmlns:mc="http://schemas.openxmlformats.org/markup-compatibility/2006" xmlns:a14="http://schemas.microsoft.com/office/drawing/2010/main">
        <mc:Choice Requires="a14">
          <p:sp>
            <p:nvSpPr>
              <p:cNvPr id="64" name="Metin kutusu 63">
                <a:extLst>
                  <a:ext uri="{FF2B5EF4-FFF2-40B4-BE49-F238E27FC236}">
                    <a16:creationId xmlns:a16="http://schemas.microsoft.com/office/drawing/2014/main" id="{45E7A305-10C9-46E0-A3C1-4E9F54FC29D8}"/>
                  </a:ext>
                </a:extLst>
              </p:cNvPr>
              <p:cNvSpPr txBox="1"/>
              <p:nvPr/>
            </p:nvSpPr>
            <p:spPr>
              <a:xfrm>
                <a:off x="3511046" y="407691"/>
                <a:ext cx="3305186" cy="1046440"/>
              </a:xfrm>
              <a:prstGeom prst="rect">
                <a:avLst/>
              </a:prstGeom>
              <a:noFill/>
            </p:spPr>
            <p:txBody>
              <a:bodyPr wrap="square" rtlCol="0">
                <a:spAutoFit/>
              </a:bodyPr>
              <a:lstStyle/>
              <a:p>
                <a:r>
                  <a:rPr lang="tr-TR" sz="1200" b="1" noProof="1">
                    <a:cs typeface="Arial" panose="020B0604020202020204" pitchFamily="34" charset="0"/>
                  </a:rPr>
                  <a:t>Daire Pistler </a:t>
                </a:r>
                <a:r>
                  <a:rPr lang="tr-TR" sz="1000" b="1" noProof="1">
                    <a:cs typeface="Arial" panose="020B0604020202020204" pitchFamily="34" charset="0"/>
                  </a:rPr>
                  <a:t>: </a:t>
                </a:r>
                <a:r>
                  <a:rPr lang="tr-TR" sz="1000" noProof="1">
                    <a:cs typeface="Arial" panose="020B0604020202020204" pitchFamily="34" charset="0"/>
                  </a:rPr>
                  <a:t>Araçların hareket ettiği pist dairesel olabilir. Pistin yarıçapı r birim olmarka üzere ; çevresi 2</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r>
                      <m:rPr>
                        <m:sty m:val="p"/>
                      </m:rPr>
                      <a:rPr lang="tr-TR" sz="1000" b="0" i="0" noProof="1" smtClean="0">
                        <a:latin typeface="Cambria Math" panose="02040503050406030204" pitchFamily="18" charset="0"/>
                        <a:ea typeface="Cambria Math" panose="02040503050406030204" pitchFamily="18" charset="0"/>
                        <a:cs typeface="Arial" panose="020B0604020202020204" pitchFamily="34" charset="0"/>
                      </a:rPr>
                      <m:t>π</m:t>
                    </m:r>
                  </m:oMath>
                </a14:m>
                <a:r>
                  <a:rPr lang="tr-TR" sz="1000" noProof="1">
                    <a:ea typeface="Cambria Math" panose="02040503050406030204" pitchFamily="18" charset="0"/>
                    <a:cs typeface="Arial" panose="020B0604020202020204" pitchFamily="34" charset="0"/>
                  </a:rPr>
                  <a:t> </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r  formülü ile hesaplanır. </a:t>
                </a:r>
                <a14:m>
                  <m:oMath xmlns:m="http://schemas.openxmlformats.org/officeDocument/2006/math">
                    <m:r>
                      <m:rPr>
                        <m:sty m:val="p"/>
                      </m:rPr>
                      <a:rPr lang="tr-TR" sz="1000" noProof="1" smtClean="0">
                        <a:latin typeface="Cambria Math" panose="02040503050406030204" pitchFamily="18" charset="0"/>
                        <a:ea typeface="Cambria Math" panose="02040503050406030204" pitchFamily="18" charset="0"/>
                        <a:cs typeface="Arial" panose="020B0604020202020204" pitchFamily="34" charset="0"/>
                      </a:rPr>
                      <m:t>π</m:t>
                    </m:r>
                  </m:oMath>
                </a14:m>
                <a:r>
                  <a:rPr lang="tr-TR" sz="1000" noProof="1">
                    <a:cs typeface="Arial" panose="020B0604020202020204" pitchFamily="34" charset="0"/>
                  </a:rPr>
                  <a:t> sayısı irrasyonel bir sayıdır yani 3,14…. şeklinde noktalı kısımlar sürekli sonsuza kadar devam eder dolayısıyla hareket problemlerinde </a:t>
                </a:r>
                <a14:m>
                  <m:oMath xmlns:m="http://schemas.openxmlformats.org/officeDocument/2006/math">
                    <m:r>
                      <m:rPr>
                        <m:sty m:val="p"/>
                      </m:rPr>
                      <a:rPr lang="tr-TR" sz="1000" noProof="1">
                        <a:latin typeface="Cambria Math" panose="02040503050406030204" pitchFamily="18" charset="0"/>
                        <a:ea typeface="Cambria Math" panose="02040503050406030204" pitchFamily="18" charset="0"/>
                        <a:cs typeface="Arial" panose="020B0604020202020204" pitchFamily="34" charset="0"/>
                      </a:rPr>
                      <m:t>π</m:t>
                    </m:r>
                  </m:oMath>
                </a14:m>
                <a:r>
                  <a:rPr lang="tr-TR" sz="1000" noProof="1">
                    <a:cs typeface="Arial" panose="020B0604020202020204" pitchFamily="34" charset="0"/>
                  </a:rPr>
                  <a:t> sayısı 3 olarak kabul edilir genellikle soruda bunun notu verilir. </a:t>
                </a:r>
              </a:p>
            </p:txBody>
          </p:sp>
        </mc:Choice>
        <mc:Fallback xmlns="">
          <p:sp>
            <p:nvSpPr>
              <p:cNvPr id="64" name="Metin kutusu 63">
                <a:extLst>
                  <a:ext uri="{FF2B5EF4-FFF2-40B4-BE49-F238E27FC236}">
                    <a16:creationId xmlns:a16="http://schemas.microsoft.com/office/drawing/2014/main" id="{45E7A305-10C9-46E0-A3C1-4E9F54FC29D8}"/>
                  </a:ext>
                </a:extLst>
              </p:cNvPr>
              <p:cNvSpPr txBox="1">
                <a:spLocks noRot="1" noChangeAspect="1" noMove="1" noResize="1" noEditPoints="1" noAdjustHandles="1" noChangeArrowheads="1" noChangeShapeType="1" noTextEdit="1"/>
              </p:cNvSpPr>
              <p:nvPr/>
            </p:nvSpPr>
            <p:spPr>
              <a:xfrm>
                <a:off x="3511046" y="407691"/>
                <a:ext cx="3305186" cy="1046440"/>
              </a:xfrm>
              <a:prstGeom prst="rect">
                <a:avLst/>
              </a:prstGeom>
              <a:blipFill>
                <a:blip r:embed="rId12"/>
                <a:stretch>
                  <a:fillRect l="-185" t="-581" r="-369" b="-2326"/>
                </a:stretch>
              </a:blipFill>
            </p:spPr>
            <p:txBody>
              <a:bodyPr/>
              <a:lstStyle/>
              <a:p>
                <a:r>
                  <a:rPr lang="tr-TR">
                    <a:noFill/>
                  </a:rPr>
                  <a:t> </a:t>
                </a:r>
              </a:p>
            </p:txBody>
          </p:sp>
        </mc:Fallback>
      </mc:AlternateContent>
      <p:cxnSp>
        <p:nvCxnSpPr>
          <p:cNvPr id="21" name="Düz Bağlayıcı 20">
            <a:extLst>
              <a:ext uri="{FF2B5EF4-FFF2-40B4-BE49-F238E27FC236}">
                <a16:creationId xmlns:a16="http://schemas.microsoft.com/office/drawing/2014/main" id="{E3366785-1359-4C1A-A208-72584D63040D}"/>
              </a:ext>
            </a:extLst>
          </p:cNvPr>
          <p:cNvCxnSpPr>
            <a:endCxn id="13" idx="6"/>
          </p:cNvCxnSpPr>
          <p:nvPr/>
        </p:nvCxnSpPr>
        <p:spPr>
          <a:xfrm>
            <a:off x="4089161" y="1897013"/>
            <a:ext cx="480330" cy="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67" name="Metin kutusu 66">
            <a:extLst>
              <a:ext uri="{FF2B5EF4-FFF2-40B4-BE49-F238E27FC236}">
                <a16:creationId xmlns:a16="http://schemas.microsoft.com/office/drawing/2014/main" id="{AABA0223-6C37-42D7-8D6C-B0D3E97C733E}"/>
              </a:ext>
            </a:extLst>
          </p:cNvPr>
          <p:cNvSpPr txBox="1"/>
          <p:nvPr/>
        </p:nvSpPr>
        <p:spPr>
          <a:xfrm>
            <a:off x="4174721" y="1703434"/>
            <a:ext cx="309210" cy="246221"/>
          </a:xfrm>
          <a:prstGeom prst="rect">
            <a:avLst/>
          </a:prstGeom>
          <a:noFill/>
        </p:spPr>
        <p:txBody>
          <a:bodyPr wrap="square" rtlCol="0">
            <a:spAutoFit/>
          </a:bodyPr>
          <a:lstStyle/>
          <a:p>
            <a:pPr algn="ctr"/>
            <a:r>
              <a:rPr lang="tr-TR" sz="1000" noProof="1">
                <a:cs typeface="Arial" panose="020B0604020202020204" pitchFamily="34" charset="0"/>
              </a:rPr>
              <a:t>r</a:t>
            </a:r>
          </a:p>
        </p:txBody>
      </p:sp>
      <mc:AlternateContent xmlns:mc="http://schemas.openxmlformats.org/markup-compatibility/2006" xmlns:a14="http://schemas.microsoft.com/office/drawing/2010/main">
        <mc:Choice Requires="a14">
          <p:sp>
            <p:nvSpPr>
              <p:cNvPr id="68" name="Metin kutusu 67">
                <a:extLst>
                  <a:ext uri="{FF2B5EF4-FFF2-40B4-BE49-F238E27FC236}">
                    <a16:creationId xmlns:a16="http://schemas.microsoft.com/office/drawing/2014/main" id="{9D824ED8-781B-4AEF-BB38-4E9734034DBB}"/>
                  </a:ext>
                </a:extLst>
              </p:cNvPr>
              <p:cNvSpPr txBox="1"/>
              <p:nvPr/>
            </p:nvSpPr>
            <p:spPr>
              <a:xfrm>
                <a:off x="4723375" y="1496410"/>
                <a:ext cx="2034213" cy="55399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ctr"/>
                <a:r>
                  <a:rPr lang="tr-TR" sz="1500" noProof="1">
                    <a:cs typeface="Arial" panose="020B0604020202020204" pitchFamily="34" charset="0"/>
                  </a:rPr>
                  <a:t>Tam Pistin </a:t>
                </a:r>
              </a:p>
              <a:p>
                <a:pPr algn="ctr"/>
                <a:r>
                  <a:rPr lang="tr-TR" sz="1500" noProof="1">
                    <a:cs typeface="Arial" panose="020B0604020202020204" pitchFamily="34" charset="0"/>
                  </a:rPr>
                  <a:t>Çevresi = 2</a:t>
                </a:r>
                <a14:m>
                  <m:oMath xmlns:m="http://schemas.openxmlformats.org/officeDocument/2006/math">
                    <m:r>
                      <a:rPr lang="tr-TR" sz="1500" i="1" noProof="1" smtClean="0">
                        <a:latin typeface="Cambria Math" panose="02040503050406030204" pitchFamily="18" charset="0"/>
                        <a:ea typeface="Cambria Math" panose="02040503050406030204" pitchFamily="18" charset="0"/>
                        <a:cs typeface="Arial" panose="020B0604020202020204" pitchFamily="34" charset="0"/>
                      </a:rPr>
                      <m:t>∙</m:t>
                    </m:r>
                    <m:r>
                      <m:rPr>
                        <m:sty m:val="p"/>
                      </m:rPr>
                      <a:rPr lang="tr-TR" sz="1500" b="0" i="0" noProof="1" smtClean="0">
                        <a:latin typeface="Cambria Math" panose="02040503050406030204" pitchFamily="18" charset="0"/>
                        <a:ea typeface="Cambria Math" panose="02040503050406030204" pitchFamily="18" charset="0"/>
                        <a:cs typeface="Arial" panose="020B0604020202020204" pitchFamily="34" charset="0"/>
                      </a:rPr>
                      <m:t>π</m:t>
                    </m:r>
                  </m:oMath>
                </a14:m>
                <a:r>
                  <a:rPr lang="tr-TR" sz="1500" noProof="1">
                    <a:ea typeface="Cambria Math" panose="02040503050406030204" pitchFamily="18" charset="0"/>
                    <a:cs typeface="Arial" panose="020B0604020202020204" pitchFamily="34" charset="0"/>
                  </a:rPr>
                  <a:t> </a:t>
                </a:r>
                <a14:m>
                  <m:oMath xmlns:m="http://schemas.openxmlformats.org/officeDocument/2006/math">
                    <m:r>
                      <a:rPr lang="tr-TR" sz="15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500" noProof="1">
                    <a:cs typeface="Arial" panose="020B0604020202020204" pitchFamily="34" charset="0"/>
                  </a:rPr>
                  <a:t>r </a:t>
                </a:r>
                <a:endParaRPr lang="tr-TR" sz="1500" dirty="0"/>
              </a:p>
            </p:txBody>
          </p:sp>
        </mc:Choice>
        <mc:Fallback xmlns="">
          <p:sp>
            <p:nvSpPr>
              <p:cNvPr id="68" name="Metin kutusu 67">
                <a:extLst>
                  <a:ext uri="{FF2B5EF4-FFF2-40B4-BE49-F238E27FC236}">
                    <a16:creationId xmlns:a16="http://schemas.microsoft.com/office/drawing/2014/main" id="{9D824ED8-781B-4AEF-BB38-4E9734034DBB}"/>
                  </a:ext>
                </a:extLst>
              </p:cNvPr>
              <p:cNvSpPr txBox="1">
                <a:spLocks noRot="1" noChangeAspect="1" noMove="1" noResize="1" noEditPoints="1" noAdjustHandles="1" noChangeArrowheads="1" noChangeShapeType="1" noTextEdit="1"/>
              </p:cNvSpPr>
              <p:nvPr/>
            </p:nvSpPr>
            <p:spPr>
              <a:xfrm>
                <a:off x="4723375" y="1496410"/>
                <a:ext cx="2034213" cy="553998"/>
              </a:xfrm>
              <a:prstGeom prst="rect">
                <a:avLst/>
              </a:prstGeom>
              <a:blipFill>
                <a:blip r:embed="rId13"/>
                <a:stretch>
                  <a:fillRect t="-1075" b="-10753"/>
                </a:stretch>
              </a:blipFill>
              <a:ln w="9525" cap="flat" cmpd="sng" algn="ctr">
                <a:solidFill>
                  <a:schemeClr val="dk1"/>
                </a:solidFill>
                <a:prstDash val="solid"/>
                <a:round/>
                <a:headEnd type="none" w="med" len="med"/>
                <a:tailEnd type="none" w="med" len="med"/>
              </a:ln>
            </p:spPr>
            <p:txBody>
              <a:bodyPr/>
              <a:lstStyle/>
              <a:p>
                <a:r>
                  <a:rPr lang="tr-TR">
                    <a:noFill/>
                  </a:rPr>
                  <a:t> </a:t>
                </a:r>
              </a:p>
            </p:txBody>
          </p:sp>
        </mc:Fallback>
      </mc:AlternateContent>
      <p:sp>
        <p:nvSpPr>
          <p:cNvPr id="69" name="Oval 68">
            <a:extLst>
              <a:ext uri="{FF2B5EF4-FFF2-40B4-BE49-F238E27FC236}">
                <a16:creationId xmlns:a16="http://schemas.microsoft.com/office/drawing/2014/main" id="{5615EFFD-3613-420D-BF36-A3F7E81940C4}"/>
              </a:ext>
            </a:extLst>
          </p:cNvPr>
          <p:cNvSpPr/>
          <p:nvPr/>
        </p:nvSpPr>
        <p:spPr>
          <a:xfrm>
            <a:off x="3602077" y="2433717"/>
            <a:ext cx="946214" cy="928537"/>
          </a:xfrm>
          <a:prstGeom prst="ellipse">
            <a:avLst/>
          </a:prstGeom>
          <a:noFill/>
          <a:ln w="1270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24" name="Dikdörtgen 23">
            <a:extLst>
              <a:ext uri="{FF2B5EF4-FFF2-40B4-BE49-F238E27FC236}">
                <a16:creationId xmlns:a16="http://schemas.microsoft.com/office/drawing/2014/main" id="{5C795CAD-A9A2-44ED-B0BD-37591CE2582D}"/>
              </a:ext>
            </a:extLst>
          </p:cNvPr>
          <p:cNvSpPr/>
          <p:nvPr/>
        </p:nvSpPr>
        <p:spPr>
          <a:xfrm>
            <a:off x="3588734" y="2905449"/>
            <a:ext cx="1051059" cy="499863"/>
          </a:xfrm>
          <a:prstGeom prst="rect">
            <a:avLst/>
          </a:prstGeom>
          <a:solidFill>
            <a:srgbClr val="E2F0D9"/>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70" name="Düz Bağlayıcı 69">
            <a:extLst>
              <a:ext uri="{FF2B5EF4-FFF2-40B4-BE49-F238E27FC236}">
                <a16:creationId xmlns:a16="http://schemas.microsoft.com/office/drawing/2014/main" id="{FB26845D-E722-4BFB-8F36-A464B8EE796D}"/>
              </a:ext>
            </a:extLst>
          </p:cNvPr>
          <p:cNvCxnSpPr/>
          <p:nvPr/>
        </p:nvCxnSpPr>
        <p:spPr>
          <a:xfrm>
            <a:off x="4078722" y="2903482"/>
            <a:ext cx="480330" cy="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71" name="Metin kutusu 70">
            <a:extLst>
              <a:ext uri="{FF2B5EF4-FFF2-40B4-BE49-F238E27FC236}">
                <a16:creationId xmlns:a16="http://schemas.microsoft.com/office/drawing/2014/main" id="{BF40061C-C004-4356-A6E0-7A17521EABDA}"/>
              </a:ext>
            </a:extLst>
          </p:cNvPr>
          <p:cNvSpPr txBox="1"/>
          <p:nvPr/>
        </p:nvSpPr>
        <p:spPr>
          <a:xfrm>
            <a:off x="4164282" y="2709903"/>
            <a:ext cx="309210" cy="246221"/>
          </a:xfrm>
          <a:prstGeom prst="rect">
            <a:avLst/>
          </a:prstGeom>
          <a:noFill/>
        </p:spPr>
        <p:txBody>
          <a:bodyPr wrap="square" rtlCol="0">
            <a:spAutoFit/>
          </a:bodyPr>
          <a:lstStyle/>
          <a:p>
            <a:pPr algn="ctr"/>
            <a:r>
              <a:rPr lang="tr-TR" sz="1000" noProof="1">
                <a:cs typeface="Arial" panose="020B0604020202020204" pitchFamily="34" charset="0"/>
              </a:rPr>
              <a:t>r</a:t>
            </a:r>
          </a:p>
        </p:txBody>
      </p:sp>
      <mc:AlternateContent xmlns:mc="http://schemas.openxmlformats.org/markup-compatibility/2006" xmlns:a14="http://schemas.microsoft.com/office/drawing/2010/main">
        <mc:Choice Requires="a14">
          <p:sp>
            <p:nvSpPr>
              <p:cNvPr id="72" name="Metin kutusu 71">
                <a:extLst>
                  <a:ext uri="{FF2B5EF4-FFF2-40B4-BE49-F238E27FC236}">
                    <a16:creationId xmlns:a16="http://schemas.microsoft.com/office/drawing/2014/main" id="{1A03D50F-19B5-4915-8A73-BC76EDBBCADA}"/>
                  </a:ext>
                </a:extLst>
              </p:cNvPr>
              <p:cNvSpPr txBox="1"/>
              <p:nvPr/>
            </p:nvSpPr>
            <p:spPr>
              <a:xfrm>
                <a:off x="4723375" y="2360241"/>
                <a:ext cx="2034213" cy="55399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ctr"/>
                <a:r>
                  <a:rPr lang="tr-TR" sz="1500" noProof="1">
                    <a:cs typeface="Arial" panose="020B0604020202020204" pitchFamily="34" charset="0"/>
                  </a:rPr>
                  <a:t>Yarım Pistin </a:t>
                </a:r>
              </a:p>
              <a:p>
                <a:pPr algn="ctr"/>
                <a:r>
                  <a:rPr lang="tr-TR" sz="1500" noProof="1">
                    <a:cs typeface="Arial" panose="020B0604020202020204" pitchFamily="34" charset="0"/>
                  </a:rPr>
                  <a:t>Çevresi =</a:t>
                </a:r>
                <a14:m>
                  <m:oMath xmlns:m="http://schemas.openxmlformats.org/officeDocument/2006/math">
                    <m:r>
                      <a:rPr lang="tr-TR" sz="1500" i="1" noProof="1">
                        <a:latin typeface="Cambria Math" panose="02040503050406030204" pitchFamily="18" charset="0"/>
                        <a:ea typeface="Cambria Math" panose="02040503050406030204" pitchFamily="18" charset="0"/>
                        <a:cs typeface="Arial" panose="020B0604020202020204" pitchFamily="34" charset="0"/>
                      </a:rPr>
                      <m:t> </m:t>
                    </m:r>
                    <m:r>
                      <m:rPr>
                        <m:sty m:val="p"/>
                      </m:rPr>
                      <a:rPr lang="tr-TR" sz="1500" b="0" i="0" noProof="1" smtClean="0">
                        <a:latin typeface="Cambria Math" panose="02040503050406030204" pitchFamily="18" charset="0"/>
                        <a:ea typeface="Cambria Math" panose="02040503050406030204" pitchFamily="18" charset="0"/>
                        <a:cs typeface="Arial" panose="020B0604020202020204" pitchFamily="34" charset="0"/>
                      </a:rPr>
                      <m:t>π</m:t>
                    </m:r>
                  </m:oMath>
                </a14:m>
                <a:r>
                  <a:rPr lang="tr-TR" sz="1500" noProof="1">
                    <a:ea typeface="Cambria Math" panose="02040503050406030204" pitchFamily="18" charset="0"/>
                    <a:cs typeface="Arial" panose="020B0604020202020204" pitchFamily="34" charset="0"/>
                  </a:rPr>
                  <a:t> </a:t>
                </a:r>
                <a14:m>
                  <m:oMath xmlns:m="http://schemas.openxmlformats.org/officeDocument/2006/math">
                    <m:r>
                      <a:rPr lang="tr-TR" sz="15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500" noProof="1">
                    <a:cs typeface="Arial" panose="020B0604020202020204" pitchFamily="34" charset="0"/>
                  </a:rPr>
                  <a:t>r </a:t>
                </a:r>
                <a:endParaRPr lang="tr-TR" sz="1500" dirty="0"/>
              </a:p>
            </p:txBody>
          </p:sp>
        </mc:Choice>
        <mc:Fallback xmlns="">
          <p:sp>
            <p:nvSpPr>
              <p:cNvPr id="72" name="Metin kutusu 71">
                <a:extLst>
                  <a:ext uri="{FF2B5EF4-FFF2-40B4-BE49-F238E27FC236}">
                    <a16:creationId xmlns:a16="http://schemas.microsoft.com/office/drawing/2014/main" id="{1A03D50F-19B5-4915-8A73-BC76EDBBCADA}"/>
                  </a:ext>
                </a:extLst>
              </p:cNvPr>
              <p:cNvSpPr txBox="1">
                <a:spLocks noRot="1" noChangeAspect="1" noMove="1" noResize="1" noEditPoints="1" noAdjustHandles="1" noChangeArrowheads="1" noChangeShapeType="1" noTextEdit="1"/>
              </p:cNvSpPr>
              <p:nvPr/>
            </p:nvSpPr>
            <p:spPr>
              <a:xfrm>
                <a:off x="4723375" y="2360241"/>
                <a:ext cx="2034213" cy="553998"/>
              </a:xfrm>
              <a:prstGeom prst="rect">
                <a:avLst/>
              </a:prstGeom>
              <a:blipFill>
                <a:blip r:embed="rId14"/>
                <a:stretch>
                  <a:fillRect t="-1075" b="-10753"/>
                </a:stretch>
              </a:blipFill>
              <a:ln w="9525" cap="flat" cmpd="sng" algn="ctr">
                <a:solidFill>
                  <a:schemeClr val="dk1"/>
                </a:solidFill>
                <a:prstDash val="solid"/>
                <a:round/>
                <a:headEnd type="none" w="med" len="med"/>
                <a:tailEnd type="none" w="med" len="med"/>
              </a:ln>
            </p:spPr>
            <p:txBody>
              <a:bodyPr/>
              <a:lstStyle/>
              <a:p>
                <a:r>
                  <a:rPr lang="tr-TR">
                    <a:noFill/>
                  </a:rPr>
                  <a:t> </a:t>
                </a:r>
              </a:p>
            </p:txBody>
          </p:sp>
        </mc:Fallback>
      </mc:AlternateContent>
      <p:sp>
        <p:nvSpPr>
          <p:cNvPr id="73" name="Metin kutusu 72">
            <a:extLst>
              <a:ext uri="{FF2B5EF4-FFF2-40B4-BE49-F238E27FC236}">
                <a16:creationId xmlns:a16="http://schemas.microsoft.com/office/drawing/2014/main" id="{F21061CE-DEDC-4E40-BD25-504EB486E4B7}"/>
              </a:ext>
            </a:extLst>
          </p:cNvPr>
          <p:cNvSpPr txBox="1"/>
          <p:nvPr/>
        </p:nvSpPr>
        <p:spPr>
          <a:xfrm>
            <a:off x="3574216" y="3219708"/>
            <a:ext cx="3300084" cy="1477328"/>
          </a:xfrm>
          <a:prstGeom prst="rect">
            <a:avLst/>
          </a:prstGeom>
          <a:noFill/>
        </p:spPr>
        <p:txBody>
          <a:bodyPr wrap="square" rtlCol="0">
            <a:spAutoFit/>
          </a:bodyPr>
          <a:lstStyle/>
          <a:p>
            <a:r>
              <a:rPr lang="tr-TR" sz="1000" noProof="1">
                <a:cs typeface="Arial" panose="020B0604020202020204" pitchFamily="34" charset="0"/>
              </a:rPr>
              <a:t>Dairesel pist sorularında tur atma problemleri çok sorulur. Şuana kadar öğrendiğiniz hareket problemleri bilgileriyle soruyu anlarsanız bu soruları da çözebilirsiniz.</a:t>
            </a:r>
          </a:p>
          <a:p>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Hareket problemleri sadece araçlardan ibaret değildir. Problemlerde genellikle sabit hızlı hedef konuma giden insanlar, helikopterler, vapurlar, tekneler, kayıklar daha niceleri olabilir. Bunun yanı sıra yanmakta olan mum problemlerini de bu alt başlığa koyabiliriz.</a:t>
            </a:r>
          </a:p>
        </p:txBody>
      </p:sp>
    </p:spTree>
    <p:extLst>
      <p:ext uri="{BB962C8B-B14F-4D97-AF65-F5344CB8AC3E}">
        <p14:creationId xmlns:p14="http://schemas.microsoft.com/office/powerpoint/2010/main" val="42063479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7673" y="42496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14645" y="712228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39658" y="793417"/>
            <a:ext cx="3268254" cy="400110"/>
          </a:xfrm>
          <a:prstGeom prst="rect">
            <a:avLst/>
          </a:prstGeom>
          <a:noFill/>
        </p:spPr>
        <p:txBody>
          <a:bodyPr wrap="square" rtlCol="0">
            <a:spAutoFit/>
          </a:bodyPr>
          <a:lstStyle/>
          <a:p>
            <a:r>
              <a:rPr lang="tr-TR" sz="1000" b="1" noProof="1">
                <a:cs typeface="Arial" panose="020B0604020202020204" pitchFamily="34" charset="0"/>
              </a:rPr>
              <a:t>Saatte sabit hızı 40 km olan bir araç 45 dakikada kaç km yol alır?</a:t>
            </a:r>
          </a:p>
        </p:txBody>
      </p:sp>
      <p:sp>
        <p:nvSpPr>
          <p:cNvPr id="56" name="Ok: Beşgen 55">
            <a:extLst>
              <a:ext uri="{FF2B5EF4-FFF2-40B4-BE49-F238E27FC236}">
                <a16:creationId xmlns:a16="http://schemas.microsoft.com/office/drawing/2014/main" id="{D327283C-46A4-4C86-A990-995946C89AA1}"/>
              </a:ext>
            </a:extLst>
          </p:cNvPr>
          <p:cNvSpPr/>
          <p:nvPr/>
        </p:nvSpPr>
        <p:spPr>
          <a:xfrm>
            <a:off x="3623212" y="253002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15865" y="701881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57" name="Kaydırma: Yatay 56">
            <a:extLst>
              <a:ext uri="{FF2B5EF4-FFF2-40B4-BE49-F238E27FC236}">
                <a16:creationId xmlns:a16="http://schemas.microsoft.com/office/drawing/2014/main" id="{83A3FF95-F03A-4231-B19E-5421D6663BD7}"/>
              </a:ext>
            </a:extLst>
          </p:cNvPr>
          <p:cNvSpPr/>
          <p:nvPr/>
        </p:nvSpPr>
        <p:spPr>
          <a:xfrm>
            <a:off x="4390001" y="413646"/>
            <a:ext cx="2431770" cy="378586"/>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39E48E14-ECC0-4153-884F-71D4879E30CA}"/>
              </a:ext>
            </a:extLst>
          </p:cNvPr>
          <p:cNvSpPr txBox="1"/>
          <p:nvPr/>
        </p:nvSpPr>
        <p:spPr>
          <a:xfrm>
            <a:off x="4368131" y="448998"/>
            <a:ext cx="2571377" cy="307777"/>
          </a:xfrm>
          <a:prstGeom prst="rect">
            <a:avLst/>
          </a:prstGeom>
          <a:noFill/>
        </p:spPr>
        <p:txBody>
          <a:bodyPr wrap="square">
            <a:spAutoFit/>
          </a:bodyPr>
          <a:lstStyle/>
          <a:p>
            <a:r>
              <a:rPr lang="tr-TR" sz="700" i="0" dirty="0">
                <a:solidFill>
                  <a:schemeClr val="bg1"/>
                </a:solidFill>
                <a:effectLst/>
                <a:latin typeface="Arial Narrow" panose="020B0606020202030204" pitchFamily="34" charset="0"/>
              </a:rPr>
              <a:t>“Bir olalım, iri olalım, diri olalım. Adalet her işte, Hakk’ı bilmektir. İlimden gidilmeyen yolun son karanlıktır.”  -  Hacı Bektaşi Veli</a:t>
            </a:r>
            <a:endParaRPr lang="tr-TR" sz="620" dirty="0">
              <a:solidFill>
                <a:schemeClr val="bg1"/>
              </a:solidFill>
              <a:latin typeface="Arial Narrow" panose="020B0606020202030204" pitchFamily="34" charset="0"/>
            </a:endParaRPr>
          </a:p>
        </p:txBody>
      </p:sp>
      <p:sp>
        <p:nvSpPr>
          <p:cNvPr id="60" name="Metin kutusu 59">
            <a:extLst>
              <a:ext uri="{FF2B5EF4-FFF2-40B4-BE49-F238E27FC236}">
                <a16:creationId xmlns:a16="http://schemas.microsoft.com/office/drawing/2014/main" id="{146993F7-619D-434A-A74A-6A53777F1AE3}"/>
              </a:ext>
            </a:extLst>
          </p:cNvPr>
          <p:cNvSpPr txBox="1"/>
          <p:nvPr/>
        </p:nvSpPr>
        <p:spPr>
          <a:xfrm>
            <a:off x="17432" y="2526906"/>
            <a:ext cx="3290479" cy="1938992"/>
          </a:xfrm>
          <a:prstGeom prst="rect">
            <a:avLst/>
          </a:prstGeom>
          <a:noFill/>
        </p:spPr>
        <p:txBody>
          <a:bodyPr wrap="square" rtlCol="0">
            <a:spAutoFit/>
          </a:bodyPr>
          <a:lstStyle/>
          <a:p>
            <a:r>
              <a:rPr lang="tr-TR" sz="1000" noProof="1">
                <a:cs typeface="Arial" panose="020B0604020202020204" pitchFamily="34" charset="0"/>
              </a:rPr>
              <a:t>Saatte 40 km yol alması demek 60 dakikada 40 km alması demektir. Sabit hızla gittiği için araç doğru orantı kullanarak 45 dakikada kaç km yol alacağını bulabiliriz.</a:t>
            </a:r>
          </a:p>
          <a:p>
            <a:endParaRPr lang="tr-TR" sz="1000" noProof="1">
              <a:cs typeface="Arial" panose="020B0604020202020204" pitchFamily="34" charset="0"/>
            </a:endParaRPr>
          </a:p>
          <a:p>
            <a:r>
              <a:rPr lang="tr-TR" sz="1000" noProof="1">
                <a:cs typeface="Arial" panose="020B0604020202020204" pitchFamily="34" charset="0"/>
              </a:rPr>
              <a:t>60 dakikada  40 km ise </a:t>
            </a:r>
          </a:p>
          <a:p>
            <a:r>
              <a:rPr lang="tr-TR" sz="1000" noProof="1">
                <a:cs typeface="Arial" panose="020B0604020202020204" pitchFamily="34" charset="0"/>
              </a:rPr>
              <a:t>45 dakikada    x km yol gider. </a:t>
            </a:r>
          </a:p>
          <a:p>
            <a:endParaRPr lang="tr-TR" sz="1000" noProof="1">
              <a:cs typeface="Arial" panose="020B0604020202020204" pitchFamily="34" charset="0"/>
            </a:endParaRPr>
          </a:p>
          <a:p>
            <a:r>
              <a:rPr lang="tr-TR" sz="1000" noProof="1">
                <a:cs typeface="Arial" panose="020B0604020202020204" pitchFamily="34" charset="0"/>
              </a:rPr>
              <a:t>İçler dışlar yaptığımızda 60 x = 40 . 45 </a:t>
            </a:r>
          </a:p>
          <a:p>
            <a:endParaRPr lang="tr-TR" sz="1000" noProof="1">
              <a:cs typeface="Arial" panose="020B0604020202020204" pitchFamily="34" charset="0"/>
            </a:endParaRPr>
          </a:p>
          <a:p>
            <a:r>
              <a:rPr lang="tr-TR" sz="1000" noProof="1">
                <a:cs typeface="Arial" panose="020B0604020202020204" pitchFamily="34" charset="0"/>
              </a:rPr>
              <a:t>x = 30 olarak bulunur. Cevabı sağlama yaparak teyit edebiliriz, saatte </a:t>
            </a:r>
            <a:r>
              <a:rPr lang="tr-TR" sz="1000" u="sng" noProof="1">
                <a:cs typeface="Arial" panose="020B0604020202020204" pitchFamily="34" charset="0"/>
              </a:rPr>
              <a:t>sabit</a:t>
            </a:r>
            <a:r>
              <a:rPr lang="tr-TR" sz="1000" noProof="1">
                <a:cs typeface="Arial" panose="020B0604020202020204" pitchFamily="34" charset="0"/>
              </a:rPr>
              <a:t> 40 km giden bir araç 45 dakikada 30 km gidebilir, mantık hatası da bulunmamaktadır.</a:t>
            </a:r>
          </a:p>
        </p:txBody>
      </p:sp>
      <p:pic>
        <p:nvPicPr>
          <p:cNvPr id="62" name="Grafik 61">
            <a:extLst>
              <a:ext uri="{FF2B5EF4-FFF2-40B4-BE49-F238E27FC236}">
                <a16:creationId xmlns:a16="http://schemas.microsoft.com/office/drawing/2014/main" id="{B6551BFD-A191-453F-9904-3B2603CA2C4D}"/>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63603" y="4951496"/>
            <a:ext cx="530730" cy="521883"/>
          </a:xfrm>
          <a:prstGeom prst="rect">
            <a:avLst/>
          </a:prstGeom>
        </p:spPr>
      </p:pic>
      <p:pic>
        <p:nvPicPr>
          <p:cNvPr id="6" name="Grafik 5">
            <a:extLst>
              <a:ext uri="{FF2B5EF4-FFF2-40B4-BE49-F238E27FC236}">
                <a16:creationId xmlns:a16="http://schemas.microsoft.com/office/drawing/2014/main" id="{D747437C-509A-4DB0-B5CB-6ABDB402162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5976" y="4959587"/>
            <a:ext cx="518237" cy="518237"/>
          </a:xfrm>
          <a:prstGeom prst="rect">
            <a:avLst/>
          </a:prstGeom>
        </p:spPr>
      </p:pic>
      <p:sp>
        <p:nvSpPr>
          <p:cNvPr id="66" name="Metin kutusu 65">
            <a:extLst>
              <a:ext uri="{FF2B5EF4-FFF2-40B4-BE49-F238E27FC236}">
                <a16:creationId xmlns:a16="http://schemas.microsoft.com/office/drawing/2014/main" id="{FABE64A0-C06B-4ACC-8F17-1E5C6FD0F620}"/>
              </a:ext>
            </a:extLst>
          </p:cNvPr>
          <p:cNvSpPr txBox="1"/>
          <p:nvPr/>
        </p:nvSpPr>
        <p:spPr>
          <a:xfrm>
            <a:off x="820178" y="4463214"/>
            <a:ext cx="2470174" cy="400110"/>
          </a:xfrm>
          <a:prstGeom prst="rect">
            <a:avLst/>
          </a:prstGeom>
          <a:noFill/>
        </p:spPr>
        <p:txBody>
          <a:bodyPr wrap="square" rtlCol="0">
            <a:spAutoFit/>
          </a:bodyPr>
          <a:lstStyle/>
          <a:p>
            <a:r>
              <a:rPr lang="tr-TR" sz="1000" noProof="1">
                <a:cs typeface="Arial" panose="020B0604020202020204" pitchFamily="34" charset="0"/>
              </a:rPr>
              <a:t>A aracı saatte 40 km hızla, B aracı saate sabit 60 km hızla birbirlerine doğru hareket</a:t>
            </a:r>
          </a:p>
        </p:txBody>
      </p:sp>
      <p:sp>
        <p:nvSpPr>
          <p:cNvPr id="67" name="Metin kutusu 66">
            <a:extLst>
              <a:ext uri="{FF2B5EF4-FFF2-40B4-BE49-F238E27FC236}">
                <a16:creationId xmlns:a16="http://schemas.microsoft.com/office/drawing/2014/main" id="{A2DDB55B-D740-4654-8957-9AEBB31770D1}"/>
              </a:ext>
            </a:extLst>
          </p:cNvPr>
          <p:cNvSpPr txBox="1"/>
          <p:nvPr/>
        </p:nvSpPr>
        <p:spPr>
          <a:xfrm>
            <a:off x="40466" y="4761403"/>
            <a:ext cx="3285008" cy="246221"/>
          </a:xfrm>
          <a:prstGeom prst="rect">
            <a:avLst/>
          </a:prstGeom>
          <a:noFill/>
        </p:spPr>
        <p:txBody>
          <a:bodyPr wrap="square" rtlCol="0">
            <a:spAutoFit/>
          </a:bodyPr>
          <a:lstStyle/>
          <a:p>
            <a:r>
              <a:rPr lang="tr-TR" sz="1000" noProof="1">
                <a:cs typeface="Arial" panose="020B0604020202020204" pitchFamily="34" charset="0"/>
              </a:rPr>
              <a:t>etmektedir. İki aracın arasındaki mesafe 1000 km dir. </a:t>
            </a:r>
          </a:p>
        </p:txBody>
      </p:sp>
      <p:sp>
        <p:nvSpPr>
          <p:cNvPr id="68" name="Metin kutusu 67">
            <a:extLst>
              <a:ext uri="{FF2B5EF4-FFF2-40B4-BE49-F238E27FC236}">
                <a16:creationId xmlns:a16="http://schemas.microsoft.com/office/drawing/2014/main" id="{39E0F500-0DDF-4D06-BF96-20C17049D53E}"/>
              </a:ext>
            </a:extLst>
          </p:cNvPr>
          <p:cNvSpPr txBox="1"/>
          <p:nvPr/>
        </p:nvSpPr>
        <p:spPr>
          <a:xfrm>
            <a:off x="258421" y="5099520"/>
            <a:ext cx="290259" cy="246221"/>
          </a:xfrm>
          <a:prstGeom prst="rect">
            <a:avLst/>
          </a:prstGeom>
          <a:noFill/>
        </p:spPr>
        <p:txBody>
          <a:bodyPr wrap="square" rtlCol="0">
            <a:spAutoFit/>
          </a:bodyPr>
          <a:lstStyle/>
          <a:p>
            <a:r>
              <a:rPr lang="tr-TR" sz="1000" b="1" noProof="1">
                <a:cs typeface="Arial" panose="020B0604020202020204" pitchFamily="34" charset="0"/>
              </a:rPr>
              <a:t>A</a:t>
            </a:r>
          </a:p>
        </p:txBody>
      </p:sp>
      <p:sp>
        <p:nvSpPr>
          <p:cNvPr id="69" name="Metin kutusu 68">
            <a:extLst>
              <a:ext uri="{FF2B5EF4-FFF2-40B4-BE49-F238E27FC236}">
                <a16:creationId xmlns:a16="http://schemas.microsoft.com/office/drawing/2014/main" id="{EE4BE405-ACBD-4301-ACCD-C70175E34071}"/>
              </a:ext>
            </a:extLst>
          </p:cNvPr>
          <p:cNvSpPr txBox="1"/>
          <p:nvPr/>
        </p:nvSpPr>
        <p:spPr>
          <a:xfrm>
            <a:off x="3035436" y="5168069"/>
            <a:ext cx="290259" cy="246221"/>
          </a:xfrm>
          <a:prstGeom prst="rect">
            <a:avLst/>
          </a:prstGeom>
          <a:noFill/>
        </p:spPr>
        <p:txBody>
          <a:bodyPr wrap="square" rtlCol="0">
            <a:spAutoFit/>
          </a:bodyPr>
          <a:lstStyle/>
          <a:p>
            <a:r>
              <a:rPr lang="tr-TR" sz="1000" b="1" noProof="1">
                <a:cs typeface="Arial" panose="020B0604020202020204" pitchFamily="34" charset="0"/>
              </a:rPr>
              <a:t>B</a:t>
            </a:r>
          </a:p>
        </p:txBody>
      </p:sp>
      <p:cxnSp>
        <p:nvCxnSpPr>
          <p:cNvPr id="8" name="Düz Ok Bağlayıcısı 7">
            <a:extLst>
              <a:ext uri="{FF2B5EF4-FFF2-40B4-BE49-F238E27FC236}">
                <a16:creationId xmlns:a16="http://schemas.microsoft.com/office/drawing/2014/main" id="{786EA3AE-7C60-4F3D-84D7-79F8D0C6DB53}"/>
              </a:ext>
            </a:extLst>
          </p:cNvPr>
          <p:cNvCxnSpPr/>
          <p:nvPr/>
        </p:nvCxnSpPr>
        <p:spPr>
          <a:xfrm>
            <a:off x="565869" y="5072106"/>
            <a:ext cx="292713"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70" name="Düz Ok Bağlayıcısı 69">
            <a:extLst>
              <a:ext uri="{FF2B5EF4-FFF2-40B4-BE49-F238E27FC236}">
                <a16:creationId xmlns:a16="http://schemas.microsoft.com/office/drawing/2014/main" id="{6E0D4301-C4EB-47B8-9C36-040F8BC9736A}"/>
              </a:ext>
            </a:extLst>
          </p:cNvPr>
          <p:cNvCxnSpPr>
            <a:cxnSpLocks/>
          </p:cNvCxnSpPr>
          <p:nvPr/>
        </p:nvCxnSpPr>
        <p:spPr>
          <a:xfrm flipH="1" flipV="1">
            <a:off x="2343363" y="5070812"/>
            <a:ext cx="169590" cy="187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71" name="Metin kutusu 70">
            <a:extLst>
              <a:ext uri="{FF2B5EF4-FFF2-40B4-BE49-F238E27FC236}">
                <a16:creationId xmlns:a16="http://schemas.microsoft.com/office/drawing/2014/main" id="{F50D98E8-3B50-427F-9667-B9D252B52438}"/>
              </a:ext>
            </a:extLst>
          </p:cNvPr>
          <p:cNvSpPr txBox="1"/>
          <p:nvPr/>
        </p:nvSpPr>
        <p:spPr>
          <a:xfrm>
            <a:off x="44624" y="5400822"/>
            <a:ext cx="3285008" cy="400110"/>
          </a:xfrm>
          <a:prstGeom prst="rect">
            <a:avLst/>
          </a:prstGeom>
          <a:noFill/>
        </p:spPr>
        <p:txBody>
          <a:bodyPr wrap="square" rtlCol="0">
            <a:spAutoFit/>
          </a:bodyPr>
          <a:lstStyle/>
          <a:p>
            <a:r>
              <a:rPr lang="tr-TR" sz="1000" b="1" noProof="1">
                <a:cs typeface="Arial" panose="020B0604020202020204" pitchFamily="34" charset="0"/>
              </a:rPr>
              <a:t>Bu iki araç durmadan sabit hızlarla devam ettiklerinde kaç saat sonra karşılaşırlar?</a:t>
            </a:r>
          </a:p>
        </p:txBody>
      </p:sp>
      <p:sp>
        <p:nvSpPr>
          <p:cNvPr id="72" name="Metin kutusu 71">
            <a:extLst>
              <a:ext uri="{FF2B5EF4-FFF2-40B4-BE49-F238E27FC236}">
                <a16:creationId xmlns:a16="http://schemas.microsoft.com/office/drawing/2014/main" id="{57FB6C95-6E9B-4670-95EE-F4E71022E41B}"/>
              </a:ext>
            </a:extLst>
          </p:cNvPr>
          <p:cNvSpPr txBox="1"/>
          <p:nvPr/>
        </p:nvSpPr>
        <p:spPr>
          <a:xfrm>
            <a:off x="52216" y="7402880"/>
            <a:ext cx="3285008" cy="1323439"/>
          </a:xfrm>
          <a:prstGeom prst="rect">
            <a:avLst/>
          </a:prstGeom>
          <a:noFill/>
        </p:spPr>
        <p:txBody>
          <a:bodyPr wrap="square" rtlCol="0">
            <a:spAutoFit/>
          </a:bodyPr>
          <a:lstStyle/>
          <a:p>
            <a:r>
              <a:rPr lang="tr-TR" sz="1000" noProof="1">
                <a:cs typeface="Arial" panose="020B0604020202020204" pitchFamily="34" charset="0"/>
              </a:rPr>
              <a:t>İki araç arası uzaklık 1000 km dir. İki araçta birbirlerine doğru hareket ettiklerinden ötürü aradaki mesafe kuvvetli bir şekilde azalacaktır. Hızların toplanacağını bu durumda konu anlatımında bahsetmiştik.</a:t>
            </a:r>
          </a:p>
          <a:p>
            <a:endParaRPr lang="tr-TR" sz="1000" noProof="1">
              <a:cs typeface="Arial" panose="020B0604020202020204" pitchFamily="34" charset="0"/>
            </a:endParaRPr>
          </a:p>
          <a:p>
            <a:r>
              <a:rPr lang="tr-TR" sz="1000" noProof="1">
                <a:cs typeface="Arial" panose="020B0604020202020204" pitchFamily="34" charset="0"/>
              </a:rPr>
              <a:t>Hızlar toplamı (60+40) . t = 1000 KM    </a:t>
            </a:r>
          </a:p>
          <a:p>
            <a:endParaRPr lang="tr-TR" sz="1000" noProof="1">
              <a:cs typeface="Arial" panose="020B0604020202020204" pitchFamily="34" charset="0"/>
            </a:endParaRPr>
          </a:p>
          <a:p>
            <a:r>
              <a:rPr lang="tr-TR" sz="1000" b="1" noProof="1">
                <a:cs typeface="Arial" panose="020B0604020202020204" pitchFamily="34" charset="0"/>
              </a:rPr>
              <a:t>t buradan 10 saat olarak bulunur.</a:t>
            </a:r>
          </a:p>
        </p:txBody>
      </p:sp>
      <p:pic>
        <p:nvPicPr>
          <p:cNvPr id="12" name="Grafik 11">
            <a:extLst>
              <a:ext uri="{FF2B5EF4-FFF2-40B4-BE49-F238E27FC236}">
                <a16:creationId xmlns:a16="http://schemas.microsoft.com/office/drawing/2014/main" id="{7DB74A13-5638-462C-BF2E-6FB68C304ABD}"/>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41787" y="651462"/>
            <a:ext cx="419483" cy="519983"/>
          </a:xfrm>
          <a:prstGeom prst="rect">
            <a:avLst/>
          </a:prstGeom>
        </p:spPr>
      </p:pic>
      <p:pic>
        <p:nvPicPr>
          <p:cNvPr id="74" name="Grafik 73">
            <a:extLst>
              <a:ext uri="{FF2B5EF4-FFF2-40B4-BE49-F238E27FC236}">
                <a16:creationId xmlns:a16="http://schemas.microsoft.com/office/drawing/2014/main" id="{54A16B37-EF7B-4618-BB6C-91CE823A9C49}"/>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21550" y="704581"/>
            <a:ext cx="569677" cy="488946"/>
          </a:xfrm>
          <a:prstGeom prst="rect">
            <a:avLst/>
          </a:prstGeom>
        </p:spPr>
      </p:pic>
      <p:sp>
        <p:nvSpPr>
          <p:cNvPr id="75" name="Sağ Ayraç 74">
            <a:extLst>
              <a:ext uri="{FF2B5EF4-FFF2-40B4-BE49-F238E27FC236}">
                <a16:creationId xmlns:a16="http://schemas.microsoft.com/office/drawing/2014/main" id="{BC668B4E-F646-4065-9177-72D6C3264230}"/>
              </a:ext>
            </a:extLst>
          </p:cNvPr>
          <p:cNvSpPr/>
          <p:nvPr/>
        </p:nvSpPr>
        <p:spPr>
          <a:xfrm rot="5400000">
            <a:off x="6010041" y="603732"/>
            <a:ext cx="118212" cy="830658"/>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pic>
        <p:nvPicPr>
          <p:cNvPr id="24" name="Grafik 23">
            <a:extLst>
              <a:ext uri="{FF2B5EF4-FFF2-40B4-BE49-F238E27FC236}">
                <a16:creationId xmlns:a16="http://schemas.microsoft.com/office/drawing/2014/main" id="{35867D63-3380-4B9D-BF05-239DC2D18CC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00217" y="765097"/>
            <a:ext cx="307776" cy="307776"/>
          </a:xfrm>
          <a:prstGeom prst="rect">
            <a:avLst/>
          </a:prstGeom>
        </p:spPr>
      </p:pic>
      <p:sp>
        <p:nvSpPr>
          <p:cNvPr id="76" name="Metin kutusu 75">
            <a:extLst>
              <a:ext uri="{FF2B5EF4-FFF2-40B4-BE49-F238E27FC236}">
                <a16:creationId xmlns:a16="http://schemas.microsoft.com/office/drawing/2014/main" id="{5B56653A-30C0-4A10-83D8-5FC215816026}"/>
              </a:ext>
            </a:extLst>
          </p:cNvPr>
          <p:cNvSpPr txBox="1"/>
          <p:nvPr/>
        </p:nvSpPr>
        <p:spPr>
          <a:xfrm>
            <a:off x="6453337" y="742534"/>
            <a:ext cx="365006" cy="204797"/>
          </a:xfrm>
          <a:prstGeom prst="rect">
            <a:avLst/>
          </a:prstGeom>
          <a:noFill/>
        </p:spPr>
        <p:txBody>
          <a:bodyPr wrap="square" lIns="80897" tIns="40448" rIns="80897" bIns="40448" rtlCol="0">
            <a:spAutoFit/>
          </a:bodyPr>
          <a:lstStyle/>
          <a:p>
            <a:pPr algn="ctr"/>
            <a:r>
              <a:rPr lang="tr-TR" sz="800" b="1" dirty="0">
                <a:solidFill>
                  <a:srgbClr val="C00000"/>
                </a:solidFill>
              </a:rPr>
              <a:t>Y</a:t>
            </a:r>
          </a:p>
        </p:txBody>
      </p:sp>
      <p:sp>
        <p:nvSpPr>
          <p:cNvPr id="77" name="Sağ Ayraç 76">
            <a:extLst>
              <a:ext uri="{FF2B5EF4-FFF2-40B4-BE49-F238E27FC236}">
                <a16:creationId xmlns:a16="http://schemas.microsoft.com/office/drawing/2014/main" id="{79F4CCFC-BBE7-49D4-95F7-1242541A506E}"/>
              </a:ext>
            </a:extLst>
          </p:cNvPr>
          <p:cNvSpPr/>
          <p:nvPr/>
        </p:nvSpPr>
        <p:spPr>
          <a:xfrm rot="5400000">
            <a:off x="4495824" y="600323"/>
            <a:ext cx="118212" cy="830658"/>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sp>
        <p:nvSpPr>
          <p:cNvPr id="78" name="Metin kutusu 77">
            <a:extLst>
              <a:ext uri="{FF2B5EF4-FFF2-40B4-BE49-F238E27FC236}">
                <a16:creationId xmlns:a16="http://schemas.microsoft.com/office/drawing/2014/main" id="{75CA01A6-9074-4375-B748-790428DC7589}"/>
              </a:ext>
            </a:extLst>
          </p:cNvPr>
          <p:cNvSpPr txBox="1"/>
          <p:nvPr/>
        </p:nvSpPr>
        <p:spPr>
          <a:xfrm>
            <a:off x="4077011" y="801594"/>
            <a:ext cx="939149" cy="246221"/>
          </a:xfrm>
          <a:prstGeom prst="rect">
            <a:avLst/>
          </a:prstGeom>
          <a:noFill/>
        </p:spPr>
        <p:txBody>
          <a:bodyPr wrap="square" rtlCol="0">
            <a:spAutoFit/>
          </a:bodyPr>
          <a:lstStyle/>
          <a:p>
            <a:pPr algn="ctr"/>
            <a:r>
              <a:rPr lang="tr-TR" sz="1000" b="1" noProof="1">
                <a:cs typeface="Arial" panose="020B0604020202020204" pitchFamily="34" charset="0"/>
              </a:rPr>
              <a:t>280 km</a:t>
            </a:r>
          </a:p>
        </p:txBody>
      </p:sp>
      <p:sp>
        <p:nvSpPr>
          <p:cNvPr id="79" name="Metin kutusu 78">
            <a:extLst>
              <a:ext uri="{FF2B5EF4-FFF2-40B4-BE49-F238E27FC236}">
                <a16:creationId xmlns:a16="http://schemas.microsoft.com/office/drawing/2014/main" id="{D0C353A1-3DED-4D2D-8B0D-066F20EAAEBD}"/>
              </a:ext>
            </a:extLst>
          </p:cNvPr>
          <p:cNvSpPr txBox="1"/>
          <p:nvPr/>
        </p:nvSpPr>
        <p:spPr>
          <a:xfrm>
            <a:off x="5599588" y="809460"/>
            <a:ext cx="939149" cy="246221"/>
          </a:xfrm>
          <a:prstGeom prst="rect">
            <a:avLst/>
          </a:prstGeom>
          <a:noFill/>
        </p:spPr>
        <p:txBody>
          <a:bodyPr wrap="square" rtlCol="0">
            <a:spAutoFit/>
          </a:bodyPr>
          <a:lstStyle/>
          <a:p>
            <a:pPr algn="ctr"/>
            <a:r>
              <a:rPr lang="tr-TR" sz="1000" b="1" noProof="1">
                <a:cs typeface="Arial" panose="020B0604020202020204" pitchFamily="34" charset="0"/>
              </a:rPr>
              <a:t>x km</a:t>
            </a:r>
          </a:p>
        </p:txBody>
      </p:sp>
      <p:cxnSp>
        <p:nvCxnSpPr>
          <p:cNvPr id="80" name="Düz Ok Bağlayıcısı 79">
            <a:extLst>
              <a:ext uri="{FF2B5EF4-FFF2-40B4-BE49-F238E27FC236}">
                <a16:creationId xmlns:a16="http://schemas.microsoft.com/office/drawing/2014/main" id="{9E9B0AA6-5695-41DE-8A62-E24D61D0055C}"/>
              </a:ext>
            </a:extLst>
          </p:cNvPr>
          <p:cNvCxnSpPr/>
          <p:nvPr/>
        </p:nvCxnSpPr>
        <p:spPr>
          <a:xfrm>
            <a:off x="3903286" y="827584"/>
            <a:ext cx="292713" cy="0"/>
          </a:xfrm>
          <a:prstGeom prst="straightConnector1">
            <a:avLst/>
          </a:prstGeom>
          <a:ln>
            <a:solidFill>
              <a:srgbClr val="C00000"/>
            </a:solidFill>
            <a:tailEnd type="triangle"/>
          </a:ln>
        </p:spPr>
        <p:style>
          <a:lnRef idx="1">
            <a:schemeClr val="accent3"/>
          </a:lnRef>
          <a:fillRef idx="0">
            <a:schemeClr val="accent3"/>
          </a:fillRef>
          <a:effectRef idx="0">
            <a:schemeClr val="accent3"/>
          </a:effectRef>
          <a:fontRef idx="minor">
            <a:schemeClr val="tx1"/>
          </a:fontRef>
        </p:style>
      </p:cxnSp>
      <p:cxnSp>
        <p:nvCxnSpPr>
          <p:cNvPr id="81" name="Düz Ok Bağlayıcısı 80">
            <a:extLst>
              <a:ext uri="{FF2B5EF4-FFF2-40B4-BE49-F238E27FC236}">
                <a16:creationId xmlns:a16="http://schemas.microsoft.com/office/drawing/2014/main" id="{22300199-D821-4577-8E7F-C6211A8B39FA}"/>
              </a:ext>
            </a:extLst>
          </p:cNvPr>
          <p:cNvCxnSpPr/>
          <p:nvPr/>
        </p:nvCxnSpPr>
        <p:spPr>
          <a:xfrm>
            <a:off x="5154676" y="809460"/>
            <a:ext cx="292713" cy="0"/>
          </a:xfrm>
          <a:prstGeom prst="straightConnector1">
            <a:avLst/>
          </a:prstGeom>
          <a:ln>
            <a:solidFill>
              <a:srgbClr val="C00000"/>
            </a:solidFill>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82" name="Metin kutusu 81">
                <a:extLst>
                  <a:ext uri="{FF2B5EF4-FFF2-40B4-BE49-F238E27FC236}">
                    <a16:creationId xmlns:a16="http://schemas.microsoft.com/office/drawing/2014/main" id="{9F414BBB-57DB-4974-B9BB-E3FCD0A95AEF}"/>
                  </a:ext>
                </a:extLst>
              </p:cNvPr>
              <p:cNvSpPr txBox="1"/>
              <p:nvPr/>
            </p:nvSpPr>
            <p:spPr>
              <a:xfrm>
                <a:off x="3550087" y="1040812"/>
                <a:ext cx="3407303" cy="553998"/>
              </a:xfrm>
              <a:prstGeom prst="rect">
                <a:avLst/>
              </a:prstGeom>
              <a:noFill/>
            </p:spPr>
            <p:txBody>
              <a:bodyPr wrap="square" rtlCol="0">
                <a:spAutoFit/>
              </a:bodyPr>
              <a:lstStyle/>
              <a:p>
                <a:r>
                  <a:rPr lang="tr-TR" sz="1000" noProof="1">
                    <a:cs typeface="Arial" panose="020B0604020202020204" pitchFamily="34" charset="0"/>
                  </a:rPr>
                  <a:t>Araçlar ok yönünde doğrusal olararak gitmektedir. A ve B araçlarının saatteki hızları sabit sırasıyla 80 ve 40 dır. İki araç t sürede Y noktasına ulaştığına göre </a:t>
                </a:r>
                <a14:m>
                  <m:oMath xmlns:m="http://schemas.openxmlformats.org/officeDocument/2006/math">
                    <m:r>
                      <m:rPr>
                        <m:sty m:val="p"/>
                      </m:rPr>
                      <a:rPr lang="tr-TR" sz="1000" i="0" noProof="1" smtClean="0">
                        <a:latin typeface="Cambria Math" panose="02040503050406030204" pitchFamily="18" charset="0"/>
                        <a:cs typeface="Arial" panose="020B0604020202020204" pitchFamily="34" charset="0"/>
                      </a:rPr>
                      <m:t>x</m:t>
                    </m:r>
                  </m:oMath>
                </a14:m>
                <a:r>
                  <a:rPr lang="tr-TR" sz="1000" noProof="1">
                    <a:cs typeface="Arial" panose="020B0604020202020204" pitchFamily="34" charset="0"/>
                  </a:rPr>
                  <a:t> kaçtır?</a:t>
                </a:r>
              </a:p>
            </p:txBody>
          </p:sp>
        </mc:Choice>
        <mc:Fallback xmlns="">
          <p:sp>
            <p:nvSpPr>
              <p:cNvPr id="82" name="Metin kutusu 81">
                <a:extLst>
                  <a:ext uri="{FF2B5EF4-FFF2-40B4-BE49-F238E27FC236}">
                    <a16:creationId xmlns:a16="http://schemas.microsoft.com/office/drawing/2014/main" id="{9F414BBB-57DB-4974-B9BB-E3FCD0A95AEF}"/>
                  </a:ext>
                </a:extLst>
              </p:cNvPr>
              <p:cNvSpPr txBox="1">
                <a:spLocks noRot="1" noChangeAspect="1" noMove="1" noResize="1" noEditPoints="1" noAdjustHandles="1" noChangeArrowheads="1" noChangeShapeType="1" noTextEdit="1"/>
              </p:cNvSpPr>
              <p:nvPr/>
            </p:nvSpPr>
            <p:spPr>
              <a:xfrm>
                <a:off x="3550087" y="1040812"/>
                <a:ext cx="3407303" cy="553998"/>
              </a:xfrm>
              <a:prstGeom prst="rect">
                <a:avLst/>
              </a:prstGeom>
              <a:blipFill>
                <a:blip r:embed="rId16"/>
                <a:stretch>
                  <a:fillRect b="-5495"/>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3" name="Metin kutusu 82">
                <a:extLst>
                  <a:ext uri="{FF2B5EF4-FFF2-40B4-BE49-F238E27FC236}">
                    <a16:creationId xmlns:a16="http://schemas.microsoft.com/office/drawing/2014/main" id="{9F6098EB-40DC-4A3C-8709-162A9A115A45}"/>
                  </a:ext>
                </a:extLst>
              </p:cNvPr>
              <p:cNvSpPr txBox="1"/>
              <p:nvPr/>
            </p:nvSpPr>
            <p:spPr>
              <a:xfrm>
                <a:off x="4414178" y="2486755"/>
                <a:ext cx="2565241" cy="400110"/>
              </a:xfrm>
              <a:prstGeom prst="rect">
                <a:avLst/>
              </a:prstGeom>
              <a:noFill/>
            </p:spPr>
            <p:txBody>
              <a:bodyPr wrap="square" rtlCol="0">
                <a:spAutoFit/>
              </a:bodyPr>
              <a:lstStyle/>
              <a:p>
                <a:r>
                  <a:rPr lang="tr-TR" sz="1000" noProof="1">
                    <a:cs typeface="Arial" panose="020B0604020202020204" pitchFamily="34" charset="0"/>
                  </a:rPr>
                  <a:t>Yol = hız</a:t>
                </a:r>
                <a:r>
                  <a:rPr lang="tr-TR" sz="1000" dirty="0"/>
                  <a:t> </a:t>
                </a:r>
                <a14:m>
                  <m:oMath xmlns:m="http://schemas.openxmlformats.org/officeDocument/2006/math">
                    <m:r>
                      <a:rPr lang="tr-TR" sz="1000" i="0" smtClean="0">
                        <a:latin typeface="Cambria Math" panose="02040503050406030204" pitchFamily="18" charset="0"/>
                      </a:rPr>
                      <m:t>⋅</m:t>
                    </m:r>
                  </m:oMath>
                </a14:m>
                <a:r>
                  <a:rPr lang="tr-TR" sz="1000" noProof="1">
                    <a:cs typeface="Arial" panose="020B0604020202020204" pitchFamily="34" charset="0"/>
                  </a:rPr>
                  <a:t> Zaman formülünden faydalanalım.</a:t>
                </a:r>
              </a:p>
              <a:p>
                <a:r>
                  <a:rPr lang="tr-TR" sz="1000" noProof="1">
                    <a:cs typeface="Arial" panose="020B0604020202020204" pitchFamily="34" charset="0"/>
                  </a:rPr>
                  <a:t>Zaman ortaktır denklemde t diyelim.</a:t>
                </a:r>
              </a:p>
            </p:txBody>
          </p:sp>
        </mc:Choice>
        <mc:Fallback xmlns="">
          <p:sp>
            <p:nvSpPr>
              <p:cNvPr id="83" name="Metin kutusu 82">
                <a:extLst>
                  <a:ext uri="{FF2B5EF4-FFF2-40B4-BE49-F238E27FC236}">
                    <a16:creationId xmlns:a16="http://schemas.microsoft.com/office/drawing/2014/main" id="{9F6098EB-40DC-4A3C-8709-162A9A115A45}"/>
                  </a:ext>
                </a:extLst>
              </p:cNvPr>
              <p:cNvSpPr txBox="1">
                <a:spLocks noRot="1" noChangeAspect="1" noMove="1" noResize="1" noEditPoints="1" noAdjustHandles="1" noChangeArrowheads="1" noChangeShapeType="1" noTextEdit="1"/>
              </p:cNvSpPr>
              <p:nvPr/>
            </p:nvSpPr>
            <p:spPr>
              <a:xfrm>
                <a:off x="4414178" y="2486755"/>
                <a:ext cx="2565241" cy="400110"/>
              </a:xfrm>
              <a:prstGeom prst="rect">
                <a:avLst/>
              </a:prstGeom>
              <a:blipFill>
                <a:blip r:embed="rId17"/>
                <a:stretch>
                  <a:fillRect b="-757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1" name="Metin kutusu 30">
                <a:extLst>
                  <a:ext uri="{FF2B5EF4-FFF2-40B4-BE49-F238E27FC236}">
                    <a16:creationId xmlns:a16="http://schemas.microsoft.com/office/drawing/2014/main" id="{117A9653-85D8-4A43-A1EC-BA88A58544C4}"/>
                  </a:ext>
                </a:extLst>
              </p:cNvPr>
              <p:cNvSpPr txBox="1"/>
              <p:nvPr/>
            </p:nvSpPr>
            <p:spPr>
              <a:xfrm>
                <a:off x="3623212" y="2978916"/>
                <a:ext cx="1110817" cy="2850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tr-TR" sz="1000" i="1" smtClean="0">
                              <a:solidFill>
                                <a:srgbClr val="836967"/>
                              </a:solidFill>
                              <a:latin typeface="Cambria Math" panose="02040503050406030204" pitchFamily="18" charset="0"/>
                            </a:rPr>
                          </m:ctrlPr>
                        </m:fPr>
                        <m:num>
                          <m:r>
                            <m:rPr>
                              <m:nor/>
                            </m:rPr>
                            <a:rPr lang="tr-TR" sz="1000" b="0" i="0" smtClean="0"/>
                            <m:t>A</m:t>
                          </m:r>
                        </m:num>
                        <m:den>
                          <m:r>
                            <m:rPr>
                              <m:nor/>
                            </m:rPr>
                            <a:rPr lang="tr-TR" sz="1000" b="0" i="0" smtClean="0"/>
                            <m:t>B</m:t>
                          </m:r>
                        </m:den>
                      </m:f>
                      <m:r>
                        <a:rPr lang="tr-TR" sz="1000" b="0" i="0" smtClean="0">
                          <a:latin typeface="Cambria Math" panose="02040503050406030204" pitchFamily="18" charset="0"/>
                        </a:rPr>
                        <m:t>=     </m:t>
                      </m:r>
                      <m:f>
                        <m:fPr>
                          <m:ctrlPr>
                            <a:rPr lang="tr-TR" sz="1000" i="1" smtClean="0">
                              <a:solidFill>
                                <a:srgbClr val="836967"/>
                              </a:solidFill>
                              <a:latin typeface="Cambria Math" panose="02040503050406030204" pitchFamily="18" charset="0"/>
                            </a:rPr>
                          </m:ctrlPr>
                        </m:fPr>
                        <m:num>
                          <m:r>
                            <m:rPr>
                              <m:nor/>
                            </m:rPr>
                            <a:rPr lang="tr-TR" sz="1000" i="0" smtClean="0"/>
                            <m:t>80⋅</m:t>
                          </m:r>
                          <m:r>
                            <m:rPr>
                              <m:nor/>
                            </m:rPr>
                            <a:rPr lang="tr-TR" sz="1000" i="0" smtClean="0"/>
                            <m:t>t</m:t>
                          </m:r>
                        </m:num>
                        <m:den>
                          <m:r>
                            <m:rPr>
                              <m:nor/>
                            </m:rPr>
                            <a:rPr lang="tr-TR" sz="1000" i="0" smtClean="0"/>
                            <m:t>40⋅</m:t>
                          </m:r>
                          <m:r>
                            <m:rPr>
                              <m:nor/>
                            </m:rPr>
                            <a:rPr lang="tr-TR" sz="1000" i="0" smtClean="0"/>
                            <m:t>t</m:t>
                          </m:r>
                        </m:den>
                      </m:f>
                      <m:r>
                        <a:rPr lang="tr-TR" sz="1000" i="0" smtClean="0">
                          <a:latin typeface="Cambria Math" panose="02040503050406030204" pitchFamily="18" charset="0"/>
                        </a:rPr>
                        <m:t>=</m:t>
                      </m:r>
                      <m:f>
                        <m:fPr>
                          <m:ctrlPr>
                            <a:rPr lang="tr-TR" sz="1000" i="1" smtClean="0">
                              <a:solidFill>
                                <a:srgbClr val="836967"/>
                              </a:solidFill>
                              <a:latin typeface="Cambria Math" panose="02040503050406030204" pitchFamily="18" charset="0"/>
                            </a:rPr>
                          </m:ctrlPr>
                        </m:fPr>
                        <m:num>
                          <m:r>
                            <m:rPr>
                              <m:nor/>
                            </m:rPr>
                            <a:rPr lang="tr-TR" sz="1000" i="0" smtClean="0"/>
                            <m:t>280+</m:t>
                          </m:r>
                          <m:r>
                            <m:rPr>
                              <m:nor/>
                            </m:rPr>
                            <a:rPr lang="tr-TR" sz="1000" i="0" smtClean="0"/>
                            <m:t>x</m:t>
                          </m:r>
                        </m:num>
                        <m:den>
                          <m:r>
                            <m:rPr>
                              <m:nor/>
                            </m:rPr>
                            <a:rPr lang="tr-TR" sz="1000" i="0" smtClean="0"/>
                            <m:t>x</m:t>
                          </m:r>
                        </m:den>
                      </m:f>
                    </m:oMath>
                  </m:oMathPara>
                </a14:m>
                <a:endParaRPr lang="tr-TR" sz="1000" dirty="0"/>
              </a:p>
            </p:txBody>
          </p:sp>
        </mc:Choice>
        <mc:Fallback xmlns="">
          <p:sp>
            <p:nvSpPr>
              <p:cNvPr id="31" name="Metin kutusu 30">
                <a:extLst>
                  <a:ext uri="{FF2B5EF4-FFF2-40B4-BE49-F238E27FC236}">
                    <a16:creationId xmlns:a16="http://schemas.microsoft.com/office/drawing/2014/main" id="{117A9653-85D8-4A43-A1EC-BA88A58544C4}"/>
                  </a:ext>
                </a:extLst>
              </p:cNvPr>
              <p:cNvSpPr txBox="1">
                <a:spLocks noRot="1" noChangeAspect="1" noMove="1" noResize="1" noEditPoints="1" noAdjustHandles="1" noChangeArrowheads="1" noChangeShapeType="1" noTextEdit="1"/>
              </p:cNvSpPr>
              <p:nvPr/>
            </p:nvSpPr>
            <p:spPr>
              <a:xfrm>
                <a:off x="3623212" y="2978916"/>
                <a:ext cx="1110817" cy="285078"/>
              </a:xfrm>
              <a:prstGeom prst="rect">
                <a:avLst/>
              </a:prstGeom>
              <a:blipFill>
                <a:blip r:embed="rId18"/>
                <a:stretch>
                  <a:fillRect l="-2186" t="-2174" r="-1639" b="-15217"/>
                </a:stretch>
              </a:blipFill>
            </p:spPr>
            <p:txBody>
              <a:bodyPr/>
              <a:lstStyle/>
              <a:p>
                <a:r>
                  <a:rPr lang="tr-TR">
                    <a:noFill/>
                  </a:rPr>
                  <a:t> </a:t>
                </a:r>
              </a:p>
            </p:txBody>
          </p:sp>
        </mc:Fallback>
      </mc:AlternateContent>
      <p:cxnSp>
        <p:nvCxnSpPr>
          <p:cNvPr id="86" name="Düz Bağlayıcı 85">
            <a:extLst>
              <a:ext uri="{FF2B5EF4-FFF2-40B4-BE49-F238E27FC236}">
                <a16:creationId xmlns:a16="http://schemas.microsoft.com/office/drawing/2014/main" id="{48D49496-49F1-4EF3-A9B8-01A767A32F37}"/>
              </a:ext>
            </a:extLst>
          </p:cNvPr>
          <p:cNvCxnSpPr>
            <a:cxnSpLocks/>
          </p:cNvCxnSpPr>
          <p:nvPr/>
        </p:nvCxnSpPr>
        <p:spPr>
          <a:xfrm flipH="1">
            <a:off x="4023019" y="2973749"/>
            <a:ext cx="135830" cy="126214"/>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Düz Bağlayıcı 86">
            <a:extLst>
              <a:ext uri="{FF2B5EF4-FFF2-40B4-BE49-F238E27FC236}">
                <a16:creationId xmlns:a16="http://schemas.microsoft.com/office/drawing/2014/main" id="{625DE899-7A8A-4B48-A17C-3DB290BCE3D9}"/>
              </a:ext>
            </a:extLst>
          </p:cNvPr>
          <p:cNvCxnSpPr>
            <a:cxnSpLocks/>
          </p:cNvCxnSpPr>
          <p:nvPr/>
        </p:nvCxnSpPr>
        <p:spPr>
          <a:xfrm flipH="1">
            <a:off x="4023678" y="3164122"/>
            <a:ext cx="135830" cy="126214"/>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Düz Bağlayıcı 87">
            <a:extLst>
              <a:ext uri="{FF2B5EF4-FFF2-40B4-BE49-F238E27FC236}">
                <a16:creationId xmlns:a16="http://schemas.microsoft.com/office/drawing/2014/main" id="{CD03512E-C0BA-45ED-A48A-9B94C24667D5}"/>
              </a:ext>
            </a:extLst>
          </p:cNvPr>
          <p:cNvCxnSpPr>
            <a:cxnSpLocks/>
          </p:cNvCxnSpPr>
          <p:nvPr/>
        </p:nvCxnSpPr>
        <p:spPr>
          <a:xfrm flipH="1">
            <a:off x="4144211" y="2972068"/>
            <a:ext cx="135830" cy="126214"/>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Düz Bağlayıcı 88">
            <a:extLst>
              <a:ext uri="{FF2B5EF4-FFF2-40B4-BE49-F238E27FC236}">
                <a16:creationId xmlns:a16="http://schemas.microsoft.com/office/drawing/2014/main" id="{6AA39307-9720-44F7-AA1A-9C35EC5FC20C}"/>
              </a:ext>
            </a:extLst>
          </p:cNvPr>
          <p:cNvCxnSpPr>
            <a:cxnSpLocks/>
          </p:cNvCxnSpPr>
          <p:nvPr/>
        </p:nvCxnSpPr>
        <p:spPr>
          <a:xfrm flipH="1">
            <a:off x="4125078" y="3170236"/>
            <a:ext cx="135830" cy="126214"/>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90" name="Metin kutusu 89">
            <a:extLst>
              <a:ext uri="{FF2B5EF4-FFF2-40B4-BE49-F238E27FC236}">
                <a16:creationId xmlns:a16="http://schemas.microsoft.com/office/drawing/2014/main" id="{BD2D2F94-68F0-4CD9-AE52-009911F4EE27}"/>
              </a:ext>
            </a:extLst>
          </p:cNvPr>
          <p:cNvSpPr txBox="1"/>
          <p:nvPr/>
        </p:nvSpPr>
        <p:spPr>
          <a:xfrm>
            <a:off x="3898161" y="2867038"/>
            <a:ext cx="482879" cy="200055"/>
          </a:xfrm>
          <a:prstGeom prst="rect">
            <a:avLst/>
          </a:prstGeom>
          <a:noFill/>
        </p:spPr>
        <p:txBody>
          <a:bodyPr wrap="square" rtlCol="0">
            <a:spAutoFit/>
          </a:bodyPr>
          <a:lstStyle/>
          <a:p>
            <a:r>
              <a:rPr lang="tr-TR" sz="700" b="1" noProof="1">
                <a:solidFill>
                  <a:srgbClr val="0070C0"/>
                </a:solidFill>
                <a:cs typeface="Arial" panose="020B0604020202020204" pitchFamily="34" charset="0"/>
              </a:rPr>
              <a:t>2</a:t>
            </a:r>
          </a:p>
        </p:txBody>
      </p:sp>
      <p:sp>
        <p:nvSpPr>
          <p:cNvPr id="91" name="Metin kutusu 90">
            <a:extLst>
              <a:ext uri="{FF2B5EF4-FFF2-40B4-BE49-F238E27FC236}">
                <a16:creationId xmlns:a16="http://schemas.microsoft.com/office/drawing/2014/main" id="{10DEF308-5B8F-4114-AB99-28C7182FB831}"/>
              </a:ext>
            </a:extLst>
          </p:cNvPr>
          <p:cNvSpPr txBox="1"/>
          <p:nvPr/>
        </p:nvSpPr>
        <p:spPr>
          <a:xfrm>
            <a:off x="4789064" y="2915320"/>
            <a:ext cx="2018929" cy="246221"/>
          </a:xfrm>
          <a:prstGeom prst="rect">
            <a:avLst/>
          </a:prstGeom>
          <a:noFill/>
        </p:spPr>
        <p:txBody>
          <a:bodyPr wrap="square" rtlCol="0">
            <a:spAutoFit/>
          </a:bodyPr>
          <a:lstStyle/>
          <a:p>
            <a:r>
              <a:rPr lang="tr-TR" sz="1000" b="1" noProof="1">
                <a:cs typeface="Arial" panose="020B0604020202020204" pitchFamily="34" charset="0"/>
              </a:rPr>
              <a:t>2x = 280 + x  ise   x= 280 bulunur.</a:t>
            </a:r>
          </a:p>
        </p:txBody>
      </p:sp>
      <p:sp>
        <p:nvSpPr>
          <p:cNvPr id="92" name="Metin kutusu 91">
            <a:extLst>
              <a:ext uri="{FF2B5EF4-FFF2-40B4-BE49-F238E27FC236}">
                <a16:creationId xmlns:a16="http://schemas.microsoft.com/office/drawing/2014/main" id="{253D8CF4-BB53-406B-B874-0A6BC6CE7B7D}"/>
              </a:ext>
            </a:extLst>
          </p:cNvPr>
          <p:cNvSpPr txBox="1"/>
          <p:nvPr/>
        </p:nvSpPr>
        <p:spPr>
          <a:xfrm>
            <a:off x="3524926" y="3307690"/>
            <a:ext cx="3274057" cy="553998"/>
          </a:xfrm>
          <a:prstGeom prst="rect">
            <a:avLst/>
          </a:prstGeom>
          <a:noFill/>
        </p:spPr>
        <p:txBody>
          <a:bodyPr wrap="square" rtlCol="0">
            <a:spAutoFit/>
          </a:bodyPr>
          <a:lstStyle/>
          <a:p>
            <a:r>
              <a:rPr lang="tr-TR" sz="1000" noProof="1">
                <a:cs typeface="Arial" panose="020B0604020202020204" pitchFamily="34" charset="0"/>
              </a:rPr>
              <a:t>A aracı toplamda 280 + x yol gitmiştir. B aracı ise sadece Y tabelasına uzaklığı kadar olan x yolunu gitmiştir. İçler dışlar yaparak x=280 olarak buluyoruz.</a:t>
            </a:r>
          </a:p>
        </p:txBody>
      </p:sp>
      <p:sp>
        <p:nvSpPr>
          <p:cNvPr id="93" name="Metin kutusu 92">
            <a:extLst>
              <a:ext uri="{FF2B5EF4-FFF2-40B4-BE49-F238E27FC236}">
                <a16:creationId xmlns:a16="http://schemas.microsoft.com/office/drawing/2014/main" id="{CC359BE8-5B11-4225-8196-16A2C55C4746}"/>
              </a:ext>
            </a:extLst>
          </p:cNvPr>
          <p:cNvSpPr txBox="1"/>
          <p:nvPr/>
        </p:nvSpPr>
        <p:spPr>
          <a:xfrm>
            <a:off x="3338180" y="784085"/>
            <a:ext cx="939149" cy="246221"/>
          </a:xfrm>
          <a:prstGeom prst="rect">
            <a:avLst/>
          </a:prstGeom>
          <a:noFill/>
        </p:spPr>
        <p:txBody>
          <a:bodyPr wrap="square" rtlCol="0">
            <a:spAutoFit/>
          </a:bodyPr>
          <a:lstStyle/>
          <a:p>
            <a:pPr algn="ctr"/>
            <a:r>
              <a:rPr lang="tr-TR" sz="1000" b="1" noProof="1">
                <a:solidFill>
                  <a:schemeClr val="bg1"/>
                </a:solidFill>
                <a:cs typeface="Arial" panose="020B0604020202020204" pitchFamily="34" charset="0"/>
              </a:rPr>
              <a:t>A</a:t>
            </a:r>
          </a:p>
        </p:txBody>
      </p:sp>
      <p:sp>
        <p:nvSpPr>
          <p:cNvPr id="94" name="Metin kutusu 93">
            <a:extLst>
              <a:ext uri="{FF2B5EF4-FFF2-40B4-BE49-F238E27FC236}">
                <a16:creationId xmlns:a16="http://schemas.microsoft.com/office/drawing/2014/main" id="{5551D40B-087C-4D42-A0C3-4DCFCE8E3680}"/>
              </a:ext>
            </a:extLst>
          </p:cNvPr>
          <p:cNvSpPr txBox="1"/>
          <p:nvPr/>
        </p:nvSpPr>
        <p:spPr>
          <a:xfrm>
            <a:off x="4831457" y="807590"/>
            <a:ext cx="939149" cy="246221"/>
          </a:xfrm>
          <a:prstGeom prst="rect">
            <a:avLst/>
          </a:prstGeom>
          <a:noFill/>
        </p:spPr>
        <p:txBody>
          <a:bodyPr wrap="square" rtlCol="0">
            <a:spAutoFit/>
          </a:bodyPr>
          <a:lstStyle/>
          <a:p>
            <a:pPr algn="ctr"/>
            <a:r>
              <a:rPr lang="tr-TR" sz="1000" b="1" noProof="1">
                <a:solidFill>
                  <a:schemeClr val="bg1"/>
                </a:solidFill>
                <a:cs typeface="Arial" panose="020B0604020202020204" pitchFamily="34" charset="0"/>
              </a:rPr>
              <a:t>B</a:t>
            </a:r>
          </a:p>
        </p:txBody>
      </p:sp>
      <p:sp>
        <p:nvSpPr>
          <p:cNvPr id="95" name="Akış Çizelgesi: Depolanmış Veri 94">
            <a:extLst>
              <a:ext uri="{FF2B5EF4-FFF2-40B4-BE49-F238E27FC236}">
                <a16:creationId xmlns:a16="http://schemas.microsoft.com/office/drawing/2014/main" id="{5AD97314-C5F8-44F7-AE7F-B71625341889}"/>
              </a:ext>
            </a:extLst>
          </p:cNvPr>
          <p:cNvSpPr/>
          <p:nvPr/>
        </p:nvSpPr>
        <p:spPr>
          <a:xfrm rot="10800000">
            <a:off x="3767510" y="3898785"/>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96" name="Metin kutusu 95">
            <a:extLst>
              <a:ext uri="{FF2B5EF4-FFF2-40B4-BE49-F238E27FC236}">
                <a16:creationId xmlns:a16="http://schemas.microsoft.com/office/drawing/2014/main" id="{C0C2A0B3-A8D9-4124-AB3E-50F905C2487D}"/>
              </a:ext>
            </a:extLst>
          </p:cNvPr>
          <p:cNvSpPr txBox="1"/>
          <p:nvPr/>
        </p:nvSpPr>
        <p:spPr>
          <a:xfrm>
            <a:off x="3809191" y="3917336"/>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97" name="Oval 96">
            <a:extLst>
              <a:ext uri="{FF2B5EF4-FFF2-40B4-BE49-F238E27FC236}">
                <a16:creationId xmlns:a16="http://schemas.microsoft.com/office/drawing/2014/main" id="{53F69EC8-87CD-472E-BCA6-031FC72156F4}"/>
              </a:ext>
            </a:extLst>
          </p:cNvPr>
          <p:cNvSpPr/>
          <p:nvPr/>
        </p:nvSpPr>
        <p:spPr>
          <a:xfrm>
            <a:off x="3617916" y="3898785"/>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98" name="Metin kutusu 97">
            <a:extLst>
              <a:ext uri="{FF2B5EF4-FFF2-40B4-BE49-F238E27FC236}">
                <a16:creationId xmlns:a16="http://schemas.microsoft.com/office/drawing/2014/main" id="{FE3BB600-A722-4C15-85EA-485024977D00}"/>
              </a:ext>
            </a:extLst>
          </p:cNvPr>
          <p:cNvSpPr txBox="1"/>
          <p:nvPr/>
        </p:nvSpPr>
        <p:spPr>
          <a:xfrm>
            <a:off x="3479410" y="390693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100" name="Metin kutusu 99">
            <a:extLst>
              <a:ext uri="{FF2B5EF4-FFF2-40B4-BE49-F238E27FC236}">
                <a16:creationId xmlns:a16="http://schemas.microsoft.com/office/drawing/2014/main" id="{816EEEF0-C79E-4AD0-AE9E-29E9721AA95D}"/>
              </a:ext>
            </a:extLst>
          </p:cNvPr>
          <p:cNvSpPr txBox="1"/>
          <p:nvPr/>
        </p:nvSpPr>
        <p:spPr>
          <a:xfrm>
            <a:off x="4331265" y="3842791"/>
            <a:ext cx="2513780" cy="400110"/>
          </a:xfrm>
          <a:prstGeom prst="rect">
            <a:avLst/>
          </a:prstGeom>
          <a:noFill/>
        </p:spPr>
        <p:txBody>
          <a:bodyPr wrap="square" rtlCol="0">
            <a:spAutoFit/>
          </a:bodyPr>
          <a:lstStyle/>
          <a:p>
            <a:r>
              <a:rPr lang="tr-TR" sz="1000" noProof="1">
                <a:cs typeface="Arial" panose="020B0604020202020204" pitchFamily="34" charset="0"/>
              </a:rPr>
              <a:t>Akıntı hızının sabit 10 km olan bir nehirde</a:t>
            </a:r>
          </a:p>
          <a:p>
            <a:r>
              <a:rPr lang="tr-TR" sz="1000" noProof="1">
                <a:cs typeface="Arial" panose="020B0604020202020204" pitchFamily="34" charset="0"/>
              </a:rPr>
              <a:t>akıntı </a:t>
            </a:r>
            <a:r>
              <a:rPr lang="tr-TR" sz="1000" b="1" noProof="1">
                <a:cs typeface="Arial" panose="020B0604020202020204" pitchFamily="34" charset="0"/>
              </a:rPr>
              <a:t>ok</a:t>
            </a:r>
            <a:r>
              <a:rPr lang="tr-TR" sz="1000" noProof="1">
                <a:cs typeface="Arial" panose="020B0604020202020204" pitchFamily="34" charset="0"/>
              </a:rPr>
              <a:t> yönündedir.  </a:t>
            </a:r>
          </a:p>
        </p:txBody>
      </p:sp>
      <p:pic>
        <p:nvPicPr>
          <p:cNvPr id="41" name="Grafik 40">
            <a:extLst>
              <a:ext uri="{FF2B5EF4-FFF2-40B4-BE49-F238E27FC236}">
                <a16:creationId xmlns:a16="http://schemas.microsoft.com/office/drawing/2014/main" id="{261C0652-A8ED-4AAB-B95D-C811C054BD98}"/>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468101" y="4552727"/>
            <a:ext cx="477907" cy="477907"/>
          </a:xfrm>
          <a:prstGeom prst="rect">
            <a:avLst/>
          </a:prstGeom>
        </p:spPr>
      </p:pic>
      <p:pic>
        <p:nvPicPr>
          <p:cNvPr id="102" name="Grafik 101">
            <a:extLst>
              <a:ext uri="{FF2B5EF4-FFF2-40B4-BE49-F238E27FC236}">
                <a16:creationId xmlns:a16="http://schemas.microsoft.com/office/drawing/2014/main" id="{17FA7350-80EC-4132-80AD-B6CA95769BBF}"/>
              </a:ext>
            </a:extLst>
          </p:cNvPr>
          <p:cNvPicPr>
            <a:picLocks noChangeAspect="1"/>
          </p:cNvPicPr>
          <p:nvPr/>
        </p:nvPicPr>
        <p:blipFill>
          <a:blip r:embed="rId21" cstate="print">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677884" y="4569955"/>
            <a:ext cx="560763" cy="560763"/>
          </a:xfrm>
          <a:prstGeom prst="rect">
            <a:avLst/>
          </a:prstGeom>
        </p:spPr>
      </p:pic>
      <p:cxnSp>
        <p:nvCxnSpPr>
          <p:cNvPr id="7" name="Düz Ok Bağlayıcısı 6">
            <a:extLst>
              <a:ext uri="{FF2B5EF4-FFF2-40B4-BE49-F238E27FC236}">
                <a16:creationId xmlns:a16="http://schemas.microsoft.com/office/drawing/2014/main" id="{AFEF3344-03CB-4428-9770-18763C18BDDA}"/>
              </a:ext>
            </a:extLst>
          </p:cNvPr>
          <p:cNvCxnSpPr>
            <a:cxnSpLocks/>
          </p:cNvCxnSpPr>
          <p:nvPr/>
        </p:nvCxnSpPr>
        <p:spPr>
          <a:xfrm>
            <a:off x="5576268" y="4112138"/>
            <a:ext cx="7734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Düz Ok Bağlayıcısı 9">
            <a:extLst>
              <a:ext uri="{FF2B5EF4-FFF2-40B4-BE49-F238E27FC236}">
                <a16:creationId xmlns:a16="http://schemas.microsoft.com/office/drawing/2014/main" id="{686450BD-A396-494D-80D6-34777004B3B7}"/>
              </a:ext>
            </a:extLst>
          </p:cNvPr>
          <p:cNvCxnSpPr/>
          <p:nvPr/>
        </p:nvCxnSpPr>
        <p:spPr>
          <a:xfrm flipH="1">
            <a:off x="5488309" y="4496811"/>
            <a:ext cx="474708" cy="0"/>
          </a:xfrm>
          <a:prstGeom prst="straightConnector1">
            <a:avLst/>
          </a:prstGeom>
          <a:ln>
            <a:solidFill>
              <a:srgbClr val="7030A0"/>
            </a:solidFill>
            <a:tailEnd type="triangle"/>
          </a:ln>
        </p:spPr>
        <p:style>
          <a:lnRef idx="1">
            <a:schemeClr val="accent6"/>
          </a:lnRef>
          <a:fillRef idx="0">
            <a:schemeClr val="accent6"/>
          </a:fillRef>
          <a:effectRef idx="0">
            <a:schemeClr val="accent6"/>
          </a:effectRef>
          <a:fontRef idx="minor">
            <a:schemeClr val="tx1"/>
          </a:fontRef>
        </p:style>
      </p:cxnSp>
      <p:cxnSp>
        <p:nvCxnSpPr>
          <p:cNvPr id="101" name="Düz Ok Bağlayıcısı 100">
            <a:extLst>
              <a:ext uri="{FF2B5EF4-FFF2-40B4-BE49-F238E27FC236}">
                <a16:creationId xmlns:a16="http://schemas.microsoft.com/office/drawing/2014/main" id="{63B5D13F-3AFC-41ED-9D99-44C08CCA4A8B}"/>
              </a:ext>
            </a:extLst>
          </p:cNvPr>
          <p:cNvCxnSpPr>
            <a:cxnSpLocks/>
          </p:cNvCxnSpPr>
          <p:nvPr/>
        </p:nvCxnSpPr>
        <p:spPr>
          <a:xfrm>
            <a:off x="3774432" y="4424180"/>
            <a:ext cx="327528" cy="0"/>
          </a:xfrm>
          <a:prstGeom prst="straightConnector1">
            <a:avLst/>
          </a:prstGeom>
          <a:ln>
            <a:solidFill>
              <a:srgbClr val="7030A0"/>
            </a:solidFill>
            <a:tailEnd type="triangle"/>
          </a:ln>
        </p:spPr>
        <p:style>
          <a:lnRef idx="1">
            <a:schemeClr val="accent6"/>
          </a:lnRef>
          <a:fillRef idx="0">
            <a:schemeClr val="accent6"/>
          </a:fillRef>
          <a:effectRef idx="0">
            <a:schemeClr val="accent6"/>
          </a:effectRef>
          <a:fontRef idx="minor">
            <a:schemeClr val="tx1"/>
          </a:fontRef>
        </p:style>
      </p:cxnSp>
      <p:sp>
        <p:nvSpPr>
          <p:cNvPr id="103" name="Metin kutusu 102">
            <a:extLst>
              <a:ext uri="{FF2B5EF4-FFF2-40B4-BE49-F238E27FC236}">
                <a16:creationId xmlns:a16="http://schemas.microsoft.com/office/drawing/2014/main" id="{9214C346-DC00-4CAA-8BBF-B900207615BE}"/>
              </a:ext>
            </a:extLst>
          </p:cNvPr>
          <p:cNvSpPr txBox="1"/>
          <p:nvPr/>
        </p:nvSpPr>
        <p:spPr>
          <a:xfrm>
            <a:off x="3584009" y="4471389"/>
            <a:ext cx="817349" cy="246221"/>
          </a:xfrm>
          <a:prstGeom prst="rect">
            <a:avLst/>
          </a:prstGeom>
          <a:noFill/>
        </p:spPr>
        <p:txBody>
          <a:bodyPr wrap="square" rtlCol="0">
            <a:spAutoFit/>
          </a:bodyPr>
          <a:lstStyle/>
          <a:p>
            <a:r>
              <a:rPr lang="tr-TR" sz="1000" noProof="1">
                <a:cs typeface="Arial" panose="020B0604020202020204" pitchFamily="34" charset="0"/>
              </a:rPr>
              <a:t>50 km/saat</a:t>
            </a:r>
          </a:p>
        </p:txBody>
      </p:sp>
      <p:sp>
        <p:nvSpPr>
          <p:cNvPr id="104" name="Metin kutusu 103">
            <a:extLst>
              <a:ext uri="{FF2B5EF4-FFF2-40B4-BE49-F238E27FC236}">
                <a16:creationId xmlns:a16="http://schemas.microsoft.com/office/drawing/2014/main" id="{4C6EE46D-A685-48F6-ABA7-EF7F3CDDBD45}"/>
              </a:ext>
            </a:extLst>
          </p:cNvPr>
          <p:cNvSpPr txBox="1"/>
          <p:nvPr/>
        </p:nvSpPr>
        <p:spPr>
          <a:xfrm>
            <a:off x="3780694" y="4221661"/>
            <a:ext cx="817349" cy="246221"/>
          </a:xfrm>
          <a:prstGeom prst="rect">
            <a:avLst/>
          </a:prstGeom>
          <a:noFill/>
        </p:spPr>
        <p:txBody>
          <a:bodyPr wrap="square" rtlCol="0">
            <a:spAutoFit/>
          </a:bodyPr>
          <a:lstStyle/>
          <a:p>
            <a:r>
              <a:rPr lang="tr-TR" sz="1000" noProof="1">
                <a:cs typeface="Arial" panose="020B0604020202020204" pitchFamily="34" charset="0"/>
              </a:rPr>
              <a:t>A</a:t>
            </a:r>
          </a:p>
        </p:txBody>
      </p:sp>
      <p:sp>
        <p:nvSpPr>
          <p:cNvPr id="105" name="Metin kutusu 104">
            <a:extLst>
              <a:ext uri="{FF2B5EF4-FFF2-40B4-BE49-F238E27FC236}">
                <a16:creationId xmlns:a16="http://schemas.microsoft.com/office/drawing/2014/main" id="{6C9A0BEE-48ED-4BE8-B4A8-D8510CF47343}"/>
              </a:ext>
            </a:extLst>
          </p:cNvPr>
          <p:cNvSpPr txBox="1"/>
          <p:nvPr/>
        </p:nvSpPr>
        <p:spPr>
          <a:xfrm>
            <a:off x="5432388" y="4255467"/>
            <a:ext cx="817349" cy="246221"/>
          </a:xfrm>
          <a:prstGeom prst="rect">
            <a:avLst/>
          </a:prstGeom>
          <a:noFill/>
        </p:spPr>
        <p:txBody>
          <a:bodyPr wrap="square" rtlCol="0">
            <a:spAutoFit/>
          </a:bodyPr>
          <a:lstStyle/>
          <a:p>
            <a:r>
              <a:rPr lang="tr-TR" sz="1000" noProof="1">
                <a:cs typeface="Arial" panose="020B0604020202020204" pitchFamily="34" charset="0"/>
              </a:rPr>
              <a:t>40 km/saat</a:t>
            </a:r>
          </a:p>
        </p:txBody>
      </p:sp>
      <p:sp>
        <p:nvSpPr>
          <p:cNvPr id="106" name="Metin kutusu 105">
            <a:extLst>
              <a:ext uri="{FF2B5EF4-FFF2-40B4-BE49-F238E27FC236}">
                <a16:creationId xmlns:a16="http://schemas.microsoft.com/office/drawing/2014/main" id="{ED1D8CCE-7EB4-4F80-8235-203E69A86BB3}"/>
              </a:ext>
            </a:extLst>
          </p:cNvPr>
          <p:cNvSpPr txBox="1"/>
          <p:nvPr/>
        </p:nvSpPr>
        <p:spPr>
          <a:xfrm>
            <a:off x="5642751" y="4626192"/>
            <a:ext cx="817349" cy="246221"/>
          </a:xfrm>
          <a:prstGeom prst="rect">
            <a:avLst/>
          </a:prstGeom>
          <a:noFill/>
        </p:spPr>
        <p:txBody>
          <a:bodyPr wrap="square" rtlCol="0">
            <a:spAutoFit/>
          </a:bodyPr>
          <a:lstStyle/>
          <a:p>
            <a:r>
              <a:rPr lang="tr-TR" sz="1000" noProof="1">
                <a:cs typeface="Arial" panose="020B0604020202020204" pitchFamily="34" charset="0"/>
              </a:rPr>
              <a:t>B</a:t>
            </a:r>
          </a:p>
        </p:txBody>
      </p:sp>
      <p:sp>
        <p:nvSpPr>
          <p:cNvPr id="17" name="Sağ Ayraç 16">
            <a:extLst>
              <a:ext uri="{FF2B5EF4-FFF2-40B4-BE49-F238E27FC236}">
                <a16:creationId xmlns:a16="http://schemas.microsoft.com/office/drawing/2014/main" id="{CF915E1A-87C7-48CA-89BD-CFC37A891577}"/>
              </a:ext>
            </a:extLst>
          </p:cNvPr>
          <p:cNvSpPr/>
          <p:nvPr/>
        </p:nvSpPr>
        <p:spPr>
          <a:xfrm rot="5400000">
            <a:off x="4814703" y="4391119"/>
            <a:ext cx="87509" cy="1161745"/>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sp>
        <p:nvSpPr>
          <p:cNvPr id="107" name="Sağ Ayraç 106">
            <a:extLst>
              <a:ext uri="{FF2B5EF4-FFF2-40B4-BE49-F238E27FC236}">
                <a16:creationId xmlns:a16="http://schemas.microsoft.com/office/drawing/2014/main" id="{E91CCF60-2264-4228-8E0B-9C5C9AC1D939}"/>
              </a:ext>
            </a:extLst>
          </p:cNvPr>
          <p:cNvSpPr/>
          <p:nvPr/>
        </p:nvSpPr>
        <p:spPr>
          <a:xfrm rot="5400000">
            <a:off x="6324152" y="4611964"/>
            <a:ext cx="75242" cy="743074"/>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sp>
        <p:nvSpPr>
          <p:cNvPr id="108" name="Metin kutusu 107">
            <a:extLst>
              <a:ext uri="{FF2B5EF4-FFF2-40B4-BE49-F238E27FC236}">
                <a16:creationId xmlns:a16="http://schemas.microsoft.com/office/drawing/2014/main" id="{ADE49107-EBCD-47F8-A619-128606BD0287}"/>
              </a:ext>
            </a:extLst>
          </p:cNvPr>
          <p:cNvSpPr txBox="1"/>
          <p:nvPr/>
        </p:nvSpPr>
        <p:spPr>
          <a:xfrm>
            <a:off x="4598043" y="4737762"/>
            <a:ext cx="817349" cy="246221"/>
          </a:xfrm>
          <a:prstGeom prst="rect">
            <a:avLst/>
          </a:prstGeom>
          <a:noFill/>
        </p:spPr>
        <p:txBody>
          <a:bodyPr wrap="square" rtlCol="0">
            <a:spAutoFit/>
          </a:bodyPr>
          <a:lstStyle/>
          <a:p>
            <a:r>
              <a:rPr lang="tr-TR" sz="1000" noProof="1">
                <a:cs typeface="Arial" panose="020B0604020202020204" pitchFamily="34" charset="0"/>
              </a:rPr>
              <a:t>x km</a:t>
            </a:r>
          </a:p>
        </p:txBody>
      </p:sp>
      <p:sp>
        <p:nvSpPr>
          <p:cNvPr id="109" name="Metin kutusu 108">
            <a:extLst>
              <a:ext uri="{FF2B5EF4-FFF2-40B4-BE49-F238E27FC236}">
                <a16:creationId xmlns:a16="http://schemas.microsoft.com/office/drawing/2014/main" id="{5F45CAA0-F114-42D4-9646-EAC1A0288DC9}"/>
              </a:ext>
            </a:extLst>
          </p:cNvPr>
          <p:cNvSpPr txBox="1"/>
          <p:nvPr/>
        </p:nvSpPr>
        <p:spPr>
          <a:xfrm>
            <a:off x="6041577" y="4753122"/>
            <a:ext cx="817349" cy="246221"/>
          </a:xfrm>
          <a:prstGeom prst="rect">
            <a:avLst/>
          </a:prstGeom>
          <a:noFill/>
        </p:spPr>
        <p:txBody>
          <a:bodyPr wrap="square" rtlCol="0">
            <a:spAutoFit/>
          </a:bodyPr>
          <a:lstStyle/>
          <a:p>
            <a:r>
              <a:rPr lang="tr-TR" sz="1000" noProof="1">
                <a:cs typeface="Arial" panose="020B0604020202020204" pitchFamily="34" charset="0"/>
              </a:rPr>
              <a:t>(x-160) km</a:t>
            </a:r>
          </a:p>
        </p:txBody>
      </p:sp>
      <p:sp>
        <p:nvSpPr>
          <p:cNvPr id="110" name="Metin kutusu 109">
            <a:extLst>
              <a:ext uri="{FF2B5EF4-FFF2-40B4-BE49-F238E27FC236}">
                <a16:creationId xmlns:a16="http://schemas.microsoft.com/office/drawing/2014/main" id="{5790A779-39FD-4B28-B6DB-7034487649A3}"/>
              </a:ext>
            </a:extLst>
          </p:cNvPr>
          <p:cNvSpPr txBox="1"/>
          <p:nvPr/>
        </p:nvSpPr>
        <p:spPr>
          <a:xfrm>
            <a:off x="3582474" y="4992701"/>
            <a:ext cx="3346677" cy="861774"/>
          </a:xfrm>
          <a:prstGeom prst="rect">
            <a:avLst/>
          </a:prstGeom>
          <a:noFill/>
        </p:spPr>
        <p:txBody>
          <a:bodyPr wrap="square" rtlCol="0">
            <a:spAutoFit/>
          </a:bodyPr>
          <a:lstStyle/>
          <a:p>
            <a:r>
              <a:rPr lang="tr-TR" sz="1000" noProof="1">
                <a:cs typeface="Arial" panose="020B0604020202020204" pitchFamily="34" charset="0"/>
              </a:rPr>
              <a:t>A ve B araçlarının sabit hızlarla gittikleri yönler ok ile gösterilmiştir. A ve B araçları hiç ara vermeden rotaları doğrultusunda ilerlerdiklerinde 4t sürede karşılaşmaktadırlar. Bu sürede B aracı gittiği yönün tersine gitmiş olsaydı (x-160) km yolu katetmiş olacaktı. </a:t>
            </a:r>
            <a:r>
              <a:rPr lang="tr-TR" sz="1000" b="1" noProof="1">
                <a:cs typeface="Arial" panose="020B0604020202020204" pitchFamily="34" charset="0"/>
              </a:rPr>
              <a:t>Buna göre x+4t kaçtır?</a:t>
            </a:r>
          </a:p>
        </p:txBody>
      </p:sp>
      <p:sp>
        <p:nvSpPr>
          <p:cNvPr id="111" name="Metin kutusu 110">
            <a:extLst>
              <a:ext uri="{FF2B5EF4-FFF2-40B4-BE49-F238E27FC236}">
                <a16:creationId xmlns:a16="http://schemas.microsoft.com/office/drawing/2014/main" id="{FCA75B49-C73D-4A37-8D40-DBBF6889369C}"/>
              </a:ext>
            </a:extLst>
          </p:cNvPr>
          <p:cNvSpPr txBox="1"/>
          <p:nvPr/>
        </p:nvSpPr>
        <p:spPr>
          <a:xfrm>
            <a:off x="4412343" y="6953966"/>
            <a:ext cx="2373481" cy="400110"/>
          </a:xfrm>
          <a:prstGeom prst="rect">
            <a:avLst/>
          </a:prstGeom>
          <a:noFill/>
        </p:spPr>
        <p:txBody>
          <a:bodyPr wrap="square" rtlCol="0">
            <a:spAutoFit/>
          </a:bodyPr>
          <a:lstStyle/>
          <a:p>
            <a:r>
              <a:rPr lang="tr-TR" sz="1000" noProof="1">
                <a:cs typeface="Arial" panose="020B0604020202020204" pitchFamily="34" charset="0"/>
              </a:rPr>
              <a:t>Aradaki x km yolu birbirlerine ilerledikleri için hızları toplanacaktır. Akıntı 10 km hız.</a:t>
            </a:r>
            <a:endParaRPr lang="tr-TR" sz="10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112" name="Metin kutusu 111">
                <a:extLst>
                  <a:ext uri="{FF2B5EF4-FFF2-40B4-BE49-F238E27FC236}">
                    <a16:creationId xmlns:a16="http://schemas.microsoft.com/office/drawing/2014/main" id="{A1F1EA8E-F9AF-4CE1-870A-32EE30CDEA0D}"/>
                  </a:ext>
                </a:extLst>
              </p:cNvPr>
              <p:cNvSpPr txBox="1"/>
              <p:nvPr/>
            </p:nvSpPr>
            <p:spPr>
              <a:xfrm>
                <a:off x="3539263" y="7283335"/>
                <a:ext cx="3313384" cy="1477328"/>
              </a:xfrm>
              <a:prstGeom prst="rect">
                <a:avLst/>
              </a:prstGeom>
              <a:noFill/>
            </p:spPr>
            <p:txBody>
              <a:bodyPr wrap="square" rtlCol="0">
                <a:spAutoFit/>
              </a:bodyPr>
              <a:lstStyle/>
              <a:p>
                <a:r>
                  <a:rPr lang="tr-TR" sz="1000" noProof="1">
                    <a:cs typeface="Arial" panose="020B0604020202020204" pitchFamily="34" charset="0"/>
                  </a:rPr>
                  <a:t>A aracı akıntı yönünde ilerlediği için 50+10 km hızla, B aracı</a:t>
                </a:r>
              </a:p>
              <a:p>
                <a:r>
                  <a:rPr lang="tr-TR" sz="1000" noProof="1">
                    <a:cs typeface="Arial" panose="020B0604020202020204" pitchFamily="34" charset="0"/>
                  </a:rPr>
                  <a:t>akıntı tersi yönünde ilerlediği için 40-10 km hızla gidecektir. </a:t>
                </a:r>
                <a:r>
                  <a:rPr lang="tr-TR" sz="1000" b="1" noProof="1">
                    <a:cs typeface="Arial" panose="020B0604020202020204" pitchFamily="34" charset="0"/>
                  </a:rPr>
                  <a:t>Yol= hız</a:t>
                </a:r>
                <a:r>
                  <a:rPr lang="tr-TR" sz="1000" b="1" dirty="0"/>
                  <a:t> </a:t>
                </a:r>
                <a14:m>
                  <m:oMath xmlns:m="http://schemas.openxmlformats.org/officeDocument/2006/math">
                    <m:r>
                      <a:rPr lang="tr-TR" sz="1000" b="1">
                        <a:latin typeface="Cambria Math" panose="02040503050406030204" pitchFamily="18" charset="0"/>
                      </a:rPr>
                      <m:t>⋅</m:t>
                    </m:r>
                    <m:r>
                      <a:rPr lang="tr-TR" sz="1000" b="1" i="1">
                        <a:latin typeface="Cambria Math" panose="02040503050406030204" pitchFamily="18" charset="0"/>
                      </a:rPr>
                      <m:t> </m:t>
                    </m:r>
                  </m:oMath>
                </a14:m>
                <a:r>
                  <a:rPr lang="tr-TR" sz="1000" b="1" noProof="1">
                    <a:cs typeface="Arial" panose="020B0604020202020204" pitchFamily="34" charset="0"/>
                  </a:rPr>
                  <a:t>zaman </a:t>
                </a:r>
                <a:r>
                  <a:rPr lang="tr-TR" sz="1000" noProof="1">
                    <a:cs typeface="Arial" panose="020B0604020202020204" pitchFamily="34" charset="0"/>
                  </a:rPr>
                  <a:t>uygulayalım.  x= 90 </a:t>
                </a:r>
                <a14:m>
                  <m:oMath xmlns:m="http://schemas.openxmlformats.org/officeDocument/2006/math">
                    <m:r>
                      <a:rPr lang="tr-TR" sz="1000" i="0" smtClean="0">
                        <a:latin typeface="Cambria Math" panose="02040503050406030204" pitchFamily="18" charset="0"/>
                      </a:rPr>
                      <m:t>⋅</m:t>
                    </m:r>
                  </m:oMath>
                </a14:m>
                <a:r>
                  <a:rPr lang="tr-TR" sz="1000" noProof="1">
                    <a:cs typeface="Arial" panose="020B0604020202020204" pitchFamily="34" charset="0"/>
                  </a:rPr>
                  <a:t> 4t  bulunur.</a:t>
                </a:r>
              </a:p>
              <a:p>
                <a:r>
                  <a:rPr lang="tr-TR" sz="1000" noProof="1">
                    <a:cs typeface="Arial" panose="020B0604020202020204" pitchFamily="34" charset="0"/>
                  </a:rPr>
                  <a:t>B aracı terse giderse akıntı destek olacaktır yani hızı 40+10 olur.  50</a:t>
                </a:r>
                <a:r>
                  <a:rPr lang="tr-TR" sz="1000" dirty="0"/>
                  <a:t> </a:t>
                </a:r>
                <a14:m>
                  <m:oMath xmlns:m="http://schemas.openxmlformats.org/officeDocument/2006/math">
                    <m:r>
                      <a:rPr lang="tr-TR" sz="1000" i="0" smtClean="0">
                        <a:latin typeface="Cambria Math" panose="02040503050406030204" pitchFamily="18" charset="0"/>
                      </a:rPr>
                      <m:t>⋅</m:t>
                    </m:r>
                    <m:r>
                      <a:rPr lang="tr-TR" sz="1000" i="1" smtClean="0">
                        <a:latin typeface="Cambria Math" panose="02040503050406030204" pitchFamily="18" charset="0"/>
                      </a:rPr>
                      <m:t> </m:t>
                    </m:r>
                  </m:oMath>
                </a14:m>
                <a:r>
                  <a:rPr lang="tr-TR" sz="1000" noProof="1">
                    <a:cs typeface="Arial" panose="020B0604020202020204" pitchFamily="34" charset="0"/>
                  </a:rPr>
                  <a:t>4t = x-160    x gördüğümüz yere 360 t yazabiliriz.</a:t>
                </a:r>
              </a:p>
              <a:p>
                <a:endParaRPr lang="tr-TR" sz="1000" noProof="1">
                  <a:cs typeface="Arial" panose="020B0604020202020204" pitchFamily="34" charset="0"/>
                </a:endParaRPr>
              </a:p>
              <a:p>
                <a:r>
                  <a:rPr lang="tr-TR" sz="1000" noProof="1">
                    <a:cs typeface="Arial" panose="020B0604020202020204" pitchFamily="34" charset="0"/>
                  </a:rPr>
                  <a:t>200t = 360t – 160   ise   160t = 160 gelir  t=1 bulunur.</a:t>
                </a:r>
              </a:p>
              <a:p>
                <a:endParaRPr lang="tr-TR" sz="1000" noProof="1">
                  <a:cs typeface="Arial" panose="020B0604020202020204" pitchFamily="34" charset="0"/>
                </a:endParaRPr>
              </a:p>
              <a:p>
                <a:r>
                  <a:rPr lang="tr-TR" sz="1000" noProof="1">
                    <a:cs typeface="Arial" panose="020B0604020202020204" pitchFamily="34" charset="0"/>
                  </a:rPr>
                  <a:t>x=360 t idi yani </a:t>
                </a:r>
                <a:r>
                  <a:rPr lang="tr-TR" sz="1000" b="1" noProof="1">
                    <a:cs typeface="Arial" panose="020B0604020202020204" pitchFamily="34" charset="0"/>
                  </a:rPr>
                  <a:t>x=360 , t=1 </a:t>
                </a:r>
                <a:r>
                  <a:rPr lang="tr-TR" sz="1000" noProof="1">
                    <a:cs typeface="Arial" panose="020B0604020202020204" pitchFamily="34" charset="0"/>
                  </a:rPr>
                  <a:t>bulmuştuk. </a:t>
                </a:r>
                <a:r>
                  <a:rPr lang="tr-TR" sz="1000" b="1" noProof="1">
                    <a:cs typeface="Arial" panose="020B0604020202020204" pitchFamily="34" charset="0"/>
                  </a:rPr>
                  <a:t>x+4t = 364 bulunur.</a:t>
                </a:r>
              </a:p>
            </p:txBody>
          </p:sp>
        </mc:Choice>
        <mc:Fallback xmlns="">
          <p:sp>
            <p:nvSpPr>
              <p:cNvPr id="112" name="Metin kutusu 111">
                <a:extLst>
                  <a:ext uri="{FF2B5EF4-FFF2-40B4-BE49-F238E27FC236}">
                    <a16:creationId xmlns:a16="http://schemas.microsoft.com/office/drawing/2014/main" id="{A1F1EA8E-F9AF-4CE1-870A-32EE30CDEA0D}"/>
                  </a:ext>
                </a:extLst>
              </p:cNvPr>
              <p:cNvSpPr txBox="1">
                <a:spLocks noRot="1" noChangeAspect="1" noMove="1" noResize="1" noEditPoints="1" noAdjustHandles="1" noChangeArrowheads="1" noChangeShapeType="1" noTextEdit="1"/>
              </p:cNvSpPr>
              <p:nvPr/>
            </p:nvSpPr>
            <p:spPr>
              <a:xfrm>
                <a:off x="3539263" y="7283335"/>
                <a:ext cx="3313384" cy="1477328"/>
              </a:xfrm>
              <a:prstGeom prst="rect">
                <a:avLst/>
              </a:prstGeom>
              <a:blipFill>
                <a:blip r:embed="rId23"/>
                <a:stretch>
                  <a:fillRect b="-1653"/>
                </a:stretch>
              </a:blipFill>
            </p:spPr>
            <p:txBody>
              <a:bodyPr/>
              <a:lstStyle/>
              <a:p>
                <a:r>
                  <a:rPr lang="tr-TR">
                    <a:noFill/>
                  </a:rPr>
                  <a:t> </a:t>
                </a:r>
              </a:p>
            </p:txBody>
          </p:sp>
        </mc:Fallback>
      </mc:AlternateContent>
      <p:sp>
        <p:nvSpPr>
          <p:cNvPr id="99" name="Kaydırma: Yatay 98">
            <a:extLst>
              <a:ext uri="{FF2B5EF4-FFF2-40B4-BE49-F238E27FC236}">
                <a16:creationId xmlns:a16="http://schemas.microsoft.com/office/drawing/2014/main" id="{22F0BCB4-BD77-4496-9057-37DFC5E7F691}"/>
              </a:ext>
            </a:extLst>
          </p:cNvPr>
          <p:cNvSpPr/>
          <p:nvPr/>
        </p:nvSpPr>
        <p:spPr>
          <a:xfrm>
            <a:off x="836712" y="467544"/>
            <a:ext cx="2441609" cy="378586"/>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34446" y="498648"/>
            <a:ext cx="2571377" cy="307777"/>
          </a:xfrm>
          <a:prstGeom prst="rect">
            <a:avLst/>
          </a:prstGeom>
          <a:noFill/>
        </p:spPr>
        <p:txBody>
          <a:bodyPr wrap="square">
            <a:spAutoFit/>
          </a:bodyPr>
          <a:lstStyle/>
          <a:p>
            <a:r>
              <a:rPr lang="tr-TR" sz="700" i="0" dirty="0">
                <a:effectLst/>
                <a:latin typeface="Arial Narrow" panose="020B0606020202030204" pitchFamily="34" charset="0"/>
              </a:rPr>
              <a:t>“ Yapay zeka için bolca veri gereklidir. Kötüye kullanımlara mahal vermemek için verilerinizi mümkün mertebe koruyunuz.”  - Ahmet Çelen</a:t>
            </a:r>
            <a:endParaRPr lang="tr-TR" sz="700" dirty="0">
              <a:latin typeface="Arial Narrow" panose="020B0606020202030204" pitchFamily="34" charset="0"/>
            </a:endParaRPr>
          </a:p>
        </p:txBody>
      </p:sp>
    </p:spTree>
    <p:extLst>
      <p:ext uri="{BB962C8B-B14F-4D97-AF65-F5344CB8AC3E}">
        <p14:creationId xmlns:p14="http://schemas.microsoft.com/office/powerpoint/2010/main" val="1012829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95467" y="603216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9139" y="777762"/>
            <a:ext cx="3399191" cy="1477328"/>
          </a:xfrm>
          <a:prstGeom prst="rect">
            <a:avLst/>
          </a:prstGeom>
          <a:noFill/>
        </p:spPr>
        <p:txBody>
          <a:bodyPr wrap="square" rtlCol="0">
            <a:spAutoFit/>
          </a:bodyPr>
          <a:lstStyle/>
          <a:p>
            <a:r>
              <a:rPr lang="tr-TR" sz="1000" noProof="1">
                <a:cs typeface="Arial" panose="020B0604020202020204" pitchFamily="34" charset="0"/>
              </a:rPr>
              <a:t>A ve B araçları doğrusal yolda birbirlerine doğru hareket eden sabit hızlı araçlardır. Şiddetli rüzgar hızının saatte 10 km olduğu bilinmektedir. A ve B araçlarının hızları ardışık pozitif tam sayılardır. A aracı rüzgarın tersi yönüne gitmekte B aracı ise rüzgar yönünde ilerlemektedir.</a:t>
            </a:r>
          </a:p>
          <a:p>
            <a:endParaRPr lang="tr-TR" sz="1000" noProof="1">
              <a:cs typeface="Arial" panose="020B0604020202020204" pitchFamily="34" charset="0"/>
            </a:endParaRPr>
          </a:p>
          <a:p>
            <a:r>
              <a:rPr lang="tr-TR" sz="1000" b="1" noProof="1">
                <a:cs typeface="Arial" panose="020B0604020202020204" pitchFamily="34" charset="0"/>
              </a:rPr>
              <a:t>Aralarındaki 590 km yolu 10 saatte gittiklerine göre aradaki mesafeyi kapatmak için A ve B araçları toplam kaç km hızla gitmişlerdir? </a:t>
            </a:r>
            <a:r>
              <a:rPr lang="tr-TR" sz="1000" noProof="1">
                <a:cs typeface="Arial" panose="020B0604020202020204" pitchFamily="34" charset="0"/>
              </a:rPr>
              <a:t>( B normalde A`dan hızlıdır.)</a:t>
            </a:r>
          </a:p>
        </p:txBody>
      </p:sp>
      <p:sp>
        <p:nvSpPr>
          <p:cNvPr id="59" name="Ok: Beşgen 58">
            <a:extLst>
              <a:ext uri="{FF2B5EF4-FFF2-40B4-BE49-F238E27FC236}">
                <a16:creationId xmlns:a16="http://schemas.microsoft.com/office/drawing/2014/main" id="{A129DA11-0AC2-45F3-8B23-433A1D371D79}"/>
              </a:ext>
            </a:extLst>
          </p:cNvPr>
          <p:cNvSpPr/>
          <p:nvPr/>
        </p:nvSpPr>
        <p:spPr>
          <a:xfrm>
            <a:off x="3600031" y="486837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6.</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71933" y="479661"/>
            <a:ext cx="2402055" cy="307777"/>
          </a:xfrm>
          <a:prstGeom prst="rect">
            <a:avLst/>
          </a:prstGeom>
          <a:noFill/>
        </p:spPr>
        <p:txBody>
          <a:bodyPr wrap="square">
            <a:spAutoFit/>
          </a:bodyPr>
          <a:lstStyle/>
          <a:p>
            <a:pPr algn="ctr"/>
            <a:r>
              <a:rPr lang="tr-TR" sz="700" i="0" dirty="0">
                <a:effectLst/>
                <a:latin typeface="Arial Narrow" panose="020B0606020202030204" pitchFamily="34" charset="0"/>
              </a:rPr>
              <a:t>“Zekice hareket etmek, zekadan daha fazlasını gerektirir.. ”  </a:t>
            </a:r>
            <a:br>
              <a:rPr lang="tr-TR" sz="700" i="0" dirty="0">
                <a:effectLst/>
                <a:latin typeface="Arial Narrow" panose="020B0606020202030204" pitchFamily="34" charset="0"/>
              </a:rPr>
            </a:br>
            <a:r>
              <a:rPr lang="tr-TR" sz="700" i="0" dirty="0">
                <a:effectLst/>
                <a:latin typeface="Arial Narrow" panose="020B0606020202030204" pitchFamily="34" charset="0"/>
              </a:rPr>
              <a:t>- Dostoyevski</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66881" y="425670"/>
            <a:ext cx="2449314"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56420" y="462160"/>
            <a:ext cx="2538737" cy="298543"/>
          </a:xfrm>
          <a:prstGeom prst="rect">
            <a:avLst/>
          </a:prstGeom>
          <a:noFill/>
        </p:spPr>
        <p:txBody>
          <a:bodyPr wrap="square">
            <a:spAutoFit/>
          </a:bodyPr>
          <a:lstStyle/>
          <a:p>
            <a:r>
              <a:rPr lang="tr-TR" sz="670" i="0" dirty="0">
                <a:effectLst/>
                <a:latin typeface="Arial Narrow" panose="020B0606020202030204" pitchFamily="34" charset="0"/>
              </a:rPr>
              <a:t>“Bütün kötülüklerin anası olan </a:t>
            </a:r>
            <a:r>
              <a:rPr lang="tr-TR" sz="670" i="0" dirty="0" err="1">
                <a:effectLst/>
                <a:latin typeface="Arial Narrow" panose="020B0606020202030204" pitchFamily="34" charset="0"/>
              </a:rPr>
              <a:t>kibire</a:t>
            </a:r>
            <a:r>
              <a:rPr lang="tr-TR" sz="670" i="0" dirty="0">
                <a:effectLst/>
                <a:latin typeface="Arial Narrow" panose="020B0606020202030204" pitchFamily="34" charset="0"/>
              </a:rPr>
              <a:t> hiçbir mantıkla karşı konulamaz. Çünkü; kibirli insan, tabiatı gereği, o mantıklı sözlere kulak tıkar. ” Jules </a:t>
            </a:r>
            <a:r>
              <a:rPr lang="tr-TR" sz="670" dirty="0">
                <a:latin typeface="Arial Narrow" panose="020B0606020202030204" pitchFamily="34" charset="0"/>
              </a:rPr>
              <a:t>Verne</a:t>
            </a:r>
          </a:p>
        </p:txBody>
      </p:sp>
      <p:sp>
        <p:nvSpPr>
          <p:cNvPr id="60" name="Metin kutusu 59">
            <a:extLst>
              <a:ext uri="{FF2B5EF4-FFF2-40B4-BE49-F238E27FC236}">
                <a16:creationId xmlns:a16="http://schemas.microsoft.com/office/drawing/2014/main" id="{83CA0CE1-28E4-4408-B76F-74E58591F120}"/>
              </a:ext>
            </a:extLst>
          </p:cNvPr>
          <p:cNvSpPr txBox="1"/>
          <p:nvPr/>
        </p:nvSpPr>
        <p:spPr>
          <a:xfrm>
            <a:off x="41156" y="6309503"/>
            <a:ext cx="3443083" cy="2400657"/>
          </a:xfrm>
          <a:prstGeom prst="rect">
            <a:avLst/>
          </a:prstGeom>
          <a:noFill/>
        </p:spPr>
        <p:txBody>
          <a:bodyPr wrap="square" rtlCol="0">
            <a:spAutoFit/>
          </a:bodyPr>
          <a:lstStyle/>
          <a:p>
            <a:r>
              <a:rPr lang="tr-TR" sz="1000" noProof="1">
                <a:cs typeface="Arial" panose="020B0604020202020204" pitchFamily="34" charset="0"/>
              </a:rPr>
              <a:t>A aracı rüzgarın tersi yönüne gitmekte B aracı ise rüzgar yönünde ilerlemektedir. A aracının hızına x, B aracının hızına da x+1 diyelim. Çünkü daha hızlı olduğu söyleniyor.  </a:t>
            </a:r>
          </a:p>
          <a:p>
            <a:endParaRPr lang="tr-TR" sz="1000" noProof="1">
              <a:cs typeface="Arial" panose="020B0604020202020204" pitchFamily="34" charset="0"/>
            </a:endParaRPr>
          </a:p>
          <a:p>
            <a:r>
              <a:rPr lang="tr-TR" sz="1000" noProof="1">
                <a:cs typeface="Arial" panose="020B0604020202020204" pitchFamily="34" charset="0"/>
              </a:rPr>
              <a:t>Rüzgar tersi yönünde gidenden rüzgarın hızı çıkarılır. </a:t>
            </a:r>
            <a:br>
              <a:rPr lang="tr-TR" sz="1000" noProof="1">
                <a:cs typeface="Arial" panose="020B0604020202020204" pitchFamily="34" charset="0"/>
              </a:rPr>
            </a:br>
            <a:r>
              <a:rPr lang="tr-TR" sz="1000" noProof="1">
                <a:cs typeface="Arial" panose="020B0604020202020204" pitchFamily="34" charset="0"/>
              </a:rPr>
              <a:t>x-10  A aracının hızı, B aracı rüzgarın yönünde gittiği için hızına 10 eklenir. x+11 olur. </a:t>
            </a:r>
          </a:p>
          <a:p>
            <a:endParaRPr lang="tr-TR" sz="1000" noProof="1">
              <a:cs typeface="Arial" panose="020B0604020202020204" pitchFamily="34" charset="0"/>
            </a:endParaRPr>
          </a:p>
          <a:p>
            <a:r>
              <a:rPr lang="tr-TR" sz="1000" noProof="1">
                <a:cs typeface="Arial" panose="020B0604020202020204" pitchFamily="34" charset="0"/>
              </a:rPr>
              <a:t>590 = (x+11+x-10) . 10        59 = 2x+1     2x=60  ise </a:t>
            </a:r>
            <a:r>
              <a:rPr lang="tr-TR" sz="1000" b="1" noProof="1">
                <a:cs typeface="Arial" panose="020B0604020202020204" pitchFamily="34" charset="0"/>
              </a:rPr>
              <a:t>x=30 olur.</a:t>
            </a:r>
          </a:p>
          <a:p>
            <a:endParaRPr lang="tr-TR" sz="1000" b="1" noProof="1">
              <a:cs typeface="Arial" panose="020B0604020202020204" pitchFamily="34" charset="0"/>
            </a:endParaRPr>
          </a:p>
          <a:p>
            <a:pPr marL="171450" indent="-171450">
              <a:buFont typeface="Wingdings" panose="05000000000000000000" pitchFamily="2" charset="2"/>
              <a:buChar char="Ø"/>
            </a:pPr>
            <a:r>
              <a:rPr lang="tr-TR" sz="1000" b="1" noProof="1">
                <a:cs typeface="Arial" panose="020B0604020202020204" pitchFamily="34" charset="0"/>
              </a:rPr>
              <a:t> A aracı 30 km hızla, B aracı 31 km hızla gitmiştir lakin;</a:t>
            </a:r>
          </a:p>
          <a:p>
            <a:r>
              <a:rPr lang="tr-TR" sz="1000" b="1" noProof="1">
                <a:cs typeface="Arial" panose="020B0604020202020204" pitchFamily="34" charset="0"/>
              </a:rPr>
              <a:t>590 km mesafeyi kapatırken hangi hızlarla gittikleri sorulmaktadır dolayısıyla rüzgarı da eklemeliyiz. A dan çıkaracağız B ye ekleyeceğiz değişmeyecek fakat doğrusunu yapalım. (30-10) + (31+10) = 61 olarak bulunur.</a:t>
            </a:r>
          </a:p>
        </p:txBody>
      </p:sp>
      <mc:AlternateContent xmlns:mc="http://schemas.openxmlformats.org/markup-compatibility/2006" xmlns:a14="http://schemas.microsoft.com/office/drawing/2010/main">
        <mc:Choice Requires="a14">
          <p:sp>
            <p:nvSpPr>
              <p:cNvPr id="62" name="Metin kutusu 61">
                <a:extLst>
                  <a:ext uri="{FF2B5EF4-FFF2-40B4-BE49-F238E27FC236}">
                    <a16:creationId xmlns:a16="http://schemas.microsoft.com/office/drawing/2014/main" id="{298F4C6A-ACA9-4935-88B1-F670592C5383}"/>
                  </a:ext>
                </a:extLst>
              </p:cNvPr>
              <p:cNvSpPr txBox="1"/>
              <p:nvPr/>
            </p:nvSpPr>
            <p:spPr>
              <a:xfrm>
                <a:off x="3571497" y="758208"/>
                <a:ext cx="3336174" cy="2708434"/>
              </a:xfrm>
              <a:prstGeom prst="rect">
                <a:avLst/>
              </a:prstGeom>
              <a:noFill/>
            </p:spPr>
            <p:txBody>
              <a:bodyPr wrap="square" rtlCol="0">
                <a:spAutoFit/>
              </a:bodyPr>
              <a:lstStyle/>
              <a:p>
                <a:r>
                  <a:rPr lang="tr-TR" sz="1000" b="1" noProof="1">
                    <a:cs typeface="Arial" panose="020B0604020202020204" pitchFamily="34" charset="0"/>
                  </a:rPr>
                  <a:t>a&gt;b olmak üzere a ve b pozitif ardışık tam sayılardır.</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C,D,E araçlarının hızları sırasıyla a,b, a-b dir. </a:t>
                </a:r>
              </a:p>
              <a:p>
                <a:pPr marL="171450" indent="-171450">
                  <a:buFont typeface="Arial" panose="020B0604020202020204" pitchFamily="34" charset="0"/>
                  <a:buChar char="•"/>
                </a:pPr>
                <a:r>
                  <a:rPr lang="tr-TR" sz="1000" noProof="1">
                    <a:cs typeface="Arial" panose="020B0604020202020204" pitchFamily="34" charset="0"/>
                  </a:rPr>
                  <a:t>Araçların hızları sabittir ve ara vermemektedirler.</a:t>
                </a:r>
              </a:p>
              <a:p>
                <a:pPr marL="171450" indent="-171450">
                  <a:buFont typeface="Arial" panose="020B0604020202020204" pitchFamily="34" charset="0"/>
                  <a:buChar char="•"/>
                </a:pPr>
                <a:r>
                  <a:rPr lang="tr-TR" sz="1000" noProof="1">
                    <a:cs typeface="Arial" panose="020B0604020202020204" pitchFamily="34" charset="0"/>
                  </a:rPr>
                  <a:t>Üç hareketli aynı, rüzgar tersi yönünde ilerlemektedir.</a:t>
                </a:r>
              </a:p>
              <a:p>
                <a:pPr marL="171450" indent="-171450">
                  <a:buFont typeface="Arial" panose="020B0604020202020204" pitchFamily="34" charset="0"/>
                  <a:buChar char="•"/>
                </a:pPr>
                <a:r>
                  <a:rPr lang="tr-TR" sz="1000" noProof="1">
                    <a:cs typeface="Arial" panose="020B0604020202020204" pitchFamily="34" charset="0"/>
                  </a:rPr>
                  <a:t>Rüzgarın hızı saate 4 km dir.</a:t>
                </a:r>
              </a:p>
              <a:p>
                <a:endParaRPr lang="tr-TR" sz="1000" noProof="1">
                  <a:cs typeface="Arial" panose="020B0604020202020204" pitchFamily="34" charset="0"/>
                </a:endParaRPr>
              </a:p>
              <a:p>
                <a:r>
                  <a:rPr lang="tr-TR" sz="1000" b="1" noProof="1">
                    <a:cs typeface="Arial" panose="020B0604020202020204" pitchFamily="34" charset="0"/>
                  </a:rPr>
                  <a:t>Buna göre,</a:t>
                </a:r>
              </a:p>
              <a:p>
                <a:endParaRPr lang="tr-TR" sz="1000" noProof="1">
                  <a:cs typeface="Arial" panose="020B0604020202020204" pitchFamily="34" charset="0"/>
                </a:endParaRPr>
              </a:p>
              <a:p>
                <a:r>
                  <a:rPr lang="tr-TR" sz="1000" noProof="1">
                    <a:cs typeface="Arial" panose="020B0604020202020204" pitchFamily="34" charset="0"/>
                  </a:rPr>
                  <a:t>I.  E aracı a&gt;6 ise C ve D araçlarından her saat uzaklaşacaktır. </a:t>
                </a:r>
              </a:p>
              <a:p>
                <a:r>
                  <a:rPr lang="tr-TR" sz="1000" noProof="1">
                    <a:cs typeface="Arial" panose="020B0604020202020204" pitchFamily="34" charset="0"/>
                  </a:rPr>
                  <a:t>II. C, D aracına nazaran rüzgardan daha az etkilenmiştir.</a:t>
                </a:r>
              </a:p>
              <a:p>
                <a:r>
                  <a:rPr lang="tr-TR" sz="1000" noProof="1">
                    <a:cs typeface="Arial" panose="020B0604020202020204" pitchFamily="34" charset="0"/>
                  </a:rPr>
                  <a:t>III. a&lt;4 ise araçların gittikleri yönün tersi yönünde D aracı C aracının önüne geçer ve her saat daha da uzaklaşırlar. </a:t>
                </a:r>
              </a:p>
              <a:p>
                <a:r>
                  <a:rPr lang="tr-TR" sz="1000" noProof="1">
                    <a:cs typeface="Arial" panose="020B0604020202020204" pitchFamily="34" charset="0"/>
                  </a:rPr>
                  <a:t>IV. </a:t>
                </a:r>
                <a14:m>
                  <m:oMath xmlns:m="http://schemas.openxmlformats.org/officeDocument/2006/math">
                    <m:r>
                      <m:rPr>
                        <m:nor/>
                      </m:rPr>
                      <a:rPr lang="tr-TR" sz="1000" i="0" noProof="1" smtClean="0"/>
                      <m:t>b</m:t>
                    </m:r>
                    <m:r>
                      <m:rPr>
                        <m:nor/>
                      </m:rPr>
                      <a:rPr lang="tr-TR" sz="1000" b="0" i="0" noProof="1" smtClean="0"/>
                      <m:t> </m:t>
                    </m:r>
                    <m:r>
                      <m:rPr>
                        <m:nor/>
                      </m:rPr>
                      <a:rPr lang="tr-TR" sz="1000" i="0" noProof="1" smtClean="0"/>
                      <m:t>&lt;</m:t>
                    </m:r>
                    <m:r>
                      <m:rPr>
                        <m:nor/>
                      </m:rPr>
                      <a:rPr lang="tr-TR" sz="1000" b="0" i="0" noProof="1" smtClean="0"/>
                      <m:t> </m:t>
                    </m:r>
                    <m:r>
                      <m:rPr>
                        <m:nor/>
                      </m:rPr>
                      <a:rPr lang="tr-TR" sz="1000" i="0" noProof="1" smtClean="0"/>
                      <m:t>5</m:t>
                    </m:r>
                    <m:r>
                      <m:rPr>
                        <m:nor/>
                      </m:rPr>
                      <a:rPr lang="tr-TR" sz="1000" b="0" i="0" noProof="1" smtClean="0"/>
                      <m:t> = </m:t>
                    </m:r>
                    <m:r>
                      <m:rPr>
                        <m:nor/>
                      </m:rPr>
                      <a:rPr lang="tr-TR" sz="1000" i="0" noProof="1" smtClean="0"/>
                      <m:t>a</m:t>
                    </m:r>
                  </m:oMath>
                </a14:m>
                <a:r>
                  <a:rPr lang="tr-TR" sz="1000" noProof="1">
                    <a:cs typeface="Arial" panose="020B0604020202020204" pitchFamily="34" charset="0"/>
                  </a:rPr>
                  <a:t> ise  E ve C araçları D aracından her saat daha fazla uzaklaşır. </a:t>
                </a:r>
              </a:p>
              <a:p>
                <a:endParaRPr lang="tr-TR" sz="1000" noProof="1">
                  <a:cs typeface="Arial" panose="020B0604020202020204" pitchFamily="34" charset="0"/>
                </a:endParaRPr>
              </a:p>
              <a:p>
                <a:r>
                  <a:rPr lang="tr-TR" sz="1000" b="1" noProof="1">
                    <a:cs typeface="Arial" panose="020B0604020202020204" pitchFamily="34" charset="0"/>
                  </a:rPr>
                  <a:t>hangileri doğrudur? </a:t>
                </a:r>
                <a:r>
                  <a:rPr lang="tr-TR" sz="1000" noProof="1">
                    <a:cs typeface="Arial" panose="020B0604020202020204" pitchFamily="34" charset="0"/>
                  </a:rPr>
                  <a:t>(</a:t>
                </a:r>
                <a:r>
                  <a:rPr lang="tr-TR" sz="900" noProof="1">
                    <a:cs typeface="Arial" panose="020B0604020202020204" pitchFamily="34" charset="0"/>
                  </a:rPr>
                  <a:t>Güzel yorum sorusu kesinlikle uğraşınız</a:t>
                </a:r>
                <a:r>
                  <a:rPr lang="tr-TR" sz="1000" noProof="1">
                    <a:cs typeface="Arial" panose="020B0604020202020204" pitchFamily="34" charset="0"/>
                  </a:rPr>
                  <a:t>.)</a:t>
                </a:r>
                <a:endParaRPr lang="tr-TR" sz="1000" b="1" noProof="1">
                  <a:cs typeface="Arial" panose="020B0604020202020204" pitchFamily="34" charset="0"/>
                </a:endParaRPr>
              </a:p>
            </p:txBody>
          </p:sp>
        </mc:Choice>
        <mc:Fallback xmlns="">
          <p:sp>
            <p:nvSpPr>
              <p:cNvPr id="62" name="Metin kutusu 61">
                <a:extLst>
                  <a:ext uri="{FF2B5EF4-FFF2-40B4-BE49-F238E27FC236}">
                    <a16:creationId xmlns:a16="http://schemas.microsoft.com/office/drawing/2014/main" id="{298F4C6A-ACA9-4935-88B1-F670592C5383}"/>
                  </a:ext>
                </a:extLst>
              </p:cNvPr>
              <p:cNvSpPr txBox="1">
                <a:spLocks noRot="1" noChangeAspect="1" noMove="1" noResize="1" noEditPoints="1" noAdjustHandles="1" noChangeArrowheads="1" noChangeShapeType="1" noTextEdit="1"/>
              </p:cNvSpPr>
              <p:nvPr/>
            </p:nvSpPr>
            <p:spPr>
              <a:xfrm>
                <a:off x="3571497" y="758208"/>
                <a:ext cx="3336174" cy="2708434"/>
              </a:xfrm>
              <a:prstGeom prst="rect">
                <a:avLst/>
              </a:prstGeom>
              <a:blipFill>
                <a:blip r:embed="rId6"/>
                <a:stretch>
                  <a:fillRect b="-449"/>
                </a:stretch>
              </a:blipFill>
            </p:spPr>
            <p:txBody>
              <a:bodyPr/>
              <a:lstStyle/>
              <a:p>
                <a:r>
                  <a:rPr lang="tr-TR">
                    <a:noFill/>
                  </a:rPr>
                  <a:t> </a:t>
                </a:r>
              </a:p>
            </p:txBody>
          </p:sp>
        </mc:Fallback>
      </mc:AlternateContent>
      <p:sp>
        <p:nvSpPr>
          <p:cNvPr id="66" name="Metin kutusu 65">
            <a:extLst>
              <a:ext uri="{FF2B5EF4-FFF2-40B4-BE49-F238E27FC236}">
                <a16:creationId xmlns:a16="http://schemas.microsoft.com/office/drawing/2014/main" id="{399FDC94-2CCE-4DA5-8DCE-241A6DF0FCB5}"/>
              </a:ext>
            </a:extLst>
          </p:cNvPr>
          <p:cNvSpPr txBox="1"/>
          <p:nvPr/>
        </p:nvSpPr>
        <p:spPr>
          <a:xfrm>
            <a:off x="4390083" y="4841862"/>
            <a:ext cx="2449549" cy="400110"/>
          </a:xfrm>
          <a:prstGeom prst="rect">
            <a:avLst/>
          </a:prstGeom>
          <a:noFill/>
        </p:spPr>
        <p:txBody>
          <a:bodyPr wrap="square" rtlCol="0">
            <a:spAutoFit/>
          </a:bodyPr>
          <a:lstStyle/>
          <a:p>
            <a:r>
              <a:rPr lang="tr-TR" sz="1000" noProof="1">
                <a:cs typeface="Arial" panose="020B0604020202020204" pitchFamily="34" charset="0"/>
              </a:rPr>
              <a:t>A = x+1 ise B aracı x olmalıdır. Her araç </a:t>
            </a:r>
          </a:p>
          <a:p>
            <a:r>
              <a:rPr lang="tr-TR" sz="1000" noProof="1">
                <a:cs typeface="Arial" panose="020B0604020202020204" pitchFamily="34" charset="0"/>
              </a:rPr>
              <a:t>rüzgar tersi yönünde ilerlemektedir.</a:t>
            </a:r>
          </a:p>
        </p:txBody>
      </p:sp>
      <p:sp>
        <p:nvSpPr>
          <p:cNvPr id="67" name="Metin kutusu 66">
            <a:extLst>
              <a:ext uri="{FF2B5EF4-FFF2-40B4-BE49-F238E27FC236}">
                <a16:creationId xmlns:a16="http://schemas.microsoft.com/office/drawing/2014/main" id="{54030BC6-627B-401A-B20C-2287E4C7710D}"/>
              </a:ext>
            </a:extLst>
          </p:cNvPr>
          <p:cNvSpPr txBox="1"/>
          <p:nvPr/>
        </p:nvSpPr>
        <p:spPr>
          <a:xfrm>
            <a:off x="3562519" y="5169408"/>
            <a:ext cx="3316749" cy="3631763"/>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a-b= 1 dir E aracının hızıdır. Rüzgar tersi yönünde gittiğin-den hızı çıkarılır.  (1-4) = -3 çıktı. Peki – li hız olur mu? İşte sürat ve hız farkı bundan ibarettir. – burda hız olarak ters yön anlamına gelir yani E aracı a&gt;6 olduğundan her iki araçtan da uzaklaşır çünkü diğerleri rüzgara yenik düşmezler. C ve D aynı yönde, E ters yönde gitmek zorundadır.</a:t>
            </a:r>
          </a:p>
          <a:p>
            <a:endParaRPr lang="tr-TR" sz="1000"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Rüzgar tersine gittikleri için her üçünüde aynı etkiyi yapmıştır fakat sonuç olarak E aracı hızı yenik düştüğü için rüzgarın yönüne gitmeye mağruz kalmıştır. </a:t>
            </a:r>
            <a:r>
              <a:rPr lang="tr-TR" sz="1000" u="sng" noProof="1">
                <a:cs typeface="Arial" panose="020B0604020202020204" pitchFamily="34" charset="0"/>
              </a:rPr>
              <a:t>Hızlarına oranla </a:t>
            </a:r>
            <a:r>
              <a:rPr lang="tr-TR" sz="1000" noProof="1">
                <a:cs typeface="Arial" panose="020B0604020202020204" pitchFamily="34" charset="0"/>
              </a:rPr>
              <a:t>aynı etkiyi yapmadığını görüyoruz ama soruda hızlarına oranla ibaresi olmadığından herkese eşit etki yapmıştır.</a:t>
            </a:r>
          </a:p>
          <a:p>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a&lt;4 ise rüzgara her üç araçta yenik düşecektir. C aracının hızı D den yüksek olduğundan her saat D`ye nazaran daha fazla dayanacaktır. Kıyaslama yaptığımızda C aracı D`ye göre daha iyi dayandığından rüzgar C`yi fazla götüremez fakat D aracının hızı daha düşük olduğundan D aracını daha fazla yönüne doğru götürür, aralarındaki fark her saat artar.</a:t>
            </a:r>
          </a:p>
          <a:p>
            <a:endParaRPr lang="tr-TR" sz="1000" noProof="1">
              <a:cs typeface="Arial" panose="020B0604020202020204" pitchFamily="34" charset="0"/>
            </a:endParaRPr>
          </a:p>
          <a:p>
            <a:r>
              <a:rPr lang="tr-TR" sz="1000" b="1" noProof="1">
                <a:cs typeface="Arial" panose="020B0604020202020204" pitchFamily="34" charset="0"/>
              </a:rPr>
              <a:t>IV.  </a:t>
            </a:r>
            <a:r>
              <a:rPr lang="tr-TR" sz="1000" noProof="1">
                <a:cs typeface="Arial" panose="020B0604020202020204" pitchFamily="34" charset="0"/>
              </a:rPr>
              <a:t>a=5 iken </a:t>
            </a:r>
            <a:r>
              <a:rPr lang="tr-TR" sz="1000" u="sng" noProof="1">
                <a:cs typeface="Arial" panose="020B0604020202020204" pitchFamily="34" charset="0"/>
              </a:rPr>
              <a:t>b=4 olur yani rüzgarla aynı hızdalar</a:t>
            </a:r>
            <a:r>
              <a:rPr lang="tr-TR" sz="1000" noProof="1">
                <a:cs typeface="Arial" panose="020B0604020202020204" pitchFamily="34" charset="0"/>
              </a:rPr>
              <a:t>. C aracı aracı hızı 1 km hıza düşer D aracı ise 0 km hıza düşer. Rüzgarla nötrlenir, E aracı ise yenik düşer rüzgar yönüne doğru gider.   </a:t>
            </a:r>
          </a:p>
        </p:txBody>
      </p:sp>
    </p:spTree>
    <p:extLst>
      <p:ext uri="{BB962C8B-B14F-4D97-AF65-F5344CB8AC3E}">
        <p14:creationId xmlns:p14="http://schemas.microsoft.com/office/powerpoint/2010/main" val="810675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60039" y="306427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194963" y="4368504"/>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36644" y="4387055"/>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45369" y="4368504"/>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15900" y="900880"/>
            <a:ext cx="220744" cy="246221"/>
          </a:xfrm>
          <a:prstGeom prst="rect">
            <a:avLst/>
          </a:prstGeom>
          <a:noFill/>
        </p:spPr>
        <p:txBody>
          <a:bodyPr wrap="square" rtlCol="0">
            <a:spAutoFit/>
          </a:bodyPr>
          <a:lstStyle/>
          <a:p>
            <a:r>
              <a:rPr lang="tr-TR" sz="1000" noProof="1">
                <a:cs typeface="Arial" panose="020B0604020202020204" pitchFamily="34" charset="0"/>
              </a:rPr>
              <a:t>A</a:t>
            </a:r>
          </a:p>
        </p:txBody>
      </p:sp>
      <p:sp>
        <p:nvSpPr>
          <p:cNvPr id="59" name="Ok: Beşgen 58">
            <a:extLst>
              <a:ext uri="{FF2B5EF4-FFF2-40B4-BE49-F238E27FC236}">
                <a16:creationId xmlns:a16="http://schemas.microsoft.com/office/drawing/2014/main" id="{A129DA11-0AC2-45F3-8B23-433A1D371D79}"/>
              </a:ext>
            </a:extLst>
          </p:cNvPr>
          <p:cNvSpPr/>
          <p:nvPr/>
        </p:nvSpPr>
        <p:spPr>
          <a:xfrm>
            <a:off x="3582111" y="586326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7.</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86044" y="4378897"/>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8.</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9.</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4815" y="484350"/>
            <a:ext cx="2375535" cy="200055"/>
          </a:xfrm>
          <a:prstGeom prst="rect">
            <a:avLst/>
          </a:prstGeom>
          <a:noFill/>
        </p:spPr>
        <p:txBody>
          <a:bodyPr wrap="square">
            <a:spAutoFit/>
          </a:bodyPr>
          <a:lstStyle/>
          <a:p>
            <a:r>
              <a:rPr lang="tr-TR" sz="700" i="0" dirty="0">
                <a:effectLst/>
                <a:latin typeface="Arial Narrow" panose="020B0606020202030204" pitchFamily="34" charset="0"/>
              </a:rPr>
              <a:t>“ x. ”  - Ahmet Çelen</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91373" y="425670"/>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7468" y="461022"/>
            <a:ext cx="2375535" cy="307777"/>
          </a:xfrm>
          <a:prstGeom prst="rect">
            <a:avLst/>
          </a:prstGeom>
          <a:noFill/>
        </p:spPr>
        <p:txBody>
          <a:bodyPr wrap="square">
            <a:spAutoFit/>
          </a:bodyPr>
          <a:lstStyle/>
          <a:p>
            <a:r>
              <a:rPr lang="tr-TR" sz="700" i="0" dirty="0">
                <a:effectLst/>
                <a:latin typeface="Arial Narrow" panose="020B0606020202030204" pitchFamily="34" charset="0"/>
              </a:rPr>
              <a:t>“Kendi yolunda yanlış yöne gitmek, başka birinin yolunda doğru yöne gitmekten iyidir. ”  -  Dostoyevski</a:t>
            </a:r>
            <a:endParaRPr lang="tr-TR" sz="700" dirty="0">
              <a:latin typeface="Arial Narrow" panose="020B0606020202030204" pitchFamily="34" charset="0"/>
            </a:endParaRPr>
          </a:p>
        </p:txBody>
      </p:sp>
      <p:cxnSp>
        <p:nvCxnSpPr>
          <p:cNvPr id="8" name="Düz Bağlayıcı 7">
            <a:extLst>
              <a:ext uri="{FF2B5EF4-FFF2-40B4-BE49-F238E27FC236}">
                <a16:creationId xmlns:a16="http://schemas.microsoft.com/office/drawing/2014/main" id="{2F88D7A5-9930-454F-A0B8-0D8933A99BF3}"/>
              </a:ext>
            </a:extLst>
          </p:cNvPr>
          <p:cNvCxnSpPr/>
          <p:nvPr/>
        </p:nvCxnSpPr>
        <p:spPr>
          <a:xfrm>
            <a:off x="119789" y="1259632"/>
            <a:ext cx="30931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Düz Bağlayıcı 9">
            <a:extLst>
              <a:ext uri="{FF2B5EF4-FFF2-40B4-BE49-F238E27FC236}">
                <a16:creationId xmlns:a16="http://schemas.microsoft.com/office/drawing/2014/main" id="{D6E68A21-7588-4B67-A8B0-46713CD61419}"/>
              </a:ext>
            </a:extLst>
          </p:cNvPr>
          <p:cNvCxnSpPr/>
          <p:nvPr/>
        </p:nvCxnSpPr>
        <p:spPr>
          <a:xfrm flipV="1">
            <a:off x="119789" y="11156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Düz Bağlayıcı 59">
            <a:extLst>
              <a:ext uri="{FF2B5EF4-FFF2-40B4-BE49-F238E27FC236}">
                <a16:creationId xmlns:a16="http://schemas.microsoft.com/office/drawing/2014/main" id="{03E702FE-D10B-4D38-B10F-3C8F819B0997}"/>
              </a:ext>
            </a:extLst>
          </p:cNvPr>
          <p:cNvCxnSpPr/>
          <p:nvPr/>
        </p:nvCxnSpPr>
        <p:spPr>
          <a:xfrm flipV="1">
            <a:off x="3212976" y="11156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Düz Bağlayıcı 61">
            <a:extLst>
              <a:ext uri="{FF2B5EF4-FFF2-40B4-BE49-F238E27FC236}">
                <a16:creationId xmlns:a16="http://schemas.microsoft.com/office/drawing/2014/main" id="{EF8492B7-7FAF-4F35-9E01-BEFC9CC7CB20}"/>
              </a:ext>
            </a:extLst>
          </p:cNvPr>
          <p:cNvCxnSpPr/>
          <p:nvPr/>
        </p:nvCxnSpPr>
        <p:spPr>
          <a:xfrm flipV="1">
            <a:off x="1844824" y="1115616"/>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66" name="Metin kutusu 65">
            <a:extLst>
              <a:ext uri="{FF2B5EF4-FFF2-40B4-BE49-F238E27FC236}">
                <a16:creationId xmlns:a16="http://schemas.microsoft.com/office/drawing/2014/main" id="{BAA1C1E7-08F3-44FF-9235-966B4EB2A9CB}"/>
              </a:ext>
            </a:extLst>
          </p:cNvPr>
          <p:cNvSpPr txBox="1"/>
          <p:nvPr/>
        </p:nvSpPr>
        <p:spPr>
          <a:xfrm>
            <a:off x="3083325" y="883835"/>
            <a:ext cx="220744" cy="246221"/>
          </a:xfrm>
          <a:prstGeom prst="rect">
            <a:avLst/>
          </a:prstGeom>
          <a:noFill/>
        </p:spPr>
        <p:txBody>
          <a:bodyPr wrap="square" rtlCol="0">
            <a:spAutoFit/>
          </a:bodyPr>
          <a:lstStyle/>
          <a:p>
            <a:r>
              <a:rPr lang="tr-TR" sz="1000" noProof="1">
                <a:cs typeface="Arial" panose="020B0604020202020204" pitchFamily="34" charset="0"/>
              </a:rPr>
              <a:t>B</a:t>
            </a:r>
          </a:p>
        </p:txBody>
      </p:sp>
      <p:sp>
        <p:nvSpPr>
          <p:cNvPr id="67" name="Metin kutusu 66">
            <a:extLst>
              <a:ext uri="{FF2B5EF4-FFF2-40B4-BE49-F238E27FC236}">
                <a16:creationId xmlns:a16="http://schemas.microsoft.com/office/drawing/2014/main" id="{6D63DD43-08FA-4B40-B6BB-925DFEDCE8BC}"/>
              </a:ext>
            </a:extLst>
          </p:cNvPr>
          <p:cNvSpPr txBox="1"/>
          <p:nvPr/>
        </p:nvSpPr>
        <p:spPr>
          <a:xfrm>
            <a:off x="1734452" y="883835"/>
            <a:ext cx="220744" cy="246221"/>
          </a:xfrm>
          <a:prstGeom prst="rect">
            <a:avLst/>
          </a:prstGeom>
          <a:noFill/>
        </p:spPr>
        <p:txBody>
          <a:bodyPr wrap="square" rtlCol="0">
            <a:spAutoFit/>
          </a:bodyPr>
          <a:lstStyle/>
          <a:p>
            <a:r>
              <a:rPr lang="tr-TR" sz="1000" noProof="1">
                <a:cs typeface="Arial" panose="020B0604020202020204" pitchFamily="34" charset="0"/>
              </a:rPr>
              <a:t>C</a:t>
            </a:r>
          </a:p>
        </p:txBody>
      </p:sp>
      <p:sp>
        <p:nvSpPr>
          <p:cNvPr id="12" name="Sağ Ayraç 11">
            <a:extLst>
              <a:ext uri="{FF2B5EF4-FFF2-40B4-BE49-F238E27FC236}">
                <a16:creationId xmlns:a16="http://schemas.microsoft.com/office/drawing/2014/main" id="{01540A05-44A5-4F53-A4D8-4863D5E1D72B}"/>
              </a:ext>
            </a:extLst>
          </p:cNvPr>
          <p:cNvSpPr/>
          <p:nvPr/>
        </p:nvSpPr>
        <p:spPr>
          <a:xfrm rot="16200000">
            <a:off x="907272" y="336441"/>
            <a:ext cx="143196" cy="1587892"/>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68" name="Sağ Ayraç 67">
            <a:extLst>
              <a:ext uri="{FF2B5EF4-FFF2-40B4-BE49-F238E27FC236}">
                <a16:creationId xmlns:a16="http://schemas.microsoft.com/office/drawing/2014/main" id="{2D383BA4-638A-4CDB-94A1-5B303E6A455F}"/>
              </a:ext>
            </a:extLst>
          </p:cNvPr>
          <p:cNvSpPr/>
          <p:nvPr/>
        </p:nvSpPr>
        <p:spPr>
          <a:xfrm rot="16200000">
            <a:off x="2474703" y="463712"/>
            <a:ext cx="143196" cy="1333349"/>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69" name="Metin kutusu 68">
                <a:extLst>
                  <a:ext uri="{FF2B5EF4-FFF2-40B4-BE49-F238E27FC236}">
                    <a16:creationId xmlns:a16="http://schemas.microsoft.com/office/drawing/2014/main" id="{FC386EC9-E30C-4BDB-BA05-CBD35FA2E156}"/>
                  </a:ext>
                </a:extLst>
              </p:cNvPr>
              <p:cNvSpPr txBox="1"/>
              <p:nvPr/>
            </p:nvSpPr>
            <p:spPr>
              <a:xfrm>
                <a:off x="23027" y="1248208"/>
                <a:ext cx="3339193" cy="774443"/>
              </a:xfrm>
              <a:prstGeom prst="rect">
                <a:avLst/>
              </a:prstGeom>
              <a:noFill/>
            </p:spPr>
            <p:txBody>
              <a:bodyPr wrap="square" rtlCol="0">
                <a:spAutoFit/>
              </a:bodyPr>
              <a:lstStyle/>
              <a:p>
                <a:r>
                  <a:rPr lang="tr-TR" sz="1000" noProof="1">
                    <a:cs typeface="Arial" panose="020B0604020202020204" pitchFamily="34" charset="0"/>
                  </a:rPr>
                  <a:t>A noktasından başlayan A aracının sabit hızı K, B noktasından başlayan B aracının sabit hızı L dir. 3K</a:t>
                </a:r>
                <a:r>
                  <a:rPr lang="tr-TR" sz="1000" noProof="1">
                    <a:latin typeface="Arial Narrow" panose="020B0606020202030204" pitchFamily="34" charset="0"/>
                    <a:cs typeface="Arial" panose="020B0604020202020204" pitchFamily="34" charset="0"/>
                  </a:rPr>
                  <a:t>=</a:t>
                </a:r>
                <a:r>
                  <a:rPr lang="tr-TR" sz="1000" noProof="1">
                    <a:cs typeface="Arial" panose="020B0604020202020204" pitchFamily="34" charset="0"/>
                  </a:rPr>
                  <a:t>4L ve er iki araç C noktasına doğru ilerlemekte ve t sürede C noktasında karşılaşmaktadırlar. </a:t>
                </a:r>
                <a:r>
                  <a:rPr lang="tr-TR" sz="1000" b="1" noProof="1">
                    <a:cs typeface="Arial" panose="020B0604020202020204" pitchFamily="34" charset="0"/>
                  </a:rPr>
                  <a:t>Buna göre, </a:t>
                </a:r>
                <a14:m>
                  <m:oMath xmlns:m="http://schemas.openxmlformats.org/officeDocument/2006/math">
                    <m:f>
                      <m:fPr>
                        <m:ctrlPr>
                          <a:rPr lang="tr-TR" sz="800" b="1" i="1" noProof="1" smtClean="0">
                            <a:solidFill>
                              <a:schemeClr val="tx1"/>
                            </a:solidFill>
                            <a:latin typeface="Cambria Math" panose="02040503050406030204" pitchFamily="18" charset="0"/>
                          </a:rPr>
                        </m:ctrlPr>
                      </m:fPr>
                      <m:num>
                        <m:d>
                          <m:dPr>
                            <m:begChr m:val="|"/>
                            <m:endChr m:val="|"/>
                            <m:ctrlPr>
                              <a:rPr lang="tr-TR" sz="800" b="1" i="1" noProof="1" smtClean="0">
                                <a:solidFill>
                                  <a:schemeClr val="tx1"/>
                                </a:solidFill>
                                <a:latin typeface="Cambria Math" panose="02040503050406030204" pitchFamily="18" charset="0"/>
                              </a:rPr>
                            </m:ctrlPr>
                          </m:dPr>
                          <m:e>
                            <m:r>
                              <m:rPr>
                                <m:nor/>
                              </m:rPr>
                              <a:rPr lang="tr-TR" sz="800" b="1" i="0" noProof="1" smtClean="0">
                                <a:solidFill>
                                  <a:schemeClr val="tx1"/>
                                </a:solidFill>
                              </a:rPr>
                              <m:t>AC</m:t>
                            </m:r>
                          </m:e>
                        </m:d>
                      </m:num>
                      <m:den>
                        <m:d>
                          <m:dPr>
                            <m:begChr m:val="|"/>
                            <m:endChr m:val="|"/>
                            <m:ctrlPr>
                              <a:rPr lang="tr-TR" sz="800" b="1" i="1" noProof="1" smtClean="0">
                                <a:solidFill>
                                  <a:schemeClr val="tx1"/>
                                </a:solidFill>
                                <a:latin typeface="Cambria Math" panose="02040503050406030204" pitchFamily="18" charset="0"/>
                              </a:rPr>
                            </m:ctrlPr>
                          </m:dPr>
                          <m:e>
                            <m:r>
                              <m:rPr>
                                <m:nor/>
                              </m:rPr>
                              <a:rPr lang="tr-TR" sz="800" b="1" i="0" noProof="1" smtClean="0">
                                <a:solidFill>
                                  <a:schemeClr val="tx1"/>
                                </a:solidFill>
                              </a:rPr>
                              <m:t>BC</m:t>
                            </m:r>
                          </m:e>
                        </m:d>
                      </m:den>
                    </m:f>
                  </m:oMath>
                </a14:m>
                <a:r>
                  <a:rPr lang="tr-TR" sz="800" b="1" noProof="1">
                    <a:cs typeface="Arial" panose="020B0604020202020204" pitchFamily="34" charset="0"/>
                  </a:rPr>
                  <a:t> </a:t>
                </a:r>
                <a:r>
                  <a:rPr lang="tr-TR" sz="1000" b="1" noProof="1">
                    <a:cs typeface="Arial" panose="020B0604020202020204" pitchFamily="34" charset="0"/>
                  </a:rPr>
                  <a:t>oranı kaçtır?</a:t>
                </a:r>
              </a:p>
            </p:txBody>
          </p:sp>
        </mc:Choice>
        <mc:Fallback xmlns="">
          <p:sp>
            <p:nvSpPr>
              <p:cNvPr id="69" name="Metin kutusu 68">
                <a:extLst>
                  <a:ext uri="{FF2B5EF4-FFF2-40B4-BE49-F238E27FC236}">
                    <a16:creationId xmlns:a16="http://schemas.microsoft.com/office/drawing/2014/main" id="{FC386EC9-E30C-4BDB-BA05-CBD35FA2E156}"/>
                  </a:ext>
                </a:extLst>
              </p:cNvPr>
              <p:cNvSpPr txBox="1">
                <a:spLocks noRot="1" noChangeAspect="1" noMove="1" noResize="1" noEditPoints="1" noAdjustHandles="1" noChangeArrowheads="1" noChangeShapeType="1" noTextEdit="1"/>
              </p:cNvSpPr>
              <p:nvPr/>
            </p:nvSpPr>
            <p:spPr>
              <a:xfrm>
                <a:off x="23027" y="1248208"/>
                <a:ext cx="3339193" cy="774443"/>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0" name="Metin kutusu 69">
                <a:extLst>
                  <a:ext uri="{FF2B5EF4-FFF2-40B4-BE49-F238E27FC236}">
                    <a16:creationId xmlns:a16="http://schemas.microsoft.com/office/drawing/2014/main" id="{58D1A6AF-E606-4B38-8B1D-188E67C51FE9}"/>
                  </a:ext>
                </a:extLst>
              </p:cNvPr>
              <p:cNvSpPr txBox="1"/>
              <p:nvPr/>
            </p:nvSpPr>
            <p:spPr>
              <a:xfrm>
                <a:off x="-4548" y="3332728"/>
                <a:ext cx="3399848" cy="983218"/>
              </a:xfrm>
              <a:prstGeom prst="rect">
                <a:avLst/>
              </a:prstGeom>
              <a:noFill/>
            </p:spPr>
            <p:txBody>
              <a:bodyPr wrap="square" rtlCol="0">
                <a:spAutoFit/>
              </a:bodyPr>
              <a:lstStyle/>
              <a:p>
                <a:r>
                  <a:rPr lang="tr-TR" sz="1000" noProof="1">
                    <a:cs typeface="Arial" panose="020B0604020202020204" pitchFamily="34" charset="0"/>
                  </a:rPr>
                  <a:t>Orantı sabitimiz 12 olsun. 3K=4L=12 ise  K=4  L=3 olur. </a:t>
                </a:r>
              </a:p>
              <a:p>
                <a:endParaRPr lang="tr-TR" sz="1000" noProof="1">
                  <a:cs typeface="Arial" panose="020B0604020202020204" pitchFamily="34" charset="0"/>
                </a:endParaRPr>
              </a:p>
              <a:p>
                <a:r>
                  <a:rPr lang="tr-TR" sz="1000" noProof="1">
                    <a:cs typeface="Arial" panose="020B0604020202020204" pitchFamily="34" charset="0"/>
                  </a:rPr>
                  <a:t>|AC| yolunu A aracı, |BC| yolunu ise B aracı almıştır.</a:t>
                </a:r>
              </a:p>
              <a:p>
                <a:br>
                  <a:rPr lang="tr-TR" sz="1000" b="1" i="1" noProof="1">
                    <a:solidFill>
                      <a:schemeClr val="tx1"/>
                    </a:solidFill>
                    <a:latin typeface="Cambria Math" panose="02040503050406030204" pitchFamily="18" charset="0"/>
                  </a:rPr>
                </a:br>
                <a14:m>
                  <m:oMath xmlns:m="http://schemas.openxmlformats.org/officeDocument/2006/math">
                    <m:f>
                      <m:fPr>
                        <m:ctrlPr>
                          <a:rPr lang="tr-TR" sz="1000" b="1" i="1" noProof="1" smtClean="0">
                            <a:solidFill>
                              <a:schemeClr val="tx1"/>
                            </a:solidFill>
                            <a:latin typeface="Cambria Math" panose="02040503050406030204" pitchFamily="18" charset="0"/>
                          </a:rPr>
                        </m:ctrlPr>
                      </m:fPr>
                      <m:num>
                        <m:d>
                          <m:dPr>
                            <m:begChr m:val="|"/>
                            <m:endChr m:val="|"/>
                            <m:ctrlPr>
                              <a:rPr lang="tr-TR" sz="1000" b="1" i="1" noProof="1" smtClean="0">
                                <a:solidFill>
                                  <a:schemeClr val="tx1"/>
                                </a:solidFill>
                                <a:latin typeface="Cambria Math" panose="02040503050406030204" pitchFamily="18" charset="0"/>
                              </a:rPr>
                            </m:ctrlPr>
                          </m:dPr>
                          <m:e>
                            <m:r>
                              <m:rPr>
                                <m:nor/>
                              </m:rPr>
                              <a:rPr lang="tr-TR" sz="1000" b="1" i="0" noProof="1" smtClean="0">
                                <a:solidFill>
                                  <a:schemeClr val="tx1"/>
                                </a:solidFill>
                              </a:rPr>
                              <m:t>AC</m:t>
                            </m:r>
                          </m:e>
                        </m:d>
                      </m:num>
                      <m:den>
                        <m:d>
                          <m:dPr>
                            <m:begChr m:val="|"/>
                            <m:endChr m:val="|"/>
                            <m:ctrlPr>
                              <a:rPr lang="tr-TR" sz="1000" b="1" i="1" noProof="1" smtClean="0">
                                <a:solidFill>
                                  <a:schemeClr val="tx1"/>
                                </a:solidFill>
                                <a:latin typeface="Cambria Math" panose="02040503050406030204" pitchFamily="18" charset="0"/>
                              </a:rPr>
                            </m:ctrlPr>
                          </m:dPr>
                          <m:e>
                            <m:r>
                              <m:rPr>
                                <m:nor/>
                              </m:rPr>
                              <a:rPr lang="tr-TR" sz="1000" b="1" i="0" noProof="1" smtClean="0">
                                <a:solidFill>
                                  <a:schemeClr val="tx1"/>
                                </a:solidFill>
                              </a:rPr>
                              <m:t>BC</m:t>
                            </m:r>
                          </m:e>
                        </m:d>
                      </m:den>
                    </m:f>
                  </m:oMath>
                </a14:m>
                <a:r>
                  <a:rPr lang="tr-TR" sz="1000" noProof="1">
                    <a:cs typeface="Arial" panose="020B0604020202020204" pitchFamily="34" charset="0"/>
                  </a:rPr>
                  <a:t> = </a:t>
                </a:r>
                <a14:m>
                  <m:oMath xmlns:m="http://schemas.openxmlformats.org/officeDocument/2006/math">
                    <m:f>
                      <m:fPr>
                        <m:ctrlPr>
                          <a:rPr lang="tr-TR" sz="1000" b="1" i="1" noProof="1">
                            <a:latin typeface="Cambria Math" panose="02040503050406030204" pitchFamily="18" charset="0"/>
                          </a:rPr>
                        </m:ctrlPr>
                      </m:fPr>
                      <m:num>
                        <m:d>
                          <m:dPr>
                            <m:begChr m:val="|"/>
                            <m:endChr m:val="|"/>
                            <m:ctrlPr>
                              <a:rPr lang="tr-TR" sz="1000" b="1" i="1" noProof="1">
                                <a:latin typeface="Cambria Math" panose="02040503050406030204" pitchFamily="18" charset="0"/>
                              </a:rPr>
                            </m:ctrlPr>
                          </m:dPr>
                          <m:e>
                            <m:r>
                              <m:rPr>
                                <m:nor/>
                              </m:rPr>
                              <a:rPr lang="tr-TR" sz="1000" b="1" i="0" noProof="1" smtClean="0"/>
                              <m:t>4.</m:t>
                            </m:r>
                            <m:r>
                              <m:rPr>
                                <m:nor/>
                              </m:rPr>
                              <a:rPr lang="tr-TR" sz="1000" b="1" i="0" noProof="1" smtClean="0"/>
                              <m:t>t</m:t>
                            </m:r>
                          </m:e>
                        </m:d>
                      </m:num>
                      <m:den>
                        <m:d>
                          <m:dPr>
                            <m:begChr m:val="|"/>
                            <m:endChr m:val="|"/>
                            <m:ctrlPr>
                              <a:rPr lang="tr-TR" sz="1000" b="1" i="1" noProof="1">
                                <a:latin typeface="Cambria Math" panose="02040503050406030204" pitchFamily="18" charset="0"/>
                              </a:rPr>
                            </m:ctrlPr>
                          </m:dPr>
                          <m:e>
                            <m:r>
                              <m:rPr>
                                <m:nor/>
                              </m:rPr>
                              <a:rPr lang="tr-TR" sz="1000" b="1" i="0" noProof="1" smtClean="0"/>
                              <m:t>3.</m:t>
                            </m:r>
                            <m:r>
                              <m:rPr>
                                <m:nor/>
                              </m:rPr>
                              <a:rPr lang="tr-TR" sz="1000" b="1" i="0" noProof="1" smtClean="0"/>
                              <m:t>t</m:t>
                            </m:r>
                          </m:e>
                        </m:d>
                      </m:den>
                    </m:f>
                  </m:oMath>
                </a14:m>
                <a:r>
                  <a:rPr lang="tr-TR" sz="1000" noProof="1">
                    <a:cs typeface="Arial" panose="020B0604020202020204" pitchFamily="34" charset="0"/>
                  </a:rPr>
                  <a:t> = </a:t>
                </a:r>
                <a14:m>
                  <m:oMath xmlns:m="http://schemas.openxmlformats.org/officeDocument/2006/math">
                    <m:f>
                      <m:fPr>
                        <m:ctrlPr>
                          <a:rPr lang="tr-TR" sz="1000" b="1" i="1" noProof="1">
                            <a:latin typeface="Cambria Math" panose="02040503050406030204" pitchFamily="18" charset="0"/>
                          </a:rPr>
                        </m:ctrlPr>
                      </m:fPr>
                      <m:num>
                        <m:r>
                          <m:rPr>
                            <m:nor/>
                          </m:rPr>
                          <a:rPr lang="tr-TR" sz="1000" b="1" i="0" noProof="1" smtClean="0">
                            <a:latin typeface="Cambria Math" panose="02040503050406030204" pitchFamily="18" charset="0"/>
                          </a:rPr>
                          <m:t> </m:t>
                        </m:r>
                        <m:r>
                          <m:rPr>
                            <m:nor/>
                          </m:rPr>
                          <a:rPr lang="tr-TR" sz="1000" b="1" i="0" noProof="1" smtClean="0"/>
                          <m:t>4</m:t>
                        </m:r>
                        <m:r>
                          <m:rPr>
                            <m:nor/>
                          </m:rPr>
                          <a:rPr lang="tr-TR" sz="1000" b="1" i="0" noProof="1" smtClean="0">
                            <a:latin typeface="Cambria Math" panose="02040503050406030204" pitchFamily="18" charset="0"/>
                          </a:rPr>
                          <m:t> </m:t>
                        </m:r>
                      </m:num>
                      <m:den>
                        <m:r>
                          <m:rPr>
                            <m:nor/>
                          </m:rPr>
                          <a:rPr lang="tr-TR" sz="1000" b="1" i="0" noProof="1" smtClean="0"/>
                          <m:t>3</m:t>
                        </m:r>
                      </m:den>
                    </m:f>
                  </m:oMath>
                </a14:m>
                <a:r>
                  <a:rPr lang="tr-TR" sz="1000" noProof="1">
                    <a:cs typeface="Arial" panose="020B0604020202020204" pitchFamily="34" charset="0"/>
                  </a:rPr>
                  <a:t>  Oran sorulduğu için orantı sabiti kolaylık oldu.</a:t>
                </a:r>
              </a:p>
            </p:txBody>
          </p:sp>
        </mc:Choice>
        <mc:Fallback xmlns="">
          <p:sp>
            <p:nvSpPr>
              <p:cNvPr id="70" name="Metin kutusu 69">
                <a:extLst>
                  <a:ext uri="{FF2B5EF4-FFF2-40B4-BE49-F238E27FC236}">
                    <a16:creationId xmlns:a16="http://schemas.microsoft.com/office/drawing/2014/main" id="{58D1A6AF-E606-4B38-8B1D-188E67C51FE9}"/>
                  </a:ext>
                </a:extLst>
              </p:cNvPr>
              <p:cNvSpPr txBox="1">
                <a:spLocks noRot="1" noChangeAspect="1" noMove="1" noResize="1" noEditPoints="1" noAdjustHandles="1" noChangeArrowheads="1" noChangeShapeType="1" noTextEdit="1"/>
              </p:cNvSpPr>
              <p:nvPr/>
            </p:nvSpPr>
            <p:spPr>
              <a:xfrm>
                <a:off x="-4548" y="3332728"/>
                <a:ext cx="3399848" cy="983218"/>
              </a:xfrm>
              <a:prstGeom prst="rect">
                <a:avLst/>
              </a:prstGeom>
              <a:blipFill>
                <a:blip r:embed="rId7"/>
                <a:stretch>
                  <a:fillRect/>
                </a:stretch>
              </a:blipFill>
            </p:spPr>
            <p:txBody>
              <a:bodyPr/>
              <a:lstStyle/>
              <a:p>
                <a:r>
                  <a:rPr lang="tr-TR">
                    <a:noFill/>
                  </a:rPr>
                  <a:t> </a:t>
                </a:r>
              </a:p>
            </p:txBody>
          </p:sp>
        </mc:Fallback>
      </mc:AlternateContent>
      <p:pic>
        <p:nvPicPr>
          <p:cNvPr id="77" name="Grafik 76">
            <a:extLst>
              <a:ext uri="{FF2B5EF4-FFF2-40B4-BE49-F238E27FC236}">
                <a16:creationId xmlns:a16="http://schemas.microsoft.com/office/drawing/2014/main" id="{AABC99A3-3886-4E8A-B29C-E0D81F21521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86176" y="813722"/>
            <a:ext cx="530730" cy="521883"/>
          </a:xfrm>
          <a:prstGeom prst="rect">
            <a:avLst/>
          </a:prstGeom>
        </p:spPr>
      </p:pic>
      <p:pic>
        <p:nvPicPr>
          <p:cNvPr id="78" name="Grafik 77">
            <a:extLst>
              <a:ext uri="{FF2B5EF4-FFF2-40B4-BE49-F238E27FC236}">
                <a16:creationId xmlns:a16="http://schemas.microsoft.com/office/drawing/2014/main" id="{E2F415B2-1A8A-4CCA-AC8C-F554E24B7959}"/>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68549" y="821813"/>
            <a:ext cx="518237" cy="518237"/>
          </a:xfrm>
          <a:prstGeom prst="rect">
            <a:avLst/>
          </a:prstGeom>
        </p:spPr>
      </p:pic>
      <p:sp>
        <p:nvSpPr>
          <p:cNvPr id="79" name="Metin kutusu 78">
            <a:extLst>
              <a:ext uri="{FF2B5EF4-FFF2-40B4-BE49-F238E27FC236}">
                <a16:creationId xmlns:a16="http://schemas.microsoft.com/office/drawing/2014/main" id="{343FD02C-14F2-45A9-8806-6D65D5D9852E}"/>
              </a:ext>
            </a:extLst>
          </p:cNvPr>
          <p:cNvSpPr txBox="1"/>
          <p:nvPr/>
        </p:nvSpPr>
        <p:spPr>
          <a:xfrm>
            <a:off x="3780994" y="961746"/>
            <a:ext cx="290259" cy="246221"/>
          </a:xfrm>
          <a:prstGeom prst="rect">
            <a:avLst/>
          </a:prstGeom>
          <a:noFill/>
        </p:spPr>
        <p:txBody>
          <a:bodyPr wrap="square" rtlCol="0">
            <a:spAutoFit/>
          </a:bodyPr>
          <a:lstStyle/>
          <a:p>
            <a:r>
              <a:rPr lang="tr-TR" sz="1000" b="1" noProof="1">
                <a:cs typeface="Arial" panose="020B0604020202020204" pitchFamily="34" charset="0"/>
              </a:rPr>
              <a:t>A</a:t>
            </a:r>
          </a:p>
        </p:txBody>
      </p:sp>
      <p:sp>
        <p:nvSpPr>
          <p:cNvPr id="80" name="Metin kutusu 79">
            <a:extLst>
              <a:ext uri="{FF2B5EF4-FFF2-40B4-BE49-F238E27FC236}">
                <a16:creationId xmlns:a16="http://schemas.microsoft.com/office/drawing/2014/main" id="{8DE9B82F-178B-41D2-84D1-245E9E807D66}"/>
              </a:ext>
            </a:extLst>
          </p:cNvPr>
          <p:cNvSpPr txBox="1"/>
          <p:nvPr/>
        </p:nvSpPr>
        <p:spPr>
          <a:xfrm>
            <a:off x="6558009" y="1030295"/>
            <a:ext cx="290259" cy="246221"/>
          </a:xfrm>
          <a:prstGeom prst="rect">
            <a:avLst/>
          </a:prstGeom>
          <a:noFill/>
        </p:spPr>
        <p:txBody>
          <a:bodyPr wrap="square" rtlCol="0">
            <a:spAutoFit/>
          </a:bodyPr>
          <a:lstStyle/>
          <a:p>
            <a:r>
              <a:rPr lang="tr-TR" sz="1000" b="1" noProof="1">
                <a:cs typeface="Arial" panose="020B0604020202020204" pitchFamily="34" charset="0"/>
              </a:rPr>
              <a:t>B</a:t>
            </a:r>
          </a:p>
        </p:txBody>
      </p:sp>
      <p:cxnSp>
        <p:nvCxnSpPr>
          <p:cNvPr id="81" name="Düz Ok Bağlayıcısı 80">
            <a:extLst>
              <a:ext uri="{FF2B5EF4-FFF2-40B4-BE49-F238E27FC236}">
                <a16:creationId xmlns:a16="http://schemas.microsoft.com/office/drawing/2014/main" id="{30E2FFF3-08EF-4667-81B2-67C8F82D6AF4}"/>
              </a:ext>
            </a:extLst>
          </p:cNvPr>
          <p:cNvCxnSpPr/>
          <p:nvPr/>
        </p:nvCxnSpPr>
        <p:spPr>
          <a:xfrm>
            <a:off x="4088442" y="934332"/>
            <a:ext cx="292713"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82" name="Düz Ok Bağlayıcısı 81">
            <a:extLst>
              <a:ext uri="{FF2B5EF4-FFF2-40B4-BE49-F238E27FC236}">
                <a16:creationId xmlns:a16="http://schemas.microsoft.com/office/drawing/2014/main" id="{51F312D8-C7A1-4D9A-820D-67F119078273}"/>
              </a:ext>
            </a:extLst>
          </p:cNvPr>
          <p:cNvCxnSpPr>
            <a:cxnSpLocks/>
          </p:cNvCxnSpPr>
          <p:nvPr/>
        </p:nvCxnSpPr>
        <p:spPr>
          <a:xfrm flipH="1" flipV="1">
            <a:off x="5865936" y="933038"/>
            <a:ext cx="169590" cy="187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83" name="Grafik 82">
            <a:extLst>
              <a:ext uri="{FF2B5EF4-FFF2-40B4-BE49-F238E27FC236}">
                <a16:creationId xmlns:a16="http://schemas.microsoft.com/office/drawing/2014/main" id="{302CE624-6E13-49C0-A01A-624D9C6C7E66}"/>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55744" y="1766613"/>
            <a:ext cx="560662" cy="551316"/>
          </a:xfrm>
          <a:prstGeom prst="rect">
            <a:avLst/>
          </a:prstGeom>
        </p:spPr>
      </p:pic>
      <p:pic>
        <p:nvPicPr>
          <p:cNvPr id="84" name="Grafik 83">
            <a:extLst>
              <a:ext uri="{FF2B5EF4-FFF2-40B4-BE49-F238E27FC236}">
                <a16:creationId xmlns:a16="http://schemas.microsoft.com/office/drawing/2014/main" id="{62F76F80-10A5-4205-AE75-C6D1CD8415CC}"/>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61751" y="1768535"/>
            <a:ext cx="552783" cy="552783"/>
          </a:xfrm>
          <a:prstGeom prst="rect">
            <a:avLst/>
          </a:prstGeom>
        </p:spPr>
      </p:pic>
      <mc:AlternateContent xmlns:mc="http://schemas.openxmlformats.org/markup-compatibility/2006" xmlns:a14="http://schemas.microsoft.com/office/drawing/2010/main">
        <mc:Choice Requires="a14">
          <p:sp>
            <p:nvSpPr>
              <p:cNvPr id="85" name="Metin kutusu 84">
                <a:extLst>
                  <a:ext uri="{FF2B5EF4-FFF2-40B4-BE49-F238E27FC236}">
                    <a16:creationId xmlns:a16="http://schemas.microsoft.com/office/drawing/2014/main" id="{3A5F6199-2DB2-4E14-8262-187C9C633ACF}"/>
                  </a:ext>
                </a:extLst>
              </p:cNvPr>
              <p:cNvSpPr txBox="1"/>
              <p:nvPr/>
            </p:nvSpPr>
            <p:spPr>
              <a:xfrm>
                <a:off x="3496298" y="2174252"/>
                <a:ext cx="901191" cy="246221"/>
              </a:xfrm>
              <a:prstGeom prst="rect">
                <a:avLst/>
              </a:prstGeom>
              <a:noFill/>
            </p:spPr>
            <p:txBody>
              <a:bodyPr wrap="square" rtlCol="0">
                <a:spAutoFit/>
              </a:bodyPr>
              <a:lstStyle/>
              <a:p>
                <a:pPr algn="ctr"/>
                <a14:m>
                  <m:oMath xmlns:m="http://schemas.openxmlformats.org/officeDocument/2006/math">
                    <m:sSub>
                      <m:sSubPr>
                        <m:ctrlPr>
                          <a:rPr lang="tr-TR" sz="1000" i="1" noProof="1" smtClean="0">
                            <a:solidFill>
                              <a:srgbClr val="836967"/>
                            </a:solidFill>
                            <a:latin typeface="Cambria Math" panose="02040503050406030204" pitchFamily="18" charset="0"/>
                          </a:rPr>
                        </m:ctrlPr>
                      </m:sSubPr>
                      <m:e>
                        <m:r>
                          <m:rPr>
                            <m:sty m:val="p"/>
                          </m:rPr>
                          <a:rPr lang="tr-TR" sz="1000" i="0" noProof="1" smtClean="0">
                            <a:latin typeface="Cambria Math" panose="02040503050406030204" pitchFamily="18" charset="0"/>
                          </a:rPr>
                          <m:t>v</m:t>
                        </m:r>
                      </m:e>
                      <m:sub>
                        <m:r>
                          <a:rPr lang="tr-TR" sz="1000" i="0" noProof="1" smtClean="0">
                            <a:latin typeface="Cambria Math" panose="02040503050406030204" pitchFamily="18" charset="0"/>
                          </a:rPr>
                          <m:t>1</m:t>
                        </m:r>
                      </m:sub>
                    </m:sSub>
                  </m:oMath>
                </a14:m>
                <a:r>
                  <a:rPr lang="tr-TR" sz="1000" noProof="1">
                    <a:cs typeface="Arial" panose="020B0604020202020204" pitchFamily="34" charset="0"/>
                  </a:rPr>
                  <a:t> km / saat</a:t>
                </a:r>
              </a:p>
            </p:txBody>
          </p:sp>
        </mc:Choice>
        <mc:Fallback xmlns="">
          <p:sp>
            <p:nvSpPr>
              <p:cNvPr id="85" name="Metin kutusu 84">
                <a:extLst>
                  <a:ext uri="{FF2B5EF4-FFF2-40B4-BE49-F238E27FC236}">
                    <a16:creationId xmlns:a16="http://schemas.microsoft.com/office/drawing/2014/main" id="{3A5F6199-2DB2-4E14-8262-187C9C633ACF}"/>
                  </a:ext>
                </a:extLst>
              </p:cNvPr>
              <p:cNvSpPr txBox="1">
                <a:spLocks noRot="1" noChangeAspect="1" noMove="1" noResize="1" noEditPoints="1" noAdjustHandles="1" noChangeArrowheads="1" noChangeShapeType="1" noTextEdit="1"/>
              </p:cNvSpPr>
              <p:nvPr/>
            </p:nvSpPr>
            <p:spPr>
              <a:xfrm>
                <a:off x="3496298" y="2174252"/>
                <a:ext cx="901191" cy="246221"/>
              </a:xfrm>
              <a:prstGeom prst="rect">
                <a:avLst/>
              </a:prstGeom>
              <a:blipFill>
                <a:blip r:embed="rId14"/>
                <a:stretch>
                  <a:fillRect b="-1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6" name="Metin kutusu 85">
                <a:extLst>
                  <a:ext uri="{FF2B5EF4-FFF2-40B4-BE49-F238E27FC236}">
                    <a16:creationId xmlns:a16="http://schemas.microsoft.com/office/drawing/2014/main" id="{A5C4A0C8-FBBF-4810-92A5-214D65A8844D}"/>
                  </a:ext>
                </a:extLst>
              </p:cNvPr>
              <p:cNvSpPr txBox="1"/>
              <p:nvPr/>
            </p:nvSpPr>
            <p:spPr>
              <a:xfrm>
                <a:off x="5948456" y="2155587"/>
                <a:ext cx="892466" cy="246221"/>
              </a:xfrm>
              <a:prstGeom prst="rect">
                <a:avLst/>
              </a:prstGeom>
              <a:noFill/>
            </p:spPr>
            <p:txBody>
              <a:bodyPr wrap="square" rtlCol="0">
                <a:spAutoFit/>
              </a:bodyPr>
              <a:lstStyle/>
              <a:p>
                <a:pPr algn="ctr"/>
                <a14:m>
                  <m:oMath xmlns:m="http://schemas.openxmlformats.org/officeDocument/2006/math">
                    <m:sSub>
                      <m:sSubPr>
                        <m:ctrlPr>
                          <a:rPr lang="tr-TR" sz="1000" i="1" noProof="1" smtClean="0">
                            <a:solidFill>
                              <a:srgbClr val="836967"/>
                            </a:solidFill>
                            <a:latin typeface="Cambria Math" panose="02040503050406030204" pitchFamily="18" charset="0"/>
                          </a:rPr>
                        </m:ctrlPr>
                      </m:sSubPr>
                      <m:e>
                        <m:r>
                          <m:rPr>
                            <m:sty m:val="p"/>
                          </m:rPr>
                          <a:rPr lang="tr-TR" sz="1000" i="0" noProof="1" smtClean="0">
                            <a:latin typeface="Cambria Math" panose="02040503050406030204" pitchFamily="18" charset="0"/>
                          </a:rPr>
                          <m:t>v</m:t>
                        </m:r>
                      </m:e>
                      <m:sub>
                        <m:r>
                          <a:rPr lang="tr-TR" sz="1000" b="0" i="0" noProof="1" smtClean="0">
                            <a:latin typeface="Cambria Math" panose="02040503050406030204" pitchFamily="18" charset="0"/>
                          </a:rPr>
                          <m:t>2</m:t>
                        </m:r>
                      </m:sub>
                    </m:sSub>
                  </m:oMath>
                </a14:m>
                <a:r>
                  <a:rPr lang="tr-TR" sz="1000" noProof="1">
                    <a:cs typeface="Arial" panose="020B0604020202020204" pitchFamily="34" charset="0"/>
                  </a:rPr>
                  <a:t> km / saat</a:t>
                </a:r>
              </a:p>
            </p:txBody>
          </p:sp>
        </mc:Choice>
        <mc:Fallback xmlns="">
          <p:sp>
            <p:nvSpPr>
              <p:cNvPr id="86" name="Metin kutusu 85">
                <a:extLst>
                  <a:ext uri="{FF2B5EF4-FFF2-40B4-BE49-F238E27FC236}">
                    <a16:creationId xmlns:a16="http://schemas.microsoft.com/office/drawing/2014/main" id="{A5C4A0C8-FBBF-4810-92A5-214D65A8844D}"/>
                  </a:ext>
                </a:extLst>
              </p:cNvPr>
              <p:cNvSpPr txBox="1">
                <a:spLocks noRot="1" noChangeAspect="1" noMove="1" noResize="1" noEditPoints="1" noAdjustHandles="1" noChangeArrowheads="1" noChangeShapeType="1" noTextEdit="1"/>
              </p:cNvSpPr>
              <p:nvPr/>
            </p:nvSpPr>
            <p:spPr>
              <a:xfrm>
                <a:off x="5948456" y="2155587"/>
                <a:ext cx="892466" cy="246221"/>
              </a:xfrm>
              <a:prstGeom prst="rect">
                <a:avLst/>
              </a:prstGeom>
              <a:blipFill>
                <a:blip r:embed="rId15"/>
                <a:stretch>
                  <a:fillRect b="-15000"/>
                </a:stretch>
              </a:blipFill>
            </p:spPr>
            <p:txBody>
              <a:bodyPr/>
              <a:lstStyle/>
              <a:p>
                <a:r>
                  <a:rPr lang="tr-TR">
                    <a:noFill/>
                  </a:rPr>
                  <a:t> </a:t>
                </a:r>
              </a:p>
            </p:txBody>
          </p:sp>
        </mc:Fallback>
      </mc:AlternateContent>
      <p:sp>
        <p:nvSpPr>
          <p:cNvPr id="87" name="Metin kutusu 86">
            <a:extLst>
              <a:ext uri="{FF2B5EF4-FFF2-40B4-BE49-F238E27FC236}">
                <a16:creationId xmlns:a16="http://schemas.microsoft.com/office/drawing/2014/main" id="{FB3739F4-0A37-4740-B07A-D678ABC609BA}"/>
              </a:ext>
            </a:extLst>
          </p:cNvPr>
          <p:cNvSpPr txBox="1"/>
          <p:nvPr/>
        </p:nvSpPr>
        <p:spPr>
          <a:xfrm>
            <a:off x="3386452" y="1740455"/>
            <a:ext cx="745750" cy="246221"/>
          </a:xfrm>
          <a:prstGeom prst="rect">
            <a:avLst/>
          </a:prstGeom>
          <a:noFill/>
        </p:spPr>
        <p:txBody>
          <a:bodyPr wrap="square" rtlCol="0">
            <a:spAutoFit/>
          </a:bodyPr>
          <a:lstStyle/>
          <a:p>
            <a:pPr algn="ctr"/>
            <a:r>
              <a:rPr lang="tr-TR" sz="1000" noProof="1">
                <a:cs typeface="Arial" panose="020B0604020202020204" pitchFamily="34" charset="0"/>
              </a:rPr>
              <a:t>C</a:t>
            </a:r>
          </a:p>
        </p:txBody>
      </p:sp>
      <p:sp>
        <p:nvSpPr>
          <p:cNvPr id="88" name="Metin kutusu 87">
            <a:extLst>
              <a:ext uri="{FF2B5EF4-FFF2-40B4-BE49-F238E27FC236}">
                <a16:creationId xmlns:a16="http://schemas.microsoft.com/office/drawing/2014/main" id="{8FBA36F4-4CC7-4E12-BD91-3DC5A316CDFF}"/>
              </a:ext>
            </a:extLst>
          </p:cNvPr>
          <p:cNvSpPr txBox="1"/>
          <p:nvPr/>
        </p:nvSpPr>
        <p:spPr>
          <a:xfrm>
            <a:off x="5954855" y="1736747"/>
            <a:ext cx="745750" cy="246221"/>
          </a:xfrm>
          <a:prstGeom prst="rect">
            <a:avLst/>
          </a:prstGeom>
          <a:noFill/>
        </p:spPr>
        <p:txBody>
          <a:bodyPr wrap="square" rtlCol="0">
            <a:spAutoFit/>
          </a:bodyPr>
          <a:lstStyle/>
          <a:p>
            <a:pPr algn="ctr"/>
            <a:r>
              <a:rPr lang="tr-TR" sz="1000" noProof="1">
                <a:cs typeface="Arial" panose="020B0604020202020204" pitchFamily="34" charset="0"/>
              </a:rPr>
              <a:t>B</a:t>
            </a:r>
          </a:p>
        </p:txBody>
      </p:sp>
      <p:sp>
        <p:nvSpPr>
          <p:cNvPr id="13" name="Sağ Ayraç 12">
            <a:extLst>
              <a:ext uri="{FF2B5EF4-FFF2-40B4-BE49-F238E27FC236}">
                <a16:creationId xmlns:a16="http://schemas.microsoft.com/office/drawing/2014/main" id="{E4D9B596-7929-4C4F-97B6-1B91F71D718C}"/>
              </a:ext>
            </a:extLst>
          </p:cNvPr>
          <p:cNvSpPr/>
          <p:nvPr/>
        </p:nvSpPr>
        <p:spPr>
          <a:xfrm rot="5400000">
            <a:off x="5093614" y="304798"/>
            <a:ext cx="124613" cy="1785043"/>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89" name="Metin kutusu 88">
                <a:extLst>
                  <a:ext uri="{FF2B5EF4-FFF2-40B4-BE49-F238E27FC236}">
                    <a16:creationId xmlns:a16="http://schemas.microsoft.com/office/drawing/2014/main" id="{F927A5CD-59B7-4253-A65A-B9D0CBF8957E}"/>
                  </a:ext>
                </a:extLst>
              </p:cNvPr>
              <p:cNvSpPr txBox="1"/>
              <p:nvPr/>
            </p:nvSpPr>
            <p:spPr>
              <a:xfrm>
                <a:off x="3462759" y="1249276"/>
                <a:ext cx="901191" cy="246221"/>
              </a:xfrm>
              <a:prstGeom prst="rect">
                <a:avLst/>
              </a:prstGeom>
              <a:noFill/>
            </p:spPr>
            <p:txBody>
              <a:bodyPr wrap="square" rtlCol="0">
                <a:spAutoFit/>
              </a:bodyPr>
              <a:lstStyle/>
              <a:p>
                <a:pPr algn="ctr"/>
                <a14:m>
                  <m:oMath xmlns:m="http://schemas.openxmlformats.org/officeDocument/2006/math">
                    <m:sSub>
                      <m:sSubPr>
                        <m:ctrlPr>
                          <a:rPr lang="tr-TR" sz="1000" i="1" noProof="1" smtClean="0">
                            <a:solidFill>
                              <a:srgbClr val="836967"/>
                            </a:solidFill>
                            <a:latin typeface="Cambria Math" panose="02040503050406030204" pitchFamily="18" charset="0"/>
                          </a:rPr>
                        </m:ctrlPr>
                      </m:sSubPr>
                      <m:e>
                        <m:r>
                          <m:rPr>
                            <m:sty m:val="p"/>
                          </m:rPr>
                          <a:rPr lang="tr-TR" sz="1000" i="0" noProof="1" smtClean="0">
                            <a:latin typeface="Cambria Math" panose="02040503050406030204" pitchFamily="18" charset="0"/>
                          </a:rPr>
                          <m:t>v</m:t>
                        </m:r>
                      </m:e>
                      <m:sub>
                        <m:r>
                          <a:rPr lang="tr-TR" sz="1000" i="0" noProof="1" smtClean="0">
                            <a:latin typeface="Cambria Math" panose="02040503050406030204" pitchFamily="18" charset="0"/>
                          </a:rPr>
                          <m:t>1</m:t>
                        </m:r>
                      </m:sub>
                    </m:sSub>
                  </m:oMath>
                </a14:m>
                <a:r>
                  <a:rPr lang="tr-TR" sz="1000" noProof="1">
                    <a:cs typeface="Arial" panose="020B0604020202020204" pitchFamily="34" charset="0"/>
                  </a:rPr>
                  <a:t> km / saat</a:t>
                </a:r>
              </a:p>
            </p:txBody>
          </p:sp>
        </mc:Choice>
        <mc:Fallback xmlns="">
          <p:sp>
            <p:nvSpPr>
              <p:cNvPr id="89" name="Metin kutusu 88">
                <a:extLst>
                  <a:ext uri="{FF2B5EF4-FFF2-40B4-BE49-F238E27FC236}">
                    <a16:creationId xmlns:a16="http://schemas.microsoft.com/office/drawing/2014/main" id="{F927A5CD-59B7-4253-A65A-B9D0CBF8957E}"/>
                  </a:ext>
                </a:extLst>
              </p:cNvPr>
              <p:cNvSpPr txBox="1">
                <a:spLocks noRot="1" noChangeAspect="1" noMove="1" noResize="1" noEditPoints="1" noAdjustHandles="1" noChangeArrowheads="1" noChangeShapeType="1" noTextEdit="1"/>
              </p:cNvSpPr>
              <p:nvPr/>
            </p:nvSpPr>
            <p:spPr>
              <a:xfrm>
                <a:off x="3462759" y="1249276"/>
                <a:ext cx="901191" cy="246221"/>
              </a:xfrm>
              <a:prstGeom prst="rect">
                <a:avLst/>
              </a:prstGeom>
              <a:blipFill>
                <a:blip r:embed="rId16"/>
                <a:stretch>
                  <a:fillRect b="-1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0" name="Metin kutusu 89">
                <a:extLst>
                  <a:ext uri="{FF2B5EF4-FFF2-40B4-BE49-F238E27FC236}">
                    <a16:creationId xmlns:a16="http://schemas.microsoft.com/office/drawing/2014/main" id="{51B0931A-A62A-4BF2-AAD1-8E5A5FC4DDD3}"/>
                  </a:ext>
                </a:extLst>
              </p:cNvPr>
              <p:cNvSpPr txBox="1"/>
              <p:nvPr/>
            </p:nvSpPr>
            <p:spPr>
              <a:xfrm>
                <a:off x="6023706" y="1198091"/>
                <a:ext cx="892466" cy="246221"/>
              </a:xfrm>
              <a:prstGeom prst="rect">
                <a:avLst/>
              </a:prstGeom>
              <a:noFill/>
            </p:spPr>
            <p:txBody>
              <a:bodyPr wrap="square" rtlCol="0">
                <a:spAutoFit/>
              </a:bodyPr>
              <a:lstStyle/>
              <a:p>
                <a:pPr algn="ctr"/>
                <a14:m>
                  <m:oMath xmlns:m="http://schemas.openxmlformats.org/officeDocument/2006/math">
                    <m:sSub>
                      <m:sSubPr>
                        <m:ctrlPr>
                          <a:rPr lang="tr-TR" sz="1000" i="1" noProof="1" smtClean="0">
                            <a:solidFill>
                              <a:srgbClr val="836967"/>
                            </a:solidFill>
                            <a:latin typeface="Cambria Math" panose="02040503050406030204" pitchFamily="18" charset="0"/>
                          </a:rPr>
                        </m:ctrlPr>
                      </m:sSubPr>
                      <m:e>
                        <m:r>
                          <m:rPr>
                            <m:sty m:val="p"/>
                          </m:rPr>
                          <a:rPr lang="tr-TR" sz="1000" i="0" noProof="1" smtClean="0">
                            <a:latin typeface="Cambria Math" panose="02040503050406030204" pitchFamily="18" charset="0"/>
                          </a:rPr>
                          <m:t>v</m:t>
                        </m:r>
                      </m:e>
                      <m:sub>
                        <m:r>
                          <a:rPr lang="tr-TR" sz="1000" b="0" i="0" noProof="1" smtClean="0">
                            <a:latin typeface="Cambria Math" panose="02040503050406030204" pitchFamily="18" charset="0"/>
                          </a:rPr>
                          <m:t>2</m:t>
                        </m:r>
                      </m:sub>
                    </m:sSub>
                  </m:oMath>
                </a14:m>
                <a:r>
                  <a:rPr lang="tr-TR" sz="1000" noProof="1">
                    <a:cs typeface="Arial" panose="020B0604020202020204" pitchFamily="34" charset="0"/>
                  </a:rPr>
                  <a:t> km / saat</a:t>
                </a:r>
              </a:p>
            </p:txBody>
          </p:sp>
        </mc:Choice>
        <mc:Fallback xmlns="">
          <p:sp>
            <p:nvSpPr>
              <p:cNvPr id="90" name="Metin kutusu 89">
                <a:extLst>
                  <a:ext uri="{FF2B5EF4-FFF2-40B4-BE49-F238E27FC236}">
                    <a16:creationId xmlns:a16="http://schemas.microsoft.com/office/drawing/2014/main" id="{51B0931A-A62A-4BF2-AAD1-8E5A5FC4DDD3}"/>
                  </a:ext>
                </a:extLst>
              </p:cNvPr>
              <p:cNvSpPr txBox="1">
                <a:spLocks noRot="1" noChangeAspect="1" noMove="1" noResize="1" noEditPoints="1" noAdjustHandles="1" noChangeArrowheads="1" noChangeShapeType="1" noTextEdit="1"/>
              </p:cNvSpPr>
              <p:nvPr/>
            </p:nvSpPr>
            <p:spPr>
              <a:xfrm>
                <a:off x="6023706" y="1198091"/>
                <a:ext cx="892466" cy="246221"/>
              </a:xfrm>
              <a:prstGeom prst="rect">
                <a:avLst/>
              </a:prstGeom>
              <a:blipFill>
                <a:blip r:embed="rId17"/>
                <a:stretch>
                  <a:fillRect b="-15000"/>
                </a:stretch>
              </a:blipFill>
            </p:spPr>
            <p:txBody>
              <a:bodyPr/>
              <a:lstStyle/>
              <a:p>
                <a:r>
                  <a:rPr lang="tr-TR">
                    <a:noFill/>
                  </a:rPr>
                  <a:t> </a:t>
                </a:r>
              </a:p>
            </p:txBody>
          </p:sp>
        </mc:Fallback>
      </mc:AlternateContent>
      <p:sp>
        <p:nvSpPr>
          <p:cNvPr id="91" name="Sağ Ayraç 90">
            <a:extLst>
              <a:ext uri="{FF2B5EF4-FFF2-40B4-BE49-F238E27FC236}">
                <a16:creationId xmlns:a16="http://schemas.microsoft.com/office/drawing/2014/main" id="{2E33CC71-6C84-4DD4-80BB-FB140DF6E47A}"/>
              </a:ext>
            </a:extLst>
          </p:cNvPr>
          <p:cNvSpPr/>
          <p:nvPr/>
        </p:nvSpPr>
        <p:spPr>
          <a:xfrm rot="5400000">
            <a:off x="5110666" y="1323828"/>
            <a:ext cx="124613" cy="1785043"/>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92" name="Metin kutusu 91">
            <a:extLst>
              <a:ext uri="{FF2B5EF4-FFF2-40B4-BE49-F238E27FC236}">
                <a16:creationId xmlns:a16="http://schemas.microsoft.com/office/drawing/2014/main" id="{F2185437-EE56-4210-8ED5-4C7F204FAFEF}"/>
              </a:ext>
            </a:extLst>
          </p:cNvPr>
          <p:cNvSpPr txBox="1"/>
          <p:nvPr/>
        </p:nvSpPr>
        <p:spPr>
          <a:xfrm>
            <a:off x="4246210" y="972042"/>
            <a:ext cx="1802232" cy="246221"/>
          </a:xfrm>
          <a:prstGeom prst="rect">
            <a:avLst/>
          </a:prstGeom>
          <a:noFill/>
        </p:spPr>
        <p:txBody>
          <a:bodyPr wrap="square" rtlCol="0">
            <a:spAutoFit/>
          </a:bodyPr>
          <a:lstStyle/>
          <a:p>
            <a:pPr algn="ctr"/>
            <a:r>
              <a:rPr lang="tr-TR" sz="1000" noProof="1">
                <a:cs typeface="Arial" panose="020B0604020202020204" pitchFamily="34" charset="0"/>
              </a:rPr>
              <a:t>540 KM</a:t>
            </a:r>
          </a:p>
        </p:txBody>
      </p:sp>
      <p:sp>
        <p:nvSpPr>
          <p:cNvPr id="93" name="Metin kutusu 92">
            <a:extLst>
              <a:ext uri="{FF2B5EF4-FFF2-40B4-BE49-F238E27FC236}">
                <a16:creationId xmlns:a16="http://schemas.microsoft.com/office/drawing/2014/main" id="{3977A717-1E00-4F2C-B940-09CE9221D6F5}"/>
              </a:ext>
            </a:extLst>
          </p:cNvPr>
          <p:cNvSpPr txBox="1"/>
          <p:nvPr/>
        </p:nvSpPr>
        <p:spPr>
          <a:xfrm>
            <a:off x="4283757" y="1962025"/>
            <a:ext cx="1802232" cy="246221"/>
          </a:xfrm>
          <a:prstGeom prst="rect">
            <a:avLst/>
          </a:prstGeom>
          <a:noFill/>
        </p:spPr>
        <p:txBody>
          <a:bodyPr wrap="square" rtlCol="0">
            <a:spAutoFit/>
          </a:bodyPr>
          <a:lstStyle/>
          <a:p>
            <a:pPr algn="ctr"/>
            <a:r>
              <a:rPr lang="tr-TR" sz="1000" noProof="1">
                <a:cs typeface="Arial" panose="020B0604020202020204" pitchFamily="34" charset="0"/>
              </a:rPr>
              <a:t>180 KM</a:t>
            </a:r>
          </a:p>
        </p:txBody>
      </p:sp>
      <p:cxnSp>
        <p:nvCxnSpPr>
          <p:cNvPr id="95" name="Düz Ok Bağlayıcısı 94">
            <a:extLst>
              <a:ext uri="{FF2B5EF4-FFF2-40B4-BE49-F238E27FC236}">
                <a16:creationId xmlns:a16="http://schemas.microsoft.com/office/drawing/2014/main" id="{5D79CDE7-BCE7-42A1-84D0-9A2F62685702}"/>
              </a:ext>
            </a:extLst>
          </p:cNvPr>
          <p:cNvCxnSpPr>
            <a:cxnSpLocks/>
          </p:cNvCxnSpPr>
          <p:nvPr/>
        </p:nvCxnSpPr>
        <p:spPr>
          <a:xfrm flipH="1" flipV="1">
            <a:off x="6097312" y="1764951"/>
            <a:ext cx="169590" cy="187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96" name="Düz Ok Bağlayıcısı 95">
            <a:extLst>
              <a:ext uri="{FF2B5EF4-FFF2-40B4-BE49-F238E27FC236}">
                <a16:creationId xmlns:a16="http://schemas.microsoft.com/office/drawing/2014/main" id="{9692D726-8439-497B-AF73-441FEDB3C913}"/>
              </a:ext>
            </a:extLst>
          </p:cNvPr>
          <p:cNvCxnSpPr>
            <a:cxnSpLocks/>
          </p:cNvCxnSpPr>
          <p:nvPr/>
        </p:nvCxnSpPr>
        <p:spPr>
          <a:xfrm flipH="1" flipV="1">
            <a:off x="4106508" y="1774630"/>
            <a:ext cx="169590" cy="187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97" name="Metin kutusu 96">
                <a:extLst>
                  <a:ext uri="{FF2B5EF4-FFF2-40B4-BE49-F238E27FC236}">
                    <a16:creationId xmlns:a16="http://schemas.microsoft.com/office/drawing/2014/main" id="{C6960F51-7450-4993-9853-585D8FAC394E}"/>
                  </a:ext>
                </a:extLst>
              </p:cNvPr>
              <p:cNvSpPr txBox="1"/>
              <p:nvPr/>
            </p:nvSpPr>
            <p:spPr>
              <a:xfrm>
                <a:off x="3547778" y="2391065"/>
                <a:ext cx="3339193" cy="1015663"/>
              </a:xfrm>
              <a:prstGeom prst="rect">
                <a:avLst/>
              </a:prstGeom>
              <a:noFill/>
            </p:spPr>
            <p:txBody>
              <a:bodyPr wrap="square" rtlCol="0">
                <a:spAutoFit/>
              </a:bodyPr>
              <a:lstStyle/>
              <a:p>
                <a:r>
                  <a:rPr lang="tr-TR" sz="1000" noProof="1">
                    <a:cs typeface="Arial" panose="020B0604020202020204" pitchFamily="34" charset="0"/>
                  </a:rPr>
                  <a:t>A,B,C araçları yukarıda belirtilen </a:t>
                </a:r>
                <a:r>
                  <a:rPr lang="tr-TR" sz="1000" u="sng" noProof="1">
                    <a:cs typeface="Arial" panose="020B0604020202020204" pitchFamily="34" charset="0"/>
                  </a:rPr>
                  <a:t>sabit</a:t>
                </a:r>
                <a:r>
                  <a:rPr lang="tr-TR" sz="1000" noProof="1">
                    <a:cs typeface="Arial" panose="020B0604020202020204" pitchFamily="34" charset="0"/>
                  </a:rPr>
                  <a:t> hızlarda ok yönünde durmadan ilerleyeceklerdir. İlk durumda A ve B araçları t sürede karşılaşmış, farklı bir zaman diliminde ikinci durumda B aracı C aracıyla arasındaki farkı t sürede kapatmıştır.</a:t>
                </a:r>
              </a:p>
              <a:p>
                <a:endParaRPr lang="tr-TR" sz="1000" noProof="1">
                  <a:cs typeface="Arial" panose="020B0604020202020204" pitchFamily="34" charset="0"/>
                </a:endParaRPr>
              </a:p>
              <a:p>
                <a:r>
                  <a:rPr lang="tr-TR" sz="1000" b="1" noProof="1">
                    <a:cs typeface="Arial" panose="020B0604020202020204" pitchFamily="34" charset="0"/>
                  </a:rPr>
                  <a:t>Buna göre, </a:t>
                </a:r>
                <a14:m>
                  <m:oMath xmlns:m="http://schemas.openxmlformats.org/officeDocument/2006/math">
                    <m:sSub>
                      <m:sSubPr>
                        <m:ctrlPr>
                          <a:rPr lang="tr-TR" sz="1000" b="1" i="1" noProof="1" smtClean="0">
                            <a:solidFill>
                              <a:srgbClr val="836967"/>
                            </a:solidFill>
                            <a:latin typeface="Cambria Math" panose="02040503050406030204" pitchFamily="18" charset="0"/>
                          </a:rPr>
                        </m:ctrlPr>
                      </m:sSubPr>
                      <m:e>
                        <m:r>
                          <a:rPr lang="tr-TR" sz="1000" b="1" i="0" noProof="1" smtClean="0">
                            <a:latin typeface="Cambria Math" panose="02040503050406030204" pitchFamily="18" charset="0"/>
                          </a:rPr>
                          <m:t>𝐯</m:t>
                        </m:r>
                      </m:e>
                      <m:sub>
                        <m:r>
                          <a:rPr lang="tr-TR" sz="1000" b="1" i="0" noProof="1" smtClean="0">
                            <a:latin typeface="Cambria Math" panose="02040503050406030204" pitchFamily="18" charset="0"/>
                          </a:rPr>
                          <m:t>𝟏</m:t>
                        </m:r>
                      </m:sub>
                    </m:sSub>
                  </m:oMath>
                </a14:m>
                <a:r>
                  <a:rPr lang="tr-TR" sz="1000" b="1" noProof="1">
                    <a:cs typeface="Arial" panose="020B0604020202020204" pitchFamily="34" charset="0"/>
                  </a:rPr>
                  <a:t> / </a:t>
                </a:r>
                <a14:m>
                  <m:oMath xmlns:m="http://schemas.openxmlformats.org/officeDocument/2006/math">
                    <m:sSub>
                      <m:sSubPr>
                        <m:ctrlPr>
                          <a:rPr lang="tr-TR" sz="1000" b="1" i="1" noProof="1" smtClean="0">
                            <a:solidFill>
                              <a:srgbClr val="836967"/>
                            </a:solidFill>
                            <a:latin typeface="Cambria Math" panose="02040503050406030204" pitchFamily="18" charset="0"/>
                          </a:rPr>
                        </m:ctrlPr>
                      </m:sSubPr>
                      <m:e>
                        <m:r>
                          <a:rPr lang="tr-TR" sz="1000" b="1" i="0" noProof="1">
                            <a:latin typeface="Cambria Math" panose="02040503050406030204" pitchFamily="18" charset="0"/>
                          </a:rPr>
                          <m:t>𝐯</m:t>
                        </m:r>
                      </m:e>
                      <m:sub>
                        <m:r>
                          <a:rPr lang="tr-TR" sz="1000" b="1" i="0" noProof="1" smtClean="0">
                            <a:latin typeface="Cambria Math" panose="02040503050406030204" pitchFamily="18" charset="0"/>
                          </a:rPr>
                          <m:t>𝟐</m:t>
                        </m:r>
                      </m:sub>
                    </m:sSub>
                  </m:oMath>
                </a14:m>
                <a:r>
                  <a:rPr lang="tr-TR" sz="1000" b="1" noProof="1">
                    <a:cs typeface="Arial" panose="020B0604020202020204" pitchFamily="34" charset="0"/>
                  </a:rPr>
                  <a:t> oranı kaçtır?</a:t>
                </a:r>
              </a:p>
            </p:txBody>
          </p:sp>
        </mc:Choice>
        <mc:Fallback xmlns="">
          <p:sp>
            <p:nvSpPr>
              <p:cNvPr id="97" name="Metin kutusu 96">
                <a:extLst>
                  <a:ext uri="{FF2B5EF4-FFF2-40B4-BE49-F238E27FC236}">
                    <a16:creationId xmlns:a16="http://schemas.microsoft.com/office/drawing/2014/main" id="{C6960F51-7450-4993-9853-585D8FAC394E}"/>
                  </a:ext>
                </a:extLst>
              </p:cNvPr>
              <p:cNvSpPr txBox="1">
                <a:spLocks noRot="1" noChangeAspect="1" noMove="1" noResize="1" noEditPoints="1" noAdjustHandles="1" noChangeArrowheads="1" noChangeShapeType="1" noTextEdit="1"/>
              </p:cNvSpPr>
              <p:nvPr/>
            </p:nvSpPr>
            <p:spPr>
              <a:xfrm>
                <a:off x="3547778" y="2391065"/>
                <a:ext cx="3339193" cy="1015663"/>
              </a:xfrm>
              <a:prstGeom prst="rect">
                <a:avLst/>
              </a:prstGeom>
              <a:blipFill>
                <a:blip r:embed="rId18"/>
                <a:stretch>
                  <a:fillRect b="-299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8" name="Metin kutusu 97">
                <a:extLst>
                  <a:ext uri="{FF2B5EF4-FFF2-40B4-BE49-F238E27FC236}">
                    <a16:creationId xmlns:a16="http://schemas.microsoft.com/office/drawing/2014/main" id="{D6CF849B-FA97-4DDD-9813-E99F5E84B2F7}"/>
                  </a:ext>
                </a:extLst>
              </p:cNvPr>
              <p:cNvSpPr txBox="1"/>
              <p:nvPr/>
            </p:nvSpPr>
            <p:spPr>
              <a:xfrm>
                <a:off x="3533068" y="6179648"/>
                <a:ext cx="3339193" cy="1692771"/>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chemeClr val="tx1"/>
                    </a:solidFill>
                    <a:cs typeface="Arial" panose="020B0604020202020204" pitchFamily="34" charset="0"/>
                  </a:rPr>
                  <a:t>Karşılaşma durumunda hızlar toplanır ve yola eşitlenir.</a:t>
                </a:r>
              </a:p>
              <a:p>
                <a:pPr marL="171450" indent="-171450">
                  <a:buFont typeface="Wingdings" panose="05000000000000000000" pitchFamily="2" charset="2"/>
                  <a:buChar char="§"/>
                </a:pPr>
                <a:r>
                  <a:rPr lang="tr-TR" sz="1000" noProof="1">
                    <a:solidFill>
                      <a:schemeClr val="tx1"/>
                    </a:solidFill>
                    <a:cs typeface="Arial" panose="020B0604020202020204" pitchFamily="34" charset="0"/>
                  </a:rPr>
                  <a:t>Aradaki fark durumunda hızlar farkı alınır ve yola eşitlenir.</a:t>
                </a:r>
              </a:p>
              <a:p>
                <a:pPr marL="171450" indent="-171450">
                  <a:buFont typeface="Wingdings" panose="05000000000000000000" pitchFamily="2" charset="2"/>
                  <a:buChar char="§"/>
                </a:pPr>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İlk durum      540 = (</a:t>
                </a:r>
                <a14:m>
                  <m:oMath xmlns:m="http://schemas.openxmlformats.org/officeDocument/2006/math">
                    <m:sSub>
                      <m:sSubPr>
                        <m:ctrlPr>
                          <a:rPr lang="tr-TR" sz="1000" i="1" noProof="1" smtClean="0">
                            <a:solidFill>
                              <a:schemeClr val="tx1"/>
                            </a:solidFill>
                            <a:latin typeface="Cambria Math" panose="02040503050406030204" pitchFamily="18" charset="0"/>
                          </a:rPr>
                        </m:ctrlPr>
                      </m:sSubPr>
                      <m:e>
                        <m:r>
                          <m:rPr>
                            <m:sty m:val="p"/>
                          </m:rPr>
                          <a:rPr lang="tr-TR" sz="1000" i="0" noProof="1" smtClean="0">
                            <a:solidFill>
                              <a:schemeClr val="tx1"/>
                            </a:solidFill>
                            <a:latin typeface="Cambria Math" panose="02040503050406030204" pitchFamily="18" charset="0"/>
                          </a:rPr>
                          <m:t>v</m:t>
                        </m:r>
                      </m:e>
                      <m:sub>
                        <m:r>
                          <a:rPr lang="tr-TR" sz="1000" i="0" noProof="1" smtClean="0">
                            <a:solidFill>
                              <a:schemeClr val="tx1"/>
                            </a:solidFill>
                            <a:latin typeface="Cambria Math" panose="02040503050406030204" pitchFamily="18" charset="0"/>
                          </a:rPr>
                          <m:t>1</m:t>
                        </m:r>
                      </m:sub>
                    </m:sSub>
                  </m:oMath>
                </a14:m>
                <a:r>
                  <a:rPr lang="tr-TR" sz="1000" noProof="1">
                    <a:solidFill>
                      <a:schemeClr val="tx1"/>
                    </a:solidFill>
                    <a:cs typeface="Arial" panose="020B0604020202020204" pitchFamily="34" charset="0"/>
                  </a:rPr>
                  <a:t> +</a:t>
                </a:r>
                <a:r>
                  <a:rPr lang="tr-TR" sz="1000" noProof="1">
                    <a:solidFill>
                      <a:schemeClr val="tx1"/>
                    </a:solidFill>
                  </a:rPr>
                  <a:t> </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b="0" i="0" noProof="1" smtClean="0">
                            <a:solidFill>
                              <a:schemeClr val="tx1"/>
                            </a:solidFill>
                            <a:latin typeface="Cambria Math" panose="02040503050406030204" pitchFamily="18" charset="0"/>
                          </a:rPr>
                          <m:t>2</m:t>
                        </m:r>
                      </m:sub>
                    </m:sSub>
                  </m:oMath>
                </a14:m>
                <a:r>
                  <a:rPr lang="tr-TR" sz="1000" noProof="1">
                    <a:solidFill>
                      <a:schemeClr val="tx1"/>
                    </a:solidFill>
                    <a:cs typeface="Arial" panose="020B0604020202020204" pitchFamily="34" charset="0"/>
                  </a:rPr>
                  <a:t> ) . t</a:t>
                </a:r>
              </a:p>
              <a:p>
                <a:r>
                  <a:rPr lang="tr-TR" sz="1000" noProof="1">
                    <a:solidFill>
                      <a:schemeClr val="tx1"/>
                    </a:solidFill>
                    <a:cs typeface="Arial" panose="020B0604020202020204" pitchFamily="34" charset="0"/>
                  </a:rPr>
                  <a:t>İkinci durum 180 = (</a:t>
                </a:r>
                <a14:m>
                  <m:oMath xmlns:m="http://schemas.openxmlformats.org/officeDocument/2006/math">
                    <m:sSub>
                      <m:sSubPr>
                        <m:ctrlPr>
                          <a:rPr lang="tr-TR" sz="1000" i="1" noProof="1" smtClean="0">
                            <a:solidFill>
                              <a:schemeClr val="tx1"/>
                            </a:solidFill>
                            <a:latin typeface="Cambria Math" panose="02040503050406030204" pitchFamily="18" charset="0"/>
                          </a:rPr>
                        </m:ctrlPr>
                      </m:sSubPr>
                      <m:e>
                        <m:r>
                          <m:rPr>
                            <m:sty m:val="p"/>
                          </m:rPr>
                          <a:rPr lang="tr-TR" sz="1000" i="0" noProof="1" smtClean="0">
                            <a:solidFill>
                              <a:schemeClr val="tx1"/>
                            </a:solidFill>
                            <a:latin typeface="Cambria Math" panose="02040503050406030204" pitchFamily="18" charset="0"/>
                          </a:rPr>
                          <m:t>v</m:t>
                        </m:r>
                      </m:e>
                      <m:sub>
                        <m:r>
                          <a:rPr lang="tr-TR" sz="1000" b="0" i="0" noProof="1" smtClean="0">
                            <a:solidFill>
                              <a:schemeClr val="tx1"/>
                            </a:solidFill>
                            <a:latin typeface="Cambria Math" panose="02040503050406030204" pitchFamily="18" charset="0"/>
                          </a:rPr>
                          <m:t>2</m:t>
                        </m:r>
                      </m:sub>
                    </m:sSub>
                  </m:oMath>
                </a14:m>
                <a:r>
                  <a:rPr lang="tr-TR" sz="1000" noProof="1">
                    <a:solidFill>
                      <a:schemeClr val="tx1"/>
                    </a:solidFill>
                    <a:cs typeface="Arial" panose="020B0604020202020204" pitchFamily="34" charset="0"/>
                  </a:rPr>
                  <a:t> -</a:t>
                </a:r>
                <a:r>
                  <a:rPr lang="tr-TR" sz="1000" noProof="1">
                    <a:solidFill>
                      <a:schemeClr val="tx1"/>
                    </a:solidFill>
                  </a:rPr>
                  <a:t> </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b="0" i="0" noProof="1" smtClean="0">
                            <a:solidFill>
                              <a:schemeClr val="tx1"/>
                            </a:solidFill>
                            <a:latin typeface="Cambria Math" panose="02040503050406030204" pitchFamily="18" charset="0"/>
                          </a:rPr>
                          <m:t>1</m:t>
                        </m:r>
                      </m:sub>
                    </m:sSub>
                  </m:oMath>
                </a14:m>
                <a:r>
                  <a:rPr lang="tr-TR" sz="1000" noProof="1">
                    <a:solidFill>
                      <a:schemeClr val="tx1"/>
                    </a:solidFill>
                    <a:cs typeface="Arial" panose="020B0604020202020204" pitchFamily="34" charset="0"/>
                  </a:rPr>
                  <a:t> ) . t      oranladığımızda </a:t>
                </a:r>
              </a:p>
              <a:p>
                <a:endParaRPr lang="tr-TR" sz="1000" noProof="1">
                  <a:solidFill>
                    <a:schemeClr val="tx1"/>
                  </a:solidFill>
                  <a:cs typeface="Arial" panose="020B0604020202020204" pitchFamily="34" charset="0"/>
                </a:endParaRPr>
              </a:p>
              <a:p>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i="0" noProof="1" smtClean="0">
                            <a:solidFill>
                              <a:schemeClr val="tx1"/>
                            </a:solidFill>
                          </a:rPr>
                          <m:t>3</m:t>
                        </m:r>
                      </m:num>
                      <m:den>
                        <m:r>
                          <m:rPr>
                            <m:nor/>
                          </m:rPr>
                          <a:rPr lang="tr-TR" sz="1000" i="0" noProof="1" smtClean="0">
                            <a:solidFill>
                              <a:schemeClr val="tx1"/>
                            </a:solidFill>
                          </a:rPr>
                          <m:t>1</m:t>
                        </m:r>
                      </m:den>
                    </m:f>
                    <m:r>
                      <a:rPr lang="tr-TR" sz="1000" i="1" noProof="1" smtClean="0">
                        <a:solidFill>
                          <a:schemeClr val="tx1"/>
                        </a:solidFill>
                        <a:latin typeface="Cambria Math" panose="02040503050406030204" pitchFamily="18" charset="0"/>
                      </a:rPr>
                      <m:t>=</m:t>
                    </m:r>
                    <m:f>
                      <m:fPr>
                        <m:ctrlPr>
                          <a:rPr lang="tr-TR" sz="1000" i="1" noProof="1" smtClean="0">
                            <a:solidFill>
                              <a:schemeClr val="tx1"/>
                            </a:solidFill>
                            <a:latin typeface="Cambria Math" panose="02040503050406030204" pitchFamily="18" charset="0"/>
                          </a:rPr>
                        </m:ctrlPr>
                      </m:fPr>
                      <m:num>
                        <m:sSub>
                          <m:sSubPr>
                            <m:ctrlPr>
                              <a:rPr lang="tr-TR" sz="1000" i="1" noProof="1" smtClean="0">
                                <a:solidFill>
                                  <a:schemeClr val="tx1"/>
                                </a:solidFill>
                                <a:latin typeface="Cambria Math" panose="02040503050406030204" pitchFamily="18" charset="0"/>
                              </a:rPr>
                            </m:ctrlPr>
                          </m:sSubPr>
                          <m:e>
                            <m:r>
                              <m:rPr>
                                <m:sty m:val="p"/>
                              </m:rPr>
                              <a:rPr lang="tr-TR" sz="1000" i="0" noProof="1" smtClean="0">
                                <a:solidFill>
                                  <a:schemeClr val="tx1"/>
                                </a:solidFill>
                                <a:latin typeface="Cambria Math" panose="02040503050406030204" pitchFamily="18" charset="0"/>
                              </a:rPr>
                              <m:t>v</m:t>
                            </m:r>
                          </m:e>
                          <m:sub>
                            <m:r>
                              <a:rPr lang="tr-TR" sz="1000" i="0" noProof="1" smtClean="0">
                                <a:solidFill>
                                  <a:schemeClr val="tx1"/>
                                </a:solidFill>
                                <a:latin typeface="Cambria Math" panose="02040503050406030204" pitchFamily="18" charset="0"/>
                              </a:rPr>
                              <m:t>1</m:t>
                            </m:r>
                          </m:sub>
                        </m:sSub>
                        <m:r>
                          <a:rPr lang="tr-TR" sz="1000" i="0" noProof="1" smtClean="0">
                            <a:solidFill>
                              <a:schemeClr val="tx1"/>
                            </a:solidFill>
                            <a:latin typeface="Cambria Math" panose="02040503050406030204" pitchFamily="18" charset="0"/>
                          </a:rPr>
                          <m:t>+</m:t>
                        </m:r>
                        <m:sSub>
                          <m:sSubPr>
                            <m:ctrlPr>
                              <a:rPr lang="tr-TR" sz="1000" i="1" noProof="1" smtClean="0">
                                <a:solidFill>
                                  <a:schemeClr val="tx1"/>
                                </a:solidFill>
                                <a:latin typeface="Cambria Math" panose="02040503050406030204" pitchFamily="18" charset="0"/>
                              </a:rPr>
                            </m:ctrlPr>
                          </m:sSubPr>
                          <m:e>
                            <m:r>
                              <m:rPr>
                                <m:sty m:val="p"/>
                              </m:rPr>
                              <a:rPr lang="tr-TR" sz="1000" i="0" noProof="1" smtClean="0">
                                <a:solidFill>
                                  <a:schemeClr val="tx1"/>
                                </a:solidFill>
                                <a:latin typeface="Cambria Math" panose="02040503050406030204" pitchFamily="18" charset="0"/>
                              </a:rPr>
                              <m:t>v</m:t>
                            </m:r>
                          </m:e>
                          <m:sub>
                            <m:r>
                              <a:rPr lang="tr-TR" sz="1000" i="0" noProof="1" smtClean="0">
                                <a:solidFill>
                                  <a:schemeClr val="tx1"/>
                                </a:solidFill>
                                <a:latin typeface="Cambria Math" panose="02040503050406030204" pitchFamily="18" charset="0"/>
                              </a:rPr>
                              <m:t>2</m:t>
                            </m:r>
                          </m:sub>
                        </m:sSub>
                      </m:num>
                      <m:den>
                        <m:sSub>
                          <m:sSubPr>
                            <m:ctrlPr>
                              <a:rPr lang="tr-TR" sz="1000" i="1" noProof="1" smtClean="0">
                                <a:solidFill>
                                  <a:schemeClr val="tx1"/>
                                </a:solidFill>
                                <a:latin typeface="Cambria Math" panose="02040503050406030204" pitchFamily="18" charset="0"/>
                              </a:rPr>
                            </m:ctrlPr>
                          </m:sSubPr>
                          <m:e>
                            <m:r>
                              <m:rPr>
                                <m:sty m:val="p"/>
                              </m:rPr>
                              <a:rPr lang="tr-TR" sz="1000" i="0" noProof="1" smtClean="0">
                                <a:solidFill>
                                  <a:schemeClr val="tx1"/>
                                </a:solidFill>
                                <a:latin typeface="Cambria Math" panose="02040503050406030204" pitchFamily="18" charset="0"/>
                              </a:rPr>
                              <m:t>v</m:t>
                            </m:r>
                          </m:e>
                          <m:sub>
                            <m:r>
                              <a:rPr lang="tr-TR" sz="1000" i="0" noProof="1" smtClean="0">
                                <a:solidFill>
                                  <a:schemeClr val="tx1"/>
                                </a:solidFill>
                                <a:latin typeface="Cambria Math" panose="02040503050406030204" pitchFamily="18" charset="0"/>
                              </a:rPr>
                              <m:t>2</m:t>
                            </m:r>
                          </m:sub>
                        </m:sSub>
                        <m:r>
                          <a:rPr lang="tr-TR" sz="1000" i="0" noProof="1" smtClean="0">
                            <a:solidFill>
                              <a:schemeClr val="tx1"/>
                            </a:solidFill>
                            <a:latin typeface="Cambria Math" panose="02040503050406030204" pitchFamily="18" charset="0"/>
                          </a:rPr>
                          <m:t>−</m:t>
                        </m:r>
                        <m:sSub>
                          <m:sSubPr>
                            <m:ctrlPr>
                              <a:rPr lang="tr-TR" sz="1000" i="1" noProof="1" smtClean="0">
                                <a:solidFill>
                                  <a:schemeClr val="tx1"/>
                                </a:solidFill>
                                <a:latin typeface="Cambria Math" panose="02040503050406030204" pitchFamily="18" charset="0"/>
                              </a:rPr>
                            </m:ctrlPr>
                          </m:sSubPr>
                          <m:e>
                            <m:r>
                              <m:rPr>
                                <m:sty m:val="p"/>
                              </m:rPr>
                              <a:rPr lang="tr-TR" sz="1000" i="0" noProof="1" smtClean="0">
                                <a:solidFill>
                                  <a:schemeClr val="tx1"/>
                                </a:solidFill>
                                <a:latin typeface="Cambria Math" panose="02040503050406030204" pitchFamily="18" charset="0"/>
                              </a:rPr>
                              <m:t>v</m:t>
                            </m:r>
                          </m:e>
                          <m:sub>
                            <m:r>
                              <a:rPr lang="tr-TR" sz="1000" i="0" noProof="1" smtClean="0">
                                <a:solidFill>
                                  <a:schemeClr val="tx1"/>
                                </a:solidFill>
                                <a:latin typeface="Cambria Math" panose="02040503050406030204" pitchFamily="18" charset="0"/>
                              </a:rPr>
                              <m:t>1</m:t>
                            </m:r>
                          </m:sub>
                        </m:sSub>
                      </m:den>
                    </m:f>
                  </m:oMath>
                </a14:m>
                <a:r>
                  <a:rPr lang="tr-TR" sz="1000" noProof="1">
                    <a:solidFill>
                      <a:schemeClr val="tx1"/>
                    </a:solidFill>
                    <a:cs typeface="Arial" panose="020B0604020202020204" pitchFamily="34" charset="0"/>
                  </a:rPr>
                  <a:t>       3</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noProof="1">
                            <a:solidFill>
                              <a:schemeClr val="tx1"/>
                            </a:solidFill>
                            <a:latin typeface="Cambria Math" panose="02040503050406030204" pitchFamily="18" charset="0"/>
                          </a:rPr>
                          <m:t>2</m:t>
                        </m:r>
                      </m:sub>
                    </m:sSub>
                  </m:oMath>
                </a14:m>
                <a:r>
                  <a:rPr lang="tr-TR" sz="1000" noProof="1">
                    <a:solidFill>
                      <a:schemeClr val="tx1"/>
                    </a:solidFill>
                    <a:cs typeface="Arial" panose="020B0604020202020204" pitchFamily="34" charset="0"/>
                  </a:rPr>
                  <a:t> - 3</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b="0" i="0" noProof="1" smtClean="0">
                            <a:solidFill>
                              <a:schemeClr val="tx1"/>
                            </a:solidFill>
                            <a:latin typeface="Cambria Math" panose="02040503050406030204" pitchFamily="18" charset="0"/>
                          </a:rPr>
                          <m:t>1</m:t>
                        </m:r>
                      </m:sub>
                    </m:sSub>
                  </m:oMath>
                </a14:m>
                <a:r>
                  <a:rPr lang="tr-TR" sz="1000" noProof="1">
                    <a:solidFill>
                      <a:schemeClr val="tx1"/>
                    </a:solidFill>
                    <a:cs typeface="Arial" panose="020B0604020202020204" pitchFamily="34" charset="0"/>
                  </a:rPr>
                  <a:t> = </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noProof="1">
                            <a:solidFill>
                              <a:schemeClr val="tx1"/>
                            </a:solidFill>
                            <a:latin typeface="Cambria Math" panose="02040503050406030204" pitchFamily="18" charset="0"/>
                          </a:rPr>
                          <m:t>1</m:t>
                        </m:r>
                      </m:sub>
                    </m:sSub>
                  </m:oMath>
                </a14:m>
                <a:r>
                  <a:rPr lang="tr-TR" sz="1000" noProof="1">
                    <a:solidFill>
                      <a:schemeClr val="tx1"/>
                    </a:solidFill>
                    <a:cs typeface="Arial" panose="020B0604020202020204" pitchFamily="34" charset="0"/>
                  </a:rPr>
                  <a:t> +</a:t>
                </a:r>
                <a:r>
                  <a:rPr lang="tr-TR" sz="1000" noProof="1">
                    <a:solidFill>
                      <a:schemeClr val="tx1"/>
                    </a:solidFill>
                  </a:rPr>
                  <a:t> </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noProof="1">
                            <a:solidFill>
                              <a:schemeClr val="tx1"/>
                            </a:solidFill>
                            <a:latin typeface="Cambria Math" panose="02040503050406030204" pitchFamily="18" charset="0"/>
                          </a:rPr>
                          <m:t>2</m:t>
                        </m:r>
                      </m:sub>
                    </m:sSub>
                  </m:oMath>
                </a14:m>
                <a:r>
                  <a:rPr lang="tr-TR" sz="1000" noProof="1">
                    <a:solidFill>
                      <a:schemeClr val="tx1"/>
                    </a:solidFill>
                    <a:cs typeface="Arial" panose="020B0604020202020204" pitchFamily="34" charset="0"/>
                  </a:rPr>
                  <a:t>  içler dışlardan gelen sonuç.</a:t>
                </a:r>
              </a:p>
              <a:p>
                <a:endParaRPr lang="tr-TR" sz="1000" noProof="1">
                  <a:solidFill>
                    <a:schemeClr val="tx1"/>
                  </a:solidFill>
                  <a:cs typeface="Arial" panose="020B0604020202020204" pitchFamily="34" charset="0"/>
                </a:endParaRPr>
              </a:p>
              <a:p>
                <a:r>
                  <a:rPr lang="tr-TR" sz="1000" noProof="1">
                    <a:solidFill>
                      <a:schemeClr val="tx1"/>
                    </a:solidFill>
                  </a:rPr>
                  <a:t>4</a:t>
                </a:r>
                <a14:m>
                  <m:oMath xmlns:m="http://schemas.openxmlformats.org/officeDocument/2006/math">
                    <m:sSub>
                      <m:sSubPr>
                        <m:ctrlPr>
                          <a:rPr lang="tr-TR" sz="1000" i="1" noProof="1" smtClean="0">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noProof="1">
                            <a:solidFill>
                              <a:schemeClr val="tx1"/>
                            </a:solidFill>
                            <a:latin typeface="Cambria Math" panose="02040503050406030204" pitchFamily="18" charset="0"/>
                          </a:rPr>
                          <m:t>1</m:t>
                        </m:r>
                      </m:sub>
                    </m:sSub>
                  </m:oMath>
                </a14:m>
                <a:r>
                  <a:rPr lang="tr-TR" sz="1000" noProof="1">
                    <a:solidFill>
                      <a:schemeClr val="tx1"/>
                    </a:solidFill>
                    <a:cs typeface="Arial" panose="020B0604020202020204" pitchFamily="34" charset="0"/>
                  </a:rPr>
                  <a:t> = 2</a:t>
                </a:r>
                <a14:m>
                  <m:oMath xmlns:m="http://schemas.openxmlformats.org/officeDocument/2006/math">
                    <m:sSub>
                      <m:sSubPr>
                        <m:ctrlPr>
                          <a:rPr lang="tr-TR" sz="1000" i="1" noProof="1">
                            <a:solidFill>
                              <a:schemeClr val="tx1"/>
                            </a:solidFill>
                            <a:latin typeface="Cambria Math" panose="02040503050406030204" pitchFamily="18" charset="0"/>
                          </a:rPr>
                        </m:ctrlPr>
                      </m:sSubPr>
                      <m:e>
                        <m:r>
                          <m:rPr>
                            <m:sty m:val="p"/>
                          </m:rPr>
                          <a:rPr lang="tr-TR" sz="1000" noProof="1">
                            <a:solidFill>
                              <a:schemeClr val="tx1"/>
                            </a:solidFill>
                            <a:latin typeface="Cambria Math" panose="02040503050406030204" pitchFamily="18" charset="0"/>
                          </a:rPr>
                          <m:t>v</m:t>
                        </m:r>
                      </m:e>
                      <m:sub>
                        <m:r>
                          <a:rPr lang="tr-TR" sz="1000" noProof="1">
                            <a:solidFill>
                              <a:schemeClr val="tx1"/>
                            </a:solidFill>
                            <a:latin typeface="Cambria Math" panose="02040503050406030204" pitchFamily="18" charset="0"/>
                          </a:rPr>
                          <m:t>2</m:t>
                        </m:r>
                      </m:sub>
                    </m:sSub>
                  </m:oMath>
                </a14:m>
                <a:r>
                  <a:rPr lang="tr-TR" sz="1000" noProof="1">
                    <a:solidFill>
                      <a:schemeClr val="tx1"/>
                    </a:solidFill>
                    <a:cs typeface="Arial" panose="020B0604020202020204" pitchFamily="34" charset="0"/>
                  </a:rPr>
                  <a:t> </a:t>
                </a:r>
                <a14:m>
                  <m:oMath xmlns:m="http://schemas.openxmlformats.org/officeDocument/2006/math">
                    <m:r>
                      <a:rPr lang="tr-TR" sz="1000" i="1" noProof="1" smtClean="0">
                        <a:solidFill>
                          <a:schemeClr val="tx1"/>
                        </a:solidFill>
                        <a:latin typeface="Cambria Math" panose="02040503050406030204" pitchFamily="18" charset="0"/>
                      </a:rPr>
                      <m:t>⇒</m:t>
                    </m:r>
                  </m:oMath>
                </a14:m>
                <a:r>
                  <a:rPr lang="tr-TR" sz="1000" noProof="1">
                    <a:solidFill>
                      <a:schemeClr val="tx1"/>
                    </a:solidFill>
                    <a:cs typeface="Arial" panose="020B0604020202020204" pitchFamily="34" charset="0"/>
                  </a:rPr>
                  <a:t> </a:t>
                </a:r>
                <a14:m>
                  <m:oMath xmlns:m="http://schemas.openxmlformats.org/officeDocument/2006/math">
                    <m:f>
                      <m:fPr>
                        <m:ctrlPr>
                          <a:rPr lang="tr-TR" sz="1000" i="1" noProof="1" smtClean="0">
                            <a:solidFill>
                              <a:schemeClr val="tx1"/>
                            </a:solidFill>
                            <a:latin typeface="Cambria Math" panose="02040503050406030204" pitchFamily="18" charset="0"/>
                          </a:rPr>
                        </m:ctrlPr>
                      </m:fPr>
                      <m:num>
                        <m:sSub>
                          <m:sSubPr>
                            <m:ctrlPr>
                              <a:rPr lang="tr-TR" sz="1000" i="1" noProof="1">
                                <a:solidFill>
                                  <a:schemeClr val="tx1"/>
                                </a:solidFill>
                                <a:latin typeface="Cambria Math" panose="02040503050406030204" pitchFamily="18" charset="0"/>
                              </a:rPr>
                            </m:ctrlPr>
                          </m:sSubPr>
                          <m:e>
                            <m:r>
                              <a:rPr lang="tr-TR" sz="1000" b="0" i="0" noProof="1" smtClean="0">
                                <a:solidFill>
                                  <a:schemeClr val="tx1"/>
                                </a:solidFill>
                                <a:latin typeface="Cambria Math" panose="02040503050406030204" pitchFamily="18" charset="0"/>
                              </a:rPr>
                              <m:t> </m:t>
                            </m:r>
                            <m:r>
                              <m:rPr>
                                <m:sty m:val="p"/>
                              </m:rPr>
                              <a:rPr lang="tr-TR" sz="1000" i="0" noProof="1">
                                <a:solidFill>
                                  <a:schemeClr val="tx1"/>
                                </a:solidFill>
                                <a:latin typeface="Cambria Math" panose="02040503050406030204" pitchFamily="18" charset="0"/>
                              </a:rPr>
                              <m:t>v</m:t>
                            </m:r>
                          </m:e>
                          <m:sub>
                            <m:r>
                              <a:rPr lang="tr-TR" sz="1000" i="0" noProof="1">
                                <a:solidFill>
                                  <a:schemeClr val="tx1"/>
                                </a:solidFill>
                                <a:latin typeface="Cambria Math" panose="02040503050406030204" pitchFamily="18" charset="0"/>
                              </a:rPr>
                              <m:t>1</m:t>
                            </m:r>
                            <m:r>
                              <a:rPr lang="tr-TR" sz="1000" b="0" i="0" noProof="1" smtClean="0">
                                <a:solidFill>
                                  <a:schemeClr val="tx1"/>
                                </a:solidFill>
                                <a:latin typeface="Cambria Math" panose="02040503050406030204" pitchFamily="18" charset="0"/>
                              </a:rPr>
                              <m:t> </m:t>
                            </m:r>
                          </m:sub>
                        </m:sSub>
                      </m:num>
                      <m:den>
                        <m:sSub>
                          <m:sSubPr>
                            <m:ctrlPr>
                              <a:rPr lang="tr-TR" sz="1000" i="1" noProof="1">
                                <a:solidFill>
                                  <a:schemeClr val="tx1"/>
                                </a:solidFill>
                                <a:latin typeface="Cambria Math" panose="02040503050406030204" pitchFamily="18" charset="0"/>
                              </a:rPr>
                            </m:ctrlPr>
                          </m:sSubPr>
                          <m:e>
                            <m:r>
                              <a:rPr lang="tr-TR" sz="1000" b="0" i="1" noProof="1" smtClean="0">
                                <a:solidFill>
                                  <a:schemeClr val="tx1"/>
                                </a:solidFill>
                                <a:latin typeface="Cambria Math" panose="02040503050406030204" pitchFamily="18" charset="0"/>
                              </a:rPr>
                              <m:t> </m:t>
                            </m:r>
                            <m:r>
                              <m:rPr>
                                <m:sty m:val="p"/>
                              </m:rPr>
                              <a:rPr lang="tr-TR" sz="1000" i="0" noProof="1">
                                <a:solidFill>
                                  <a:schemeClr val="tx1"/>
                                </a:solidFill>
                                <a:latin typeface="Cambria Math" panose="02040503050406030204" pitchFamily="18" charset="0"/>
                              </a:rPr>
                              <m:t>v</m:t>
                            </m:r>
                          </m:e>
                          <m:sub>
                            <m:r>
                              <a:rPr lang="tr-TR" sz="1000" i="0" noProof="1">
                                <a:solidFill>
                                  <a:schemeClr val="tx1"/>
                                </a:solidFill>
                                <a:latin typeface="Cambria Math" panose="02040503050406030204" pitchFamily="18" charset="0"/>
                              </a:rPr>
                              <m:t>2</m:t>
                            </m:r>
                            <m:r>
                              <a:rPr lang="tr-TR" sz="1000" b="0" i="1" noProof="1" smtClean="0">
                                <a:solidFill>
                                  <a:schemeClr val="tx1"/>
                                </a:solidFill>
                                <a:latin typeface="Cambria Math" panose="02040503050406030204" pitchFamily="18" charset="0"/>
                              </a:rPr>
                              <m:t> </m:t>
                            </m:r>
                          </m:sub>
                        </m:sSub>
                      </m:den>
                    </m:f>
                    <m:r>
                      <a:rPr lang="tr-TR" sz="1000" i="0" noProof="1">
                        <a:solidFill>
                          <a:schemeClr val="tx1"/>
                        </a:solidFill>
                        <a:latin typeface="Cambria Math" panose="02040503050406030204" pitchFamily="18" charset="0"/>
                      </a:rPr>
                      <m:t>=</m:t>
                    </m:r>
                    <m:f>
                      <m:fPr>
                        <m:ctrlPr>
                          <a:rPr lang="tr-TR" sz="1000" i="1" noProof="1">
                            <a:solidFill>
                              <a:schemeClr val="tx1"/>
                            </a:solidFill>
                            <a:latin typeface="Cambria Math" panose="02040503050406030204" pitchFamily="18" charset="0"/>
                          </a:rPr>
                        </m:ctrlPr>
                      </m:fPr>
                      <m:num>
                        <m:r>
                          <m:rPr>
                            <m:nor/>
                          </m:rPr>
                          <a:rPr lang="tr-TR" sz="1000" b="0" i="0" noProof="1" smtClean="0">
                            <a:solidFill>
                              <a:schemeClr val="tx1"/>
                            </a:solidFill>
                            <a:latin typeface="Cambria Math" panose="02040503050406030204" pitchFamily="18" charset="0"/>
                          </a:rPr>
                          <m:t> </m:t>
                        </m:r>
                        <m:r>
                          <m:rPr>
                            <m:nor/>
                          </m:rPr>
                          <a:rPr lang="tr-TR" sz="1000" i="0" noProof="1">
                            <a:solidFill>
                              <a:schemeClr val="tx1"/>
                            </a:solidFill>
                          </a:rPr>
                          <m:t>1</m:t>
                        </m:r>
                        <m:r>
                          <m:rPr>
                            <m:nor/>
                          </m:rPr>
                          <a:rPr lang="tr-TR" sz="1000" b="0" i="0" noProof="1" smtClean="0">
                            <a:solidFill>
                              <a:schemeClr val="tx1"/>
                            </a:solidFill>
                          </a:rPr>
                          <m:t> </m:t>
                        </m:r>
                      </m:num>
                      <m:den>
                        <m:r>
                          <m:rPr>
                            <m:nor/>
                          </m:rPr>
                          <a:rPr lang="tr-TR" sz="1000" i="0" noProof="1">
                            <a:solidFill>
                              <a:schemeClr val="tx1"/>
                            </a:solidFill>
                          </a:rPr>
                          <m:t>2</m:t>
                        </m:r>
                      </m:den>
                    </m:f>
                  </m:oMath>
                </a14:m>
                <a:r>
                  <a:rPr lang="tr-TR" sz="1000" noProof="1">
                    <a:solidFill>
                      <a:schemeClr val="tx1"/>
                    </a:solidFill>
                    <a:cs typeface="Arial" panose="020B0604020202020204" pitchFamily="34" charset="0"/>
                  </a:rPr>
                  <a:t>  </a:t>
                </a:r>
              </a:p>
            </p:txBody>
          </p:sp>
        </mc:Choice>
        <mc:Fallback xmlns="">
          <p:sp>
            <p:nvSpPr>
              <p:cNvPr id="98" name="Metin kutusu 97">
                <a:extLst>
                  <a:ext uri="{FF2B5EF4-FFF2-40B4-BE49-F238E27FC236}">
                    <a16:creationId xmlns:a16="http://schemas.microsoft.com/office/drawing/2014/main" id="{D6CF849B-FA97-4DDD-9813-E99F5E84B2F7}"/>
                  </a:ext>
                </a:extLst>
              </p:cNvPr>
              <p:cNvSpPr txBox="1">
                <a:spLocks noRot="1" noChangeAspect="1" noMove="1" noResize="1" noEditPoints="1" noAdjustHandles="1" noChangeArrowheads="1" noChangeShapeType="1" noTextEdit="1"/>
              </p:cNvSpPr>
              <p:nvPr/>
            </p:nvSpPr>
            <p:spPr>
              <a:xfrm>
                <a:off x="3533068" y="6179648"/>
                <a:ext cx="3339193" cy="1692771"/>
              </a:xfrm>
              <a:prstGeom prst="rect">
                <a:avLst/>
              </a:prstGeom>
              <a:blipFill>
                <a:blip r:embed="rId19"/>
                <a:stretch>
                  <a:fillRect/>
                </a:stretch>
              </a:blipFill>
            </p:spPr>
            <p:txBody>
              <a:bodyPr/>
              <a:lstStyle/>
              <a:p>
                <a:r>
                  <a:rPr lang="tr-TR">
                    <a:noFill/>
                  </a:rPr>
                  <a:t> </a:t>
                </a:r>
              </a:p>
            </p:txBody>
          </p:sp>
        </mc:Fallback>
      </mc:AlternateContent>
      <p:cxnSp>
        <p:nvCxnSpPr>
          <p:cNvPr id="17" name="Düz Bağlayıcı 16">
            <a:extLst>
              <a:ext uri="{FF2B5EF4-FFF2-40B4-BE49-F238E27FC236}">
                <a16:creationId xmlns:a16="http://schemas.microsoft.com/office/drawing/2014/main" id="{FC4F46B4-E88C-4C3C-9DB3-B123C3AB5DC5}"/>
              </a:ext>
            </a:extLst>
          </p:cNvPr>
          <p:cNvCxnSpPr>
            <a:cxnSpLocks/>
          </p:cNvCxnSpPr>
          <p:nvPr/>
        </p:nvCxnSpPr>
        <p:spPr>
          <a:xfrm>
            <a:off x="3610516" y="6839889"/>
            <a:ext cx="170725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9" name="Ok: Beşgen 98">
                <a:extLst>
                  <a:ext uri="{FF2B5EF4-FFF2-40B4-BE49-F238E27FC236}">
                    <a16:creationId xmlns:a16="http://schemas.microsoft.com/office/drawing/2014/main" id="{1CBFC4AE-D3B9-49C1-88B9-52280B6DC8E3}"/>
                  </a:ext>
                </a:extLst>
              </p:cNvPr>
              <p:cNvSpPr/>
              <p:nvPr/>
            </p:nvSpPr>
            <p:spPr>
              <a:xfrm>
                <a:off x="3606678" y="7842623"/>
                <a:ext cx="3234244" cy="281148"/>
              </a:xfrm>
              <a:prstGeom prst="homePlate">
                <a:avLst/>
              </a:prstGeom>
              <a:solidFill>
                <a:schemeClr val="bg1">
                  <a:lumMod val="85000"/>
                  <a:alpha val="50000"/>
                </a:schemeClr>
              </a:solidFill>
              <a:ln>
                <a:noFill/>
              </a:ln>
              <a:effectLst>
                <a:softEdge rad="31750"/>
              </a:effectLst>
            </p:spPr>
            <p:style>
              <a:lnRef idx="0">
                <a:scrgbClr r="0" g="0" b="0"/>
              </a:lnRef>
              <a:fillRef idx="0">
                <a:scrgbClr r="0" g="0" b="0"/>
              </a:fillRef>
              <a:effectRef idx="0">
                <a:scrgbClr r="0" g="0" b="0"/>
              </a:effectRef>
              <a:fontRef idx="minor">
                <a:schemeClr val="lt1"/>
              </a:fontRef>
            </p:style>
            <p:txBody>
              <a:bodyPr rtlCol="0" anchor="ctr"/>
              <a:lstStyle/>
              <a:p>
                <a:r>
                  <a:rPr lang="tr-TR" sz="940" noProof="1">
                    <a:solidFill>
                      <a:schemeClr val="tx1"/>
                    </a:solidFill>
                  </a:rPr>
                  <a:t>Aklıma Takıldı :</a:t>
                </a:r>
                <a:r>
                  <a:rPr lang="tr-TR" sz="940" noProof="1">
                    <a:solidFill>
                      <a:srgbClr val="836967"/>
                    </a:solidFill>
                  </a:rPr>
                  <a:t> </a:t>
                </a:r>
                <a14:m>
                  <m:oMath xmlns:m="http://schemas.openxmlformats.org/officeDocument/2006/math">
                    <m:sSub>
                      <m:sSubPr>
                        <m:ctrlPr>
                          <a:rPr lang="tr-TR" sz="940" i="1" noProof="1" dirty="0" smtClean="0">
                            <a:solidFill>
                              <a:schemeClr val="tx1"/>
                            </a:solidFill>
                            <a:latin typeface="Cambria Math" panose="02040503050406030204" pitchFamily="18" charset="0"/>
                          </a:rPr>
                        </m:ctrlPr>
                      </m:sSubPr>
                      <m:e>
                        <m:r>
                          <m:rPr>
                            <m:sty m:val="p"/>
                          </m:rPr>
                          <a:rPr lang="tr-TR" sz="940" i="0" noProof="1" dirty="0" smtClean="0">
                            <a:solidFill>
                              <a:schemeClr val="tx1"/>
                            </a:solidFill>
                            <a:latin typeface="Cambria Math" panose="02040503050406030204" pitchFamily="18" charset="0"/>
                          </a:rPr>
                          <m:t>v</m:t>
                        </m:r>
                      </m:e>
                      <m:sub>
                        <m:r>
                          <a:rPr lang="tr-TR" sz="940" b="0" i="0" noProof="1" dirty="0" smtClean="0">
                            <a:solidFill>
                              <a:schemeClr val="tx1"/>
                            </a:solidFill>
                            <a:latin typeface="Cambria Math" panose="02040503050406030204" pitchFamily="18" charset="0"/>
                          </a:rPr>
                          <m:t>2</m:t>
                        </m:r>
                      </m:sub>
                    </m:sSub>
                  </m:oMath>
                </a14:m>
                <a:r>
                  <a:rPr lang="tr-TR" sz="940" noProof="1">
                    <a:solidFill>
                      <a:schemeClr val="tx1"/>
                    </a:solidFill>
                  </a:rPr>
                  <a:t> nin </a:t>
                </a:r>
                <a14:m>
                  <m:oMath xmlns:m="http://schemas.openxmlformats.org/officeDocument/2006/math">
                    <m:sSub>
                      <m:sSubPr>
                        <m:ctrlPr>
                          <a:rPr lang="tr-TR" sz="940" i="1" noProof="1" dirty="0">
                            <a:solidFill>
                              <a:schemeClr val="tx1"/>
                            </a:solidFill>
                            <a:latin typeface="Cambria Math" panose="02040503050406030204" pitchFamily="18" charset="0"/>
                          </a:rPr>
                        </m:ctrlPr>
                      </m:sSubPr>
                      <m:e>
                        <m:r>
                          <m:rPr>
                            <m:sty m:val="p"/>
                          </m:rPr>
                          <a:rPr lang="tr-TR" sz="940" noProof="1" dirty="0">
                            <a:solidFill>
                              <a:schemeClr val="tx1"/>
                            </a:solidFill>
                            <a:latin typeface="Cambria Math" panose="02040503050406030204" pitchFamily="18" charset="0"/>
                          </a:rPr>
                          <m:t>v</m:t>
                        </m:r>
                      </m:e>
                      <m:sub>
                        <m:r>
                          <a:rPr lang="tr-TR" sz="940" b="0" i="0" noProof="1" dirty="0" smtClean="0">
                            <a:solidFill>
                              <a:schemeClr val="tx1"/>
                            </a:solidFill>
                            <a:latin typeface="Cambria Math" panose="02040503050406030204" pitchFamily="18" charset="0"/>
                          </a:rPr>
                          <m:t>1</m:t>
                        </m:r>
                      </m:sub>
                    </m:sSub>
                  </m:oMath>
                </a14:m>
                <a:r>
                  <a:rPr lang="tr-TR" sz="940" noProof="1">
                    <a:solidFill>
                      <a:schemeClr val="tx1"/>
                    </a:solidFill>
                  </a:rPr>
                  <a:t>den  büyük olduğunu nasıl anladık? </a:t>
                </a:r>
              </a:p>
            </p:txBody>
          </p:sp>
        </mc:Choice>
        <mc:Fallback xmlns="">
          <p:sp>
            <p:nvSpPr>
              <p:cNvPr id="99" name="Ok: Beşgen 98">
                <a:extLst>
                  <a:ext uri="{FF2B5EF4-FFF2-40B4-BE49-F238E27FC236}">
                    <a16:creationId xmlns:a16="http://schemas.microsoft.com/office/drawing/2014/main" id="{1CBFC4AE-D3B9-49C1-88B9-52280B6DC8E3}"/>
                  </a:ext>
                </a:extLst>
              </p:cNvPr>
              <p:cNvSpPr>
                <a:spLocks noRot="1" noChangeAspect="1" noMove="1" noResize="1" noEditPoints="1" noAdjustHandles="1" noChangeArrowheads="1" noChangeShapeType="1" noTextEdit="1"/>
              </p:cNvSpPr>
              <p:nvPr/>
            </p:nvSpPr>
            <p:spPr>
              <a:xfrm>
                <a:off x="3606678" y="7842623"/>
                <a:ext cx="3234244" cy="281148"/>
              </a:xfrm>
              <a:prstGeom prst="homePlate">
                <a:avLst/>
              </a:prstGeom>
              <a:blipFill>
                <a:blip r:embed="rId20"/>
                <a:stretch>
                  <a:fillRect/>
                </a:stretch>
              </a:blipFill>
              <a:ln>
                <a:noFill/>
              </a:ln>
              <a:effectLst>
                <a:softEdge rad="31750"/>
              </a:effectLst>
            </p:spPr>
            <p:txBody>
              <a:bodyPr/>
              <a:lstStyle/>
              <a:p>
                <a:r>
                  <a:rPr lang="tr-TR">
                    <a:noFill/>
                  </a:rPr>
                  <a:t> </a:t>
                </a:r>
              </a:p>
            </p:txBody>
          </p:sp>
        </mc:Fallback>
      </mc:AlternateContent>
      <p:sp>
        <p:nvSpPr>
          <p:cNvPr id="100" name="Metin kutusu 99">
            <a:extLst>
              <a:ext uri="{FF2B5EF4-FFF2-40B4-BE49-F238E27FC236}">
                <a16:creationId xmlns:a16="http://schemas.microsoft.com/office/drawing/2014/main" id="{E5110791-14F0-45A6-A1C0-36957993588C}"/>
              </a:ext>
            </a:extLst>
          </p:cNvPr>
          <p:cNvSpPr txBox="1"/>
          <p:nvPr/>
        </p:nvSpPr>
        <p:spPr>
          <a:xfrm>
            <a:off x="3576979" y="8124751"/>
            <a:ext cx="3339193" cy="553998"/>
          </a:xfrm>
          <a:prstGeom prst="rect">
            <a:avLst/>
          </a:prstGeom>
          <a:noFill/>
        </p:spPr>
        <p:txBody>
          <a:bodyPr wrap="square" rtlCol="0">
            <a:spAutoFit/>
          </a:bodyPr>
          <a:lstStyle/>
          <a:p>
            <a:r>
              <a:rPr lang="tr-TR" sz="1000" i="0" dirty="0">
                <a:effectLst/>
                <a:latin typeface="Arial Narrow" panose="020B0606020202030204" pitchFamily="34" charset="0"/>
              </a:rPr>
              <a:t>“</a:t>
            </a:r>
            <a:r>
              <a:rPr lang="tr-TR" sz="1000" noProof="1">
                <a:latin typeface="Arial Narrow" panose="020B0606020202030204" pitchFamily="34" charset="0"/>
                <a:cs typeface="Arial" panose="020B0604020202020204" pitchFamily="34" charset="0"/>
              </a:rPr>
              <a:t>Farklı bir zaman diliminde ikinci durumda B aracı C aracıyla arasındaki farkı t sürede kapatmıştır.</a:t>
            </a:r>
            <a:r>
              <a:rPr lang="tr-TR" sz="1000" i="0" dirty="0">
                <a:effectLst/>
                <a:latin typeface="Arial Narrow" panose="020B0606020202030204" pitchFamily="34" charset="0"/>
              </a:rPr>
              <a:t>” ibaresinden anlayabiliriz. </a:t>
            </a:r>
            <a:br>
              <a:rPr lang="tr-TR" sz="1000" i="0" dirty="0">
                <a:effectLst/>
                <a:latin typeface="Arial Narrow" panose="020B0606020202030204" pitchFamily="34" charset="0"/>
              </a:rPr>
            </a:br>
            <a:r>
              <a:rPr lang="tr-TR" sz="1000" i="0" dirty="0">
                <a:effectLst/>
                <a:latin typeface="Arial Narrow" panose="020B0606020202030204" pitchFamily="34" charset="0"/>
              </a:rPr>
              <a:t>B aracı farkı kapatabiliyorsa hızı daha büyük olmalıdır.</a:t>
            </a:r>
            <a:endParaRPr lang="tr-TR" sz="1000" noProof="1">
              <a:latin typeface="Arial Narrow" panose="020B060602020203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1" name="Metin kutusu 100">
                <a:extLst>
                  <a:ext uri="{FF2B5EF4-FFF2-40B4-BE49-F238E27FC236}">
                    <a16:creationId xmlns:a16="http://schemas.microsoft.com/office/drawing/2014/main" id="{4E1835FA-56E9-4261-BC2F-7D782A06D9D8}"/>
                  </a:ext>
                </a:extLst>
              </p:cNvPr>
              <p:cNvSpPr txBox="1"/>
              <p:nvPr/>
            </p:nvSpPr>
            <p:spPr>
              <a:xfrm>
                <a:off x="130637" y="6662478"/>
                <a:ext cx="3339193" cy="983218"/>
              </a:xfrm>
              <a:prstGeom prst="rect">
                <a:avLst/>
              </a:prstGeom>
              <a:noFill/>
            </p:spPr>
            <p:txBody>
              <a:bodyPr wrap="square" rtlCol="0">
                <a:spAutoFit/>
              </a:bodyPr>
              <a:lstStyle/>
              <a:p>
                <a:r>
                  <a:rPr lang="tr-TR" sz="1000" noProof="1">
                    <a:cs typeface="Arial" panose="020B0604020202020204" pitchFamily="34" charset="0"/>
                  </a:rPr>
                  <a:t>Orantı sabitimiz 12 olsun. 3K=4L=12 ise  K=4  L=3 olur. </a:t>
                </a:r>
              </a:p>
              <a:p>
                <a:endParaRPr lang="tr-TR" sz="1000" noProof="1">
                  <a:cs typeface="Arial" panose="020B0604020202020204" pitchFamily="34" charset="0"/>
                </a:endParaRPr>
              </a:p>
              <a:p>
                <a:r>
                  <a:rPr lang="tr-TR" sz="1000" noProof="1">
                    <a:cs typeface="Arial" panose="020B0604020202020204" pitchFamily="34" charset="0"/>
                  </a:rPr>
                  <a:t>|AC| yolunu A aracı, |BC| yolunu ise B aracı almıştır.</a:t>
                </a:r>
              </a:p>
              <a:p>
                <a:br>
                  <a:rPr lang="tr-TR" sz="1000" b="1" i="1" noProof="1">
                    <a:solidFill>
                      <a:schemeClr val="tx1"/>
                    </a:solidFill>
                    <a:latin typeface="Cambria Math" panose="02040503050406030204" pitchFamily="18" charset="0"/>
                  </a:rPr>
                </a:br>
                <a14:m>
                  <m:oMath xmlns:m="http://schemas.openxmlformats.org/officeDocument/2006/math">
                    <m:f>
                      <m:fPr>
                        <m:ctrlPr>
                          <a:rPr lang="tr-TR" sz="1000" b="1" i="1" noProof="1" smtClean="0">
                            <a:solidFill>
                              <a:schemeClr val="tx1"/>
                            </a:solidFill>
                            <a:latin typeface="Cambria Math" panose="02040503050406030204" pitchFamily="18" charset="0"/>
                          </a:rPr>
                        </m:ctrlPr>
                      </m:fPr>
                      <m:num>
                        <m:d>
                          <m:dPr>
                            <m:begChr m:val="|"/>
                            <m:endChr m:val="|"/>
                            <m:ctrlPr>
                              <a:rPr lang="tr-TR" sz="1000" b="1" i="1" noProof="1" smtClean="0">
                                <a:solidFill>
                                  <a:schemeClr val="tx1"/>
                                </a:solidFill>
                                <a:latin typeface="Cambria Math" panose="02040503050406030204" pitchFamily="18" charset="0"/>
                              </a:rPr>
                            </m:ctrlPr>
                          </m:dPr>
                          <m:e>
                            <m:r>
                              <m:rPr>
                                <m:nor/>
                              </m:rPr>
                              <a:rPr lang="tr-TR" sz="1000" b="1" i="0" noProof="1" smtClean="0">
                                <a:solidFill>
                                  <a:schemeClr val="tx1"/>
                                </a:solidFill>
                              </a:rPr>
                              <m:t>AC</m:t>
                            </m:r>
                          </m:e>
                        </m:d>
                      </m:num>
                      <m:den>
                        <m:d>
                          <m:dPr>
                            <m:begChr m:val="|"/>
                            <m:endChr m:val="|"/>
                            <m:ctrlPr>
                              <a:rPr lang="tr-TR" sz="1000" b="1" i="1" noProof="1" smtClean="0">
                                <a:solidFill>
                                  <a:schemeClr val="tx1"/>
                                </a:solidFill>
                                <a:latin typeface="Cambria Math" panose="02040503050406030204" pitchFamily="18" charset="0"/>
                              </a:rPr>
                            </m:ctrlPr>
                          </m:dPr>
                          <m:e>
                            <m:r>
                              <m:rPr>
                                <m:nor/>
                              </m:rPr>
                              <a:rPr lang="tr-TR" sz="1000" b="1" i="0" noProof="1" smtClean="0">
                                <a:solidFill>
                                  <a:schemeClr val="tx1"/>
                                </a:solidFill>
                              </a:rPr>
                              <m:t>BC</m:t>
                            </m:r>
                          </m:e>
                        </m:d>
                      </m:den>
                    </m:f>
                  </m:oMath>
                </a14:m>
                <a:r>
                  <a:rPr lang="tr-TR" sz="1000" noProof="1">
                    <a:cs typeface="Arial" panose="020B0604020202020204" pitchFamily="34" charset="0"/>
                  </a:rPr>
                  <a:t> = </a:t>
                </a:r>
                <a14:m>
                  <m:oMath xmlns:m="http://schemas.openxmlformats.org/officeDocument/2006/math">
                    <m:f>
                      <m:fPr>
                        <m:ctrlPr>
                          <a:rPr lang="tr-TR" sz="1000" b="1" i="1" noProof="1">
                            <a:latin typeface="Cambria Math" panose="02040503050406030204" pitchFamily="18" charset="0"/>
                          </a:rPr>
                        </m:ctrlPr>
                      </m:fPr>
                      <m:num>
                        <m:d>
                          <m:dPr>
                            <m:begChr m:val="|"/>
                            <m:endChr m:val="|"/>
                            <m:ctrlPr>
                              <a:rPr lang="tr-TR" sz="1000" b="1" i="1" noProof="1">
                                <a:latin typeface="Cambria Math" panose="02040503050406030204" pitchFamily="18" charset="0"/>
                              </a:rPr>
                            </m:ctrlPr>
                          </m:dPr>
                          <m:e>
                            <m:r>
                              <m:rPr>
                                <m:nor/>
                              </m:rPr>
                              <a:rPr lang="tr-TR" sz="1000" b="1" i="0" noProof="1" smtClean="0"/>
                              <m:t>4.</m:t>
                            </m:r>
                            <m:r>
                              <m:rPr>
                                <m:nor/>
                              </m:rPr>
                              <a:rPr lang="tr-TR" sz="1000" b="1" i="0" noProof="1" smtClean="0"/>
                              <m:t>t</m:t>
                            </m:r>
                          </m:e>
                        </m:d>
                      </m:num>
                      <m:den>
                        <m:d>
                          <m:dPr>
                            <m:begChr m:val="|"/>
                            <m:endChr m:val="|"/>
                            <m:ctrlPr>
                              <a:rPr lang="tr-TR" sz="1000" b="1" i="1" noProof="1">
                                <a:latin typeface="Cambria Math" panose="02040503050406030204" pitchFamily="18" charset="0"/>
                              </a:rPr>
                            </m:ctrlPr>
                          </m:dPr>
                          <m:e>
                            <m:r>
                              <m:rPr>
                                <m:nor/>
                              </m:rPr>
                              <a:rPr lang="tr-TR" sz="1000" b="1" i="0" noProof="1" smtClean="0"/>
                              <m:t>3.</m:t>
                            </m:r>
                            <m:r>
                              <m:rPr>
                                <m:nor/>
                              </m:rPr>
                              <a:rPr lang="tr-TR" sz="1000" b="1" i="0" noProof="1" smtClean="0"/>
                              <m:t>t</m:t>
                            </m:r>
                          </m:e>
                        </m:d>
                      </m:den>
                    </m:f>
                  </m:oMath>
                </a14:m>
                <a:r>
                  <a:rPr lang="tr-TR" sz="1000" noProof="1">
                    <a:cs typeface="Arial" panose="020B0604020202020204" pitchFamily="34" charset="0"/>
                  </a:rPr>
                  <a:t> = </a:t>
                </a:r>
                <a14:m>
                  <m:oMath xmlns:m="http://schemas.openxmlformats.org/officeDocument/2006/math">
                    <m:f>
                      <m:fPr>
                        <m:ctrlPr>
                          <a:rPr lang="tr-TR" sz="1000" b="1" i="1" noProof="1">
                            <a:latin typeface="Cambria Math" panose="02040503050406030204" pitchFamily="18" charset="0"/>
                          </a:rPr>
                        </m:ctrlPr>
                      </m:fPr>
                      <m:num>
                        <m:r>
                          <m:rPr>
                            <m:nor/>
                          </m:rPr>
                          <a:rPr lang="tr-TR" sz="1000" b="1" i="0" noProof="1" smtClean="0">
                            <a:latin typeface="Cambria Math" panose="02040503050406030204" pitchFamily="18" charset="0"/>
                          </a:rPr>
                          <m:t> </m:t>
                        </m:r>
                        <m:r>
                          <m:rPr>
                            <m:nor/>
                          </m:rPr>
                          <a:rPr lang="tr-TR" sz="1000" b="1" i="0" noProof="1" smtClean="0"/>
                          <m:t>4</m:t>
                        </m:r>
                        <m:r>
                          <m:rPr>
                            <m:nor/>
                          </m:rPr>
                          <a:rPr lang="tr-TR" sz="1000" b="1" i="0" noProof="1" smtClean="0">
                            <a:latin typeface="Cambria Math" panose="02040503050406030204" pitchFamily="18" charset="0"/>
                          </a:rPr>
                          <m:t> </m:t>
                        </m:r>
                      </m:num>
                      <m:den>
                        <m:r>
                          <m:rPr>
                            <m:nor/>
                          </m:rPr>
                          <a:rPr lang="tr-TR" sz="1000" b="1" i="0" noProof="1" smtClean="0"/>
                          <m:t>3</m:t>
                        </m:r>
                      </m:den>
                    </m:f>
                  </m:oMath>
                </a14:m>
                <a:r>
                  <a:rPr lang="tr-TR" sz="1000" noProof="1">
                    <a:cs typeface="Arial" panose="020B0604020202020204" pitchFamily="34" charset="0"/>
                  </a:rPr>
                  <a:t>  Oran sorulduğuiçin orantı sabiti kolaylık oldu.</a:t>
                </a:r>
              </a:p>
            </p:txBody>
          </p:sp>
        </mc:Choice>
        <mc:Fallback xmlns="">
          <p:sp>
            <p:nvSpPr>
              <p:cNvPr id="101" name="Metin kutusu 100">
                <a:extLst>
                  <a:ext uri="{FF2B5EF4-FFF2-40B4-BE49-F238E27FC236}">
                    <a16:creationId xmlns:a16="http://schemas.microsoft.com/office/drawing/2014/main" id="{4E1835FA-56E9-4261-BC2F-7D782A06D9D8}"/>
                  </a:ext>
                </a:extLst>
              </p:cNvPr>
              <p:cNvSpPr txBox="1">
                <a:spLocks noRot="1" noChangeAspect="1" noMove="1" noResize="1" noEditPoints="1" noAdjustHandles="1" noChangeArrowheads="1" noChangeShapeType="1" noTextEdit="1"/>
              </p:cNvSpPr>
              <p:nvPr/>
            </p:nvSpPr>
            <p:spPr>
              <a:xfrm>
                <a:off x="130637" y="6662478"/>
                <a:ext cx="3339193" cy="983218"/>
              </a:xfrm>
              <a:prstGeom prst="rect">
                <a:avLst/>
              </a:prstGeom>
              <a:blipFill>
                <a:blip r:embed="rId21"/>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2897803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rgbClr val="CC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51927" y="569951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4815" y="484350"/>
            <a:ext cx="2375535" cy="307777"/>
          </a:xfrm>
          <a:prstGeom prst="rect">
            <a:avLst/>
          </a:prstGeom>
          <a:noFill/>
        </p:spPr>
        <p:txBody>
          <a:bodyPr wrap="square">
            <a:spAutoFit/>
          </a:bodyPr>
          <a:lstStyle/>
          <a:p>
            <a:r>
              <a:rPr lang="tr-TR" sz="700" i="0" dirty="0">
                <a:effectLst/>
                <a:latin typeface="Arial Narrow" panose="020B0606020202030204" pitchFamily="34" charset="0"/>
              </a:rPr>
              <a:t>“ Küçücük veya sizin büyük sandığınız şeyler için sevdiklerinizi kırmayın. Kaybetmeden değer bilenlerden olun. ” - Ahmet Çelen</a:t>
            </a:r>
            <a:endParaRPr lang="tr-TR" sz="700" dirty="0">
              <a:latin typeface="Arial Narrow" panose="020B0606020202030204" pitchFamily="34" charset="0"/>
            </a:endParaRPr>
          </a:p>
        </p:txBody>
      </p:sp>
      <p:pic>
        <p:nvPicPr>
          <p:cNvPr id="60" name="Grafik 59">
            <a:extLst>
              <a:ext uri="{FF2B5EF4-FFF2-40B4-BE49-F238E27FC236}">
                <a16:creationId xmlns:a16="http://schemas.microsoft.com/office/drawing/2014/main" id="{CB18580D-227E-45BA-B53D-9B26D3EC599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3764" y="903394"/>
            <a:ext cx="432048" cy="432048"/>
          </a:xfrm>
          <a:prstGeom prst="rect">
            <a:avLst/>
          </a:prstGeom>
        </p:spPr>
      </p:pic>
      <p:pic>
        <p:nvPicPr>
          <p:cNvPr id="62" name="Grafik 61">
            <a:extLst>
              <a:ext uri="{FF2B5EF4-FFF2-40B4-BE49-F238E27FC236}">
                <a16:creationId xmlns:a16="http://schemas.microsoft.com/office/drawing/2014/main" id="{720A06E3-DFBB-4077-A440-5C0754932F8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696" y="845815"/>
            <a:ext cx="523992" cy="523992"/>
          </a:xfrm>
          <a:prstGeom prst="rect">
            <a:avLst/>
          </a:prstGeom>
        </p:spPr>
      </p:pic>
      <p:sp>
        <p:nvSpPr>
          <p:cNvPr id="67" name="Sağ Ayraç 66">
            <a:extLst>
              <a:ext uri="{FF2B5EF4-FFF2-40B4-BE49-F238E27FC236}">
                <a16:creationId xmlns:a16="http://schemas.microsoft.com/office/drawing/2014/main" id="{A9AC4585-7FE0-4379-B2D4-A5E699DDEA83}"/>
              </a:ext>
            </a:extLst>
          </p:cNvPr>
          <p:cNvSpPr/>
          <p:nvPr/>
        </p:nvSpPr>
        <p:spPr>
          <a:xfrm rot="5400000">
            <a:off x="931911" y="896873"/>
            <a:ext cx="126023" cy="673111"/>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68" name="Sağ Ayraç 67">
            <a:extLst>
              <a:ext uri="{FF2B5EF4-FFF2-40B4-BE49-F238E27FC236}">
                <a16:creationId xmlns:a16="http://schemas.microsoft.com/office/drawing/2014/main" id="{97C1C59E-01C6-4379-BE55-09772BA061B0}"/>
              </a:ext>
            </a:extLst>
          </p:cNvPr>
          <p:cNvSpPr/>
          <p:nvPr/>
        </p:nvSpPr>
        <p:spPr>
          <a:xfrm rot="5400000">
            <a:off x="1651004" y="900523"/>
            <a:ext cx="126023" cy="673111"/>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69" name="Sağ Ayraç 68">
            <a:extLst>
              <a:ext uri="{FF2B5EF4-FFF2-40B4-BE49-F238E27FC236}">
                <a16:creationId xmlns:a16="http://schemas.microsoft.com/office/drawing/2014/main" id="{C63C0B40-D3D5-440F-BB83-FD3DB4CC4FA2}"/>
              </a:ext>
            </a:extLst>
          </p:cNvPr>
          <p:cNvSpPr/>
          <p:nvPr/>
        </p:nvSpPr>
        <p:spPr>
          <a:xfrm rot="5400000">
            <a:off x="2825858" y="935875"/>
            <a:ext cx="126023" cy="673111"/>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70" name="Metin kutusu 69">
            <a:extLst>
              <a:ext uri="{FF2B5EF4-FFF2-40B4-BE49-F238E27FC236}">
                <a16:creationId xmlns:a16="http://schemas.microsoft.com/office/drawing/2014/main" id="{BDB3B5D3-7F73-4923-AC44-C2EA5B05E27D}"/>
              </a:ext>
            </a:extLst>
          </p:cNvPr>
          <p:cNvSpPr txBox="1"/>
          <p:nvPr/>
        </p:nvSpPr>
        <p:spPr>
          <a:xfrm>
            <a:off x="543785" y="983291"/>
            <a:ext cx="211975" cy="246221"/>
          </a:xfrm>
          <a:prstGeom prst="rect">
            <a:avLst/>
          </a:prstGeom>
          <a:noFill/>
        </p:spPr>
        <p:txBody>
          <a:bodyPr wrap="square">
            <a:spAutoFit/>
          </a:bodyPr>
          <a:lstStyle/>
          <a:p>
            <a:r>
              <a:rPr lang="tr-TR" sz="1000" i="0" dirty="0">
                <a:effectLst/>
                <a:latin typeface="Arial Narrow" panose="020B0606020202030204" pitchFamily="34" charset="0"/>
              </a:rPr>
              <a:t>A</a:t>
            </a:r>
            <a:endParaRPr lang="tr-TR" sz="1000" dirty="0">
              <a:latin typeface="Arial Narrow" panose="020B0606020202030204" pitchFamily="34" charset="0"/>
            </a:endParaRPr>
          </a:p>
        </p:txBody>
      </p:sp>
      <p:sp>
        <p:nvSpPr>
          <p:cNvPr id="71" name="Metin kutusu 70">
            <a:extLst>
              <a:ext uri="{FF2B5EF4-FFF2-40B4-BE49-F238E27FC236}">
                <a16:creationId xmlns:a16="http://schemas.microsoft.com/office/drawing/2014/main" id="{E4062FAE-D3CF-433A-85FB-26A36F129950}"/>
              </a:ext>
            </a:extLst>
          </p:cNvPr>
          <p:cNvSpPr txBox="1"/>
          <p:nvPr/>
        </p:nvSpPr>
        <p:spPr>
          <a:xfrm>
            <a:off x="1224921" y="977662"/>
            <a:ext cx="211975" cy="246221"/>
          </a:xfrm>
          <a:prstGeom prst="rect">
            <a:avLst/>
          </a:prstGeom>
          <a:noFill/>
        </p:spPr>
        <p:txBody>
          <a:bodyPr wrap="square">
            <a:spAutoFit/>
          </a:bodyPr>
          <a:lstStyle/>
          <a:p>
            <a:r>
              <a:rPr lang="tr-TR" sz="1000" i="0" dirty="0">
                <a:effectLst/>
                <a:latin typeface="Arial Narrow" panose="020B0606020202030204" pitchFamily="34" charset="0"/>
              </a:rPr>
              <a:t>B</a:t>
            </a:r>
            <a:endParaRPr lang="tr-TR" sz="1000" dirty="0">
              <a:latin typeface="Arial Narrow" panose="020B0606020202030204" pitchFamily="34" charset="0"/>
            </a:endParaRPr>
          </a:p>
        </p:txBody>
      </p:sp>
      <p:sp>
        <p:nvSpPr>
          <p:cNvPr id="72" name="Metin kutusu 71">
            <a:extLst>
              <a:ext uri="{FF2B5EF4-FFF2-40B4-BE49-F238E27FC236}">
                <a16:creationId xmlns:a16="http://schemas.microsoft.com/office/drawing/2014/main" id="{4EE06072-3BA6-4787-A146-94CE8E507850}"/>
              </a:ext>
            </a:extLst>
          </p:cNvPr>
          <p:cNvSpPr txBox="1"/>
          <p:nvPr/>
        </p:nvSpPr>
        <p:spPr>
          <a:xfrm>
            <a:off x="1916439" y="977662"/>
            <a:ext cx="211975" cy="246221"/>
          </a:xfrm>
          <a:prstGeom prst="rect">
            <a:avLst/>
          </a:prstGeom>
          <a:noFill/>
        </p:spPr>
        <p:txBody>
          <a:bodyPr wrap="square">
            <a:spAutoFit/>
          </a:bodyPr>
          <a:lstStyle/>
          <a:p>
            <a:r>
              <a:rPr lang="tr-TR" sz="1000" i="0" dirty="0">
                <a:effectLst/>
                <a:latin typeface="Arial Narrow" panose="020B0606020202030204" pitchFamily="34" charset="0"/>
              </a:rPr>
              <a:t>C</a:t>
            </a:r>
            <a:endParaRPr lang="tr-TR" sz="1000" dirty="0">
              <a:latin typeface="Arial Narrow" panose="020B0606020202030204" pitchFamily="34" charset="0"/>
            </a:endParaRPr>
          </a:p>
        </p:txBody>
      </p:sp>
      <p:sp>
        <p:nvSpPr>
          <p:cNvPr id="73" name="Metin kutusu 72">
            <a:extLst>
              <a:ext uri="{FF2B5EF4-FFF2-40B4-BE49-F238E27FC236}">
                <a16:creationId xmlns:a16="http://schemas.microsoft.com/office/drawing/2014/main" id="{F7BFAE99-1C47-4D1F-8683-FFA52A670571}"/>
              </a:ext>
            </a:extLst>
          </p:cNvPr>
          <p:cNvSpPr txBox="1"/>
          <p:nvPr/>
        </p:nvSpPr>
        <p:spPr>
          <a:xfrm>
            <a:off x="3087890" y="1010199"/>
            <a:ext cx="211975" cy="246221"/>
          </a:xfrm>
          <a:prstGeom prst="rect">
            <a:avLst/>
          </a:prstGeom>
          <a:noFill/>
        </p:spPr>
        <p:txBody>
          <a:bodyPr wrap="square">
            <a:spAutoFit/>
          </a:bodyPr>
          <a:lstStyle/>
          <a:p>
            <a:r>
              <a:rPr lang="tr-TR" sz="1000" i="0" dirty="0">
                <a:effectLst/>
                <a:latin typeface="Arial Narrow" panose="020B0606020202030204" pitchFamily="34" charset="0"/>
              </a:rPr>
              <a:t>D</a:t>
            </a:r>
            <a:endParaRPr lang="tr-TR" sz="1000" dirty="0">
              <a:latin typeface="Arial Narrow" panose="020B0606020202030204" pitchFamily="34" charset="0"/>
            </a:endParaRPr>
          </a:p>
        </p:txBody>
      </p:sp>
      <p:sp>
        <p:nvSpPr>
          <p:cNvPr id="74" name="Metin kutusu 73">
            <a:extLst>
              <a:ext uri="{FF2B5EF4-FFF2-40B4-BE49-F238E27FC236}">
                <a16:creationId xmlns:a16="http://schemas.microsoft.com/office/drawing/2014/main" id="{46C6BA7B-5655-4B8E-ACE6-A28011D5304D}"/>
              </a:ext>
            </a:extLst>
          </p:cNvPr>
          <p:cNvSpPr txBox="1"/>
          <p:nvPr/>
        </p:nvSpPr>
        <p:spPr>
          <a:xfrm>
            <a:off x="52911" y="1384858"/>
            <a:ext cx="3376089" cy="1477328"/>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Spor arabanın saatteki hızı 70 km, polisin ise 30 kmdir.</a:t>
            </a:r>
          </a:p>
          <a:p>
            <a:pPr marL="171450" indent="-171450">
              <a:buFont typeface="Arial" panose="020B0604020202020204" pitchFamily="34" charset="0"/>
              <a:buChar char="•"/>
            </a:pPr>
            <a:r>
              <a:rPr lang="tr-TR" sz="1000" noProof="1">
                <a:cs typeface="Arial" panose="020B0604020202020204" pitchFamily="34" charset="0"/>
              </a:rPr>
              <a:t>Spor araba ile polis aracı birbirlerine doğru hareket ettiklerinde B noktasında karşılaşmaktadırlar.</a:t>
            </a:r>
          </a:p>
          <a:p>
            <a:pPr marL="171450" indent="-171450">
              <a:buFont typeface="Arial" panose="020B0604020202020204" pitchFamily="34" charset="0"/>
              <a:buChar char="•"/>
            </a:pPr>
            <a:r>
              <a:rPr lang="tr-TR" sz="1000" noProof="1">
                <a:cs typeface="Arial" panose="020B0604020202020204" pitchFamily="34" charset="0"/>
              </a:rPr>
              <a:t>Spor araba ile polis aracı aynı yönde hareket ettiklerinde D noktasında karşılaşmaktadırlar.  </a:t>
            </a:r>
          </a:p>
          <a:p>
            <a:pPr marL="171450" indent="-171450">
              <a:buFont typeface="Arial" panose="020B0604020202020204" pitchFamily="34" charset="0"/>
              <a:buChar char="•"/>
            </a:pPr>
            <a:r>
              <a:rPr lang="tr-TR" sz="1000" noProof="1">
                <a:cs typeface="Arial" panose="020B0604020202020204" pitchFamily="34" charset="0"/>
              </a:rPr>
              <a:t>|CD| 180 km dir. (</a:t>
            </a:r>
            <a:r>
              <a:rPr lang="tr-TR" sz="900" noProof="1">
                <a:cs typeface="Arial" panose="020B0604020202020204" pitchFamily="34" charset="0"/>
              </a:rPr>
              <a:t>Araçların resimdeki boyları önemsizdir</a:t>
            </a:r>
            <a:r>
              <a:rPr lang="tr-TR" sz="1000" noProof="1">
                <a:cs typeface="Arial" panose="020B0604020202020204" pitchFamily="34" charset="0"/>
              </a:rPr>
              <a:t>.)</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Verilenlere göre, |AB| ,|BC|, |CD| ; yollarının uzunluklarını büyükten küçüğe doğru sıralanışı nedir?</a:t>
            </a:r>
          </a:p>
        </p:txBody>
      </p:sp>
      <p:cxnSp>
        <p:nvCxnSpPr>
          <p:cNvPr id="6" name="Düz Ok Bağlayıcısı 5">
            <a:extLst>
              <a:ext uri="{FF2B5EF4-FFF2-40B4-BE49-F238E27FC236}">
                <a16:creationId xmlns:a16="http://schemas.microsoft.com/office/drawing/2014/main" id="{7B217DF3-641A-4DCA-A466-D046A77BE9C2}"/>
              </a:ext>
            </a:extLst>
          </p:cNvPr>
          <p:cNvCxnSpPr/>
          <p:nvPr/>
        </p:nvCxnSpPr>
        <p:spPr>
          <a:xfrm flipH="1">
            <a:off x="1988840" y="899592"/>
            <a:ext cx="2160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Düz Ok Bağlayıcısı 7">
            <a:extLst>
              <a:ext uri="{FF2B5EF4-FFF2-40B4-BE49-F238E27FC236}">
                <a16:creationId xmlns:a16="http://schemas.microsoft.com/office/drawing/2014/main" id="{C4822287-0B56-401C-A62A-6AC4F4EF248F}"/>
              </a:ext>
            </a:extLst>
          </p:cNvPr>
          <p:cNvCxnSpPr/>
          <p:nvPr/>
        </p:nvCxnSpPr>
        <p:spPr>
          <a:xfrm>
            <a:off x="2250370" y="898111"/>
            <a:ext cx="2754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Düz Ok Bağlayıcısı 74">
            <a:extLst>
              <a:ext uri="{FF2B5EF4-FFF2-40B4-BE49-F238E27FC236}">
                <a16:creationId xmlns:a16="http://schemas.microsoft.com/office/drawing/2014/main" id="{00373B18-414A-4271-8E5A-6AB7DF88FB08}"/>
              </a:ext>
            </a:extLst>
          </p:cNvPr>
          <p:cNvCxnSpPr/>
          <p:nvPr/>
        </p:nvCxnSpPr>
        <p:spPr>
          <a:xfrm>
            <a:off x="285056" y="898111"/>
            <a:ext cx="2754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Metin kutusu 75">
            <a:extLst>
              <a:ext uri="{FF2B5EF4-FFF2-40B4-BE49-F238E27FC236}">
                <a16:creationId xmlns:a16="http://schemas.microsoft.com/office/drawing/2014/main" id="{276C93B5-FA0A-4B62-AA83-69C18E03B911}"/>
              </a:ext>
            </a:extLst>
          </p:cNvPr>
          <p:cNvSpPr txBox="1"/>
          <p:nvPr/>
        </p:nvSpPr>
        <p:spPr>
          <a:xfrm>
            <a:off x="27146" y="1178262"/>
            <a:ext cx="782899" cy="246221"/>
          </a:xfrm>
          <a:prstGeom prst="rect">
            <a:avLst/>
          </a:prstGeom>
          <a:noFill/>
        </p:spPr>
        <p:txBody>
          <a:bodyPr wrap="square">
            <a:spAutoFit/>
          </a:bodyPr>
          <a:lstStyle/>
          <a:p>
            <a:r>
              <a:rPr lang="tr-TR" sz="1000" dirty="0">
                <a:latin typeface="Arial Narrow" panose="020B0606020202030204" pitchFamily="34" charset="0"/>
              </a:rPr>
              <a:t>Spor Araba</a:t>
            </a:r>
          </a:p>
        </p:txBody>
      </p:sp>
      <p:sp>
        <p:nvSpPr>
          <p:cNvPr id="77" name="Metin kutusu 76">
            <a:extLst>
              <a:ext uri="{FF2B5EF4-FFF2-40B4-BE49-F238E27FC236}">
                <a16:creationId xmlns:a16="http://schemas.microsoft.com/office/drawing/2014/main" id="{EEB9736F-FFF0-4934-B32A-9E8C26198266}"/>
              </a:ext>
            </a:extLst>
          </p:cNvPr>
          <p:cNvSpPr txBox="1"/>
          <p:nvPr/>
        </p:nvSpPr>
        <p:spPr>
          <a:xfrm>
            <a:off x="1972472" y="1216411"/>
            <a:ext cx="782899" cy="246221"/>
          </a:xfrm>
          <a:prstGeom prst="rect">
            <a:avLst/>
          </a:prstGeom>
          <a:noFill/>
        </p:spPr>
        <p:txBody>
          <a:bodyPr wrap="square">
            <a:spAutoFit/>
          </a:bodyPr>
          <a:lstStyle/>
          <a:p>
            <a:r>
              <a:rPr lang="tr-TR" sz="1000" dirty="0">
                <a:latin typeface="Arial Narrow" panose="020B0606020202030204" pitchFamily="34" charset="0"/>
              </a:rPr>
              <a:t>Polis Aracı</a:t>
            </a:r>
          </a:p>
        </p:txBody>
      </p:sp>
      <p:sp>
        <p:nvSpPr>
          <p:cNvPr id="78" name="Metin kutusu 77">
            <a:extLst>
              <a:ext uri="{FF2B5EF4-FFF2-40B4-BE49-F238E27FC236}">
                <a16:creationId xmlns:a16="http://schemas.microsoft.com/office/drawing/2014/main" id="{CDBB5EAE-3753-4FC0-A0D4-F2E8C06606D2}"/>
              </a:ext>
            </a:extLst>
          </p:cNvPr>
          <p:cNvSpPr txBox="1"/>
          <p:nvPr/>
        </p:nvSpPr>
        <p:spPr>
          <a:xfrm>
            <a:off x="-23875" y="5990367"/>
            <a:ext cx="3306869" cy="400110"/>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Görselde verilenleri cebirsel olarak yazmaya çalışalım. İki araç B noktasına t sürede karşılaşmış olsunlar.</a:t>
            </a:r>
          </a:p>
        </p:txBody>
      </p:sp>
      <p:pic>
        <p:nvPicPr>
          <p:cNvPr id="92" name="Grafik 91">
            <a:extLst>
              <a:ext uri="{FF2B5EF4-FFF2-40B4-BE49-F238E27FC236}">
                <a16:creationId xmlns:a16="http://schemas.microsoft.com/office/drawing/2014/main" id="{C7851189-534B-416C-9267-3D41D4FCC6C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14816" y="6413318"/>
            <a:ext cx="432048" cy="432048"/>
          </a:xfrm>
          <a:prstGeom prst="rect">
            <a:avLst/>
          </a:prstGeom>
        </p:spPr>
      </p:pic>
      <p:pic>
        <p:nvPicPr>
          <p:cNvPr id="93" name="Grafik 92">
            <a:extLst>
              <a:ext uri="{FF2B5EF4-FFF2-40B4-BE49-F238E27FC236}">
                <a16:creationId xmlns:a16="http://schemas.microsoft.com/office/drawing/2014/main" id="{59E68EFB-FC5F-4765-AFA2-C20950686722}"/>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7748" y="6355739"/>
            <a:ext cx="523992" cy="523992"/>
          </a:xfrm>
          <a:prstGeom prst="rect">
            <a:avLst/>
          </a:prstGeom>
        </p:spPr>
      </p:pic>
      <p:sp>
        <p:nvSpPr>
          <p:cNvPr id="94" name="Sağ Ayraç 93">
            <a:extLst>
              <a:ext uri="{FF2B5EF4-FFF2-40B4-BE49-F238E27FC236}">
                <a16:creationId xmlns:a16="http://schemas.microsoft.com/office/drawing/2014/main" id="{33530A90-1C4F-45F8-9DD7-6EF93E87E883}"/>
              </a:ext>
            </a:extLst>
          </p:cNvPr>
          <p:cNvSpPr/>
          <p:nvPr/>
        </p:nvSpPr>
        <p:spPr>
          <a:xfrm rot="5400000">
            <a:off x="952963" y="6406797"/>
            <a:ext cx="126023" cy="673111"/>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95" name="Sağ Ayraç 94">
            <a:extLst>
              <a:ext uri="{FF2B5EF4-FFF2-40B4-BE49-F238E27FC236}">
                <a16:creationId xmlns:a16="http://schemas.microsoft.com/office/drawing/2014/main" id="{B2558CE6-C8C5-4562-8382-7034DED61442}"/>
              </a:ext>
            </a:extLst>
          </p:cNvPr>
          <p:cNvSpPr/>
          <p:nvPr/>
        </p:nvSpPr>
        <p:spPr>
          <a:xfrm rot="5400000">
            <a:off x="1672056" y="6410447"/>
            <a:ext cx="126023" cy="673111"/>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96" name="Sağ Ayraç 95">
            <a:extLst>
              <a:ext uri="{FF2B5EF4-FFF2-40B4-BE49-F238E27FC236}">
                <a16:creationId xmlns:a16="http://schemas.microsoft.com/office/drawing/2014/main" id="{F3B15336-95DF-49D8-AA6E-8EC6D99DC628}"/>
              </a:ext>
            </a:extLst>
          </p:cNvPr>
          <p:cNvSpPr/>
          <p:nvPr/>
        </p:nvSpPr>
        <p:spPr>
          <a:xfrm rot="5400000">
            <a:off x="2846910" y="6445799"/>
            <a:ext cx="126023" cy="673111"/>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97" name="Metin kutusu 96">
            <a:extLst>
              <a:ext uri="{FF2B5EF4-FFF2-40B4-BE49-F238E27FC236}">
                <a16:creationId xmlns:a16="http://schemas.microsoft.com/office/drawing/2014/main" id="{B8582CBF-66AB-4046-8280-6032E0FE68F1}"/>
              </a:ext>
            </a:extLst>
          </p:cNvPr>
          <p:cNvSpPr txBox="1"/>
          <p:nvPr/>
        </p:nvSpPr>
        <p:spPr>
          <a:xfrm>
            <a:off x="564837" y="6493215"/>
            <a:ext cx="211975" cy="246221"/>
          </a:xfrm>
          <a:prstGeom prst="rect">
            <a:avLst/>
          </a:prstGeom>
          <a:noFill/>
        </p:spPr>
        <p:txBody>
          <a:bodyPr wrap="square">
            <a:spAutoFit/>
          </a:bodyPr>
          <a:lstStyle/>
          <a:p>
            <a:r>
              <a:rPr lang="tr-TR" sz="1000" b="1" i="0" dirty="0">
                <a:effectLst/>
                <a:latin typeface="Arial Narrow" panose="020B0606020202030204" pitchFamily="34" charset="0"/>
              </a:rPr>
              <a:t>A</a:t>
            </a:r>
            <a:endParaRPr lang="tr-TR" sz="1000" b="1" dirty="0">
              <a:latin typeface="Arial Narrow" panose="020B0606020202030204" pitchFamily="34" charset="0"/>
            </a:endParaRPr>
          </a:p>
        </p:txBody>
      </p:sp>
      <p:sp>
        <p:nvSpPr>
          <p:cNvPr id="98" name="Metin kutusu 97">
            <a:extLst>
              <a:ext uri="{FF2B5EF4-FFF2-40B4-BE49-F238E27FC236}">
                <a16:creationId xmlns:a16="http://schemas.microsoft.com/office/drawing/2014/main" id="{C736944C-9F00-4B7A-9617-E9E2FD549682}"/>
              </a:ext>
            </a:extLst>
          </p:cNvPr>
          <p:cNvSpPr txBox="1"/>
          <p:nvPr/>
        </p:nvSpPr>
        <p:spPr>
          <a:xfrm>
            <a:off x="1245973" y="6487586"/>
            <a:ext cx="211975" cy="246221"/>
          </a:xfrm>
          <a:prstGeom prst="rect">
            <a:avLst/>
          </a:prstGeom>
          <a:noFill/>
        </p:spPr>
        <p:txBody>
          <a:bodyPr wrap="square">
            <a:spAutoFit/>
          </a:bodyPr>
          <a:lstStyle/>
          <a:p>
            <a:r>
              <a:rPr lang="tr-TR" sz="1000" b="1" i="0" dirty="0">
                <a:effectLst/>
                <a:latin typeface="Arial Narrow" panose="020B0606020202030204" pitchFamily="34" charset="0"/>
              </a:rPr>
              <a:t>B</a:t>
            </a:r>
            <a:endParaRPr lang="tr-TR" sz="1000" b="1" dirty="0">
              <a:latin typeface="Arial Narrow" panose="020B0606020202030204" pitchFamily="34" charset="0"/>
            </a:endParaRPr>
          </a:p>
        </p:txBody>
      </p:sp>
      <p:sp>
        <p:nvSpPr>
          <p:cNvPr id="99" name="Metin kutusu 98">
            <a:extLst>
              <a:ext uri="{FF2B5EF4-FFF2-40B4-BE49-F238E27FC236}">
                <a16:creationId xmlns:a16="http://schemas.microsoft.com/office/drawing/2014/main" id="{88F14B98-4473-410D-AB0E-7EDD15237F4B}"/>
              </a:ext>
            </a:extLst>
          </p:cNvPr>
          <p:cNvSpPr txBox="1"/>
          <p:nvPr/>
        </p:nvSpPr>
        <p:spPr>
          <a:xfrm>
            <a:off x="1937491" y="6487586"/>
            <a:ext cx="211975" cy="246221"/>
          </a:xfrm>
          <a:prstGeom prst="rect">
            <a:avLst/>
          </a:prstGeom>
          <a:noFill/>
        </p:spPr>
        <p:txBody>
          <a:bodyPr wrap="square">
            <a:spAutoFit/>
          </a:bodyPr>
          <a:lstStyle/>
          <a:p>
            <a:r>
              <a:rPr lang="tr-TR" sz="1000" b="1" i="0" dirty="0">
                <a:effectLst/>
                <a:latin typeface="Arial Narrow" panose="020B0606020202030204" pitchFamily="34" charset="0"/>
              </a:rPr>
              <a:t>C</a:t>
            </a:r>
            <a:endParaRPr lang="tr-TR" sz="1000" b="1" dirty="0">
              <a:latin typeface="Arial Narrow" panose="020B0606020202030204" pitchFamily="34" charset="0"/>
            </a:endParaRPr>
          </a:p>
        </p:txBody>
      </p:sp>
      <p:sp>
        <p:nvSpPr>
          <p:cNvPr id="100" name="Metin kutusu 99">
            <a:extLst>
              <a:ext uri="{FF2B5EF4-FFF2-40B4-BE49-F238E27FC236}">
                <a16:creationId xmlns:a16="http://schemas.microsoft.com/office/drawing/2014/main" id="{2D380239-3881-42E3-BE56-F0FA7B18166F}"/>
              </a:ext>
            </a:extLst>
          </p:cNvPr>
          <p:cNvSpPr txBox="1"/>
          <p:nvPr/>
        </p:nvSpPr>
        <p:spPr>
          <a:xfrm>
            <a:off x="3108942" y="6520123"/>
            <a:ext cx="211975" cy="246221"/>
          </a:xfrm>
          <a:prstGeom prst="rect">
            <a:avLst/>
          </a:prstGeom>
          <a:noFill/>
        </p:spPr>
        <p:txBody>
          <a:bodyPr wrap="square">
            <a:spAutoFit/>
          </a:bodyPr>
          <a:lstStyle/>
          <a:p>
            <a:r>
              <a:rPr lang="tr-TR" sz="1000" b="1" i="0" dirty="0">
                <a:effectLst/>
                <a:latin typeface="Arial Narrow" panose="020B0606020202030204" pitchFamily="34" charset="0"/>
              </a:rPr>
              <a:t>D</a:t>
            </a:r>
            <a:endParaRPr lang="tr-TR" sz="1000" b="1" dirty="0">
              <a:latin typeface="Arial Narrow" panose="020B0606020202030204" pitchFamily="34" charset="0"/>
            </a:endParaRPr>
          </a:p>
        </p:txBody>
      </p:sp>
      <p:cxnSp>
        <p:nvCxnSpPr>
          <p:cNvPr id="101" name="Düz Ok Bağlayıcısı 100">
            <a:extLst>
              <a:ext uri="{FF2B5EF4-FFF2-40B4-BE49-F238E27FC236}">
                <a16:creationId xmlns:a16="http://schemas.microsoft.com/office/drawing/2014/main" id="{3987AB47-7D6B-4B43-81B1-5711D68C89E1}"/>
              </a:ext>
            </a:extLst>
          </p:cNvPr>
          <p:cNvCxnSpPr/>
          <p:nvPr/>
        </p:nvCxnSpPr>
        <p:spPr>
          <a:xfrm>
            <a:off x="306108" y="6408035"/>
            <a:ext cx="2754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3" name="Metin kutusu 102">
                <a:extLst>
                  <a:ext uri="{FF2B5EF4-FFF2-40B4-BE49-F238E27FC236}">
                    <a16:creationId xmlns:a16="http://schemas.microsoft.com/office/drawing/2014/main" id="{2F298386-96F6-46DF-8513-19212058B96A}"/>
                  </a:ext>
                </a:extLst>
              </p:cNvPr>
              <p:cNvSpPr txBox="1"/>
              <p:nvPr/>
            </p:nvSpPr>
            <p:spPr>
              <a:xfrm>
                <a:off x="694926" y="6495578"/>
                <a:ext cx="608403" cy="246221"/>
              </a:xfrm>
              <a:prstGeom prst="rect">
                <a:avLst/>
              </a:prstGeom>
              <a:noFill/>
            </p:spPr>
            <p:txBody>
              <a:bodyPr wrap="square">
                <a:spAutoFit/>
              </a:bodyPr>
              <a:lstStyle/>
              <a:p>
                <a:r>
                  <a:rPr lang="tr-TR" sz="1000" i="0" dirty="0">
                    <a:effectLst/>
                    <a:latin typeface="Arial Narrow" panose="020B0606020202030204" pitchFamily="34" charset="0"/>
                  </a:rPr>
                  <a:t>(70</a:t>
                </a:r>
                <a14:m>
                  <m:oMath xmlns:m="http://schemas.openxmlformats.org/officeDocument/2006/math">
                    <m:r>
                      <a:rPr lang="tr-TR" sz="1000" b="0" i="1" dirty="0" smtClean="0">
                        <a:effectLst/>
                        <a:latin typeface="Cambria Math" panose="02040503050406030204" pitchFamily="18" charset="0"/>
                        <a:ea typeface="Cambria Math" panose="02040503050406030204" pitchFamily="18" charset="0"/>
                      </a:rPr>
                      <m:t>∙</m:t>
                    </m:r>
                  </m:oMath>
                </a14:m>
                <a:r>
                  <a:rPr lang="tr-TR" sz="1000" i="0" dirty="0">
                    <a:effectLst/>
                    <a:latin typeface="Arial Narrow" panose="020B0606020202030204" pitchFamily="34" charset="0"/>
                  </a:rPr>
                  <a:t>t) km</a:t>
                </a:r>
                <a:endParaRPr lang="tr-TR" sz="1000" dirty="0">
                  <a:latin typeface="Arial Narrow" panose="020B0606020202030204" pitchFamily="34" charset="0"/>
                </a:endParaRPr>
              </a:p>
            </p:txBody>
          </p:sp>
        </mc:Choice>
        <mc:Fallback xmlns="">
          <p:sp>
            <p:nvSpPr>
              <p:cNvPr id="103" name="Metin kutusu 102">
                <a:extLst>
                  <a:ext uri="{FF2B5EF4-FFF2-40B4-BE49-F238E27FC236}">
                    <a16:creationId xmlns:a16="http://schemas.microsoft.com/office/drawing/2014/main" id="{2F298386-96F6-46DF-8513-19212058B96A}"/>
                  </a:ext>
                </a:extLst>
              </p:cNvPr>
              <p:cNvSpPr txBox="1">
                <a:spLocks noRot="1" noChangeAspect="1" noMove="1" noResize="1" noEditPoints="1" noAdjustHandles="1" noChangeArrowheads="1" noChangeShapeType="1" noTextEdit="1"/>
              </p:cNvSpPr>
              <p:nvPr/>
            </p:nvSpPr>
            <p:spPr>
              <a:xfrm>
                <a:off x="694926" y="6495578"/>
                <a:ext cx="608403" cy="246221"/>
              </a:xfrm>
              <a:prstGeom prst="rect">
                <a:avLst/>
              </a:prstGeom>
              <a:blipFill>
                <a:blip r:embed="rId10"/>
                <a:stretch>
                  <a:fillRect t="-2500" b="-10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4" name="Metin kutusu 103">
                <a:extLst>
                  <a:ext uri="{FF2B5EF4-FFF2-40B4-BE49-F238E27FC236}">
                    <a16:creationId xmlns:a16="http://schemas.microsoft.com/office/drawing/2014/main" id="{289C6131-846B-4FD1-A056-480E32C15F92}"/>
                  </a:ext>
                </a:extLst>
              </p:cNvPr>
              <p:cNvSpPr txBox="1"/>
              <p:nvPr/>
            </p:nvSpPr>
            <p:spPr>
              <a:xfrm>
                <a:off x="1407350" y="6502117"/>
                <a:ext cx="608403" cy="246221"/>
              </a:xfrm>
              <a:prstGeom prst="rect">
                <a:avLst/>
              </a:prstGeom>
              <a:noFill/>
            </p:spPr>
            <p:txBody>
              <a:bodyPr wrap="square">
                <a:spAutoFit/>
              </a:bodyPr>
              <a:lstStyle/>
              <a:p>
                <a:r>
                  <a:rPr lang="tr-TR" sz="1000" i="0" dirty="0">
                    <a:effectLst/>
                    <a:latin typeface="Arial Narrow" panose="020B0606020202030204" pitchFamily="34" charset="0"/>
                  </a:rPr>
                  <a:t>(30</a:t>
                </a:r>
                <a14:m>
                  <m:oMath xmlns:m="http://schemas.openxmlformats.org/officeDocument/2006/math">
                    <m:r>
                      <a:rPr lang="tr-TR" sz="1000" i="1" dirty="0" smtClean="0">
                        <a:effectLst/>
                        <a:latin typeface="Cambria Math" panose="02040503050406030204" pitchFamily="18" charset="0"/>
                        <a:ea typeface="Cambria Math" panose="02040503050406030204" pitchFamily="18" charset="0"/>
                      </a:rPr>
                      <m:t>∙</m:t>
                    </m:r>
                  </m:oMath>
                </a14:m>
                <a:r>
                  <a:rPr lang="tr-TR" sz="1000" dirty="0">
                    <a:latin typeface="Arial Narrow" panose="020B0606020202030204" pitchFamily="34" charset="0"/>
                  </a:rPr>
                  <a:t>t) km</a:t>
                </a:r>
              </a:p>
            </p:txBody>
          </p:sp>
        </mc:Choice>
        <mc:Fallback xmlns="">
          <p:sp>
            <p:nvSpPr>
              <p:cNvPr id="104" name="Metin kutusu 103">
                <a:extLst>
                  <a:ext uri="{FF2B5EF4-FFF2-40B4-BE49-F238E27FC236}">
                    <a16:creationId xmlns:a16="http://schemas.microsoft.com/office/drawing/2014/main" id="{289C6131-846B-4FD1-A056-480E32C15F92}"/>
                  </a:ext>
                </a:extLst>
              </p:cNvPr>
              <p:cNvSpPr txBox="1">
                <a:spLocks noRot="1" noChangeAspect="1" noMove="1" noResize="1" noEditPoints="1" noAdjustHandles="1" noChangeArrowheads="1" noChangeShapeType="1" noTextEdit="1"/>
              </p:cNvSpPr>
              <p:nvPr/>
            </p:nvSpPr>
            <p:spPr>
              <a:xfrm>
                <a:off x="1407350" y="6502117"/>
                <a:ext cx="608403" cy="246221"/>
              </a:xfrm>
              <a:prstGeom prst="rect">
                <a:avLst/>
              </a:prstGeom>
              <a:blipFill>
                <a:blip r:embed="rId11"/>
                <a:stretch>
                  <a:fillRect t="-2500" b="-10000"/>
                </a:stretch>
              </a:blipFill>
            </p:spPr>
            <p:txBody>
              <a:bodyPr/>
              <a:lstStyle/>
              <a:p>
                <a:r>
                  <a:rPr lang="tr-TR">
                    <a:noFill/>
                  </a:rPr>
                  <a:t> </a:t>
                </a:r>
              </a:p>
            </p:txBody>
          </p:sp>
        </mc:Fallback>
      </mc:AlternateContent>
      <p:sp>
        <p:nvSpPr>
          <p:cNvPr id="105" name="Metin kutusu 104">
            <a:extLst>
              <a:ext uri="{FF2B5EF4-FFF2-40B4-BE49-F238E27FC236}">
                <a16:creationId xmlns:a16="http://schemas.microsoft.com/office/drawing/2014/main" id="{959ECEE0-7B8B-4928-9767-020FACA6A437}"/>
              </a:ext>
            </a:extLst>
          </p:cNvPr>
          <p:cNvSpPr txBox="1"/>
          <p:nvPr/>
        </p:nvSpPr>
        <p:spPr>
          <a:xfrm>
            <a:off x="2629009" y="6515048"/>
            <a:ext cx="562559" cy="246221"/>
          </a:xfrm>
          <a:prstGeom prst="rect">
            <a:avLst/>
          </a:prstGeom>
          <a:noFill/>
        </p:spPr>
        <p:txBody>
          <a:bodyPr wrap="square">
            <a:spAutoFit/>
          </a:bodyPr>
          <a:lstStyle/>
          <a:p>
            <a:r>
              <a:rPr lang="tr-TR" sz="1000" i="0" dirty="0">
                <a:effectLst/>
                <a:latin typeface="Arial Narrow" panose="020B0606020202030204" pitchFamily="34" charset="0"/>
              </a:rPr>
              <a:t>180 km</a:t>
            </a:r>
            <a:endParaRPr lang="tr-TR" sz="1000" dirty="0">
              <a:latin typeface="Arial Narrow" panose="020B0606020202030204" pitchFamily="34" charset="0"/>
            </a:endParaRPr>
          </a:p>
        </p:txBody>
      </p:sp>
      <p:sp>
        <p:nvSpPr>
          <p:cNvPr id="106" name="Metin kutusu 105">
            <a:extLst>
              <a:ext uri="{FF2B5EF4-FFF2-40B4-BE49-F238E27FC236}">
                <a16:creationId xmlns:a16="http://schemas.microsoft.com/office/drawing/2014/main" id="{CB6DA10D-A511-43A0-BF5F-0B63C00EAF08}"/>
              </a:ext>
            </a:extLst>
          </p:cNvPr>
          <p:cNvSpPr txBox="1"/>
          <p:nvPr/>
        </p:nvSpPr>
        <p:spPr>
          <a:xfrm>
            <a:off x="-36786" y="6822713"/>
            <a:ext cx="3306869" cy="1938992"/>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Aynı yönde ilerlerse spor araba toplamda 70t + 180 km yol alacaktır C aracı ise toplamda 180 km yol alacaktır. Polis aracının hızı 30 olduğu için bu yolu 6 saatte alır.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6 saatte polis aracı D noktasında olduğuna göre Spor araba da 6 saatte D noktasında olacaktır. Soruda verilen bilgiler bu yöndedir. Spor arabanın saatteki sabit hızı 70 km saatir. 6 saatte 420 km yol alacaktır.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80t+180 = 420 km   240=80t ise </a:t>
            </a:r>
            <a:r>
              <a:rPr lang="tr-TR" sz="1000" b="1" noProof="1">
                <a:cs typeface="Arial" panose="020B0604020202020204" pitchFamily="34" charset="0"/>
              </a:rPr>
              <a:t>t=3 olarak bulunur.</a:t>
            </a:r>
          </a:p>
          <a:p>
            <a:pPr marL="171450" indent="-171450">
              <a:buFont typeface="Wingdings" panose="05000000000000000000" pitchFamily="2" charset="2"/>
              <a:buChar char="q"/>
            </a:pPr>
            <a:endParaRPr lang="tr-TR" sz="1000" b="1" noProof="1">
              <a:cs typeface="Arial" panose="020B0604020202020204" pitchFamily="34" charset="0"/>
            </a:endParaRPr>
          </a:p>
          <a:p>
            <a:pPr marL="171450" indent="-171450">
              <a:buFont typeface="Wingdings" panose="05000000000000000000" pitchFamily="2" charset="2"/>
              <a:buChar char="q"/>
            </a:pPr>
            <a:r>
              <a:rPr lang="tr-TR" sz="1000" b="1" noProof="1">
                <a:cs typeface="Arial" panose="020B0604020202020204" pitchFamily="34" charset="0"/>
              </a:rPr>
              <a:t>|AB| = 210 KM &gt; |CD| = 180 KM &gt; |BC| = 90 KM , </a:t>
            </a:r>
          </a:p>
        </p:txBody>
      </p:sp>
      <p:sp>
        <p:nvSpPr>
          <p:cNvPr id="108" name="Metin kutusu 107">
            <a:extLst>
              <a:ext uri="{FF2B5EF4-FFF2-40B4-BE49-F238E27FC236}">
                <a16:creationId xmlns:a16="http://schemas.microsoft.com/office/drawing/2014/main" id="{D659CF4E-C206-4261-916F-1D473D533DA4}"/>
              </a:ext>
            </a:extLst>
          </p:cNvPr>
          <p:cNvSpPr txBox="1"/>
          <p:nvPr/>
        </p:nvSpPr>
        <p:spPr>
          <a:xfrm>
            <a:off x="3582473" y="414817"/>
            <a:ext cx="325555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Mum Problemleri</a:t>
            </a:r>
          </a:p>
        </p:txBody>
      </p:sp>
      <p:sp>
        <p:nvSpPr>
          <p:cNvPr id="109" name="Metin kutusu 108">
            <a:extLst>
              <a:ext uri="{FF2B5EF4-FFF2-40B4-BE49-F238E27FC236}">
                <a16:creationId xmlns:a16="http://schemas.microsoft.com/office/drawing/2014/main" id="{6477400A-39CD-49DC-AC4E-725095A4EEF3}"/>
              </a:ext>
            </a:extLst>
          </p:cNvPr>
          <p:cNvSpPr txBox="1"/>
          <p:nvPr/>
        </p:nvSpPr>
        <p:spPr>
          <a:xfrm>
            <a:off x="3578593" y="662037"/>
            <a:ext cx="3308378" cy="2708434"/>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Mum problemleri aslında hareket problemlerinden ibarettir. Benzetme yoluyla anlatmaya çalışalım. Mumun boyu yol, yanma hızı aracımızın hızı, süre de zaten süredir. </a:t>
            </a:r>
          </a:p>
          <a:p>
            <a:pPr marL="171450" indent="-171450">
              <a:buFont typeface="Wingdings" panose="05000000000000000000" pitchFamily="2" charset="2"/>
              <a:buChar char="q"/>
            </a:pPr>
            <a:endParaRPr lang="tr-TR" sz="1000" b="1"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Mum problemlerinde mumların ne kadar sürede yandığı, boylarının oranları veya farkları, yanan kısımlarının oranları veya farkları sorulabilir.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Genellikle mumların kalan boylarının oranı sorulduğundan yanlışlıkla yanan boylarını oranlamayınız.</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Mumların veya iplerin kalınlıkları farklı olabilir örneğin kalın 3 saniyede, orta 2 saniyede, ince ip 1 saniyede yanıyor diyebilir bu tür problemleri dikkatli çözmek gerekir. Kitabımızda çözümlü örneklere benzer sorularda rastlayacaksınız.</a:t>
            </a:r>
          </a:p>
        </p:txBody>
      </p:sp>
      <p:sp>
        <p:nvSpPr>
          <p:cNvPr id="110" name="Metin kutusu 109">
            <a:extLst>
              <a:ext uri="{FF2B5EF4-FFF2-40B4-BE49-F238E27FC236}">
                <a16:creationId xmlns:a16="http://schemas.microsoft.com/office/drawing/2014/main" id="{9684D9D4-B67F-408D-B927-AA3D4668A748}"/>
              </a:ext>
            </a:extLst>
          </p:cNvPr>
          <p:cNvSpPr txBox="1"/>
          <p:nvPr/>
        </p:nvSpPr>
        <p:spPr>
          <a:xfrm>
            <a:off x="3498724" y="3341366"/>
            <a:ext cx="325555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Tren – Tünel Problemleri</a:t>
            </a:r>
          </a:p>
        </p:txBody>
      </p:sp>
      <p:sp>
        <p:nvSpPr>
          <p:cNvPr id="111" name="Metin kutusu 110">
            <a:extLst>
              <a:ext uri="{FF2B5EF4-FFF2-40B4-BE49-F238E27FC236}">
                <a16:creationId xmlns:a16="http://schemas.microsoft.com/office/drawing/2014/main" id="{0AC5DEE1-0841-4970-AE77-3AFF1C629316}"/>
              </a:ext>
            </a:extLst>
          </p:cNvPr>
          <p:cNvSpPr txBox="1"/>
          <p:nvPr/>
        </p:nvSpPr>
        <p:spPr>
          <a:xfrm>
            <a:off x="3529648" y="3635426"/>
            <a:ext cx="3308378" cy="1015663"/>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Tren problemlerinde tamamen hareket problemlerinde öğrendiğiniz bilgileri uygulayabilirsiniz. Bu kısmı ayrı başlıkta incelememizin sebebi özel bir durumu oluşu ve bu kısmın genel kesim olarak işlemlerde ihmal edilmesidir. İhmal edilen veya unutulan kısım trenin kendi boyudur. Trenin boyunu ilave etmeyi unutmayınız.</a:t>
            </a:r>
          </a:p>
        </p:txBody>
      </p:sp>
      <p:pic>
        <p:nvPicPr>
          <p:cNvPr id="13" name="Grafik 12">
            <a:extLst>
              <a:ext uri="{FF2B5EF4-FFF2-40B4-BE49-F238E27FC236}">
                <a16:creationId xmlns:a16="http://schemas.microsoft.com/office/drawing/2014/main" id="{94E592AC-27E6-41F1-9E42-5F264594D32B}"/>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05824" y="4835399"/>
            <a:ext cx="1157875" cy="595400"/>
          </a:xfrm>
          <a:prstGeom prst="rect">
            <a:avLst/>
          </a:prstGeom>
        </p:spPr>
      </p:pic>
      <p:sp>
        <p:nvSpPr>
          <p:cNvPr id="25" name="Akış Çizelgesi: Doğrudan Erişimli Depolama 24">
            <a:extLst>
              <a:ext uri="{FF2B5EF4-FFF2-40B4-BE49-F238E27FC236}">
                <a16:creationId xmlns:a16="http://schemas.microsoft.com/office/drawing/2014/main" id="{C5A80462-12E8-4A17-99C1-57E6E11B4A9B}"/>
              </a:ext>
            </a:extLst>
          </p:cNvPr>
          <p:cNvSpPr/>
          <p:nvPr/>
        </p:nvSpPr>
        <p:spPr>
          <a:xfrm>
            <a:off x="4978865" y="4896525"/>
            <a:ext cx="1219830" cy="432048"/>
          </a:xfrm>
          <a:prstGeom prst="flowChartMagneticDrum">
            <a:avLst/>
          </a:prstGeom>
          <a:solidFill>
            <a:schemeClr val="bg1">
              <a:lumMod val="75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12" name="Metin kutusu 111">
            <a:extLst>
              <a:ext uri="{FF2B5EF4-FFF2-40B4-BE49-F238E27FC236}">
                <a16:creationId xmlns:a16="http://schemas.microsoft.com/office/drawing/2014/main" id="{FE436E5C-9C59-4EFE-953A-A4B888C97A46}"/>
              </a:ext>
            </a:extLst>
          </p:cNvPr>
          <p:cNvSpPr txBox="1"/>
          <p:nvPr/>
        </p:nvSpPr>
        <p:spPr>
          <a:xfrm>
            <a:off x="3982794" y="4624011"/>
            <a:ext cx="500346" cy="246221"/>
          </a:xfrm>
          <a:prstGeom prst="rect">
            <a:avLst/>
          </a:prstGeom>
          <a:noFill/>
        </p:spPr>
        <p:txBody>
          <a:bodyPr wrap="square" rtlCol="0">
            <a:spAutoFit/>
          </a:bodyPr>
          <a:lstStyle/>
          <a:p>
            <a:r>
              <a:rPr lang="tr-TR" sz="1000" noProof="1">
                <a:cs typeface="Arial" panose="020B0604020202020204" pitchFamily="34" charset="0"/>
              </a:rPr>
              <a:t>Tren</a:t>
            </a:r>
          </a:p>
        </p:txBody>
      </p:sp>
      <p:sp>
        <p:nvSpPr>
          <p:cNvPr id="113" name="Metin kutusu 112">
            <a:extLst>
              <a:ext uri="{FF2B5EF4-FFF2-40B4-BE49-F238E27FC236}">
                <a16:creationId xmlns:a16="http://schemas.microsoft.com/office/drawing/2014/main" id="{1DD2DC49-80E9-4028-8420-8AAC2FDA36E9}"/>
              </a:ext>
            </a:extLst>
          </p:cNvPr>
          <p:cNvSpPr txBox="1"/>
          <p:nvPr/>
        </p:nvSpPr>
        <p:spPr>
          <a:xfrm>
            <a:off x="4704028" y="4668014"/>
            <a:ext cx="884752" cy="246221"/>
          </a:xfrm>
          <a:prstGeom prst="rect">
            <a:avLst/>
          </a:prstGeom>
          <a:noFill/>
        </p:spPr>
        <p:txBody>
          <a:bodyPr wrap="square" rtlCol="0">
            <a:spAutoFit/>
          </a:bodyPr>
          <a:lstStyle/>
          <a:p>
            <a:r>
              <a:rPr lang="tr-TR" sz="1000" noProof="1">
                <a:cs typeface="Arial" panose="020B0604020202020204" pitchFamily="34" charset="0"/>
              </a:rPr>
              <a:t>Tünel Girişi</a:t>
            </a:r>
          </a:p>
        </p:txBody>
      </p:sp>
      <p:sp>
        <p:nvSpPr>
          <p:cNvPr id="114" name="Metin kutusu 113">
            <a:extLst>
              <a:ext uri="{FF2B5EF4-FFF2-40B4-BE49-F238E27FC236}">
                <a16:creationId xmlns:a16="http://schemas.microsoft.com/office/drawing/2014/main" id="{79710F41-E285-4AD1-8764-3F3DEA8764A3}"/>
              </a:ext>
            </a:extLst>
          </p:cNvPr>
          <p:cNvSpPr txBox="1"/>
          <p:nvPr/>
        </p:nvSpPr>
        <p:spPr>
          <a:xfrm>
            <a:off x="3481256" y="5344534"/>
            <a:ext cx="3360621" cy="861774"/>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Trenin sorularda belirtilen süre zarfında treni geçmesi treni tamamen terketmesi anlamına gelir. Yani trenin tüm kısmı tünelin dışında olmalıdır. Bu sadece tren için geçerli değil tabi ki benzer prensipteki tüm durumlarda geçerlidir. Fakat genelde sorularda trenler karşınıza gelecektir.  </a:t>
            </a:r>
          </a:p>
        </p:txBody>
      </p:sp>
      <p:sp>
        <p:nvSpPr>
          <p:cNvPr id="118" name="Metin kutusu 117">
            <a:extLst>
              <a:ext uri="{FF2B5EF4-FFF2-40B4-BE49-F238E27FC236}">
                <a16:creationId xmlns:a16="http://schemas.microsoft.com/office/drawing/2014/main" id="{72D65BC3-3C84-49FB-8994-15A1DB2ABB83}"/>
              </a:ext>
            </a:extLst>
          </p:cNvPr>
          <p:cNvSpPr txBox="1"/>
          <p:nvPr/>
        </p:nvSpPr>
        <p:spPr>
          <a:xfrm>
            <a:off x="5536195" y="6306579"/>
            <a:ext cx="1240454" cy="461665"/>
          </a:xfrm>
          <a:prstGeom prst="rect">
            <a:avLst/>
          </a:prstGeom>
          <a:noFill/>
          <a:ln w="31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noProof="1">
                <a:cs typeface="Arial" panose="020B0604020202020204" pitchFamily="34" charset="0"/>
              </a:rPr>
              <a:t>Burada görüldüğü gibi trenin tüneli geçtiği tamamen </a:t>
            </a:r>
            <a:r>
              <a:rPr lang="tr-TR" sz="800" b="1" noProof="1">
                <a:cs typeface="Arial" panose="020B0604020202020204" pitchFamily="34" charset="0"/>
              </a:rPr>
              <a:t>söylenemez</a:t>
            </a:r>
            <a:r>
              <a:rPr lang="tr-TR" sz="800" noProof="1">
                <a:cs typeface="Arial" panose="020B0604020202020204" pitchFamily="34" charset="0"/>
              </a:rPr>
              <a:t>.</a:t>
            </a:r>
          </a:p>
        </p:txBody>
      </p:sp>
      <p:pic>
        <p:nvPicPr>
          <p:cNvPr id="119" name="Grafik 118">
            <a:extLst>
              <a:ext uri="{FF2B5EF4-FFF2-40B4-BE49-F238E27FC236}">
                <a16:creationId xmlns:a16="http://schemas.microsoft.com/office/drawing/2014/main" id="{79BF6560-2258-44E1-BC1B-960A3CD7DF76}"/>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301613" y="6210964"/>
            <a:ext cx="1157875" cy="595400"/>
          </a:xfrm>
          <a:prstGeom prst="rect">
            <a:avLst/>
          </a:prstGeom>
        </p:spPr>
      </p:pic>
      <p:sp>
        <p:nvSpPr>
          <p:cNvPr id="116" name="Akış Çizelgesi: Doğrudan Erişimli Depolama 115">
            <a:extLst>
              <a:ext uri="{FF2B5EF4-FFF2-40B4-BE49-F238E27FC236}">
                <a16:creationId xmlns:a16="http://schemas.microsoft.com/office/drawing/2014/main" id="{C77F40AF-A440-4279-936C-EF379122CBB0}"/>
              </a:ext>
            </a:extLst>
          </p:cNvPr>
          <p:cNvSpPr/>
          <p:nvPr/>
        </p:nvSpPr>
        <p:spPr>
          <a:xfrm rot="10800000">
            <a:off x="3629101" y="6293295"/>
            <a:ext cx="1219830" cy="432048"/>
          </a:xfrm>
          <a:prstGeom prst="flowChartMagneticDrum">
            <a:avLst/>
          </a:prstGeom>
          <a:solidFill>
            <a:schemeClr val="bg1">
              <a:lumMod val="75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21" name="Akış Çizelgesi: Doğrudan Erişimli Depolama 120">
            <a:extLst>
              <a:ext uri="{FF2B5EF4-FFF2-40B4-BE49-F238E27FC236}">
                <a16:creationId xmlns:a16="http://schemas.microsoft.com/office/drawing/2014/main" id="{2CCAD019-BF20-4FA2-9010-A8DA75E3B9FC}"/>
              </a:ext>
            </a:extLst>
          </p:cNvPr>
          <p:cNvSpPr/>
          <p:nvPr/>
        </p:nvSpPr>
        <p:spPr>
          <a:xfrm rot="10800000">
            <a:off x="3608322" y="6961233"/>
            <a:ext cx="902491" cy="432048"/>
          </a:xfrm>
          <a:prstGeom prst="flowChartMagneticDrum">
            <a:avLst/>
          </a:prstGeom>
          <a:solidFill>
            <a:schemeClr val="bg1">
              <a:lumMod val="75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pic>
        <p:nvPicPr>
          <p:cNvPr id="124" name="Grafik 123">
            <a:extLst>
              <a:ext uri="{FF2B5EF4-FFF2-40B4-BE49-F238E27FC236}">
                <a16:creationId xmlns:a16="http://schemas.microsoft.com/office/drawing/2014/main" id="{4A8A9F8F-2E57-4EF9-9A62-35B3FF348B05}"/>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14247" y="6880022"/>
            <a:ext cx="781060" cy="595400"/>
          </a:xfrm>
          <a:prstGeom prst="rect">
            <a:avLst/>
          </a:prstGeom>
        </p:spPr>
      </p:pic>
      <p:sp>
        <p:nvSpPr>
          <p:cNvPr id="125" name="Metin kutusu 124">
            <a:extLst>
              <a:ext uri="{FF2B5EF4-FFF2-40B4-BE49-F238E27FC236}">
                <a16:creationId xmlns:a16="http://schemas.microsoft.com/office/drawing/2014/main" id="{91685C78-13D8-4BCE-B3C2-BFD6854A6C01}"/>
              </a:ext>
            </a:extLst>
          </p:cNvPr>
          <p:cNvSpPr txBox="1"/>
          <p:nvPr/>
        </p:nvSpPr>
        <p:spPr>
          <a:xfrm>
            <a:off x="5397710" y="7014123"/>
            <a:ext cx="1368746" cy="584775"/>
          </a:xfrm>
          <a:prstGeom prst="rect">
            <a:avLst/>
          </a:prstGeom>
          <a:noFill/>
          <a:ln w="63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noProof="1">
                <a:cs typeface="Arial" panose="020B0604020202020204" pitchFamily="34" charset="0"/>
              </a:rPr>
              <a:t>Burada tren tüneli </a:t>
            </a:r>
            <a:r>
              <a:rPr lang="tr-TR" sz="800" b="1" u="sng" noProof="1">
                <a:cs typeface="Arial" panose="020B0604020202020204" pitchFamily="34" charset="0"/>
              </a:rPr>
              <a:t>tamamen</a:t>
            </a:r>
            <a:r>
              <a:rPr lang="tr-TR" sz="800" noProof="1">
                <a:cs typeface="Arial" panose="020B0604020202020204" pitchFamily="34" charset="0"/>
              </a:rPr>
              <a:t> terk etmiştir. Tren kendi boyu ve tünelin boyu kadar yol almıştır.</a:t>
            </a:r>
          </a:p>
        </p:txBody>
      </p:sp>
      <p:sp>
        <p:nvSpPr>
          <p:cNvPr id="31" name="Oval 30">
            <a:extLst>
              <a:ext uri="{FF2B5EF4-FFF2-40B4-BE49-F238E27FC236}">
                <a16:creationId xmlns:a16="http://schemas.microsoft.com/office/drawing/2014/main" id="{C90E0B68-F623-4807-A4E9-AF7245276D87}"/>
              </a:ext>
            </a:extLst>
          </p:cNvPr>
          <p:cNvSpPr/>
          <p:nvPr/>
        </p:nvSpPr>
        <p:spPr>
          <a:xfrm>
            <a:off x="3645048" y="6297565"/>
            <a:ext cx="425877" cy="427780"/>
          </a:xfrm>
          <a:prstGeom prst="ellipse">
            <a:avLst/>
          </a:prstGeom>
          <a:solidFill>
            <a:srgbClr val="BFBFBF"/>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26" name="Oval 125">
            <a:extLst>
              <a:ext uri="{FF2B5EF4-FFF2-40B4-BE49-F238E27FC236}">
                <a16:creationId xmlns:a16="http://schemas.microsoft.com/office/drawing/2014/main" id="{B886D7A0-DD1C-4CF3-B2AF-8B083AA1F5F6}"/>
              </a:ext>
            </a:extLst>
          </p:cNvPr>
          <p:cNvSpPr/>
          <p:nvPr/>
        </p:nvSpPr>
        <p:spPr>
          <a:xfrm>
            <a:off x="3619984" y="6960773"/>
            <a:ext cx="339769" cy="427320"/>
          </a:xfrm>
          <a:prstGeom prst="ellipse">
            <a:avLst/>
          </a:prstGeom>
          <a:solidFill>
            <a:srgbClr val="BFBFBF"/>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37" name="Düz Bağlayıcı 36">
            <a:extLst>
              <a:ext uri="{FF2B5EF4-FFF2-40B4-BE49-F238E27FC236}">
                <a16:creationId xmlns:a16="http://schemas.microsoft.com/office/drawing/2014/main" id="{C509F829-A7F0-4E42-B51A-F2A904759112}"/>
              </a:ext>
            </a:extLst>
          </p:cNvPr>
          <p:cNvCxnSpPr>
            <a:cxnSpLocks/>
          </p:cNvCxnSpPr>
          <p:nvPr/>
        </p:nvCxnSpPr>
        <p:spPr>
          <a:xfrm flipV="1">
            <a:off x="3544699" y="6845366"/>
            <a:ext cx="3279034" cy="3564"/>
          </a:xfrm>
          <a:prstGeom prst="line">
            <a:avLst/>
          </a:prstGeom>
          <a:ln w="127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995A222D-CC23-41C3-973F-6FEB069A9592}"/>
              </a:ext>
            </a:extLst>
          </p:cNvPr>
          <p:cNvSpPr/>
          <p:nvPr/>
        </p:nvSpPr>
        <p:spPr>
          <a:xfrm>
            <a:off x="5746898" y="4900000"/>
            <a:ext cx="451797" cy="432048"/>
          </a:xfrm>
          <a:prstGeom prst="ellipse">
            <a:avLst/>
          </a:prstGeom>
          <a:solidFill>
            <a:srgbClr val="BFBFBF"/>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32" name="Metin kutusu 131">
            <a:extLst>
              <a:ext uri="{FF2B5EF4-FFF2-40B4-BE49-F238E27FC236}">
                <a16:creationId xmlns:a16="http://schemas.microsoft.com/office/drawing/2014/main" id="{3DFC35B6-69CB-4CB1-B9D1-F80E2E23E29D}"/>
              </a:ext>
            </a:extLst>
          </p:cNvPr>
          <p:cNvSpPr txBox="1"/>
          <p:nvPr/>
        </p:nvSpPr>
        <p:spPr>
          <a:xfrm>
            <a:off x="3531821" y="7925482"/>
            <a:ext cx="3291912" cy="707886"/>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Trenimiz tüneli tam geçtiğinde tünelin boyuna ilave olarak trenin boyu kadar daha ilerlemelidir ki tamamen tüneli geçti ibaresini karşılayabilsin. Yol burada x+y olur özel dikkat edilmesi gereken durum budur.</a:t>
            </a:r>
          </a:p>
        </p:txBody>
      </p:sp>
      <p:sp>
        <p:nvSpPr>
          <p:cNvPr id="133" name="Sağ Ayraç 132">
            <a:extLst>
              <a:ext uri="{FF2B5EF4-FFF2-40B4-BE49-F238E27FC236}">
                <a16:creationId xmlns:a16="http://schemas.microsoft.com/office/drawing/2014/main" id="{1CF5F7CB-F65E-4785-9709-FA8B84A51BCE}"/>
              </a:ext>
            </a:extLst>
          </p:cNvPr>
          <p:cNvSpPr/>
          <p:nvPr/>
        </p:nvSpPr>
        <p:spPr>
          <a:xfrm rot="5400000">
            <a:off x="4006982" y="7218146"/>
            <a:ext cx="86843" cy="778958"/>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134" name="Sağ Ayraç 133">
            <a:extLst>
              <a:ext uri="{FF2B5EF4-FFF2-40B4-BE49-F238E27FC236}">
                <a16:creationId xmlns:a16="http://schemas.microsoft.com/office/drawing/2014/main" id="{42930AF9-BB9A-4648-BEEA-4FAC20533F36}"/>
              </a:ext>
            </a:extLst>
          </p:cNvPr>
          <p:cNvSpPr/>
          <p:nvPr/>
        </p:nvSpPr>
        <p:spPr>
          <a:xfrm rot="5400000">
            <a:off x="4872861" y="7212953"/>
            <a:ext cx="86843" cy="778958"/>
          </a:xfrm>
          <a:prstGeom prst="rightBrace">
            <a:avLst/>
          </a:prstGeom>
          <a:ln>
            <a:solidFill>
              <a:srgbClr val="D012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135" name="Metin kutusu 134">
            <a:extLst>
              <a:ext uri="{FF2B5EF4-FFF2-40B4-BE49-F238E27FC236}">
                <a16:creationId xmlns:a16="http://schemas.microsoft.com/office/drawing/2014/main" id="{DEF13C75-FAB8-40BE-8F25-BFC8A3133DCF}"/>
              </a:ext>
            </a:extLst>
          </p:cNvPr>
          <p:cNvSpPr txBox="1"/>
          <p:nvPr/>
        </p:nvSpPr>
        <p:spPr>
          <a:xfrm>
            <a:off x="3642780" y="7388664"/>
            <a:ext cx="837248" cy="246221"/>
          </a:xfrm>
          <a:prstGeom prst="rect">
            <a:avLst/>
          </a:prstGeom>
          <a:noFill/>
        </p:spPr>
        <p:txBody>
          <a:bodyPr wrap="square">
            <a:spAutoFit/>
          </a:bodyPr>
          <a:lstStyle/>
          <a:p>
            <a:pPr algn="ctr"/>
            <a:r>
              <a:rPr lang="tr-TR" sz="1000" dirty="0">
                <a:latin typeface="Arial Narrow" panose="020B0606020202030204" pitchFamily="34" charset="0"/>
              </a:rPr>
              <a:t>x metre</a:t>
            </a:r>
          </a:p>
        </p:txBody>
      </p:sp>
      <p:sp>
        <p:nvSpPr>
          <p:cNvPr id="136" name="Metin kutusu 135">
            <a:extLst>
              <a:ext uri="{FF2B5EF4-FFF2-40B4-BE49-F238E27FC236}">
                <a16:creationId xmlns:a16="http://schemas.microsoft.com/office/drawing/2014/main" id="{AD0DB78E-BFF6-4E49-919D-6A4111834B1B}"/>
              </a:ext>
            </a:extLst>
          </p:cNvPr>
          <p:cNvSpPr txBox="1"/>
          <p:nvPr/>
        </p:nvSpPr>
        <p:spPr>
          <a:xfrm>
            <a:off x="4514158" y="7376859"/>
            <a:ext cx="837248" cy="246221"/>
          </a:xfrm>
          <a:prstGeom prst="rect">
            <a:avLst/>
          </a:prstGeom>
          <a:noFill/>
        </p:spPr>
        <p:txBody>
          <a:bodyPr wrap="square">
            <a:spAutoFit/>
          </a:bodyPr>
          <a:lstStyle/>
          <a:p>
            <a:pPr algn="ctr"/>
            <a:r>
              <a:rPr lang="tr-TR" sz="1000" dirty="0">
                <a:latin typeface="Arial Narrow" panose="020B0606020202030204" pitchFamily="34" charset="0"/>
              </a:rPr>
              <a:t>y metre</a:t>
            </a:r>
          </a:p>
        </p:txBody>
      </p:sp>
      <p:sp>
        <p:nvSpPr>
          <p:cNvPr id="137" name="Metin kutusu 136">
            <a:extLst>
              <a:ext uri="{FF2B5EF4-FFF2-40B4-BE49-F238E27FC236}">
                <a16:creationId xmlns:a16="http://schemas.microsoft.com/office/drawing/2014/main" id="{8832C646-13B8-45C7-8094-ED88AC241012}"/>
              </a:ext>
            </a:extLst>
          </p:cNvPr>
          <p:cNvSpPr txBox="1"/>
          <p:nvPr/>
        </p:nvSpPr>
        <p:spPr>
          <a:xfrm>
            <a:off x="3631779" y="7588993"/>
            <a:ext cx="837248" cy="246221"/>
          </a:xfrm>
          <a:prstGeom prst="rect">
            <a:avLst/>
          </a:prstGeom>
          <a:noFill/>
        </p:spPr>
        <p:txBody>
          <a:bodyPr wrap="square">
            <a:spAutoFit/>
          </a:bodyPr>
          <a:lstStyle/>
          <a:p>
            <a:pPr algn="ctr"/>
            <a:r>
              <a:rPr lang="tr-TR" sz="1000" dirty="0">
                <a:latin typeface="Arial Narrow" panose="020B0606020202030204" pitchFamily="34" charset="0"/>
              </a:rPr>
              <a:t>Tünel Boyu</a:t>
            </a:r>
          </a:p>
        </p:txBody>
      </p:sp>
      <p:sp>
        <p:nvSpPr>
          <p:cNvPr id="138" name="Metin kutusu 137">
            <a:extLst>
              <a:ext uri="{FF2B5EF4-FFF2-40B4-BE49-F238E27FC236}">
                <a16:creationId xmlns:a16="http://schemas.microsoft.com/office/drawing/2014/main" id="{93130A26-58BA-4AD5-BE13-7A49EA549DF2}"/>
              </a:ext>
            </a:extLst>
          </p:cNvPr>
          <p:cNvSpPr txBox="1"/>
          <p:nvPr/>
        </p:nvSpPr>
        <p:spPr>
          <a:xfrm>
            <a:off x="4526803" y="7597485"/>
            <a:ext cx="837248" cy="246221"/>
          </a:xfrm>
          <a:prstGeom prst="rect">
            <a:avLst/>
          </a:prstGeom>
          <a:noFill/>
        </p:spPr>
        <p:txBody>
          <a:bodyPr wrap="square">
            <a:spAutoFit/>
          </a:bodyPr>
          <a:lstStyle/>
          <a:p>
            <a:pPr algn="ctr"/>
            <a:r>
              <a:rPr lang="tr-TR" sz="1000" dirty="0">
                <a:latin typeface="Arial Narrow" panose="020B0606020202030204" pitchFamily="34" charset="0"/>
              </a:rPr>
              <a:t>Trenin Boyu</a:t>
            </a:r>
          </a:p>
        </p:txBody>
      </p:sp>
      <p:cxnSp>
        <p:nvCxnSpPr>
          <p:cNvPr id="139" name="Düz Bağlayıcı 138">
            <a:extLst>
              <a:ext uri="{FF2B5EF4-FFF2-40B4-BE49-F238E27FC236}">
                <a16:creationId xmlns:a16="http://schemas.microsoft.com/office/drawing/2014/main" id="{2CD9E5D7-471E-41BA-95E7-D5D07837FB7E}"/>
              </a:ext>
            </a:extLst>
          </p:cNvPr>
          <p:cNvCxnSpPr>
            <a:cxnSpLocks/>
          </p:cNvCxnSpPr>
          <p:nvPr/>
        </p:nvCxnSpPr>
        <p:spPr>
          <a:xfrm flipV="1">
            <a:off x="3570732" y="7851161"/>
            <a:ext cx="3279034" cy="3564"/>
          </a:xfrm>
          <a:prstGeom prst="line">
            <a:avLst/>
          </a:prstGeom>
          <a:ln w="127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40" name="Metin kutusu 139">
            <a:extLst>
              <a:ext uri="{FF2B5EF4-FFF2-40B4-BE49-F238E27FC236}">
                <a16:creationId xmlns:a16="http://schemas.microsoft.com/office/drawing/2014/main" id="{8B4F4C55-26B5-4367-A45C-070332926DE4}"/>
              </a:ext>
            </a:extLst>
          </p:cNvPr>
          <p:cNvSpPr txBox="1"/>
          <p:nvPr/>
        </p:nvSpPr>
        <p:spPr>
          <a:xfrm>
            <a:off x="5801902" y="4670240"/>
            <a:ext cx="884752" cy="246221"/>
          </a:xfrm>
          <a:prstGeom prst="rect">
            <a:avLst/>
          </a:prstGeom>
          <a:noFill/>
        </p:spPr>
        <p:txBody>
          <a:bodyPr wrap="square" rtlCol="0">
            <a:spAutoFit/>
          </a:bodyPr>
          <a:lstStyle/>
          <a:p>
            <a:r>
              <a:rPr lang="tr-TR" sz="1000" noProof="1">
                <a:cs typeface="Arial" panose="020B0604020202020204" pitchFamily="34" charset="0"/>
              </a:rPr>
              <a:t>Tünel Çıkışı</a:t>
            </a:r>
          </a:p>
        </p:txBody>
      </p:sp>
      <p:sp>
        <p:nvSpPr>
          <p:cNvPr id="141" name="Metin kutusu 140">
            <a:extLst>
              <a:ext uri="{FF2B5EF4-FFF2-40B4-BE49-F238E27FC236}">
                <a16:creationId xmlns:a16="http://schemas.microsoft.com/office/drawing/2014/main" id="{100DCCE2-FC8B-416E-8F8B-41A4DDE06E6E}"/>
              </a:ext>
            </a:extLst>
          </p:cNvPr>
          <p:cNvSpPr txBox="1"/>
          <p:nvPr/>
        </p:nvSpPr>
        <p:spPr>
          <a:xfrm>
            <a:off x="3574054" y="6370164"/>
            <a:ext cx="884752" cy="276999"/>
          </a:xfrm>
          <a:prstGeom prst="rect">
            <a:avLst/>
          </a:prstGeom>
          <a:noFill/>
        </p:spPr>
        <p:txBody>
          <a:bodyPr wrap="square" rtlCol="0">
            <a:spAutoFit/>
          </a:bodyPr>
          <a:lstStyle/>
          <a:p>
            <a:r>
              <a:rPr lang="tr-TR" sz="600" noProof="1">
                <a:cs typeface="Arial" panose="020B0604020202020204" pitchFamily="34" charset="0"/>
              </a:rPr>
              <a:t>Tünel </a:t>
            </a:r>
            <a:br>
              <a:rPr lang="tr-TR" sz="600" noProof="1">
                <a:cs typeface="Arial" panose="020B0604020202020204" pitchFamily="34" charset="0"/>
              </a:rPr>
            </a:br>
            <a:r>
              <a:rPr lang="tr-TR" sz="600" noProof="1">
                <a:cs typeface="Arial" panose="020B0604020202020204" pitchFamily="34" charset="0"/>
              </a:rPr>
              <a:t>Girişi</a:t>
            </a:r>
          </a:p>
        </p:txBody>
      </p:sp>
      <p:sp>
        <p:nvSpPr>
          <p:cNvPr id="142" name="Metin kutusu 141">
            <a:extLst>
              <a:ext uri="{FF2B5EF4-FFF2-40B4-BE49-F238E27FC236}">
                <a16:creationId xmlns:a16="http://schemas.microsoft.com/office/drawing/2014/main" id="{9F885C17-BBB0-487B-9D7B-64AFCDC8BEB9}"/>
              </a:ext>
            </a:extLst>
          </p:cNvPr>
          <p:cNvSpPr txBox="1"/>
          <p:nvPr/>
        </p:nvSpPr>
        <p:spPr>
          <a:xfrm>
            <a:off x="3540986" y="7040567"/>
            <a:ext cx="884752" cy="276999"/>
          </a:xfrm>
          <a:prstGeom prst="rect">
            <a:avLst/>
          </a:prstGeom>
          <a:noFill/>
        </p:spPr>
        <p:txBody>
          <a:bodyPr wrap="square" rtlCol="0">
            <a:spAutoFit/>
          </a:bodyPr>
          <a:lstStyle/>
          <a:p>
            <a:r>
              <a:rPr lang="tr-TR" sz="600" noProof="1">
                <a:cs typeface="Arial" panose="020B0604020202020204" pitchFamily="34" charset="0"/>
              </a:rPr>
              <a:t>Tünel </a:t>
            </a:r>
            <a:br>
              <a:rPr lang="tr-TR" sz="600" noProof="1">
                <a:cs typeface="Arial" panose="020B0604020202020204" pitchFamily="34" charset="0"/>
              </a:rPr>
            </a:br>
            <a:r>
              <a:rPr lang="tr-TR" sz="600" noProof="1">
                <a:cs typeface="Arial" panose="020B0604020202020204" pitchFamily="34" charset="0"/>
              </a:rPr>
              <a:t>Girişi</a:t>
            </a:r>
          </a:p>
        </p:txBody>
      </p:sp>
    </p:spTree>
    <p:extLst>
      <p:ext uri="{BB962C8B-B14F-4D97-AF65-F5344CB8AC3E}">
        <p14:creationId xmlns:p14="http://schemas.microsoft.com/office/powerpoint/2010/main" val="3311437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Hareket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6319" y="808378"/>
            <a:ext cx="3212178" cy="246221"/>
          </a:xfrm>
          <a:prstGeom prst="rect">
            <a:avLst/>
          </a:prstGeom>
          <a:noFill/>
        </p:spPr>
        <p:txBody>
          <a:bodyPr wrap="square" rtlCol="0">
            <a:spAutoFit/>
          </a:bodyPr>
          <a:lstStyle/>
          <a:p>
            <a:r>
              <a:rPr lang="tr-TR" sz="1000" b="1" noProof="1">
                <a:cs typeface="Arial" panose="020B0604020202020204" pitchFamily="34" charset="0"/>
              </a:rPr>
              <a:t>aaaa</a:t>
            </a:r>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7.</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8.</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9.</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48998"/>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4815" y="484350"/>
            <a:ext cx="2375535" cy="200055"/>
          </a:xfrm>
          <a:prstGeom prst="rect">
            <a:avLst/>
          </a:prstGeom>
          <a:noFill/>
        </p:spPr>
        <p:txBody>
          <a:bodyPr wrap="square">
            <a:spAutoFit/>
          </a:bodyPr>
          <a:lstStyle/>
          <a:p>
            <a:r>
              <a:rPr lang="tr-TR" sz="700" i="0" dirty="0">
                <a:effectLst/>
                <a:latin typeface="Arial Narrow" panose="020B0606020202030204" pitchFamily="34" charset="0"/>
              </a:rPr>
              <a:t>“ x. ”  - Ahmet Çelen</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91373" y="425670"/>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7468" y="461022"/>
            <a:ext cx="2375535" cy="200055"/>
          </a:xfrm>
          <a:prstGeom prst="rect">
            <a:avLst/>
          </a:prstGeom>
          <a:noFill/>
        </p:spPr>
        <p:txBody>
          <a:bodyPr wrap="square">
            <a:spAutoFit/>
          </a:bodyPr>
          <a:lstStyle/>
          <a:p>
            <a:r>
              <a:rPr lang="tr-TR" sz="700" i="0" dirty="0">
                <a:effectLst/>
                <a:latin typeface="Arial Narrow" panose="020B0606020202030204" pitchFamily="34" charset="0"/>
              </a:rPr>
              <a:t>“ x. ”  - Ahmet Çelen</a:t>
            </a:r>
            <a:endParaRPr lang="tr-TR" sz="700" dirty="0">
              <a:latin typeface="Arial Narrow" panose="020B0606020202030204" pitchFamily="34" charset="0"/>
            </a:endParaRPr>
          </a:p>
        </p:txBody>
      </p:sp>
    </p:spTree>
    <p:extLst>
      <p:ext uri="{BB962C8B-B14F-4D97-AF65-F5344CB8AC3E}">
        <p14:creationId xmlns:p14="http://schemas.microsoft.com/office/powerpoint/2010/main" val="3820949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56606" y="441244"/>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1785104"/>
          </a:xfrm>
          <a:prstGeom prst="rect">
            <a:avLst/>
          </a:prstGeom>
          <a:noFill/>
        </p:spPr>
        <p:txBody>
          <a:bodyPr wrap="square" rtlCol="0">
            <a:spAutoFit/>
          </a:bodyPr>
          <a:lstStyle/>
          <a:p>
            <a:r>
              <a:rPr lang="tr-TR" sz="1000" noProof="1">
                <a:cs typeface="Arial" panose="020B0604020202020204" pitchFamily="34" charset="0"/>
              </a:rPr>
              <a:t>Monitör ile yanında duran bitkinin boyları farkı 27 cm olduğu ölçülmüştür. Bitkinin boyu 2 katının 4 eksiği kadar arttığında bu fark 5 cm olmaktadır.</a:t>
            </a:r>
          </a:p>
          <a:p>
            <a:endParaRPr lang="tr-TR" sz="1000" noProof="1">
              <a:cs typeface="Arial" panose="020B0604020202020204" pitchFamily="34" charset="0"/>
            </a:endParaRPr>
          </a:p>
          <a:p>
            <a:r>
              <a:rPr lang="tr-TR" sz="1000" b="1" noProof="1">
                <a:cs typeface="Arial" panose="020B0604020202020204" pitchFamily="34" charset="0"/>
              </a:rPr>
              <a:t>Buna göre, monitörün uzunluğu </a:t>
            </a:r>
          </a:p>
          <a:p>
            <a:endParaRPr lang="tr-TR" sz="1000" noProof="1">
              <a:cs typeface="Arial" panose="020B0604020202020204" pitchFamily="34" charset="0"/>
            </a:endParaRPr>
          </a:p>
          <a:p>
            <a:r>
              <a:rPr lang="tr-TR" sz="1000" noProof="1">
                <a:cs typeface="Arial" panose="020B0604020202020204" pitchFamily="34" charset="0"/>
              </a:rPr>
              <a:t>I. 40 cm </a:t>
            </a:r>
          </a:p>
          <a:p>
            <a:r>
              <a:rPr lang="tr-TR" sz="1000" noProof="1">
                <a:cs typeface="Arial" panose="020B0604020202020204" pitchFamily="34" charset="0"/>
              </a:rPr>
              <a:t>II. 9 cm </a:t>
            </a:r>
          </a:p>
          <a:p>
            <a:r>
              <a:rPr lang="tr-TR" sz="1000" noProof="1">
                <a:cs typeface="Arial" panose="020B0604020202020204" pitchFamily="34" charset="0"/>
              </a:rPr>
              <a:t>III. 45 cm</a:t>
            </a:r>
          </a:p>
          <a:p>
            <a:endParaRPr lang="tr-TR" sz="1000" noProof="1">
              <a:cs typeface="Arial" panose="020B0604020202020204" pitchFamily="34" charset="0"/>
            </a:endParaRPr>
          </a:p>
          <a:p>
            <a:r>
              <a:rPr lang="tr-TR" sz="1000" b="1" noProof="1">
                <a:cs typeface="Arial" panose="020B0604020202020204" pitchFamily="34" charset="0"/>
              </a:rPr>
              <a:t>yukarıda numaralandırılmışlardan hangileri olabilir?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20971" y="6637401"/>
            <a:ext cx="3449971" cy="553998"/>
          </a:xfrm>
          <a:prstGeom prst="rect">
            <a:avLst/>
          </a:prstGeom>
          <a:noFill/>
        </p:spPr>
        <p:txBody>
          <a:bodyPr wrap="square" rtlCol="0">
            <a:spAutoFit/>
          </a:bodyPr>
          <a:lstStyle/>
          <a:p>
            <a:r>
              <a:rPr lang="tr-TR" sz="1000" noProof="1">
                <a:cs typeface="Arial" panose="020B0604020202020204" pitchFamily="34" charset="0"/>
              </a:rPr>
              <a:t>Numaralandırılmış menülere göre fiyat listesi sunulmuştur.</a:t>
            </a:r>
          </a:p>
          <a:p>
            <a:endParaRPr lang="tr-TR" sz="1000" noProof="1">
              <a:cs typeface="Arial" panose="020B0604020202020204" pitchFamily="34" charset="0"/>
            </a:endParaRPr>
          </a:p>
          <a:p>
            <a:r>
              <a:rPr lang="tr-TR" sz="1000" b="1" noProof="1">
                <a:cs typeface="Arial" panose="020B0604020202020204" pitchFamily="34" charset="0"/>
              </a:rPr>
              <a:t>AÇ Burger işletmesinde </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1.B    2.X    3.X    4.X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3457549" y="2526851"/>
            <a:ext cx="3488428" cy="1015663"/>
          </a:xfrm>
          <a:prstGeom prst="rect">
            <a:avLst/>
          </a:prstGeom>
          <a:noFill/>
        </p:spPr>
        <p:txBody>
          <a:bodyPr wrap="square" rtlCol="0">
            <a:spAutoFit/>
          </a:bodyPr>
          <a:lstStyle/>
          <a:p>
            <a:r>
              <a:rPr lang="tr-TR" sz="1000" noProof="1">
                <a:cs typeface="Arial" panose="020B0604020202020204" pitchFamily="34" charset="0"/>
              </a:rPr>
              <a:t>Şekil I ve Şekil II de verilen özdeş damacanlardaki suyun tamamını boşaltmak için kaç adet sürahi ve şişe kullanılacağı resimlerde belirtilmiştir. </a:t>
            </a:r>
          </a:p>
          <a:p>
            <a:endParaRPr lang="tr-TR" sz="1000" noProof="1">
              <a:cs typeface="Arial" panose="020B0604020202020204" pitchFamily="34" charset="0"/>
            </a:endParaRPr>
          </a:p>
          <a:p>
            <a:r>
              <a:rPr lang="tr-TR" sz="1000" b="1" noProof="1">
                <a:cs typeface="Arial" panose="020B0604020202020204" pitchFamily="34" charset="0"/>
              </a:rPr>
              <a:t>Bir damacana sadece sürahi ve sadece şişeyle doldurulmak istenilirse doğru sayıları adet olarak hangisinde verilmiştir? </a:t>
            </a:r>
          </a:p>
        </p:txBody>
      </p:sp>
      <p:sp>
        <p:nvSpPr>
          <p:cNvPr id="36" name="Metin kutusu 35">
            <a:extLst>
              <a:ext uri="{FF2B5EF4-FFF2-40B4-BE49-F238E27FC236}">
                <a16:creationId xmlns:a16="http://schemas.microsoft.com/office/drawing/2014/main" id="{DED86721-D849-4FF8-83F9-BA14ED82BEE5}"/>
              </a:ext>
            </a:extLst>
          </p:cNvPr>
          <p:cNvSpPr txBox="1"/>
          <p:nvPr/>
        </p:nvSpPr>
        <p:spPr>
          <a:xfrm>
            <a:off x="41923" y="2183780"/>
            <a:ext cx="3217245" cy="553998"/>
          </a:xfrm>
          <a:prstGeom prst="rect">
            <a:avLst/>
          </a:prstGeom>
          <a:noFill/>
        </p:spPr>
        <p:txBody>
          <a:bodyPr wrap="square" rtlCol="0">
            <a:spAutoFit/>
          </a:bodyPr>
          <a:lstStyle/>
          <a:p>
            <a:r>
              <a:rPr lang="tr-TR" sz="1000" dirty="0">
                <a:cs typeface="Arial" panose="020B0604020202020204" pitchFamily="34" charset="0"/>
              </a:rPr>
              <a:t>A) Yalnız II                         B) Yalnız I                          C) II ve III</a:t>
            </a:r>
          </a:p>
          <a:p>
            <a:r>
              <a:rPr lang="tr-TR" sz="1000" dirty="0">
                <a:cs typeface="Arial" panose="020B0604020202020204" pitchFamily="34" charset="0"/>
              </a:rPr>
              <a:t>  </a:t>
            </a:r>
          </a:p>
          <a:p>
            <a:r>
              <a:rPr lang="tr-TR" sz="1000" dirty="0">
                <a:cs typeface="Arial" panose="020B0604020202020204" pitchFamily="34" charset="0"/>
              </a:rPr>
              <a:t>                          D) I ve III                          E) I ve II</a:t>
            </a:r>
          </a:p>
        </p:txBody>
      </p:sp>
      <p:pic>
        <p:nvPicPr>
          <p:cNvPr id="7" name="Grafik 6">
            <a:extLst>
              <a:ext uri="{FF2B5EF4-FFF2-40B4-BE49-F238E27FC236}">
                <a16:creationId xmlns:a16="http://schemas.microsoft.com/office/drawing/2014/main" id="{5F958582-A26D-4F5C-83D3-EB57FF6A224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66907" y="518613"/>
            <a:ext cx="896918" cy="896918"/>
          </a:xfrm>
          <a:prstGeom prst="rect">
            <a:avLst/>
          </a:prstGeom>
        </p:spPr>
      </p:pic>
      <p:pic>
        <p:nvPicPr>
          <p:cNvPr id="17" name="Grafik 16">
            <a:extLst>
              <a:ext uri="{FF2B5EF4-FFF2-40B4-BE49-F238E27FC236}">
                <a16:creationId xmlns:a16="http://schemas.microsoft.com/office/drawing/2014/main" id="{01936DEC-120C-4C5A-B78D-0255CF76C585}"/>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81650" y="1518094"/>
            <a:ext cx="502710" cy="502710"/>
          </a:xfrm>
          <a:prstGeom prst="rect">
            <a:avLst/>
          </a:prstGeom>
        </p:spPr>
      </p:pic>
      <p:pic>
        <p:nvPicPr>
          <p:cNvPr id="25" name="Grafik 24">
            <a:extLst>
              <a:ext uri="{FF2B5EF4-FFF2-40B4-BE49-F238E27FC236}">
                <a16:creationId xmlns:a16="http://schemas.microsoft.com/office/drawing/2014/main" id="{EEB6B424-E4C5-4B7F-940D-1A1450A630A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80422" y="2120225"/>
            <a:ext cx="380223" cy="380223"/>
          </a:xfrm>
          <a:prstGeom prst="rect">
            <a:avLst/>
          </a:prstGeom>
        </p:spPr>
      </p:pic>
      <p:pic>
        <p:nvPicPr>
          <p:cNvPr id="46" name="Grafik 45">
            <a:extLst>
              <a:ext uri="{FF2B5EF4-FFF2-40B4-BE49-F238E27FC236}">
                <a16:creationId xmlns:a16="http://schemas.microsoft.com/office/drawing/2014/main" id="{9DE2CBBB-7942-4DD3-9AC0-358209EF8585}"/>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48059" y="1523575"/>
            <a:ext cx="502710" cy="502710"/>
          </a:xfrm>
          <a:prstGeom prst="rect">
            <a:avLst/>
          </a:prstGeom>
        </p:spPr>
      </p:pic>
      <p:pic>
        <p:nvPicPr>
          <p:cNvPr id="48" name="Grafik 47">
            <a:extLst>
              <a:ext uri="{FF2B5EF4-FFF2-40B4-BE49-F238E27FC236}">
                <a16:creationId xmlns:a16="http://schemas.microsoft.com/office/drawing/2014/main" id="{00C85BED-747E-42A9-BE2A-6F54CFDC715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97784" y="1518705"/>
            <a:ext cx="502710" cy="502710"/>
          </a:xfrm>
          <a:prstGeom prst="rect">
            <a:avLst/>
          </a:prstGeom>
        </p:spPr>
      </p:pic>
      <p:pic>
        <p:nvPicPr>
          <p:cNvPr id="53" name="Grafik 52">
            <a:extLst>
              <a:ext uri="{FF2B5EF4-FFF2-40B4-BE49-F238E27FC236}">
                <a16:creationId xmlns:a16="http://schemas.microsoft.com/office/drawing/2014/main" id="{9D16E2A7-3FEE-457B-91A3-98DB66BE035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98747" y="2117360"/>
            <a:ext cx="380223" cy="380223"/>
          </a:xfrm>
          <a:prstGeom prst="rect">
            <a:avLst/>
          </a:prstGeom>
        </p:spPr>
      </p:pic>
      <p:pic>
        <p:nvPicPr>
          <p:cNvPr id="54" name="Grafik 53">
            <a:extLst>
              <a:ext uri="{FF2B5EF4-FFF2-40B4-BE49-F238E27FC236}">
                <a16:creationId xmlns:a16="http://schemas.microsoft.com/office/drawing/2014/main" id="{09AD167F-A2BF-431A-A6FC-2F3CA072C2C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32735" y="518613"/>
            <a:ext cx="896918" cy="896918"/>
          </a:xfrm>
          <a:prstGeom prst="rect">
            <a:avLst/>
          </a:prstGeom>
        </p:spPr>
      </p:pic>
      <p:pic>
        <p:nvPicPr>
          <p:cNvPr id="57" name="Grafik 56">
            <a:extLst>
              <a:ext uri="{FF2B5EF4-FFF2-40B4-BE49-F238E27FC236}">
                <a16:creationId xmlns:a16="http://schemas.microsoft.com/office/drawing/2014/main" id="{2B64B74A-A0EA-4A2F-94DE-4946B4202D95}"/>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68412" y="1477227"/>
            <a:ext cx="502710" cy="502710"/>
          </a:xfrm>
          <a:prstGeom prst="rect">
            <a:avLst/>
          </a:prstGeom>
        </p:spPr>
      </p:pic>
      <p:pic>
        <p:nvPicPr>
          <p:cNvPr id="58" name="Grafik 57">
            <a:extLst>
              <a:ext uri="{FF2B5EF4-FFF2-40B4-BE49-F238E27FC236}">
                <a16:creationId xmlns:a16="http://schemas.microsoft.com/office/drawing/2014/main" id="{7206B29E-3C4E-4E54-A3E7-87E3F8D1740D}"/>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18137" y="1472357"/>
            <a:ext cx="502710" cy="502710"/>
          </a:xfrm>
          <a:prstGeom prst="rect">
            <a:avLst/>
          </a:prstGeom>
        </p:spPr>
      </p:pic>
      <p:pic>
        <p:nvPicPr>
          <p:cNvPr id="64" name="Grafik 63">
            <a:extLst>
              <a:ext uri="{FF2B5EF4-FFF2-40B4-BE49-F238E27FC236}">
                <a16:creationId xmlns:a16="http://schemas.microsoft.com/office/drawing/2014/main" id="{6E10CA53-AB9A-49ED-9F7B-B2E22F83634F}"/>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91880" y="2120225"/>
            <a:ext cx="380223" cy="380223"/>
          </a:xfrm>
          <a:prstGeom prst="rect">
            <a:avLst/>
          </a:prstGeom>
        </p:spPr>
      </p:pic>
      <p:pic>
        <p:nvPicPr>
          <p:cNvPr id="65" name="Grafik 64">
            <a:extLst>
              <a:ext uri="{FF2B5EF4-FFF2-40B4-BE49-F238E27FC236}">
                <a16:creationId xmlns:a16="http://schemas.microsoft.com/office/drawing/2014/main" id="{A0BABE75-AA16-4533-9715-4C85ED285A2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10205" y="2117360"/>
            <a:ext cx="380223" cy="380223"/>
          </a:xfrm>
          <a:prstGeom prst="rect">
            <a:avLst/>
          </a:prstGeom>
        </p:spPr>
      </p:pic>
      <p:pic>
        <p:nvPicPr>
          <p:cNvPr id="66" name="Grafik 65">
            <a:extLst>
              <a:ext uri="{FF2B5EF4-FFF2-40B4-BE49-F238E27FC236}">
                <a16:creationId xmlns:a16="http://schemas.microsoft.com/office/drawing/2014/main" id="{AC9E8F47-B480-46DA-877A-C4982FA0113C}"/>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00211" y="2117360"/>
            <a:ext cx="380223" cy="380223"/>
          </a:xfrm>
          <a:prstGeom prst="rect">
            <a:avLst/>
          </a:prstGeom>
        </p:spPr>
      </p:pic>
      <p:sp>
        <p:nvSpPr>
          <p:cNvPr id="67" name="Metin kutusu 66">
            <a:extLst>
              <a:ext uri="{FF2B5EF4-FFF2-40B4-BE49-F238E27FC236}">
                <a16:creationId xmlns:a16="http://schemas.microsoft.com/office/drawing/2014/main" id="{A29BF478-F51D-4648-B8A1-1524F0C45A02}"/>
              </a:ext>
            </a:extLst>
          </p:cNvPr>
          <p:cNvSpPr txBox="1"/>
          <p:nvPr/>
        </p:nvSpPr>
        <p:spPr>
          <a:xfrm>
            <a:off x="3810667" y="1198218"/>
            <a:ext cx="572331" cy="246221"/>
          </a:xfrm>
          <a:prstGeom prst="rect">
            <a:avLst/>
          </a:prstGeom>
          <a:noFill/>
        </p:spPr>
        <p:txBody>
          <a:bodyPr wrap="square" rtlCol="0">
            <a:spAutoFit/>
          </a:bodyPr>
          <a:lstStyle/>
          <a:p>
            <a:pPr algn="ctr"/>
            <a:r>
              <a:rPr lang="tr-TR" sz="1000" noProof="1">
                <a:cs typeface="Arial" panose="020B0604020202020204" pitchFamily="34" charset="0"/>
              </a:rPr>
              <a:t>I.Şekil</a:t>
            </a:r>
          </a:p>
        </p:txBody>
      </p:sp>
      <p:sp>
        <p:nvSpPr>
          <p:cNvPr id="68" name="Metin kutusu 67">
            <a:extLst>
              <a:ext uri="{FF2B5EF4-FFF2-40B4-BE49-F238E27FC236}">
                <a16:creationId xmlns:a16="http://schemas.microsoft.com/office/drawing/2014/main" id="{2B233C90-A10A-49C8-BD81-1DA8E7A6A4DC}"/>
              </a:ext>
            </a:extLst>
          </p:cNvPr>
          <p:cNvSpPr txBox="1"/>
          <p:nvPr/>
        </p:nvSpPr>
        <p:spPr>
          <a:xfrm>
            <a:off x="5791880" y="1195288"/>
            <a:ext cx="574127" cy="246221"/>
          </a:xfrm>
          <a:prstGeom prst="rect">
            <a:avLst/>
          </a:prstGeom>
          <a:noFill/>
        </p:spPr>
        <p:txBody>
          <a:bodyPr wrap="square" rtlCol="0">
            <a:spAutoFit/>
          </a:bodyPr>
          <a:lstStyle/>
          <a:p>
            <a:pPr algn="ctr"/>
            <a:r>
              <a:rPr lang="tr-TR" sz="1000" noProof="1">
                <a:cs typeface="Arial" panose="020B0604020202020204" pitchFamily="34" charset="0"/>
              </a:rPr>
              <a:t>II.Şekil</a:t>
            </a:r>
          </a:p>
        </p:txBody>
      </p:sp>
      <p:pic>
        <p:nvPicPr>
          <p:cNvPr id="71" name="Grafik 70">
            <a:extLst>
              <a:ext uri="{FF2B5EF4-FFF2-40B4-BE49-F238E27FC236}">
                <a16:creationId xmlns:a16="http://schemas.microsoft.com/office/drawing/2014/main" id="{D991989C-8922-464F-8FF0-9A8F08FCF0BD}"/>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25582" y="1518094"/>
            <a:ext cx="502710" cy="502710"/>
          </a:xfrm>
          <a:prstGeom prst="rect">
            <a:avLst/>
          </a:prstGeom>
        </p:spPr>
      </p:pic>
      <p:sp>
        <p:nvSpPr>
          <p:cNvPr id="72" name="Metin kutusu 71">
            <a:extLst>
              <a:ext uri="{FF2B5EF4-FFF2-40B4-BE49-F238E27FC236}">
                <a16:creationId xmlns:a16="http://schemas.microsoft.com/office/drawing/2014/main" id="{FAB890F2-B8EA-42C9-9482-1FE2E386F21D}"/>
              </a:ext>
            </a:extLst>
          </p:cNvPr>
          <p:cNvSpPr txBox="1"/>
          <p:nvPr/>
        </p:nvSpPr>
        <p:spPr>
          <a:xfrm>
            <a:off x="3588111" y="3897161"/>
            <a:ext cx="445113" cy="1631216"/>
          </a:xfrm>
          <a:prstGeom prst="rect">
            <a:avLst/>
          </a:prstGeom>
          <a:noFill/>
        </p:spPr>
        <p:txBody>
          <a:bodyPr wrap="square" rtlCol="0">
            <a:spAutoFit/>
          </a:bodyPr>
          <a:lstStyle/>
          <a:p>
            <a:r>
              <a:rPr lang="tr-TR" sz="1000" noProof="1">
                <a:cs typeface="Arial" panose="020B0604020202020204" pitchFamily="34" charset="0"/>
              </a:rPr>
              <a:t>A)</a:t>
            </a:r>
          </a:p>
          <a:p>
            <a:endParaRPr lang="tr-TR" sz="1000" noProof="1">
              <a:cs typeface="Arial" panose="020B0604020202020204" pitchFamily="34" charset="0"/>
            </a:endParaRPr>
          </a:p>
          <a:p>
            <a:r>
              <a:rPr lang="tr-TR" sz="1000" noProof="1">
                <a:cs typeface="Arial" panose="020B0604020202020204" pitchFamily="34" charset="0"/>
              </a:rPr>
              <a:t>B)</a:t>
            </a:r>
          </a:p>
          <a:p>
            <a:endParaRPr lang="tr-TR" sz="1000" noProof="1">
              <a:cs typeface="Arial" panose="020B0604020202020204" pitchFamily="34" charset="0"/>
            </a:endParaRPr>
          </a:p>
          <a:p>
            <a:r>
              <a:rPr lang="tr-TR" sz="1000" noProof="1">
                <a:cs typeface="Arial" panose="020B0604020202020204" pitchFamily="34" charset="0"/>
              </a:rPr>
              <a:t>C)</a:t>
            </a:r>
          </a:p>
          <a:p>
            <a:endParaRPr lang="tr-TR" sz="1000" noProof="1">
              <a:cs typeface="Arial" panose="020B0604020202020204" pitchFamily="34" charset="0"/>
            </a:endParaRPr>
          </a:p>
          <a:p>
            <a:r>
              <a:rPr lang="tr-TR" sz="1000" noProof="1">
                <a:cs typeface="Arial" panose="020B0604020202020204" pitchFamily="34" charset="0"/>
              </a:rPr>
              <a:t>D)</a:t>
            </a:r>
          </a:p>
          <a:p>
            <a:endParaRPr lang="tr-TR" sz="1000" noProof="1">
              <a:cs typeface="Arial" panose="020B0604020202020204" pitchFamily="34" charset="0"/>
            </a:endParaRPr>
          </a:p>
          <a:p>
            <a:r>
              <a:rPr lang="tr-TR" sz="1000" noProof="1">
                <a:cs typeface="Arial" panose="020B0604020202020204" pitchFamily="34" charset="0"/>
              </a:rPr>
              <a:t>E)</a:t>
            </a:r>
          </a:p>
          <a:p>
            <a:pPr marL="228600" indent="-228600">
              <a:buAutoNum type="alphaUcParenR"/>
            </a:pPr>
            <a:endParaRPr lang="tr-TR" sz="1000" noProof="1">
              <a:cs typeface="Arial" panose="020B0604020202020204" pitchFamily="34" charset="0"/>
            </a:endParaRPr>
          </a:p>
        </p:txBody>
      </p:sp>
      <p:sp>
        <p:nvSpPr>
          <p:cNvPr id="73" name="Metin kutusu 72">
            <a:extLst>
              <a:ext uri="{FF2B5EF4-FFF2-40B4-BE49-F238E27FC236}">
                <a16:creationId xmlns:a16="http://schemas.microsoft.com/office/drawing/2014/main" id="{748CEBAB-7C99-467A-B608-2056FB3CE274}"/>
              </a:ext>
            </a:extLst>
          </p:cNvPr>
          <p:cNvSpPr txBox="1"/>
          <p:nvPr/>
        </p:nvSpPr>
        <p:spPr>
          <a:xfrm>
            <a:off x="4071327" y="3591308"/>
            <a:ext cx="1247494" cy="246221"/>
          </a:xfrm>
          <a:prstGeom prst="rect">
            <a:avLst/>
          </a:prstGeom>
          <a:noFill/>
        </p:spPr>
        <p:txBody>
          <a:bodyPr wrap="square" rtlCol="0">
            <a:spAutoFit/>
          </a:bodyPr>
          <a:lstStyle/>
          <a:p>
            <a:pPr algn="ctr"/>
            <a:r>
              <a:rPr lang="tr-TR" sz="1000" b="1" noProof="1">
                <a:cs typeface="Arial" panose="020B0604020202020204" pitchFamily="34" charset="0"/>
              </a:rPr>
              <a:t>Yalnızca Şişe</a:t>
            </a:r>
          </a:p>
        </p:txBody>
      </p:sp>
      <p:sp>
        <p:nvSpPr>
          <p:cNvPr id="74" name="Metin kutusu 73">
            <a:extLst>
              <a:ext uri="{FF2B5EF4-FFF2-40B4-BE49-F238E27FC236}">
                <a16:creationId xmlns:a16="http://schemas.microsoft.com/office/drawing/2014/main" id="{07EC51C9-8869-44E9-80C5-A944682BC51B}"/>
              </a:ext>
            </a:extLst>
          </p:cNvPr>
          <p:cNvSpPr txBox="1"/>
          <p:nvPr/>
        </p:nvSpPr>
        <p:spPr>
          <a:xfrm>
            <a:off x="5552622" y="3573622"/>
            <a:ext cx="1102275" cy="246221"/>
          </a:xfrm>
          <a:prstGeom prst="rect">
            <a:avLst/>
          </a:prstGeom>
          <a:noFill/>
        </p:spPr>
        <p:txBody>
          <a:bodyPr wrap="square" rtlCol="0">
            <a:spAutoFit/>
          </a:bodyPr>
          <a:lstStyle/>
          <a:p>
            <a:pPr algn="ctr"/>
            <a:r>
              <a:rPr lang="tr-TR" sz="1000" b="1" noProof="1">
                <a:cs typeface="Arial" panose="020B0604020202020204" pitchFamily="34" charset="0"/>
              </a:rPr>
              <a:t>Yalnızca Sürahi</a:t>
            </a:r>
          </a:p>
        </p:txBody>
      </p:sp>
      <p:cxnSp>
        <p:nvCxnSpPr>
          <p:cNvPr id="75" name="Düz Bağlayıcı 74">
            <a:extLst>
              <a:ext uri="{FF2B5EF4-FFF2-40B4-BE49-F238E27FC236}">
                <a16:creationId xmlns:a16="http://schemas.microsoft.com/office/drawing/2014/main" id="{AD1756E3-A094-4F58-A894-275C81F46578}"/>
              </a:ext>
            </a:extLst>
          </p:cNvPr>
          <p:cNvCxnSpPr/>
          <p:nvPr/>
        </p:nvCxnSpPr>
        <p:spPr>
          <a:xfrm>
            <a:off x="4112130" y="3823197"/>
            <a:ext cx="1068448" cy="0"/>
          </a:xfrm>
          <a:prstGeom prst="line">
            <a:avLst/>
          </a:prstGeom>
        </p:spPr>
        <p:style>
          <a:lnRef idx="1">
            <a:schemeClr val="dk1"/>
          </a:lnRef>
          <a:fillRef idx="0">
            <a:schemeClr val="dk1"/>
          </a:fillRef>
          <a:effectRef idx="0">
            <a:schemeClr val="dk1"/>
          </a:effectRef>
          <a:fontRef idx="minor">
            <a:schemeClr val="tx1"/>
          </a:fontRef>
        </p:style>
      </p:cxnSp>
      <p:cxnSp>
        <p:nvCxnSpPr>
          <p:cNvPr id="76" name="Düz Bağlayıcı 75">
            <a:extLst>
              <a:ext uri="{FF2B5EF4-FFF2-40B4-BE49-F238E27FC236}">
                <a16:creationId xmlns:a16="http://schemas.microsoft.com/office/drawing/2014/main" id="{DF02E0FC-795F-4779-8DE3-65351CFED04D}"/>
              </a:ext>
            </a:extLst>
          </p:cNvPr>
          <p:cNvCxnSpPr/>
          <p:nvPr/>
        </p:nvCxnSpPr>
        <p:spPr>
          <a:xfrm>
            <a:off x="5593859" y="3823114"/>
            <a:ext cx="1068448" cy="0"/>
          </a:xfrm>
          <a:prstGeom prst="line">
            <a:avLst/>
          </a:prstGeom>
        </p:spPr>
        <p:style>
          <a:lnRef idx="1">
            <a:schemeClr val="dk1"/>
          </a:lnRef>
          <a:fillRef idx="0">
            <a:schemeClr val="dk1"/>
          </a:fillRef>
          <a:effectRef idx="0">
            <a:schemeClr val="dk1"/>
          </a:effectRef>
          <a:fontRef idx="minor">
            <a:schemeClr val="tx1"/>
          </a:fontRef>
        </p:style>
      </p:cxnSp>
      <p:sp>
        <p:nvSpPr>
          <p:cNvPr id="77" name="Metin kutusu 76">
            <a:extLst>
              <a:ext uri="{FF2B5EF4-FFF2-40B4-BE49-F238E27FC236}">
                <a16:creationId xmlns:a16="http://schemas.microsoft.com/office/drawing/2014/main" id="{6604C181-57BF-4319-B528-7367DED8B60A}"/>
              </a:ext>
            </a:extLst>
          </p:cNvPr>
          <p:cNvSpPr txBox="1"/>
          <p:nvPr/>
        </p:nvSpPr>
        <p:spPr>
          <a:xfrm>
            <a:off x="4075667" y="3887761"/>
            <a:ext cx="1150568" cy="246221"/>
          </a:xfrm>
          <a:prstGeom prst="rect">
            <a:avLst/>
          </a:prstGeom>
          <a:noFill/>
        </p:spPr>
        <p:txBody>
          <a:bodyPr wrap="square" rtlCol="0">
            <a:spAutoFit/>
          </a:bodyPr>
          <a:lstStyle/>
          <a:p>
            <a:pPr algn="ctr"/>
            <a:r>
              <a:rPr lang="tr-TR" sz="1000" noProof="1">
                <a:cs typeface="Arial" panose="020B0604020202020204" pitchFamily="34" charset="0"/>
              </a:rPr>
              <a:t>8</a:t>
            </a:r>
          </a:p>
        </p:txBody>
      </p:sp>
      <p:sp>
        <p:nvSpPr>
          <p:cNvPr id="78" name="Metin kutusu 77">
            <a:extLst>
              <a:ext uri="{FF2B5EF4-FFF2-40B4-BE49-F238E27FC236}">
                <a16:creationId xmlns:a16="http://schemas.microsoft.com/office/drawing/2014/main" id="{0D760548-F68D-4002-8B61-0C8AC33EB2F9}"/>
              </a:ext>
            </a:extLst>
          </p:cNvPr>
          <p:cNvSpPr txBox="1"/>
          <p:nvPr/>
        </p:nvSpPr>
        <p:spPr>
          <a:xfrm>
            <a:off x="4081691" y="4167726"/>
            <a:ext cx="1150568" cy="246221"/>
          </a:xfrm>
          <a:prstGeom prst="rect">
            <a:avLst/>
          </a:prstGeom>
          <a:noFill/>
        </p:spPr>
        <p:txBody>
          <a:bodyPr wrap="square" rtlCol="0">
            <a:spAutoFit/>
          </a:bodyPr>
          <a:lstStyle/>
          <a:p>
            <a:pPr algn="ctr"/>
            <a:r>
              <a:rPr lang="tr-TR" sz="1000" noProof="1">
                <a:cs typeface="Arial" panose="020B0604020202020204" pitchFamily="34" charset="0"/>
              </a:rPr>
              <a:t>6</a:t>
            </a:r>
          </a:p>
        </p:txBody>
      </p:sp>
      <p:sp>
        <p:nvSpPr>
          <p:cNvPr id="79" name="Metin kutusu 78">
            <a:extLst>
              <a:ext uri="{FF2B5EF4-FFF2-40B4-BE49-F238E27FC236}">
                <a16:creationId xmlns:a16="http://schemas.microsoft.com/office/drawing/2014/main" id="{CAC00987-355A-45EE-8A1E-6752E5C54408}"/>
              </a:ext>
            </a:extLst>
          </p:cNvPr>
          <p:cNvSpPr txBox="1"/>
          <p:nvPr/>
        </p:nvSpPr>
        <p:spPr>
          <a:xfrm>
            <a:off x="4081691" y="4503895"/>
            <a:ext cx="1150568" cy="246221"/>
          </a:xfrm>
          <a:prstGeom prst="rect">
            <a:avLst/>
          </a:prstGeom>
          <a:noFill/>
        </p:spPr>
        <p:txBody>
          <a:bodyPr wrap="square" rtlCol="0">
            <a:spAutoFit/>
          </a:bodyPr>
          <a:lstStyle/>
          <a:p>
            <a:pPr algn="ctr"/>
            <a:r>
              <a:rPr lang="tr-TR" sz="1000" noProof="1">
                <a:cs typeface="Arial" panose="020B0604020202020204" pitchFamily="34" charset="0"/>
              </a:rPr>
              <a:t>10</a:t>
            </a:r>
          </a:p>
        </p:txBody>
      </p:sp>
      <p:sp>
        <p:nvSpPr>
          <p:cNvPr id="80" name="Metin kutusu 79">
            <a:extLst>
              <a:ext uri="{FF2B5EF4-FFF2-40B4-BE49-F238E27FC236}">
                <a16:creationId xmlns:a16="http://schemas.microsoft.com/office/drawing/2014/main" id="{DB2C840D-A27E-4424-977A-B5986F70DEC3}"/>
              </a:ext>
            </a:extLst>
          </p:cNvPr>
          <p:cNvSpPr txBox="1"/>
          <p:nvPr/>
        </p:nvSpPr>
        <p:spPr>
          <a:xfrm>
            <a:off x="4081691" y="4833738"/>
            <a:ext cx="1150568" cy="246221"/>
          </a:xfrm>
          <a:prstGeom prst="rect">
            <a:avLst/>
          </a:prstGeom>
          <a:noFill/>
        </p:spPr>
        <p:txBody>
          <a:bodyPr wrap="square" rtlCol="0">
            <a:spAutoFit/>
          </a:bodyPr>
          <a:lstStyle/>
          <a:p>
            <a:pPr algn="ctr"/>
            <a:r>
              <a:rPr lang="tr-TR" sz="1000" noProof="1">
                <a:cs typeface="Arial" panose="020B0604020202020204" pitchFamily="34" charset="0"/>
              </a:rPr>
              <a:t>8</a:t>
            </a:r>
          </a:p>
        </p:txBody>
      </p:sp>
      <p:sp>
        <p:nvSpPr>
          <p:cNvPr id="81" name="Metin kutusu 80">
            <a:extLst>
              <a:ext uri="{FF2B5EF4-FFF2-40B4-BE49-F238E27FC236}">
                <a16:creationId xmlns:a16="http://schemas.microsoft.com/office/drawing/2014/main" id="{75712FAE-98BA-48A2-804D-CE3C561407F1}"/>
              </a:ext>
            </a:extLst>
          </p:cNvPr>
          <p:cNvSpPr txBox="1"/>
          <p:nvPr/>
        </p:nvSpPr>
        <p:spPr>
          <a:xfrm>
            <a:off x="4081691" y="5151967"/>
            <a:ext cx="1150568" cy="246221"/>
          </a:xfrm>
          <a:prstGeom prst="rect">
            <a:avLst/>
          </a:prstGeom>
          <a:noFill/>
        </p:spPr>
        <p:txBody>
          <a:bodyPr wrap="square" rtlCol="0">
            <a:spAutoFit/>
          </a:bodyPr>
          <a:lstStyle/>
          <a:p>
            <a:pPr algn="ctr"/>
            <a:r>
              <a:rPr lang="tr-TR" sz="1000" noProof="1">
                <a:cs typeface="Arial" panose="020B0604020202020204" pitchFamily="34" charset="0"/>
              </a:rPr>
              <a:t>12</a:t>
            </a:r>
          </a:p>
        </p:txBody>
      </p:sp>
      <p:sp>
        <p:nvSpPr>
          <p:cNvPr id="82" name="Metin kutusu 81">
            <a:extLst>
              <a:ext uri="{FF2B5EF4-FFF2-40B4-BE49-F238E27FC236}">
                <a16:creationId xmlns:a16="http://schemas.microsoft.com/office/drawing/2014/main" id="{260B7097-0748-4220-90F0-375546FC5AC9}"/>
              </a:ext>
            </a:extLst>
          </p:cNvPr>
          <p:cNvSpPr txBox="1"/>
          <p:nvPr/>
        </p:nvSpPr>
        <p:spPr>
          <a:xfrm>
            <a:off x="5449843" y="3892136"/>
            <a:ext cx="1150568" cy="246221"/>
          </a:xfrm>
          <a:prstGeom prst="rect">
            <a:avLst/>
          </a:prstGeom>
          <a:noFill/>
        </p:spPr>
        <p:txBody>
          <a:bodyPr wrap="square" rtlCol="0">
            <a:spAutoFit/>
          </a:bodyPr>
          <a:lstStyle/>
          <a:p>
            <a:pPr algn="ctr"/>
            <a:r>
              <a:rPr lang="tr-TR" sz="1000" noProof="1">
                <a:cs typeface="Arial" panose="020B0604020202020204" pitchFamily="34" charset="0"/>
              </a:rPr>
              <a:t>4</a:t>
            </a:r>
          </a:p>
        </p:txBody>
      </p:sp>
      <p:sp>
        <p:nvSpPr>
          <p:cNvPr id="83" name="Metin kutusu 82">
            <a:extLst>
              <a:ext uri="{FF2B5EF4-FFF2-40B4-BE49-F238E27FC236}">
                <a16:creationId xmlns:a16="http://schemas.microsoft.com/office/drawing/2014/main" id="{21AB1025-FBBF-4332-8F9E-2E79B6E1C6A0}"/>
              </a:ext>
            </a:extLst>
          </p:cNvPr>
          <p:cNvSpPr txBox="1"/>
          <p:nvPr/>
        </p:nvSpPr>
        <p:spPr>
          <a:xfrm>
            <a:off x="5455867" y="4172101"/>
            <a:ext cx="1150568" cy="246221"/>
          </a:xfrm>
          <a:prstGeom prst="rect">
            <a:avLst/>
          </a:prstGeom>
          <a:noFill/>
        </p:spPr>
        <p:txBody>
          <a:bodyPr wrap="square" rtlCol="0">
            <a:spAutoFit/>
          </a:bodyPr>
          <a:lstStyle/>
          <a:p>
            <a:pPr algn="ctr"/>
            <a:r>
              <a:rPr lang="tr-TR" sz="1000" noProof="1">
                <a:cs typeface="Arial" panose="020B0604020202020204" pitchFamily="34" charset="0"/>
              </a:rPr>
              <a:t>8</a:t>
            </a:r>
          </a:p>
        </p:txBody>
      </p:sp>
      <p:sp>
        <p:nvSpPr>
          <p:cNvPr id="84" name="Metin kutusu 83">
            <a:extLst>
              <a:ext uri="{FF2B5EF4-FFF2-40B4-BE49-F238E27FC236}">
                <a16:creationId xmlns:a16="http://schemas.microsoft.com/office/drawing/2014/main" id="{B1D38797-6CCA-4A3D-A9BB-FE1513B0E09C}"/>
              </a:ext>
            </a:extLst>
          </p:cNvPr>
          <p:cNvSpPr txBox="1"/>
          <p:nvPr/>
        </p:nvSpPr>
        <p:spPr>
          <a:xfrm>
            <a:off x="5455867" y="4508270"/>
            <a:ext cx="1150568" cy="246221"/>
          </a:xfrm>
          <a:prstGeom prst="rect">
            <a:avLst/>
          </a:prstGeom>
          <a:noFill/>
        </p:spPr>
        <p:txBody>
          <a:bodyPr wrap="square" rtlCol="0">
            <a:spAutoFit/>
          </a:bodyPr>
          <a:lstStyle/>
          <a:p>
            <a:pPr algn="ctr"/>
            <a:r>
              <a:rPr lang="tr-TR" sz="1000" noProof="1">
                <a:cs typeface="Arial" panose="020B0604020202020204" pitchFamily="34" charset="0"/>
              </a:rPr>
              <a:t>7</a:t>
            </a:r>
          </a:p>
        </p:txBody>
      </p:sp>
      <p:sp>
        <p:nvSpPr>
          <p:cNvPr id="85" name="Metin kutusu 84">
            <a:extLst>
              <a:ext uri="{FF2B5EF4-FFF2-40B4-BE49-F238E27FC236}">
                <a16:creationId xmlns:a16="http://schemas.microsoft.com/office/drawing/2014/main" id="{2F8C8CF0-8BC9-4867-ACA6-A61358F07BFA}"/>
              </a:ext>
            </a:extLst>
          </p:cNvPr>
          <p:cNvSpPr txBox="1"/>
          <p:nvPr/>
        </p:nvSpPr>
        <p:spPr>
          <a:xfrm>
            <a:off x="5455867" y="4838113"/>
            <a:ext cx="1150568" cy="246221"/>
          </a:xfrm>
          <a:prstGeom prst="rect">
            <a:avLst/>
          </a:prstGeom>
          <a:noFill/>
        </p:spPr>
        <p:txBody>
          <a:bodyPr wrap="square" rtlCol="0">
            <a:spAutoFit/>
          </a:bodyPr>
          <a:lstStyle/>
          <a:p>
            <a:pPr algn="ctr"/>
            <a:r>
              <a:rPr lang="tr-TR" sz="1000" noProof="1">
                <a:cs typeface="Arial" panose="020B0604020202020204" pitchFamily="34" charset="0"/>
              </a:rPr>
              <a:t>6</a:t>
            </a:r>
          </a:p>
        </p:txBody>
      </p:sp>
      <p:sp>
        <p:nvSpPr>
          <p:cNvPr id="87" name="Metin kutusu 86">
            <a:extLst>
              <a:ext uri="{FF2B5EF4-FFF2-40B4-BE49-F238E27FC236}">
                <a16:creationId xmlns:a16="http://schemas.microsoft.com/office/drawing/2014/main" id="{8FCA5498-F4EF-4FB6-9275-FF6C4B416A90}"/>
              </a:ext>
            </a:extLst>
          </p:cNvPr>
          <p:cNvSpPr txBox="1"/>
          <p:nvPr/>
        </p:nvSpPr>
        <p:spPr>
          <a:xfrm>
            <a:off x="5455867" y="5156342"/>
            <a:ext cx="1150568" cy="246221"/>
          </a:xfrm>
          <a:prstGeom prst="rect">
            <a:avLst/>
          </a:prstGeom>
          <a:noFill/>
        </p:spPr>
        <p:txBody>
          <a:bodyPr wrap="square" rtlCol="0">
            <a:spAutoFit/>
          </a:bodyPr>
          <a:lstStyle/>
          <a:p>
            <a:pPr algn="ctr"/>
            <a:r>
              <a:rPr lang="tr-TR" sz="1000" noProof="1">
                <a:cs typeface="Arial" panose="020B0604020202020204" pitchFamily="34" charset="0"/>
              </a:rPr>
              <a:t>6</a:t>
            </a:r>
          </a:p>
        </p:txBody>
      </p:sp>
      <p:pic>
        <p:nvPicPr>
          <p:cNvPr id="30" name="Grafik 29">
            <a:extLst>
              <a:ext uri="{FF2B5EF4-FFF2-40B4-BE49-F238E27FC236}">
                <a16:creationId xmlns:a16="http://schemas.microsoft.com/office/drawing/2014/main" id="{592CA251-C7DD-4469-BC70-9E1F00EF9172}"/>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27338" y="5085932"/>
            <a:ext cx="320537" cy="320537"/>
          </a:xfrm>
          <a:prstGeom prst="rect">
            <a:avLst/>
          </a:prstGeom>
        </p:spPr>
      </p:pic>
      <p:pic>
        <p:nvPicPr>
          <p:cNvPr id="32" name="Grafik 31">
            <a:extLst>
              <a:ext uri="{FF2B5EF4-FFF2-40B4-BE49-F238E27FC236}">
                <a16:creationId xmlns:a16="http://schemas.microsoft.com/office/drawing/2014/main" id="{396AF4C5-B4E3-42B5-A5F3-61C5D05A3077}"/>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99011" y="5509489"/>
            <a:ext cx="385590" cy="385590"/>
          </a:xfrm>
          <a:prstGeom prst="rect">
            <a:avLst/>
          </a:prstGeom>
        </p:spPr>
      </p:pic>
      <p:pic>
        <p:nvPicPr>
          <p:cNvPr id="34" name="Grafik 33">
            <a:extLst>
              <a:ext uri="{FF2B5EF4-FFF2-40B4-BE49-F238E27FC236}">
                <a16:creationId xmlns:a16="http://schemas.microsoft.com/office/drawing/2014/main" id="{E4DFB73E-FB4B-43FD-A1B3-3C16DC3C1BAD}"/>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9439" y="5962905"/>
            <a:ext cx="395162" cy="395162"/>
          </a:xfrm>
          <a:prstGeom prst="rect">
            <a:avLst/>
          </a:prstGeom>
        </p:spPr>
      </p:pic>
      <p:sp>
        <p:nvSpPr>
          <p:cNvPr id="35" name="Çerçeve 34">
            <a:extLst>
              <a:ext uri="{FF2B5EF4-FFF2-40B4-BE49-F238E27FC236}">
                <a16:creationId xmlns:a16="http://schemas.microsoft.com/office/drawing/2014/main" id="{CECD24FE-7002-42FE-B515-8B97F074139E}"/>
              </a:ext>
            </a:extLst>
          </p:cNvPr>
          <p:cNvSpPr/>
          <p:nvPr/>
        </p:nvSpPr>
        <p:spPr>
          <a:xfrm>
            <a:off x="201780" y="4712769"/>
            <a:ext cx="3162723" cy="1921602"/>
          </a:xfrm>
          <a:prstGeom prst="fram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solidFill>
                <a:schemeClr val="tx1"/>
              </a:solidFill>
            </a:endParaRPr>
          </a:p>
        </p:txBody>
      </p:sp>
      <p:sp>
        <p:nvSpPr>
          <p:cNvPr id="88" name="Metin kutusu 87">
            <a:extLst>
              <a:ext uri="{FF2B5EF4-FFF2-40B4-BE49-F238E27FC236}">
                <a16:creationId xmlns:a16="http://schemas.microsoft.com/office/drawing/2014/main" id="{771806BC-7E59-4FAA-9FC5-67DDB84B775F}"/>
              </a:ext>
            </a:extLst>
          </p:cNvPr>
          <p:cNvSpPr txBox="1"/>
          <p:nvPr/>
        </p:nvSpPr>
        <p:spPr>
          <a:xfrm>
            <a:off x="211397" y="4672155"/>
            <a:ext cx="3162723" cy="323165"/>
          </a:xfrm>
          <a:prstGeom prst="rect">
            <a:avLst/>
          </a:prstGeom>
          <a:noFill/>
        </p:spPr>
        <p:txBody>
          <a:bodyPr wrap="square" rtlCol="0">
            <a:spAutoFit/>
          </a:bodyPr>
          <a:lstStyle/>
          <a:p>
            <a:pPr algn="ctr"/>
            <a:r>
              <a:rPr lang="tr-TR" sz="1500" noProof="1">
                <a:cs typeface="Arial" panose="020B0604020202020204" pitchFamily="34" charset="0"/>
              </a:rPr>
              <a:t>   Burger Menü</a:t>
            </a:r>
          </a:p>
        </p:txBody>
      </p:sp>
      <p:pic>
        <p:nvPicPr>
          <p:cNvPr id="38" name="Resim 37">
            <a:extLst>
              <a:ext uri="{FF2B5EF4-FFF2-40B4-BE49-F238E27FC236}">
                <a16:creationId xmlns:a16="http://schemas.microsoft.com/office/drawing/2014/main" id="{2F215EB5-B71E-4439-8182-59CF216B7A6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40946" y="6422163"/>
            <a:ext cx="368757" cy="207426"/>
          </a:xfrm>
          <a:prstGeom prst="rect">
            <a:avLst/>
          </a:prstGeom>
        </p:spPr>
      </p:pic>
      <p:pic>
        <p:nvPicPr>
          <p:cNvPr id="91" name="Resim 90">
            <a:extLst>
              <a:ext uri="{FF2B5EF4-FFF2-40B4-BE49-F238E27FC236}">
                <a16:creationId xmlns:a16="http://schemas.microsoft.com/office/drawing/2014/main" id="{6050FD27-4094-47A3-B2D9-2B9C7B743DE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024788" y="6417503"/>
            <a:ext cx="368757" cy="207426"/>
          </a:xfrm>
          <a:prstGeom prst="rect">
            <a:avLst/>
          </a:prstGeom>
        </p:spPr>
      </p:pic>
      <p:pic>
        <p:nvPicPr>
          <p:cNvPr id="92" name="Resim 91">
            <a:extLst>
              <a:ext uri="{FF2B5EF4-FFF2-40B4-BE49-F238E27FC236}">
                <a16:creationId xmlns:a16="http://schemas.microsoft.com/office/drawing/2014/main" id="{C45F1EA0-C5BA-4A94-B508-58DE7C1ECE4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17620" y="4724869"/>
            <a:ext cx="368757" cy="207426"/>
          </a:xfrm>
          <a:prstGeom prst="rect">
            <a:avLst/>
          </a:prstGeom>
        </p:spPr>
      </p:pic>
      <p:pic>
        <p:nvPicPr>
          <p:cNvPr id="40" name="Grafik 39">
            <a:extLst>
              <a:ext uri="{FF2B5EF4-FFF2-40B4-BE49-F238E27FC236}">
                <a16:creationId xmlns:a16="http://schemas.microsoft.com/office/drawing/2014/main" id="{D660C267-B1E2-40E8-B3DF-AEEAA1CC2D7D}"/>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16292" y="5084042"/>
            <a:ext cx="323164" cy="323164"/>
          </a:xfrm>
          <a:prstGeom prst="rect">
            <a:avLst/>
          </a:prstGeom>
        </p:spPr>
      </p:pic>
      <p:cxnSp>
        <p:nvCxnSpPr>
          <p:cNvPr id="89" name="Düz Bağlayıcı 88">
            <a:extLst>
              <a:ext uri="{FF2B5EF4-FFF2-40B4-BE49-F238E27FC236}">
                <a16:creationId xmlns:a16="http://schemas.microsoft.com/office/drawing/2014/main" id="{987015E2-21C9-423C-8B9A-6A792722F39F}"/>
              </a:ext>
            </a:extLst>
          </p:cNvPr>
          <p:cNvCxnSpPr>
            <a:cxnSpLocks/>
          </p:cNvCxnSpPr>
          <p:nvPr/>
        </p:nvCxnSpPr>
        <p:spPr>
          <a:xfrm>
            <a:off x="457191" y="5472670"/>
            <a:ext cx="267113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2" name="Düz Bağlayıcı 101">
            <a:extLst>
              <a:ext uri="{FF2B5EF4-FFF2-40B4-BE49-F238E27FC236}">
                <a16:creationId xmlns:a16="http://schemas.microsoft.com/office/drawing/2014/main" id="{35EC98CF-4367-4DD9-8AD3-8A01FD8F12A7}"/>
              </a:ext>
            </a:extLst>
          </p:cNvPr>
          <p:cNvCxnSpPr>
            <a:cxnSpLocks/>
          </p:cNvCxnSpPr>
          <p:nvPr/>
        </p:nvCxnSpPr>
        <p:spPr>
          <a:xfrm>
            <a:off x="447574" y="5940152"/>
            <a:ext cx="267113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104" name="Grafik 103">
            <a:extLst>
              <a:ext uri="{FF2B5EF4-FFF2-40B4-BE49-F238E27FC236}">
                <a16:creationId xmlns:a16="http://schemas.microsoft.com/office/drawing/2014/main" id="{FACC3791-C6EA-4DA2-9663-08135E8FE601}"/>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11447" y="5538872"/>
            <a:ext cx="323164" cy="323164"/>
          </a:xfrm>
          <a:prstGeom prst="rect">
            <a:avLst/>
          </a:prstGeom>
        </p:spPr>
      </p:pic>
      <p:pic>
        <p:nvPicPr>
          <p:cNvPr id="105" name="Grafik 104">
            <a:extLst>
              <a:ext uri="{FF2B5EF4-FFF2-40B4-BE49-F238E27FC236}">
                <a16:creationId xmlns:a16="http://schemas.microsoft.com/office/drawing/2014/main" id="{50A326BB-FCC9-4753-A83A-6468F944782F}"/>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70756" y="5538872"/>
            <a:ext cx="323164" cy="323164"/>
          </a:xfrm>
          <a:prstGeom prst="rect">
            <a:avLst/>
          </a:prstGeom>
        </p:spPr>
      </p:pic>
      <p:pic>
        <p:nvPicPr>
          <p:cNvPr id="106" name="Grafik 105">
            <a:extLst>
              <a:ext uri="{FF2B5EF4-FFF2-40B4-BE49-F238E27FC236}">
                <a16:creationId xmlns:a16="http://schemas.microsoft.com/office/drawing/2014/main" id="{88F7A14F-9ABB-4E50-94E9-008DF564B9E2}"/>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98884" y="5538872"/>
            <a:ext cx="323164" cy="323164"/>
          </a:xfrm>
          <a:prstGeom prst="rect">
            <a:avLst/>
          </a:prstGeom>
        </p:spPr>
      </p:pic>
      <p:pic>
        <p:nvPicPr>
          <p:cNvPr id="109" name="Grafik 108">
            <a:extLst>
              <a:ext uri="{FF2B5EF4-FFF2-40B4-BE49-F238E27FC236}">
                <a16:creationId xmlns:a16="http://schemas.microsoft.com/office/drawing/2014/main" id="{B2EDD35E-A733-40CD-A5B9-C9A1CA432276}"/>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12680" y="5985791"/>
            <a:ext cx="323164" cy="323164"/>
          </a:xfrm>
          <a:prstGeom prst="rect">
            <a:avLst/>
          </a:prstGeom>
        </p:spPr>
      </p:pic>
      <p:pic>
        <p:nvPicPr>
          <p:cNvPr id="110" name="Grafik 109">
            <a:extLst>
              <a:ext uri="{FF2B5EF4-FFF2-40B4-BE49-F238E27FC236}">
                <a16:creationId xmlns:a16="http://schemas.microsoft.com/office/drawing/2014/main" id="{677F9F8C-4AAF-4D61-91E7-F65AFE5F74AC}"/>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71989" y="5985791"/>
            <a:ext cx="323164" cy="323164"/>
          </a:xfrm>
          <a:prstGeom prst="rect">
            <a:avLst/>
          </a:prstGeom>
        </p:spPr>
      </p:pic>
      <p:sp>
        <p:nvSpPr>
          <p:cNvPr id="97" name="Akış Çizelgesi: Delikli Teyp 96">
            <a:extLst>
              <a:ext uri="{FF2B5EF4-FFF2-40B4-BE49-F238E27FC236}">
                <a16:creationId xmlns:a16="http://schemas.microsoft.com/office/drawing/2014/main" id="{88BB3AA5-BC9D-40FB-9E79-D8405851E816}"/>
              </a:ext>
            </a:extLst>
          </p:cNvPr>
          <p:cNvSpPr/>
          <p:nvPr/>
        </p:nvSpPr>
        <p:spPr>
          <a:xfrm>
            <a:off x="1981357" y="5004048"/>
            <a:ext cx="943587" cy="422979"/>
          </a:xfrm>
          <a:prstGeom prst="flowChartPunchedTape">
            <a:avLst/>
          </a:prstGeom>
          <a:solidFill>
            <a:schemeClr val="accent4">
              <a:lumMod val="40000"/>
              <a:lumOff val="60000"/>
            </a:schemeClr>
          </a:solidFill>
          <a:ln w="317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solidFill>
                  <a:schemeClr val="tx1"/>
                </a:solidFill>
              </a:rPr>
              <a:t>24,90</a:t>
            </a:r>
            <a:r>
              <a:rPr lang="tr-TR" b="0" i="0" dirty="0">
                <a:solidFill>
                  <a:srgbClr val="222222"/>
                </a:solidFill>
                <a:effectLst/>
                <a:latin typeface="arial" panose="020B0604020202020204" pitchFamily="34" charset="0"/>
              </a:rPr>
              <a:t>₺</a:t>
            </a:r>
            <a:endParaRPr lang="tr-TR" dirty="0">
              <a:solidFill>
                <a:schemeClr val="tx1"/>
              </a:solidFill>
            </a:endParaRPr>
          </a:p>
        </p:txBody>
      </p:sp>
      <p:sp>
        <p:nvSpPr>
          <p:cNvPr id="113" name="Akış Çizelgesi: Delikli Teyp 112">
            <a:extLst>
              <a:ext uri="{FF2B5EF4-FFF2-40B4-BE49-F238E27FC236}">
                <a16:creationId xmlns:a16="http://schemas.microsoft.com/office/drawing/2014/main" id="{4EA42BD3-7455-4354-BC94-F1351F498B15}"/>
              </a:ext>
            </a:extLst>
          </p:cNvPr>
          <p:cNvSpPr/>
          <p:nvPr/>
        </p:nvSpPr>
        <p:spPr>
          <a:xfrm>
            <a:off x="1999944" y="5488436"/>
            <a:ext cx="943587" cy="422979"/>
          </a:xfrm>
          <a:prstGeom prst="flowChartPunchedTape">
            <a:avLst/>
          </a:prstGeom>
          <a:solidFill>
            <a:schemeClr val="accent4">
              <a:lumMod val="40000"/>
              <a:lumOff val="60000"/>
            </a:schemeClr>
          </a:solidFill>
          <a:ln w="317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solidFill>
                  <a:schemeClr val="tx1"/>
                </a:solidFill>
              </a:rPr>
              <a:t>39,90</a:t>
            </a:r>
            <a:r>
              <a:rPr lang="tr-TR" b="0" i="0" dirty="0">
                <a:solidFill>
                  <a:srgbClr val="222222"/>
                </a:solidFill>
                <a:effectLst/>
                <a:latin typeface="arial" panose="020B0604020202020204" pitchFamily="34" charset="0"/>
              </a:rPr>
              <a:t>₺</a:t>
            </a:r>
            <a:endParaRPr lang="tr-TR" dirty="0">
              <a:solidFill>
                <a:schemeClr val="tx1"/>
              </a:solidFill>
            </a:endParaRPr>
          </a:p>
        </p:txBody>
      </p:sp>
      <p:sp>
        <p:nvSpPr>
          <p:cNvPr id="98" name="Akış Çizelgesi: Önceden Tanımlı İşlem 97">
            <a:extLst>
              <a:ext uri="{FF2B5EF4-FFF2-40B4-BE49-F238E27FC236}">
                <a16:creationId xmlns:a16="http://schemas.microsoft.com/office/drawing/2014/main" id="{BD92994A-4854-418A-8D57-4DE4B8BEDD20}"/>
              </a:ext>
            </a:extLst>
          </p:cNvPr>
          <p:cNvSpPr/>
          <p:nvPr/>
        </p:nvSpPr>
        <p:spPr>
          <a:xfrm>
            <a:off x="242974" y="5171524"/>
            <a:ext cx="165358" cy="123111"/>
          </a:xfrm>
          <a:prstGeom prst="flowChartPredefinedProcess">
            <a:avLst/>
          </a:prstGeom>
          <a:solidFill>
            <a:schemeClr val="accent2">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1</a:t>
            </a:r>
          </a:p>
        </p:txBody>
      </p:sp>
      <p:sp>
        <p:nvSpPr>
          <p:cNvPr id="115" name="Akış Çizelgesi: Önceden Tanımlı İşlem 114">
            <a:extLst>
              <a:ext uri="{FF2B5EF4-FFF2-40B4-BE49-F238E27FC236}">
                <a16:creationId xmlns:a16="http://schemas.microsoft.com/office/drawing/2014/main" id="{6B89A0C9-706E-4F25-B870-B029119CBC91}"/>
              </a:ext>
            </a:extLst>
          </p:cNvPr>
          <p:cNvSpPr/>
          <p:nvPr/>
        </p:nvSpPr>
        <p:spPr>
          <a:xfrm>
            <a:off x="236453" y="5612014"/>
            <a:ext cx="165358" cy="123111"/>
          </a:xfrm>
          <a:prstGeom prst="flowChartPredefinedProcess">
            <a:avLst/>
          </a:prstGeom>
          <a:solidFill>
            <a:schemeClr val="accent2">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2</a:t>
            </a:r>
          </a:p>
        </p:txBody>
      </p:sp>
      <p:sp>
        <p:nvSpPr>
          <p:cNvPr id="116" name="Akış Çizelgesi: Önceden Tanımlı İşlem 115">
            <a:extLst>
              <a:ext uri="{FF2B5EF4-FFF2-40B4-BE49-F238E27FC236}">
                <a16:creationId xmlns:a16="http://schemas.microsoft.com/office/drawing/2014/main" id="{E8DED3E9-F428-4E67-AC41-545395320883}"/>
              </a:ext>
            </a:extLst>
          </p:cNvPr>
          <p:cNvSpPr/>
          <p:nvPr/>
        </p:nvSpPr>
        <p:spPr>
          <a:xfrm>
            <a:off x="226881" y="6068945"/>
            <a:ext cx="165358" cy="123111"/>
          </a:xfrm>
          <a:prstGeom prst="flowChartPredefinedProcess">
            <a:avLst/>
          </a:prstGeom>
          <a:solidFill>
            <a:schemeClr val="accent2">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3</a:t>
            </a:r>
          </a:p>
        </p:txBody>
      </p:sp>
      <p:sp>
        <p:nvSpPr>
          <p:cNvPr id="117" name="Akış Çizelgesi: Delikli Teyp 116">
            <a:extLst>
              <a:ext uri="{FF2B5EF4-FFF2-40B4-BE49-F238E27FC236}">
                <a16:creationId xmlns:a16="http://schemas.microsoft.com/office/drawing/2014/main" id="{8353817C-657F-4323-A7AD-EE1F76ACD0BA}"/>
              </a:ext>
            </a:extLst>
          </p:cNvPr>
          <p:cNvSpPr/>
          <p:nvPr/>
        </p:nvSpPr>
        <p:spPr>
          <a:xfrm>
            <a:off x="1992686" y="5956488"/>
            <a:ext cx="943587" cy="422979"/>
          </a:xfrm>
          <a:prstGeom prst="flowChartPunchedTape">
            <a:avLst/>
          </a:prstGeom>
          <a:solidFill>
            <a:schemeClr val="accent4">
              <a:lumMod val="40000"/>
              <a:lumOff val="60000"/>
            </a:schemeClr>
          </a:solidFill>
          <a:ln w="317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solidFill>
                  <a:schemeClr val="tx1"/>
                </a:solidFill>
              </a:rPr>
              <a:t>34,90</a:t>
            </a:r>
            <a:r>
              <a:rPr lang="tr-TR" b="0" i="0" dirty="0">
                <a:solidFill>
                  <a:srgbClr val="222222"/>
                </a:solidFill>
                <a:effectLst/>
                <a:latin typeface="arial" panose="020B0604020202020204" pitchFamily="34" charset="0"/>
              </a:rPr>
              <a:t>₺</a:t>
            </a:r>
            <a:endParaRPr lang="tr-TR" dirty="0">
              <a:solidFill>
                <a:schemeClr val="tx1"/>
              </a:solidFill>
            </a:endParaRPr>
          </a:p>
        </p:txBody>
      </p:sp>
    </p:spTree>
    <p:extLst>
      <p:ext uri="{BB962C8B-B14F-4D97-AF65-F5344CB8AC3E}">
        <p14:creationId xmlns:p14="http://schemas.microsoft.com/office/powerpoint/2010/main" val="1413423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Tree>
    <p:extLst>
      <p:ext uri="{BB962C8B-B14F-4D97-AF65-F5344CB8AC3E}">
        <p14:creationId xmlns:p14="http://schemas.microsoft.com/office/powerpoint/2010/main" val="1809313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74472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707886"/>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Deneme yanılma </a:t>
            </a:r>
            <a:br>
              <a:rPr lang="tr-TR" sz="1000" b="1" noProof="1">
                <a:latin typeface="+mj-lt"/>
                <a:cs typeface="Arial" panose="020B0604020202020204" pitchFamily="34" charset="0"/>
              </a:rPr>
            </a:br>
            <a:br>
              <a:rPr lang="tr-TR" sz="1000" b="1" noProof="1">
                <a:latin typeface="+mj-lt"/>
                <a:cs typeface="Arial" panose="020B0604020202020204" pitchFamily="34" charset="0"/>
              </a:rPr>
            </a:br>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64522" y="4139952"/>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466353"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1.C    2.D    3.X    4.X</a:t>
            </a:r>
          </a:p>
        </p:txBody>
      </p:sp>
      <p:sp>
        <p:nvSpPr>
          <p:cNvPr id="57" name="Metin kutusu 56">
            <a:extLst>
              <a:ext uri="{FF2B5EF4-FFF2-40B4-BE49-F238E27FC236}">
                <a16:creationId xmlns:a16="http://schemas.microsoft.com/office/drawing/2014/main" id="{1E42746C-207C-4A9C-A7D1-9C11F403DBF1}"/>
              </a:ext>
            </a:extLst>
          </p:cNvPr>
          <p:cNvSpPr txBox="1"/>
          <p:nvPr/>
        </p:nvSpPr>
        <p:spPr>
          <a:xfrm>
            <a:off x="101729" y="477878"/>
            <a:ext cx="3173698" cy="707886"/>
          </a:xfrm>
          <a:prstGeom prst="rect">
            <a:avLst/>
          </a:prstGeom>
          <a:noFill/>
        </p:spPr>
        <p:txBody>
          <a:bodyPr wrap="square" rtlCol="0">
            <a:spAutoFit/>
          </a:bodyPr>
          <a:lstStyle/>
          <a:p>
            <a:r>
              <a:rPr lang="tr-TR" sz="1000" dirty="0">
                <a:ea typeface="Arimo" panose="020B0604020202020204" pitchFamily="34" charset="0"/>
                <a:cs typeface="Arimo" panose="020B0604020202020204" pitchFamily="34" charset="0"/>
              </a:rPr>
              <a:t>Dört arkadaş internet kafeye oyun oynamak için gitmiştir. Gittikleri internet kafe oyunlar üzerinden fiyatlandırma yapmaktadır. Aşağıda 1 saatlik A,B,C,D oyunlarının fiyatları TL cinsinden verilmiştir.</a:t>
            </a:r>
          </a:p>
        </p:txBody>
      </p:sp>
      <p:sp>
        <p:nvSpPr>
          <p:cNvPr id="58" name="Düzgün Beşgen 1">
            <a:extLst>
              <a:ext uri="{FF2B5EF4-FFF2-40B4-BE49-F238E27FC236}">
                <a16:creationId xmlns:a16="http://schemas.microsoft.com/office/drawing/2014/main" id="{53109300-1FE0-4214-B92D-5C4632CBC3F2}"/>
              </a:ext>
            </a:extLst>
          </p:cNvPr>
          <p:cNvSpPr/>
          <p:nvPr/>
        </p:nvSpPr>
        <p:spPr>
          <a:xfrm>
            <a:off x="219716" y="1180121"/>
            <a:ext cx="596763" cy="545835"/>
          </a:xfrm>
          <a:prstGeom prst="pent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4" name="Düzgün Beşgen 34">
            <a:extLst>
              <a:ext uri="{FF2B5EF4-FFF2-40B4-BE49-F238E27FC236}">
                <a16:creationId xmlns:a16="http://schemas.microsoft.com/office/drawing/2014/main" id="{4CCE80C1-7A90-477B-9EFA-92DF44CD7AE3}"/>
              </a:ext>
            </a:extLst>
          </p:cNvPr>
          <p:cNvSpPr/>
          <p:nvPr/>
        </p:nvSpPr>
        <p:spPr>
          <a:xfrm>
            <a:off x="960495" y="1180121"/>
            <a:ext cx="596763" cy="545835"/>
          </a:xfrm>
          <a:prstGeom prst="pent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6" name="Düzgün Beşgen 35">
            <a:extLst>
              <a:ext uri="{FF2B5EF4-FFF2-40B4-BE49-F238E27FC236}">
                <a16:creationId xmlns:a16="http://schemas.microsoft.com/office/drawing/2014/main" id="{F03E838D-E9E0-4F8D-808B-24EAAF280F80}"/>
              </a:ext>
            </a:extLst>
          </p:cNvPr>
          <p:cNvSpPr/>
          <p:nvPr/>
        </p:nvSpPr>
        <p:spPr>
          <a:xfrm>
            <a:off x="1745571" y="1180121"/>
            <a:ext cx="596763" cy="545835"/>
          </a:xfrm>
          <a:prstGeom prst="pent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8" name="Düzgün Beşgen 36">
            <a:extLst>
              <a:ext uri="{FF2B5EF4-FFF2-40B4-BE49-F238E27FC236}">
                <a16:creationId xmlns:a16="http://schemas.microsoft.com/office/drawing/2014/main" id="{8291C43D-0660-402E-9FF2-19C84EDDB75B}"/>
              </a:ext>
            </a:extLst>
          </p:cNvPr>
          <p:cNvSpPr/>
          <p:nvPr/>
        </p:nvSpPr>
        <p:spPr>
          <a:xfrm>
            <a:off x="2523972" y="1180121"/>
            <a:ext cx="596763" cy="545835"/>
          </a:xfrm>
          <a:prstGeom prst="pentagon">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0" name="Metin kutusu 69">
            <a:extLst>
              <a:ext uri="{FF2B5EF4-FFF2-40B4-BE49-F238E27FC236}">
                <a16:creationId xmlns:a16="http://schemas.microsoft.com/office/drawing/2014/main" id="{3C445E6A-48C1-4190-A411-23E9DFFBE137}"/>
              </a:ext>
            </a:extLst>
          </p:cNvPr>
          <p:cNvSpPr txBox="1"/>
          <p:nvPr/>
        </p:nvSpPr>
        <p:spPr>
          <a:xfrm>
            <a:off x="219715" y="1717689"/>
            <a:ext cx="544862" cy="276999"/>
          </a:xfrm>
          <a:prstGeom prst="rect">
            <a:avLst/>
          </a:prstGeom>
          <a:noFill/>
        </p:spPr>
        <p:txBody>
          <a:bodyPr wrap="square" rtlCol="0">
            <a:spAutoFit/>
          </a:bodyPr>
          <a:lstStyle/>
          <a:p>
            <a:pPr algn="ctr"/>
            <a:r>
              <a:rPr lang="tr-TR" sz="1200" dirty="0"/>
              <a:t>1,75</a:t>
            </a:r>
          </a:p>
        </p:txBody>
      </p:sp>
      <p:sp>
        <p:nvSpPr>
          <p:cNvPr id="72" name="Metin kutusu 71">
            <a:extLst>
              <a:ext uri="{FF2B5EF4-FFF2-40B4-BE49-F238E27FC236}">
                <a16:creationId xmlns:a16="http://schemas.microsoft.com/office/drawing/2014/main" id="{32398B3D-9187-4977-9842-28122AD8064C}"/>
              </a:ext>
            </a:extLst>
          </p:cNvPr>
          <p:cNvSpPr txBox="1"/>
          <p:nvPr/>
        </p:nvSpPr>
        <p:spPr>
          <a:xfrm>
            <a:off x="986444" y="1717688"/>
            <a:ext cx="544862" cy="276999"/>
          </a:xfrm>
          <a:prstGeom prst="rect">
            <a:avLst/>
          </a:prstGeom>
          <a:noFill/>
        </p:spPr>
        <p:txBody>
          <a:bodyPr wrap="square" rtlCol="0">
            <a:spAutoFit/>
          </a:bodyPr>
          <a:lstStyle/>
          <a:p>
            <a:pPr algn="ctr"/>
            <a:r>
              <a:rPr lang="tr-TR" sz="1200" dirty="0"/>
              <a:t>1,50</a:t>
            </a:r>
          </a:p>
        </p:txBody>
      </p:sp>
      <p:sp>
        <p:nvSpPr>
          <p:cNvPr id="74" name="Metin kutusu 73">
            <a:extLst>
              <a:ext uri="{FF2B5EF4-FFF2-40B4-BE49-F238E27FC236}">
                <a16:creationId xmlns:a16="http://schemas.microsoft.com/office/drawing/2014/main" id="{FA1C7761-C488-4DF5-A44D-FABE39263EA3}"/>
              </a:ext>
            </a:extLst>
          </p:cNvPr>
          <p:cNvSpPr txBox="1"/>
          <p:nvPr/>
        </p:nvSpPr>
        <p:spPr>
          <a:xfrm>
            <a:off x="1757251" y="1717182"/>
            <a:ext cx="544862" cy="276999"/>
          </a:xfrm>
          <a:prstGeom prst="rect">
            <a:avLst/>
          </a:prstGeom>
          <a:noFill/>
        </p:spPr>
        <p:txBody>
          <a:bodyPr wrap="square" rtlCol="0">
            <a:spAutoFit/>
          </a:bodyPr>
          <a:lstStyle/>
          <a:p>
            <a:pPr algn="ctr"/>
            <a:r>
              <a:rPr lang="tr-TR" sz="1200" dirty="0"/>
              <a:t>2,00</a:t>
            </a:r>
          </a:p>
        </p:txBody>
      </p:sp>
      <p:sp>
        <p:nvSpPr>
          <p:cNvPr id="76" name="Metin kutusu 75">
            <a:extLst>
              <a:ext uri="{FF2B5EF4-FFF2-40B4-BE49-F238E27FC236}">
                <a16:creationId xmlns:a16="http://schemas.microsoft.com/office/drawing/2014/main" id="{1FDA2944-C79F-4FC1-A102-3852D8F95EDE}"/>
              </a:ext>
            </a:extLst>
          </p:cNvPr>
          <p:cNvSpPr txBox="1"/>
          <p:nvPr/>
        </p:nvSpPr>
        <p:spPr>
          <a:xfrm>
            <a:off x="2557549" y="1717182"/>
            <a:ext cx="544862" cy="276999"/>
          </a:xfrm>
          <a:prstGeom prst="rect">
            <a:avLst/>
          </a:prstGeom>
          <a:noFill/>
        </p:spPr>
        <p:txBody>
          <a:bodyPr wrap="square" rtlCol="0">
            <a:spAutoFit/>
          </a:bodyPr>
          <a:lstStyle/>
          <a:p>
            <a:pPr algn="ctr"/>
            <a:r>
              <a:rPr lang="tr-TR" sz="1200" dirty="0"/>
              <a:t>1,25</a:t>
            </a:r>
          </a:p>
        </p:txBody>
      </p:sp>
      <p:sp>
        <p:nvSpPr>
          <p:cNvPr id="77" name="Metin kutusu 76">
            <a:extLst>
              <a:ext uri="{FF2B5EF4-FFF2-40B4-BE49-F238E27FC236}">
                <a16:creationId xmlns:a16="http://schemas.microsoft.com/office/drawing/2014/main" id="{A6E1CD50-6F09-4091-ADF3-9BEAE4AA9DAB}"/>
              </a:ext>
            </a:extLst>
          </p:cNvPr>
          <p:cNvSpPr txBox="1"/>
          <p:nvPr/>
        </p:nvSpPr>
        <p:spPr>
          <a:xfrm>
            <a:off x="219715" y="1302071"/>
            <a:ext cx="576064" cy="400110"/>
          </a:xfrm>
          <a:prstGeom prst="rect">
            <a:avLst/>
          </a:prstGeom>
          <a:noFill/>
        </p:spPr>
        <p:txBody>
          <a:bodyPr wrap="square" rtlCol="0">
            <a:spAutoFit/>
          </a:bodyPr>
          <a:lstStyle/>
          <a:p>
            <a:pPr algn="ctr"/>
            <a:r>
              <a:rPr lang="tr-TR" sz="2000" dirty="0">
                <a:ln w="0"/>
                <a:blipFill>
                  <a:blip r:embed="rId5"/>
                  <a:tile tx="0" ty="0" sx="100000" sy="100000" flip="none" algn="tl"/>
                </a:blipFill>
                <a:effectLst>
                  <a:outerShdw blurRad="38100" dist="25400" dir="5400000" algn="ctr" rotWithShape="0">
                    <a:srgbClr val="6E747A">
                      <a:alpha val="43000"/>
                    </a:srgbClr>
                  </a:outerShdw>
                </a:effectLst>
              </a:rPr>
              <a:t>A</a:t>
            </a:r>
          </a:p>
        </p:txBody>
      </p:sp>
      <p:sp>
        <p:nvSpPr>
          <p:cNvPr id="78" name="Metin kutusu 77">
            <a:extLst>
              <a:ext uri="{FF2B5EF4-FFF2-40B4-BE49-F238E27FC236}">
                <a16:creationId xmlns:a16="http://schemas.microsoft.com/office/drawing/2014/main" id="{10B50C7E-05CC-472B-9D9A-7E7667C59059}"/>
              </a:ext>
            </a:extLst>
          </p:cNvPr>
          <p:cNvSpPr txBox="1"/>
          <p:nvPr/>
        </p:nvSpPr>
        <p:spPr>
          <a:xfrm>
            <a:off x="960495" y="1294169"/>
            <a:ext cx="576064" cy="400110"/>
          </a:xfrm>
          <a:prstGeom prst="rect">
            <a:avLst/>
          </a:prstGeom>
          <a:noFill/>
        </p:spPr>
        <p:txBody>
          <a:bodyPr wrap="square" rtlCol="0">
            <a:spAutoFit/>
          </a:bodyPr>
          <a:lstStyle/>
          <a:p>
            <a:pPr algn="ctr"/>
            <a:r>
              <a:rPr lang="tr-TR" sz="2000" dirty="0">
                <a:ln w="0"/>
                <a:blipFill>
                  <a:blip r:embed="rId5"/>
                  <a:tile tx="0" ty="0" sx="100000" sy="100000" flip="none" algn="tl"/>
                </a:blipFill>
                <a:effectLst>
                  <a:outerShdw blurRad="38100" dist="25400" dir="5400000" algn="ctr" rotWithShape="0">
                    <a:srgbClr val="6E747A">
                      <a:alpha val="43000"/>
                    </a:srgbClr>
                  </a:outerShdw>
                </a:effectLst>
              </a:rPr>
              <a:t>B</a:t>
            </a:r>
          </a:p>
        </p:txBody>
      </p:sp>
      <p:sp>
        <p:nvSpPr>
          <p:cNvPr id="82" name="Metin kutusu 81">
            <a:extLst>
              <a:ext uri="{FF2B5EF4-FFF2-40B4-BE49-F238E27FC236}">
                <a16:creationId xmlns:a16="http://schemas.microsoft.com/office/drawing/2014/main" id="{9E922C61-0BF5-438C-BBFD-452C12258324}"/>
              </a:ext>
            </a:extLst>
          </p:cNvPr>
          <p:cNvSpPr txBox="1"/>
          <p:nvPr/>
        </p:nvSpPr>
        <p:spPr>
          <a:xfrm>
            <a:off x="1750313" y="1307667"/>
            <a:ext cx="576064" cy="400110"/>
          </a:xfrm>
          <a:prstGeom prst="rect">
            <a:avLst/>
          </a:prstGeom>
          <a:noFill/>
        </p:spPr>
        <p:txBody>
          <a:bodyPr wrap="square" rtlCol="0">
            <a:spAutoFit/>
          </a:bodyPr>
          <a:lstStyle/>
          <a:p>
            <a:pPr algn="ctr"/>
            <a:r>
              <a:rPr lang="tr-TR" sz="2000" dirty="0">
                <a:ln w="0"/>
                <a:blipFill>
                  <a:blip r:embed="rId5"/>
                  <a:tile tx="0" ty="0" sx="100000" sy="100000" flip="none" algn="tl"/>
                </a:blipFill>
                <a:effectLst>
                  <a:outerShdw blurRad="38100" dist="25400" dir="5400000" algn="ctr" rotWithShape="0">
                    <a:srgbClr val="6E747A">
                      <a:alpha val="43000"/>
                    </a:srgbClr>
                  </a:outerShdw>
                </a:effectLst>
              </a:rPr>
              <a:t>C</a:t>
            </a:r>
          </a:p>
        </p:txBody>
      </p:sp>
      <p:sp>
        <p:nvSpPr>
          <p:cNvPr id="83" name="Metin kutusu 82">
            <a:extLst>
              <a:ext uri="{FF2B5EF4-FFF2-40B4-BE49-F238E27FC236}">
                <a16:creationId xmlns:a16="http://schemas.microsoft.com/office/drawing/2014/main" id="{536920CD-1E91-42C0-B045-933CB132AD23}"/>
              </a:ext>
            </a:extLst>
          </p:cNvPr>
          <p:cNvSpPr txBox="1"/>
          <p:nvPr/>
        </p:nvSpPr>
        <p:spPr>
          <a:xfrm>
            <a:off x="2534321" y="1302071"/>
            <a:ext cx="576064" cy="400110"/>
          </a:xfrm>
          <a:prstGeom prst="rect">
            <a:avLst/>
          </a:prstGeom>
          <a:noFill/>
        </p:spPr>
        <p:txBody>
          <a:bodyPr wrap="square" rtlCol="0">
            <a:spAutoFit/>
          </a:bodyPr>
          <a:lstStyle/>
          <a:p>
            <a:pPr algn="ctr"/>
            <a:r>
              <a:rPr lang="tr-TR" sz="2000" dirty="0">
                <a:ln w="0"/>
                <a:blipFill>
                  <a:blip r:embed="rId5"/>
                  <a:tile tx="0" ty="0" sx="100000" sy="100000" flip="none" algn="tl"/>
                </a:blipFill>
                <a:effectLst>
                  <a:outerShdw blurRad="38100" dist="25400" dir="5400000" algn="ctr" rotWithShape="0">
                    <a:srgbClr val="6E747A">
                      <a:alpha val="43000"/>
                    </a:srgbClr>
                  </a:outerShdw>
                </a:effectLst>
              </a:rPr>
              <a:t>D</a:t>
            </a:r>
          </a:p>
        </p:txBody>
      </p:sp>
      <p:sp>
        <p:nvSpPr>
          <p:cNvPr id="84" name="Metin kutusu 83">
            <a:extLst>
              <a:ext uri="{FF2B5EF4-FFF2-40B4-BE49-F238E27FC236}">
                <a16:creationId xmlns:a16="http://schemas.microsoft.com/office/drawing/2014/main" id="{9049B5F3-5F17-4F15-B6CD-61785CA8BE03}"/>
              </a:ext>
            </a:extLst>
          </p:cNvPr>
          <p:cNvSpPr txBox="1"/>
          <p:nvPr/>
        </p:nvSpPr>
        <p:spPr>
          <a:xfrm>
            <a:off x="96515" y="1924846"/>
            <a:ext cx="3332485" cy="1015663"/>
          </a:xfrm>
          <a:prstGeom prst="rect">
            <a:avLst/>
          </a:prstGeom>
          <a:noFill/>
        </p:spPr>
        <p:txBody>
          <a:bodyPr wrap="square" rtlCol="0">
            <a:spAutoFit/>
          </a:bodyPr>
          <a:lstStyle/>
          <a:p>
            <a:r>
              <a:rPr lang="tr-TR" sz="1000" dirty="0">
                <a:ea typeface="Arimo" panose="020B0604020202020204" pitchFamily="34" charset="0"/>
                <a:cs typeface="Arimo" panose="020B0604020202020204" pitchFamily="34" charset="0"/>
              </a:rPr>
              <a:t>Dört arkadaş her biri tek ve farklı oyun oynayacaklardır.</a:t>
            </a:r>
            <a:br>
              <a:rPr lang="tr-TR" sz="1000" dirty="0">
                <a:ea typeface="Arimo" panose="020B0604020202020204" pitchFamily="34" charset="0"/>
                <a:cs typeface="Arimo" panose="020B0604020202020204" pitchFamily="34" charset="0"/>
              </a:rPr>
            </a:br>
            <a:r>
              <a:rPr lang="tr-TR" sz="1000" dirty="0">
                <a:ea typeface="Arimo" panose="020B0604020202020204" pitchFamily="34" charset="0"/>
                <a:cs typeface="Arimo" panose="020B0604020202020204" pitchFamily="34" charset="0"/>
              </a:rPr>
              <a:t>1 Saat sonunda fiyatı internet kafeye ikişerli gruplar halinde ödeme kararları almışlardır. </a:t>
            </a:r>
          </a:p>
          <a:p>
            <a:endParaRPr lang="tr-TR" sz="1000" dirty="0">
              <a:ea typeface="Arimo" panose="020B0604020202020204" pitchFamily="34" charset="0"/>
              <a:cs typeface="Arimo" panose="020B0604020202020204" pitchFamily="34" charset="0"/>
            </a:endParaRPr>
          </a:p>
          <a:p>
            <a:r>
              <a:rPr lang="tr-TR" sz="1000" b="1" dirty="0">
                <a:ea typeface="Arimo" panose="020B0604020202020204" pitchFamily="34" charset="0"/>
                <a:cs typeface="Arimo" panose="020B0604020202020204" pitchFamily="34" charset="0"/>
              </a:rPr>
              <a:t>Buna göre, oluşabilecek ikililerin ödedikleri toplamları TL cinsinden aşağıdakilerden hangisi olamaz?</a:t>
            </a:r>
          </a:p>
        </p:txBody>
      </p:sp>
      <p:sp>
        <p:nvSpPr>
          <p:cNvPr id="85" name="Metin kutusu 84">
            <a:extLst>
              <a:ext uri="{FF2B5EF4-FFF2-40B4-BE49-F238E27FC236}">
                <a16:creationId xmlns:a16="http://schemas.microsoft.com/office/drawing/2014/main" id="{847B910C-3278-4F42-B323-4654888677CD}"/>
              </a:ext>
            </a:extLst>
          </p:cNvPr>
          <p:cNvSpPr txBox="1"/>
          <p:nvPr/>
        </p:nvSpPr>
        <p:spPr>
          <a:xfrm>
            <a:off x="89573" y="2871534"/>
            <a:ext cx="3332485" cy="553998"/>
          </a:xfrm>
          <a:prstGeom prst="rect">
            <a:avLst/>
          </a:prstGeom>
          <a:noFill/>
        </p:spPr>
        <p:txBody>
          <a:bodyPr wrap="square" rtlCol="0">
            <a:spAutoFit/>
          </a:bodyPr>
          <a:lstStyle/>
          <a:p>
            <a:r>
              <a:rPr lang="tr-TR" sz="1000" dirty="0">
                <a:cs typeface="Arial" panose="020B0604020202020204" pitchFamily="34" charset="0"/>
              </a:rPr>
              <a:t>A) 3,75                                   B) 3,25                                 C) 2,50</a:t>
            </a:r>
          </a:p>
          <a:p>
            <a:r>
              <a:rPr lang="tr-TR" sz="1000" dirty="0">
                <a:cs typeface="Arial" panose="020B0604020202020204" pitchFamily="34" charset="0"/>
              </a:rPr>
              <a:t>  </a:t>
            </a:r>
          </a:p>
          <a:p>
            <a:r>
              <a:rPr lang="tr-TR" sz="1000" dirty="0">
                <a:cs typeface="Arial" panose="020B0604020202020204" pitchFamily="34" charset="0"/>
              </a:rPr>
              <a:t>                           D) 2,75                                E) 3,50</a:t>
            </a:r>
          </a:p>
        </p:txBody>
      </p:sp>
      <p:sp>
        <p:nvSpPr>
          <p:cNvPr id="87" name="Dikdörtgen 86">
            <a:extLst>
              <a:ext uri="{FF2B5EF4-FFF2-40B4-BE49-F238E27FC236}">
                <a16:creationId xmlns:a16="http://schemas.microsoft.com/office/drawing/2014/main" id="{01992008-5A32-4E14-B181-772B114ECF50}"/>
              </a:ext>
            </a:extLst>
          </p:cNvPr>
          <p:cNvSpPr/>
          <p:nvPr/>
        </p:nvSpPr>
        <p:spPr>
          <a:xfrm>
            <a:off x="468787" y="5025335"/>
            <a:ext cx="2384147" cy="1453659"/>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8" name="Metin kutusu 87">
            <a:extLst>
              <a:ext uri="{FF2B5EF4-FFF2-40B4-BE49-F238E27FC236}">
                <a16:creationId xmlns:a16="http://schemas.microsoft.com/office/drawing/2014/main" id="{700F41C6-831C-412D-8960-E64BDF4049D8}"/>
              </a:ext>
            </a:extLst>
          </p:cNvPr>
          <p:cNvSpPr txBox="1"/>
          <p:nvPr/>
        </p:nvSpPr>
        <p:spPr>
          <a:xfrm>
            <a:off x="550544" y="5041786"/>
            <a:ext cx="2297841" cy="27699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Nusret :  </a:t>
            </a:r>
            <a:r>
              <a:rPr lang="tr-TR" sz="1200" dirty="0">
                <a:solidFill>
                  <a:schemeClr val="tx1"/>
                </a:solidFill>
              </a:rPr>
              <a:t>3`den </a:t>
            </a:r>
            <a:r>
              <a:rPr lang="tr-TR" sz="1200" noProof="1">
                <a:solidFill>
                  <a:schemeClr val="tx1"/>
                </a:solidFill>
              </a:rPr>
              <a:t>çok</a:t>
            </a:r>
            <a:r>
              <a:rPr lang="tr-TR" sz="1200" dirty="0">
                <a:solidFill>
                  <a:schemeClr val="tx1"/>
                </a:solidFill>
              </a:rPr>
              <a:t> 7`den az</a:t>
            </a:r>
          </a:p>
        </p:txBody>
      </p:sp>
      <p:sp>
        <p:nvSpPr>
          <p:cNvPr id="90" name="Metin kutusu 89">
            <a:extLst>
              <a:ext uri="{FF2B5EF4-FFF2-40B4-BE49-F238E27FC236}">
                <a16:creationId xmlns:a16="http://schemas.microsoft.com/office/drawing/2014/main" id="{75043CB6-CE09-4B9D-97A2-481DF5AD44DA}"/>
              </a:ext>
            </a:extLst>
          </p:cNvPr>
          <p:cNvSpPr txBox="1"/>
          <p:nvPr/>
        </p:nvSpPr>
        <p:spPr>
          <a:xfrm>
            <a:off x="547577" y="5429304"/>
            <a:ext cx="2297841" cy="276999"/>
          </a:xfrm>
          <a:prstGeom prst="rect">
            <a:avLst/>
          </a:prstGeom>
          <a:solidFill>
            <a:srgbClr val="E3A6CB">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Osman :  </a:t>
            </a:r>
            <a:r>
              <a:rPr lang="tr-TR" sz="1200" dirty="0">
                <a:solidFill>
                  <a:schemeClr val="tx1"/>
                </a:solidFill>
              </a:rPr>
              <a:t>6`dan </a:t>
            </a:r>
            <a:r>
              <a:rPr lang="tr-TR" sz="1200" noProof="1">
                <a:solidFill>
                  <a:schemeClr val="tx1"/>
                </a:solidFill>
              </a:rPr>
              <a:t>çok</a:t>
            </a:r>
            <a:r>
              <a:rPr lang="tr-TR" sz="1200" dirty="0">
                <a:solidFill>
                  <a:schemeClr val="tx1"/>
                </a:solidFill>
              </a:rPr>
              <a:t> 9`dan az</a:t>
            </a:r>
          </a:p>
        </p:txBody>
      </p:sp>
      <p:sp>
        <p:nvSpPr>
          <p:cNvPr id="91" name="Metin kutusu 90">
            <a:extLst>
              <a:ext uri="{FF2B5EF4-FFF2-40B4-BE49-F238E27FC236}">
                <a16:creationId xmlns:a16="http://schemas.microsoft.com/office/drawing/2014/main" id="{C47192A7-A52C-4159-83DF-228D00A288B0}"/>
              </a:ext>
            </a:extLst>
          </p:cNvPr>
          <p:cNvSpPr txBox="1"/>
          <p:nvPr/>
        </p:nvSpPr>
        <p:spPr>
          <a:xfrm>
            <a:off x="548268" y="5816823"/>
            <a:ext cx="2302392" cy="27699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Mustafa :  </a:t>
            </a:r>
            <a:r>
              <a:rPr lang="tr-TR" sz="1200" dirty="0">
                <a:solidFill>
                  <a:schemeClr val="tx1"/>
                </a:solidFill>
              </a:rPr>
              <a:t>5`den </a:t>
            </a:r>
            <a:r>
              <a:rPr lang="tr-TR" sz="1200" noProof="1">
                <a:solidFill>
                  <a:schemeClr val="tx1"/>
                </a:solidFill>
              </a:rPr>
              <a:t>çok</a:t>
            </a:r>
            <a:r>
              <a:rPr lang="tr-TR" sz="1200" dirty="0">
                <a:solidFill>
                  <a:schemeClr val="tx1"/>
                </a:solidFill>
              </a:rPr>
              <a:t> 10`dan az</a:t>
            </a:r>
          </a:p>
        </p:txBody>
      </p:sp>
      <p:sp>
        <p:nvSpPr>
          <p:cNvPr id="92" name="Metin kutusu 91">
            <a:extLst>
              <a:ext uri="{FF2B5EF4-FFF2-40B4-BE49-F238E27FC236}">
                <a16:creationId xmlns:a16="http://schemas.microsoft.com/office/drawing/2014/main" id="{97489912-774D-4878-B783-A30238917686}"/>
              </a:ext>
            </a:extLst>
          </p:cNvPr>
          <p:cNvSpPr txBox="1"/>
          <p:nvPr/>
        </p:nvSpPr>
        <p:spPr>
          <a:xfrm>
            <a:off x="550544" y="6216876"/>
            <a:ext cx="2297841" cy="276999"/>
          </a:xfrm>
          <a:prstGeom prst="rect">
            <a:avLst/>
          </a:prstGeom>
          <a:solidFill>
            <a:schemeClr val="accent5">
              <a:lumMod val="75000"/>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noProof="1">
                <a:solidFill>
                  <a:schemeClr val="tx1"/>
                </a:solidFill>
              </a:rPr>
              <a:t>Ulfet :  </a:t>
            </a:r>
            <a:r>
              <a:rPr lang="tr-TR" sz="1200" noProof="1">
                <a:solidFill>
                  <a:schemeClr val="tx1"/>
                </a:solidFill>
              </a:rPr>
              <a:t>7`den çok 11`den az</a:t>
            </a:r>
          </a:p>
        </p:txBody>
      </p:sp>
      <p:sp>
        <p:nvSpPr>
          <p:cNvPr id="93" name="Metin kutusu 92">
            <a:extLst>
              <a:ext uri="{FF2B5EF4-FFF2-40B4-BE49-F238E27FC236}">
                <a16:creationId xmlns:a16="http://schemas.microsoft.com/office/drawing/2014/main" id="{0836B3DC-61EC-436A-B303-EDFF054C214C}"/>
              </a:ext>
            </a:extLst>
          </p:cNvPr>
          <p:cNvSpPr txBox="1"/>
          <p:nvPr/>
        </p:nvSpPr>
        <p:spPr>
          <a:xfrm>
            <a:off x="472810" y="4779865"/>
            <a:ext cx="2384147" cy="169277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dirty="0"/>
              <a:t>Mesaj Kutusu – Message Box v1.5.5</a:t>
            </a: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endParaRPr lang="tr-TR" sz="800" dirty="0"/>
          </a:p>
        </p:txBody>
      </p:sp>
      <p:pic>
        <p:nvPicPr>
          <p:cNvPr id="94" name="Grafik 93">
            <a:extLst>
              <a:ext uri="{FF2B5EF4-FFF2-40B4-BE49-F238E27FC236}">
                <a16:creationId xmlns:a16="http://schemas.microsoft.com/office/drawing/2014/main" id="{077499D2-D5BF-456E-B600-9CF49ED13604}"/>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747" y="4532271"/>
            <a:ext cx="144097" cy="144097"/>
          </a:xfrm>
          <a:prstGeom prst="rect">
            <a:avLst/>
          </a:prstGeom>
        </p:spPr>
      </p:pic>
      <p:pic>
        <p:nvPicPr>
          <p:cNvPr id="96" name="Grafik 95">
            <a:extLst>
              <a:ext uri="{FF2B5EF4-FFF2-40B4-BE49-F238E27FC236}">
                <a16:creationId xmlns:a16="http://schemas.microsoft.com/office/drawing/2014/main" id="{8C6489A4-EB4E-4887-B984-EFBAE91DE80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2918" y="4531213"/>
            <a:ext cx="144097" cy="144097"/>
          </a:xfrm>
          <a:prstGeom prst="rect">
            <a:avLst/>
          </a:prstGeom>
        </p:spPr>
      </p:pic>
      <p:pic>
        <p:nvPicPr>
          <p:cNvPr id="97" name="Grafik 96">
            <a:extLst>
              <a:ext uri="{FF2B5EF4-FFF2-40B4-BE49-F238E27FC236}">
                <a16:creationId xmlns:a16="http://schemas.microsoft.com/office/drawing/2014/main" id="{CFE73301-8963-41D2-B98D-8455B18284A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8060" y="4523658"/>
            <a:ext cx="178370" cy="178370"/>
          </a:xfrm>
          <a:prstGeom prst="rect">
            <a:avLst/>
          </a:prstGeom>
        </p:spPr>
      </p:pic>
      <p:pic>
        <p:nvPicPr>
          <p:cNvPr id="98" name="Grafik 97">
            <a:extLst>
              <a:ext uri="{FF2B5EF4-FFF2-40B4-BE49-F238E27FC236}">
                <a16:creationId xmlns:a16="http://schemas.microsoft.com/office/drawing/2014/main" id="{F6238537-EA41-4B4C-AEC1-4D3C0216DD83}"/>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99827" y="4533382"/>
            <a:ext cx="162295" cy="162295"/>
          </a:xfrm>
          <a:prstGeom prst="rect">
            <a:avLst/>
          </a:prstGeom>
        </p:spPr>
      </p:pic>
      <p:pic>
        <p:nvPicPr>
          <p:cNvPr id="99" name="Grafik 98">
            <a:extLst>
              <a:ext uri="{FF2B5EF4-FFF2-40B4-BE49-F238E27FC236}">
                <a16:creationId xmlns:a16="http://schemas.microsoft.com/office/drawing/2014/main" id="{9ABDF5E2-9494-4005-B580-9740B30FDB4D}"/>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279361" y="4543749"/>
            <a:ext cx="151180" cy="151180"/>
          </a:xfrm>
          <a:prstGeom prst="rect">
            <a:avLst/>
          </a:prstGeom>
        </p:spPr>
      </p:pic>
      <p:pic>
        <p:nvPicPr>
          <p:cNvPr id="100" name="Grafik 99">
            <a:extLst>
              <a:ext uri="{FF2B5EF4-FFF2-40B4-BE49-F238E27FC236}">
                <a16:creationId xmlns:a16="http://schemas.microsoft.com/office/drawing/2014/main" id="{F2BB3337-F2ED-4E5D-8D12-659BB81AFF4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461486" y="4561955"/>
            <a:ext cx="134617" cy="134617"/>
          </a:xfrm>
          <a:prstGeom prst="rect">
            <a:avLst/>
          </a:prstGeom>
        </p:spPr>
      </p:pic>
      <p:pic>
        <p:nvPicPr>
          <p:cNvPr id="101" name="Grafik 100">
            <a:extLst>
              <a:ext uri="{FF2B5EF4-FFF2-40B4-BE49-F238E27FC236}">
                <a16:creationId xmlns:a16="http://schemas.microsoft.com/office/drawing/2014/main" id="{275F5754-6A1C-445E-A91D-7D1BC3691F09}"/>
              </a:ext>
            </a:extLst>
          </p:cNvPr>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0906" y="4517577"/>
            <a:ext cx="223373" cy="223373"/>
          </a:xfrm>
          <a:prstGeom prst="rect">
            <a:avLst/>
          </a:prstGeom>
        </p:spPr>
      </p:pic>
      <p:pic>
        <p:nvPicPr>
          <p:cNvPr id="102" name="Grafik 101">
            <a:extLst>
              <a:ext uri="{FF2B5EF4-FFF2-40B4-BE49-F238E27FC236}">
                <a16:creationId xmlns:a16="http://schemas.microsoft.com/office/drawing/2014/main" id="{AF9707C5-EC96-4C7E-B115-33A34F93F09C}"/>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345224" y="4540128"/>
            <a:ext cx="158422" cy="158422"/>
          </a:xfrm>
          <a:prstGeom prst="rect">
            <a:avLst/>
          </a:prstGeom>
        </p:spPr>
      </p:pic>
      <p:pic>
        <p:nvPicPr>
          <p:cNvPr id="103" name="Grafik 102">
            <a:extLst>
              <a:ext uri="{FF2B5EF4-FFF2-40B4-BE49-F238E27FC236}">
                <a16:creationId xmlns:a16="http://schemas.microsoft.com/office/drawing/2014/main" id="{0BC1DCB9-1F1E-4A0D-AEDC-862B0F69EA9E}"/>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625374" y="4537346"/>
            <a:ext cx="179986" cy="179986"/>
          </a:xfrm>
          <a:prstGeom prst="rect">
            <a:avLst/>
          </a:prstGeom>
        </p:spPr>
      </p:pic>
      <mc:AlternateContent xmlns:mc="http://schemas.openxmlformats.org/markup-compatibility/2006" xmlns:a14="http://schemas.microsoft.com/office/drawing/2010/main">
        <mc:Choice Requires="a14">
          <p:sp>
            <p:nvSpPr>
              <p:cNvPr id="104" name="Metin kutusu 103">
                <a:extLst>
                  <a:ext uri="{FF2B5EF4-FFF2-40B4-BE49-F238E27FC236}">
                    <a16:creationId xmlns:a16="http://schemas.microsoft.com/office/drawing/2014/main" id="{C0B34769-83B8-405F-B8E8-2329A38109F1}"/>
                  </a:ext>
                </a:extLst>
              </p:cNvPr>
              <p:cNvSpPr txBox="1"/>
              <p:nvPr/>
            </p:nvSpPr>
            <p:spPr>
              <a:xfrm>
                <a:off x="2445763" y="4473463"/>
                <a:ext cx="502169" cy="230832"/>
              </a:xfrm>
              <a:prstGeom prst="rect">
                <a:avLst/>
              </a:prstGeom>
              <a:noFill/>
            </p:spPr>
            <p:txBody>
              <a:bodyPr wrap="square" rtlCol="0">
                <a:spAutoFit/>
              </a:bodyPr>
              <a:lstStyle/>
              <a:p>
                <a:r>
                  <a:rPr lang="tr-TR" sz="900" b="1" noProof="1"/>
                  <a:t>19:3</a:t>
                </a:r>
                <a14:m>
                  <m:oMath xmlns:m="http://schemas.openxmlformats.org/officeDocument/2006/math">
                    <m:r>
                      <a:rPr lang="tr-TR" sz="900" b="1" i="1" noProof="1" smtClean="0">
                        <a:latin typeface="Cambria Math" panose="02040503050406030204" pitchFamily="18" charset="0"/>
                      </a:rPr>
                      <m:t>∝</m:t>
                    </m:r>
                  </m:oMath>
                </a14:m>
                <a:endParaRPr lang="tr-TR" sz="900" b="1" noProof="1"/>
              </a:p>
            </p:txBody>
          </p:sp>
        </mc:Choice>
        <mc:Fallback xmlns="">
          <p:sp>
            <p:nvSpPr>
              <p:cNvPr id="104" name="Metin kutusu 103">
                <a:extLst>
                  <a:ext uri="{FF2B5EF4-FFF2-40B4-BE49-F238E27FC236}">
                    <a16:creationId xmlns:a16="http://schemas.microsoft.com/office/drawing/2014/main" id="{C0B34769-83B8-405F-B8E8-2329A38109F1}"/>
                  </a:ext>
                </a:extLst>
              </p:cNvPr>
              <p:cNvSpPr txBox="1">
                <a:spLocks noRot="1" noChangeAspect="1" noMove="1" noResize="1" noEditPoints="1" noAdjustHandles="1" noChangeArrowheads="1" noChangeShapeType="1" noTextEdit="1"/>
              </p:cNvSpPr>
              <p:nvPr/>
            </p:nvSpPr>
            <p:spPr>
              <a:xfrm>
                <a:off x="2445763" y="4473463"/>
                <a:ext cx="502169" cy="230832"/>
              </a:xfrm>
              <a:prstGeom prst="rect">
                <a:avLst/>
              </a:prstGeom>
              <a:blipFill>
                <a:blip r:embed="rId24"/>
                <a:stretch>
                  <a:fillRect b="-10526"/>
                </a:stretch>
              </a:blipFill>
            </p:spPr>
            <p:txBody>
              <a:bodyPr/>
              <a:lstStyle/>
              <a:p>
                <a:r>
                  <a:rPr lang="tr-TR">
                    <a:noFill/>
                  </a:rPr>
                  <a:t> </a:t>
                </a:r>
              </a:p>
            </p:txBody>
          </p:sp>
        </mc:Fallback>
      </mc:AlternateContent>
      <p:sp>
        <p:nvSpPr>
          <p:cNvPr id="105" name="Metin kutusu 104">
            <a:extLst>
              <a:ext uri="{FF2B5EF4-FFF2-40B4-BE49-F238E27FC236}">
                <a16:creationId xmlns:a16="http://schemas.microsoft.com/office/drawing/2014/main" id="{CB1C7295-9F6A-49F5-B26E-9150615BE62A}"/>
              </a:ext>
            </a:extLst>
          </p:cNvPr>
          <p:cNvSpPr txBox="1"/>
          <p:nvPr/>
        </p:nvSpPr>
        <p:spPr>
          <a:xfrm>
            <a:off x="75206" y="6955695"/>
            <a:ext cx="3438782" cy="400110"/>
          </a:xfrm>
          <a:prstGeom prst="rect">
            <a:avLst/>
          </a:prstGeom>
          <a:noFill/>
        </p:spPr>
        <p:txBody>
          <a:bodyPr wrap="square" rtlCol="0">
            <a:spAutoFit/>
          </a:bodyPr>
          <a:lstStyle/>
          <a:p>
            <a:r>
              <a:rPr lang="tr-TR" sz="1000" b="1" noProof="1"/>
              <a:t>Kemal`in telefonuna gelen mesajlardan yalnızca birisi yanlış bilgi olduğuna göre mesajlarda bahsi geçen sayı kaç olabilir?</a:t>
            </a:r>
          </a:p>
        </p:txBody>
      </p:sp>
      <p:pic>
        <p:nvPicPr>
          <p:cNvPr id="106" name="Grafik 105">
            <a:extLst>
              <a:ext uri="{FF2B5EF4-FFF2-40B4-BE49-F238E27FC236}">
                <a16:creationId xmlns:a16="http://schemas.microsoft.com/office/drawing/2014/main" id="{DF8FE9AE-FAD1-401A-8772-C24E67E09D5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833863" y="4514198"/>
            <a:ext cx="222485" cy="222485"/>
          </a:xfrm>
          <a:prstGeom prst="rect">
            <a:avLst/>
          </a:prstGeom>
        </p:spPr>
      </p:pic>
      <p:sp>
        <p:nvSpPr>
          <p:cNvPr id="107" name="Metin kutusu 106">
            <a:extLst>
              <a:ext uri="{FF2B5EF4-FFF2-40B4-BE49-F238E27FC236}">
                <a16:creationId xmlns:a16="http://schemas.microsoft.com/office/drawing/2014/main" id="{F6CE5A58-3B1C-4FCB-892C-A0BEEBB9D5C7}"/>
              </a:ext>
            </a:extLst>
          </p:cNvPr>
          <p:cNvSpPr txBox="1"/>
          <p:nvPr/>
        </p:nvSpPr>
        <p:spPr>
          <a:xfrm>
            <a:off x="75206" y="7334423"/>
            <a:ext cx="3359093" cy="553998"/>
          </a:xfrm>
          <a:prstGeom prst="rect">
            <a:avLst/>
          </a:prstGeom>
          <a:noFill/>
        </p:spPr>
        <p:txBody>
          <a:bodyPr wrap="square" rtlCol="0">
            <a:spAutoFit/>
          </a:bodyPr>
          <a:lstStyle/>
          <a:p>
            <a:r>
              <a:rPr lang="tr-TR" sz="1000" noProof="1"/>
              <a:t>A) 5                                           B) 6                                           C) 7</a:t>
            </a:r>
          </a:p>
          <a:p>
            <a:pPr marL="228600" indent="-228600">
              <a:buAutoNum type="alphaUcParenR"/>
            </a:pPr>
            <a:endParaRPr lang="tr-TR" sz="1000" noProof="1"/>
          </a:p>
          <a:p>
            <a:r>
              <a:rPr lang="tr-TR" sz="1000" noProof="1"/>
              <a:t>                      D) 8                                        E) 10</a:t>
            </a:r>
          </a:p>
        </p:txBody>
      </p:sp>
      <p:sp>
        <p:nvSpPr>
          <p:cNvPr id="109" name="Metin kutusu 108">
            <a:extLst>
              <a:ext uri="{FF2B5EF4-FFF2-40B4-BE49-F238E27FC236}">
                <a16:creationId xmlns:a16="http://schemas.microsoft.com/office/drawing/2014/main" id="{100C5FA3-7AA2-4B88-9C64-E7A85C3D26C7}"/>
              </a:ext>
            </a:extLst>
          </p:cNvPr>
          <p:cNvSpPr txBox="1"/>
          <p:nvPr/>
        </p:nvSpPr>
        <p:spPr>
          <a:xfrm>
            <a:off x="3485481" y="477878"/>
            <a:ext cx="3361956" cy="1015663"/>
          </a:xfrm>
          <a:prstGeom prst="rect">
            <a:avLst/>
          </a:prstGeom>
          <a:noFill/>
        </p:spPr>
        <p:txBody>
          <a:bodyPr wrap="square" rtlCol="0">
            <a:spAutoFit/>
          </a:bodyPr>
          <a:lstStyle/>
          <a:p>
            <a:r>
              <a:rPr lang="tr-TR" sz="1000" dirty="0">
                <a:ea typeface="Arimo" panose="020B0604020202020204" pitchFamily="34" charset="0"/>
                <a:cs typeface="Arimo" panose="020B0604020202020204" pitchFamily="34" charset="0"/>
              </a:rPr>
              <a:t>A kurumu faturasını son ödeme tarihinden sonra her geciken gün için gaz için 2 TL; elektrik için 1 TL gecikme zammı,</a:t>
            </a:r>
            <a:br>
              <a:rPr lang="tr-TR" sz="1000" dirty="0">
                <a:ea typeface="Arimo" panose="020B0604020202020204" pitchFamily="34" charset="0"/>
                <a:cs typeface="Arimo" panose="020B0604020202020204" pitchFamily="34" charset="0"/>
              </a:rPr>
            </a:br>
            <a:br>
              <a:rPr lang="tr-TR" sz="1000" dirty="0">
                <a:ea typeface="Arimo" panose="020B0604020202020204" pitchFamily="34" charset="0"/>
                <a:cs typeface="Arimo" panose="020B0604020202020204" pitchFamily="34" charset="0"/>
              </a:rPr>
            </a:br>
            <a:r>
              <a:rPr lang="tr-TR" sz="1000" dirty="0">
                <a:ea typeface="Arimo" panose="020B0604020202020204" pitchFamily="34" charset="0"/>
                <a:cs typeface="Arimo" panose="020B0604020202020204" pitchFamily="34" charset="0"/>
              </a:rPr>
              <a:t>B kurumu faturasını son ödeme tarihinden sonra her geciken gün için gaz için 1 TL, elektrik için 2,5 TL gecikme zammı uygulamaktadır.</a:t>
            </a:r>
          </a:p>
        </p:txBody>
      </p:sp>
      <p:graphicFrame>
        <p:nvGraphicFramePr>
          <p:cNvPr id="7" name="Tablo 7">
            <a:extLst>
              <a:ext uri="{FF2B5EF4-FFF2-40B4-BE49-F238E27FC236}">
                <a16:creationId xmlns:a16="http://schemas.microsoft.com/office/drawing/2014/main" id="{6D066D20-F053-4720-BC24-DCE90CE8C432}"/>
              </a:ext>
            </a:extLst>
          </p:cNvPr>
          <p:cNvGraphicFramePr>
            <a:graphicFrameLocks noGrp="1"/>
          </p:cNvGraphicFramePr>
          <p:nvPr>
            <p:extLst>
              <p:ext uri="{D42A27DB-BD31-4B8C-83A1-F6EECF244321}">
                <p14:modId xmlns:p14="http://schemas.microsoft.com/office/powerpoint/2010/main" val="1491586595"/>
              </p:ext>
            </p:extLst>
          </p:nvPr>
        </p:nvGraphicFramePr>
        <p:xfrm>
          <a:off x="3573016" y="1491923"/>
          <a:ext cx="3240360" cy="1481524"/>
        </p:xfrm>
        <a:graphic>
          <a:graphicData uri="http://schemas.openxmlformats.org/drawingml/2006/table">
            <a:tbl>
              <a:tblPr firstRow="1" bandRow="1">
                <a:solidFill>
                  <a:srgbClr val="FF99CC"/>
                </a:solidFill>
                <a:tableStyleId>{00A15C55-8517-42AA-B614-E9B94910E393}</a:tableStyleId>
              </a:tblPr>
              <a:tblGrid>
                <a:gridCol w="792088">
                  <a:extLst>
                    <a:ext uri="{9D8B030D-6E8A-4147-A177-3AD203B41FA5}">
                      <a16:colId xmlns:a16="http://schemas.microsoft.com/office/drawing/2014/main" val="2149797060"/>
                    </a:ext>
                  </a:extLst>
                </a:gridCol>
                <a:gridCol w="864096">
                  <a:extLst>
                    <a:ext uri="{9D8B030D-6E8A-4147-A177-3AD203B41FA5}">
                      <a16:colId xmlns:a16="http://schemas.microsoft.com/office/drawing/2014/main" val="2203541427"/>
                    </a:ext>
                  </a:extLst>
                </a:gridCol>
                <a:gridCol w="792088">
                  <a:extLst>
                    <a:ext uri="{9D8B030D-6E8A-4147-A177-3AD203B41FA5}">
                      <a16:colId xmlns:a16="http://schemas.microsoft.com/office/drawing/2014/main" val="1713255198"/>
                    </a:ext>
                  </a:extLst>
                </a:gridCol>
                <a:gridCol w="792088">
                  <a:extLst>
                    <a:ext uri="{9D8B030D-6E8A-4147-A177-3AD203B41FA5}">
                      <a16:colId xmlns:a16="http://schemas.microsoft.com/office/drawing/2014/main" val="251188880"/>
                    </a:ext>
                  </a:extLst>
                </a:gridCol>
              </a:tblGrid>
              <a:tr h="0">
                <a:tc>
                  <a:txBody>
                    <a:bodyPr/>
                    <a:lstStyle/>
                    <a:p>
                      <a:pPr algn="ctr"/>
                      <a:endParaRPr lang="tr-TR" sz="10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4">
                        <a:lumMod val="20000"/>
                        <a:lumOff val="80000"/>
                      </a:schemeClr>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tr-TR" sz="1000" b="0" dirty="0">
                          <a:solidFill>
                            <a:schemeClr val="tx1"/>
                          </a:solidFill>
                        </a:rPr>
                        <a:t>Son Ödeme</a:t>
                      </a:r>
                      <a:br>
                        <a:rPr lang="tr-TR" sz="1000" b="0" dirty="0">
                          <a:solidFill>
                            <a:schemeClr val="tx1"/>
                          </a:solidFill>
                        </a:rPr>
                      </a:br>
                      <a:r>
                        <a:rPr lang="tr-TR" sz="1000" b="0" dirty="0">
                          <a:solidFill>
                            <a:schemeClr val="tx1"/>
                          </a:solidFill>
                        </a:rPr>
                        <a:t>Tarihi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99CC"/>
                    </a:solidFill>
                  </a:tcPr>
                </a:tc>
                <a:tc>
                  <a:txBody>
                    <a:bodyPr/>
                    <a:lstStyle/>
                    <a:p>
                      <a:pPr algn="ctr"/>
                      <a:r>
                        <a:rPr lang="tr-TR" sz="1000" b="0" dirty="0">
                          <a:solidFill>
                            <a:schemeClr val="tx1"/>
                          </a:solidFill>
                        </a:rPr>
                        <a:t>Ödenme Tarihi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99CC"/>
                    </a:solidFill>
                  </a:tcPr>
                </a:tc>
                <a:tc>
                  <a:txBody>
                    <a:bodyPr/>
                    <a:lstStyle/>
                    <a:p>
                      <a:pPr algn="ctr"/>
                      <a:r>
                        <a:rPr lang="tr-TR" sz="1000" b="0" dirty="0">
                          <a:solidFill>
                            <a:schemeClr val="tx1"/>
                          </a:solidFill>
                        </a:rPr>
                        <a:t>Zamsız Fatura (TL)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99CC"/>
                    </a:solidFill>
                  </a:tcPr>
                </a:tc>
                <a:extLst>
                  <a:ext uri="{0D108BD9-81ED-4DB2-BD59-A6C34878D82A}">
                    <a16:rowId xmlns:a16="http://schemas.microsoft.com/office/drawing/2014/main" val="264375587"/>
                  </a:ext>
                </a:extLst>
              </a:tr>
              <a:tr h="271321">
                <a:tc>
                  <a:txBody>
                    <a:bodyPr/>
                    <a:lstStyle/>
                    <a:p>
                      <a:pPr algn="ctr"/>
                      <a:r>
                        <a:rPr lang="tr-TR" sz="1000" dirty="0">
                          <a:solidFill>
                            <a:schemeClr val="tx1"/>
                          </a:solidFill>
                        </a:rPr>
                        <a:t>Elektrik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4">
                        <a:lumMod val="20000"/>
                        <a:lumOff val="80000"/>
                      </a:schemeClr>
                    </a:solidFill>
                  </a:tcPr>
                </a:tc>
                <a:tc>
                  <a:txBody>
                    <a:bodyPr/>
                    <a:lstStyle/>
                    <a:p>
                      <a:pPr algn="ctr"/>
                      <a:r>
                        <a:rPr lang="tr-TR" sz="1000" dirty="0">
                          <a:solidFill>
                            <a:schemeClr val="tx1"/>
                          </a:solidFill>
                        </a:rPr>
                        <a:t>27.08.2022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6">
                        <a:lumMod val="20000"/>
                        <a:lumOff val="80000"/>
                      </a:schemeClr>
                    </a:solidFill>
                  </a:tcPr>
                </a:tc>
                <a:tc>
                  <a:txBody>
                    <a:bodyPr/>
                    <a:lstStyle/>
                    <a:p>
                      <a:pPr algn="ctr"/>
                      <a:r>
                        <a:rPr lang="tr-TR" sz="1000" dirty="0">
                          <a:solidFill>
                            <a:schemeClr val="tx1"/>
                          </a:solidFill>
                        </a:rPr>
                        <a:t>27.08.2022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3">
                        <a:lumMod val="20000"/>
                        <a:lumOff val="80000"/>
                      </a:schemeClr>
                    </a:solidFill>
                  </a:tcPr>
                </a:tc>
                <a:tc>
                  <a:txBody>
                    <a:bodyPr/>
                    <a:lstStyle/>
                    <a:p>
                      <a:pPr algn="ctr"/>
                      <a:r>
                        <a:rPr lang="tr-TR" sz="1000" dirty="0">
                          <a:solidFill>
                            <a:schemeClr val="tx1"/>
                          </a:solidFill>
                        </a:rPr>
                        <a:t>89 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2">
                        <a:lumMod val="40000"/>
                        <a:lumOff val="60000"/>
                      </a:schemeClr>
                    </a:solidFill>
                  </a:tcPr>
                </a:tc>
                <a:extLst>
                  <a:ext uri="{0D108BD9-81ED-4DB2-BD59-A6C34878D82A}">
                    <a16:rowId xmlns:a16="http://schemas.microsoft.com/office/drawing/2014/main" val="172754333"/>
                  </a:ext>
                </a:extLst>
              </a:tr>
              <a:tr h="271321">
                <a:tc>
                  <a:txBody>
                    <a:bodyPr/>
                    <a:lstStyle/>
                    <a:p>
                      <a:pPr algn="ctr"/>
                      <a:r>
                        <a:rPr lang="tr-TR" sz="1000" dirty="0">
                          <a:solidFill>
                            <a:schemeClr val="tx1"/>
                          </a:solidFill>
                        </a:rPr>
                        <a:t>Gaz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4">
                        <a:lumMod val="20000"/>
                        <a:lumOff val="80000"/>
                      </a:schemeClr>
                    </a:solidFill>
                  </a:tcPr>
                </a:tc>
                <a:tc>
                  <a:txBody>
                    <a:bodyPr/>
                    <a:lstStyle/>
                    <a:p>
                      <a:pPr algn="ctr"/>
                      <a:r>
                        <a:rPr lang="tr-TR" sz="1000"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6">
                        <a:lumMod val="20000"/>
                        <a:lumOff val="80000"/>
                      </a:schemeClr>
                    </a:solidFill>
                  </a:tcPr>
                </a:tc>
                <a:tc>
                  <a:txBody>
                    <a:bodyPr/>
                    <a:lstStyle/>
                    <a:p>
                      <a:pPr algn="ctr"/>
                      <a:r>
                        <a:rPr lang="tr-TR" sz="1000" dirty="0">
                          <a:solidFill>
                            <a:schemeClr val="tx1"/>
                          </a:solidFill>
                        </a:rPr>
                        <a:t>16.08.2022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3">
                        <a:lumMod val="20000"/>
                        <a:lumOff val="80000"/>
                      </a:schemeClr>
                    </a:solidFill>
                  </a:tcPr>
                </a:tc>
                <a:tc>
                  <a:txBody>
                    <a:bodyPr/>
                    <a:lstStyle/>
                    <a:p>
                      <a:pPr algn="ctr"/>
                      <a:r>
                        <a:rPr lang="tr-TR" sz="1000" dirty="0">
                          <a:solidFill>
                            <a:schemeClr val="tx1"/>
                          </a:solidFill>
                        </a:rPr>
                        <a:t>63 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2">
                        <a:lumMod val="40000"/>
                        <a:lumOff val="60000"/>
                      </a:schemeClr>
                    </a:solidFill>
                  </a:tcPr>
                </a:tc>
                <a:extLst>
                  <a:ext uri="{0D108BD9-81ED-4DB2-BD59-A6C34878D82A}">
                    <a16:rowId xmlns:a16="http://schemas.microsoft.com/office/drawing/2014/main" val="2712111380"/>
                  </a:ext>
                </a:extLst>
              </a:tr>
              <a:tr h="271321">
                <a:tc>
                  <a:txBody>
                    <a:bodyPr/>
                    <a:lstStyle/>
                    <a:p>
                      <a:pPr algn="ctr"/>
                      <a:r>
                        <a:rPr lang="tr-TR" sz="1000" dirty="0">
                          <a:solidFill>
                            <a:schemeClr val="tx1"/>
                          </a:solidFill>
                        </a:rPr>
                        <a:t>Elektrik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4">
                        <a:lumMod val="20000"/>
                        <a:lumOff val="80000"/>
                      </a:schemeClr>
                    </a:solidFill>
                  </a:tcPr>
                </a:tc>
                <a:tc>
                  <a:txBody>
                    <a:bodyPr/>
                    <a:lstStyle/>
                    <a:p>
                      <a:pPr algn="ctr"/>
                      <a:r>
                        <a:rPr lang="tr-TR" sz="1000" dirty="0">
                          <a:solidFill>
                            <a:schemeClr val="tx1"/>
                          </a:solidFill>
                        </a:rPr>
                        <a:t>12.08.2022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6">
                        <a:lumMod val="20000"/>
                        <a:lumOff val="80000"/>
                      </a:schemeClr>
                    </a:solidFill>
                  </a:tcPr>
                </a:tc>
                <a:tc>
                  <a:txBody>
                    <a:bodyPr/>
                    <a:lstStyle/>
                    <a:p>
                      <a:pPr algn="ctr"/>
                      <a:r>
                        <a:rPr lang="tr-TR" sz="1000" dirty="0">
                          <a:solidFill>
                            <a:schemeClr val="tx1"/>
                          </a:solidFill>
                        </a:rPr>
                        <a:t>15.08.2022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3">
                        <a:lumMod val="20000"/>
                        <a:lumOff val="80000"/>
                      </a:schemeClr>
                    </a:solidFill>
                  </a:tcPr>
                </a:tc>
                <a:tc>
                  <a:txBody>
                    <a:bodyPr/>
                    <a:lstStyle/>
                    <a:p>
                      <a:pPr algn="ctr"/>
                      <a:r>
                        <a:rPr lang="tr-TR" sz="1000" dirty="0">
                          <a:solidFill>
                            <a:schemeClr val="tx1"/>
                          </a:solidFill>
                        </a:rPr>
                        <a:t>260 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2">
                        <a:lumMod val="40000"/>
                        <a:lumOff val="60000"/>
                      </a:schemeClr>
                    </a:solidFill>
                  </a:tcPr>
                </a:tc>
                <a:extLst>
                  <a:ext uri="{0D108BD9-81ED-4DB2-BD59-A6C34878D82A}">
                    <a16:rowId xmlns:a16="http://schemas.microsoft.com/office/drawing/2014/main" val="153537864"/>
                  </a:ext>
                </a:extLst>
              </a:tr>
              <a:tr h="271321">
                <a:tc>
                  <a:txBody>
                    <a:bodyPr/>
                    <a:lstStyle/>
                    <a:p>
                      <a:pPr algn="ctr"/>
                      <a:r>
                        <a:rPr lang="tr-TR" sz="1000" dirty="0">
                          <a:solidFill>
                            <a:schemeClr val="tx1"/>
                          </a:solidFill>
                        </a:rPr>
                        <a:t>Gaz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4">
                        <a:lumMod val="20000"/>
                        <a:lumOff val="80000"/>
                      </a:schemeClr>
                    </a:solidFill>
                  </a:tcPr>
                </a:tc>
                <a:tc>
                  <a:txBody>
                    <a:bodyPr/>
                    <a:lstStyle/>
                    <a:p>
                      <a:pPr algn="ctr"/>
                      <a:r>
                        <a:rPr lang="tr-TR" sz="1000" dirty="0">
                          <a:solidFill>
                            <a:schemeClr val="tx1"/>
                          </a:solidFill>
                        </a:rPr>
                        <a:t>15.08.2022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6">
                        <a:lumMod val="20000"/>
                        <a:lumOff val="80000"/>
                      </a:schemeClr>
                    </a:solidFill>
                  </a:tcPr>
                </a:tc>
                <a:tc>
                  <a:txBody>
                    <a:bodyPr/>
                    <a:lstStyle/>
                    <a:p>
                      <a:pPr algn="ctr"/>
                      <a:r>
                        <a:rPr lang="tr-TR" sz="1000" dirty="0">
                          <a:solidFill>
                            <a:schemeClr val="tx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3">
                        <a:lumMod val="20000"/>
                        <a:lumOff val="80000"/>
                      </a:schemeClr>
                    </a:solidFill>
                  </a:tcPr>
                </a:tc>
                <a:tc>
                  <a:txBody>
                    <a:bodyPr/>
                    <a:lstStyle/>
                    <a:p>
                      <a:pPr algn="ctr"/>
                      <a:r>
                        <a:rPr lang="tr-TR" sz="1000" dirty="0">
                          <a:solidFill>
                            <a:schemeClr val="tx1"/>
                          </a:solidFill>
                        </a:rPr>
                        <a:t>108 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chemeClr val="accent2">
                        <a:lumMod val="40000"/>
                        <a:lumOff val="60000"/>
                      </a:schemeClr>
                    </a:solidFill>
                  </a:tcPr>
                </a:tc>
                <a:extLst>
                  <a:ext uri="{0D108BD9-81ED-4DB2-BD59-A6C34878D82A}">
                    <a16:rowId xmlns:a16="http://schemas.microsoft.com/office/drawing/2014/main" val="100490177"/>
                  </a:ext>
                </a:extLst>
              </a:tr>
            </a:tbl>
          </a:graphicData>
        </a:graphic>
      </p:graphicFrame>
      <p:sp>
        <p:nvSpPr>
          <p:cNvPr id="110" name="Metin kutusu 109">
            <a:extLst>
              <a:ext uri="{FF2B5EF4-FFF2-40B4-BE49-F238E27FC236}">
                <a16:creationId xmlns:a16="http://schemas.microsoft.com/office/drawing/2014/main" id="{172CFB1E-2396-43C9-9095-D3075652E262}"/>
              </a:ext>
            </a:extLst>
          </p:cNvPr>
          <p:cNvSpPr txBox="1"/>
          <p:nvPr/>
        </p:nvSpPr>
        <p:spPr>
          <a:xfrm>
            <a:off x="3489276" y="2973447"/>
            <a:ext cx="3361956" cy="1015663"/>
          </a:xfrm>
          <a:prstGeom prst="rect">
            <a:avLst/>
          </a:prstGeom>
          <a:noFill/>
        </p:spPr>
        <p:txBody>
          <a:bodyPr wrap="square" rtlCol="0">
            <a:spAutoFit/>
          </a:bodyPr>
          <a:lstStyle/>
          <a:p>
            <a:r>
              <a:rPr lang="tr-TR" sz="1000" dirty="0">
                <a:ea typeface="Arimo" panose="020B0604020202020204" pitchFamily="34" charset="0"/>
                <a:cs typeface="Arimo" panose="020B0604020202020204" pitchFamily="34" charset="0"/>
              </a:rPr>
              <a:t>Necati Bey A ve B kurumlarından evi ve işyeri için elektrik ve gaz hizmeti almaktadır. Son ödenme tarihlerini ve faturalarını ödediği tarihi kaydetmiştir. </a:t>
            </a:r>
          </a:p>
          <a:p>
            <a:endParaRPr lang="tr-TR" sz="1000" dirty="0">
              <a:ea typeface="Arimo" panose="020B0604020202020204" pitchFamily="34" charset="0"/>
              <a:cs typeface="Arimo" panose="020B0604020202020204" pitchFamily="34" charset="0"/>
            </a:endParaRPr>
          </a:p>
          <a:p>
            <a:r>
              <a:rPr lang="tr-TR" sz="1000" b="1" dirty="0">
                <a:ea typeface="Arimo" panose="020B0604020202020204" pitchFamily="34" charset="0"/>
                <a:cs typeface="Arimo" panose="020B0604020202020204" pitchFamily="34" charset="0"/>
              </a:rPr>
              <a:t>Necati Bey, faturalarına TL gecikme ücreti ödediğine göre </a:t>
            </a:r>
            <a:br>
              <a:rPr lang="tr-TR" sz="1000" b="1" dirty="0">
                <a:ea typeface="Arimo" panose="020B0604020202020204" pitchFamily="34" charset="0"/>
                <a:cs typeface="Arimo" panose="020B0604020202020204" pitchFamily="34" charset="0"/>
              </a:rPr>
            </a:br>
            <a:r>
              <a:rPr lang="tr-TR" sz="1000" b="1" dirty="0">
                <a:ea typeface="Arimo" panose="020B0604020202020204" pitchFamily="34" charset="0"/>
                <a:cs typeface="Arimo" panose="020B0604020202020204" pitchFamily="34" charset="0"/>
              </a:rPr>
              <a:t>X ve Y tarihleri aşağıdakilerden hangisi olabilir? </a:t>
            </a:r>
          </a:p>
        </p:txBody>
      </p:sp>
      <p:pic>
        <p:nvPicPr>
          <p:cNvPr id="13" name="Resim 12">
            <a:extLst>
              <a:ext uri="{FF2B5EF4-FFF2-40B4-BE49-F238E27FC236}">
                <a16:creationId xmlns:a16="http://schemas.microsoft.com/office/drawing/2014/main" id="{ED42BD83-D846-436F-92DE-2D857B198451}"/>
              </a:ext>
            </a:extLst>
          </p:cNvPr>
          <p:cNvPicPr>
            <a:picLocks noChangeAspect="1"/>
          </p:cNvPicPr>
          <p:nvPr/>
        </p:nvPicPr>
        <p:blipFill>
          <a:blip r:embed="rId27"/>
          <a:stretch>
            <a:fillRect/>
          </a:stretch>
        </p:blipFill>
        <p:spPr>
          <a:xfrm>
            <a:off x="3502119" y="1453039"/>
            <a:ext cx="862983" cy="426550"/>
          </a:xfrm>
          <a:prstGeom prst="rect">
            <a:avLst/>
          </a:prstGeom>
        </p:spPr>
      </p:pic>
      <p:pic>
        <p:nvPicPr>
          <p:cNvPr id="112" name="Grafik 111">
            <a:extLst>
              <a:ext uri="{FF2B5EF4-FFF2-40B4-BE49-F238E27FC236}">
                <a16:creationId xmlns:a16="http://schemas.microsoft.com/office/drawing/2014/main" id="{12851424-FEC6-4CF8-9B0B-D0B21292676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19472" y="4217099"/>
            <a:ext cx="5025049" cy="2711334"/>
          </a:xfrm>
          <a:prstGeom prst="rect">
            <a:avLst/>
          </a:prstGeom>
        </p:spPr>
      </p:pic>
      <p:sp>
        <p:nvSpPr>
          <p:cNvPr id="114" name="Metin kutusu 113">
            <a:extLst>
              <a:ext uri="{FF2B5EF4-FFF2-40B4-BE49-F238E27FC236}">
                <a16:creationId xmlns:a16="http://schemas.microsoft.com/office/drawing/2014/main" id="{2E6D4026-2EC9-4AC2-B97A-4633386116FC}"/>
              </a:ext>
            </a:extLst>
          </p:cNvPr>
          <p:cNvSpPr txBox="1"/>
          <p:nvPr/>
        </p:nvSpPr>
        <p:spPr>
          <a:xfrm>
            <a:off x="3565850" y="4296668"/>
            <a:ext cx="445113" cy="1631216"/>
          </a:xfrm>
          <a:prstGeom prst="rect">
            <a:avLst/>
          </a:prstGeom>
          <a:noFill/>
        </p:spPr>
        <p:txBody>
          <a:bodyPr wrap="square" rtlCol="0">
            <a:spAutoFit/>
          </a:bodyPr>
          <a:lstStyle/>
          <a:p>
            <a:r>
              <a:rPr lang="tr-TR" sz="1000" noProof="1">
                <a:cs typeface="Arial" panose="020B0604020202020204" pitchFamily="34" charset="0"/>
              </a:rPr>
              <a:t>A)</a:t>
            </a:r>
          </a:p>
          <a:p>
            <a:endParaRPr lang="tr-TR" sz="1000" noProof="1">
              <a:cs typeface="Arial" panose="020B0604020202020204" pitchFamily="34" charset="0"/>
            </a:endParaRPr>
          </a:p>
          <a:p>
            <a:r>
              <a:rPr lang="tr-TR" sz="1000" noProof="1">
                <a:cs typeface="Arial" panose="020B0604020202020204" pitchFamily="34" charset="0"/>
              </a:rPr>
              <a:t>B)</a:t>
            </a:r>
          </a:p>
          <a:p>
            <a:endParaRPr lang="tr-TR" sz="1000" noProof="1">
              <a:cs typeface="Arial" panose="020B0604020202020204" pitchFamily="34" charset="0"/>
            </a:endParaRPr>
          </a:p>
          <a:p>
            <a:r>
              <a:rPr lang="tr-TR" sz="1000" noProof="1">
                <a:cs typeface="Arial" panose="020B0604020202020204" pitchFamily="34" charset="0"/>
              </a:rPr>
              <a:t>C)</a:t>
            </a:r>
          </a:p>
          <a:p>
            <a:endParaRPr lang="tr-TR" sz="1000" noProof="1">
              <a:cs typeface="Arial" panose="020B0604020202020204" pitchFamily="34" charset="0"/>
            </a:endParaRPr>
          </a:p>
          <a:p>
            <a:r>
              <a:rPr lang="tr-TR" sz="1000" noProof="1">
                <a:cs typeface="Arial" panose="020B0604020202020204" pitchFamily="34" charset="0"/>
              </a:rPr>
              <a:t>D)</a:t>
            </a:r>
          </a:p>
          <a:p>
            <a:endParaRPr lang="tr-TR" sz="1000" noProof="1">
              <a:cs typeface="Arial" panose="020B0604020202020204" pitchFamily="34" charset="0"/>
            </a:endParaRPr>
          </a:p>
          <a:p>
            <a:r>
              <a:rPr lang="tr-TR" sz="1000" noProof="1">
                <a:cs typeface="Arial" panose="020B0604020202020204" pitchFamily="34" charset="0"/>
              </a:rPr>
              <a:t>E)</a:t>
            </a:r>
          </a:p>
          <a:p>
            <a:pPr marL="228600" indent="-228600">
              <a:buAutoNum type="alphaUcParenR"/>
            </a:pPr>
            <a:endParaRPr lang="tr-TR" sz="1000" noProof="1">
              <a:cs typeface="Arial" panose="020B0604020202020204" pitchFamily="34" charset="0"/>
            </a:endParaRPr>
          </a:p>
        </p:txBody>
      </p:sp>
      <p:sp>
        <p:nvSpPr>
          <p:cNvPr id="115" name="Metin kutusu 114">
            <a:extLst>
              <a:ext uri="{FF2B5EF4-FFF2-40B4-BE49-F238E27FC236}">
                <a16:creationId xmlns:a16="http://schemas.microsoft.com/office/drawing/2014/main" id="{D07F1259-15EB-4D69-8B82-88EC61066865}"/>
              </a:ext>
            </a:extLst>
          </p:cNvPr>
          <p:cNvSpPr txBox="1"/>
          <p:nvPr/>
        </p:nvSpPr>
        <p:spPr>
          <a:xfrm>
            <a:off x="4049066" y="3990815"/>
            <a:ext cx="1247494" cy="246221"/>
          </a:xfrm>
          <a:prstGeom prst="rect">
            <a:avLst/>
          </a:prstGeom>
          <a:noFill/>
        </p:spPr>
        <p:txBody>
          <a:bodyPr wrap="square" rtlCol="0">
            <a:spAutoFit/>
          </a:bodyPr>
          <a:lstStyle/>
          <a:p>
            <a:pPr algn="ctr"/>
            <a:r>
              <a:rPr lang="tr-TR" sz="1000" noProof="1">
                <a:cs typeface="Arial" panose="020B0604020202020204" pitchFamily="34" charset="0"/>
              </a:rPr>
              <a:t>X </a:t>
            </a:r>
          </a:p>
        </p:txBody>
      </p:sp>
      <p:sp>
        <p:nvSpPr>
          <p:cNvPr id="116" name="Metin kutusu 115">
            <a:extLst>
              <a:ext uri="{FF2B5EF4-FFF2-40B4-BE49-F238E27FC236}">
                <a16:creationId xmlns:a16="http://schemas.microsoft.com/office/drawing/2014/main" id="{D9D106E9-0CCD-4677-87E6-0992E4C9A82B}"/>
              </a:ext>
            </a:extLst>
          </p:cNvPr>
          <p:cNvSpPr txBox="1"/>
          <p:nvPr/>
        </p:nvSpPr>
        <p:spPr>
          <a:xfrm>
            <a:off x="5530361" y="3973129"/>
            <a:ext cx="1102275" cy="246221"/>
          </a:xfrm>
          <a:prstGeom prst="rect">
            <a:avLst/>
          </a:prstGeom>
          <a:noFill/>
        </p:spPr>
        <p:txBody>
          <a:bodyPr wrap="square" rtlCol="0">
            <a:spAutoFit/>
          </a:bodyPr>
          <a:lstStyle/>
          <a:p>
            <a:pPr algn="ctr"/>
            <a:r>
              <a:rPr lang="tr-TR" sz="1000" noProof="1">
                <a:cs typeface="Arial" panose="020B0604020202020204" pitchFamily="34" charset="0"/>
              </a:rPr>
              <a:t>Y</a:t>
            </a:r>
          </a:p>
        </p:txBody>
      </p:sp>
      <p:cxnSp>
        <p:nvCxnSpPr>
          <p:cNvPr id="117" name="Düz Bağlayıcı 116">
            <a:extLst>
              <a:ext uri="{FF2B5EF4-FFF2-40B4-BE49-F238E27FC236}">
                <a16:creationId xmlns:a16="http://schemas.microsoft.com/office/drawing/2014/main" id="{A3C1D6F3-C0E9-40E8-8D20-299C704461BC}"/>
              </a:ext>
            </a:extLst>
          </p:cNvPr>
          <p:cNvCxnSpPr/>
          <p:nvPr/>
        </p:nvCxnSpPr>
        <p:spPr>
          <a:xfrm>
            <a:off x="4089869" y="4222704"/>
            <a:ext cx="106844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8" name="Düz Bağlayıcı 117">
            <a:extLst>
              <a:ext uri="{FF2B5EF4-FFF2-40B4-BE49-F238E27FC236}">
                <a16:creationId xmlns:a16="http://schemas.microsoft.com/office/drawing/2014/main" id="{85868C68-A129-4841-9CC5-C6CB756DA9BE}"/>
              </a:ext>
            </a:extLst>
          </p:cNvPr>
          <p:cNvCxnSpPr/>
          <p:nvPr/>
        </p:nvCxnSpPr>
        <p:spPr>
          <a:xfrm>
            <a:off x="5571598" y="4222621"/>
            <a:ext cx="1068448" cy="0"/>
          </a:xfrm>
          <a:prstGeom prst="line">
            <a:avLst/>
          </a:prstGeom>
        </p:spPr>
        <p:style>
          <a:lnRef idx="1">
            <a:schemeClr val="accent2"/>
          </a:lnRef>
          <a:fillRef idx="0">
            <a:schemeClr val="accent2"/>
          </a:fillRef>
          <a:effectRef idx="0">
            <a:schemeClr val="accent2"/>
          </a:effectRef>
          <a:fontRef idx="minor">
            <a:schemeClr val="tx1"/>
          </a:fontRef>
        </p:style>
      </p:cxnSp>
      <p:sp>
        <p:nvSpPr>
          <p:cNvPr id="120" name="Metin kutusu 119">
            <a:extLst>
              <a:ext uri="{FF2B5EF4-FFF2-40B4-BE49-F238E27FC236}">
                <a16:creationId xmlns:a16="http://schemas.microsoft.com/office/drawing/2014/main" id="{DCA61E0E-6F7C-401E-90D9-43518CA41E1F}"/>
              </a:ext>
            </a:extLst>
          </p:cNvPr>
          <p:cNvSpPr txBox="1"/>
          <p:nvPr/>
        </p:nvSpPr>
        <p:spPr>
          <a:xfrm>
            <a:off x="4053406" y="4287268"/>
            <a:ext cx="1150568" cy="246221"/>
          </a:xfrm>
          <a:prstGeom prst="rect">
            <a:avLst/>
          </a:prstGeom>
          <a:noFill/>
        </p:spPr>
        <p:txBody>
          <a:bodyPr wrap="square" rtlCol="0">
            <a:spAutoFit/>
          </a:bodyPr>
          <a:lstStyle/>
          <a:p>
            <a:pPr algn="ctr"/>
            <a:r>
              <a:rPr lang="tr-TR" sz="1000" dirty="0">
                <a:solidFill>
                  <a:schemeClr val="tx1"/>
                </a:solidFill>
              </a:rPr>
              <a:t>12.08.2022</a:t>
            </a:r>
          </a:p>
        </p:txBody>
      </p:sp>
      <p:sp>
        <p:nvSpPr>
          <p:cNvPr id="121" name="Metin kutusu 120">
            <a:extLst>
              <a:ext uri="{FF2B5EF4-FFF2-40B4-BE49-F238E27FC236}">
                <a16:creationId xmlns:a16="http://schemas.microsoft.com/office/drawing/2014/main" id="{144773BF-E2D0-4BAB-B639-4D69D1519FAE}"/>
              </a:ext>
            </a:extLst>
          </p:cNvPr>
          <p:cNvSpPr txBox="1"/>
          <p:nvPr/>
        </p:nvSpPr>
        <p:spPr>
          <a:xfrm>
            <a:off x="4059430" y="4567233"/>
            <a:ext cx="1150568" cy="246221"/>
          </a:xfrm>
          <a:prstGeom prst="rect">
            <a:avLst/>
          </a:prstGeom>
          <a:noFill/>
        </p:spPr>
        <p:txBody>
          <a:bodyPr wrap="square" rtlCol="0">
            <a:spAutoFit/>
          </a:bodyPr>
          <a:lstStyle/>
          <a:p>
            <a:pPr algn="ctr"/>
            <a:r>
              <a:rPr lang="tr-TR" sz="1000" dirty="0">
                <a:solidFill>
                  <a:schemeClr val="tx1"/>
                </a:solidFill>
              </a:rPr>
              <a:t>12.08.2022</a:t>
            </a:r>
          </a:p>
        </p:txBody>
      </p:sp>
      <p:sp>
        <p:nvSpPr>
          <p:cNvPr id="122" name="Metin kutusu 121">
            <a:extLst>
              <a:ext uri="{FF2B5EF4-FFF2-40B4-BE49-F238E27FC236}">
                <a16:creationId xmlns:a16="http://schemas.microsoft.com/office/drawing/2014/main" id="{5E17F3FB-4F14-4971-B1D5-6C29823E2330}"/>
              </a:ext>
            </a:extLst>
          </p:cNvPr>
          <p:cNvSpPr txBox="1"/>
          <p:nvPr/>
        </p:nvSpPr>
        <p:spPr>
          <a:xfrm>
            <a:off x="4059430" y="4903402"/>
            <a:ext cx="1150568" cy="246221"/>
          </a:xfrm>
          <a:prstGeom prst="rect">
            <a:avLst/>
          </a:prstGeom>
          <a:noFill/>
        </p:spPr>
        <p:txBody>
          <a:bodyPr wrap="square" rtlCol="0">
            <a:spAutoFit/>
          </a:bodyPr>
          <a:lstStyle/>
          <a:p>
            <a:pPr algn="ctr"/>
            <a:r>
              <a:rPr lang="tr-TR" sz="1000" dirty="0">
                <a:solidFill>
                  <a:schemeClr val="tx1"/>
                </a:solidFill>
              </a:rPr>
              <a:t>12.08.2022</a:t>
            </a:r>
          </a:p>
        </p:txBody>
      </p:sp>
      <p:sp>
        <p:nvSpPr>
          <p:cNvPr id="123" name="Metin kutusu 122">
            <a:extLst>
              <a:ext uri="{FF2B5EF4-FFF2-40B4-BE49-F238E27FC236}">
                <a16:creationId xmlns:a16="http://schemas.microsoft.com/office/drawing/2014/main" id="{DD353F63-FAC5-4D4D-9D1F-DF6712531AE6}"/>
              </a:ext>
            </a:extLst>
          </p:cNvPr>
          <p:cNvSpPr txBox="1"/>
          <p:nvPr/>
        </p:nvSpPr>
        <p:spPr>
          <a:xfrm>
            <a:off x="4059430" y="5233245"/>
            <a:ext cx="1150568" cy="246221"/>
          </a:xfrm>
          <a:prstGeom prst="rect">
            <a:avLst/>
          </a:prstGeom>
          <a:noFill/>
        </p:spPr>
        <p:txBody>
          <a:bodyPr wrap="square" rtlCol="0">
            <a:spAutoFit/>
          </a:bodyPr>
          <a:lstStyle/>
          <a:p>
            <a:pPr algn="ctr"/>
            <a:r>
              <a:rPr lang="tr-TR" sz="1000" dirty="0">
                <a:solidFill>
                  <a:schemeClr val="tx1"/>
                </a:solidFill>
              </a:rPr>
              <a:t>12.08.2022</a:t>
            </a:r>
          </a:p>
        </p:txBody>
      </p:sp>
      <p:sp>
        <p:nvSpPr>
          <p:cNvPr id="124" name="Metin kutusu 123">
            <a:extLst>
              <a:ext uri="{FF2B5EF4-FFF2-40B4-BE49-F238E27FC236}">
                <a16:creationId xmlns:a16="http://schemas.microsoft.com/office/drawing/2014/main" id="{87466EF6-DFD1-4B76-AD14-751CA19119B5}"/>
              </a:ext>
            </a:extLst>
          </p:cNvPr>
          <p:cNvSpPr txBox="1"/>
          <p:nvPr/>
        </p:nvSpPr>
        <p:spPr>
          <a:xfrm>
            <a:off x="4059430" y="5551474"/>
            <a:ext cx="1150568" cy="246221"/>
          </a:xfrm>
          <a:prstGeom prst="rect">
            <a:avLst/>
          </a:prstGeom>
          <a:noFill/>
        </p:spPr>
        <p:txBody>
          <a:bodyPr wrap="square" rtlCol="0">
            <a:spAutoFit/>
          </a:bodyPr>
          <a:lstStyle/>
          <a:p>
            <a:pPr algn="ctr"/>
            <a:r>
              <a:rPr lang="tr-TR" sz="1000" dirty="0">
                <a:solidFill>
                  <a:schemeClr val="tx1"/>
                </a:solidFill>
              </a:rPr>
              <a:t>12.08.2022</a:t>
            </a:r>
            <a:endParaRPr lang="tr-TR" sz="1000" noProof="1">
              <a:cs typeface="Arial" panose="020B0604020202020204" pitchFamily="34" charset="0"/>
            </a:endParaRPr>
          </a:p>
        </p:txBody>
      </p:sp>
      <p:sp>
        <p:nvSpPr>
          <p:cNvPr id="125" name="Metin kutusu 124">
            <a:extLst>
              <a:ext uri="{FF2B5EF4-FFF2-40B4-BE49-F238E27FC236}">
                <a16:creationId xmlns:a16="http://schemas.microsoft.com/office/drawing/2014/main" id="{609D10B4-3DDC-4AA1-9E9D-C8EDFE4A93C8}"/>
              </a:ext>
            </a:extLst>
          </p:cNvPr>
          <p:cNvSpPr txBox="1"/>
          <p:nvPr/>
        </p:nvSpPr>
        <p:spPr>
          <a:xfrm>
            <a:off x="5427582" y="4291643"/>
            <a:ext cx="1150568" cy="246221"/>
          </a:xfrm>
          <a:prstGeom prst="rect">
            <a:avLst/>
          </a:prstGeom>
          <a:noFill/>
        </p:spPr>
        <p:txBody>
          <a:bodyPr wrap="square" rtlCol="0">
            <a:spAutoFit/>
          </a:bodyPr>
          <a:lstStyle/>
          <a:p>
            <a:pPr algn="ctr"/>
            <a:r>
              <a:rPr lang="tr-TR" sz="1000" dirty="0">
                <a:solidFill>
                  <a:schemeClr val="tx1"/>
                </a:solidFill>
              </a:rPr>
              <a:t>12.08.2022</a:t>
            </a:r>
            <a:endParaRPr lang="tr-TR" sz="1000" noProof="1">
              <a:cs typeface="Arial" panose="020B0604020202020204" pitchFamily="34" charset="0"/>
            </a:endParaRPr>
          </a:p>
        </p:txBody>
      </p:sp>
      <p:sp>
        <p:nvSpPr>
          <p:cNvPr id="126" name="Metin kutusu 125">
            <a:extLst>
              <a:ext uri="{FF2B5EF4-FFF2-40B4-BE49-F238E27FC236}">
                <a16:creationId xmlns:a16="http://schemas.microsoft.com/office/drawing/2014/main" id="{71ABCEAA-441F-4711-8C04-D74A3A4D6B18}"/>
              </a:ext>
            </a:extLst>
          </p:cNvPr>
          <p:cNvSpPr txBox="1"/>
          <p:nvPr/>
        </p:nvSpPr>
        <p:spPr>
          <a:xfrm>
            <a:off x="5433606" y="4571608"/>
            <a:ext cx="1150568" cy="246221"/>
          </a:xfrm>
          <a:prstGeom prst="rect">
            <a:avLst/>
          </a:prstGeom>
          <a:noFill/>
        </p:spPr>
        <p:txBody>
          <a:bodyPr wrap="square" rtlCol="0">
            <a:spAutoFit/>
          </a:bodyPr>
          <a:lstStyle/>
          <a:p>
            <a:pPr algn="ctr"/>
            <a:r>
              <a:rPr lang="tr-TR" sz="1000" dirty="0">
                <a:solidFill>
                  <a:schemeClr val="tx1"/>
                </a:solidFill>
              </a:rPr>
              <a:t>12.08.2022</a:t>
            </a:r>
            <a:endParaRPr lang="tr-TR" sz="1000" noProof="1">
              <a:cs typeface="Arial" panose="020B0604020202020204" pitchFamily="34" charset="0"/>
            </a:endParaRPr>
          </a:p>
        </p:txBody>
      </p:sp>
      <p:sp>
        <p:nvSpPr>
          <p:cNvPr id="127" name="Metin kutusu 126">
            <a:extLst>
              <a:ext uri="{FF2B5EF4-FFF2-40B4-BE49-F238E27FC236}">
                <a16:creationId xmlns:a16="http://schemas.microsoft.com/office/drawing/2014/main" id="{4B3064FA-2405-43E5-9E4F-DD79364196E7}"/>
              </a:ext>
            </a:extLst>
          </p:cNvPr>
          <p:cNvSpPr txBox="1"/>
          <p:nvPr/>
        </p:nvSpPr>
        <p:spPr>
          <a:xfrm>
            <a:off x="5433606" y="4907777"/>
            <a:ext cx="1150568" cy="246221"/>
          </a:xfrm>
          <a:prstGeom prst="rect">
            <a:avLst/>
          </a:prstGeom>
          <a:noFill/>
        </p:spPr>
        <p:txBody>
          <a:bodyPr wrap="square" rtlCol="0">
            <a:spAutoFit/>
          </a:bodyPr>
          <a:lstStyle/>
          <a:p>
            <a:pPr algn="ctr"/>
            <a:r>
              <a:rPr lang="tr-TR" sz="1000" dirty="0">
                <a:solidFill>
                  <a:schemeClr val="tx1"/>
                </a:solidFill>
              </a:rPr>
              <a:t>12.08.2022</a:t>
            </a:r>
            <a:endParaRPr lang="tr-TR" sz="1000" noProof="1">
              <a:cs typeface="Arial" panose="020B0604020202020204" pitchFamily="34" charset="0"/>
            </a:endParaRPr>
          </a:p>
        </p:txBody>
      </p:sp>
      <p:sp>
        <p:nvSpPr>
          <p:cNvPr id="128" name="Metin kutusu 127">
            <a:extLst>
              <a:ext uri="{FF2B5EF4-FFF2-40B4-BE49-F238E27FC236}">
                <a16:creationId xmlns:a16="http://schemas.microsoft.com/office/drawing/2014/main" id="{3B7CB39C-309A-4B52-B86B-5A1C92DE8794}"/>
              </a:ext>
            </a:extLst>
          </p:cNvPr>
          <p:cNvSpPr txBox="1"/>
          <p:nvPr/>
        </p:nvSpPr>
        <p:spPr>
          <a:xfrm>
            <a:off x="5433606" y="5237620"/>
            <a:ext cx="1150568" cy="246221"/>
          </a:xfrm>
          <a:prstGeom prst="rect">
            <a:avLst/>
          </a:prstGeom>
          <a:noFill/>
        </p:spPr>
        <p:txBody>
          <a:bodyPr wrap="square" rtlCol="0">
            <a:spAutoFit/>
          </a:bodyPr>
          <a:lstStyle/>
          <a:p>
            <a:pPr algn="ctr"/>
            <a:r>
              <a:rPr lang="tr-TR" sz="1000" dirty="0">
                <a:solidFill>
                  <a:schemeClr val="tx1"/>
                </a:solidFill>
              </a:rPr>
              <a:t>12.08.2022</a:t>
            </a:r>
            <a:endParaRPr lang="tr-TR" sz="1000" noProof="1">
              <a:cs typeface="Arial" panose="020B0604020202020204" pitchFamily="34" charset="0"/>
            </a:endParaRPr>
          </a:p>
        </p:txBody>
      </p:sp>
      <p:sp>
        <p:nvSpPr>
          <p:cNvPr id="129" name="Metin kutusu 128">
            <a:extLst>
              <a:ext uri="{FF2B5EF4-FFF2-40B4-BE49-F238E27FC236}">
                <a16:creationId xmlns:a16="http://schemas.microsoft.com/office/drawing/2014/main" id="{F4C4AC16-9271-4C5E-A1D2-6E411A300756}"/>
              </a:ext>
            </a:extLst>
          </p:cNvPr>
          <p:cNvSpPr txBox="1"/>
          <p:nvPr/>
        </p:nvSpPr>
        <p:spPr>
          <a:xfrm>
            <a:off x="5433606" y="5555849"/>
            <a:ext cx="1150568" cy="246221"/>
          </a:xfrm>
          <a:prstGeom prst="rect">
            <a:avLst/>
          </a:prstGeom>
          <a:noFill/>
        </p:spPr>
        <p:txBody>
          <a:bodyPr wrap="square" rtlCol="0">
            <a:spAutoFit/>
          </a:bodyPr>
          <a:lstStyle/>
          <a:p>
            <a:pPr algn="ctr"/>
            <a:r>
              <a:rPr lang="tr-TR" sz="1000" dirty="0">
                <a:solidFill>
                  <a:schemeClr val="tx1"/>
                </a:solidFill>
              </a:rPr>
              <a:t>12.08.2022</a:t>
            </a:r>
            <a:endParaRPr lang="tr-TR" sz="1000" noProof="1">
              <a:cs typeface="Arial" panose="020B0604020202020204" pitchFamily="34" charset="0"/>
            </a:endParaRPr>
          </a:p>
        </p:txBody>
      </p:sp>
    </p:spTree>
    <p:extLst>
      <p:ext uri="{BB962C8B-B14F-4D97-AF65-F5344CB8AC3E}">
        <p14:creationId xmlns:p14="http://schemas.microsoft.com/office/powerpoint/2010/main" val="4176775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707886"/>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Deneme yanılma </a:t>
            </a:r>
            <a:br>
              <a:rPr lang="tr-TR" sz="1000" b="1" noProof="1">
                <a:latin typeface="+mj-lt"/>
                <a:cs typeface="Arial" panose="020B0604020202020204" pitchFamily="34" charset="0"/>
              </a:rPr>
            </a:br>
            <a:br>
              <a:rPr lang="tr-TR" sz="1000" b="1" noProof="1">
                <a:latin typeface="+mj-lt"/>
                <a:cs typeface="Arial" panose="020B0604020202020204" pitchFamily="34" charset="0"/>
              </a:rPr>
            </a:br>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3422025" y="2663243"/>
            <a:ext cx="3435975" cy="246221"/>
          </a:xfrm>
          <a:prstGeom prst="rect">
            <a:avLst/>
          </a:prstGeom>
          <a:noFill/>
        </p:spPr>
        <p:txBody>
          <a:bodyPr wrap="square" rtlCol="0">
            <a:spAutoFit/>
          </a:bodyPr>
          <a:lstStyle/>
          <a:p>
            <a:r>
              <a:rPr lang="tr-TR" sz="1000" noProof="1"/>
              <a:t>A) 3                 B) 6                   C) 7                  D) 9                E) 21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387901" y="2257519"/>
            <a:ext cx="3554758" cy="400110"/>
          </a:xfrm>
          <a:prstGeom prst="rect">
            <a:avLst/>
          </a:prstGeom>
          <a:noFill/>
        </p:spPr>
        <p:txBody>
          <a:bodyPr wrap="square" rtlCol="0">
            <a:spAutoFit/>
          </a:bodyPr>
          <a:lstStyle/>
          <a:p>
            <a:r>
              <a:rPr lang="tr-TR" sz="1000" b="1" noProof="1">
                <a:cs typeface="Arial" panose="020B0604020202020204" pitchFamily="34" charset="0"/>
              </a:rPr>
              <a:t>Yukarıdaki eşit kollu terazi yardımıyla çantanın ağırlığı ölçülmek istiyor. Buna göre, çantanın ağırlığı kaç kg ölçülemez?</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7" name="Grafik 6">
            <a:extLst>
              <a:ext uri="{FF2B5EF4-FFF2-40B4-BE49-F238E27FC236}">
                <a16:creationId xmlns:a16="http://schemas.microsoft.com/office/drawing/2014/main" id="{5058D78D-074E-43A6-8CAE-EB319D2B1AD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20366" y="522432"/>
            <a:ext cx="2342421" cy="717399"/>
          </a:xfrm>
          <a:prstGeom prst="rect">
            <a:avLst/>
          </a:prstGeom>
        </p:spPr>
      </p:pic>
      <p:pic>
        <p:nvPicPr>
          <p:cNvPr id="15" name="Grafik 14">
            <a:extLst>
              <a:ext uri="{FF2B5EF4-FFF2-40B4-BE49-F238E27FC236}">
                <a16:creationId xmlns:a16="http://schemas.microsoft.com/office/drawing/2014/main" id="{80372406-9E11-4BF8-AE0F-416CF830125A}"/>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63669" y="1733224"/>
            <a:ext cx="281976" cy="281976"/>
          </a:xfrm>
          <a:prstGeom prst="rect">
            <a:avLst/>
          </a:prstGeom>
        </p:spPr>
      </p:pic>
      <p:pic>
        <p:nvPicPr>
          <p:cNvPr id="21" name="Grafik 20">
            <a:extLst>
              <a:ext uri="{FF2B5EF4-FFF2-40B4-BE49-F238E27FC236}">
                <a16:creationId xmlns:a16="http://schemas.microsoft.com/office/drawing/2014/main" id="{E3A5EACB-BF0F-4D6E-B8A3-F7C80A1EF2C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70582" y="1332909"/>
            <a:ext cx="755000" cy="755000"/>
          </a:xfrm>
          <a:prstGeom prst="rect">
            <a:avLst/>
          </a:prstGeom>
        </p:spPr>
      </p:pic>
      <p:pic>
        <p:nvPicPr>
          <p:cNvPr id="46" name="Grafik 45">
            <a:extLst>
              <a:ext uri="{FF2B5EF4-FFF2-40B4-BE49-F238E27FC236}">
                <a16:creationId xmlns:a16="http://schemas.microsoft.com/office/drawing/2014/main" id="{E7F5E20B-357C-4B51-9772-7CEA1C51E4ED}"/>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73216" y="1633544"/>
            <a:ext cx="378933" cy="378933"/>
          </a:xfrm>
          <a:prstGeom prst="rect">
            <a:avLst/>
          </a:prstGeom>
        </p:spPr>
      </p:pic>
      <p:pic>
        <p:nvPicPr>
          <p:cNvPr id="48" name="Grafik 47">
            <a:extLst>
              <a:ext uri="{FF2B5EF4-FFF2-40B4-BE49-F238E27FC236}">
                <a16:creationId xmlns:a16="http://schemas.microsoft.com/office/drawing/2014/main" id="{8A4697AD-3227-40CC-8C2F-D50E2D811C9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68884" y="1513718"/>
            <a:ext cx="507697" cy="507697"/>
          </a:xfrm>
          <a:prstGeom prst="rect">
            <a:avLst/>
          </a:prstGeom>
        </p:spPr>
      </p:pic>
      <p:sp>
        <p:nvSpPr>
          <p:cNvPr id="53" name="Metin kutusu 52">
            <a:extLst>
              <a:ext uri="{FF2B5EF4-FFF2-40B4-BE49-F238E27FC236}">
                <a16:creationId xmlns:a16="http://schemas.microsoft.com/office/drawing/2014/main" id="{93D909F4-64F6-4A85-A16D-2883470281FD}"/>
              </a:ext>
            </a:extLst>
          </p:cNvPr>
          <p:cNvSpPr txBox="1"/>
          <p:nvPr/>
        </p:nvSpPr>
        <p:spPr>
          <a:xfrm>
            <a:off x="4984857" y="1986691"/>
            <a:ext cx="1291724" cy="246221"/>
          </a:xfrm>
          <a:prstGeom prst="rect">
            <a:avLst/>
          </a:prstGeom>
          <a:noFill/>
        </p:spPr>
        <p:txBody>
          <a:bodyPr wrap="square" rtlCol="0">
            <a:spAutoFit/>
          </a:bodyPr>
          <a:lstStyle/>
          <a:p>
            <a:r>
              <a:rPr lang="tr-TR" sz="1000" noProof="1">
                <a:cs typeface="Arial" panose="020B0604020202020204" pitchFamily="34" charset="0"/>
              </a:rPr>
              <a:t>5 KG      7 KG       9 KG </a:t>
            </a:r>
          </a:p>
        </p:txBody>
      </p:sp>
      <p:sp>
        <p:nvSpPr>
          <p:cNvPr id="55" name="Metin kutusu 54">
            <a:extLst>
              <a:ext uri="{FF2B5EF4-FFF2-40B4-BE49-F238E27FC236}">
                <a16:creationId xmlns:a16="http://schemas.microsoft.com/office/drawing/2014/main" id="{FFB26868-D258-4A93-937C-BB44F9501D3B}"/>
              </a:ext>
            </a:extLst>
          </p:cNvPr>
          <p:cNvSpPr txBox="1"/>
          <p:nvPr/>
        </p:nvSpPr>
        <p:spPr>
          <a:xfrm>
            <a:off x="3352374" y="2040239"/>
            <a:ext cx="1291724" cy="246221"/>
          </a:xfrm>
          <a:prstGeom prst="rect">
            <a:avLst/>
          </a:prstGeom>
          <a:noFill/>
        </p:spPr>
        <p:txBody>
          <a:bodyPr wrap="square" rtlCol="0">
            <a:spAutoFit/>
          </a:bodyPr>
          <a:lstStyle/>
          <a:p>
            <a:pPr algn="ctr"/>
            <a:r>
              <a:rPr lang="tr-TR" sz="1000" noProof="1">
                <a:cs typeface="Arial" panose="020B0604020202020204" pitchFamily="34" charset="0"/>
              </a:rPr>
              <a:t>Çanta</a:t>
            </a:r>
          </a:p>
        </p:txBody>
      </p:sp>
      <p:sp>
        <p:nvSpPr>
          <p:cNvPr id="56" name="Metin kutusu 55">
            <a:extLst>
              <a:ext uri="{FF2B5EF4-FFF2-40B4-BE49-F238E27FC236}">
                <a16:creationId xmlns:a16="http://schemas.microsoft.com/office/drawing/2014/main" id="{169C084D-4792-4640-B37C-8BA921440BF3}"/>
              </a:ext>
            </a:extLst>
          </p:cNvPr>
          <p:cNvSpPr txBox="1"/>
          <p:nvPr/>
        </p:nvSpPr>
        <p:spPr>
          <a:xfrm>
            <a:off x="5970089" y="599765"/>
            <a:ext cx="838696" cy="400110"/>
          </a:xfrm>
          <a:prstGeom prst="rect">
            <a:avLst/>
          </a:prstGeom>
          <a:noFill/>
        </p:spPr>
        <p:txBody>
          <a:bodyPr wrap="square" rtlCol="0">
            <a:spAutoFit/>
          </a:bodyPr>
          <a:lstStyle/>
          <a:p>
            <a:pPr algn="ctr"/>
            <a:r>
              <a:rPr lang="tr-TR" sz="1000" noProof="1">
                <a:cs typeface="Arial" panose="020B0604020202020204" pitchFamily="34" charset="0"/>
              </a:rPr>
              <a:t>Eşit Kollu</a:t>
            </a:r>
          </a:p>
          <a:p>
            <a:pPr algn="ctr"/>
            <a:r>
              <a:rPr lang="tr-TR" sz="1000" noProof="1">
                <a:cs typeface="Arial" panose="020B0604020202020204" pitchFamily="34" charset="0"/>
              </a:rPr>
              <a:t>Terazi</a:t>
            </a:r>
          </a:p>
        </p:txBody>
      </p:sp>
    </p:spTree>
    <p:extLst>
      <p:ext uri="{BB962C8B-B14F-4D97-AF65-F5344CB8AC3E}">
        <p14:creationId xmlns:p14="http://schemas.microsoft.com/office/powerpoint/2010/main" val="2233776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707886"/>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Deneme yanılma </a:t>
            </a:r>
            <a:br>
              <a:rPr lang="tr-TR" sz="1000" b="1" noProof="1">
                <a:latin typeface="+mj-lt"/>
                <a:cs typeface="Arial" panose="020B0604020202020204" pitchFamily="34" charset="0"/>
              </a:rPr>
            </a:br>
            <a:br>
              <a:rPr lang="tr-TR" sz="1000" b="1" noProof="1">
                <a:latin typeface="+mj-lt"/>
                <a:cs typeface="Arial" panose="020B0604020202020204" pitchFamily="34" charset="0"/>
              </a:rPr>
            </a:br>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047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Dikdörtgen 32">
            <a:extLst>
              <a:ext uri="{FF2B5EF4-FFF2-40B4-BE49-F238E27FC236}">
                <a16:creationId xmlns:a16="http://schemas.microsoft.com/office/drawing/2014/main" id="{80E00115-58D0-46E8-955D-55E7038AC6AB}"/>
              </a:ext>
            </a:extLst>
          </p:cNvPr>
          <p:cNvSpPr/>
          <p:nvPr/>
        </p:nvSpPr>
        <p:spPr>
          <a:xfrm>
            <a:off x="468787" y="5025335"/>
            <a:ext cx="2384147" cy="1570829"/>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64522" y="4139952"/>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55621" y="1756406"/>
            <a:ext cx="3359093" cy="553998"/>
          </a:xfrm>
          <a:prstGeom prst="rect">
            <a:avLst/>
          </a:prstGeom>
          <a:noFill/>
        </p:spPr>
        <p:txBody>
          <a:bodyPr wrap="square" rtlCol="0">
            <a:spAutoFit/>
          </a:bodyPr>
          <a:lstStyle/>
          <a:p>
            <a:r>
              <a:rPr lang="tr-TR" sz="1000" noProof="1"/>
              <a:t>A) 5                                           B) 6                                           C) 7</a:t>
            </a:r>
          </a:p>
          <a:p>
            <a:pPr marL="228600" indent="-228600">
              <a:buAutoNum type="alphaUcParenR"/>
            </a:pPr>
            <a:endParaRPr lang="tr-TR" sz="1000" noProof="1"/>
          </a:p>
          <a:p>
            <a:r>
              <a:rPr lang="tr-TR" sz="1000" noProof="1"/>
              <a:t>                      D) 8                                        E) 9</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1323439"/>
          </a:xfrm>
          <a:prstGeom prst="rect">
            <a:avLst/>
          </a:prstGeom>
          <a:noFill/>
        </p:spPr>
        <p:txBody>
          <a:bodyPr wrap="square" rtlCol="0">
            <a:spAutoFit/>
          </a:bodyPr>
          <a:lstStyle/>
          <a:p>
            <a:r>
              <a:rPr lang="tr-TR" sz="1000" noProof="1">
                <a:cs typeface="Arial" panose="020B0604020202020204" pitchFamily="34" charset="0"/>
              </a:rPr>
              <a:t>Hulusi, Şevket, Taner isimli üç arkadaş süpermarketten toplamda 17 kilogram sadece domates almışlardır. </a:t>
            </a:r>
          </a:p>
          <a:p>
            <a:endParaRPr lang="tr-TR" sz="1000" noProof="1">
              <a:cs typeface="Arial" panose="020B0604020202020204" pitchFamily="34" charset="0"/>
            </a:endParaRPr>
          </a:p>
          <a:p>
            <a:pPr marL="228600" indent="-228600">
              <a:buFont typeface="Arial" panose="020B0604020202020204" pitchFamily="34" charset="0"/>
              <a:buChar char="•"/>
            </a:pPr>
            <a:r>
              <a:rPr lang="tr-TR" sz="1000" noProof="1">
                <a:cs typeface="Arial" panose="020B0604020202020204" pitchFamily="34" charset="0"/>
              </a:rPr>
              <a:t>Herkes Hulusi`nin aldığı kadar alsaydı 12 kilogram</a:t>
            </a:r>
          </a:p>
          <a:p>
            <a:pPr marL="228600" indent="-228600">
              <a:buFont typeface="Arial" panose="020B0604020202020204" pitchFamily="34" charset="0"/>
              <a:buChar char="•"/>
            </a:pPr>
            <a:r>
              <a:rPr lang="tr-TR" sz="1000" noProof="1">
                <a:cs typeface="Arial" panose="020B0604020202020204" pitchFamily="34" charset="0"/>
              </a:rPr>
              <a:t>Herkes Şevket`in aldığı kadardan bir kg fazlasını alsaydı 17 kilogram domates almış olacaklardı. </a:t>
            </a:r>
          </a:p>
          <a:p>
            <a:pPr marL="228600" indent="-22860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Taner kaç kilogram domates almıştır?</a:t>
            </a:r>
          </a:p>
        </p:txBody>
      </p:sp>
      <mc:AlternateContent xmlns:mc="http://schemas.openxmlformats.org/markup-compatibility/2006" xmlns:a14="http://schemas.microsoft.com/office/drawing/2010/main">
        <mc:Choice Requires="a14">
          <p:sp>
            <p:nvSpPr>
              <p:cNvPr id="86" name="Metin kutusu 85">
                <a:extLst>
                  <a:ext uri="{FF2B5EF4-FFF2-40B4-BE49-F238E27FC236}">
                    <a16:creationId xmlns:a16="http://schemas.microsoft.com/office/drawing/2014/main" id="{A58FA874-F23F-4E19-8775-056F42ECA063}"/>
                  </a:ext>
                </a:extLst>
              </p:cNvPr>
              <p:cNvSpPr txBox="1"/>
              <p:nvPr/>
            </p:nvSpPr>
            <p:spPr>
              <a:xfrm>
                <a:off x="3485254" y="483577"/>
                <a:ext cx="3358901" cy="1498424"/>
              </a:xfrm>
              <a:prstGeom prst="rect">
                <a:avLst/>
              </a:prstGeom>
              <a:noFill/>
            </p:spPr>
            <p:txBody>
              <a:bodyPr wrap="square" rtlCol="0">
                <a:spAutoFit/>
              </a:bodyPr>
              <a:lstStyle/>
              <a:p>
                <a:r>
                  <a:rPr lang="tr-TR" sz="1000" b="1" noProof="1">
                    <a:cs typeface="Arial" panose="020B0604020202020204" pitchFamily="34" charset="0"/>
                  </a:rPr>
                  <a:t>Bir gerçel sayı x olmak üzere;  bu sayıyı,</a:t>
                </a:r>
              </a:p>
              <a:p>
                <a:endParaRPr lang="tr-TR" sz="1000" noProof="1">
                  <a:cs typeface="Arial" panose="020B0604020202020204" pitchFamily="34" charset="0"/>
                </a:endParaRPr>
              </a:p>
              <a:p>
                <a:r>
                  <a:rPr lang="tr-TR" sz="1000" noProof="1">
                    <a:cs typeface="Arial" panose="020B0604020202020204" pitchFamily="34" charset="0"/>
                  </a:rPr>
                  <a:t>I. Yarıma böldüğümüzde sayımız </a:t>
                </a:r>
                <a14:m>
                  <m:oMath xmlns:m="http://schemas.openxmlformats.org/officeDocument/2006/math">
                    <m:f>
                      <m:fPr>
                        <m:ctrlPr>
                          <a:rPr lang="tr-TR" sz="1000" i="1" noProof="1" dirty="0" smtClean="0">
                            <a:solidFill>
                              <a:schemeClr val="tx1"/>
                            </a:solidFill>
                            <a:latin typeface="Cambria Math" panose="02040503050406030204" pitchFamily="18" charset="0"/>
                            <a:cs typeface="Arial" panose="020B0604020202020204" pitchFamily="34" charset="0"/>
                          </a:rPr>
                        </m:ctrlPr>
                      </m:fPr>
                      <m:num>
                        <m:r>
                          <a:rPr lang="tr-TR" sz="1000" i="1" noProof="1" dirty="0" smtClean="0">
                            <a:solidFill>
                              <a:schemeClr val="tx1"/>
                            </a:solidFill>
                            <a:latin typeface="Cambria Math"/>
                            <a:cs typeface="Arial" panose="020B0604020202020204" pitchFamily="34" charset="0"/>
                          </a:rPr>
                          <m:t>  </m:t>
                        </m:r>
                        <m:r>
                          <m:rPr>
                            <m:nor/>
                          </m:rPr>
                          <a:rPr lang="tr-TR" sz="1000" b="0" i="0" noProof="1" dirty="0" smtClean="0">
                            <a:solidFill>
                              <a:schemeClr val="tx1"/>
                            </a:solidFill>
                            <a:latin typeface="Helvetica" panose="020B0604020202020204" pitchFamily="34" charset="0"/>
                            <a:cs typeface="Helvetica" panose="020B0604020202020204" pitchFamily="34" charset="0"/>
                          </a:rPr>
                          <m:t>x</m:t>
                        </m:r>
                        <m:r>
                          <a:rPr lang="tr-TR" sz="1000" i="1" noProof="1" dirty="0" smtClean="0">
                            <a:solidFill>
                              <a:schemeClr val="tx1"/>
                            </a:solidFill>
                            <a:latin typeface="Cambria Math"/>
                            <a:cs typeface="Arial" panose="020B0604020202020204" pitchFamily="34" charset="0"/>
                          </a:rPr>
                          <m:t>  </m:t>
                        </m:r>
                      </m:num>
                      <m:den>
                        <m:r>
                          <m:rPr>
                            <m:nor/>
                          </m:rPr>
                          <a:rPr lang="tr-TR" sz="1000" b="0" i="0" noProof="1" dirty="0" smtClean="0">
                            <a:solidFill>
                              <a:schemeClr val="tx1"/>
                            </a:solidFill>
                            <a:latin typeface="Helvetica" panose="020B0604020202020204" pitchFamily="34" charset="0"/>
                            <a:cs typeface="Helvetica" panose="020B0604020202020204" pitchFamily="34" charset="0"/>
                          </a:rPr>
                          <m:t>2</m:t>
                        </m:r>
                      </m:den>
                    </m:f>
                  </m:oMath>
                </a14:m>
                <a:r>
                  <a:rPr lang="tr-TR" sz="1000" noProof="1">
                    <a:cs typeface="Arial" panose="020B0604020202020204" pitchFamily="34" charset="0"/>
                  </a:rPr>
                  <a:t> olur.</a:t>
                </a:r>
              </a:p>
              <a:p>
                <a:r>
                  <a:rPr lang="tr-TR" sz="1000" noProof="1">
                    <a:cs typeface="Arial" panose="020B0604020202020204" pitchFamily="34" charset="0"/>
                  </a:rPr>
                  <a:t>II.  </a:t>
                </a:r>
                <a14:m>
                  <m:oMath xmlns:m="http://schemas.openxmlformats.org/officeDocument/2006/math">
                    <m:f>
                      <m:fPr>
                        <m:ctrlPr>
                          <a:rPr lang="tr-TR" sz="1000" i="1" noProof="1" dirty="0" smtClean="0">
                            <a:solidFill>
                              <a:schemeClr val="tx1"/>
                            </a:solidFill>
                            <a:latin typeface="Cambria Math" panose="02040503050406030204" pitchFamily="18" charset="0"/>
                            <a:cs typeface="Arial" panose="020B0604020202020204" pitchFamily="34" charset="0"/>
                          </a:rPr>
                        </m:ctrlPr>
                      </m:fPr>
                      <m:num>
                        <m:r>
                          <a:rPr lang="tr-TR" sz="1000" i="1" noProof="1" dirty="0" smtClean="0">
                            <a:solidFill>
                              <a:schemeClr val="tx1"/>
                            </a:solidFill>
                            <a:latin typeface="Cambria Math"/>
                            <a:cs typeface="Arial" panose="020B0604020202020204" pitchFamily="34" charset="0"/>
                          </a:rPr>
                          <m:t>  </m:t>
                        </m:r>
                        <m:r>
                          <m:rPr>
                            <m:nor/>
                          </m:rPr>
                          <a:rPr lang="tr-TR" sz="1000" b="0" i="0" noProof="1" dirty="0" smtClean="0">
                            <a:solidFill>
                              <a:schemeClr val="tx1"/>
                            </a:solidFill>
                            <a:latin typeface="Helvetica" panose="020B0604020202020204" pitchFamily="34" charset="0"/>
                            <a:cs typeface="Helvetica" panose="020B0604020202020204" pitchFamily="34" charset="0"/>
                          </a:rPr>
                          <m:t>1</m:t>
                        </m:r>
                        <m:r>
                          <a:rPr lang="tr-TR" sz="1000" i="1" noProof="1" dirty="0" smtClean="0">
                            <a:solidFill>
                              <a:schemeClr val="tx1"/>
                            </a:solidFill>
                            <a:latin typeface="Cambria Math"/>
                            <a:cs typeface="Arial" panose="020B0604020202020204" pitchFamily="34" charset="0"/>
                          </a:rPr>
                          <m:t>  </m:t>
                        </m:r>
                      </m:num>
                      <m:den>
                        <m:r>
                          <m:rPr>
                            <m:nor/>
                          </m:rPr>
                          <a:rPr lang="tr-TR" sz="1000" b="0" i="0" noProof="1" dirty="0" smtClean="0">
                            <a:solidFill>
                              <a:schemeClr val="tx1"/>
                            </a:solidFill>
                            <a:latin typeface="Helvetica" panose="020B0604020202020204" pitchFamily="34" charset="0"/>
                            <a:cs typeface="Helvetica" panose="020B0604020202020204" pitchFamily="34" charset="0"/>
                          </a:rPr>
                          <m:t>2</m:t>
                        </m:r>
                      </m:den>
                    </m:f>
                  </m:oMath>
                </a14:m>
                <a:r>
                  <a:rPr lang="tr-TR" sz="1000" noProof="1">
                    <a:cs typeface="Arial" panose="020B0604020202020204" pitchFamily="34" charset="0"/>
                  </a:rPr>
                  <a:t> `ye çarptığımızda sayımızı yarıma bölmüş oluruz.</a:t>
                </a:r>
              </a:p>
              <a:p>
                <a:r>
                  <a:rPr lang="tr-TR" sz="1000" noProof="1">
                    <a:cs typeface="Arial" panose="020B0604020202020204" pitchFamily="34" charset="0"/>
                  </a:rPr>
                  <a:t>III.   Sayımızın 4 katını alıp sonra çeyreğini çıkardığımızda 3x olur.</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p:txBody>
          </p:sp>
        </mc:Choice>
        <mc:Fallback xmlns="">
          <p:sp>
            <p:nvSpPr>
              <p:cNvPr id="86" name="Metin kutusu 85">
                <a:extLst>
                  <a:ext uri="{FF2B5EF4-FFF2-40B4-BE49-F238E27FC236}">
                    <a16:creationId xmlns:a16="http://schemas.microsoft.com/office/drawing/2014/main" id="{A58FA874-F23F-4E19-8775-056F42ECA063}"/>
                  </a:ext>
                </a:extLst>
              </p:cNvPr>
              <p:cNvSpPr txBox="1">
                <a:spLocks noRot="1" noChangeAspect="1" noMove="1" noResize="1" noEditPoints="1" noAdjustHandles="1" noChangeArrowheads="1" noChangeShapeType="1" noTextEdit="1"/>
              </p:cNvSpPr>
              <p:nvPr/>
            </p:nvSpPr>
            <p:spPr>
              <a:xfrm>
                <a:off x="3485254" y="483577"/>
                <a:ext cx="3358901" cy="1498424"/>
              </a:xfrm>
              <a:prstGeom prst="rect">
                <a:avLst/>
              </a:prstGeom>
              <a:blipFill>
                <a:blip r:embed="rId5"/>
                <a:stretch>
                  <a:fillRect b="-1626"/>
                </a:stretch>
              </a:blipFill>
            </p:spPr>
            <p:txBody>
              <a:bodyPr/>
              <a:lstStyle/>
              <a:p>
                <a:r>
                  <a:rPr lang="tr-TR">
                    <a:noFill/>
                  </a:rPr>
                  <a:t> </a:t>
                </a:r>
              </a:p>
            </p:txBody>
          </p:sp>
        </mc:Fallback>
      </mc:AlternateContent>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466353"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1.D    2.D    3.B    4.A</a:t>
            </a:r>
          </a:p>
        </p:txBody>
      </p:sp>
      <p:sp>
        <p:nvSpPr>
          <p:cNvPr id="59" name="Metin kutusu 58">
            <a:extLst>
              <a:ext uri="{FF2B5EF4-FFF2-40B4-BE49-F238E27FC236}">
                <a16:creationId xmlns:a16="http://schemas.microsoft.com/office/drawing/2014/main" id="{86908D8B-AED4-42EF-BB56-D5A497BD79F1}"/>
              </a:ext>
            </a:extLst>
          </p:cNvPr>
          <p:cNvSpPr txBox="1"/>
          <p:nvPr/>
        </p:nvSpPr>
        <p:spPr>
          <a:xfrm>
            <a:off x="3486668" y="1929575"/>
            <a:ext cx="3217245" cy="553998"/>
          </a:xfrm>
          <a:prstGeom prst="rect">
            <a:avLst/>
          </a:prstGeom>
          <a:noFill/>
        </p:spPr>
        <p:txBody>
          <a:bodyPr wrap="square" rtlCol="0">
            <a:spAutoFit/>
          </a:bodyPr>
          <a:lstStyle/>
          <a:p>
            <a:r>
              <a:rPr lang="tr-TR" sz="1000" dirty="0">
                <a:cs typeface="Arial" panose="020B0604020202020204" pitchFamily="34" charset="0"/>
              </a:rPr>
              <a:t>A) Yalnız II                         B) Yalnız III                          C) II ve III</a:t>
            </a:r>
          </a:p>
          <a:p>
            <a:r>
              <a:rPr lang="tr-TR" sz="1000" dirty="0">
                <a:cs typeface="Arial" panose="020B0604020202020204" pitchFamily="34" charset="0"/>
              </a:rPr>
              <a:t>  </a:t>
            </a:r>
          </a:p>
          <a:p>
            <a:r>
              <a:rPr lang="tr-TR" sz="1000" dirty="0">
                <a:cs typeface="Arial" panose="020B0604020202020204" pitchFamily="34" charset="0"/>
              </a:rPr>
              <a:t>                          D) I ve III                          E) I ve II</a:t>
            </a:r>
          </a:p>
        </p:txBody>
      </p:sp>
      <p:sp>
        <p:nvSpPr>
          <p:cNvPr id="34" name="Metin kutusu 33">
            <a:extLst>
              <a:ext uri="{FF2B5EF4-FFF2-40B4-BE49-F238E27FC236}">
                <a16:creationId xmlns:a16="http://schemas.microsoft.com/office/drawing/2014/main" id="{5337C589-27F2-4D05-B7EE-EE50D57168DD}"/>
              </a:ext>
            </a:extLst>
          </p:cNvPr>
          <p:cNvSpPr txBox="1"/>
          <p:nvPr/>
        </p:nvSpPr>
        <p:spPr>
          <a:xfrm>
            <a:off x="550544" y="5041786"/>
            <a:ext cx="2297841" cy="27699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Nusret :  </a:t>
            </a:r>
            <a:r>
              <a:rPr lang="tr-TR" sz="1200" dirty="0">
                <a:solidFill>
                  <a:schemeClr val="tx1"/>
                </a:solidFill>
              </a:rPr>
              <a:t>3`den </a:t>
            </a:r>
            <a:r>
              <a:rPr lang="tr-TR" sz="1200" noProof="1">
                <a:solidFill>
                  <a:schemeClr val="tx1"/>
                </a:solidFill>
              </a:rPr>
              <a:t>çok</a:t>
            </a:r>
            <a:r>
              <a:rPr lang="tr-TR" sz="1200" dirty="0">
                <a:solidFill>
                  <a:schemeClr val="tx1"/>
                </a:solidFill>
              </a:rPr>
              <a:t> 7`den az</a:t>
            </a:r>
          </a:p>
        </p:txBody>
      </p:sp>
      <p:sp>
        <p:nvSpPr>
          <p:cNvPr id="60" name="Metin kutusu 59">
            <a:extLst>
              <a:ext uri="{FF2B5EF4-FFF2-40B4-BE49-F238E27FC236}">
                <a16:creationId xmlns:a16="http://schemas.microsoft.com/office/drawing/2014/main" id="{42A8BE9C-B55F-4F50-8D29-AADDD2C3425D}"/>
              </a:ext>
            </a:extLst>
          </p:cNvPr>
          <p:cNvSpPr txBox="1"/>
          <p:nvPr/>
        </p:nvSpPr>
        <p:spPr>
          <a:xfrm>
            <a:off x="547577" y="5429304"/>
            <a:ext cx="2297841" cy="276999"/>
          </a:xfrm>
          <a:prstGeom prst="rect">
            <a:avLst/>
          </a:prstGeom>
          <a:solidFill>
            <a:srgbClr val="E3A6CB">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Osman :  </a:t>
            </a:r>
            <a:r>
              <a:rPr lang="tr-TR" sz="1200" dirty="0">
                <a:solidFill>
                  <a:schemeClr val="tx1"/>
                </a:solidFill>
              </a:rPr>
              <a:t>6`dan </a:t>
            </a:r>
            <a:r>
              <a:rPr lang="tr-TR" sz="1200" noProof="1">
                <a:solidFill>
                  <a:schemeClr val="tx1"/>
                </a:solidFill>
              </a:rPr>
              <a:t>çok</a:t>
            </a:r>
            <a:r>
              <a:rPr lang="tr-TR" sz="1200" dirty="0">
                <a:solidFill>
                  <a:schemeClr val="tx1"/>
                </a:solidFill>
              </a:rPr>
              <a:t> 9`dan az</a:t>
            </a:r>
          </a:p>
        </p:txBody>
      </p:sp>
      <p:sp>
        <p:nvSpPr>
          <p:cNvPr id="61" name="Metin kutusu 60">
            <a:extLst>
              <a:ext uri="{FF2B5EF4-FFF2-40B4-BE49-F238E27FC236}">
                <a16:creationId xmlns:a16="http://schemas.microsoft.com/office/drawing/2014/main" id="{F3A86273-4EAA-49CE-9048-E5B57D9497E7}"/>
              </a:ext>
            </a:extLst>
          </p:cNvPr>
          <p:cNvSpPr txBox="1"/>
          <p:nvPr/>
        </p:nvSpPr>
        <p:spPr>
          <a:xfrm>
            <a:off x="548268" y="5816823"/>
            <a:ext cx="2302392" cy="27699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dirty="0">
                <a:solidFill>
                  <a:schemeClr val="tx1"/>
                </a:solidFill>
              </a:rPr>
              <a:t>Mustafa :  </a:t>
            </a:r>
            <a:r>
              <a:rPr lang="tr-TR" sz="1200" dirty="0">
                <a:solidFill>
                  <a:schemeClr val="tx1"/>
                </a:solidFill>
              </a:rPr>
              <a:t>5`den </a:t>
            </a:r>
            <a:r>
              <a:rPr lang="tr-TR" sz="1200" noProof="1">
                <a:solidFill>
                  <a:schemeClr val="tx1"/>
                </a:solidFill>
              </a:rPr>
              <a:t>çok</a:t>
            </a:r>
            <a:r>
              <a:rPr lang="tr-TR" sz="1200" dirty="0">
                <a:solidFill>
                  <a:schemeClr val="tx1"/>
                </a:solidFill>
              </a:rPr>
              <a:t> 10`dan az</a:t>
            </a:r>
          </a:p>
        </p:txBody>
      </p:sp>
      <p:sp>
        <p:nvSpPr>
          <p:cNvPr id="63" name="Metin kutusu 62">
            <a:extLst>
              <a:ext uri="{FF2B5EF4-FFF2-40B4-BE49-F238E27FC236}">
                <a16:creationId xmlns:a16="http://schemas.microsoft.com/office/drawing/2014/main" id="{EF63440E-1254-426B-AB66-D597080FD673}"/>
              </a:ext>
            </a:extLst>
          </p:cNvPr>
          <p:cNvSpPr txBox="1"/>
          <p:nvPr/>
        </p:nvSpPr>
        <p:spPr>
          <a:xfrm>
            <a:off x="550544" y="6216876"/>
            <a:ext cx="2297841" cy="276999"/>
          </a:xfrm>
          <a:prstGeom prst="rect">
            <a:avLst/>
          </a:prstGeom>
          <a:solidFill>
            <a:schemeClr val="accent5">
              <a:lumMod val="75000"/>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200" b="1" noProof="1">
                <a:solidFill>
                  <a:schemeClr val="tx1"/>
                </a:solidFill>
              </a:rPr>
              <a:t>Ulfet :  </a:t>
            </a:r>
            <a:r>
              <a:rPr lang="tr-TR" sz="1200" noProof="1">
                <a:solidFill>
                  <a:schemeClr val="tx1"/>
                </a:solidFill>
              </a:rPr>
              <a:t>7`den çok 11`den az</a:t>
            </a:r>
          </a:p>
        </p:txBody>
      </p:sp>
      <p:sp>
        <p:nvSpPr>
          <p:cNvPr id="35" name="Metin kutusu 34">
            <a:extLst>
              <a:ext uri="{FF2B5EF4-FFF2-40B4-BE49-F238E27FC236}">
                <a16:creationId xmlns:a16="http://schemas.microsoft.com/office/drawing/2014/main" id="{106E3D57-50FA-4258-BB51-D3A18DA21F5B}"/>
              </a:ext>
            </a:extLst>
          </p:cNvPr>
          <p:cNvSpPr txBox="1"/>
          <p:nvPr/>
        </p:nvSpPr>
        <p:spPr>
          <a:xfrm>
            <a:off x="472810" y="4779865"/>
            <a:ext cx="2384147" cy="181588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800" dirty="0"/>
              <a:t>Mesaj Kutusu – Message Box v1.5.5</a:t>
            </a: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br>
              <a:rPr lang="tr-TR" sz="800" dirty="0"/>
            </a:br>
            <a:endParaRPr lang="tr-TR" sz="800" dirty="0"/>
          </a:p>
        </p:txBody>
      </p:sp>
      <p:pic>
        <p:nvPicPr>
          <p:cNvPr id="37" name="Grafik 36">
            <a:extLst>
              <a:ext uri="{FF2B5EF4-FFF2-40B4-BE49-F238E27FC236}">
                <a16:creationId xmlns:a16="http://schemas.microsoft.com/office/drawing/2014/main" id="{24C70DE5-9BAF-4A53-AEFD-CAD9C77539F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747" y="4532271"/>
            <a:ext cx="144097" cy="144097"/>
          </a:xfrm>
          <a:prstGeom prst="rect">
            <a:avLst/>
          </a:prstGeom>
        </p:spPr>
      </p:pic>
      <p:pic>
        <p:nvPicPr>
          <p:cNvPr id="39" name="Grafik 38">
            <a:extLst>
              <a:ext uri="{FF2B5EF4-FFF2-40B4-BE49-F238E27FC236}">
                <a16:creationId xmlns:a16="http://schemas.microsoft.com/office/drawing/2014/main" id="{5C2A6476-A075-4144-AB94-1C55C173F7FD}"/>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2918" y="4531213"/>
            <a:ext cx="144097" cy="144097"/>
          </a:xfrm>
          <a:prstGeom prst="rect">
            <a:avLst/>
          </a:prstGeom>
        </p:spPr>
      </p:pic>
      <p:pic>
        <p:nvPicPr>
          <p:cNvPr id="41" name="Grafik 40">
            <a:extLst>
              <a:ext uri="{FF2B5EF4-FFF2-40B4-BE49-F238E27FC236}">
                <a16:creationId xmlns:a16="http://schemas.microsoft.com/office/drawing/2014/main" id="{C11F946B-3585-45D6-A56D-D1CA390E68F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8060" y="4523658"/>
            <a:ext cx="178370" cy="178370"/>
          </a:xfrm>
          <a:prstGeom prst="rect">
            <a:avLst/>
          </a:prstGeom>
        </p:spPr>
      </p:pic>
      <p:pic>
        <p:nvPicPr>
          <p:cNvPr id="48" name="Grafik 47">
            <a:extLst>
              <a:ext uri="{FF2B5EF4-FFF2-40B4-BE49-F238E27FC236}">
                <a16:creationId xmlns:a16="http://schemas.microsoft.com/office/drawing/2014/main" id="{D9D5E69E-45E0-4035-AB73-AAC5E9FB014C}"/>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99827" y="4533382"/>
            <a:ext cx="162295" cy="162295"/>
          </a:xfrm>
          <a:prstGeom prst="rect">
            <a:avLst/>
          </a:prstGeom>
        </p:spPr>
      </p:pic>
      <p:pic>
        <p:nvPicPr>
          <p:cNvPr id="65" name="Grafik 64">
            <a:extLst>
              <a:ext uri="{FF2B5EF4-FFF2-40B4-BE49-F238E27FC236}">
                <a16:creationId xmlns:a16="http://schemas.microsoft.com/office/drawing/2014/main" id="{3750EC10-D326-4946-A096-A74DA6EBF201}"/>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279361" y="4543749"/>
            <a:ext cx="151180" cy="151180"/>
          </a:xfrm>
          <a:prstGeom prst="rect">
            <a:avLst/>
          </a:prstGeom>
        </p:spPr>
      </p:pic>
      <p:pic>
        <p:nvPicPr>
          <p:cNvPr id="67" name="Grafik 66">
            <a:extLst>
              <a:ext uri="{FF2B5EF4-FFF2-40B4-BE49-F238E27FC236}">
                <a16:creationId xmlns:a16="http://schemas.microsoft.com/office/drawing/2014/main" id="{CE2D2F69-7076-4D38-B153-1B7379EB281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461486" y="4561955"/>
            <a:ext cx="134617" cy="134617"/>
          </a:xfrm>
          <a:prstGeom prst="rect">
            <a:avLst/>
          </a:prstGeom>
        </p:spPr>
      </p:pic>
      <p:pic>
        <p:nvPicPr>
          <p:cNvPr id="69" name="Grafik 68">
            <a:extLst>
              <a:ext uri="{FF2B5EF4-FFF2-40B4-BE49-F238E27FC236}">
                <a16:creationId xmlns:a16="http://schemas.microsoft.com/office/drawing/2014/main" id="{870E82AE-1E71-4A9E-BAB9-183A837BC536}"/>
              </a:ext>
            </a:extLst>
          </p:cNvPr>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0906" y="4517577"/>
            <a:ext cx="223373" cy="223373"/>
          </a:xfrm>
          <a:prstGeom prst="rect">
            <a:avLst/>
          </a:prstGeom>
        </p:spPr>
      </p:pic>
      <p:pic>
        <p:nvPicPr>
          <p:cNvPr id="71" name="Grafik 70">
            <a:extLst>
              <a:ext uri="{FF2B5EF4-FFF2-40B4-BE49-F238E27FC236}">
                <a16:creationId xmlns:a16="http://schemas.microsoft.com/office/drawing/2014/main" id="{2F33A6E1-5A25-4982-8E45-1BA83D9A6BD6}"/>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345224" y="4540128"/>
            <a:ext cx="158422" cy="158422"/>
          </a:xfrm>
          <a:prstGeom prst="rect">
            <a:avLst/>
          </a:prstGeom>
        </p:spPr>
      </p:pic>
      <p:pic>
        <p:nvPicPr>
          <p:cNvPr id="73" name="Grafik 72">
            <a:extLst>
              <a:ext uri="{FF2B5EF4-FFF2-40B4-BE49-F238E27FC236}">
                <a16:creationId xmlns:a16="http://schemas.microsoft.com/office/drawing/2014/main" id="{1F264143-6D9E-4934-9A32-7564EC79002B}"/>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625374" y="4537346"/>
            <a:ext cx="179986" cy="179986"/>
          </a:xfrm>
          <a:prstGeom prst="rect">
            <a:avLst/>
          </a:prstGeom>
        </p:spPr>
      </p:pic>
      <mc:AlternateContent xmlns:mc="http://schemas.openxmlformats.org/markup-compatibility/2006" xmlns:a14="http://schemas.microsoft.com/office/drawing/2010/main">
        <mc:Choice Requires="a14">
          <p:sp>
            <p:nvSpPr>
              <p:cNvPr id="79" name="Metin kutusu 78">
                <a:extLst>
                  <a:ext uri="{FF2B5EF4-FFF2-40B4-BE49-F238E27FC236}">
                    <a16:creationId xmlns:a16="http://schemas.microsoft.com/office/drawing/2014/main" id="{942B98E4-23D9-4CB2-8978-87C641B5EE2C}"/>
                  </a:ext>
                </a:extLst>
              </p:cNvPr>
              <p:cNvSpPr txBox="1"/>
              <p:nvPr/>
            </p:nvSpPr>
            <p:spPr>
              <a:xfrm>
                <a:off x="2445763" y="4473463"/>
                <a:ext cx="502169" cy="230832"/>
              </a:xfrm>
              <a:prstGeom prst="rect">
                <a:avLst/>
              </a:prstGeom>
              <a:noFill/>
            </p:spPr>
            <p:txBody>
              <a:bodyPr wrap="square" rtlCol="0">
                <a:spAutoFit/>
              </a:bodyPr>
              <a:lstStyle/>
              <a:p>
                <a:r>
                  <a:rPr lang="tr-TR" sz="900" b="1" noProof="1"/>
                  <a:t>19:3</a:t>
                </a:r>
                <a14:m>
                  <m:oMath xmlns:m="http://schemas.openxmlformats.org/officeDocument/2006/math">
                    <m:r>
                      <a:rPr lang="tr-TR" sz="900" b="1" i="1" noProof="1" smtClean="0">
                        <a:latin typeface="Cambria Math" panose="02040503050406030204" pitchFamily="18" charset="0"/>
                      </a:rPr>
                      <m:t>∝</m:t>
                    </m:r>
                  </m:oMath>
                </a14:m>
                <a:endParaRPr lang="tr-TR" sz="900" b="1" noProof="1"/>
              </a:p>
            </p:txBody>
          </p:sp>
        </mc:Choice>
        <mc:Fallback xmlns="">
          <p:sp>
            <p:nvSpPr>
              <p:cNvPr id="79" name="Metin kutusu 78">
                <a:extLst>
                  <a:ext uri="{FF2B5EF4-FFF2-40B4-BE49-F238E27FC236}">
                    <a16:creationId xmlns:a16="http://schemas.microsoft.com/office/drawing/2014/main" id="{942B98E4-23D9-4CB2-8978-87C641B5EE2C}"/>
                  </a:ext>
                </a:extLst>
              </p:cNvPr>
              <p:cNvSpPr txBox="1">
                <a:spLocks noRot="1" noChangeAspect="1" noMove="1" noResize="1" noEditPoints="1" noAdjustHandles="1" noChangeArrowheads="1" noChangeShapeType="1" noTextEdit="1"/>
              </p:cNvSpPr>
              <p:nvPr/>
            </p:nvSpPr>
            <p:spPr>
              <a:xfrm>
                <a:off x="2445763" y="4473463"/>
                <a:ext cx="502169" cy="230832"/>
              </a:xfrm>
              <a:prstGeom prst="rect">
                <a:avLst/>
              </a:prstGeom>
              <a:blipFill>
                <a:blip r:embed="rId24"/>
                <a:stretch>
                  <a:fillRect b="-10526"/>
                </a:stretch>
              </a:blipFill>
            </p:spPr>
            <p:txBody>
              <a:bodyPr/>
              <a:lstStyle/>
              <a:p>
                <a:r>
                  <a:rPr lang="tr-TR">
                    <a:noFill/>
                  </a:rPr>
                  <a:t> </a:t>
                </a:r>
              </a:p>
            </p:txBody>
          </p:sp>
        </mc:Fallback>
      </mc:AlternateContent>
      <p:sp>
        <p:nvSpPr>
          <p:cNvPr id="80" name="Metin kutusu 79">
            <a:extLst>
              <a:ext uri="{FF2B5EF4-FFF2-40B4-BE49-F238E27FC236}">
                <a16:creationId xmlns:a16="http://schemas.microsoft.com/office/drawing/2014/main" id="{5580D7FE-B5E6-4290-898B-5652E3F5F488}"/>
              </a:ext>
            </a:extLst>
          </p:cNvPr>
          <p:cNvSpPr txBox="1"/>
          <p:nvPr/>
        </p:nvSpPr>
        <p:spPr>
          <a:xfrm>
            <a:off x="26350" y="7033951"/>
            <a:ext cx="3438782" cy="400110"/>
          </a:xfrm>
          <a:prstGeom prst="rect">
            <a:avLst/>
          </a:prstGeom>
          <a:noFill/>
        </p:spPr>
        <p:txBody>
          <a:bodyPr wrap="square" rtlCol="0">
            <a:spAutoFit/>
          </a:bodyPr>
          <a:lstStyle/>
          <a:p>
            <a:r>
              <a:rPr lang="tr-TR" sz="1000" b="1" noProof="1"/>
              <a:t>Kemal`in telefonuna gelen mesajlardan yalnızca birisi yanlış bilgi olduğuna göre mesajlarda bahsi geçen sayı kaç olabilir?</a:t>
            </a:r>
          </a:p>
        </p:txBody>
      </p:sp>
      <p:pic>
        <p:nvPicPr>
          <p:cNvPr id="75" name="Grafik 74">
            <a:extLst>
              <a:ext uri="{FF2B5EF4-FFF2-40B4-BE49-F238E27FC236}">
                <a16:creationId xmlns:a16="http://schemas.microsoft.com/office/drawing/2014/main" id="{6AF58F39-72FD-418A-96A4-F4AF1FD63C3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833863" y="4514198"/>
            <a:ext cx="222485" cy="222485"/>
          </a:xfrm>
          <a:prstGeom prst="rect">
            <a:avLst/>
          </a:prstGeom>
        </p:spPr>
      </p:pic>
      <p:sp>
        <p:nvSpPr>
          <p:cNvPr id="89" name="Metin kutusu 88">
            <a:extLst>
              <a:ext uri="{FF2B5EF4-FFF2-40B4-BE49-F238E27FC236}">
                <a16:creationId xmlns:a16="http://schemas.microsoft.com/office/drawing/2014/main" id="{BF629235-410A-460A-B391-D0F411518F0C}"/>
              </a:ext>
            </a:extLst>
          </p:cNvPr>
          <p:cNvSpPr txBox="1"/>
          <p:nvPr/>
        </p:nvSpPr>
        <p:spPr>
          <a:xfrm>
            <a:off x="13505" y="7391305"/>
            <a:ext cx="3359093" cy="553998"/>
          </a:xfrm>
          <a:prstGeom prst="rect">
            <a:avLst/>
          </a:prstGeom>
          <a:noFill/>
        </p:spPr>
        <p:txBody>
          <a:bodyPr wrap="square" rtlCol="0">
            <a:spAutoFit/>
          </a:bodyPr>
          <a:lstStyle/>
          <a:p>
            <a:r>
              <a:rPr lang="tr-TR" sz="1000" noProof="1"/>
              <a:t>A) 5                                           B) 6                                           C) 7</a:t>
            </a:r>
          </a:p>
          <a:p>
            <a:pPr marL="228600" indent="-228600">
              <a:buAutoNum type="alphaUcParenR"/>
            </a:pPr>
            <a:endParaRPr lang="tr-TR" sz="1000" noProof="1"/>
          </a:p>
          <a:p>
            <a:r>
              <a:rPr lang="tr-TR" sz="1000" noProof="1"/>
              <a:t>                      D) 8                                        E) 10</a:t>
            </a:r>
          </a:p>
        </p:txBody>
      </p:sp>
      <p:pic>
        <p:nvPicPr>
          <p:cNvPr id="95" name="Grafik 94">
            <a:extLst>
              <a:ext uri="{FF2B5EF4-FFF2-40B4-BE49-F238E27FC236}">
                <a16:creationId xmlns:a16="http://schemas.microsoft.com/office/drawing/2014/main" id="{36E6CA09-46CE-493F-8B14-9EF42DCF276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19472" y="4224802"/>
            <a:ext cx="5025049" cy="2809149"/>
          </a:xfrm>
          <a:prstGeom prst="rect">
            <a:avLst/>
          </a:prstGeom>
        </p:spPr>
      </p:pic>
      <p:sp>
        <p:nvSpPr>
          <p:cNvPr id="119" name="Metin kutusu 118">
            <a:extLst>
              <a:ext uri="{FF2B5EF4-FFF2-40B4-BE49-F238E27FC236}">
                <a16:creationId xmlns:a16="http://schemas.microsoft.com/office/drawing/2014/main" id="{6D745271-C86B-4F87-ABE1-9A31979F890B}"/>
              </a:ext>
            </a:extLst>
          </p:cNvPr>
          <p:cNvSpPr txBox="1"/>
          <p:nvPr/>
        </p:nvSpPr>
        <p:spPr>
          <a:xfrm>
            <a:off x="3542050" y="4675310"/>
            <a:ext cx="3349576" cy="1631216"/>
          </a:xfrm>
          <a:prstGeom prst="rect">
            <a:avLst/>
          </a:prstGeom>
          <a:noFill/>
        </p:spPr>
        <p:txBody>
          <a:bodyPr wrap="square" rtlCol="0">
            <a:spAutoFit/>
          </a:bodyPr>
          <a:lstStyle/>
          <a:p>
            <a:r>
              <a:rPr lang="tr-TR" sz="1000" noProof="1">
                <a:cs typeface="Arial" panose="020B0604020202020204" pitchFamily="34" charset="0"/>
              </a:rPr>
              <a:t>Atölyesi olan Zeki Bey, üretim gücünü daha iyileştirmek için elindeki A makinelerini 4 makineleriyle takas edecektir. </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4 adet A makinesi bir adet B makinesi fiyatıdır.</a:t>
            </a:r>
          </a:p>
          <a:p>
            <a:pPr marL="171450" indent="-171450">
              <a:buFont typeface="Arial" panose="020B0604020202020204" pitchFamily="34" charset="0"/>
              <a:buChar char="•"/>
            </a:pPr>
            <a:r>
              <a:rPr lang="tr-TR" sz="1000" noProof="1">
                <a:cs typeface="Arial" panose="020B0604020202020204" pitchFamily="34" charset="0"/>
              </a:rPr>
              <a:t>Zeki Bey toplam 36 tane A makinesini takasta kullanmıştır.</a:t>
            </a:r>
          </a:p>
          <a:p>
            <a:pPr marL="171450" indent="-171450">
              <a:buFont typeface="Arial" panose="020B0604020202020204" pitchFamily="34" charset="0"/>
              <a:buChar char="•"/>
            </a:pPr>
            <a:r>
              <a:rPr lang="tr-TR" sz="1000" noProof="1">
                <a:cs typeface="Arial" panose="020B0604020202020204" pitchFamily="34" charset="0"/>
              </a:rPr>
              <a:t>Takas sonucu atölyedeki makinelerin finansal değeri 27000 TL artmıştır.</a:t>
            </a:r>
          </a:p>
          <a:p>
            <a:pPr marL="171450" indent="-171450">
              <a:buFont typeface="Arial" panose="020B0604020202020204" pitchFamily="34" charset="0"/>
              <a:buChar char="•"/>
            </a:pPr>
            <a:r>
              <a:rPr lang="tr-TR" sz="1000" noProof="1">
                <a:cs typeface="Arial" panose="020B0604020202020204" pitchFamily="34" charset="0"/>
              </a:rPr>
              <a:t>B makinelerin finansal değeri 6000 TL dir. </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bir tane A makinesi kaç bin TL dir?</a:t>
            </a:r>
          </a:p>
        </p:txBody>
      </p:sp>
      <mc:AlternateContent xmlns:mc="http://schemas.openxmlformats.org/markup-compatibility/2006" xmlns:a14="http://schemas.microsoft.com/office/drawing/2010/main">
        <mc:Choice Requires="a14">
          <p:sp>
            <p:nvSpPr>
              <p:cNvPr id="64" name="Metin kutusu 63">
                <a:extLst>
                  <a:ext uri="{FF2B5EF4-FFF2-40B4-BE49-F238E27FC236}">
                    <a16:creationId xmlns:a16="http://schemas.microsoft.com/office/drawing/2014/main" id="{3C02198A-B85A-4D0E-A5FC-895410DF4C94}"/>
                  </a:ext>
                </a:extLst>
              </p:cNvPr>
              <p:cNvSpPr txBox="1"/>
              <p:nvPr/>
            </p:nvSpPr>
            <p:spPr>
              <a:xfrm>
                <a:off x="3553139" y="6247102"/>
                <a:ext cx="3362533" cy="622093"/>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3 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3 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C) </a:t>
                </a:r>
                <a:r>
                  <a:rPr lang="tr-TR" sz="1000" noProof="1"/>
                  <a:t>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m:t>
                        </m:r>
                        <m:r>
                          <m:rPr>
                            <m:nor/>
                          </m:rPr>
                          <a:rPr lang="tr-TR" sz="800" noProof="1">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noProof="1">
                            <a:latin typeface="Helvetica" panose="020B0604020202020204" pitchFamily="34" charset="0"/>
                            <a:cs typeface="Helvetica" panose="020B0604020202020204" pitchFamily="34" charset="0"/>
                          </a:rPr>
                          <m:t>2</m:t>
                        </m:r>
                      </m:den>
                    </m:f>
                  </m:oMath>
                </a14:m>
                <a:endParaRPr lang="tr-TR" sz="800" noProof="1"/>
              </a:p>
              <a:p>
                <a:br>
                  <a:rPr lang="tr-TR" sz="8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7 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19</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64" name="Metin kutusu 63">
                <a:extLst>
                  <a:ext uri="{FF2B5EF4-FFF2-40B4-BE49-F238E27FC236}">
                    <a16:creationId xmlns:a16="http://schemas.microsoft.com/office/drawing/2014/main" id="{3C02198A-B85A-4D0E-A5FC-895410DF4C94}"/>
                  </a:ext>
                </a:extLst>
              </p:cNvPr>
              <p:cNvSpPr txBox="1">
                <a:spLocks noRot="1" noChangeAspect="1" noMove="1" noResize="1" noEditPoints="1" noAdjustHandles="1" noChangeArrowheads="1" noChangeShapeType="1" noTextEdit="1"/>
              </p:cNvSpPr>
              <p:nvPr/>
            </p:nvSpPr>
            <p:spPr>
              <a:xfrm>
                <a:off x="3553139" y="6247102"/>
                <a:ext cx="3362533" cy="622093"/>
              </a:xfrm>
              <a:prstGeom prst="rect">
                <a:avLst/>
              </a:prstGeom>
              <a:blipFill>
                <a:blip r:embed="rId29"/>
                <a:stretch>
                  <a:fillRect b="-980"/>
                </a:stretch>
              </a:blipFill>
            </p:spPr>
            <p:txBody>
              <a:bodyPr/>
              <a:lstStyle/>
              <a:p>
                <a:r>
                  <a:rPr lang="tr-TR">
                    <a:noFill/>
                  </a:rPr>
                  <a:t> </a:t>
                </a:r>
              </a:p>
            </p:txBody>
          </p:sp>
        </mc:Fallback>
      </mc:AlternateContent>
    </p:spTree>
    <p:extLst>
      <p:ext uri="{BB962C8B-B14F-4D97-AF65-F5344CB8AC3E}">
        <p14:creationId xmlns:p14="http://schemas.microsoft.com/office/powerpoint/2010/main" val="38911537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9171" y="439718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98507" y="3365820"/>
            <a:ext cx="3336309" cy="1323439"/>
          </a:xfrm>
          <a:prstGeom prst="rect">
            <a:avLst/>
          </a:prstGeom>
          <a:noFill/>
        </p:spPr>
        <p:txBody>
          <a:bodyPr wrap="square" rtlCol="0">
            <a:spAutoFit/>
          </a:bodyPr>
          <a:lstStyle/>
          <a:p>
            <a:r>
              <a:rPr lang="tr-TR" sz="1000" noProof="1">
                <a:cs typeface="Arial" panose="020B0604020202020204" pitchFamily="34" charset="0"/>
              </a:rPr>
              <a:t>Bilgisayar, telefon ve tablet satışı yapan bir mağaza satışları arttırmak için yukarıdaki posterde belirtildiği gibi kampanya düzenlemiştir. Mağazaya gelen müşterilerin her biri yalnızda bir ürüne para vermiştir. Mağazanın sadece kampanya yapıldığı gün bilgisayar, tablet ve telefonda sırasıyla 19,43,28 azalma olduğu tespit edilmiştir. </a:t>
            </a:r>
          </a:p>
          <a:p>
            <a:endParaRPr lang="tr-TR" sz="1000" noProof="1">
              <a:cs typeface="Arial" panose="020B0604020202020204" pitchFamily="34" charset="0"/>
            </a:endParaRPr>
          </a:p>
          <a:p>
            <a:r>
              <a:rPr lang="tr-TR" sz="1000" b="1" noProof="1">
                <a:cs typeface="Arial" panose="020B0604020202020204" pitchFamily="34" charset="0"/>
              </a:rPr>
              <a:t>Kampanya günü alışveriş yapan kaç adet müşteri vardır? </a:t>
            </a:r>
            <a:endParaRPr lang="tr-TR" sz="1000" noProof="1">
              <a:cs typeface="Arial" panose="020B0604020202020204" pitchFamily="34" charset="0"/>
            </a:endParaRP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76522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5.C    6.B    7.X    8.X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2" name="Dikdörtgen 1">
            <a:extLst>
              <a:ext uri="{FF2B5EF4-FFF2-40B4-BE49-F238E27FC236}">
                <a16:creationId xmlns:a16="http://schemas.microsoft.com/office/drawing/2014/main" id="{CBCE7C45-91A6-4575-B2B4-C69EB2B63582}"/>
              </a:ext>
            </a:extLst>
          </p:cNvPr>
          <p:cNvSpPr/>
          <p:nvPr/>
        </p:nvSpPr>
        <p:spPr>
          <a:xfrm>
            <a:off x="201086" y="1104365"/>
            <a:ext cx="1403340" cy="2281290"/>
          </a:xfrm>
          <a:prstGeom prst="rect">
            <a:avLst/>
          </a:prstGeom>
          <a:solidFill>
            <a:srgbClr val="ACD7C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37" name="Dikdörtgen 36">
            <a:extLst>
              <a:ext uri="{FF2B5EF4-FFF2-40B4-BE49-F238E27FC236}">
                <a16:creationId xmlns:a16="http://schemas.microsoft.com/office/drawing/2014/main" id="{FEBE0A32-5E98-4B3A-9B1D-BBC11EE0782C}"/>
              </a:ext>
            </a:extLst>
          </p:cNvPr>
          <p:cNvSpPr/>
          <p:nvPr/>
        </p:nvSpPr>
        <p:spPr>
          <a:xfrm>
            <a:off x="1811998" y="1111179"/>
            <a:ext cx="1403341" cy="2293576"/>
          </a:xfrm>
          <a:prstGeom prst="rect">
            <a:avLst/>
          </a:prstGeom>
          <a:solidFill>
            <a:srgbClr val="ACD7C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pic>
        <p:nvPicPr>
          <p:cNvPr id="8" name="Grafik 7">
            <a:extLst>
              <a:ext uri="{FF2B5EF4-FFF2-40B4-BE49-F238E27FC236}">
                <a16:creationId xmlns:a16="http://schemas.microsoft.com/office/drawing/2014/main" id="{302DC1BD-1C29-4457-9D15-C6CBB484CD4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0952" y="1961075"/>
            <a:ext cx="1140303" cy="981531"/>
          </a:xfrm>
          <a:prstGeom prst="rect">
            <a:avLst/>
          </a:prstGeom>
        </p:spPr>
      </p:pic>
      <p:pic>
        <p:nvPicPr>
          <p:cNvPr id="15" name="Grafik 14">
            <a:extLst>
              <a:ext uri="{FF2B5EF4-FFF2-40B4-BE49-F238E27FC236}">
                <a16:creationId xmlns:a16="http://schemas.microsoft.com/office/drawing/2014/main" id="{6EC1E653-F70F-4CA5-9BA3-ECBC504827D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82444" y="1917105"/>
            <a:ext cx="1152128" cy="1025501"/>
          </a:xfrm>
          <a:prstGeom prst="rect">
            <a:avLst/>
          </a:prstGeom>
        </p:spPr>
      </p:pic>
      <p:pic>
        <p:nvPicPr>
          <p:cNvPr id="21" name="Resim 20">
            <a:extLst>
              <a:ext uri="{FF2B5EF4-FFF2-40B4-BE49-F238E27FC236}">
                <a16:creationId xmlns:a16="http://schemas.microsoft.com/office/drawing/2014/main" id="{0DF84815-D8B3-4C4F-A2D4-6D3F2BBAA48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30516" y="2771908"/>
            <a:ext cx="183430" cy="103179"/>
          </a:xfrm>
          <a:prstGeom prst="rect">
            <a:avLst/>
          </a:prstGeom>
        </p:spPr>
      </p:pic>
      <p:sp>
        <p:nvSpPr>
          <p:cNvPr id="27" name="Dikdörtgen: Katlanmış Köşe 26">
            <a:extLst>
              <a:ext uri="{FF2B5EF4-FFF2-40B4-BE49-F238E27FC236}">
                <a16:creationId xmlns:a16="http://schemas.microsoft.com/office/drawing/2014/main" id="{22BADC7F-73C5-4C53-A2C4-2D71DD99EA28}"/>
              </a:ext>
            </a:extLst>
          </p:cNvPr>
          <p:cNvSpPr/>
          <p:nvPr/>
        </p:nvSpPr>
        <p:spPr>
          <a:xfrm>
            <a:off x="319149" y="1131453"/>
            <a:ext cx="1130710" cy="228071"/>
          </a:xfrm>
          <a:prstGeom prst="foldedCorner">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solidFill>
                  <a:schemeClr val="tx1"/>
                </a:solidFill>
              </a:rPr>
              <a:t>9999 TL</a:t>
            </a:r>
          </a:p>
        </p:txBody>
      </p:sp>
      <p:sp>
        <p:nvSpPr>
          <p:cNvPr id="53" name="Dikdörtgen: Katlanmış Köşe 52">
            <a:extLst>
              <a:ext uri="{FF2B5EF4-FFF2-40B4-BE49-F238E27FC236}">
                <a16:creationId xmlns:a16="http://schemas.microsoft.com/office/drawing/2014/main" id="{90B8DDCD-9DA1-47F4-864D-162DEAA6D123}"/>
              </a:ext>
            </a:extLst>
          </p:cNvPr>
          <p:cNvSpPr/>
          <p:nvPr/>
        </p:nvSpPr>
        <p:spPr>
          <a:xfrm>
            <a:off x="1910844" y="1135643"/>
            <a:ext cx="1130710" cy="228071"/>
          </a:xfrm>
          <a:prstGeom prst="foldedCorner">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dirty="0">
                <a:solidFill>
                  <a:schemeClr val="tx1"/>
                </a:solidFill>
              </a:rPr>
              <a:t>3999 TL</a:t>
            </a:r>
          </a:p>
        </p:txBody>
      </p:sp>
      <p:sp>
        <p:nvSpPr>
          <p:cNvPr id="55" name="Dikdörtgen: Katlanmış Köşe 54">
            <a:extLst>
              <a:ext uri="{FF2B5EF4-FFF2-40B4-BE49-F238E27FC236}">
                <a16:creationId xmlns:a16="http://schemas.microsoft.com/office/drawing/2014/main" id="{11A7952B-FE9C-4EBD-BC99-DF54E903BCAB}"/>
              </a:ext>
            </a:extLst>
          </p:cNvPr>
          <p:cNvSpPr/>
          <p:nvPr/>
        </p:nvSpPr>
        <p:spPr>
          <a:xfrm>
            <a:off x="257753" y="2985007"/>
            <a:ext cx="1301451" cy="364785"/>
          </a:xfrm>
          <a:prstGeom prst="foldedCorner">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Bilgisayar alana telefon hediye!</a:t>
            </a:r>
          </a:p>
        </p:txBody>
      </p:sp>
      <p:pic>
        <p:nvPicPr>
          <p:cNvPr id="56" name="Resim 55">
            <a:extLst>
              <a:ext uri="{FF2B5EF4-FFF2-40B4-BE49-F238E27FC236}">
                <a16:creationId xmlns:a16="http://schemas.microsoft.com/office/drawing/2014/main" id="{156A64C0-CF30-41CD-A19E-CA62112F9A6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4592" y="2751013"/>
            <a:ext cx="183430" cy="103179"/>
          </a:xfrm>
          <a:prstGeom prst="rect">
            <a:avLst/>
          </a:prstGeom>
        </p:spPr>
      </p:pic>
      <p:pic>
        <p:nvPicPr>
          <p:cNvPr id="31" name="Grafik 30">
            <a:extLst>
              <a:ext uri="{FF2B5EF4-FFF2-40B4-BE49-F238E27FC236}">
                <a16:creationId xmlns:a16="http://schemas.microsoft.com/office/drawing/2014/main" id="{209ECDBB-E2BD-4C22-A345-0F599D4895C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8431" y="1883507"/>
            <a:ext cx="1113231" cy="751864"/>
          </a:xfrm>
          <a:prstGeom prst="rect">
            <a:avLst/>
          </a:prstGeom>
        </p:spPr>
      </p:pic>
      <p:sp>
        <p:nvSpPr>
          <p:cNvPr id="32" name="Dikdörtgen 31">
            <a:extLst>
              <a:ext uri="{FF2B5EF4-FFF2-40B4-BE49-F238E27FC236}">
                <a16:creationId xmlns:a16="http://schemas.microsoft.com/office/drawing/2014/main" id="{1AAD0723-BBA2-40D5-A236-1E5B9B9872C5}"/>
              </a:ext>
            </a:extLst>
          </p:cNvPr>
          <p:cNvSpPr/>
          <p:nvPr/>
        </p:nvSpPr>
        <p:spPr>
          <a:xfrm>
            <a:off x="541861" y="2153998"/>
            <a:ext cx="726826" cy="298828"/>
          </a:xfrm>
          <a:prstGeom prst="rect">
            <a:avLst/>
          </a:prstGeom>
          <a:solidFill>
            <a:srgbClr val="32BEA6"/>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7" name="Dikdörtgen 56">
            <a:extLst>
              <a:ext uri="{FF2B5EF4-FFF2-40B4-BE49-F238E27FC236}">
                <a16:creationId xmlns:a16="http://schemas.microsoft.com/office/drawing/2014/main" id="{EFD97669-65CA-466D-8B9B-A49B388A6C45}"/>
              </a:ext>
            </a:extLst>
          </p:cNvPr>
          <p:cNvSpPr/>
          <p:nvPr/>
        </p:nvSpPr>
        <p:spPr>
          <a:xfrm>
            <a:off x="794559" y="1966926"/>
            <a:ext cx="573480" cy="57160"/>
          </a:xfrm>
          <a:prstGeom prst="rect">
            <a:avLst/>
          </a:prstGeom>
          <a:solidFill>
            <a:srgbClr val="FFFFFF"/>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0" name="Dikdörtgen: Katlanmış Köşe 59">
            <a:extLst>
              <a:ext uri="{FF2B5EF4-FFF2-40B4-BE49-F238E27FC236}">
                <a16:creationId xmlns:a16="http://schemas.microsoft.com/office/drawing/2014/main" id="{610B18F6-2441-4A13-9F15-521F51EAF892}"/>
              </a:ext>
            </a:extLst>
          </p:cNvPr>
          <p:cNvSpPr/>
          <p:nvPr/>
        </p:nvSpPr>
        <p:spPr>
          <a:xfrm>
            <a:off x="1811528" y="2989708"/>
            <a:ext cx="1301451" cy="364785"/>
          </a:xfrm>
          <a:prstGeom prst="foldedCorner">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Telefon alana tablet</a:t>
            </a:r>
          </a:p>
          <a:p>
            <a:pPr algn="ctr"/>
            <a:r>
              <a:rPr lang="tr-TR" sz="1000" dirty="0">
                <a:solidFill>
                  <a:schemeClr val="tx1"/>
                </a:solidFill>
              </a:rPr>
              <a:t>Hediye! </a:t>
            </a:r>
          </a:p>
        </p:txBody>
      </p:sp>
      <p:sp>
        <p:nvSpPr>
          <p:cNvPr id="61" name="Metin kutusu 60">
            <a:extLst>
              <a:ext uri="{FF2B5EF4-FFF2-40B4-BE49-F238E27FC236}">
                <a16:creationId xmlns:a16="http://schemas.microsoft.com/office/drawing/2014/main" id="{88F3FF83-4726-44DB-A659-4EC0696E409F}"/>
              </a:ext>
            </a:extLst>
          </p:cNvPr>
          <p:cNvSpPr txBox="1"/>
          <p:nvPr/>
        </p:nvSpPr>
        <p:spPr>
          <a:xfrm>
            <a:off x="687072" y="1906214"/>
            <a:ext cx="797018" cy="184666"/>
          </a:xfrm>
          <a:prstGeom prst="rect">
            <a:avLst/>
          </a:prstGeom>
          <a:noFill/>
        </p:spPr>
        <p:txBody>
          <a:bodyPr wrap="square" rtlCol="0">
            <a:spAutoFit/>
          </a:bodyPr>
          <a:lstStyle/>
          <a:p>
            <a:r>
              <a:rPr lang="tr-TR" sz="600" noProof="1">
                <a:latin typeface="+mj-lt"/>
                <a:cs typeface="Arial" panose="020B0604020202020204" pitchFamily="34" charset="0"/>
              </a:rPr>
              <a:t>ahmetcelen.com.tr</a:t>
            </a:r>
          </a:p>
        </p:txBody>
      </p:sp>
      <p:sp>
        <p:nvSpPr>
          <p:cNvPr id="35" name="Bulut 34">
            <a:extLst>
              <a:ext uri="{FF2B5EF4-FFF2-40B4-BE49-F238E27FC236}">
                <a16:creationId xmlns:a16="http://schemas.microsoft.com/office/drawing/2014/main" id="{7D335116-30A8-4B5D-911B-6ED5C0D25C0A}"/>
              </a:ext>
            </a:extLst>
          </p:cNvPr>
          <p:cNvSpPr/>
          <p:nvPr/>
        </p:nvSpPr>
        <p:spPr>
          <a:xfrm>
            <a:off x="355042" y="1413745"/>
            <a:ext cx="1077285" cy="457296"/>
          </a:xfrm>
          <a:prstGeom prst="cloud">
            <a:avLst/>
          </a:prstGeom>
          <a:solidFill>
            <a:srgbClr val="BDA7F3"/>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noProof="1">
                <a:solidFill>
                  <a:schemeClr val="tx1"/>
                </a:solidFill>
              </a:rPr>
              <a:t>1 Adet Bİlgisayar</a:t>
            </a:r>
          </a:p>
        </p:txBody>
      </p:sp>
      <p:sp>
        <p:nvSpPr>
          <p:cNvPr id="63" name="Bulut 62">
            <a:extLst>
              <a:ext uri="{FF2B5EF4-FFF2-40B4-BE49-F238E27FC236}">
                <a16:creationId xmlns:a16="http://schemas.microsoft.com/office/drawing/2014/main" id="{9AE3CC8A-DBDC-4830-84F9-75E615C5DCB5}"/>
              </a:ext>
            </a:extLst>
          </p:cNvPr>
          <p:cNvSpPr/>
          <p:nvPr/>
        </p:nvSpPr>
        <p:spPr>
          <a:xfrm>
            <a:off x="1937556" y="1410455"/>
            <a:ext cx="1077285" cy="457296"/>
          </a:xfrm>
          <a:prstGeom prst="cloud">
            <a:avLst/>
          </a:prstGeom>
          <a:solidFill>
            <a:srgbClr val="BDA7F3"/>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noProof="1">
                <a:solidFill>
                  <a:schemeClr val="tx1"/>
                </a:solidFill>
              </a:rPr>
              <a:t>1 Adet Telefon</a:t>
            </a:r>
          </a:p>
        </p:txBody>
      </p:sp>
      <p:sp>
        <p:nvSpPr>
          <p:cNvPr id="64" name="Metin kutusu 63">
            <a:extLst>
              <a:ext uri="{FF2B5EF4-FFF2-40B4-BE49-F238E27FC236}">
                <a16:creationId xmlns:a16="http://schemas.microsoft.com/office/drawing/2014/main" id="{7C83DBB0-08D6-414D-9273-31C2AC3F832D}"/>
              </a:ext>
            </a:extLst>
          </p:cNvPr>
          <p:cNvSpPr txBox="1"/>
          <p:nvPr/>
        </p:nvSpPr>
        <p:spPr>
          <a:xfrm>
            <a:off x="36538" y="4649367"/>
            <a:ext cx="3435975" cy="246221"/>
          </a:xfrm>
          <a:prstGeom prst="rect">
            <a:avLst/>
          </a:prstGeom>
          <a:noFill/>
        </p:spPr>
        <p:txBody>
          <a:bodyPr wrap="square" rtlCol="0">
            <a:spAutoFit/>
          </a:bodyPr>
          <a:lstStyle/>
          <a:p>
            <a:r>
              <a:rPr lang="tr-TR" sz="1000" noProof="1"/>
              <a:t>A) 24                B) 47                C) 52                D) 62                E) 71                        </a:t>
            </a:r>
          </a:p>
        </p:txBody>
      </p:sp>
      <p:sp>
        <p:nvSpPr>
          <p:cNvPr id="65" name="Metin kutusu 64">
            <a:extLst>
              <a:ext uri="{FF2B5EF4-FFF2-40B4-BE49-F238E27FC236}">
                <a16:creationId xmlns:a16="http://schemas.microsoft.com/office/drawing/2014/main" id="{984E0B46-9FA1-4806-AE08-2856610BD65E}"/>
              </a:ext>
            </a:extLst>
          </p:cNvPr>
          <p:cNvSpPr txBox="1"/>
          <p:nvPr/>
        </p:nvSpPr>
        <p:spPr>
          <a:xfrm>
            <a:off x="-89171" y="657798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66" name="Metin kutusu 65">
            <a:extLst>
              <a:ext uri="{FF2B5EF4-FFF2-40B4-BE49-F238E27FC236}">
                <a16:creationId xmlns:a16="http://schemas.microsoft.com/office/drawing/2014/main" id="{0A1B177E-E949-4260-A139-BCCD0B93847E}"/>
              </a:ext>
            </a:extLst>
          </p:cNvPr>
          <p:cNvSpPr txBox="1"/>
          <p:nvPr/>
        </p:nvSpPr>
        <p:spPr>
          <a:xfrm>
            <a:off x="73858" y="6611289"/>
            <a:ext cx="3336309" cy="400110"/>
          </a:xfrm>
          <a:prstGeom prst="rect">
            <a:avLst/>
          </a:prstGeom>
          <a:noFill/>
        </p:spPr>
        <p:txBody>
          <a:bodyPr wrap="square" rtlCol="0">
            <a:spAutoFit/>
          </a:bodyPr>
          <a:lstStyle/>
          <a:p>
            <a:r>
              <a:rPr lang="tr-TR" sz="1000" b="1" noProof="1">
                <a:cs typeface="Arial" panose="020B0604020202020204" pitchFamily="34" charset="0"/>
              </a:rPr>
              <a:t>Kampanya günü kaç tane müşteri mağazadan yalnızca bir ürün almıştır?</a:t>
            </a:r>
          </a:p>
        </p:txBody>
      </p:sp>
      <p:sp>
        <p:nvSpPr>
          <p:cNvPr id="67" name="Metin kutusu 66">
            <a:extLst>
              <a:ext uri="{FF2B5EF4-FFF2-40B4-BE49-F238E27FC236}">
                <a16:creationId xmlns:a16="http://schemas.microsoft.com/office/drawing/2014/main" id="{C7F6498E-2BD1-41D7-8534-049F726CC110}"/>
              </a:ext>
            </a:extLst>
          </p:cNvPr>
          <p:cNvSpPr txBox="1"/>
          <p:nvPr/>
        </p:nvSpPr>
        <p:spPr>
          <a:xfrm>
            <a:off x="67910" y="6957226"/>
            <a:ext cx="3435975" cy="246221"/>
          </a:xfrm>
          <a:prstGeom prst="rect">
            <a:avLst/>
          </a:prstGeom>
          <a:noFill/>
        </p:spPr>
        <p:txBody>
          <a:bodyPr wrap="square" rtlCol="0">
            <a:spAutoFit/>
          </a:bodyPr>
          <a:lstStyle/>
          <a:p>
            <a:r>
              <a:rPr lang="tr-TR" sz="1000" noProof="1"/>
              <a:t>A) 24                B) 33                C) 34                D) 52                E) 39                        </a:t>
            </a:r>
          </a:p>
        </p:txBody>
      </p:sp>
      <p:sp>
        <p:nvSpPr>
          <p:cNvPr id="83" name="Metin kutusu 82">
            <a:extLst>
              <a:ext uri="{FF2B5EF4-FFF2-40B4-BE49-F238E27FC236}">
                <a16:creationId xmlns:a16="http://schemas.microsoft.com/office/drawing/2014/main" id="{2DC047EB-78E5-4AC2-BB07-64BA8BF936E2}"/>
              </a:ext>
            </a:extLst>
          </p:cNvPr>
          <p:cNvSpPr txBox="1"/>
          <p:nvPr/>
        </p:nvSpPr>
        <p:spPr>
          <a:xfrm>
            <a:off x="33338" y="578717"/>
            <a:ext cx="3336309" cy="40011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tr-TR" sz="1000" b="1" noProof="1">
                <a:cs typeface="Arial" panose="020B0604020202020204" pitchFamily="34" charset="0"/>
              </a:rPr>
              <a:t>5. ve 6. soruları aşağıdaki görseldeki bilgileri ve açıklamaları referans alarak birbirlerinden bağımsız cevaplandırınız.</a:t>
            </a:r>
          </a:p>
        </p:txBody>
      </p:sp>
    </p:spTree>
    <p:extLst>
      <p:ext uri="{BB962C8B-B14F-4D97-AF65-F5344CB8AC3E}">
        <p14:creationId xmlns:p14="http://schemas.microsoft.com/office/powerpoint/2010/main" val="24966405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55255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Periyodik Problemler</a:t>
            </a:r>
          </a:p>
          <a:p>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33086" y="1906781"/>
            <a:ext cx="3281681" cy="553998"/>
          </a:xfrm>
          <a:prstGeom prst="rect">
            <a:avLst/>
          </a:prstGeom>
          <a:noFill/>
        </p:spPr>
        <p:txBody>
          <a:bodyPr wrap="square" rtlCol="0">
            <a:spAutoFit/>
          </a:bodyPr>
          <a:lstStyle/>
          <a:p>
            <a:r>
              <a:rPr lang="tr-TR" sz="1000" noProof="1"/>
              <a:t>A) Cuma                             B) Perşembe                           C) Salı</a:t>
            </a:r>
          </a:p>
          <a:p>
            <a:pPr marL="228600" indent="-228600">
              <a:buAutoNum type="alphaUcParenR"/>
            </a:pPr>
            <a:endParaRPr lang="tr-TR" sz="1000" noProof="1"/>
          </a:p>
          <a:p>
            <a:r>
              <a:rPr lang="tr-TR" sz="1000" noProof="1"/>
              <a:t>                      D) Pazar                                        E) Çarşamba</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1477328"/>
          </a:xfrm>
          <a:prstGeom prst="rect">
            <a:avLst/>
          </a:prstGeom>
          <a:noFill/>
        </p:spPr>
        <p:txBody>
          <a:bodyPr wrap="square" rtlCol="0">
            <a:spAutoFit/>
          </a:bodyPr>
          <a:lstStyle/>
          <a:p>
            <a:r>
              <a:rPr lang="tr-TR" sz="1000" noProof="1">
                <a:cs typeface="Arial" panose="020B0604020202020204" pitchFamily="34" charset="0"/>
              </a:rPr>
              <a:t>Osman rotasyonlu çalışmaktadır.</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5 günde bir Eryaman yerleşkesine, 8 günde bir Batıkent yerleşkesinde belli süreler bulunmaktadır. </a:t>
            </a:r>
          </a:p>
          <a:p>
            <a:pPr marL="171450" indent="-171450">
              <a:buFont typeface="Arial" panose="020B0604020202020204" pitchFamily="34" charset="0"/>
              <a:buChar char="•"/>
            </a:pPr>
            <a:r>
              <a:rPr lang="tr-TR" sz="1000" noProof="1">
                <a:cs typeface="Arial" panose="020B0604020202020204" pitchFamily="34" charset="0"/>
              </a:rPr>
              <a:t>Osman 2022 yılının ilk haftasının cumartesi günü her iki yerleşkede de çalışmıştır. </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Osman`ın her iki yerleşkede de çalıştığı ikinci gün aşağıdakilerden hangisidir?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111446" y="4677329"/>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1.B    2.X    3.X    4.X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63" name="Metin kutusu 62">
            <a:extLst>
              <a:ext uri="{FF2B5EF4-FFF2-40B4-BE49-F238E27FC236}">
                <a16:creationId xmlns:a16="http://schemas.microsoft.com/office/drawing/2014/main" id="{6A1CE90D-FCA4-402E-9BF2-D17C1F612FA5}"/>
              </a:ext>
            </a:extLst>
          </p:cNvPr>
          <p:cNvSpPr txBox="1"/>
          <p:nvPr/>
        </p:nvSpPr>
        <p:spPr>
          <a:xfrm>
            <a:off x="3489482" y="481442"/>
            <a:ext cx="3387495" cy="553998"/>
          </a:xfrm>
          <a:prstGeom prst="rect">
            <a:avLst/>
          </a:prstGeom>
          <a:noFill/>
        </p:spPr>
        <p:txBody>
          <a:bodyPr wrap="square" rtlCol="0">
            <a:spAutoFit/>
          </a:bodyPr>
          <a:lstStyle/>
          <a:p>
            <a:r>
              <a:rPr lang="tr-TR" sz="1000" dirty="0"/>
              <a:t>Yukarıdaki şekilde K sütunundan başlayarak sırasıyla her bir sütunda bir rakam olacak şekilde 1,2,3,4,5,6,7,8,9,10,</a:t>
            </a:r>
          </a:p>
          <a:p>
            <a:r>
              <a:rPr lang="tr-TR" sz="1000" dirty="0"/>
              <a:t>11,12,13,14  sayılarının rakamları yazılıyor. </a:t>
            </a:r>
          </a:p>
        </p:txBody>
      </p:sp>
      <p:sp>
        <p:nvSpPr>
          <p:cNvPr id="64" name="Dikdörtgen 63">
            <a:extLst>
              <a:ext uri="{FF2B5EF4-FFF2-40B4-BE49-F238E27FC236}">
                <a16:creationId xmlns:a16="http://schemas.microsoft.com/office/drawing/2014/main" id="{A67E897D-9114-46BF-B4DA-35DC342E0DF3}"/>
              </a:ext>
            </a:extLst>
          </p:cNvPr>
          <p:cNvSpPr/>
          <p:nvPr/>
        </p:nvSpPr>
        <p:spPr>
          <a:xfrm>
            <a:off x="3589059" y="1057507"/>
            <a:ext cx="2099580" cy="158417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5" name="Dikdörtgen 64">
            <a:extLst>
              <a:ext uri="{FF2B5EF4-FFF2-40B4-BE49-F238E27FC236}">
                <a16:creationId xmlns:a16="http://schemas.microsoft.com/office/drawing/2014/main" id="{0BC4F762-EF07-419F-89C3-058DAF35487A}"/>
              </a:ext>
            </a:extLst>
          </p:cNvPr>
          <p:cNvSpPr/>
          <p:nvPr/>
        </p:nvSpPr>
        <p:spPr>
          <a:xfrm>
            <a:off x="3589059" y="1273531"/>
            <a:ext cx="422604" cy="91610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6" name="Dikdörtgen 65">
            <a:extLst>
              <a:ext uri="{FF2B5EF4-FFF2-40B4-BE49-F238E27FC236}">
                <a16:creationId xmlns:a16="http://schemas.microsoft.com/office/drawing/2014/main" id="{3F490659-722E-4BE2-A6AD-FB62A3E175EF}"/>
              </a:ext>
            </a:extLst>
          </p:cNvPr>
          <p:cNvSpPr/>
          <p:nvPr/>
        </p:nvSpPr>
        <p:spPr>
          <a:xfrm>
            <a:off x="4011663" y="1273531"/>
            <a:ext cx="422604" cy="91610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7" name="Dikdörtgen 66">
            <a:extLst>
              <a:ext uri="{FF2B5EF4-FFF2-40B4-BE49-F238E27FC236}">
                <a16:creationId xmlns:a16="http://schemas.microsoft.com/office/drawing/2014/main" id="{FC5EA010-7594-4445-BF68-963C79357786}"/>
              </a:ext>
            </a:extLst>
          </p:cNvPr>
          <p:cNvSpPr/>
          <p:nvPr/>
        </p:nvSpPr>
        <p:spPr>
          <a:xfrm>
            <a:off x="4430907" y="1273531"/>
            <a:ext cx="422604" cy="91610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8" name="Dikdörtgen 67">
            <a:extLst>
              <a:ext uri="{FF2B5EF4-FFF2-40B4-BE49-F238E27FC236}">
                <a16:creationId xmlns:a16="http://schemas.microsoft.com/office/drawing/2014/main" id="{31246A17-05A4-4A8E-ADBF-0D1A24FE49A7}"/>
              </a:ext>
            </a:extLst>
          </p:cNvPr>
          <p:cNvSpPr/>
          <p:nvPr/>
        </p:nvSpPr>
        <p:spPr>
          <a:xfrm>
            <a:off x="4850151" y="1273229"/>
            <a:ext cx="422604" cy="91610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9" name="Dikdörtgen 68">
            <a:extLst>
              <a:ext uri="{FF2B5EF4-FFF2-40B4-BE49-F238E27FC236}">
                <a16:creationId xmlns:a16="http://schemas.microsoft.com/office/drawing/2014/main" id="{3D82977E-FB0D-41C6-93DC-82FFF35F48AC}"/>
              </a:ext>
            </a:extLst>
          </p:cNvPr>
          <p:cNvSpPr/>
          <p:nvPr/>
        </p:nvSpPr>
        <p:spPr>
          <a:xfrm>
            <a:off x="5266035" y="1273229"/>
            <a:ext cx="422604" cy="91610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0" name="Dikdörtgen 69">
            <a:extLst>
              <a:ext uri="{FF2B5EF4-FFF2-40B4-BE49-F238E27FC236}">
                <a16:creationId xmlns:a16="http://schemas.microsoft.com/office/drawing/2014/main" id="{D4077968-4C7B-4750-8774-534844823ED2}"/>
              </a:ext>
            </a:extLst>
          </p:cNvPr>
          <p:cNvSpPr/>
          <p:nvPr/>
        </p:nvSpPr>
        <p:spPr>
          <a:xfrm>
            <a:off x="3633949" y="1002628"/>
            <a:ext cx="295274" cy="323165"/>
          </a:xfrm>
          <a:prstGeom prst="rect">
            <a:avLst/>
          </a:prstGeom>
          <a:noFill/>
        </p:spPr>
        <p:txBody>
          <a:bodyPr wrap="none" lIns="91440" tIns="45720" rIns="91440" bIns="45720">
            <a:spAutoFit/>
          </a:bodyPr>
          <a:lstStyle/>
          <a:p>
            <a:pPr algn="ctr"/>
            <a:r>
              <a:rPr lang="tr-TR" sz="1500" b="1" cap="none" spc="0" dirty="0">
                <a:ln w="0"/>
                <a:solidFill>
                  <a:srgbClr val="0070C0"/>
                </a:solidFill>
                <a:effectLst>
                  <a:outerShdw blurRad="38100" dist="19050" dir="2700000" algn="tl" rotWithShape="0">
                    <a:schemeClr val="dk1">
                      <a:alpha val="40000"/>
                    </a:schemeClr>
                  </a:outerShdw>
                </a:effectLst>
              </a:rPr>
              <a:t>K</a:t>
            </a:r>
          </a:p>
        </p:txBody>
      </p:sp>
      <p:sp>
        <p:nvSpPr>
          <p:cNvPr id="71" name="Dikdörtgen 70">
            <a:extLst>
              <a:ext uri="{FF2B5EF4-FFF2-40B4-BE49-F238E27FC236}">
                <a16:creationId xmlns:a16="http://schemas.microsoft.com/office/drawing/2014/main" id="{62A21A92-E3AA-4D19-9FA1-198F626C3343}"/>
              </a:ext>
            </a:extLst>
          </p:cNvPr>
          <p:cNvSpPr/>
          <p:nvPr/>
        </p:nvSpPr>
        <p:spPr>
          <a:xfrm>
            <a:off x="4066742" y="998549"/>
            <a:ext cx="264816" cy="323165"/>
          </a:xfrm>
          <a:prstGeom prst="rect">
            <a:avLst/>
          </a:prstGeom>
          <a:noFill/>
        </p:spPr>
        <p:txBody>
          <a:bodyPr wrap="none" lIns="91440" tIns="45720" rIns="91440" bIns="45720">
            <a:spAutoFit/>
          </a:bodyPr>
          <a:lstStyle/>
          <a:p>
            <a:pPr algn="ctr"/>
            <a:r>
              <a:rPr lang="tr-TR" sz="1500" b="1" cap="none" spc="0" dirty="0">
                <a:ln w="0"/>
                <a:solidFill>
                  <a:srgbClr val="0070C0"/>
                </a:solidFill>
                <a:effectLst>
                  <a:outerShdw blurRad="38100" dist="19050" dir="2700000" algn="tl" rotWithShape="0">
                    <a:schemeClr val="dk1">
                      <a:alpha val="40000"/>
                    </a:schemeClr>
                  </a:outerShdw>
                </a:effectLst>
              </a:rPr>
              <a:t>L</a:t>
            </a:r>
          </a:p>
        </p:txBody>
      </p:sp>
      <p:sp>
        <p:nvSpPr>
          <p:cNvPr id="72" name="Dikdörtgen 71">
            <a:extLst>
              <a:ext uri="{FF2B5EF4-FFF2-40B4-BE49-F238E27FC236}">
                <a16:creationId xmlns:a16="http://schemas.microsoft.com/office/drawing/2014/main" id="{6C6E9C26-C704-4840-B9A0-33C3F4409695}"/>
              </a:ext>
            </a:extLst>
          </p:cNvPr>
          <p:cNvSpPr/>
          <p:nvPr/>
        </p:nvSpPr>
        <p:spPr>
          <a:xfrm>
            <a:off x="4443529" y="998548"/>
            <a:ext cx="349776" cy="323165"/>
          </a:xfrm>
          <a:prstGeom prst="rect">
            <a:avLst/>
          </a:prstGeom>
          <a:noFill/>
        </p:spPr>
        <p:txBody>
          <a:bodyPr wrap="none" lIns="91440" tIns="45720" rIns="91440" bIns="45720">
            <a:spAutoFit/>
          </a:bodyPr>
          <a:lstStyle/>
          <a:p>
            <a:pPr algn="ctr"/>
            <a:r>
              <a:rPr lang="tr-TR" sz="1500" b="1" cap="none" spc="0" dirty="0">
                <a:ln w="0"/>
                <a:solidFill>
                  <a:srgbClr val="0070C0"/>
                </a:solidFill>
                <a:effectLst>
                  <a:outerShdw blurRad="38100" dist="19050" dir="2700000" algn="tl" rotWithShape="0">
                    <a:schemeClr val="dk1">
                      <a:alpha val="40000"/>
                    </a:schemeClr>
                  </a:outerShdw>
                </a:effectLst>
              </a:rPr>
              <a:t>M</a:t>
            </a:r>
          </a:p>
        </p:txBody>
      </p:sp>
      <p:sp>
        <p:nvSpPr>
          <p:cNvPr id="73" name="Dikdörtgen 72">
            <a:extLst>
              <a:ext uri="{FF2B5EF4-FFF2-40B4-BE49-F238E27FC236}">
                <a16:creationId xmlns:a16="http://schemas.microsoft.com/office/drawing/2014/main" id="{6A25FE23-55AB-49D2-BC08-09DD50AC5A52}"/>
              </a:ext>
            </a:extLst>
          </p:cNvPr>
          <p:cNvSpPr/>
          <p:nvPr/>
        </p:nvSpPr>
        <p:spPr>
          <a:xfrm>
            <a:off x="4882009" y="1005693"/>
            <a:ext cx="311304" cy="323165"/>
          </a:xfrm>
          <a:prstGeom prst="rect">
            <a:avLst/>
          </a:prstGeom>
          <a:noFill/>
        </p:spPr>
        <p:txBody>
          <a:bodyPr wrap="none" lIns="91440" tIns="45720" rIns="91440" bIns="45720">
            <a:spAutoFit/>
          </a:bodyPr>
          <a:lstStyle/>
          <a:p>
            <a:pPr algn="ctr"/>
            <a:r>
              <a:rPr lang="tr-TR" sz="1500" b="1" cap="none" spc="0" dirty="0">
                <a:ln w="0"/>
                <a:solidFill>
                  <a:srgbClr val="0070C0"/>
                </a:solidFill>
                <a:effectLst>
                  <a:outerShdw blurRad="38100" dist="19050" dir="2700000" algn="tl" rotWithShape="0">
                    <a:schemeClr val="dk1">
                      <a:alpha val="40000"/>
                    </a:schemeClr>
                  </a:outerShdw>
                </a:effectLst>
              </a:rPr>
              <a:t>N</a:t>
            </a:r>
          </a:p>
        </p:txBody>
      </p:sp>
      <p:sp>
        <p:nvSpPr>
          <p:cNvPr id="74" name="Dikdörtgen 73">
            <a:extLst>
              <a:ext uri="{FF2B5EF4-FFF2-40B4-BE49-F238E27FC236}">
                <a16:creationId xmlns:a16="http://schemas.microsoft.com/office/drawing/2014/main" id="{BF32A995-4D24-46A4-81E1-82AD29604414}"/>
              </a:ext>
            </a:extLst>
          </p:cNvPr>
          <p:cNvSpPr/>
          <p:nvPr/>
        </p:nvSpPr>
        <p:spPr>
          <a:xfrm>
            <a:off x="5299650" y="1005692"/>
            <a:ext cx="314510" cy="323165"/>
          </a:xfrm>
          <a:prstGeom prst="rect">
            <a:avLst/>
          </a:prstGeom>
          <a:noFill/>
        </p:spPr>
        <p:txBody>
          <a:bodyPr wrap="none" lIns="91440" tIns="45720" rIns="91440" bIns="45720">
            <a:spAutoFit/>
          </a:bodyPr>
          <a:lstStyle/>
          <a:p>
            <a:pPr algn="ctr"/>
            <a:r>
              <a:rPr lang="tr-TR" sz="1500" b="1" cap="none" spc="0" dirty="0">
                <a:ln w="0"/>
                <a:solidFill>
                  <a:srgbClr val="0070C0"/>
                </a:solidFill>
                <a:effectLst>
                  <a:outerShdw blurRad="38100" dist="19050" dir="2700000" algn="tl" rotWithShape="0">
                    <a:schemeClr val="dk1">
                      <a:alpha val="40000"/>
                    </a:schemeClr>
                  </a:outerShdw>
                </a:effectLst>
              </a:rPr>
              <a:t>O</a:t>
            </a:r>
          </a:p>
        </p:txBody>
      </p:sp>
      <p:sp>
        <p:nvSpPr>
          <p:cNvPr id="75" name="Dikdörtgen 74">
            <a:extLst>
              <a:ext uri="{FF2B5EF4-FFF2-40B4-BE49-F238E27FC236}">
                <a16:creationId xmlns:a16="http://schemas.microsoft.com/office/drawing/2014/main" id="{4C173072-6402-414A-9ABD-B8F8659D250A}"/>
              </a:ext>
            </a:extLst>
          </p:cNvPr>
          <p:cNvSpPr/>
          <p:nvPr/>
        </p:nvSpPr>
        <p:spPr>
          <a:xfrm>
            <a:off x="3618249" y="1237691"/>
            <a:ext cx="2070390" cy="1015663"/>
          </a:xfrm>
          <a:prstGeom prst="rect">
            <a:avLst/>
          </a:prstGeom>
          <a:noFill/>
        </p:spPr>
        <p:txBody>
          <a:bodyPr wrap="square" lIns="91440" tIns="45720" rIns="91440" bIns="45720">
            <a:spAutoFit/>
          </a:bodyPr>
          <a:lstStyle/>
          <a:p>
            <a:r>
              <a:rPr lang="tr-TR" sz="1500" b="0" cap="none" spc="0" dirty="0">
                <a:ln w="0"/>
                <a:solidFill>
                  <a:schemeClr val="tx1"/>
                </a:solidFill>
                <a:effectLst>
                  <a:outerShdw blurRad="38100" dist="19050" dir="2700000" algn="tl" rotWithShape="0">
                    <a:schemeClr val="dk1">
                      <a:alpha val="40000"/>
                    </a:schemeClr>
                  </a:outerShdw>
                </a:effectLst>
              </a:rPr>
              <a:t>1        2        3        4       5</a:t>
            </a:r>
            <a:br>
              <a:rPr lang="tr-TR" sz="1500" b="0" cap="none" spc="0" dirty="0">
                <a:ln w="0"/>
                <a:solidFill>
                  <a:schemeClr val="tx1"/>
                </a:solidFill>
                <a:effectLst>
                  <a:outerShdw blurRad="38100" dist="19050" dir="2700000" algn="tl" rotWithShape="0">
                    <a:schemeClr val="dk1">
                      <a:alpha val="40000"/>
                    </a:schemeClr>
                  </a:outerShdw>
                </a:effectLst>
              </a:rPr>
            </a:br>
            <a:r>
              <a:rPr lang="tr-TR" sz="1500" b="0" cap="none" spc="0" dirty="0">
                <a:ln w="0"/>
                <a:solidFill>
                  <a:schemeClr val="tx1"/>
                </a:solidFill>
                <a:effectLst>
                  <a:outerShdw blurRad="38100" dist="19050" dir="2700000" algn="tl" rotWithShape="0">
                    <a:schemeClr val="dk1">
                      <a:alpha val="40000"/>
                    </a:schemeClr>
                  </a:outerShdw>
                </a:effectLst>
              </a:rPr>
              <a:t>6        7        8        9       1</a:t>
            </a:r>
            <a:br>
              <a:rPr lang="tr-TR" sz="1500" b="0" cap="none" spc="0" dirty="0">
                <a:ln w="0"/>
                <a:solidFill>
                  <a:schemeClr val="tx1"/>
                </a:solidFill>
                <a:effectLst>
                  <a:outerShdw blurRad="38100" dist="19050" dir="2700000" algn="tl" rotWithShape="0">
                    <a:schemeClr val="dk1">
                      <a:alpha val="40000"/>
                    </a:schemeClr>
                  </a:outerShdw>
                </a:effectLst>
              </a:rPr>
            </a:br>
            <a:r>
              <a:rPr lang="tr-TR" sz="1500" b="0" cap="none" spc="0" dirty="0">
                <a:ln w="0"/>
                <a:solidFill>
                  <a:schemeClr val="tx1"/>
                </a:solidFill>
                <a:effectLst>
                  <a:outerShdw blurRad="38100" dist="19050" dir="2700000" algn="tl" rotWithShape="0">
                    <a:schemeClr val="dk1">
                      <a:alpha val="40000"/>
                    </a:schemeClr>
                  </a:outerShdw>
                </a:effectLst>
              </a:rPr>
              <a:t>0        1        1        1       2</a:t>
            </a:r>
          </a:p>
          <a:p>
            <a:r>
              <a:rPr lang="tr-TR" sz="1500" dirty="0">
                <a:ln w="0"/>
                <a:effectLst>
                  <a:outerShdw blurRad="38100" dist="19050" dir="2700000" algn="tl" rotWithShape="0">
                    <a:schemeClr val="dk1">
                      <a:alpha val="40000"/>
                    </a:schemeClr>
                  </a:outerShdw>
                </a:effectLst>
              </a:rPr>
              <a:t>1        3        1        4 </a:t>
            </a:r>
            <a:endParaRPr lang="tr-TR" sz="1500" b="0" cap="none" spc="0" dirty="0">
              <a:ln w="0"/>
              <a:solidFill>
                <a:schemeClr val="tx1"/>
              </a:solidFill>
              <a:effectLst>
                <a:outerShdw blurRad="38100" dist="19050" dir="2700000" algn="tl" rotWithShape="0">
                  <a:schemeClr val="dk1">
                    <a:alpha val="40000"/>
                  </a:schemeClr>
                </a:outerShdw>
              </a:effectLst>
            </a:endParaRPr>
          </a:p>
        </p:txBody>
      </p:sp>
      <p:pic>
        <p:nvPicPr>
          <p:cNvPr id="76" name="Resim 75">
            <a:extLst>
              <a:ext uri="{FF2B5EF4-FFF2-40B4-BE49-F238E27FC236}">
                <a16:creationId xmlns:a16="http://schemas.microsoft.com/office/drawing/2014/main" id="{EFC9C1B6-4BBA-40A6-86F8-EB9A34C65F5F}"/>
              </a:ext>
            </a:extLst>
          </p:cNvPr>
          <p:cNvPicPr>
            <a:picLocks noChangeAspect="1"/>
          </p:cNvPicPr>
          <p:nvPr/>
        </p:nvPicPr>
        <p:blipFill>
          <a:blip r:embed="rId5"/>
          <a:stretch>
            <a:fillRect/>
          </a:stretch>
        </p:blipFill>
        <p:spPr>
          <a:xfrm>
            <a:off x="3591969" y="2165883"/>
            <a:ext cx="2093167" cy="219075"/>
          </a:xfrm>
          <a:prstGeom prst="rect">
            <a:avLst/>
          </a:prstGeom>
        </p:spPr>
      </p:pic>
      <p:sp>
        <p:nvSpPr>
          <p:cNvPr id="77" name="Metin kutusu 76">
            <a:extLst>
              <a:ext uri="{FF2B5EF4-FFF2-40B4-BE49-F238E27FC236}">
                <a16:creationId xmlns:a16="http://schemas.microsoft.com/office/drawing/2014/main" id="{6047D1B2-3949-40C4-B993-F17CA6CBB2FB}"/>
              </a:ext>
            </a:extLst>
          </p:cNvPr>
          <p:cNvSpPr txBox="1"/>
          <p:nvPr/>
        </p:nvSpPr>
        <p:spPr>
          <a:xfrm>
            <a:off x="3364144" y="2677973"/>
            <a:ext cx="3512085" cy="246221"/>
          </a:xfrm>
          <a:prstGeom prst="rect">
            <a:avLst/>
          </a:prstGeom>
          <a:noFill/>
        </p:spPr>
        <p:txBody>
          <a:bodyPr wrap="square" rtlCol="0">
            <a:spAutoFit/>
          </a:bodyPr>
          <a:lstStyle/>
          <a:p>
            <a:r>
              <a:rPr lang="tr-TR" sz="1000" b="1" dirty="0"/>
              <a:t>Buna göre, 2022 sayısının rakamları hangi sütunda yer almaz?</a:t>
            </a:r>
          </a:p>
        </p:txBody>
      </p:sp>
      <p:sp>
        <p:nvSpPr>
          <p:cNvPr id="78" name="Metin kutusu 77">
            <a:extLst>
              <a:ext uri="{FF2B5EF4-FFF2-40B4-BE49-F238E27FC236}">
                <a16:creationId xmlns:a16="http://schemas.microsoft.com/office/drawing/2014/main" id="{D2E6601D-5D8A-4F86-A87E-7B9D9AAD1B69}"/>
              </a:ext>
            </a:extLst>
          </p:cNvPr>
          <p:cNvSpPr txBox="1"/>
          <p:nvPr/>
        </p:nvSpPr>
        <p:spPr>
          <a:xfrm>
            <a:off x="3442827" y="2889447"/>
            <a:ext cx="3359093" cy="553998"/>
          </a:xfrm>
          <a:prstGeom prst="rect">
            <a:avLst/>
          </a:prstGeom>
          <a:noFill/>
        </p:spPr>
        <p:txBody>
          <a:bodyPr wrap="square" rtlCol="0">
            <a:spAutoFit/>
          </a:bodyPr>
          <a:lstStyle/>
          <a:p>
            <a:r>
              <a:rPr lang="tr-TR" sz="1000" noProof="1"/>
              <a:t>A) K                                           B) L                                           C) M</a:t>
            </a:r>
          </a:p>
          <a:p>
            <a:pPr marL="228600" indent="-228600">
              <a:buAutoNum type="alphaUcParenR"/>
            </a:pPr>
            <a:endParaRPr lang="tr-TR" sz="1000" noProof="1"/>
          </a:p>
          <a:p>
            <a:r>
              <a:rPr lang="tr-TR" sz="1000" noProof="1"/>
              <a:t>                      D) N                                        E) O</a:t>
            </a:r>
          </a:p>
        </p:txBody>
      </p:sp>
    </p:spTree>
    <p:extLst>
      <p:ext uri="{BB962C8B-B14F-4D97-AF65-F5344CB8AC3E}">
        <p14:creationId xmlns:p14="http://schemas.microsoft.com/office/powerpoint/2010/main" val="4141706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Periyodik Problemler</a:t>
            </a:r>
          </a:p>
          <a:p>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Tree>
    <p:extLst>
      <p:ext uri="{BB962C8B-B14F-4D97-AF65-F5344CB8AC3E}">
        <p14:creationId xmlns:p14="http://schemas.microsoft.com/office/powerpoint/2010/main" val="5447769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Periyodik Problemler</a:t>
            </a:r>
          </a:p>
          <a:p>
            <a:endParaRPr lang="tr-TR" sz="1000" b="1" noProof="1">
              <a:latin typeface="+mj-lt"/>
              <a:cs typeface="Arial" panose="020B0604020202020204" pitchFamily="34" charset="0"/>
            </a:endParaRP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597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Yüzde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57373" y="1458506"/>
            <a:ext cx="3359091" cy="553998"/>
          </a:xfrm>
          <a:prstGeom prst="rect">
            <a:avLst/>
          </a:prstGeom>
          <a:noFill/>
        </p:spPr>
        <p:txBody>
          <a:bodyPr wrap="square" rtlCol="0">
            <a:spAutoFit/>
          </a:bodyPr>
          <a:lstStyle/>
          <a:p>
            <a:r>
              <a:rPr lang="tr-TR" sz="1000" noProof="1"/>
              <a:t>A) 81                                      B) 99                                    C) 108</a:t>
            </a:r>
          </a:p>
          <a:p>
            <a:pPr marL="228600" indent="-228600">
              <a:buAutoNum type="alphaUcParenR"/>
            </a:pPr>
            <a:endParaRPr lang="tr-TR" sz="1000" noProof="1"/>
          </a:p>
          <a:p>
            <a:r>
              <a:rPr lang="tr-TR" sz="1000" noProof="1"/>
              <a:t>                      D) 120                                        E) 144</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1015663"/>
          </a:xfrm>
          <a:prstGeom prst="rect">
            <a:avLst/>
          </a:prstGeom>
          <a:noFill/>
        </p:spPr>
        <p:txBody>
          <a:bodyPr wrap="square" rtlCol="0">
            <a:spAutoFit/>
          </a:bodyPr>
          <a:lstStyle/>
          <a:p>
            <a:r>
              <a:rPr lang="tr-TR" sz="1000" noProof="1">
                <a:cs typeface="Arial" panose="020B0604020202020204" pitchFamily="34" charset="0"/>
              </a:rPr>
              <a:t>Bir kutuda 6 farklı renkte bilye vardır. Bu bilyelerin bir renginin %25`ini Banu ; geriye kalan her renkteki bilyelerin ise %50`sini ise Beray kolye yapmak için kullanıyor. </a:t>
            </a:r>
          </a:p>
          <a:p>
            <a:endParaRPr lang="tr-TR" sz="1000" noProof="1">
              <a:cs typeface="Arial" panose="020B0604020202020204" pitchFamily="34" charset="0"/>
            </a:endParaRPr>
          </a:p>
          <a:p>
            <a:r>
              <a:rPr lang="tr-TR" sz="1000" b="1" noProof="1">
                <a:cs typeface="Arial" panose="020B0604020202020204" pitchFamily="34" charset="0"/>
              </a:rPr>
              <a:t>Beray kolyesinde toplam 69 bilye kullandığına göre, başlan-gıçta toplam kaç bilye vardı?</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75529" y="474844"/>
            <a:ext cx="3296596" cy="1477328"/>
          </a:xfrm>
          <a:prstGeom prst="rect">
            <a:avLst/>
          </a:prstGeom>
          <a:noFill/>
        </p:spPr>
        <p:txBody>
          <a:bodyPr wrap="square" rtlCol="0">
            <a:spAutoFit/>
          </a:bodyPr>
          <a:lstStyle/>
          <a:p>
            <a:r>
              <a:rPr lang="tr-TR" sz="1000" b="1" noProof="1">
                <a:cs typeface="Arial" panose="020B0604020202020204" pitchFamily="34" charset="0"/>
              </a:rPr>
              <a:t>100 TL birim fiyata sahip olan ürünle ilgili, </a:t>
            </a:r>
          </a:p>
          <a:p>
            <a:endParaRPr lang="tr-TR" sz="1000" noProof="1">
              <a:cs typeface="Arial" panose="020B0604020202020204" pitchFamily="34" charset="0"/>
            </a:endParaRPr>
          </a:p>
          <a:p>
            <a:r>
              <a:rPr lang="tr-TR" sz="1000" noProof="1">
                <a:cs typeface="Arial" panose="020B0604020202020204" pitchFamily="34" charset="0"/>
              </a:rPr>
              <a:t>I. Ürün %100 zamlanırsa birim fiyatı 300 TL olur.</a:t>
            </a:r>
          </a:p>
          <a:p>
            <a:r>
              <a:rPr lang="tr-TR" sz="1000" noProof="1">
                <a:cs typeface="Arial" panose="020B0604020202020204" pitchFamily="34" charset="0"/>
              </a:rPr>
              <a:t>II. Ürün %50 zamlanırsa birim fiyatı 200 TL olur.</a:t>
            </a:r>
          </a:p>
          <a:p>
            <a:r>
              <a:rPr lang="tr-TR" sz="1000" noProof="1">
                <a:cs typeface="Arial" panose="020B0604020202020204" pitchFamily="34" charset="0"/>
              </a:rPr>
              <a:t>II. Ürün önce %100 zamlanır ve </a:t>
            </a:r>
            <a:r>
              <a:rPr lang="tr-TR" sz="1000" u="sng" noProof="1">
                <a:cs typeface="Arial" panose="020B0604020202020204" pitchFamily="34" charset="0"/>
              </a:rPr>
              <a:t>baştaki fiyatı </a:t>
            </a:r>
            <a:r>
              <a:rPr lang="tr-TR" sz="1000" noProof="1">
                <a:cs typeface="Arial" panose="020B0604020202020204" pitchFamily="34" charset="0"/>
              </a:rPr>
              <a:t>üzerinden %60 oranında indirim </a:t>
            </a:r>
            <a:r>
              <a:rPr lang="tr-TR" sz="1000" u="sng" noProof="1">
                <a:cs typeface="Arial" panose="020B0604020202020204" pitchFamily="34" charset="0"/>
              </a:rPr>
              <a:t>son fiyatına uygulanırsa  </a:t>
            </a:r>
            <a:r>
              <a:rPr lang="tr-TR" sz="1000" noProof="1">
                <a:cs typeface="Arial" panose="020B0604020202020204" pitchFamily="34" charset="0"/>
              </a:rPr>
              <a:t>birim fiyatı 140 TL olur.</a:t>
            </a:r>
          </a:p>
          <a:p>
            <a:endParaRPr lang="tr-TR" sz="1000" noProof="1">
              <a:cs typeface="Arial" panose="020B0604020202020204" pitchFamily="34" charset="0"/>
            </a:endParaRPr>
          </a:p>
          <a:p>
            <a:r>
              <a:rPr lang="tr-TR" sz="1000" b="1" noProof="1">
                <a:cs typeface="Arial" panose="020B0604020202020204" pitchFamily="34" charset="0"/>
              </a:rPr>
              <a:t>yargılarından hangileri doğrudur?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1.B    2.E    3.B    4.B</a:t>
            </a:r>
          </a:p>
        </p:txBody>
      </p:sp>
      <p:sp>
        <p:nvSpPr>
          <p:cNvPr id="36" name="Metin kutusu 35">
            <a:extLst>
              <a:ext uri="{FF2B5EF4-FFF2-40B4-BE49-F238E27FC236}">
                <a16:creationId xmlns:a16="http://schemas.microsoft.com/office/drawing/2014/main" id="{CF404FCD-AA62-421D-B26E-02E247CC144C}"/>
              </a:ext>
            </a:extLst>
          </p:cNvPr>
          <p:cNvSpPr txBox="1"/>
          <p:nvPr/>
        </p:nvSpPr>
        <p:spPr>
          <a:xfrm>
            <a:off x="126120" y="4665295"/>
            <a:ext cx="3265522" cy="1323439"/>
          </a:xfrm>
          <a:prstGeom prst="rect">
            <a:avLst/>
          </a:prstGeom>
          <a:noFill/>
        </p:spPr>
        <p:txBody>
          <a:bodyPr wrap="square" rtlCol="0">
            <a:spAutoFit/>
          </a:bodyPr>
          <a:lstStyle/>
          <a:p>
            <a:r>
              <a:rPr lang="tr-TR" sz="1000" dirty="0"/>
              <a:t>Aşağıdaki anketlerin </a:t>
            </a:r>
            <a:r>
              <a:rPr lang="tr-TR" sz="1000" u="sng" dirty="0"/>
              <a:t>her birine </a:t>
            </a:r>
            <a:r>
              <a:rPr lang="tr-TR" sz="1000" dirty="0"/>
              <a:t>100 kişi katılmıştır ve katılımcıların seçtikleri renkler yüzde ile gösterilmiştir.</a:t>
            </a:r>
          </a:p>
          <a:p>
            <a:endParaRPr lang="tr-TR" sz="1000" dirty="0"/>
          </a:p>
          <a:p>
            <a:r>
              <a:rPr lang="tr-TR" sz="1000" dirty="0"/>
              <a:t>I.  </a:t>
            </a:r>
          </a:p>
          <a:p>
            <a:endParaRPr lang="tr-TR" sz="1000" dirty="0"/>
          </a:p>
          <a:p>
            <a:r>
              <a:rPr lang="tr-TR" sz="1000" dirty="0"/>
              <a:t>II.</a:t>
            </a:r>
          </a:p>
          <a:p>
            <a:endParaRPr lang="tr-TR" sz="1000" dirty="0"/>
          </a:p>
          <a:p>
            <a:r>
              <a:rPr lang="tr-TR" sz="1000" dirty="0"/>
              <a:t>III.</a:t>
            </a:r>
          </a:p>
        </p:txBody>
      </p:sp>
      <p:sp>
        <p:nvSpPr>
          <p:cNvPr id="37" name="Dikdörtgen 36">
            <a:extLst>
              <a:ext uri="{FF2B5EF4-FFF2-40B4-BE49-F238E27FC236}">
                <a16:creationId xmlns:a16="http://schemas.microsoft.com/office/drawing/2014/main" id="{CCEF3E1E-C595-4FDD-8F92-96BD94FFADC8}"/>
              </a:ext>
            </a:extLst>
          </p:cNvPr>
          <p:cNvSpPr/>
          <p:nvPr/>
        </p:nvSpPr>
        <p:spPr>
          <a:xfrm>
            <a:off x="409376" y="5167552"/>
            <a:ext cx="1800200" cy="192126"/>
          </a:xfrm>
          <a:prstGeom prst="rect">
            <a:avLst/>
          </a:prstGeom>
          <a:solidFill>
            <a:srgbClr val="FFFF00"/>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8" name="Dikdörtgen 37">
            <a:extLst>
              <a:ext uri="{FF2B5EF4-FFF2-40B4-BE49-F238E27FC236}">
                <a16:creationId xmlns:a16="http://schemas.microsoft.com/office/drawing/2014/main" id="{88518B6B-CBB6-4AB4-BCDC-01ED69B4F5E7}"/>
              </a:ext>
            </a:extLst>
          </p:cNvPr>
          <p:cNvSpPr/>
          <p:nvPr/>
        </p:nvSpPr>
        <p:spPr>
          <a:xfrm>
            <a:off x="400128" y="5167552"/>
            <a:ext cx="747952" cy="192126"/>
          </a:xfrm>
          <a:prstGeom prst="rect">
            <a:avLst/>
          </a:prstGeom>
          <a:solidFill>
            <a:srgbClr val="CCFFCC"/>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9" name="Dikdörtgen 38">
            <a:extLst>
              <a:ext uri="{FF2B5EF4-FFF2-40B4-BE49-F238E27FC236}">
                <a16:creationId xmlns:a16="http://schemas.microsoft.com/office/drawing/2014/main" id="{58EE0268-9DB3-43BC-BB3E-A0BCC074B949}"/>
              </a:ext>
            </a:extLst>
          </p:cNvPr>
          <p:cNvSpPr/>
          <p:nvPr/>
        </p:nvSpPr>
        <p:spPr>
          <a:xfrm>
            <a:off x="1611080" y="5167552"/>
            <a:ext cx="603935" cy="192126"/>
          </a:xfrm>
          <a:prstGeom prst="rect">
            <a:avLst/>
          </a:prstGeom>
          <a:solidFill>
            <a:srgbClr val="FFCC66"/>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0" name="Dikdörtgen 39">
            <a:extLst>
              <a:ext uri="{FF2B5EF4-FFF2-40B4-BE49-F238E27FC236}">
                <a16:creationId xmlns:a16="http://schemas.microsoft.com/office/drawing/2014/main" id="{3A5704A5-2EED-4B3D-9EB2-460BFE4366EC}"/>
              </a:ext>
            </a:extLst>
          </p:cNvPr>
          <p:cNvSpPr/>
          <p:nvPr/>
        </p:nvSpPr>
        <p:spPr>
          <a:xfrm>
            <a:off x="403937" y="5458282"/>
            <a:ext cx="1800200" cy="192126"/>
          </a:xfrm>
          <a:prstGeom prst="rect">
            <a:avLst/>
          </a:prstGeom>
          <a:solidFill>
            <a:srgbClr val="FFFF00"/>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1" name="Dikdörtgen 40">
            <a:extLst>
              <a:ext uri="{FF2B5EF4-FFF2-40B4-BE49-F238E27FC236}">
                <a16:creationId xmlns:a16="http://schemas.microsoft.com/office/drawing/2014/main" id="{C20DD7B2-2378-4A77-B296-9B1EF8ED0B72}"/>
              </a:ext>
            </a:extLst>
          </p:cNvPr>
          <p:cNvSpPr/>
          <p:nvPr/>
        </p:nvSpPr>
        <p:spPr>
          <a:xfrm>
            <a:off x="394688" y="5458282"/>
            <a:ext cx="747951" cy="192126"/>
          </a:xfrm>
          <a:prstGeom prst="rect">
            <a:avLst/>
          </a:prstGeom>
          <a:solidFill>
            <a:srgbClr val="CCFFCC"/>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46" name="Dikdörtgen 45">
            <a:extLst>
              <a:ext uri="{FF2B5EF4-FFF2-40B4-BE49-F238E27FC236}">
                <a16:creationId xmlns:a16="http://schemas.microsoft.com/office/drawing/2014/main" id="{1A7C0F96-ABCA-480D-AC68-280770CC02DD}"/>
              </a:ext>
            </a:extLst>
          </p:cNvPr>
          <p:cNvSpPr/>
          <p:nvPr/>
        </p:nvSpPr>
        <p:spPr>
          <a:xfrm>
            <a:off x="1489322" y="5458282"/>
            <a:ext cx="720254" cy="192126"/>
          </a:xfrm>
          <a:prstGeom prst="rect">
            <a:avLst/>
          </a:prstGeom>
          <a:solidFill>
            <a:srgbClr val="FFCC66"/>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8" name="Dikdörtgen 47">
            <a:extLst>
              <a:ext uri="{FF2B5EF4-FFF2-40B4-BE49-F238E27FC236}">
                <a16:creationId xmlns:a16="http://schemas.microsoft.com/office/drawing/2014/main" id="{02FF49C4-EE98-465A-BFD1-AA8F427A3FA7}"/>
              </a:ext>
            </a:extLst>
          </p:cNvPr>
          <p:cNvSpPr/>
          <p:nvPr/>
        </p:nvSpPr>
        <p:spPr>
          <a:xfrm>
            <a:off x="403937" y="5756690"/>
            <a:ext cx="1800200" cy="192126"/>
          </a:xfrm>
          <a:prstGeom prst="rect">
            <a:avLst/>
          </a:prstGeom>
          <a:solidFill>
            <a:srgbClr val="FFFF00"/>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3" name="Dikdörtgen 52">
            <a:extLst>
              <a:ext uri="{FF2B5EF4-FFF2-40B4-BE49-F238E27FC236}">
                <a16:creationId xmlns:a16="http://schemas.microsoft.com/office/drawing/2014/main" id="{8F128AED-BB38-4D74-8763-0F53C3872653}"/>
              </a:ext>
            </a:extLst>
          </p:cNvPr>
          <p:cNvSpPr/>
          <p:nvPr/>
        </p:nvSpPr>
        <p:spPr>
          <a:xfrm>
            <a:off x="394689" y="5756690"/>
            <a:ext cx="619561" cy="192126"/>
          </a:xfrm>
          <a:prstGeom prst="rect">
            <a:avLst/>
          </a:prstGeom>
          <a:solidFill>
            <a:srgbClr val="CCFFCC"/>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55" name="Dikdörtgen 54">
            <a:extLst>
              <a:ext uri="{FF2B5EF4-FFF2-40B4-BE49-F238E27FC236}">
                <a16:creationId xmlns:a16="http://schemas.microsoft.com/office/drawing/2014/main" id="{D7A2865C-03E7-488D-83AA-9BB140F7842C}"/>
              </a:ext>
            </a:extLst>
          </p:cNvPr>
          <p:cNvSpPr/>
          <p:nvPr/>
        </p:nvSpPr>
        <p:spPr>
          <a:xfrm>
            <a:off x="1624535" y="5756690"/>
            <a:ext cx="585041" cy="192126"/>
          </a:xfrm>
          <a:prstGeom prst="rect">
            <a:avLst/>
          </a:prstGeom>
          <a:solidFill>
            <a:srgbClr val="FFCC66"/>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6" name="Dikdörtgen 55">
            <a:extLst>
              <a:ext uri="{FF2B5EF4-FFF2-40B4-BE49-F238E27FC236}">
                <a16:creationId xmlns:a16="http://schemas.microsoft.com/office/drawing/2014/main" id="{ACD41E03-74C4-4F9D-84BF-5BC1C45CE163}"/>
              </a:ext>
            </a:extLst>
          </p:cNvPr>
          <p:cNvSpPr/>
          <p:nvPr/>
        </p:nvSpPr>
        <p:spPr>
          <a:xfrm>
            <a:off x="556754" y="5132810"/>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%60</a:t>
            </a:r>
          </a:p>
        </p:txBody>
      </p:sp>
      <p:sp>
        <p:nvSpPr>
          <p:cNvPr id="57" name="Dikdörtgen 56">
            <a:extLst>
              <a:ext uri="{FF2B5EF4-FFF2-40B4-BE49-F238E27FC236}">
                <a16:creationId xmlns:a16="http://schemas.microsoft.com/office/drawing/2014/main" id="{7F89E31C-56D5-4DBF-90F6-FCD1D7B98866}"/>
              </a:ext>
            </a:extLst>
          </p:cNvPr>
          <p:cNvSpPr/>
          <p:nvPr/>
        </p:nvSpPr>
        <p:spPr>
          <a:xfrm>
            <a:off x="1148079" y="5132810"/>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%19</a:t>
            </a:r>
          </a:p>
        </p:txBody>
      </p:sp>
      <p:sp>
        <p:nvSpPr>
          <p:cNvPr id="58" name="Dikdörtgen 57">
            <a:extLst>
              <a:ext uri="{FF2B5EF4-FFF2-40B4-BE49-F238E27FC236}">
                <a16:creationId xmlns:a16="http://schemas.microsoft.com/office/drawing/2014/main" id="{988A36FA-E6CB-41E4-9BD5-AF3320612BAB}"/>
              </a:ext>
            </a:extLst>
          </p:cNvPr>
          <p:cNvSpPr/>
          <p:nvPr/>
        </p:nvSpPr>
        <p:spPr>
          <a:xfrm>
            <a:off x="1651171" y="5130101"/>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%31</a:t>
            </a:r>
          </a:p>
        </p:txBody>
      </p:sp>
      <p:sp>
        <p:nvSpPr>
          <p:cNvPr id="59" name="Dikdörtgen 58">
            <a:extLst>
              <a:ext uri="{FF2B5EF4-FFF2-40B4-BE49-F238E27FC236}">
                <a16:creationId xmlns:a16="http://schemas.microsoft.com/office/drawing/2014/main" id="{28528464-1D19-4223-AE27-C7665607B12D}"/>
              </a:ext>
            </a:extLst>
          </p:cNvPr>
          <p:cNvSpPr/>
          <p:nvPr/>
        </p:nvSpPr>
        <p:spPr>
          <a:xfrm>
            <a:off x="494041" y="5422058"/>
            <a:ext cx="549243"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%47,6</a:t>
            </a:r>
          </a:p>
        </p:txBody>
      </p:sp>
      <p:sp>
        <p:nvSpPr>
          <p:cNvPr id="60" name="Dikdörtgen 59">
            <a:extLst>
              <a:ext uri="{FF2B5EF4-FFF2-40B4-BE49-F238E27FC236}">
                <a16:creationId xmlns:a16="http://schemas.microsoft.com/office/drawing/2014/main" id="{F5E731B1-CA5F-4902-BF95-B982D7ADFE73}"/>
              </a:ext>
            </a:extLst>
          </p:cNvPr>
          <p:cNvSpPr/>
          <p:nvPr/>
        </p:nvSpPr>
        <p:spPr>
          <a:xfrm>
            <a:off x="1117441" y="5422792"/>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%6</a:t>
            </a:r>
          </a:p>
        </p:txBody>
      </p:sp>
      <p:sp>
        <p:nvSpPr>
          <p:cNvPr id="61" name="Dikdörtgen 60">
            <a:extLst>
              <a:ext uri="{FF2B5EF4-FFF2-40B4-BE49-F238E27FC236}">
                <a16:creationId xmlns:a16="http://schemas.microsoft.com/office/drawing/2014/main" id="{ECD4C8DD-D960-447D-85E6-2F4D2E6834BC}"/>
              </a:ext>
            </a:extLst>
          </p:cNvPr>
          <p:cNvSpPr/>
          <p:nvPr/>
        </p:nvSpPr>
        <p:spPr>
          <a:xfrm>
            <a:off x="1526942" y="5419461"/>
            <a:ext cx="54831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%46,4</a:t>
            </a:r>
          </a:p>
        </p:txBody>
      </p:sp>
      <p:sp>
        <p:nvSpPr>
          <p:cNvPr id="63" name="Dikdörtgen 62">
            <a:extLst>
              <a:ext uri="{FF2B5EF4-FFF2-40B4-BE49-F238E27FC236}">
                <a16:creationId xmlns:a16="http://schemas.microsoft.com/office/drawing/2014/main" id="{D8B4B459-B1D2-4B6C-B7E0-0807708EDB02}"/>
              </a:ext>
            </a:extLst>
          </p:cNvPr>
          <p:cNvSpPr/>
          <p:nvPr/>
        </p:nvSpPr>
        <p:spPr>
          <a:xfrm>
            <a:off x="482441" y="5718236"/>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%34</a:t>
            </a:r>
          </a:p>
        </p:txBody>
      </p:sp>
      <p:sp>
        <p:nvSpPr>
          <p:cNvPr id="64" name="Dikdörtgen 63">
            <a:extLst>
              <a:ext uri="{FF2B5EF4-FFF2-40B4-BE49-F238E27FC236}">
                <a16:creationId xmlns:a16="http://schemas.microsoft.com/office/drawing/2014/main" id="{24A799FF-0C18-4BA8-B2F4-D3FD6E408330}"/>
              </a:ext>
            </a:extLst>
          </p:cNvPr>
          <p:cNvSpPr/>
          <p:nvPr/>
        </p:nvSpPr>
        <p:spPr>
          <a:xfrm>
            <a:off x="1089458" y="5720996"/>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%33</a:t>
            </a:r>
          </a:p>
        </p:txBody>
      </p:sp>
      <p:sp>
        <p:nvSpPr>
          <p:cNvPr id="65" name="Dikdörtgen 64">
            <a:extLst>
              <a:ext uri="{FF2B5EF4-FFF2-40B4-BE49-F238E27FC236}">
                <a16:creationId xmlns:a16="http://schemas.microsoft.com/office/drawing/2014/main" id="{DD4C8346-6D02-4233-BFE7-09C358292424}"/>
              </a:ext>
            </a:extLst>
          </p:cNvPr>
          <p:cNvSpPr/>
          <p:nvPr/>
        </p:nvSpPr>
        <p:spPr>
          <a:xfrm>
            <a:off x="1699669" y="5718236"/>
            <a:ext cx="434699" cy="261610"/>
          </a:xfrm>
          <a:prstGeom prst="rect">
            <a:avLst/>
          </a:prstGeom>
        </p:spPr>
        <p:txBody>
          <a:bodyPr wrap="square">
            <a:spAutoFit/>
          </a:bodyPr>
          <a:lstStyle/>
          <a:p>
            <a:r>
              <a:rPr lang="tr-TR" sz="1100" b="1" dirty="0">
                <a:solidFill>
                  <a:schemeClr val="tx1">
                    <a:lumMod val="85000"/>
                    <a:lumOff val="15000"/>
                  </a:schemeClr>
                </a:solidFill>
                <a:latin typeface="Arial Narrow" panose="020B0606020202030204" pitchFamily="34" charset="0"/>
              </a:rPr>
              <a:t>%33</a:t>
            </a:r>
          </a:p>
        </p:txBody>
      </p:sp>
      <p:sp>
        <p:nvSpPr>
          <p:cNvPr id="66" name="Metin kutusu 65">
            <a:extLst>
              <a:ext uri="{FF2B5EF4-FFF2-40B4-BE49-F238E27FC236}">
                <a16:creationId xmlns:a16="http://schemas.microsoft.com/office/drawing/2014/main" id="{86537261-E876-4346-A0AD-8AB021D8E012}"/>
              </a:ext>
            </a:extLst>
          </p:cNvPr>
          <p:cNvSpPr txBox="1"/>
          <p:nvPr/>
        </p:nvSpPr>
        <p:spPr>
          <a:xfrm>
            <a:off x="88536" y="6006224"/>
            <a:ext cx="3275281" cy="400110"/>
          </a:xfrm>
          <a:prstGeom prst="rect">
            <a:avLst/>
          </a:prstGeom>
          <a:noFill/>
        </p:spPr>
        <p:txBody>
          <a:bodyPr wrap="square" rtlCol="0">
            <a:spAutoFit/>
          </a:bodyPr>
          <a:lstStyle/>
          <a:p>
            <a:r>
              <a:rPr lang="tr-TR" sz="1000" b="1" dirty="0"/>
              <a:t>Yukarda numaralandırılmış anketlerin hangisinde herhangi bir hata bulunmaktadır?</a:t>
            </a:r>
          </a:p>
        </p:txBody>
      </p:sp>
      <p:sp>
        <p:nvSpPr>
          <p:cNvPr id="67" name="Metin kutusu 66">
            <a:extLst>
              <a:ext uri="{FF2B5EF4-FFF2-40B4-BE49-F238E27FC236}">
                <a16:creationId xmlns:a16="http://schemas.microsoft.com/office/drawing/2014/main" id="{00929D5A-A3BA-4F2D-8D49-2DA1818F9EA2}"/>
              </a:ext>
            </a:extLst>
          </p:cNvPr>
          <p:cNvSpPr txBox="1"/>
          <p:nvPr/>
        </p:nvSpPr>
        <p:spPr>
          <a:xfrm>
            <a:off x="100575" y="6347354"/>
            <a:ext cx="3217245" cy="553998"/>
          </a:xfrm>
          <a:prstGeom prst="rect">
            <a:avLst/>
          </a:prstGeom>
          <a:noFill/>
        </p:spPr>
        <p:txBody>
          <a:bodyPr wrap="square" rtlCol="0">
            <a:spAutoFit/>
          </a:bodyPr>
          <a:lstStyle/>
          <a:p>
            <a:r>
              <a:rPr lang="tr-TR" sz="1000" dirty="0">
                <a:cs typeface="Arial" panose="020B0604020202020204" pitchFamily="34" charset="0"/>
              </a:rPr>
              <a:t>A) Yalnız II                         B) Yalnız III                          C) I ve III</a:t>
            </a:r>
          </a:p>
          <a:p>
            <a:r>
              <a:rPr lang="tr-TR" sz="1000" dirty="0">
                <a:cs typeface="Arial" panose="020B0604020202020204" pitchFamily="34" charset="0"/>
              </a:rPr>
              <a:t>  </a:t>
            </a:r>
          </a:p>
          <a:p>
            <a:r>
              <a:rPr lang="tr-TR" sz="1000" dirty="0">
                <a:cs typeface="Arial" panose="020B0604020202020204" pitchFamily="34" charset="0"/>
              </a:rPr>
              <a:t>                       D) II ve III                          E) I ve II</a:t>
            </a:r>
          </a:p>
        </p:txBody>
      </p:sp>
      <mc:AlternateContent xmlns:mc="http://schemas.openxmlformats.org/markup-compatibility/2006" xmlns:a14="http://schemas.microsoft.com/office/drawing/2010/main">
        <mc:Choice Requires="a14">
          <p:sp>
            <p:nvSpPr>
              <p:cNvPr id="68" name="Metin kutusu 67">
                <a:extLst>
                  <a:ext uri="{FF2B5EF4-FFF2-40B4-BE49-F238E27FC236}">
                    <a16:creationId xmlns:a16="http://schemas.microsoft.com/office/drawing/2014/main" id="{456F523A-77F3-4749-9FA4-EEF22D8F2A33}"/>
                  </a:ext>
                </a:extLst>
              </p:cNvPr>
              <p:cNvSpPr txBox="1"/>
              <p:nvPr/>
            </p:nvSpPr>
            <p:spPr>
              <a:xfrm>
                <a:off x="3549409" y="4646112"/>
                <a:ext cx="3335975" cy="1046056"/>
              </a:xfrm>
              <a:prstGeom prst="rect">
                <a:avLst/>
              </a:prstGeom>
              <a:noFill/>
            </p:spPr>
            <p:txBody>
              <a:bodyPr wrap="square" rtlCol="0">
                <a:spAutoFit/>
              </a:bodyPr>
              <a:lstStyle/>
              <a:p>
                <a:r>
                  <a:rPr lang="tr-TR" sz="1000" noProof="1"/>
                  <a:t>Bardağın boşken ağırlığı </a:t>
                </a:r>
                <a14:m>
                  <m:oMath xmlns:m="http://schemas.openxmlformats.org/officeDocument/2006/math">
                    <m:f>
                      <m:fPr>
                        <m:ctrlPr>
                          <a:rPr lang="tr-TR" sz="850" i="1" noProof="1" dirty="0" smtClean="0">
                            <a:solidFill>
                              <a:schemeClr val="tx1"/>
                            </a:solidFill>
                            <a:latin typeface="Cambria Math" panose="02040503050406030204" pitchFamily="18" charset="0"/>
                            <a:cs typeface="Arial" panose="020B0604020202020204" pitchFamily="34" charset="0"/>
                          </a:rPr>
                        </m:ctrlPr>
                      </m:fPr>
                      <m:num>
                        <m:r>
                          <a:rPr lang="tr-TR" sz="850" i="1" noProof="1" dirty="0" smtClean="0">
                            <a:solidFill>
                              <a:schemeClr val="tx1"/>
                            </a:solidFill>
                            <a:latin typeface="Cambria Math"/>
                            <a:cs typeface="Arial" panose="020B0604020202020204" pitchFamily="34" charset="0"/>
                          </a:rPr>
                          <m:t>  </m:t>
                        </m:r>
                        <m:r>
                          <m:rPr>
                            <m:nor/>
                          </m:rPr>
                          <a:rPr lang="tr-TR" sz="850" b="0" i="0" noProof="1" dirty="0" smtClean="0">
                            <a:solidFill>
                              <a:schemeClr val="tx1"/>
                            </a:solidFill>
                            <a:latin typeface="Helvetica" panose="020B0604020202020204" pitchFamily="34" charset="0"/>
                            <a:cs typeface="Helvetica" panose="020B0604020202020204" pitchFamily="34" charset="0"/>
                          </a:rPr>
                          <m:t>a</m:t>
                        </m:r>
                        <m:r>
                          <a:rPr lang="tr-TR" sz="850" i="1" noProof="1" dirty="0" smtClean="0">
                            <a:solidFill>
                              <a:schemeClr val="tx1"/>
                            </a:solidFill>
                            <a:latin typeface="Cambria Math"/>
                            <a:cs typeface="Arial" panose="020B0604020202020204" pitchFamily="34" charset="0"/>
                          </a:rPr>
                          <m:t>  </m:t>
                        </m:r>
                      </m:num>
                      <m:den>
                        <m:r>
                          <m:rPr>
                            <m:nor/>
                          </m:rPr>
                          <a:rPr lang="tr-TR" sz="850" b="0" i="0" noProof="1" dirty="0" smtClean="0">
                            <a:solidFill>
                              <a:schemeClr val="tx1"/>
                            </a:solidFill>
                            <a:latin typeface="Helvetica" panose="020B0604020202020204" pitchFamily="34" charset="0"/>
                            <a:cs typeface="Helvetica" panose="020B0604020202020204" pitchFamily="34" charset="0"/>
                          </a:rPr>
                          <m:t>12</m:t>
                        </m:r>
                      </m:den>
                    </m:f>
                  </m:oMath>
                </a14:m>
                <a:r>
                  <a:rPr lang="tr-TR" sz="1000" noProof="1"/>
                  <a:t> birimdir. Bardağın %40`ı su doluyken ağırlığı </a:t>
                </a:r>
                <a14:m>
                  <m:oMath xmlns:m="http://schemas.openxmlformats.org/officeDocument/2006/math">
                    <m:f>
                      <m:fPr>
                        <m:ctrlPr>
                          <a:rPr lang="tr-TR" sz="850" i="1" noProof="1" dirty="0" smtClean="0">
                            <a:latin typeface="Cambria Math" panose="02040503050406030204" pitchFamily="18" charset="0"/>
                            <a:cs typeface="Arial" panose="020B0604020202020204" pitchFamily="34" charset="0"/>
                          </a:rPr>
                        </m:ctrlPr>
                      </m:fPr>
                      <m:num>
                        <m:r>
                          <a:rPr lang="tr-TR" sz="850" i="1" noProof="1" dirty="0">
                            <a:latin typeface="Cambria Math"/>
                            <a:cs typeface="Arial" panose="020B0604020202020204" pitchFamily="34" charset="0"/>
                          </a:rPr>
                          <m:t>  </m:t>
                        </m:r>
                        <m:r>
                          <m:rPr>
                            <m:nor/>
                          </m:rPr>
                          <a:rPr lang="tr-TR" sz="850" noProof="1" dirty="0">
                            <a:latin typeface="Helvetica" panose="020B0604020202020204" pitchFamily="34" charset="0"/>
                            <a:cs typeface="Helvetica" panose="020B0604020202020204" pitchFamily="34" charset="0"/>
                          </a:rPr>
                          <m:t>a</m:t>
                        </m:r>
                        <m:r>
                          <a:rPr lang="tr-TR" sz="850" i="1" noProof="1" dirty="0">
                            <a:latin typeface="Cambria Math"/>
                            <a:cs typeface="Arial" panose="020B0604020202020204" pitchFamily="34" charset="0"/>
                          </a:rPr>
                          <m:t>  </m:t>
                        </m:r>
                      </m:num>
                      <m:den>
                        <m:r>
                          <m:rPr>
                            <m:nor/>
                          </m:rPr>
                          <a:rPr lang="tr-TR" sz="850" b="0" i="0" noProof="1" dirty="0" smtClean="0">
                            <a:latin typeface="Helvetica" panose="020B0604020202020204" pitchFamily="34" charset="0"/>
                            <a:cs typeface="Helvetica" panose="020B0604020202020204" pitchFamily="34" charset="0"/>
                          </a:rPr>
                          <m:t>6</m:t>
                        </m:r>
                      </m:den>
                    </m:f>
                  </m:oMath>
                </a14:m>
                <a:r>
                  <a:rPr lang="tr-TR" sz="1000" noProof="1"/>
                  <a:t> birim olmaktadır. Bardağın %60`ı su dolduğunda </a:t>
                </a:r>
                <a14:m>
                  <m:oMath xmlns:m="http://schemas.openxmlformats.org/officeDocument/2006/math">
                    <m:f>
                      <m:fPr>
                        <m:ctrlPr>
                          <a:rPr lang="tr-TR" sz="850" i="1" noProof="1" dirty="0">
                            <a:latin typeface="Cambria Math" panose="02040503050406030204" pitchFamily="18" charset="0"/>
                            <a:cs typeface="Arial" panose="020B0604020202020204" pitchFamily="34" charset="0"/>
                          </a:rPr>
                        </m:ctrlPr>
                      </m:fPr>
                      <m:num>
                        <m:r>
                          <a:rPr lang="tr-TR" sz="850" i="1" noProof="1" dirty="0">
                            <a:latin typeface="Cambria Math"/>
                            <a:cs typeface="Arial" panose="020B0604020202020204" pitchFamily="34" charset="0"/>
                          </a:rPr>
                          <m:t>  </m:t>
                        </m:r>
                        <m:r>
                          <m:rPr>
                            <m:nor/>
                          </m:rPr>
                          <a:rPr lang="tr-TR" sz="850" b="0" i="0" noProof="1" dirty="0" smtClean="0">
                            <a:latin typeface="Helvetica" panose="020B0604020202020204" pitchFamily="34" charset="0"/>
                            <a:cs typeface="Helvetica" panose="020B0604020202020204" pitchFamily="34" charset="0"/>
                          </a:rPr>
                          <m:t>30</m:t>
                        </m:r>
                        <m:r>
                          <a:rPr lang="tr-TR" sz="850" i="1" noProof="1" dirty="0">
                            <a:latin typeface="Cambria Math"/>
                            <a:cs typeface="Arial" panose="020B0604020202020204" pitchFamily="34" charset="0"/>
                          </a:rPr>
                          <m:t>  </m:t>
                        </m:r>
                      </m:num>
                      <m:den>
                        <m:r>
                          <m:rPr>
                            <m:nor/>
                          </m:rPr>
                          <a:rPr lang="tr-TR" sz="850" b="0" i="0" noProof="1" dirty="0" smtClean="0">
                            <a:latin typeface="Helvetica" panose="020B0604020202020204" pitchFamily="34" charset="0"/>
                            <a:cs typeface="Helvetica" panose="020B0604020202020204" pitchFamily="34" charset="0"/>
                          </a:rPr>
                          <m:t>4</m:t>
                        </m:r>
                      </m:den>
                    </m:f>
                  </m:oMath>
                </a14:m>
                <a:r>
                  <a:rPr lang="tr-TR" sz="850" noProof="1"/>
                  <a:t>  </a:t>
                </a:r>
                <a:r>
                  <a:rPr lang="tr-TR" sz="1000" noProof="1"/>
                  <a:t>birim ağırlığında olmaktadır.</a:t>
                </a:r>
              </a:p>
              <a:p>
                <a:endParaRPr lang="tr-TR" sz="1000" noProof="1"/>
              </a:p>
              <a:p>
                <a:r>
                  <a:rPr lang="tr-TR" sz="1000" b="1" noProof="1"/>
                  <a:t>Buna göre, a gerçel sayısı  kaçtır?</a:t>
                </a:r>
              </a:p>
            </p:txBody>
          </p:sp>
        </mc:Choice>
        <mc:Fallback xmlns="">
          <p:sp>
            <p:nvSpPr>
              <p:cNvPr id="68" name="Metin kutusu 67">
                <a:extLst>
                  <a:ext uri="{FF2B5EF4-FFF2-40B4-BE49-F238E27FC236}">
                    <a16:creationId xmlns:a16="http://schemas.microsoft.com/office/drawing/2014/main" id="{456F523A-77F3-4749-9FA4-EEF22D8F2A33}"/>
                  </a:ext>
                </a:extLst>
              </p:cNvPr>
              <p:cNvSpPr txBox="1">
                <a:spLocks noRot="1" noChangeAspect="1" noMove="1" noResize="1" noEditPoints="1" noAdjustHandles="1" noChangeArrowheads="1" noChangeShapeType="1" noTextEdit="1"/>
              </p:cNvSpPr>
              <p:nvPr/>
            </p:nvSpPr>
            <p:spPr>
              <a:xfrm>
                <a:off x="3549409" y="4646112"/>
                <a:ext cx="3335975" cy="1046056"/>
              </a:xfrm>
              <a:prstGeom prst="rect">
                <a:avLst/>
              </a:prstGeom>
              <a:blipFill>
                <a:blip r:embed="rId5"/>
                <a:stretch>
                  <a:fillRect/>
                </a:stretch>
              </a:blipFill>
            </p:spPr>
            <p:txBody>
              <a:bodyPr/>
              <a:lstStyle/>
              <a:p>
                <a:r>
                  <a:rPr lang="tr-TR">
                    <a:noFill/>
                  </a:rPr>
                  <a:t> </a:t>
                </a:r>
              </a:p>
            </p:txBody>
          </p:sp>
        </mc:Fallback>
      </mc:AlternateContent>
      <p:sp>
        <p:nvSpPr>
          <p:cNvPr id="69" name="Metin kutusu 68">
            <a:extLst>
              <a:ext uri="{FF2B5EF4-FFF2-40B4-BE49-F238E27FC236}">
                <a16:creationId xmlns:a16="http://schemas.microsoft.com/office/drawing/2014/main" id="{A4A036F8-AD68-4792-B91F-51AEB41A9F90}"/>
              </a:ext>
            </a:extLst>
          </p:cNvPr>
          <p:cNvSpPr txBox="1"/>
          <p:nvPr/>
        </p:nvSpPr>
        <p:spPr>
          <a:xfrm>
            <a:off x="3546093" y="5579821"/>
            <a:ext cx="3184685" cy="553998"/>
          </a:xfrm>
          <a:prstGeom prst="rect">
            <a:avLst/>
          </a:prstGeom>
          <a:noFill/>
        </p:spPr>
        <p:txBody>
          <a:bodyPr wrap="square" rtlCol="0">
            <a:spAutoFit/>
          </a:bodyPr>
          <a:lstStyle/>
          <a:p>
            <a:r>
              <a:rPr lang="tr-TR" sz="1000" b="0" dirty="0"/>
              <a:t>A) 24</a:t>
            </a:r>
            <a:r>
              <a:rPr lang="tr-TR" sz="1000" dirty="0"/>
              <a:t>                                    B) 36                                     C) 48</a:t>
            </a:r>
          </a:p>
          <a:p>
            <a:pPr marL="228600" indent="-228600">
              <a:buAutoNum type="alphaUcParenR"/>
            </a:pPr>
            <a:endParaRPr lang="tr-TR" sz="1000" dirty="0"/>
          </a:p>
          <a:p>
            <a:r>
              <a:rPr lang="tr-TR" sz="1000" dirty="0"/>
              <a:t>                          D) 72                                     E) 96</a:t>
            </a:r>
            <a:endParaRPr lang="tr-TR" sz="1000" b="1" dirty="0"/>
          </a:p>
        </p:txBody>
      </p:sp>
      <p:sp>
        <p:nvSpPr>
          <p:cNvPr id="70" name="Metin kutusu 69">
            <a:extLst>
              <a:ext uri="{FF2B5EF4-FFF2-40B4-BE49-F238E27FC236}">
                <a16:creationId xmlns:a16="http://schemas.microsoft.com/office/drawing/2014/main" id="{8C269902-937F-48FB-AB60-255189D4AEE2}"/>
              </a:ext>
            </a:extLst>
          </p:cNvPr>
          <p:cNvSpPr txBox="1"/>
          <p:nvPr/>
        </p:nvSpPr>
        <p:spPr>
          <a:xfrm>
            <a:off x="3462993" y="1874662"/>
            <a:ext cx="3217245" cy="553998"/>
          </a:xfrm>
          <a:prstGeom prst="rect">
            <a:avLst/>
          </a:prstGeom>
          <a:noFill/>
        </p:spPr>
        <p:txBody>
          <a:bodyPr wrap="square" rtlCol="0">
            <a:spAutoFit/>
          </a:bodyPr>
          <a:lstStyle/>
          <a:p>
            <a:r>
              <a:rPr lang="tr-TR" sz="1000" dirty="0">
                <a:cs typeface="Arial" panose="020B0604020202020204" pitchFamily="34" charset="0"/>
              </a:rPr>
              <a:t>A) Yalnız II                         B) Yalnız III                          C) I ve III</a:t>
            </a:r>
          </a:p>
          <a:p>
            <a:r>
              <a:rPr lang="tr-TR" sz="1000" dirty="0">
                <a:cs typeface="Arial" panose="020B0604020202020204" pitchFamily="34" charset="0"/>
              </a:rPr>
              <a:t>  </a:t>
            </a:r>
          </a:p>
          <a:p>
            <a:r>
              <a:rPr lang="tr-TR" sz="1000" dirty="0">
                <a:cs typeface="Arial" panose="020B0604020202020204" pitchFamily="34" charset="0"/>
              </a:rPr>
              <a:t>                       D) II ve III                          E) I ve II</a:t>
            </a:r>
          </a:p>
        </p:txBody>
      </p:sp>
    </p:spTree>
    <p:extLst>
      <p:ext uri="{BB962C8B-B14F-4D97-AF65-F5344CB8AC3E}">
        <p14:creationId xmlns:p14="http://schemas.microsoft.com/office/powerpoint/2010/main" val="250705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Yüzde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119613" y="5174158"/>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406151" y="50942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5.C    6.C    7.B   8.E</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18827" y="478661"/>
            <a:ext cx="3433958" cy="400110"/>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1.makine ürünün mevcut boyuntunu %10 azalmaktadır.</a:t>
            </a:r>
          </a:p>
          <a:p>
            <a:pPr marL="171450" indent="-171450">
              <a:buFont typeface="Arial" panose="020B0604020202020204" pitchFamily="34" charset="0"/>
              <a:buChar char="•"/>
            </a:pPr>
            <a:r>
              <a:rPr lang="tr-TR" sz="1000" noProof="1">
                <a:cs typeface="Arial" panose="020B0604020202020204" pitchFamily="34" charset="0"/>
              </a:rPr>
              <a:t>2.makine ise ürünün mevcut boyutunu %25 arttırmaktadır.</a:t>
            </a:r>
          </a:p>
        </p:txBody>
      </p:sp>
      <p:sp>
        <p:nvSpPr>
          <p:cNvPr id="36" name="Metin kutusu 35">
            <a:extLst>
              <a:ext uri="{FF2B5EF4-FFF2-40B4-BE49-F238E27FC236}">
                <a16:creationId xmlns:a16="http://schemas.microsoft.com/office/drawing/2014/main" id="{1614CD80-30E9-4DF3-9AD0-1CB887364E59}"/>
              </a:ext>
            </a:extLst>
          </p:cNvPr>
          <p:cNvSpPr txBox="1"/>
          <p:nvPr/>
        </p:nvSpPr>
        <p:spPr>
          <a:xfrm>
            <a:off x="63235" y="483341"/>
            <a:ext cx="3296596" cy="861774"/>
          </a:xfrm>
          <a:prstGeom prst="rect">
            <a:avLst/>
          </a:prstGeom>
          <a:noFill/>
        </p:spPr>
        <p:txBody>
          <a:bodyPr wrap="square" rtlCol="0">
            <a:spAutoFit/>
          </a:bodyPr>
          <a:lstStyle/>
          <a:p>
            <a:r>
              <a:rPr lang="tr-TR" sz="1000" noProof="1">
                <a:cs typeface="Arial" panose="020B0604020202020204" pitchFamily="34" charset="0"/>
              </a:rPr>
              <a:t>I. Bir ürün %100 zamlanırsa fiyatı iki katına çıkar.</a:t>
            </a:r>
          </a:p>
          <a:p>
            <a:r>
              <a:rPr lang="tr-TR" sz="1000" noProof="1">
                <a:cs typeface="Arial" panose="020B0604020202020204" pitchFamily="34" charset="0"/>
              </a:rPr>
              <a:t>II. Bir ürüne %25 indirim uygulanırsa fiyatı yarıya iner.</a:t>
            </a:r>
          </a:p>
          <a:p>
            <a:r>
              <a:rPr lang="tr-TR" sz="1000" noProof="1">
                <a:cs typeface="Arial" panose="020B0604020202020204" pitchFamily="34" charset="0"/>
              </a:rPr>
              <a:t>III. Bir ürüne %100 indirim uygulanırsa ürünün ücretsiz olur.</a:t>
            </a:r>
          </a:p>
          <a:p>
            <a:endParaRPr lang="tr-TR" sz="1000" noProof="1">
              <a:cs typeface="Arial" panose="020B0604020202020204" pitchFamily="34" charset="0"/>
            </a:endParaRPr>
          </a:p>
          <a:p>
            <a:r>
              <a:rPr lang="tr-TR" sz="1000" b="1" noProof="1">
                <a:cs typeface="Arial" panose="020B0604020202020204" pitchFamily="34" charset="0"/>
              </a:rPr>
              <a:t>Yukarıdaki önermelerden hangileri doğrudur?</a:t>
            </a:r>
          </a:p>
        </p:txBody>
      </p:sp>
      <p:sp>
        <p:nvSpPr>
          <p:cNvPr id="37" name="Metin kutusu 36">
            <a:extLst>
              <a:ext uri="{FF2B5EF4-FFF2-40B4-BE49-F238E27FC236}">
                <a16:creationId xmlns:a16="http://schemas.microsoft.com/office/drawing/2014/main" id="{0D8DA637-64CC-494B-A8D5-7BD5C390A614}"/>
              </a:ext>
            </a:extLst>
          </p:cNvPr>
          <p:cNvSpPr txBox="1"/>
          <p:nvPr/>
        </p:nvSpPr>
        <p:spPr>
          <a:xfrm>
            <a:off x="63235" y="1312328"/>
            <a:ext cx="3342915" cy="553998"/>
          </a:xfrm>
          <a:prstGeom prst="rect">
            <a:avLst/>
          </a:prstGeom>
          <a:noFill/>
        </p:spPr>
        <p:txBody>
          <a:bodyPr wrap="square" rtlCol="0">
            <a:spAutoFit/>
          </a:bodyPr>
          <a:lstStyle/>
          <a:p>
            <a:r>
              <a:rPr lang="tr-TR" sz="1000" dirty="0">
                <a:cs typeface="Arial" panose="020B0604020202020204" pitchFamily="34" charset="0"/>
              </a:rPr>
              <a:t>A) Yalnız II                            B) Yalnız III                             C) I ve III</a:t>
            </a:r>
          </a:p>
          <a:p>
            <a:r>
              <a:rPr lang="tr-TR" sz="1000" dirty="0">
                <a:cs typeface="Arial" panose="020B0604020202020204" pitchFamily="34" charset="0"/>
              </a:rPr>
              <a:t>  </a:t>
            </a:r>
          </a:p>
          <a:p>
            <a:r>
              <a:rPr lang="tr-TR" sz="1000" dirty="0">
                <a:cs typeface="Arial" panose="020B0604020202020204" pitchFamily="34" charset="0"/>
              </a:rPr>
              <a:t>                       D) II ve III                          E) I ve II</a:t>
            </a:r>
          </a:p>
        </p:txBody>
      </p:sp>
      <p:sp>
        <p:nvSpPr>
          <p:cNvPr id="38" name="Metin kutusu 37">
            <a:extLst>
              <a:ext uri="{FF2B5EF4-FFF2-40B4-BE49-F238E27FC236}">
                <a16:creationId xmlns:a16="http://schemas.microsoft.com/office/drawing/2014/main" id="{63277AF0-F981-4297-8755-9F8F70AB531C}"/>
              </a:ext>
            </a:extLst>
          </p:cNvPr>
          <p:cNvSpPr txBox="1"/>
          <p:nvPr/>
        </p:nvSpPr>
        <p:spPr>
          <a:xfrm>
            <a:off x="44839" y="5214189"/>
            <a:ext cx="3377748" cy="1015663"/>
          </a:xfrm>
          <a:prstGeom prst="rect">
            <a:avLst/>
          </a:prstGeom>
          <a:noFill/>
        </p:spPr>
        <p:txBody>
          <a:bodyPr wrap="square" rtlCol="0">
            <a:spAutoFit/>
          </a:bodyPr>
          <a:lstStyle/>
          <a:p>
            <a:r>
              <a:rPr lang="tr-TR" sz="1000" dirty="0"/>
              <a:t>Üniversitede okuyan Recep, birinci ve ikinci sınavından sırasıyla 60 ve 45 almıştır. İlk sınavın %40`ı etkilemekte, ikinci sınavın ise %60`ı etkilemektedir. Dönem sonu notu hesabı için iki sınavın yüzde etkileriyle birlikte toplanmasıyla bulunuyor. </a:t>
            </a:r>
          </a:p>
          <a:p>
            <a:endParaRPr lang="tr-TR" sz="1000" dirty="0"/>
          </a:p>
          <a:p>
            <a:r>
              <a:rPr lang="tr-TR" sz="1000" b="1" dirty="0"/>
              <a:t>Buna göre, Recep`in dönem sonu notu kaçtır?</a:t>
            </a:r>
          </a:p>
        </p:txBody>
      </p:sp>
      <p:sp>
        <p:nvSpPr>
          <p:cNvPr id="39" name="Metin kutusu 38">
            <a:extLst>
              <a:ext uri="{FF2B5EF4-FFF2-40B4-BE49-F238E27FC236}">
                <a16:creationId xmlns:a16="http://schemas.microsoft.com/office/drawing/2014/main" id="{D6336C30-0E52-4D7E-9A17-8D13510AE2D5}"/>
              </a:ext>
            </a:extLst>
          </p:cNvPr>
          <p:cNvSpPr txBox="1"/>
          <p:nvPr/>
        </p:nvSpPr>
        <p:spPr>
          <a:xfrm>
            <a:off x="34807" y="6183032"/>
            <a:ext cx="3184685" cy="553998"/>
          </a:xfrm>
          <a:prstGeom prst="rect">
            <a:avLst/>
          </a:prstGeom>
          <a:noFill/>
        </p:spPr>
        <p:txBody>
          <a:bodyPr wrap="square" rtlCol="0">
            <a:spAutoFit/>
          </a:bodyPr>
          <a:lstStyle/>
          <a:p>
            <a:r>
              <a:rPr lang="tr-TR" sz="1000" b="0" dirty="0"/>
              <a:t>A) 49</a:t>
            </a:r>
            <a:r>
              <a:rPr lang="tr-TR" sz="1000" dirty="0"/>
              <a:t>                                    B) 50                                     C) 51</a:t>
            </a:r>
          </a:p>
          <a:p>
            <a:pPr marL="228600" indent="-228600">
              <a:buAutoNum type="alphaUcParenR"/>
            </a:pPr>
            <a:endParaRPr lang="tr-TR" sz="1000" dirty="0"/>
          </a:p>
          <a:p>
            <a:r>
              <a:rPr lang="tr-TR" sz="1000" dirty="0"/>
              <a:t>                          D) 53                                     E) 55</a:t>
            </a:r>
            <a:endParaRPr lang="tr-TR" sz="1000" b="1" dirty="0"/>
          </a:p>
        </p:txBody>
      </p:sp>
      <p:sp>
        <p:nvSpPr>
          <p:cNvPr id="40" name="Metin kutusu 39">
            <a:extLst>
              <a:ext uri="{FF2B5EF4-FFF2-40B4-BE49-F238E27FC236}">
                <a16:creationId xmlns:a16="http://schemas.microsoft.com/office/drawing/2014/main" id="{79B98109-0D36-458E-9E3D-D9AC79C03BE1}"/>
              </a:ext>
            </a:extLst>
          </p:cNvPr>
          <p:cNvSpPr txBox="1"/>
          <p:nvPr/>
        </p:nvSpPr>
        <p:spPr>
          <a:xfrm>
            <a:off x="3570603" y="5116165"/>
            <a:ext cx="3361312" cy="1631216"/>
          </a:xfrm>
          <a:prstGeom prst="rect">
            <a:avLst/>
          </a:prstGeom>
          <a:noFill/>
        </p:spPr>
        <p:txBody>
          <a:bodyPr wrap="square" rtlCol="0">
            <a:spAutoFit/>
          </a:bodyPr>
          <a:lstStyle/>
          <a:p>
            <a:r>
              <a:rPr lang="tr-TR" sz="1000" noProof="1"/>
              <a:t>Açelya, Gökhan ve Hüseyin eşit miktarda para koyarak bir şirket kurmayı düşünmektedirler. Fakat şirket kurulurken arkadaşlar aralarında borçlanmışlardır.</a:t>
            </a:r>
          </a:p>
          <a:p>
            <a:endParaRPr lang="tr-TR" sz="1000" b="1" noProof="1"/>
          </a:p>
          <a:p>
            <a:pPr marL="171450" indent="-171450">
              <a:buFont typeface="Arial" panose="020B0604020202020204" pitchFamily="34" charset="0"/>
              <a:buChar char="•"/>
            </a:pPr>
            <a:r>
              <a:rPr lang="tr-TR" sz="1000" b="1" noProof="1"/>
              <a:t> </a:t>
            </a:r>
            <a:r>
              <a:rPr lang="tr-TR" sz="1000" noProof="1"/>
              <a:t>Açelya sadece ödemesi gerekeni ödemiştir.</a:t>
            </a:r>
          </a:p>
          <a:p>
            <a:pPr marL="171450" indent="-171450">
              <a:buFont typeface="Arial" panose="020B0604020202020204" pitchFamily="34" charset="0"/>
              <a:buChar char="•"/>
            </a:pPr>
            <a:r>
              <a:rPr lang="tr-TR" sz="1000" noProof="1"/>
              <a:t> Gökhan ödemesi gereken miktardan 20.000 TL fazla ödemiştir.</a:t>
            </a:r>
          </a:p>
          <a:p>
            <a:pPr marL="171450" indent="-171450">
              <a:buFont typeface="Arial" panose="020B0604020202020204" pitchFamily="34" charset="0"/>
              <a:buChar char="•"/>
            </a:pPr>
            <a:r>
              <a:rPr lang="tr-TR" sz="1000" noProof="1"/>
              <a:t>Hüseyin ödemesi gereken miktardan %40 eksik ödemiştir.</a:t>
            </a:r>
          </a:p>
          <a:p>
            <a:pPr marL="171450" indent="-171450">
              <a:buFont typeface="Arial" panose="020B0604020202020204" pitchFamily="34" charset="0"/>
              <a:buChar char="•"/>
            </a:pPr>
            <a:endParaRPr lang="tr-TR" sz="1000" noProof="1"/>
          </a:p>
          <a:p>
            <a:r>
              <a:rPr lang="tr-TR" sz="1000" b="1" noProof="1"/>
              <a:t>Buna göre, bu şirket kaç TL bütçe ile kurulmuştur?</a:t>
            </a:r>
          </a:p>
        </p:txBody>
      </p:sp>
      <p:sp>
        <p:nvSpPr>
          <p:cNvPr id="41" name="Metin kutusu 40">
            <a:extLst>
              <a:ext uri="{FF2B5EF4-FFF2-40B4-BE49-F238E27FC236}">
                <a16:creationId xmlns:a16="http://schemas.microsoft.com/office/drawing/2014/main" id="{BA9B06B5-2C2E-40C9-93D0-CC7F1424382A}"/>
              </a:ext>
            </a:extLst>
          </p:cNvPr>
          <p:cNvSpPr txBox="1"/>
          <p:nvPr/>
        </p:nvSpPr>
        <p:spPr>
          <a:xfrm>
            <a:off x="3571480" y="6744850"/>
            <a:ext cx="3348197" cy="553998"/>
          </a:xfrm>
          <a:prstGeom prst="rect">
            <a:avLst/>
          </a:prstGeom>
          <a:noFill/>
        </p:spPr>
        <p:txBody>
          <a:bodyPr wrap="square" rtlCol="0">
            <a:spAutoFit/>
          </a:bodyPr>
          <a:lstStyle/>
          <a:p>
            <a:r>
              <a:rPr lang="tr-TR" sz="1000" b="0" dirty="0"/>
              <a:t>A)   40.000 </a:t>
            </a:r>
            <a:r>
              <a:rPr lang="tr-TR" sz="1000" dirty="0"/>
              <a:t>                         B) 50.000                           C) 75.000</a:t>
            </a:r>
          </a:p>
          <a:p>
            <a:pPr marL="228600" indent="-228600">
              <a:buAutoNum type="alphaUcParenR"/>
            </a:pPr>
            <a:endParaRPr lang="tr-TR" sz="1000" dirty="0"/>
          </a:p>
          <a:p>
            <a:r>
              <a:rPr lang="tr-TR" sz="1000" dirty="0"/>
              <a:t>                       D) 100.000                     E) 150.000</a:t>
            </a:r>
            <a:endParaRPr lang="tr-TR" sz="1000" b="1" dirty="0"/>
          </a:p>
        </p:txBody>
      </p:sp>
      <p:sp>
        <p:nvSpPr>
          <p:cNvPr id="2" name="Akış Çizelgesi: El İle İşlem 1">
            <a:extLst>
              <a:ext uri="{FF2B5EF4-FFF2-40B4-BE49-F238E27FC236}">
                <a16:creationId xmlns:a16="http://schemas.microsoft.com/office/drawing/2014/main" id="{21C307D9-3F3E-4F8A-9C99-465DE8CBAAA6}"/>
              </a:ext>
            </a:extLst>
          </p:cNvPr>
          <p:cNvSpPr/>
          <p:nvPr/>
        </p:nvSpPr>
        <p:spPr>
          <a:xfrm>
            <a:off x="3766248" y="943605"/>
            <a:ext cx="929691" cy="797350"/>
          </a:xfrm>
          <a:prstGeom prst="flowChartManualOperation">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 name="Oval 6">
            <a:extLst>
              <a:ext uri="{FF2B5EF4-FFF2-40B4-BE49-F238E27FC236}">
                <a16:creationId xmlns:a16="http://schemas.microsoft.com/office/drawing/2014/main" id="{DBAE00D1-D929-415B-9737-E4BD901AEC11}"/>
              </a:ext>
            </a:extLst>
          </p:cNvPr>
          <p:cNvSpPr/>
          <p:nvPr/>
        </p:nvSpPr>
        <p:spPr>
          <a:xfrm>
            <a:off x="3838256"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6" name="Oval 45">
            <a:extLst>
              <a:ext uri="{FF2B5EF4-FFF2-40B4-BE49-F238E27FC236}">
                <a16:creationId xmlns:a16="http://schemas.microsoft.com/office/drawing/2014/main" id="{D338408B-9862-4466-B081-F1F754ABD277}"/>
              </a:ext>
            </a:extLst>
          </p:cNvPr>
          <p:cNvSpPr/>
          <p:nvPr/>
        </p:nvSpPr>
        <p:spPr>
          <a:xfrm>
            <a:off x="3910264"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8" name="Oval 47">
            <a:extLst>
              <a:ext uri="{FF2B5EF4-FFF2-40B4-BE49-F238E27FC236}">
                <a16:creationId xmlns:a16="http://schemas.microsoft.com/office/drawing/2014/main" id="{4EFA7F24-19B1-48DE-80EF-1FB3ED01F02B}"/>
              </a:ext>
            </a:extLst>
          </p:cNvPr>
          <p:cNvSpPr/>
          <p:nvPr/>
        </p:nvSpPr>
        <p:spPr>
          <a:xfrm>
            <a:off x="3982272"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53" name="Oval 52">
            <a:extLst>
              <a:ext uri="{FF2B5EF4-FFF2-40B4-BE49-F238E27FC236}">
                <a16:creationId xmlns:a16="http://schemas.microsoft.com/office/drawing/2014/main" id="{B6C85F77-C0A6-4FB5-BE22-6E4C7609A8F3}"/>
              </a:ext>
            </a:extLst>
          </p:cNvPr>
          <p:cNvSpPr/>
          <p:nvPr/>
        </p:nvSpPr>
        <p:spPr>
          <a:xfrm>
            <a:off x="4054280"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5" name="Oval 54">
            <a:extLst>
              <a:ext uri="{FF2B5EF4-FFF2-40B4-BE49-F238E27FC236}">
                <a16:creationId xmlns:a16="http://schemas.microsoft.com/office/drawing/2014/main" id="{767FBBDE-D784-439E-8E13-6EAC6B54DA83}"/>
              </a:ext>
            </a:extLst>
          </p:cNvPr>
          <p:cNvSpPr/>
          <p:nvPr/>
        </p:nvSpPr>
        <p:spPr>
          <a:xfrm>
            <a:off x="4133039"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6" name="Oval 55">
            <a:extLst>
              <a:ext uri="{FF2B5EF4-FFF2-40B4-BE49-F238E27FC236}">
                <a16:creationId xmlns:a16="http://schemas.microsoft.com/office/drawing/2014/main" id="{E739C6E8-4870-4515-B7D6-90EE5D8F76A6}"/>
              </a:ext>
            </a:extLst>
          </p:cNvPr>
          <p:cNvSpPr/>
          <p:nvPr/>
        </p:nvSpPr>
        <p:spPr>
          <a:xfrm>
            <a:off x="4205047"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7" name="Oval 56">
            <a:extLst>
              <a:ext uri="{FF2B5EF4-FFF2-40B4-BE49-F238E27FC236}">
                <a16:creationId xmlns:a16="http://schemas.microsoft.com/office/drawing/2014/main" id="{9391D57B-50D6-4F62-A7C8-CC8656CAE09B}"/>
              </a:ext>
            </a:extLst>
          </p:cNvPr>
          <p:cNvSpPr/>
          <p:nvPr/>
        </p:nvSpPr>
        <p:spPr>
          <a:xfrm>
            <a:off x="4288263"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8" name="Oval 57">
            <a:extLst>
              <a:ext uri="{FF2B5EF4-FFF2-40B4-BE49-F238E27FC236}">
                <a16:creationId xmlns:a16="http://schemas.microsoft.com/office/drawing/2014/main" id="{E80D78F0-C354-47F8-A064-86F0AF08F424}"/>
              </a:ext>
            </a:extLst>
          </p:cNvPr>
          <p:cNvSpPr/>
          <p:nvPr/>
        </p:nvSpPr>
        <p:spPr>
          <a:xfrm>
            <a:off x="4360271"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9" name="Oval 58">
            <a:extLst>
              <a:ext uri="{FF2B5EF4-FFF2-40B4-BE49-F238E27FC236}">
                <a16:creationId xmlns:a16="http://schemas.microsoft.com/office/drawing/2014/main" id="{E8FF19BF-C281-4095-A81D-98922095368E}"/>
              </a:ext>
            </a:extLst>
          </p:cNvPr>
          <p:cNvSpPr/>
          <p:nvPr/>
        </p:nvSpPr>
        <p:spPr>
          <a:xfrm>
            <a:off x="4437408"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0" name="Oval 59">
            <a:extLst>
              <a:ext uri="{FF2B5EF4-FFF2-40B4-BE49-F238E27FC236}">
                <a16:creationId xmlns:a16="http://schemas.microsoft.com/office/drawing/2014/main" id="{E04F73DF-F7DB-4CA9-84A3-6D6A6D0D71B8}"/>
              </a:ext>
            </a:extLst>
          </p:cNvPr>
          <p:cNvSpPr/>
          <p:nvPr/>
        </p:nvSpPr>
        <p:spPr>
          <a:xfrm>
            <a:off x="4509416"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1" name="Oval 60">
            <a:extLst>
              <a:ext uri="{FF2B5EF4-FFF2-40B4-BE49-F238E27FC236}">
                <a16:creationId xmlns:a16="http://schemas.microsoft.com/office/drawing/2014/main" id="{B641BF86-BE11-4663-91CF-C9A572A86BF4}"/>
              </a:ext>
            </a:extLst>
          </p:cNvPr>
          <p:cNvSpPr/>
          <p:nvPr/>
        </p:nvSpPr>
        <p:spPr>
          <a:xfrm>
            <a:off x="4589212" y="98228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4" name="Akış Çizelgesi: El İle İşlem 63">
            <a:extLst>
              <a:ext uri="{FF2B5EF4-FFF2-40B4-BE49-F238E27FC236}">
                <a16:creationId xmlns:a16="http://schemas.microsoft.com/office/drawing/2014/main" id="{E5937B59-DE7E-4070-8739-0F85643AD142}"/>
              </a:ext>
            </a:extLst>
          </p:cNvPr>
          <p:cNvSpPr/>
          <p:nvPr/>
        </p:nvSpPr>
        <p:spPr>
          <a:xfrm>
            <a:off x="5461642" y="948545"/>
            <a:ext cx="929691" cy="797350"/>
          </a:xfrm>
          <a:prstGeom prst="flowChartManualOperation">
            <a:avLst/>
          </a:prstGeom>
          <a:solidFill>
            <a:schemeClr val="accent2">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5" name="Oval 64">
            <a:extLst>
              <a:ext uri="{FF2B5EF4-FFF2-40B4-BE49-F238E27FC236}">
                <a16:creationId xmlns:a16="http://schemas.microsoft.com/office/drawing/2014/main" id="{D33BFF94-2532-4CBE-A9C0-7D2F06E41C42}"/>
              </a:ext>
            </a:extLst>
          </p:cNvPr>
          <p:cNvSpPr/>
          <p:nvPr/>
        </p:nvSpPr>
        <p:spPr>
          <a:xfrm>
            <a:off x="5533650"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6" name="Oval 65">
            <a:extLst>
              <a:ext uri="{FF2B5EF4-FFF2-40B4-BE49-F238E27FC236}">
                <a16:creationId xmlns:a16="http://schemas.microsoft.com/office/drawing/2014/main" id="{BD4A445C-F7A2-4D21-A5A9-4ED57676341D}"/>
              </a:ext>
            </a:extLst>
          </p:cNvPr>
          <p:cNvSpPr/>
          <p:nvPr/>
        </p:nvSpPr>
        <p:spPr>
          <a:xfrm>
            <a:off x="5605658"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7" name="Oval 66">
            <a:extLst>
              <a:ext uri="{FF2B5EF4-FFF2-40B4-BE49-F238E27FC236}">
                <a16:creationId xmlns:a16="http://schemas.microsoft.com/office/drawing/2014/main" id="{417A7263-3B88-49CB-B78F-8E725E38EA12}"/>
              </a:ext>
            </a:extLst>
          </p:cNvPr>
          <p:cNvSpPr/>
          <p:nvPr/>
        </p:nvSpPr>
        <p:spPr>
          <a:xfrm>
            <a:off x="5677666"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8" name="Oval 67">
            <a:extLst>
              <a:ext uri="{FF2B5EF4-FFF2-40B4-BE49-F238E27FC236}">
                <a16:creationId xmlns:a16="http://schemas.microsoft.com/office/drawing/2014/main" id="{A25121C2-7B83-4B7B-A16A-3AA2F0A47821}"/>
              </a:ext>
            </a:extLst>
          </p:cNvPr>
          <p:cNvSpPr/>
          <p:nvPr/>
        </p:nvSpPr>
        <p:spPr>
          <a:xfrm>
            <a:off x="5749674"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9" name="Oval 68">
            <a:extLst>
              <a:ext uri="{FF2B5EF4-FFF2-40B4-BE49-F238E27FC236}">
                <a16:creationId xmlns:a16="http://schemas.microsoft.com/office/drawing/2014/main" id="{44161723-8CC9-4769-BA3F-5C8547DF5CE8}"/>
              </a:ext>
            </a:extLst>
          </p:cNvPr>
          <p:cNvSpPr/>
          <p:nvPr/>
        </p:nvSpPr>
        <p:spPr>
          <a:xfrm>
            <a:off x="5828433"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0" name="Oval 69">
            <a:extLst>
              <a:ext uri="{FF2B5EF4-FFF2-40B4-BE49-F238E27FC236}">
                <a16:creationId xmlns:a16="http://schemas.microsoft.com/office/drawing/2014/main" id="{FABC5817-CCFE-42B5-88A9-C9068E141692}"/>
              </a:ext>
            </a:extLst>
          </p:cNvPr>
          <p:cNvSpPr/>
          <p:nvPr/>
        </p:nvSpPr>
        <p:spPr>
          <a:xfrm>
            <a:off x="5900441"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1" name="Oval 70">
            <a:extLst>
              <a:ext uri="{FF2B5EF4-FFF2-40B4-BE49-F238E27FC236}">
                <a16:creationId xmlns:a16="http://schemas.microsoft.com/office/drawing/2014/main" id="{EAD910C7-437B-415A-B299-10B3CE640A3A}"/>
              </a:ext>
            </a:extLst>
          </p:cNvPr>
          <p:cNvSpPr/>
          <p:nvPr/>
        </p:nvSpPr>
        <p:spPr>
          <a:xfrm>
            <a:off x="5983657"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2" name="Oval 71">
            <a:extLst>
              <a:ext uri="{FF2B5EF4-FFF2-40B4-BE49-F238E27FC236}">
                <a16:creationId xmlns:a16="http://schemas.microsoft.com/office/drawing/2014/main" id="{142C8188-A482-4C16-AFBB-A667B60778E7}"/>
              </a:ext>
            </a:extLst>
          </p:cNvPr>
          <p:cNvSpPr/>
          <p:nvPr/>
        </p:nvSpPr>
        <p:spPr>
          <a:xfrm>
            <a:off x="6055665"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3" name="Oval 72">
            <a:extLst>
              <a:ext uri="{FF2B5EF4-FFF2-40B4-BE49-F238E27FC236}">
                <a16:creationId xmlns:a16="http://schemas.microsoft.com/office/drawing/2014/main" id="{8DFACF36-4EE4-4BA2-8F8B-BE0B112BAFFE}"/>
              </a:ext>
            </a:extLst>
          </p:cNvPr>
          <p:cNvSpPr/>
          <p:nvPr/>
        </p:nvSpPr>
        <p:spPr>
          <a:xfrm>
            <a:off x="6132802"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4" name="Oval 73">
            <a:extLst>
              <a:ext uri="{FF2B5EF4-FFF2-40B4-BE49-F238E27FC236}">
                <a16:creationId xmlns:a16="http://schemas.microsoft.com/office/drawing/2014/main" id="{B7A0A1D3-8C3B-4588-A981-7226E430DBBC}"/>
              </a:ext>
            </a:extLst>
          </p:cNvPr>
          <p:cNvSpPr/>
          <p:nvPr/>
        </p:nvSpPr>
        <p:spPr>
          <a:xfrm>
            <a:off x="6204810"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5" name="Oval 74">
            <a:extLst>
              <a:ext uri="{FF2B5EF4-FFF2-40B4-BE49-F238E27FC236}">
                <a16:creationId xmlns:a16="http://schemas.microsoft.com/office/drawing/2014/main" id="{1BAD6385-F1F6-4B17-85F8-1800D50BC408}"/>
              </a:ext>
            </a:extLst>
          </p:cNvPr>
          <p:cNvSpPr/>
          <p:nvPr/>
        </p:nvSpPr>
        <p:spPr>
          <a:xfrm>
            <a:off x="6284606" y="987220"/>
            <a:ext cx="45719" cy="54716"/>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94A9612F-8258-45AD-BE1E-3826E38DF4DE}"/>
              </a:ext>
            </a:extLst>
          </p:cNvPr>
          <p:cNvSpPr txBox="1"/>
          <p:nvPr/>
        </p:nvSpPr>
        <p:spPr>
          <a:xfrm>
            <a:off x="3814815" y="1009638"/>
            <a:ext cx="811964" cy="477054"/>
          </a:xfrm>
          <a:prstGeom prst="rect">
            <a:avLst/>
          </a:prstGeom>
          <a:noFill/>
        </p:spPr>
        <p:txBody>
          <a:bodyPr wrap="square" rtlCol="0">
            <a:spAutoFit/>
          </a:bodyPr>
          <a:lstStyle/>
          <a:p>
            <a:r>
              <a:rPr lang="tr-TR" sz="2500" dirty="0">
                <a:solidFill>
                  <a:srgbClr val="C00000"/>
                </a:solidFill>
                <a:latin typeface="Digital-7" panose="02000000000000000000" pitchFamily="2" charset="0"/>
              </a:rPr>
              <a:t>-</a:t>
            </a:r>
            <a:r>
              <a:rPr lang="tr-TR" sz="2500" dirty="0">
                <a:latin typeface="Digital-7" panose="02000000000000000000" pitchFamily="2" charset="0"/>
              </a:rPr>
              <a:t>% 10</a:t>
            </a:r>
          </a:p>
        </p:txBody>
      </p:sp>
      <p:sp>
        <p:nvSpPr>
          <p:cNvPr id="89" name="Metin kutusu 88">
            <a:extLst>
              <a:ext uri="{FF2B5EF4-FFF2-40B4-BE49-F238E27FC236}">
                <a16:creationId xmlns:a16="http://schemas.microsoft.com/office/drawing/2014/main" id="{F7E467CA-C7EF-47CE-B591-73E427C03EE0}"/>
              </a:ext>
            </a:extLst>
          </p:cNvPr>
          <p:cNvSpPr txBox="1"/>
          <p:nvPr/>
        </p:nvSpPr>
        <p:spPr>
          <a:xfrm>
            <a:off x="5490377" y="1009638"/>
            <a:ext cx="936103" cy="477054"/>
          </a:xfrm>
          <a:prstGeom prst="rect">
            <a:avLst/>
          </a:prstGeom>
          <a:noFill/>
        </p:spPr>
        <p:txBody>
          <a:bodyPr wrap="square" rtlCol="0">
            <a:spAutoFit/>
          </a:bodyPr>
          <a:lstStyle/>
          <a:p>
            <a:r>
              <a:rPr lang="tr-TR" sz="2500" dirty="0">
                <a:solidFill>
                  <a:srgbClr val="00B050"/>
                </a:solidFill>
                <a:latin typeface="Digital-7" panose="02000000000000000000" pitchFamily="2" charset="0"/>
              </a:rPr>
              <a:t>+</a:t>
            </a:r>
            <a:r>
              <a:rPr lang="tr-TR" sz="2500" dirty="0">
                <a:latin typeface="Digital-7" panose="02000000000000000000" pitchFamily="2" charset="0"/>
              </a:rPr>
              <a:t>% 25</a:t>
            </a:r>
          </a:p>
        </p:txBody>
      </p:sp>
      <p:sp>
        <p:nvSpPr>
          <p:cNvPr id="13" name="On İki Kenarlı 12">
            <a:extLst>
              <a:ext uri="{FF2B5EF4-FFF2-40B4-BE49-F238E27FC236}">
                <a16:creationId xmlns:a16="http://schemas.microsoft.com/office/drawing/2014/main" id="{7C8D6B5D-E307-4D95-8E4C-EC795C112154}"/>
              </a:ext>
            </a:extLst>
          </p:cNvPr>
          <p:cNvSpPr/>
          <p:nvPr/>
        </p:nvSpPr>
        <p:spPr>
          <a:xfrm>
            <a:off x="4096837" y="1486692"/>
            <a:ext cx="237145" cy="191207"/>
          </a:xfrm>
          <a:prstGeom prst="dodecagon">
            <a:avLst/>
          </a:prstGeom>
          <a:solidFill>
            <a:srgbClr val="F28D5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latin typeface="digital geometric" panose="02000505020000020004" pitchFamily="2" charset="0"/>
              </a:rPr>
              <a:t>1</a:t>
            </a:r>
          </a:p>
        </p:txBody>
      </p:sp>
      <p:sp>
        <p:nvSpPr>
          <p:cNvPr id="91" name="On İki Kenarlı 90">
            <a:extLst>
              <a:ext uri="{FF2B5EF4-FFF2-40B4-BE49-F238E27FC236}">
                <a16:creationId xmlns:a16="http://schemas.microsoft.com/office/drawing/2014/main" id="{9B8DBDB6-4B7D-4E04-B960-BD4326A43DBE}"/>
              </a:ext>
            </a:extLst>
          </p:cNvPr>
          <p:cNvSpPr/>
          <p:nvPr/>
        </p:nvSpPr>
        <p:spPr>
          <a:xfrm>
            <a:off x="5828433" y="1475994"/>
            <a:ext cx="247919" cy="191207"/>
          </a:xfrm>
          <a:prstGeom prst="dodecagon">
            <a:avLst/>
          </a:prstGeom>
          <a:solidFill>
            <a:srgbClr val="F28D5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latin typeface="digital geometric" panose="02000505020000020004" pitchFamily="2" charset="0"/>
              </a:rPr>
              <a:t>2</a:t>
            </a:r>
          </a:p>
        </p:txBody>
      </p:sp>
      <p:sp>
        <p:nvSpPr>
          <p:cNvPr id="92" name="Metin kutusu 91">
            <a:extLst>
              <a:ext uri="{FF2B5EF4-FFF2-40B4-BE49-F238E27FC236}">
                <a16:creationId xmlns:a16="http://schemas.microsoft.com/office/drawing/2014/main" id="{20666A08-03D7-4CDB-8E03-FBC1EE122DE4}"/>
              </a:ext>
            </a:extLst>
          </p:cNvPr>
          <p:cNvSpPr txBox="1"/>
          <p:nvPr/>
        </p:nvSpPr>
        <p:spPr>
          <a:xfrm>
            <a:off x="3537187" y="1748159"/>
            <a:ext cx="3310093" cy="1015663"/>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Bir ürünün boyutu %10 azaltılmak istenirse 1 tuşuna basılır ; sonra tekrardan boyutu %10 azaltılmak istenirse 1 tuşuna tekrar basılarak </a:t>
            </a:r>
            <a:r>
              <a:rPr lang="tr-TR" sz="1000" u="sng" noProof="1">
                <a:cs typeface="Arial" panose="020B0604020202020204" pitchFamily="34" charset="0"/>
              </a:rPr>
              <a:t>daha önceden küçültülmüş nihai durumunu</a:t>
            </a:r>
            <a:r>
              <a:rPr lang="tr-TR" sz="1000" noProof="1">
                <a:cs typeface="Arial" panose="020B0604020202020204" pitchFamily="34" charset="0"/>
              </a:rPr>
              <a:t> %10 azaltılır, benzer prensipte %25 arttırılmak istenirse 2 tuşuna basılır. Bu işlemi hızlı yapmak için sırasıyla 1,1,2 tuş kombinasyonu kullanılır.</a:t>
            </a:r>
          </a:p>
        </p:txBody>
      </p:sp>
      <p:sp>
        <p:nvSpPr>
          <p:cNvPr id="93" name="Metin kutusu 92">
            <a:extLst>
              <a:ext uri="{FF2B5EF4-FFF2-40B4-BE49-F238E27FC236}">
                <a16:creationId xmlns:a16="http://schemas.microsoft.com/office/drawing/2014/main" id="{E502329A-115C-44BA-9D5A-77C752E2C8B1}"/>
              </a:ext>
            </a:extLst>
          </p:cNvPr>
          <p:cNvSpPr txBox="1"/>
          <p:nvPr/>
        </p:nvSpPr>
        <p:spPr>
          <a:xfrm>
            <a:off x="3399233" y="2727945"/>
            <a:ext cx="3456777" cy="400110"/>
          </a:xfrm>
          <a:prstGeom prst="rect">
            <a:avLst/>
          </a:prstGeom>
          <a:noFill/>
        </p:spPr>
        <p:txBody>
          <a:bodyPr wrap="square" rtlCol="0">
            <a:spAutoFit/>
          </a:bodyPr>
          <a:lstStyle/>
          <a:p>
            <a:r>
              <a:rPr lang="tr-TR" sz="1000" b="1" noProof="1">
                <a:cs typeface="Arial" panose="020B0604020202020204" pitchFamily="34" charset="0"/>
              </a:rPr>
              <a:t>Buna göre, boyutu 360 birim olanı 506,25 yapmak için aşağıdaki sıralı kombinasyonlardan hangisi tercih edilmelidir? </a:t>
            </a:r>
          </a:p>
        </p:txBody>
      </p:sp>
      <p:sp>
        <p:nvSpPr>
          <p:cNvPr id="95" name="Metin kutusu 94">
            <a:extLst>
              <a:ext uri="{FF2B5EF4-FFF2-40B4-BE49-F238E27FC236}">
                <a16:creationId xmlns:a16="http://schemas.microsoft.com/office/drawing/2014/main" id="{9C14DDFD-AC40-4190-B3C3-6AC6150194D9}"/>
              </a:ext>
            </a:extLst>
          </p:cNvPr>
          <p:cNvSpPr txBox="1"/>
          <p:nvPr/>
        </p:nvSpPr>
        <p:spPr>
          <a:xfrm>
            <a:off x="3399234" y="3059015"/>
            <a:ext cx="3518466" cy="553998"/>
          </a:xfrm>
          <a:prstGeom prst="rect">
            <a:avLst/>
          </a:prstGeom>
          <a:noFill/>
        </p:spPr>
        <p:txBody>
          <a:bodyPr wrap="square" rtlCol="0">
            <a:spAutoFit/>
          </a:bodyPr>
          <a:lstStyle/>
          <a:p>
            <a:r>
              <a:rPr lang="tr-TR" sz="1000" b="0" dirty="0"/>
              <a:t>A) 2,1,2,1</a:t>
            </a:r>
            <a:r>
              <a:rPr lang="tr-TR" sz="1000" dirty="0"/>
              <a:t>                                      B) 1,2,2                                  C) 2,2</a:t>
            </a:r>
          </a:p>
          <a:p>
            <a:pPr marL="228600" indent="-228600">
              <a:buAutoNum type="alphaUcParenR"/>
            </a:pPr>
            <a:endParaRPr lang="tr-TR" sz="1000" dirty="0"/>
          </a:p>
          <a:p>
            <a:r>
              <a:rPr lang="tr-TR" sz="1000" dirty="0"/>
              <a:t>                          D) 2,2,2                                     E) 2,1,1</a:t>
            </a:r>
            <a:endParaRPr lang="tr-TR" sz="1000" b="1" dirty="0"/>
          </a:p>
        </p:txBody>
      </p:sp>
      <p:sp>
        <p:nvSpPr>
          <p:cNvPr id="76" name="Metin kutusu 75">
            <a:extLst>
              <a:ext uri="{FF2B5EF4-FFF2-40B4-BE49-F238E27FC236}">
                <a16:creationId xmlns:a16="http://schemas.microsoft.com/office/drawing/2014/main" id="{7A5AC39B-4F36-4BA4-8E59-9C96C931FCD6}"/>
              </a:ext>
            </a:extLst>
          </p:cNvPr>
          <p:cNvSpPr txBox="1"/>
          <p:nvPr/>
        </p:nvSpPr>
        <p:spPr>
          <a:xfrm>
            <a:off x="4135193" y="1265538"/>
            <a:ext cx="225078" cy="477054"/>
          </a:xfrm>
          <a:prstGeom prst="rect">
            <a:avLst/>
          </a:prstGeom>
          <a:noFill/>
        </p:spPr>
        <p:txBody>
          <a:bodyPr wrap="square" rtlCol="0">
            <a:spAutoFit/>
          </a:bodyPr>
          <a:lstStyle/>
          <a:p>
            <a:r>
              <a:rPr lang="tr-TR" sz="2500" dirty="0">
                <a:latin typeface="Digital-7" panose="02000000000000000000" pitchFamily="2" charset="0"/>
              </a:rPr>
              <a:t>.</a:t>
            </a:r>
          </a:p>
        </p:txBody>
      </p:sp>
      <p:sp>
        <p:nvSpPr>
          <p:cNvPr id="77" name="Metin kutusu 76">
            <a:extLst>
              <a:ext uri="{FF2B5EF4-FFF2-40B4-BE49-F238E27FC236}">
                <a16:creationId xmlns:a16="http://schemas.microsoft.com/office/drawing/2014/main" id="{0CE3E48B-1A89-46EA-9C5F-A7FD6A1D6CBC}"/>
              </a:ext>
            </a:extLst>
          </p:cNvPr>
          <p:cNvSpPr txBox="1"/>
          <p:nvPr/>
        </p:nvSpPr>
        <p:spPr>
          <a:xfrm>
            <a:off x="5892576" y="1255369"/>
            <a:ext cx="225078" cy="477054"/>
          </a:xfrm>
          <a:prstGeom prst="rect">
            <a:avLst/>
          </a:prstGeom>
          <a:noFill/>
        </p:spPr>
        <p:txBody>
          <a:bodyPr wrap="square" rtlCol="0">
            <a:spAutoFit/>
          </a:bodyPr>
          <a:lstStyle/>
          <a:p>
            <a:r>
              <a:rPr lang="tr-TR" sz="2500" dirty="0">
                <a:latin typeface="Digital-7" panose="02000000000000000000" pitchFamily="2" charset="0"/>
              </a:rPr>
              <a:t>.</a:t>
            </a:r>
          </a:p>
        </p:txBody>
      </p:sp>
    </p:spTree>
    <p:extLst>
      <p:ext uri="{BB962C8B-B14F-4D97-AF65-F5344CB8AC3E}">
        <p14:creationId xmlns:p14="http://schemas.microsoft.com/office/powerpoint/2010/main" val="154567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4011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Grafik Problemleri</a:t>
            </a:r>
          </a:p>
          <a:p>
            <a:r>
              <a:rPr lang="tr-TR" sz="1000" b="1" noProof="1">
                <a:latin typeface="+mj-lt"/>
                <a:cs typeface="Arial" panose="020B0604020202020204" pitchFamily="34" charset="0"/>
              </a:rPr>
              <a:t>Dairesel Grafikler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Candara Light" panose="020E0502030303020204" pitchFamily="34" charset="0"/>
              </a:rPr>
              <a:t>O T A N T İ K </a:t>
            </a:r>
            <a:r>
              <a:rPr lang="tr-TR" sz="1000" noProof="1">
                <a:solidFill>
                  <a:schemeClr val="tx1"/>
                </a:solidFill>
              </a:rPr>
              <a:t>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8911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248" y="534836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3476783" y="2598297"/>
            <a:ext cx="3281681" cy="553998"/>
          </a:xfrm>
          <a:prstGeom prst="rect">
            <a:avLst/>
          </a:prstGeom>
          <a:noFill/>
        </p:spPr>
        <p:txBody>
          <a:bodyPr wrap="square" rtlCol="0">
            <a:spAutoFit/>
          </a:bodyPr>
          <a:lstStyle/>
          <a:p>
            <a:r>
              <a:rPr lang="tr-TR" sz="1000" noProof="1"/>
              <a:t>A) 60                                     B) 70                                        C) 75</a:t>
            </a:r>
          </a:p>
          <a:p>
            <a:pPr marL="228600" indent="-228600">
              <a:buAutoNum type="alphaUcParenR"/>
            </a:pPr>
            <a:endParaRPr lang="tr-TR" sz="1000" noProof="1"/>
          </a:p>
          <a:p>
            <a:r>
              <a:rPr lang="tr-TR" sz="1000" noProof="1"/>
              <a:t>                      D) 80                                      E) 85</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3535277" y="5384931"/>
            <a:ext cx="3315950" cy="2092881"/>
          </a:xfrm>
          <a:prstGeom prst="rect">
            <a:avLst/>
          </a:prstGeom>
          <a:noFill/>
        </p:spPr>
        <p:txBody>
          <a:bodyPr wrap="square" rtlCol="0">
            <a:spAutoFit/>
          </a:bodyPr>
          <a:lstStyle/>
          <a:p>
            <a:r>
              <a:rPr lang="tr-TR" sz="1000" b="1" noProof="1">
                <a:cs typeface="Arial" panose="020B0604020202020204" pitchFamily="34" charset="0"/>
              </a:rPr>
              <a:t>Bir dairesel grafikte iki farklı veri farklı tam sayı değerlerine sahip olmak üzere ; </a:t>
            </a:r>
          </a:p>
          <a:p>
            <a:endParaRPr lang="tr-TR" sz="1000" b="1" noProof="1">
              <a:cs typeface="Arial" panose="020B0604020202020204" pitchFamily="34" charset="0"/>
            </a:endParaRPr>
          </a:p>
          <a:p>
            <a:r>
              <a:rPr lang="tr-TR" sz="1000" noProof="1">
                <a:cs typeface="Arial" panose="020B0604020202020204" pitchFamily="34" charset="0"/>
              </a:rPr>
              <a:t>I. Verilerin merkez açıların oranının alabileceği en büyük tam sayı değeri 359 dur. </a:t>
            </a:r>
          </a:p>
          <a:p>
            <a:r>
              <a:rPr lang="tr-TR" sz="1000" noProof="1">
                <a:cs typeface="Arial" panose="020B0604020202020204" pitchFamily="34" charset="0"/>
              </a:rPr>
              <a:t>II.  Merkez açıların aritmetik ortalaması 180 dir. </a:t>
            </a:r>
          </a:p>
          <a:p>
            <a:r>
              <a:rPr lang="tr-TR" sz="1000" noProof="1">
                <a:cs typeface="Arial" panose="020B0604020202020204" pitchFamily="34" charset="0"/>
              </a:rPr>
              <a:t>III. Verilerin merkez açıların oranının alabileceği en küçük tam sayı değeri 3 dür. </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93656" y="469505"/>
            <a:ext cx="3364344" cy="400110"/>
          </a:xfrm>
          <a:prstGeom prst="rect">
            <a:avLst/>
          </a:prstGeom>
          <a:noFill/>
        </p:spPr>
        <p:txBody>
          <a:bodyPr wrap="square" rtlCol="0">
            <a:spAutoFit/>
          </a:bodyPr>
          <a:lstStyle/>
          <a:p>
            <a:r>
              <a:rPr lang="tr-TR" sz="1000" noProof="1">
                <a:cs typeface="Arial" panose="020B0604020202020204" pitchFamily="34" charset="0"/>
              </a:rPr>
              <a:t>Aşağıdaki grafik 120 gramlık bir karışımın içerisindeki A,B,C ve X maddelerini gram olarak miktarlarını belirtmektedir.   </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9523" y="8836152"/>
            <a:ext cx="971205"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1.E    2.C    3.A</a:t>
            </a:r>
          </a:p>
        </p:txBody>
      </p:sp>
      <p:sp>
        <p:nvSpPr>
          <p:cNvPr id="129" name="Metin kutusu 128">
            <a:extLst>
              <a:ext uri="{FF2B5EF4-FFF2-40B4-BE49-F238E27FC236}">
                <a16:creationId xmlns:a16="http://schemas.microsoft.com/office/drawing/2014/main" id="{6FC48BC0-9367-46C5-B6FA-D04F763C6154}"/>
              </a:ext>
            </a:extLst>
          </p:cNvPr>
          <p:cNvSpPr txBox="1"/>
          <p:nvPr/>
        </p:nvSpPr>
        <p:spPr>
          <a:xfrm>
            <a:off x="69907" y="476751"/>
            <a:ext cx="3359093" cy="400110"/>
          </a:xfrm>
          <a:prstGeom prst="rect">
            <a:avLst/>
          </a:prstGeom>
          <a:noFill/>
        </p:spPr>
        <p:txBody>
          <a:bodyPr wrap="square" rtlCol="0">
            <a:spAutoFit/>
          </a:bodyPr>
          <a:lstStyle/>
          <a:p>
            <a:r>
              <a:rPr lang="tr-TR" sz="1000" noProof="1">
                <a:cs typeface="Arial" panose="020B0604020202020204" pitchFamily="34" charset="0"/>
              </a:rPr>
              <a:t>YouTube Ahmet Çelen matematik kanalı aboneleri 2 farklı ankete eksiksiz olarak katılmışlar ve cevaplandırmışlardır.</a:t>
            </a:r>
          </a:p>
        </p:txBody>
      </p:sp>
      <p:pic>
        <p:nvPicPr>
          <p:cNvPr id="8" name="Grafik 7">
            <a:extLst>
              <a:ext uri="{FF2B5EF4-FFF2-40B4-BE49-F238E27FC236}">
                <a16:creationId xmlns:a16="http://schemas.microsoft.com/office/drawing/2014/main" id="{CD26F04F-090D-48F8-9909-A1B29D0EF89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431" y="2836248"/>
            <a:ext cx="1596850" cy="1596850"/>
          </a:xfrm>
          <a:prstGeom prst="rect">
            <a:avLst/>
          </a:prstGeom>
        </p:spPr>
      </p:pic>
      <p:sp>
        <p:nvSpPr>
          <p:cNvPr id="25" name="Dikdörtgen 24">
            <a:extLst>
              <a:ext uri="{FF2B5EF4-FFF2-40B4-BE49-F238E27FC236}">
                <a16:creationId xmlns:a16="http://schemas.microsoft.com/office/drawing/2014/main" id="{21A1E622-A39C-4989-8179-ABDAFABFC9BF}"/>
              </a:ext>
            </a:extLst>
          </p:cNvPr>
          <p:cNvSpPr/>
          <p:nvPr/>
        </p:nvSpPr>
        <p:spPr>
          <a:xfrm>
            <a:off x="116632" y="859088"/>
            <a:ext cx="3219440" cy="1899835"/>
          </a:xfrm>
          <a:prstGeom prst="rect">
            <a:avLst/>
          </a:prstGeom>
          <a:solidFill>
            <a:schemeClr val="accent5">
              <a:lumMod val="20000"/>
              <a:lumOff val="8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32" name="Metin kutusu 131">
            <a:extLst>
              <a:ext uri="{FF2B5EF4-FFF2-40B4-BE49-F238E27FC236}">
                <a16:creationId xmlns:a16="http://schemas.microsoft.com/office/drawing/2014/main" id="{C640A61A-4CA9-4319-8B1F-7609A18EBBE4}"/>
              </a:ext>
            </a:extLst>
          </p:cNvPr>
          <p:cNvSpPr txBox="1"/>
          <p:nvPr/>
        </p:nvSpPr>
        <p:spPr>
          <a:xfrm>
            <a:off x="93439" y="830905"/>
            <a:ext cx="3359093" cy="553998"/>
          </a:xfrm>
          <a:prstGeom prst="rect">
            <a:avLst/>
          </a:prstGeom>
          <a:noFill/>
        </p:spPr>
        <p:txBody>
          <a:bodyPr wrap="square" rtlCol="0">
            <a:spAutoFit/>
          </a:bodyPr>
          <a:lstStyle/>
          <a:p>
            <a:r>
              <a:rPr lang="tr-TR" sz="1000" noProof="1">
                <a:cs typeface="Arial" panose="020B0604020202020204" pitchFamily="34" charset="0"/>
              </a:rPr>
              <a:t>Soru 1 : Veriler 1 numaralı grafikte gösterilmiştir.</a:t>
            </a:r>
          </a:p>
          <a:p>
            <a:endParaRPr lang="tr-TR" sz="1000" noProof="1">
              <a:cs typeface="Arial" panose="020B0604020202020204" pitchFamily="34" charset="0"/>
            </a:endParaRPr>
          </a:p>
          <a:p>
            <a:pPr marL="171450" indent="-171450">
              <a:buFont typeface="Arial" panose="020B0604020202020204" pitchFamily="34" charset="0"/>
              <a:buChar char="•"/>
            </a:pPr>
            <a:r>
              <a:rPr lang="tr-TR" sz="1000" b="1" noProof="1">
                <a:cs typeface="Arial" panose="020B0604020202020204" pitchFamily="34" charset="0"/>
              </a:rPr>
              <a:t>Ahmet Çelen YouTube kanalını nereden keşfettiniz?</a:t>
            </a:r>
          </a:p>
        </p:txBody>
      </p:sp>
      <p:sp>
        <p:nvSpPr>
          <p:cNvPr id="134" name="Metin kutusu 133">
            <a:extLst>
              <a:ext uri="{FF2B5EF4-FFF2-40B4-BE49-F238E27FC236}">
                <a16:creationId xmlns:a16="http://schemas.microsoft.com/office/drawing/2014/main" id="{886D9170-5242-4DD6-B762-8001E656973F}"/>
              </a:ext>
            </a:extLst>
          </p:cNvPr>
          <p:cNvSpPr txBox="1"/>
          <p:nvPr/>
        </p:nvSpPr>
        <p:spPr>
          <a:xfrm>
            <a:off x="126161" y="1367937"/>
            <a:ext cx="1430631" cy="400110"/>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Arkadaş Önerisi</a:t>
            </a:r>
          </a:p>
          <a:p>
            <a:pPr marL="171450" indent="-171450">
              <a:buFont typeface="Wingdings" panose="05000000000000000000" pitchFamily="2" charset="2"/>
              <a:buChar char="q"/>
            </a:pPr>
            <a:r>
              <a:rPr lang="tr-TR" sz="1000" noProof="1">
                <a:cs typeface="Arial" panose="020B0604020202020204" pitchFamily="34" charset="0"/>
              </a:rPr>
              <a:t>Öğretmen Tavsiyesi</a:t>
            </a:r>
          </a:p>
        </p:txBody>
      </p:sp>
      <p:sp>
        <p:nvSpPr>
          <p:cNvPr id="135" name="Metin kutusu 134">
            <a:extLst>
              <a:ext uri="{FF2B5EF4-FFF2-40B4-BE49-F238E27FC236}">
                <a16:creationId xmlns:a16="http://schemas.microsoft.com/office/drawing/2014/main" id="{15CDA252-BA02-4B18-8BE9-69E3D4F2008B}"/>
              </a:ext>
            </a:extLst>
          </p:cNvPr>
          <p:cNvSpPr txBox="1"/>
          <p:nvPr/>
        </p:nvSpPr>
        <p:spPr>
          <a:xfrm>
            <a:off x="1656577" y="1348879"/>
            <a:ext cx="1430631" cy="400110"/>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Blog Sayfası</a:t>
            </a:r>
          </a:p>
          <a:p>
            <a:pPr marL="171450" indent="-171450">
              <a:buFont typeface="Wingdings" panose="05000000000000000000" pitchFamily="2" charset="2"/>
              <a:buChar char="q"/>
            </a:pPr>
            <a:r>
              <a:rPr lang="tr-TR" sz="1000" noProof="1">
                <a:cs typeface="Arial" panose="020B0604020202020204" pitchFamily="34" charset="0"/>
              </a:rPr>
              <a:t>Diğer</a:t>
            </a:r>
          </a:p>
        </p:txBody>
      </p:sp>
      <p:sp>
        <p:nvSpPr>
          <p:cNvPr id="136" name="Metin kutusu 135">
            <a:extLst>
              <a:ext uri="{FF2B5EF4-FFF2-40B4-BE49-F238E27FC236}">
                <a16:creationId xmlns:a16="http://schemas.microsoft.com/office/drawing/2014/main" id="{7A784DC2-88C8-435B-9BBF-9973A84D58C7}"/>
              </a:ext>
            </a:extLst>
          </p:cNvPr>
          <p:cNvSpPr txBox="1"/>
          <p:nvPr/>
        </p:nvSpPr>
        <p:spPr>
          <a:xfrm>
            <a:off x="105500" y="1791173"/>
            <a:ext cx="3359093" cy="553998"/>
          </a:xfrm>
          <a:prstGeom prst="rect">
            <a:avLst/>
          </a:prstGeom>
          <a:noFill/>
        </p:spPr>
        <p:txBody>
          <a:bodyPr wrap="square" rtlCol="0">
            <a:spAutoFit/>
          </a:bodyPr>
          <a:lstStyle/>
          <a:p>
            <a:r>
              <a:rPr lang="tr-TR" sz="1000" noProof="1">
                <a:cs typeface="Arial" panose="020B0604020202020204" pitchFamily="34" charset="0"/>
              </a:rPr>
              <a:t>Soru 2 : Veriler 2 numaralı grafikte gösterilmiştir.</a:t>
            </a:r>
          </a:p>
          <a:p>
            <a:endParaRPr lang="tr-TR" sz="1000" noProof="1">
              <a:cs typeface="Arial" panose="020B0604020202020204" pitchFamily="34" charset="0"/>
            </a:endParaRPr>
          </a:p>
          <a:p>
            <a:pPr marL="171450" indent="-171450">
              <a:buFont typeface="Arial" panose="020B0604020202020204" pitchFamily="34" charset="0"/>
              <a:buChar char="•"/>
            </a:pPr>
            <a:r>
              <a:rPr lang="tr-TR" sz="1000" b="1" noProof="1">
                <a:cs typeface="Arial" panose="020B0604020202020204" pitchFamily="34" charset="0"/>
              </a:rPr>
              <a:t>Kanalı neden takip ediyor ve izliyorsunuz?</a:t>
            </a:r>
          </a:p>
        </p:txBody>
      </p:sp>
      <p:cxnSp>
        <p:nvCxnSpPr>
          <p:cNvPr id="29" name="Düz Bağlayıcı 28">
            <a:extLst>
              <a:ext uri="{FF2B5EF4-FFF2-40B4-BE49-F238E27FC236}">
                <a16:creationId xmlns:a16="http://schemas.microsoft.com/office/drawing/2014/main" id="{73BB5EA0-02E3-4561-8121-6D11CD62C9F5}"/>
              </a:ext>
            </a:extLst>
          </p:cNvPr>
          <p:cNvCxnSpPr>
            <a:cxnSpLocks/>
            <a:stCxn id="25" idx="1"/>
            <a:endCxn id="25" idx="3"/>
          </p:cNvCxnSpPr>
          <p:nvPr/>
        </p:nvCxnSpPr>
        <p:spPr>
          <a:xfrm>
            <a:off x="116632" y="1809006"/>
            <a:ext cx="321944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0" name="Metin kutusu 139">
            <a:extLst>
              <a:ext uri="{FF2B5EF4-FFF2-40B4-BE49-F238E27FC236}">
                <a16:creationId xmlns:a16="http://schemas.microsoft.com/office/drawing/2014/main" id="{EC062462-376F-455B-84E6-4FE4D35AD090}"/>
              </a:ext>
            </a:extLst>
          </p:cNvPr>
          <p:cNvSpPr txBox="1"/>
          <p:nvPr/>
        </p:nvSpPr>
        <p:spPr>
          <a:xfrm>
            <a:off x="151119" y="2301960"/>
            <a:ext cx="1692156" cy="400110"/>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Ücretsiz Erişim</a:t>
            </a:r>
          </a:p>
          <a:p>
            <a:pPr marL="171450" indent="-171450">
              <a:buFont typeface="Wingdings" panose="05000000000000000000" pitchFamily="2" charset="2"/>
              <a:buChar char="q"/>
            </a:pPr>
            <a:r>
              <a:rPr lang="tr-TR" sz="1000" noProof="1">
                <a:cs typeface="Arial" panose="020B0604020202020204" pitchFamily="34" charset="0"/>
              </a:rPr>
              <a:t>Ders Notu Paylaşımı</a:t>
            </a:r>
          </a:p>
        </p:txBody>
      </p:sp>
      <p:sp>
        <p:nvSpPr>
          <p:cNvPr id="144" name="Metin kutusu 143">
            <a:extLst>
              <a:ext uri="{FF2B5EF4-FFF2-40B4-BE49-F238E27FC236}">
                <a16:creationId xmlns:a16="http://schemas.microsoft.com/office/drawing/2014/main" id="{FC6150C5-E8A6-4DE3-B0CB-37E3128CFD82}"/>
              </a:ext>
            </a:extLst>
          </p:cNvPr>
          <p:cNvSpPr txBox="1"/>
          <p:nvPr/>
        </p:nvSpPr>
        <p:spPr>
          <a:xfrm>
            <a:off x="1503034" y="2301960"/>
            <a:ext cx="1887273" cy="400110"/>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İspatlarla Mantığıyla Anlatım</a:t>
            </a:r>
          </a:p>
          <a:p>
            <a:pPr marL="171450" indent="-171450">
              <a:buFont typeface="Wingdings" panose="05000000000000000000" pitchFamily="2" charset="2"/>
              <a:buChar char="q"/>
            </a:pPr>
            <a:r>
              <a:rPr lang="tr-TR" sz="1000" noProof="1">
                <a:cs typeface="Arial" panose="020B0604020202020204" pitchFamily="34" charset="0"/>
              </a:rPr>
              <a:t>Özgün İçerikler</a:t>
            </a:r>
          </a:p>
        </p:txBody>
      </p:sp>
      <p:pic>
        <p:nvPicPr>
          <p:cNvPr id="33" name="Grafik 32">
            <a:extLst>
              <a:ext uri="{FF2B5EF4-FFF2-40B4-BE49-F238E27FC236}">
                <a16:creationId xmlns:a16="http://schemas.microsoft.com/office/drawing/2014/main" id="{ADAF24C2-C1E0-4D29-A6D5-2999C7D6695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96070" y="2816117"/>
            <a:ext cx="1630726" cy="1630726"/>
          </a:xfrm>
          <a:prstGeom prst="rect">
            <a:avLst/>
          </a:prstGeom>
        </p:spPr>
      </p:pic>
      <p:sp>
        <p:nvSpPr>
          <p:cNvPr id="148" name="Metin kutusu 147">
            <a:extLst>
              <a:ext uri="{FF2B5EF4-FFF2-40B4-BE49-F238E27FC236}">
                <a16:creationId xmlns:a16="http://schemas.microsoft.com/office/drawing/2014/main" id="{BBB45DBB-02C2-42FC-ACAB-21CCE55681DD}"/>
              </a:ext>
            </a:extLst>
          </p:cNvPr>
          <p:cNvSpPr txBox="1"/>
          <p:nvPr/>
        </p:nvSpPr>
        <p:spPr>
          <a:xfrm>
            <a:off x="2371892" y="3982401"/>
            <a:ext cx="625060" cy="338554"/>
          </a:xfrm>
          <a:prstGeom prst="rect">
            <a:avLst/>
          </a:prstGeom>
          <a:noFill/>
        </p:spPr>
        <p:txBody>
          <a:bodyPr wrap="square" rtlCol="0">
            <a:spAutoFit/>
          </a:bodyPr>
          <a:lstStyle/>
          <a:p>
            <a:pPr algn="ctr"/>
            <a:r>
              <a:rPr lang="tr-TR" sz="800" noProof="1"/>
              <a:t>Özgün İçerikler</a:t>
            </a:r>
          </a:p>
        </p:txBody>
      </p:sp>
      <p:sp>
        <p:nvSpPr>
          <p:cNvPr id="149" name="Metin kutusu 148">
            <a:extLst>
              <a:ext uri="{FF2B5EF4-FFF2-40B4-BE49-F238E27FC236}">
                <a16:creationId xmlns:a16="http://schemas.microsoft.com/office/drawing/2014/main" id="{BA63D800-C859-410E-8D74-D22F64CD464F}"/>
              </a:ext>
            </a:extLst>
          </p:cNvPr>
          <p:cNvSpPr txBox="1"/>
          <p:nvPr/>
        </p:nvSpPr>
        <p:spPr>
          <a:xfrm>
            <a:off x="2706157" y="3529754"/>
            <a:ext cx="762102" cy="338554"/>
          </a:xfrm>
          <a:prstGeom prst="rect">
            <a:avLst/>
          </a:prstGeom>
          <a:noFill/>
        </p:spPr>
        <p:txBody>
          <a:bodyPr wrap="square" rtlCol="0">
            <a:spAutoFit/>
          </a:bodyPr>
          <a:lstStyle/>
          <a:p>
            <a:pPr algn="ctr"/>
            <a:r>
              <a:rPr lang="tr-TR" sz="800" noProof="1"/>
              <a:t>Ücretsiz </a:t>
            </a:r>
          </a:p>
          <a:p>
            <a:pPr algn="ctr"/>
            <a:r>
              <a:rPr lang="tr-TR" sz="800" noProof="1"/>
              <a:t>Erişim</a:t>
            </a:r>
          </a:p>
        </p:txBody>
      </p:sp>
      <p:sp>
        <p:nvSpPr>
          <p:cNvPr id="150" name="Metin kutusu 149">
            <a:extLst>
              <a:ext uri="{FF2B5EF4-FFF2-40B4-BE49-F238E27FC236}">
                <a16:creationId xmlns:a16="http://schemas.microsoft.com/office/drawing/2014/main" id="{9C7D482D-AB6F-4F5F-9C1F-A3ED299DB7BF}"/>
              </a:ext>
            </a:extLst>
          </p:cNvPr>
          <p:cNvSpPr txBox="1"/>
          <p:nvPr/>
        </p:nvSpPr>
        <p:spPr>
          <a:xfrm>
            <a:off x="1916832" y="2940183"/>
            <a:ext cx="1152128" cy="338554"/>
          </a:xfrm>
          <a:prstGeom prst="rect">
            <a:avLst/>
          </a:prstGeom>
          <a:noFill/>
        </p:spPr>
        <p:txBody>
          <a:bodyPr wrap="square" rtlCol="0">
            <a:spAutoFit/>
          </a:bodyPr>
          <a:lstStyle/>
          <a:p>
            <a:pPr algn="ctr"/>
            <a:r>
              <a:rPr lang="tr-TR" sz="800" noProof="1"/>
              <a:t>İspatlarla Mantığıyla</a:t>
            </a:r>
          </a:p>
          <a:p>
            <a:pPr algn="ctr"/>
            <a:r>
              <a:rPr lang="tr-TR" sz="800" noProof="1"/>
              <a:t>Anlatım</a:t>
            </a:r>
          </a:p>
        </p:txBody>
      </p:sp>
      <p:sp>
        <p:nvSpPr>
          <p:cNvPr id="151" name="Metin kutusu 150">
            <a:extLst>
              <a:ext uri="{FF2B5EF4-FFF2-40B4-BE49-F238E27FC236}">
                <a16:creationId xmlns:a16="http://schemas.microsoft.com/office/drawing/2014/main" id="{8A7AE65B-8306-437D-8899-AF9B7506EF8A}"/>
              </a:ext>
            </a:extLst>
          </p:cNvPr>
          <p:cNvSpPr txBox="1"/>
          <p:nvPr/>
        </p:nvSpPr>
        <p:spPr>
          <a:xfrm>
            <a:off x="1752833" y="3588937"/>
            <a:ext cx="619059" cy="338554"/>
          </a:xfrm>
          <a:prstGeom prst="rect">
            <a:avLst/>
          </a:prstGeom>
          <a:noFill/>
        </p:spPr>
        <p:txBody>
          <a:bodyPr wrap="square" rtlCol="0">
            <a:spAutoFit/>
          </a:bodyPr>
          <a:lstStyle/>
          <a:p>
            <a:r>
              <a:rPr lang="tr-TR" sz="800" noProof="1"/>
              <a:t>Ders Notu </a:t>
            </a:r>
          </a:p>
          <a:p>
            <a:r>
              <a:rPr lang="tr-TR" sz="800" noProof="1"/>
              <a:t>Paylaşımı</a:t>
            </a:r>
          </a:p>
        </p:txBody>
      </p:sp>
      <p:sp>
        <p:nvSpPr>
          <p:cNvPr id="152" name="Metin kutusu 151">
            <a:extLst>
              <a:ext uri="{FF2B5EF4-FFF2-40B4-BE49-F238E27FC236}">
                <a16:creationId xmlns:a16="http://schemas.microsoft.com/office/drawing/2014/main" id="{A3357D12-A48F-4AFB-BF6C-1E641905DEDB}"/>
              </a:ext>
            </a:extLst>
          </p:cNvPr>
          <p:cNvSpPr txBox="1"/>
          <p:nvPr/>
        </p:nvSpPr>
        <p:spPr>
          <a:xfrm>
            <a:off x="468402" y="3994825"/>
            <a:ext cx="936104" cy="215444"/>
          </a:xfrm>
          <a:prstGeom prst="rect">
            <a:avLst/>
          </a:prstGeom>
          <a:noFill/>
        </p:spPr>
        <p:txBody>
          <a:bodyPr wrap="square" rtlCol="0">
            <a:spAutoFit/>
          </a:bodyPr>
          <a:lstStyle/>
          <a:p>
            <a:r>
              <a:rPr lang="tr-TR" sz="800" noProof="1"/>
              <a:t>Arkadaş Tavsiyesi</a:t>
            </a:r>
          </a:p>
        </p:txBody>
      </p:sp>
      <p:sp>
        <p:nvSpPr>
          <p:cNvPr id="153" name="Metin kutusu 152">
            <a:extLst>
              <a:ext uri="{FF2B5EF4-FFF2-40B4-BE49-F238E27FC236}">
                <a16:creationId xmlns:a16="http://schemas.microsoft.com/office/drawing/2014/main" id="{B7CEE4E7-64D6-4A78-A748-599EFC724D3B}"/>
              </a:ext>
            </a:extLst>
          </p:cNvPr>
          <p:cNvSpPr txBox="1"/>
          <p:nvPr/>
        </p:nvSpPr>
        <p:spPr>
          <a:xfrm>
            <a:off x="1135150" y="3727494"/>
            <a:ext cx="619059" cy="215444"/>
          </a:xfrm>
          <a:prstGeom prst="rect">
            <a:avLst/>
          </a:prstGeom>
          <a:noFill/>
        </p:spPr>
        <p:txBody>
          <a:bodyPr wrap="square" rtlCol="0">
            <a:spAutoFit/>
          </a:bodyPr>
          <a:lstStyle/>
          <a:p>
            <a:r>
              <a:rPr lang="tr-TR" sz="800" noProof="1"/>
              <a:t>Diğer</a:t>
            </a:r>
          </a:p>
        </p:txBody>
      </p:sp>
      <p:sp>
        <p:nvSpPr>
          <p:cNvPr id="154" name="Metin kutusu 153">
            <a:extLst>
              <a:ext uri="{FF2B5EF4-FFF2-40B4-BE49-F238E27FC236}">
                <a16:creationId xmlns:a16="http://schemas.microsoft.com/office/drawing/2014/main" id="{C8D172D0-E6BE-410B-8DC9-EE0FA032994C}"/>
              </a:ext>
            </a:extLst>
          </p:cNvPr>
          <p:cNvSpPr txBox="1"/>
          <p:nvPr/>
        </p:nvSpPr>
        <p:spPr>
          <a:xfrm>
            <a:off x="1008762" y="3159265"/>
            <a:ext cx="619059" cy="338554"/>
          </a:xfrm>
          <a:prstGeom prst="rect">
            <a:avLst/>
          </a:prstGeom>
          <a:noFill/>
        </p:spPr>
        <p:txBody>
          <a:bodyPr wrap="square" rtlCol="0">
            <a:spAutoFit/>
          </a:bodyPr>
          <a:lstStyle/>
          <a:p>
            <a:r>
              <a:rPr lang="tr-TR" sz="800" noProof="1"/>
              <a:t>Blog</a:t>
            </a:r>
          </a:p>
          <a:p>
            <a:r>
              <a:rPr lang="tr-TR" sz="800" noProof="1"/>
              <a:t>Sayfası</a:t>
            </a:r>
          </a:p>
        </p:txBody>
      </p:sp>
      <p:sp>
        <p:nvSpPr>
          <p:cNvPr id="155" name="Metin kutusu 154">
            <a:extLst>
              <a:ext uri="{FF2B5EF4-FFF2-40B4-BE49-F238E27FC236}">
                <a16:creationId xmlns:a16="http://schemas.microsoft.com/office/drawing/2014/main" id="{6B5E8AA8-B0C3-4CED-953E-8D478531EED0}"/>
              </a:ext>
            </a:extLst>
          </p:cNvPr>
          <p:cNvSpPr txBox="1"/>
          <p:nvPr/>
        </p:nvSpPr>
        <p:spPr>
          <a:xfrm>
            <a:off x="69907" y="3269835"/>
            <a:ext cx="619059" cy="338554"/>
          </a:xfrm>
          <a:prstGeom prst="rect">
            <a:avLst/>
          </a:prstGeom>
          <a:noFill/>
        </p:spPr>
        <p:txBody>
          <a:bodyPr wrap="square" rtlCol="0">
            <a:spAutoFit/>
          </a:bodyPr>
          <a:lstStyle/>
          <a:p>
            <a:pPr algn="ctr"/>
            <a:r>
              <a:rPr lang="tr-TR" sz="800" noProof="1"/>
              <a:t>Öğretmen</a:t>
            </a:r>
          </a:p>
          <a:p>
            <a:pPr algn="ctr"/>
            <a:r>
              <a:rPr lang="tr-TR" sz="800" noProof="1"/>
              <a:t>Tavsiyesi</a:t>
            </a:r>
          </a:p>
        </p:txBody>
      </p:sp>
      <mc:AlternateContent xmlns:mc="http://schemas.openxmlformats.org/markup-compatibility/2006" xmlns:a14="http://schemas.microsoft.com/office/drawing/2010/main">
        <mc:Choice Requires="a14">
          <p:sp>
            <p:nvSpPr>
              <p:cNvPr id="157" name="Metin kutusu 156">
                <a:extLst>
                  <a:ext uri="{FF2B5EF4-FFF2-40B4-BE49-F238E27FC236}">
                    <a16:creationId xmlns:a16="http://schemas.microsoft.com/office/drawing/2014/main" id="{D893291D-B009-48CA-AA60-33485F9B1B5F}"/>
                  </a:ext>
                </a:extLst>
              </p:cNvPr>
              <p:cNvSpPr txBox="1"/>
              <p:nvPr/>
            </p:nvSpPr>
            <p:spPr>
              <a:xfrm>
                <a:off x="775032" y="3387391"/>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90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157" name="Metin kutusu 156">
                <a:extLst>
                  <a:ext uri="{FF2B5EF4-FFF2-40B4-BE49-F238E27FC236}">
                    <a16:creationId xmlns:a16="http://schemas.microsoft.com/office/drawing/2014/main" id="{D893291D-B009-48CA-AA60-33485F9B1B5F}"/>
                  </a:ext>
                </a:extLst>
              </p:cNvPr>
              <p:cNvSpPr txBox="1">
                <a:spLocks noRot="1" noChangeAspect="1" noMove="1" noResize="1" noEditPoints="1" noAdjustHandles="1" noChangeArrowheads="1" noChangeShapeType="1" noTextEdit="1"/>
              </p:cNvSpPr>
              <p:nvPr/>
            </p:nvSpPr>
            <p:spPr>
              <a:xfrm>
                <a:off x="775032" y="3387391"/>
                <a:ext cx="455508" cy="246221"/>
              </a:xfrm>
              <a:prstGeom prst="rect">
                <a:avLst/>
              </a:prstGeom>
              <a:blipFill>
                <a:blip r:embed="rId9"/>
                <a:stretch>
                  <a:fillRect b="-1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8" name="Metin kutusu 157">
                <a:extLst>
                  <a:ext uri="{FF2B5EF4-FFF2-40B4-BE49-F238E27FC236}">
                    <a16:creationId xmlns:a16="http://schemas.microsoft.com/office/drawing/2014/main" id="{C93D432F-FCC0-427C-B7EF-8217F716B968}"/>
                  </a:ext>
                </a:extLst>
              </p:cNvPr>
              <p:cNvSpPr txBox="1"/>
              <p:nvPr/>
            </p:nvSpPr>
            <p:spPr>
              <a:xfrm>
                <a:off x="869999" y="3559506"/>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30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158" name="Metin kutusu 157">
                <a:extLst>
                  <a:ext uri="{FF2B5EF4-FFF2-40B4-BE49-F238E27FC236}">
                    <a16:creationId xmlns:a16="http://schemas.microsoft.com/office/drawing/2014/main" id="{C93D432F-FCC0-427C-B7EF-8217F716B968}"/>
                  </a:ext>
                </a:extLst>
              </p:cNvPr>
              <p:cNvSpPr txBox="1">
                <a:spLocks noRot="1" noChangeAspect="1" noMove="1" noResize="1" noEditPoints="1" noAdjustHandles="1" noChangeArrowheads="1" noChangeShapeType="1" noTextEdit="1"/>
              </p:cNvSpPr>
              <p:nvPr/>
            </p:nvSpPr>
            <p:spPr>
              <a:xfrm>
                <a:off x="869999" y="3559506"/>
                <a:ext cx="455508" cy="246221"/>
              </a:xfrm>
              <a:prstGeom prst="rect">
                <a:avLst/>
              </a:prstGeom>
              <a:blipFill>
                <a:blip r:embed="rId10"/>
                <a:stretch>
                  <a:fillRect b="-1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9" name="Metin kutusu 158">
                <a:extLst>
                  <a:ext uri="{FF2B5EF4-FFF2-40B4-BE49-F238E27FC236}">
                    <a16:creationId xmlns:a16="http://schemas.microsoft.com/office/drawing/2014/main" id="{E3DABD22-6567-4A6B-8102-534C33DF167D}"/>
                  </a:ext>
                </a:extLst>
              </p:cNvPr>
              <p:cNvSpPr txBox="1"/>
              <p:nvPr/>
            </p:nvSpPr>
            <p:spPr>
              <a:xfrm>
                <a:off x="655019" y="3696717"/>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70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159" name="Metin kutusu 158">
                <a:extLst>
                  <a:ext uri="{FF2B5EF4-FFF2-40B4-BE49-F238E27FC236}">
                    <a16:creationId xmlns:a16="http://schemas.microsoft.com/office/drawing/2014/main" id="{E3DABD22-6567-4A6B-8102-534C33DF167D}"/>
                  </a:ext>
                </a:extLst>
              </p:cNvPr>
              <p:cNvSpPr txBox="1">
                <a:spLocks noRot="1" noChangeAspect="1" noMove="1" noResize="1" noEditPoints="1" noAdjustHandles="1" noChangeArrowheads="1" noChangeShapeType="1" noTextEdit="1"/>
              </p:cNvSpPr>
              <p:nvPr/>
            </p:nvSpPr>
            <p:spPr>
              <a:xfrm>
                <a:off x="655019" y="3696717"/>
                <a:ext cx="455508" cy="246221"/>
              </a:xfrm>
              <a:prstGeom prst="rect">
                <a:avLst/>
              </a:prstGeom>
              <a:blipFill>
                <a:blip r:embed="rId11"/>
                <a:stretch>
                  <a:fillRect b="-1463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0" name="Metin kutusu 159">
                <a:extLst>
                  <a:ext uri="{FF2B5EF4-FFF2-40B4-BE49-F238E27FC236}">
                    <a16:creationId xmlns:a16="http://schemas.microsoft.com/office/drawing/2014/main" id="{4C6A363F-3F32-44C1-8C07-9BB9D767AE95}"/>
                  </a:ext>
                </a:extLst>
              </p:cNvPr>
              <p:cNvSpPr txBox="1"/>
              <p:nvPr/>
            </p:nvSpPr>
            <p:spPr>
              <a:xfrm>
                <a:off x="2339294" y="3343248"/>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130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160" name="Metin kutusu 159">
                <a:extLst>
                  <a:ext uri="{FF2B5EF4-FFF2-40B4-BE49-F238E27FC236}">
                    <a16:creationId xmlns:a16="http://schemas.microsoft.com/office/drawing/2014/main" id="{4C6A363F-3F32-44C1-8C07-9BB9D767AE95}"/>
                  </a:ext>
                </a:extLst>
              </p:cNvPr>
              <p:cNvSpPr txBox="1">
                <a:spLocks noRot="1" noChangeAspect="1" noMove="1" noResize="1" noEditPoints="1" noAdjustHandles="1" noChangeArrowheads="1" noChangeShapeType="1" noTextEdit="1"/>
              </p:cNvSpPr>
              <p:nvPr/>
            </p:nvSpPr>
            <p:spPr>
              <a:xfrm>
                <a:off x="2339294" y="3343248"/>
                <a:ext cx="455508" cy="246221"/>
              </a:xfrm>
              <a:prstGeom prst="rect">
                <a:avLst/>
              </a:prstGeom>
              <a:blipFill>
                <a:blip r:embed="rId12"/>
                <a:stretch>
                  <a:fillRect b="-1463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1" name="Metin kutusu 160">
                <a:extLst>
                  <a:ext uri="{FF2B5EF4-FFF2-40B4-BE49-F238E27FC236}">
                    <a16:creationId xmlns:a16="http://schemas.microsoft.com/office/drawing/2014/main" id="{E740037A-A6FE-49BE-96F9-43814B887357}"/>
                  </a:ext>
                </a:extLst>
              </p:cNvPr>
              <p:cNvSpPr txBox="1"/>
              <p:nvPr/>
            </p:nvSpPr>
            <p:spPr>
              <a:xfrm>
                <a:off x="2395887" y="3686272"/>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70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161" name="Metin kutusu 160">
                <a:extLst>
                  <a:ext uri="{FF2B5EF4-FFF2-40B4-BE49-F238E27FC236}">
                    <a16:creationId xmlns:a16="http://schemas.microsoft.com/office/drawing/2014/main" id="{E740037A-A6FE-49BE-96F9-43814B887357}"/>
                  </a:ext>
                </a:extLst>
              </p:cNvPr>
              <p:cNvSpPr txBox="1">
                <a:spLocks noRot="1" noChangeAspect="1" noMove="1" noResize="1" noEditPoints="1" noAdjustHandles="1" noChangeArrowheads="1" noChangeShapeType="1" noTextEdit="1"/>
              </p:cNvSpPr>
              <p:nvPr/>
            </p:nvSpPr>
            <p:spPr>
              <a:xfrm>
                <a:off x="2395887" y="3686272"/>
                <a:ext cx="455508" cy="246221"/>
              </a:xfrm>
              <a:prstGeom prst="rect">
                <a:avLst/>
              </a:prstGeom>
              <a:blipFill>
                <a:blip r:embed="rId13"/>
                <a:stretch>
                  <a:fillRect b="-15000"/>
                </a:stretch>
              </a:blipFill>
            </p:spPr>
            <p:txBody>
              <a:bodyPr/>
              <a:lstStyle/>
              <a:p>
                <a:r>
                  <a:rPr lang="tr-TR">
                    <a:noFill/>
                  </a:rPr>
                  <a:t> </a:t>
                </a:r>
              </a:p>
            </p:txBody>
          </p:sp>
        </mc:Fallback>
      </mc:AlternateContent>
      <p:sp>
        <p:nvSpPr>
          <p:cNvPr id="163" name="Metin kutusu 162">
            <a:extLst>
              <a:ext uri="{FF2B5EF4-FFF2-40B4-BE49-F238E27FC236}">
                <a16:creationId xmlns:a16="http://schemas.microsoft.com/office/drawing/2014/main" id="{B7411E7D-8B1C-4FAB-9492-1A116636F122}"/>
              </a:ext>
            </a:extLst>
          </p:cNvPr>
          <p:cNvSpPr txBox="1"/>
          <p:nvPr/>
        </p:nvSpPr>
        <p:spPr>
          <a:xfrm>
            <a:off x="2219967" y="4510284"/>
            <a:ext cx="721219" cy="246221"/>
          </a:xfrm>
          <a:prstGeom prst="rect">
            <a:avLst/>
          </a:prstGeom>
          <a:noFill/>
          <a:ln w="63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spAutoFit/>
          </a:bodyPr>
          <a:lstStyle/>
          <a:p>
            <a:pPr algn="ctr"/>
            <a:r>
              <a:rPr lang="tr-TR" sz="1000" noProof="1">
                <a:solidFill>
                  <a:schemeClr val="tx1"/>
                </a:solidFill>
                <a:cs typeface="Arial" panose="020B0604020202020204" pitchFamily="34" charset="0"/>
              </a:rPr>
              <a:t>Grafik 2</a:t>
            </a:r>
          </a:p>
        </p:txBody>
      </p:sp>
      <p:sp>
        <p:nvSpPr>
          <p:cNvPr id="164" name="Metin kutusu 163">
            <a:extLst>
              <a:ext uri="{FF2B5EF4-FFF2-40B4-BE49-F238E27FC236}">
                <a16:creationId xmlns:a16="http://schemas.microsoft.com/office/drawing/2014/main" id="{53EA2A82-68E0-4B41-94EB-5B2136E8B7DA}"/>
              </a:ext>
            </a:extLst>
          </p:cNvPr>
          <p:cNvSpPr txBox="1"/>
          <p:nvPr/>
        </p:nvSpPr>
        <p:spPr>
          <a:xfrm>
            <a:off x="389644" y="4498977"/>
            <a:ext cx="721219" cy="246221"/>
          </a:xfrm>
          <a:prstGeom prst="rect">
            <a:avLst/>
          </a:prstGeom>
          <a:noFill/>
          <a:ln w="63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spAutoFit/>
          </a:bodyPr>
          <a:lstStyle/>
          <a:p>
            <a:pPr algn="ctr"/>
            <a:r>
              <a:rPr lang="tr-TR" sz="1000" noProof="1">
                <a:solidFill>
                  <a:schemeClr val="tx1"/>
                </a:solidFill>
                <a:cs typeface="Arial" panose="020B0604020202020204" pitchFamily="34" charset="0"/>
              </a:rPr>
              <a:t>Grafik 1</a:t>
            </a:r>
          </a:p>
        </p:txBody>
      </p:sp>
      <mc:AlternateContent xmlns:mc="http://schemas.openxmlformats.org/markup-compatibility/2006" xmlns:a14="http://schemas.microsoft.com/office/drawing/2010/main">
        <mc:Choice Requires="a14">
          <p:sp>
            <p:nvSpPr>
              <p:cNvPr id="165" name="Metin kutusu 164">
                <a:extLst>
                  <a:ext uri="{FF2B5EF4-FFF2-40B4-BE49-F238E27FC236}">
                    <a16:creationId xmlns:a16="http://schemas.microsoft.com/office/drawing/2014/main" id="{351CB919-0B4B-4471-BBC9-25FF186CB3EE}"/>
                  </a:ext>
                </a:extLst>
              </p:cNvPr>
              <p:cNvSpPr txBox="1"/>
              <p:nvPr/>
            </p:nvSpPr>
            <p:spPr>
              <a:xfrm>
                <a:off x="18555" y="4786501"/>
                <a:ext cx="3424442" cy="1115947"/>
              </a:xfrm>
              <a:prstGeom prst="rect">
                <a:avLst/>
              </a:prstGeom>
              <a:noFill/>
            </p:spPr>
            <p:txBody>
              <a:bodyPr wrap="square" rtlCol="0">
                <a:spAutoFit/>
              </a:bodyPr>
              <a:lstStyle/>
              <a:p>
                <a:r>
                  <a:rPr lang="tr-TR" sz="1000" noProof="1">
                    <a:cs typeface="Arial" panose="020B0604020202020204" pitchFamily="34" charset="0"/>
                  </a:rPr>
                  <a:t>Kanalı öğretmen tavsiyesi ile 540 kişi keşfetmiştir. Ücretsiz erişim sebebiyle kanalı takip edenlerin sayısı, ders notu paylaşım için kanalı takip edenlerin sayısının</a:t>
                </a:r>
                <a:r>
                  <a:rPr lang="tr-TR" sz="1000" b="1" noProof="1">
                    <a:cs typeface="Arial" panose="020B0604020202020204" pitchFamily="34" charset="0"/>
                  </a:rPr>
                  <a:t> </a:t>
                </a:r>
                <a14:m>
                  <m:oMath xmlns:m="http://schemas.openxmlformats.org/officeDocument/2006/math">
                    <m:f>
                      <m:fPr>
                        <m:ctrlPr>
                          <a:rPr lang="tr-TR" sz="1000" i="1" noProof="1" dirty="0" smtClean="0">
                            <a:latin typeface="Cambria Math" panose="02040503050406030204" pitchFamily="18" charset="0"/>
                          </a:rPr>
                        </m:ctrlPr>
                      </m:fPr>
                      <m:num>
                        <m:r>
                          <m:rPr>
                            <m:nor/>
                          </m:rPr>
                          <a:rPr lang="tr-TR" sz="1000" i="0" noProof="1" dirty="0" smtClean="0">
                            <a:latin typeface="Cambria Math" panose="02040503050406030204" pitchFamily="18" charset="0"/>
                          </a:rPr>
                          <m:t> </m:t>
                        </m:r>
                        <m:r>
                          <m:rPr>
                            <m:nor/>
                          </m:rPr>
                          <a:rPr lang="tr-TR" sz="1000" i="0" noProof="1" dirty="0" smtClean="0">
                            <a:latin typeface="Helvetica" panose="020B0604020202020204" pitchFamily="34" charset="0"/>
                            <a:cs typeface="Helvetica" panose="020B0604020202020204" pitchFamily="34" charset="0"/>
                          </a:rPr>
                          <m:t>3 </m:t>
                        </m:r>
                      </m:num>
                      <m:den>
                        <m:r>
                          <m:rPr>
                            <m:nor/>
                          </m:rPr>
                          <a:rPr lang="tr-TR" sz="1000" i="0" noProof="1" dirty="0" smtClean="0">
                            <a:latin typeface="Helvetica" panose="020B0604020202020204" pitchFamily="34" charset="0"/>
                            <a:cs typeface="Helvetica" panose="020B0604020202020204" pitchFamily="34" charset="0"/>
                          </a:rPr>
                          <m:t>5</m:t>
                        </m:r>
                      </m:den>
                    </m:f>
                  </m:oMath>
                </a14:m>
                <a:r>
                  <a:rPr lang="tr-TR" sz="1000" noProof="1">
                    <a:cs typeface="Arial" panose="020B0604020202020204" pitchFamily="34" charset="0"/>
                  </a:rPr>
                  <a:t>`i kadardır. </a:t>
                </a:r>
              </a:p>
              <a:p>
                <a:endParaRPr lang="tr-TR" sz="1000" noProof="1">
                  <a:cs typeface="Arial" panose="020B0604020202020204" pitchFamily="34" charset="0"/>
                </a:endParaRPr>
              </a:p>
              <a:p>
                <a:r>
                  <a:rPr lang="tr-TR" sz="1000" b="1" noProof="1">
                    <a:cs typeface="Arial" panose="020B0604020202020204" pitchFamily="34" charset="0"/>
                  </a:rPr>
                  <a:t>Buna göre, ders notu paylaşımı sebebiyle kanalı takip eden kişi sayısı kaçtır?</a:t>
                </a:r>
              </a:p>
            </p:txBody>
          </p:sp>
        </mc:Choice>
        <mc:Fallback xmlns="">
          <p:sp>
            <p:nvSpPr>
              <p:cNvPr id="165" name="Metin kutusu 164">
                <a:extLst>
                  <a:ext uri="{FF2B5EF4-FFF2-40B4-BE49-F238E27FC236}">
                    <a16:creationId xmlns:a16="http://schemas.microsoft.com/office/drawing/2014/main" id="{351CB919-0B4B-4471-BBC9-25FF186CB3EE}"/>
                  </a:ext>
                </a:extLst>
              </p:cNvPr>
              <p:cNvSpPr txBox="1">
                <a:spLocks noRot="1" noChangeAspect="1" noMove="1" noResize="1" noEditPoints="1" noAdjustHandles="1" noChangeArrowheads="1" noChangeShapeType="1" noTextEdit="1"/>
              </p:cNvSpPr>
              <p:nvPr/>
            </p:nvSpPr>
            <p:spPr>
              <a:xfrm>
                <a:off x="18555" y="4786501"/>
                <a:ext cx="3424442" cy="1115947"/>
              </a:xfrm>
              <a:prstGeom prst="rect">
                <a:avLst/>
              </a:prstGeom>
              <a:blipFill>
                <a:blip r:embed="rId14"/>
                <a:stretch>
                  <a:fillRect b="-2732"/>
                </a:stretch>
              </a:blipFill>
            </p:spPr>
            <p:txBody>
              <a:bodyPr/>
              <a:lstStyle/>
              <a:p>
                <a:r>
                  <a:rPr lang="tr-TR">
                    <a:noFill/>
                  </a:rPr>
                  <a:t> </a:t>
                </a:r>
              </a:p>
            </p:txBody>
          </p:sp>
        </mc:Fallback>
      </mc:AlternateContent>
      <p:sp>
        <p:nvSpPr>
          <p:cNvPr id="166" name="Metin kutusu 165">
            <a:extLst>
              <a:ext uri="{FF2B5EF4-FFF2-40B4-BE49-F238E27FC236}">
                <a16:creationId xmlns:a16="http://schemas.microsoft.com/office/drawing/2014/main" id="{5850253F-0871-4D62-9AA1-FF1226B4459E}"/>
              </a:ext>
            </a:extLst>
          </p:cNvPr>
          <p:cNvSpPr txBox="1"/>
          <p:nvPr/>
        </p:nvSpPr>
        <p:spPr>
          <a:xfrm>
            <a:off x="7952" y="5864032"/>
            <a:ext cx="3392041" cy="553998"/>
          </a:xfrm>
          <a:prstGeom prst="rect">
            <a:avLst/>
          </a:prstGeom>
          <a:noFill/>
        </p:spPr>
        <p:txBody>
          <a:bodyPr wrap="square" rtlCol="0">
            <a:spAutoFit/>
          </a:bodyPr>
          <a:lstStyle/>
          <a:p>
            <a:r>
              <a:rPr lang="tr-TR" sz="1000" noProof="1"/>
              <a:t>A) 90                                    B) 120                                      C) 180</a:t>
            </a:r>
          </a:p>
          <a:p>
            <a:pPr marL="228600" indent="-228600">
              <a:buAutoNum type="alphaUcParenR"/>
            </a:pPr>
            <a:endParaRPr lang="tr-TR" sz="1000" noProof="1"/>
          </a:p>
          <a:p>
            <a:r>
              <a:rPr lang="tr-TR" sz="1000" noProof="1"/>
              <a:t>                      D) 240                                        E) 300</a:t>
            </a:r>
          </a:p>
        </p:txBody>
      </p:sp>
      <p:pic>
        <p:nvPicPr>
          <p:cNvPr id="41" name="Grafik 40">
            <a:extLst>
              <a:ext uri="{FF2B5EF4-FFF2-40B4-BE49-F238E27FC236}">
                <a16:creationId xmlns:a16="http://schemas.microsoft.com/office/drawing/2014/main" id="{4E916104-EDC5-4D3F-81DE-7B99CB79D62B}"/>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84524" y="866747"/>
            <a:ext cx="1078612" cy="1078612"/>
          </a:xfrm>
          <a:prstGeom prst="rect">
            <a:avLst/>
          </a:prstGeom>
        </p:spPr>
      </p:pic>
      <mc:AlternateContent xmlns:mc="http://schemas.openxmlformats.org/markup-compatibility/2006" xmlns:a14="http://schemas.microsoft.com/office/drawing/2010/main">
        <mc:Choice Requires="a14">
          <p:sp>
            <p:nvSpPr>
              <p:cNvPr id="167" name="Metin kutusu 166">
                <a:extLst>
                  <a:ext uri="{FF2B5EF4-FFF2-40B4-BE49-F238E27FC236}">
                    <a16:creationId xmlns:a16="http://schemas.microsoft.com/office/drawing/2014/main" id="{52760AC6-7A0B-41A4-A15E-5CFC331CEAF5}"/>
                  </a:ext>
                </a:extLst>
              </p:cNvPr>
              <p:cNvSpPr txBox="1"/>
              <p:nvPr/>
            </p:nvSpPr>
            <p:spPr>
              <a:xfrm>
                <a:off x="3469472" y="1933360"/>
                <a:ext cx="3391728" cy="707886"/>
              </a:xfrm>
              <a:prstGeom prst="rect">
                <a:avLst/>
              </a:prstGeom>
              <a:noFill/>
            </p:spPr>
            <p:txBody>
              <a:bodyPr wrap="square" rtlCol="0">
                <a:spAutoFit/>
              </a:bodyPr>
              <a:lstStyle/>
              <a:p>
                <a:r>
                  <a:rPr lang="tr-TR" sz="1000" noProof="1">
                    <a:cs typeface="Arial" panose="020B0604020202020204" pitchFamily="34" charset="0"/>
                  </a:rPr>
                  <a:t>X maddesine karşılık gelen daire diliminin merkez açısı </a:t>
                </a:r>
                <a14:m>
                  <m:oMath xmlns:m="http://schemas.openxmlformats.org/officeDocument/2006/math">
                    <m:r>
                      <m:rPr>
                        <m:sty m:val="p"/>
                      </m:rPr>
                      <a:rPr lang="tr-TR" sz="1000" i="0" noProof="1" smtClean="0">
                        <a:latin typeface="Cambria Math" panose="02040503050406030204" pitchFamily="18" charset="0"/>
                      </a:rPr>
                      <m:t>α</m:t>
                    </m:r>
                  </m:oMath>
                </a14:m>
                <a:r>
                  <a:rPr lang="tr-TR" sz="1000" noProof="1">
                    <a:cs typeface="Arial" panose="020B0604020202020204" pitchFamily="34" charset="0"/>
                  </a:rPr>
                  <a:t> dir. </a:t>
                </a:r>
              </a:p>
              <a:p>
                <a:endParaRPr lang="tr-TR" sz="1000" noProof="1">
                  <a:cs typeface="Arial" panose="020B0604020202020204" pitchFamily="34" charset="0"/>
                </a:endParaRPr>
              </a:p>
              <a:p>
                <a:r>
                  <a:rPr lang="tr-TR" sz="1000" b="1" noProof="1">
                    <a:cs typeface="Arial" panose="020B0604020202020204" pitchFamily="34" charset="0"/>
                  </a:rPr>
                  <a:t>Bu karışıma A,B ve C maddelerinden toplam 80 gram eklen-diğinde </a:t>
                </a:r>
                <a14:m>
                  <m:oMath xmlns:m="http://schemas.openxmlformats.org/officeDocument/2006/math">
                    <m:r>
                      <a:rPr lang="tr-TR" sz="1000" b="1" i="1" noProof="1">
                        <a:latin typeface="Cambria Math" panose="02040503050406030204" pitchFamily="18" charset="0"/>
                      </a:rPr>
                      <m:t>𝛂</m:t>
                    </m:r>
                  </m:oMath>
                </a14:m>
                <a:r>
                  <a:rPr lang="tr-TR" sz="1000" b="1" noProof="1">
                    <a:cs typeface="Arial" panose="020B0604020202020204" pitchFamily="34" charset="0"/>
                  </a:rPr>
                  <a:t> açısı 30 derece azalmaktadır. Buna göre </a:t>
                </a:r>
                <a14:m>
                  <m:oMath xmlns:m="http://schemas.openxmlformats.org/officeDocument/2006/math">
                    <m:r>
                      <a:rPr lang="tr-TR" sz="1000" b="1" i="0" noProof="1" smtClean="0">
                        <a:latin typeface="Cambria Math" panose="02040503050406030204" pitchFamily="18" charset="0"/>
                      </a:rPr>
                      <m:t>𝛂</m:t>
                    </m:r>
                  </m:oMath>
                </a14:m>
                <a:r>
                  <a:rPr lang="tr-TR" sz="1000" b="1" noProof="1">
                    <a:cs typeface="Arial" panose="020B0604020202020204" pitchFamily="34" charset="0"/>
                  </a:rPr>
                  <a:t> kaçtır?</a:t>
                </a:r>
              </a:p>
            </p:txBody>
          </p:sp>
        </mc:Choice>
        <mc:Fallback xmlns="">
          <p:sp>
            <p:nvSpPr>
              <p:cNvPr id="167" name="Metin kutusu 166">
                <a:extLst>
                  <a:ext uri="{FF2B5EF4-FFF2-40B4-BE49-F238E27FC236}">
                    <a16:creationId xmlns:a16="http://schemas.microsoft.com/office/drawing/2014/main" id="{52760AC6-7A0B-41A4-A15E-5CFC331CEAF5}"/>
                  </a:ext>
                </a:extLst>
              </p:cNvPr>
              <p:cNvSpPr txBox="1">
                <a:spLocks noRot="1" noChangeAspect="1" noMove="1" noResize="1" noEditPoints="1" noAdjustHandles="1" noChangeArrowheads="1" noChangeShapeType="1" noTextEdit="1"/>
              </p:cNvSpPr>
              <p:nvPr/>
            </p:nvSpPr>
            <p:spPr>
              <a:xfrm>
                <a:off x="3469472" y="1933360"/>
                <a:ext cx="3391728" cy="707886"/>
              </a:xfrm>
              <a:prstGeom prst="rect">
                <a:avLst/>
              </a:prstGeom>
              <a:blipFill>
                <a:blip r:embed="rId17"/>
                <a:stretch>
                  <a:fillRect b="-5172"/>
                </a:stretch>
              </a:blipFill>
            </p:spPr>
            <p:txBody>
              <a:bodyPr/>
              <a:lstStyle/>
              <a:p>
                <a:r>
                  <a:rPr lang="tr-TR">
                    <a:noFill/>
                  </a:rPr>
                  <a:t> </a:t>
                </a:r>
              </a:p>
            </p:txBody>
          </p:sp>
        </mc:Fallback>
      </mc:AlternateContent>
      <p:sp>
        <p:nvSpPr>
          <p:cNvPr id="168" name="Metin kutusu 167">
            <a:extLst>
              <a:ext uri="{FF2B5EF4-FFF2-40B4-BE49-F238E27FC236}">
                <a16:creationId xmlns:a16="http://schemas.microsoft.com/office/drawing/2014/main" id="{A01EC88E-88C0-4512-AA70-7960F67B8F90}"/>
              </a:ext>
            </a:extLst>
          </p:cNvPr>
          <p:cNvSpPr txBox="1"/>
          <p:nvPr/>
        </p:nvSpPr>
        <p:spPr>
          <a:xfrm>
            <a:off x="5013841" y="976817"/>
            <a:ext cx="231128" cy="246221"/>
          </a:xfrm>
          <a:prstGeom prst="rect">
            <a:avLst/>
          </a:prstGeom>
          <a:noFill/>
        </p:spPr>
        <p:txBody>
          <a:bodyPr wrap="square" rtlCol="0">
            <a:spAutoFit/>
          </a:bodyPr>
          <a:lstStyle/>
          <a:p>
            <a:r>
              <a:rPr lang="tr-TR" sz="1000" noProof="1">
                <a:cs typeface="Arial" panose="020B0604020202020204" pitchFamily="34" charset="0"/>
              </a:rPr>
              <a:t>A</a:t>
            </a:r>
          </a:p>
        </p:txBody>
      </p:sp>
      <p:sp>
        <p:nvSpPr>
          <p:cNvPr id="169" name="Metin kutusu 168">
            <a:extLst>
              <a:ext uri="{FF2B5EF4-FFF2-40B4-BE49-F238E27FC236}">
                <a16:creationId xmlns:a16="http://schemas.microsoft.com/office/drawing/2014/main" id="{4A122700-233C-4D06-937A-DEEBCECE712D}"/>
              </a:ext>
            </a:extLst>
          </p:cNvPr>
          <p:cNvSpPr txBox="1"/>
          <p:nvPr/>
        </p:nvSpPr>
        <p:spPr>
          <a:xfrm>
            <a:off x="5362873" y="1354670"/>
            <a:ext cx="231128" cy="246221"/>
          </a:xfrm>
          <a:prstGeom prst="rect">
            <a:avLst/>
          </a:prstGeom>
          <a:noFill/>
        </p:spPr>
        <p:txBody>
          <a:bodyPr wrap="square" rtlCol="0">
            <a:spAutoFit/>
          </a:bodyPr>
          <a:lstStyle/>
          <a:p>
            <a:r>
              <a:rPr lang="tr-TR" sz="1000" noProof="1">
                <a:cs typeface="Arial" panose="020B0604020202020204" pitchFamily="34" charset="0"/>
              </a:rPr>
              <a:t>B</a:t>
            </a:r>
          </a:p>
        </p:txBody>
      </p:sp>
      <p:sp>
        <p:nvSpPr>
          <p:cNvPr id="170" name="Metin kutusu 169">
            <a:extLst>
              <a:ext uri="{FF2B5EF4-FFF2-40B4-BE49-F238E27FC236}">
                <a16:creationId xmlns:a16="http://schemas.microsoft.com/office/drawing/2014/main" id="{65A45471-0756-44AA-A56B-6B5A112FC593}"/>
              </a:ext>
            </a:extLst>
          </p:cNvPr>
          <p:cNvSpPr txBox="1"/>
          <p:nvPr/>
        </p:nvSpPr>
        <p:spPr>
          <a:xfrm>
            <a:off x="5030543" y="1620128"/>
            <a:ext cx="231128" cy="246221"/>
          </a:xfrm>
          <a:prstGeom prst="rect">
            <a:avLst/>
          </a:prstGeom>
          <a:noFill/>
        </p:spPr>
        <p:txBody>
          <a:bodyPr wrap="square" rtlCol="0">
            <a:spAutoFit/>
          </a:bodyPr>
          <a:lstStyle/>
          <a:p>
            <a:r>
              <a:rPr lang="tr-TR" sz="1000" noProof="1">
                <a:cs typeface="Arial" panose="020B0604020202020204" pitchFamily="34" charset="0"/>
              </a:rPr>
              <a:t>C</a:t>
            </a:r>
          </a:p>
        </p:txBody>
      </p:sp>
      <p:sp>
        <p:nvSpPr>
          <p:cNvPr id="171" name="Metin kutusu 170">
            <a:extLst>
              <a:ext uri="{FF2B5EF4-FFF2-40B4-BE49-F238E27FC236}">
                <a16:creationId xmlns:a16="http://schemas.microsoft.com/office/drawing/2014/main" id="{CDE150E2-8D84-4349-8C0C-A50DC9437C81}"/>
              </a:ext>
            </a:extLst>
          </p:cNvPr>
          <p:cNvSpPr txBox="1"/>
          <p:nvPr/>
        </p:nvSpPr>
        <p:spPr>
          <a:xfrm>
            <a:off x="4625704" y="1350122"/>
            <a:ext cx="231128" cy="246221"/>
          </a:xfrm>
          <a:prstGeom prst="rect">
            <a:avLst/>
          </a:prstGeom>
          <a:noFill/>
        </p:spPr>
        <p:txBody>
          <a:bodyPr wrap="square" rtlCol="0">
            <a:spAutoFit/>
          </a:bodyPr>
          <a:lstStyle/>
          <a:p>
            <a:r>
              <a:rPr lang="tr-TR" sz="1000" noProof="1">
                <a:cs typeface="Arial" panose="020B0604020202020204" pitchFamily="34" charset="0"/>
              </a:rPr>
              <a:t>X</a:t>
            </a:r>
          </a:p>
        </p:txBody>
      </p:sp>
      <mc:AlternateContent xmlns:mc="http://schemas.openxmlformats.org/markup-compatibility/2006" xmlns:a14="http://schemas.microsoft.com/office/drawing/2010/main">
        <mc:Choice Requires="a14">
          <p:sp>
            <p:nvSpPr>
              <p:cNvPr id="172" name="Metin kutusu 171">
                <a:extLst>
                  <a:ext uri="{FF2B5EF4-FFF2-40B4-BE49-F238E27FC236}">
                    <a16:creationId xmlns:a16="http://schemas.microsoft.com/office/drawing/2014/main" id="{9A91CF82-E1CE-402A-A501-346661BC1231}"/>
                  </a:ext>
                </a:extLst>
              </p:cNvPr>
              <p:cNvSpPr txBox="1"/>
              <p:nvPr/>
            </p:nvSpPr>
            <p:spPr>
              <a:xfrm>
                <a:off x="4751092" y="1275965"/>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tr-TR" sz="900" b="0" i="1" noProof="1">
                          <a:latin typeface="Cambria Math" panose="02040503050406030204" pitchFamily="18" charset="0"/>
                        </a:rPr>
                        <m:t>α</m:t>
                      </m:r>
                      <m:r>
                        <a:rPr lang="tr-TR" sz="900" b="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172" name="Metin kutusu 171">
                <a:extLst>
                  <a:ext uri="{FF2B5EF4-FFF2-40B4-BE49-F238E27FC236}">
                    <a16:creationId xmlns:a16="http://schemas.microsoft.com/office/drawing/2014/main" id="{9A91CF82-E1CE-402A-A501-346661BC1231}"/>
                  </a:ext>
                </a:extLst>
              </p:cNvPr>
              <p:cNvSpPr txBox="1">
                <a:spLocks noRot="1" noChangeAspect="1" noMove="1" noResize="1" noEditPoints="1" noAdjustHandles="1" noChangeArrowheads="1" noChangeShapeType="1" noTextEdit="1"/>
              </p:cNvSpPr>
              <p:nvPr/>
            </p:nvSpPr>
            <p:spPr>
              <a:xfrm>
                <a:off x="4751092" y="1275965"/>
                <a:ext cx="493877" cy="230832"/>
              </a:xfrm>
              <a:prstGeom prst="rect">
                <a:avLst/>
              </a:prstGeom>
              <a:blipFill>
                <a:blip r:embed="rId18"/>
                <a:stretch>
                  <a:fillRect/>
                </a:stretch>
              </a:blipFill>
            </p:spPr>
            <p:txBody>
              <a:bodyPr/>
              <a:lstStyle/>
              <a:p>
                <a:r>
                  <a:rPr lang="tr-TR">
                    <a:noFill/>
                  </a:rPr>
                  <a:t> </a:t>
                </a:r>
              </a:p>
            </p:txBody>
          </p:sp>
        </mc:Fallback>
      </mc:AlternateContent>
      <p:sp>
        <p:nvSpPr>
          <p:cNvPr id="173" name="Dikdörtgen 172">
            <a:extLst>
              <a:ext uri="{FF2B5EF4-FFF2-40B4-BE49-F238E27FC236}">
                <a16:creationId xmlns:a16="http://schemas.microsoft.com/office/drawing/2014/main" id="{41BD2BED-1131-40A7-83F3-7B0B50661983}"/>
              </a:ext>
            </a:extLst>
          </p:cNvPr>
          <p:cNvSpPr/>
          <p:nvPr/>
        </p:nvSpPr>
        <p:spPr>
          <a:xfrm>
            <a:off x="3535277" y="7012015"/>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spTree>
    <p:extLst>
      <p:ext uri="{BB962C8B-B14F-4D97-AF65-F5344CB8AC3E}">
        <p14:creationId xmlns:p14="http://schemas.microsoft.com/office/powerpoint/2010/main" val="14829621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18431" y="2466065"/>
            <a:ext cx="3373212" cy="2862322"/>
          </a:xfrm>
          <a:prstGeom prst="rect">
            <a:avLst/>
          </a:prstGeom>
          <a:noFill/>
        </p:spPr>
        <p:txBody>
          <a:bodyPr wrap="square" rtlCol="0">
            <a:spAutoFit/>
          </a:bodyPr>
          <a:lstStyle/>
          <a:p>
            <a:r>
              <a:rPr lang="tr-TR" sz="1000" noProof="1"/>
              <a:t>Yabancı dil sınavına hazırlanan öğrenci sayısı, AYT SÖZEL sınavına hazırlanan öğrenci sayısından 150 azdır. </a:t>
            </a:r>
          </a:p>
          <a:p>
            <a:endParaRPr lang="tr-TR" sz="1000" noProof="1"/>
          </a:p>
          <a:p>
            <a:r>
              <a:rPr lang="tr-TR" sz="1000" b="1" noProof="1"/>
              <a:t>Sadece bu verilerle aşağıdakilerden hangisi </a:t>
            </a:r>
            <a:r>
              <a:rPr lang="tr-TR" sz="1000" b="1" u="sng" noProof="1"/>
              <a:t>hesaplanamaz</a:t>
            </a:r>
            <a:r>
              <a:rPr lang="tr-TR" sz="1000" b="1" noProof="1"/>
              <a:t>?</a:t>
            </a:r>
          </a:p>
          <a:p>
            <a:endParaRPr lang="tr-TR" sz="1000" b="1" noProof="1"/>
          </a:p>
          <a:p>
            <a:r>
              <a:rPr lang="tr-TR" sz="1000" noProof="1"/>
              <a:t>A) Topluluktaki tüm öğrenci sayısının TYT hazırlanan öğrenci sayısına oranı</a:t>
            </a:r>
            <a:br>
              <a:rPr lang="tr-TR" sz="1000" noProof="1"/>
            </a:br>
            <a:br>
              <a:rPr lang="tr-TR" sz="1000" noProof="1"/>
            </a:br>
            <a:r>
              <a:rPr lang="tr-TR" sz="1000" noProof="1"/>
              <a:t>B) Topluluktaki tüm öğrenci sayısı</a:t>
            </a:r>
          </a:p>
          <a:p>
            <a:endParaRPr lang="tr-TR" sz="1000" noProof="1"/>
          </a:p>
          <a:p>
            <a:r>
              <a:rPr lang="tr-TR" sz="1000" noProof="1"/>
              <a:t>C) AYT Sayısal ve Eşit Ağırlık sınavına hazırlanan öğrenci sayısının tüm öğrenci sayısına oranı</a:t>
            </a:r>
          </a:p>
          <a:p>
            <a:endParaRPr lang="tr-TR" sz="1000" noProof="1"/>
          </a:p>
          <a:p>
            <a:r>
              <a:rPr lang="tr-TR" sz="1000" noProof="1"/>
              <a:t>D) AYT Sayısal sınavına hazırlanan öğrenci sayısının tüm öğrencilere yüzde kaçına tekabül ettiği</a:t>
            </a:r>
          </a:p>
          <a:p>
            <a:endParaRPr lang="tr-TR" sz="1000" noProof="1"/>
          </a:p>
          <a:p>
            <a:r>
              <a:rPr lang="tr-TR" sz="1000" noProof="1"/>
              <a:t>E) Diğer öğrenci sayısı ile TYT snavına hazırlanan öğrenci sayısının arasındaki fark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400110"/>
          </a:xfrm>
          <a:prstGeom prst="rect">
            <a:avLst/>
          </a:prstGeom>
          <a:noFill/>
        </p:spPr>
        <p:txBody>
          <a:bodyPr wrap="square" rtlCol="0">
            <a:spAutoFit/>
          </a:bodyPr>
          <a:lstStyle/>
          <a:p>
            <a:r>
              <a:rPr lang="tr-TR" sz="1000" noProof="1">
                <a:cs typeface="Arial" panose="020B0604020202020204" pitchFamily="34" charset="0"/>
              </a:rPr>
              <a:t>Aşağıda bir öğrenci topluluğunundaki öğrencilerin hangi sınavlara hazırlandığı dairesel grafikle sembolize edilmiştir.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96654" y="475758"/>
            <a:ext cx="3349954" cy="400110"/>
          </a:xfrm>
          <a:prstGeom prst="rect">
            <a:avLst/>
          </a:prstGeom>
          <a:noFill/>
        </p:spPr>
        <p:txBody>
          <a:bodyPr wrap="square" rtlCol="0">
            <a:spAutoFit/>
          </a:bodyPr>
          <a:lstStyle/>
          <a:p>
            <a:r>
              <a:rPr lang="tr-TR" sz="1000" noProof="1">
                <a:cs typeface="Arial" panose="020B0604020202020204" pitchFamily="34" charset="0"/>
              </a:rPr>
              <a:t>Bir mağazanın X,Y,Z,T ürünlerinin sayısı 1.grafikte, ürünlerin ağırlıkları ise 2.grafikte gösterilmiştir. </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5.D    6.X    7.X    8.X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65049" y="4668045"/>
            <a:ext cx="3278526" cy="246221"/>
          </a:xfrm>
          <a:prstGeom prst="rect">
            <a:avLst/>
          </a:prstGeom>
          <a:noFill/>
        </p:spPr>
        <p:txBody>
          <a:bodyPr wrap="square" rtlCol="0">
            <a:spAutoFit/>
          </a:bodyPr>
          <a:lstStyle/>
          <a:p>
            <a:r>
              <a:rPr lang="tr-TR" sz="1000" noProof="1">
                <a:cs typeface="Arial" panose="020B0604020202020204" pitchFamily="34" charset="0"/>
              </a:rPr>
              <a:t>a</a:t>
            </a:r>
            <a:endParaRPr lang="tr-TR" sz="1000" b="1" noProof="1">
              <a:cs typeface="Arial" panose="020B0604020202020204" pitchFamily="34" charset="0"/>
            </a:endParaRPr>
          </a:p>
        </p:txBody>
      </p:sp>
      <p:pic>
        <p:nvPicPr>
          <p:cNvPr id="36" name="Grafik 35">
            <a:extLst>
              <a:ext uri="{FF2B5EF4-FFF2-40B4-BE49-F238E27FC236}">
                <a16:creationId xmlns:a16="http://schemas.microsoft.com/office/drawing/2014/main" id="{F9238E3E-203C-4999-824D-D045EB0599F2}"/>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43" y="854801"/>
            <a:ext cx="1698728" cy="1619463"/>
          </a:xfrm>
          <a:prstGeom prst="rect">
            <a:avLst/>
          </a:prstGeom>
        </p:spPr>
      </p:pic>
      <mc:AlternateContent xmlns:mc="http://schemas.openxmlformats.org/markup-compatibility/2006" xmlns:a14="http://schemas.microsoft.com/office/drawing/2010/main">
        <mc:Choice Requires="a14">
          <p:sp>
            <p:nvSpPr>
              <p:cNvPr id="37" name="Metin kutusu 36">
                <a:extLst>
                  <a:ext uri="{FF2B5EF4-FFF2-40B4-BE49-F238E27FC236}">
                    <a16:creationId xmlns:a16="http://schemas.microsoft.com/office/drawing/2014/main" id="{F72DEC1B-46CF-4A75-94EC-79586681D3DC}"/>
                  </a:ext>
                </a:extLst>
              </p:cNvPr>
              <p:cNvSpPr txBox="1"/>
              <p:nvPr/>
            </p:nvSpPr>
            <p:spPr>
              <a:xfrm>
                <a:off x="620688" y="1705953"/>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40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37" name="Metin kutusu 36">
                <a:extLst>
                  <a:ext uri="{FF2B5EF4-FFF2-40B4-BE49-F238E27FC236}">
                    <a16:creationId xmlns:a16="http://schemas.microsoft.com/office/drawing/2014/main" id="{F72DEC1B-46CF-4A75-94EC-79586681D3DC}"/>
                  </a:ext>
                </a:extLst>
              </p:cNvPr>
              <p:cNvSpPr txBox="1">
                <a:spLocks noRot="1" noChangeAspect="1" noMove="1" noResize="1" noEditPoints="1" noAdjustHandles="1" noChangeArrowheads="1" noChangeShapeType="1" noTextEdit="1"/>
              </p:cNvSpPr>
              <p:nvPr/>
            </p:nvSpPr>
            <p:spPr>
              <a:xfrm>
                <a:off x="620688" y="1705953"/>
                <a:ext cx="455508" cy="246221"/>
              </a:xfrm>
              <a:prstGeom prst="rect">
                <a:avLst/>
              </a:prstGeom>
              <a:blipFill>
                <a:blip r:embed="rId7"/>
                <a:stretch>
                  <a:fillRect b="-1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8" name="Metin kutusu 37">
                <a:extLst>
                  <a:ext uri="{FF2B5EF4-FFF2-40B4-BE49-F238E27FC236}">
                    <a16:creationId xmlns:a16="http://schemas.microsoft.com/office/drawing/2014/main" id="{421FB74C-6157-48D8-8693-617903E82D12}"/>
                  </a:ext>
                </a:extLst>
              </p:cNvPr>
              <p:cNvSpPr txBox="1"/>
              <p:nvPr/>
            </p:nvSpPr>
            <p:spPr>
              <a:xfrm>
                <a:off x="868556" y="1709487"/>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30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38" name="Metin kutusu 37">
                <a:extLst>
                  <a:ext uri="{FF2B5EF4-FFF2-40B4-BE49-F238E27FC236}">
                    <a16:creationId xmlns:a16="http://schemas.microsoft.com/office/drawing/2014/main" id="{421FB74C-6157-48D8-8693-617903E82D12}"/>
                  </a:ext>
                </a:extLst>
              </p:cNvPr>
              <p:cNvSpPr txBox="1">
                <a:spLocks noRot="1" noChangeAspect="1" noMove="1" noResize="1" noEditPoints="1" noAdjustHandles="1" noChangeArrowheads="1" noChangeShapeType="1" noTextEdit="1"/>
              </p:cNvSpPr>
              <p:nvPr/>
            </p:nvSpPr>
            <p:spPr>
              <a:xfrm>
                <a:off x="868556" y="1709487"/>
                <a:ext cx="455508" cy="246221"/>
              </a:xfrm>
              <a:prstGeom prst="rect">
                <a:avLst/>
              </a:prstGeom>
              <a:blipFill>
                <a:blip r:embed="rId8"/>
                <a:stretch>
                  <a:fillRect b="-1463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9" name="Metin kutusu 38">
                <a:extLst>
                  <a:ext uri="{FF2B5EF4-FFF2-40B4-BE49-F238E27FC236}">
                    <a16:creationId xmlns:a16="http://schemas.microsoft.com/office/drawing/2014/main" id="{19B16C60-4716-4EEE-8186-F9C0F2697EBB}"/>
                  </a:ext>
                </a:extLst>
              </p:cNvPr>
              <p:cNvSpPr txBox="1"/>
              <p:nvPr/>
            </p:nvSpPr>
            <p:spPr>
              <a:xfrm>
                <a:off x="1007756" y="1529983"/>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80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39" name="Metin kutusu 38">
                <a:extLst>
                  <a:ext uri="{FF2B5EF4-FFF2-40B4-BE49-F238E27FC236}">
                    <a16:creationId xmlns:a16="http://schemas.microsoft.com/office/drawing/2014/main" id="{19B16C60-4716-4EEE-8186-F9C0F2697EBB}"/>
                  </a:ext>
                </a:extLst>
              </p:cNvPr>
              <p:cNvSpPr txBox="1">
                <a:spLocks noRot="1" noChangeAspect="1" noMove="1" noResize="1" noEditPoints="1" noAdjustHandles="1" noChangeArrowheads="1" noChangeShapeType="1" noTextEdit="1"/>
              </p:cNvSpPr>
              <p:nvPr/>
            </p:nvSpPr>
            <p:spPr>
              <a:xfrm>
                <a:off x="1007756" y="1529983"/>
                <a:ext cx="455508" cy="246221"/>
              </a:xfrm>
              <a:prstGeom prst="rect">
                <a:avLst/>
              </a:prstGeom>
              <a:blipFill>
                <a:blip r:embed="rId9"/>
                <a:stretch>
                  <a:fillRect b="-1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40" name="Metin kutusu 39">
                <a:extLst>
                  <a:ext uri="{FF2B5EF4-FFF2-40B4-BE49-F238E27FC236}">
                    <a16:creationId xmlns:a16="http://schemas.microsoft.com/office/drawing/2014/main" id="{5EDB2907-03D6-48C6-AB8E-C6195CD6E43C}"/>
                  </a:ext>
                </a:extLst>
              </p:cNvPr>
              <p:cNvSpPr txBox="1"/>
              <p:nvPr/>
            </p:nvSpPr>
            <p:spPr>
              <a:xfrm>
                <a:off x="605384" y="1314832"/>
                <a:ext cx="455508" cy="246221"/>
              </a:xfrm>
              <a:prstGeom prst="rect">
                <a:avLst/>
              </a:prstGeom>
              <a:noFill/>
            </p:spPr>
            <p:txBody>
              <a:bodyPr wrap="square">
                <a:spAutoFit/>
              </a:bodyPr>
              <a:lstStyle/>
              <a:p>
                <a:r>
                  <a:rPr lang="tr-TR" sz="1000" noProof="1">
                    <a:solidFill>
                      <a:schemeClr val="tx1"/>
                    </a:solidFill>
                    <a:ea typeface="Cambria Math" panose="02040503050406030204" pitchFamily="18" charset="0"/>
                    <a:cs typeface="Arial" panose="020B0604020202020204" pitchFamily="34" charset="0"/>
                  </a:rPr>
                  <a:t>100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solidFill>
                    <a:schemeClr val="tx1"/>
                  </a:solidFill>
                </a:endParaRPr>
              </a:p>
            </p:txBody>
          </p:sp>
        </mc:Choice>
        <mc:Fallback xmlns="">
          <p:sp>
            <p:nvSpPr>
              <p:cNvPr id="40" name="Metin kutusu 39">
                <a:extLst>
                  <a:ext uri="{FF2B5EF4-FFF2-40B4-BE49-F238E27FC236}">
                    <a16:creationId xmlns:a16="http://schemas.microsoft.com/office/drawing/2014/main" id="{5EDB2907-03D6-48C6-AB8E-C6195CD6E43C}"/>
                  </a:ext>
                </a:extLst>
              </p:cNvPr>
              <p:cNvSpPr txBox="1">
                <a:spLocks noRot="1" noChangeAspect="1" noMove="1" noResize="1" noEditPoints="1" noAdjustHandles="1" noChangeArrowheads="1" noChangeShapeType="1" noTextEdit="1"/>
              </p:cNvSpPr>
              <p:nvPr/>
            </p:nvSpPr>
            <p:spPr>
              <a:xfrm>
                <a:off x="605384" y="1314832"/>
                <a:ext cx="455508" cy="246221"/>
              </a:xfrm>
              <a:prstGeom prst="rect">
                <a:avLst/>
              </a:prstGeom>
              <a:blipFill>
                <a:blip r:embed="rId10"/>
                <a:stretch>
                  <a:fillRect b="-15000"/>
                </a:stretch>
              </a:blipFill>
            </p:spPr>
            <p:txBody>
              <a:bodyPr/>
              <a:lstStyle/>
              <a:p>
                <a:r>
                  <a:rPr lang="tr-TR">
                    <a:noFill/>
                  </a:rPr>
                  <a:t> </a:t>
                </a:r>
              </a:p>
            </p:txBody>
          </p:sp>
        </mc:Fallback>
      </mc:AlternateContent>
      <p:sp>
        <p:nvSpPr>
          <p:cNvPr id="46" name="Dikdörtgen 45">
            <a:extLst>
              <a:ext uri="{FF2B5EF4-FFF2-40B4-BE49-F238E27FC236}">
                <a16:creationId xmlns:a16="http://schemas.microsoft.com/office/drawing/2014/main" id="{72441AE6-C900-4494-A9D6-6186F1F4A692}"/>
              </a:ext>
            </a:extLst>
          </p:cNvPr>
          <p:cNvSpPr/>
          <p:nvPr/>
        </p:nvSpPr>
        <p:spPr>
          <a:xfrm>
            <a:off x="1843834" y="938837"/>
            <a:ext cx="1527904" cy="1301717"/>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8" name="Metin kutusu 47">
            <a:extLst>
              <a:ext uri="{FF2B5EF4-FFF2-40B4-BE49-F238E27FC236}">
                <a16:creationId xmlns:a16="http://schemas.microsoft.com/office/drawing/2014/main" id="{8631C911-0B15-45D9-938B-79E40813B13D}"/>
              </a:ext>
            </a:extLst>
          </p:cNvPr>
          <p:cNvSpPr txBox="1"/>
          <p:nvPr/>
        </p:nvSpPr>
        <p:spPr>
          <a:xfrm>
            <a:off x="1791263" y="957201"/>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7ECCE6"/>
                </a:solidFill>
                <a:cs typeface="Arial" panose="020B0604020202020204" pitchFamily="34" charset="0"/>
              </a:rPr>
              <a:t> </a:t>
            </a:r>
          </a:p>
        </p:txBody>
      </p:sp>
      <p:sp>
        <p:nvSpPr>
          <p:cNvPr id="53" name="Metin kutusu 52">
            <a:extLst>
              <a:ext uri="{FF2B5EF4-FFF2-40B4-BE49-F238E27FC236}">
                <a16:creationId xmlns:a16="http://schemas.microsoft.com/office/drawing/2014/main" id="{FE3F5062-E1A0-4E32-915B-EA411B3345B5}"/>
              </a:ext>
            </a:extLst>
          </p:cNvPr>
          <p:cNvSpPr txBox="1"/>
          <p:nvPr/>
        </p:nvSpPr>
        <p:spPr>
          <a:xfrm>
            <a:off x="1796201" y="1192188"/>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B4A1CE"/>
                </a:solidFill>
                <a:cs typeface="Arial" panose="020B0604020202020204" pitchFamily="34" charset="0"/>
              </a:rPr>
              <a:t> </a:t>
            </a:r>
          </a:p>
        </p:txBody>
      </p:sp>
      <p:sp>
        <p:nvSpPr>
          <p:cNvPr id="55" name="Metin kutusu 54">
            <a:extLst>
              <a:ext uri="{FF2B5EF4-FFF2-40B4-BE49-F238E27FC236}">
                <a16:creationId xmlns:a16="http://schemas.microsoft.com/office/drawing/2014/main" id="{B36BD267-11B3-42DA-A628-B29FC6FD7E0E}"/>
              </a:ext>
            </a:extLst>
          </p:cNvPr>
          <p:cNvSpPr txBox="1"/>
          <p:nvPr/>
        </p:nvSpPr>
        <p:spPr>
          <a:xfrm>
            <a:off x="1790230" y="1412250"/>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D0122B"/>
                </a:solidFill>
                <a:cs typeface="Arial" panose="020B0604020202020204" pitchFamily="34" charset="0"/>
              </a:rPr>
              <a:t> </a:t>
            </a:r>
          </a:p>
        </p:txBody>
      </p:sp>
      <p:sp>
        <p:nvSpPr>
          <p:cNvPr id="56" name="Metin kutusu 55">
            <a:extLst>
              <a:ext uri="{FF2B5EF4-FFF2-40B4-BE49-F238E27FC236}">
                <a16:creationId xmlns:a16="http://schemas.microsoft.com/office/drawing/2014/main" id="{6A9C70A9-E24B-4CBC-9976-F03AC19623D3}"/>
              </a:ext>
            </a:extLst>
          </p:cNvPr>
          <p:cNvSpPr txBox="1"/>
          <p:nvPr/>
        </p:nvSpPr>
        <p:spPr>
          <a:xfrm>
            <a:off x="1925560" y="948483"/>
            <a:ext cx="1699786" cy="246221"/>
          </a:xfrm>
          <a:prstGeom prst="rect">
            <a:avLst/>
          </a:prstGeom>
          <a:noFill/>
        </p:spPr>
        <p:txBody>
          <a:bodyPr wrap="square" rtlCol="0">
            <a:spAutoFit/>
          </a:bodyPr>
          <a:lstStyle/>
          <a:p>
            <a:r>
              <a:rPr lang="tr-TR" sz="1000" noProof="1">
                <a:cs typeface="Arial" panose="020B0604020202020204" pitchFamily="34" charset="0"/>
              </a:rPr>
              <a:t>AYT - SAYISAL</a:t>
            </a:r>
          </a:p>
        </p:txBody>
      </p:sp>
      <p:sp>
        <p:nvSpPr>
          <p:cNvPr id="57" name="Metin kutusu 56">
            <a:extLst>
              <a:ext uri="{FF2B5EF4-FFF2-40B4-BE49-F238E27FC236}">
                <a16:creationId xmlns:a16="http://schemas.microsoft.com/office/drawing/2014/main" id="{8D7E385B-3D94-45A1-9575-77B8785543EF}"/>
              </a:ext>
            </a:extLst>
          </p:cNvPr>
          <p:cNvSpPr txBox="1"/>
          <p:nvPr/>
        </p:nvSpPr>
        <p:spPr>
          <a:xfrm>
            <a:off x="1938850" y="1186852"/>
            <a:ext cx="1446178" cy="246221"/>
          </a:xfrm>
          <a:prstGeom prst="rect">
            <a:avLst/>
          </a:prstGeom>
          <a:noFill/>
        </p:spPr>
        <p:txBody>
          <a:bodyPr wrap="square" rtlCol="0">
            <a:spAutoFit/>
          </a:bodyPr>
          <a:lstStyle/>
          <a:p>
            <a:r>
              <a:rPr lang="tr-TR" sz="1000" noProof="1">
                <a:cs typeface="Arial" panose="020B0604020202020204" pitchFamily="34" charset="0"/>
              </a:rPr>
              <a:t>AYT - SÖZEL</a:t>
            </a:r>
          </a:p>
        </p:txBody>
      </p:sp>
      <p:sp>
        <p:nvSpPr>
          <p:cNvPr id="58" name="Metin kutusu 57">
            <a:extLst>
              <a:ext uri="{FF2B5EF4-FFF2-40B4-BE49-F238E27FC236}">
                <a16:creationId xmlns:a16="http://schemas.microsoft.com/office/drawing/2014/main" id="{03F943F9-5971-4954-836F-5586D6C50392}"/>
              </a:ext>
            </a:extLst>
          </p:cNvPr>
          <p:cNvSpPr txBox="1"/>
          <p:nvPr/>
        </p:nvSpPr>
        <p:spPr>
          <a:xfrm>
            <a:off x="1938850" y="1401491"/>
            <a:ext cx="1699786" cy="246221"/>
          </a:xfrm>
          <a:prstGeom prst="rect">
            <a:avLst/>
          </a:prstGeom>
          <a:noFill/>
        </p:spPr>
        <p:txBody>
          <a:bodyPr wrap="square" rtlCol="0">
            <a:spAutoFit/>
          </a:bodyPr>
          <a:lstStyle/>
          <a:p>
            <a:r>
              <a:rPr lang="tr-TR" sz="1000" noProof="1">
                <a:cs typeface="Arial" panose="020B0604020202020204" pitchFamily="34" charset="0"/>
              </a:rPr>
              <a:t>AYT – EŞİT AĞIRLIK</a:t>
            </a:r>
          </a:p>
        </p:txBody>
      </p:sp>
      <p:sp>
        <p:nvSpPr>
          <p:cNvPr id="59" name="Metin kutusu 58">
            <a:extLst>
              <a:ext uri="{FF2B5EF4-FFF2-40B4-BE49-F238E27FC236}">
                <a16:creationId xmlns:a16="http://schemas.microsoft.com/office/drawing/2014/main" id="{08DF22F8-4B3A-4E8D-9B48-351A6F25FD46}"/>
              </a:ext>
            </a:extLst>
          </p:cNvPr>
          <p:cNvSpPr txBox="1"/>
          <p:nvPr/>
        </p:nvSpPr>
        <p:spPr>
          <a:xfrm>
            <a:off x="1789459" y="161627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D1D700"/>
                </a:solidFill>
                <a:cs typeface="Arial" panose="020B0604020202020204" pitchFamily="34" charset="0"/>
              </a:rPr>
              <a:t> </a:t>
            </a:r>
          </a:p>
        </p:txBody>
      </p:sp>
      <p:sp>
        <p:nvSpPr>
          <p:cNvPr id="60" name="Metin kutusu 59">
            <a:extLst>
              <a:ext uri="{FF2B5EF4-FFF2-40B4-BE49-F238E27FC236}">
                <a16:creationId xmlns:a16="http://schemas.microsoft.com/office/drawing/2014/main" id="{2C6AC817-A946-4041-A365-1B59613CBDE4}"/>
              </a:ext>
            </a:extLst>
          </p:cNvPr>
          <p:cNvSpPr txBox="1"/>
          <p:nvPr/>
        </p:nvSpPr>
        <p:spPr>
          <a:xfrm>
            <a:off x="1938079" y="1605518"/>
            <a:ext cx="1699786" cy="246221"/>
          </a:xfrm>
          <a:prstGeom prst="rect">
            <a:avLst/>
          </a:prstGeom>
          <a:noFill/>
        </p:spPr>
        <p:txBody>
          <a:bodyPr wrap="square" rtlCol="0">
            <a:spAutoFit/>
          </a:bodyPr>
          <a:lstStyle/>
          <a:p>
            <a:r>
              <a:rPr lang="tr-TR" sz="1000" noProof="1">
                <a:cs typeface="Arial" panose="020B0604020202020204" pitchFamily="34" charset="0"/>
              </a:rPr>
              <a:t>TYT </a:t>
            </a:r>
          </a:p>
        </p:txBody>
      </p:sp>
      <p:sp>
        <p:nvSpPr>
          <p:cNvPr id="61" name="Metin kutusu 60">
            <a:extLst>
              <a:ext uri="{FF2B5EF4-FFF2-40B4-BE49-F238E27FC236}">
                <a16:creationId xmlns:a16="http://schemas.microsoft.com/office/drawing/2014/main" id="{149C2025-C202-4B0C-AAFE-556663D970A5}"/>
              </a:ext>
            </a:extLst>
          </p:cNvPr>
          <p:cNvSpPr txBox="1"/>
          <p:nvPr/>
        </p:nvSpPr>
        <p:spPr>
          <a:xfrm>
            <a:off x="1785801" y="180872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F7A5F"/>
                </a:solidFill>
                <a:cs typeface="Arial" panose="020B0604020202020204" pitchFamily="34" charset="0"/>
              </a:rPr>
              <a:t> </a:t>
            </a:r>
          </a:p>
        </p:txBody>
      </p:sp>
      <p:sp>
        <p:nvSpPr>
          <p:cNvPr id="63" name="Metin kutusu 62">
            <a:extLst>
              <a:ext uri="{FF2B5EF4-FFF2-40B4-BE49-F238E27FC236}">
                <a16:creationId xmlns:a16="http://schemas.microsoft.com/office/drawing/2014/main" id="{ADA40241-295E-4D1B-BA88-C58450A3A7EF}"/>
              </a:ext>
            </a:extLst>
          </p:cNvPr>
          <p:cNvSpPr txBox="1"/>
          <p:nvPr/>
        </p:nvSpPr>
        <p:spPr>
          <a:xfrm>
            <a:off x="1934421" y="1797968"/>
            <a:ext cx="1699786" cy="246221"/>
          </a:xfrm>
          <a:prstGeom prst="rect">
            <a:avLst/>
          </a:prstGeom>
          <a:noFill/>
        </p:spPr>
        <p:txBody>
          <a:bodyPr wrap="square" rtlCol="0">
            <a:spAutoFit/>
          </a:bodyPr>
          <a:lstStyle/>
          <a:p>
            <a:r>
              <a:rPr lang="tr-TR" sz="1000" noProof="1">
                <a:cs typeface="Arial" panose="020B0604020202020204" pitchFamily="34" charset="0"/>
              </a:rPr>
              <a:t>YABANCI DİL SINAVI</a:t>
            </a:r>
          </a:p>
        </p:txBody>
      </p:sp>
      <p:sp>
        <p:nvSpPr>
          <p:cNvPr id="64" name="Metin kutusu 63">
            <a:extLst>
              <a:ext uri="{FF2B5EF4-FFF2-40B4-BE49-F238E27FC236}">
                <a16:creationId xmlns:a16="http://schemas.microsoft.com/office/drawing/2014/main" id="{02693699-C8C2-4881-BC2A-B2D4EA83A567}"/>
              </a:ext>
            </a:extLst>
          </p:cNvPr>
          <p:cNvSpPr txBox="1"/>
          <p:nvPr/>
        </p:nvSpPr>
        <p:spPr>
          <a:xfrm>
            <a:off x="1788884" y="199433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ACD7C1"/>
                </a:solidFill>
                <a:cs typeface="Arial" panose="020B0604020202020204" pitchFamily="34" charset="0"/>
              </a:rPr>
              <a:t> </a:t>
            </a:r>
          </a:p>
        </p:txBody>
      </p:sp>
      <p:sp>
        <p:nvSpPr>
          <p:cNvPr id="65" name="Metin kutusu 64">
            <a:extLst>
              <a:ext uri="{FF2B5EF4-FFF2-40B4-BE49-F238E27FC236}">
                <a16:creationId xmlns:a16="http://schemas.microsoft.com/office/drawing/2014/main" id="{2407C2F3-B42B-4F1B-891B-5A60EDC1D12F}"/>
              </a:ext>
            </a:extLst>
          </p:cNvPr>
          <p:cNvSpPr txBox="1"/>
          <p:nvPr/>
        </p:nvSpPr>
        <p:spPr>
          <a:xfrm>
            <a:off x="1937504" y="1983574"/>
            <a:ext cx="627400" cy="246221"/>
          </a:xfrm>
          <a:prstGeom prst="rect">
            <a:avLst/>
          </a:prstGeom>
          <a:noFill/>
        </p:spPr>
        <p:txBody>
          <a:bodyPr wrap="square" rtlCol="0">
            <a:spAutoFit/>
          </a:bodyPr>
          <a:lstStyle/>
          <a:p>
            <a:r>
              <a:rPr lang="tr-TR" sz="1000" noProof="1">
                <a:cs typeface="Arial" panose="020B0604020202020204" pitchFamily="34" charset="0"/>
              </a:rPr>
              <a:t>DİĞER</a:t>
            </a:r>
          </a:p>
        </p:txBody>
      </p:sp>
      <p:pic>
        <p:nvPicPr>
          <p:cNvPr id="13" name="Grafik 12">
            <a:extLst>
              <a:ext uri="{FF2B5EF4-FFF2-40B4-BE49-F238E27FC236}">
                <a16:creationId xmlns:a16="http://schemas.microsoft.com/office/drawing/2014/main" id="{8E4406AA-2735-4AFB-90DB-3604CADE2EC0}"/>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81058" y="1144225"/>
            <a:ext cx="1282825" cy="1282825"/>
          </a:xfrm>
          <a:prstGeom prst="rect">
            <a:avLst/>
          </a:prstGeom>
        </p:spPr>
      </p:pic>
      <p:pic>
        <p:nvPicPr>
          <p:cNvPr id="17" name="Grafik 16">
            <a:extLst>
              <a:ext uri="{FF2B5EF4-FFF2-40B4-BE49-F238E27FC236}">
                <a16:creationId xmlns:a16="http://schemas.microsoft.com/office/drawing/2014/main" id="{DF6A9963-60FD-4F56-9E20-37AED9D128B8}"/>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283229" y="1135908"/>
            <a:ext cx="1332103" cy="1293088"/>
          </a:xfrm>
          <a:prstGeom prst="rect">
            <a:avLst/>
          </a:prstGeom>
        </p:spPr>
      </p:pic>
      <p:sp>
        <p:nvSpPr>
          <p:cNvPr id="67" name="Metin kutusu 66">
            <a:extLst>
              <a:ext uri="{FF2B5EF4-FFF2-40B4-BE49-F238E27FC236}">
                <a16:creationId xmlns:a16="http://schemas.microsoft.com/office/drawing/2014/main" id="{1D9EA678-EFF8-4C65-853F-4A50B7AC9A48}"/>
              </a:ext>
            </a:extLst>
          </p:cNvPr>
          <p:cNvSpPr txBox="1"/>
          <p:nvPr/>
        </p:nvSpPr>
        <p:spPr>
          <a:xfrm>
            <a:off x="3915636" y="873311"/>
            <a:ext cx="911121" cy="246221"/>
          </a:xfrm>
          <a:prstGeom prst="rect">
            <a:avLst/>
          </a:prstGeom>
          <a:noFill/>
        </p:spPr>
        <p:txBody>
          <a:bodyPr wrap="square" rtlCol="0">
            <a:spAutoFit/>
          </a:bodyPr>
          <a:lstStyle/>
          <a:p>
            <a:r>
              <a:rPr lang="tr-TR" sz="1000" noProof="1">
                <a:cs typeface="Arial" panose="020B0604020202020204" pitchFamily="34" charset="0"/>
              </a:rPr>
              <a:t>1.Grafik (sayı)</a:t>
            </a:r>
          </a:p>
        </p:txBody>
      </p:sp>
      <p:sp>
        <p:nvSpPr>
          <p:cNvPr id="68" name="Metin kutusu 67">
            <a:extLst>
              <a:ext uri="{FF2B5EF4-FFF2-40B4-BE49-F238E27FC236}">
                <a16:creationId xmlns:a16="http://schemas.microsoft.com/office/drawing/2014/main" id="{B7073BDA-8D5E-4428-AFE0-31756A7D21FB}"/>
              </a:ext>
            </a:extLst>
          </p:cNvPr>
          <p:cNvSpPr txBox="1"/>
          <p:nvPr/>
        </p:nvSpPr>
        <p:spPr>
          <a:xfrm>
            <a:off x="5625244" y="887027"/>
            <a:ext cx="828092" cy="246221"/>
          </a:xfrm>
          <a:prstGeom prst="rect">
            <a:avLst/>
          </a:prstGeom>
          <a:noFill/>
        </p:spPr>
        <p:txBody>
          <a:bodyPr wrap="square" rtlCol="0">
            <a:spAutoFit/>
          </a:bodyPr>
          <a:lstStyle/>
          <a:p>
            <a:r>
              <a:rPr lang="tr-TR" sz="1000" noProof="1">
                <a:cs typeface="Arial" panose="020B0604020202020204" pitchFamily="34" charset="0"/>
              </a:rPr>
              <a:t>2.Grafik (kg)</a:t>
            </a:r>
          </a:p>
        </p:txBody>
      </p:sp>
      <p:sp>
        <p:nvSpPr>
          <p:cNvPr id="69" name="Metin kutusu 68">
            <a:extLst>
              <a:ext uri="{FF2B5EF4-FFF2-40B4-BE49-F238E27FC236}">
                <a16:creationId xmlns:a16="http://schemas.microsoft.com/office/drawing/2014/main" id="{405F1500-7F15-4174-A539-ACF1D7570B55}"/>
              </a:ext>
            </a:extLst>
          </p:cNvPr>
          <p:cNvSpPr txBox="1"/>
          <p:nvPr/>
        </p:nvSpPr>
        <p:spPr>
          <a:xfrm>
            <a:off x="4245368" y="1221229"/>
            <a:ext cx="245808" cy="246221"/>
          </a:xfrm>
          <a:prstGeom prst="rect">
            <a:avLst/>
          </a:prstGeom>
          <a:noFill/>
        </p:spPr>
        <p:txBody>
          <a:bodyPr wrap="square" rtlCol="0">
            <a:spAutoFit/>
          </a:bodyPr>
          <a:lstStyle/>
          <a:p>
            <a:r>
              <a:rPr lang="tr-TR" sz="1000" noProof="1">
                <a:cs typeface="Arial" panose="020B0604020202020204" pitchFamily="34" charset="0"/>
              </a:rPr>
              <a:t>X</a:t>
            </a:r>
          </a:p>
        </p:txBody>
      </p:sp>
      <p:sp>
        <p:nvSpPr>
          <p:cNvPr id="70" name="Metin kutusu 69">
            <a:extLst>
              <a:ext uri="{FF2B5EF4-FFF2-40B4-BE49-F238E27FC236}">
                <a16:creationId xmlns:a16="http://schemas.microsoft.com/office/drawing/2014/main" id="{9D1BAD2E-33D9-455C-8A24-CDAE7738AEBE}"/>
              </a:ext>
            </a:extLst>
          </p:cNvPr>
          <p:cNvSpPr txBox="1"/>
          <p:nvPr/>
        </p:nvSpPr>
        <p:spPr>
          <a:xfrm>
            <a:off x="4580952" y="1739387"/>
            <a:ext cx="245808" cy="246221"/>
          </a:xfrm>
          <a:prstGeom prst="rect">
            <a:avLst/>
          </a:prstGeom>
          <a:noFill/>
        </p:spPr>
        <p:txBody>
          <a:bodyPr wrap="square" rtlCol="0">
            <a:spAutoFit/>
          </a:bodyPr>
          <a:lstStyle/>
          <a:p>
            <a:r>
              <a:rPr lang="tr-TR" sz="1000" noProof="1">
                <a:cs typeface="Arial" panose="020B0604020202020204" pitchFamily="34" charset="0"/>
              </a:rPr>
              <a:t>Y</a:t>
            </a:r>
          </a:p>
        </p:txBody>
      </p:sp>
      <p:sp>
        <p:nvSpPr>
          <p:cNvPr id="71" name="Metin kutusu 70">
            <a:extLst>
              <a:ext uri="{FF2B5EF4-FFF2-40B4-BE49-F238E27FC236}">
                <a16:creationId xmlns:a16="http://schemas.microsoft.com/office/drawing/2014/main" id="{54D009C3-D4F3-448F-B4BE-FD2D20097FB2}"/>
              </a:ext>
            </a:extLst>
          </p:cNvPr>
          <p:cNvSpPr txBox="1"/>
          <p:nvPr/>
        </p:nvSpPr>
        <p:spPr>
          <a:xfrm>
            <a:off x="4232436" y="2054948"/>
            <a:ext cx="245808" cy="246221"/>
          </a:xfrm>
          <a:prstGeom prst="rect">
            <a:avLst/>
          </a:prstGeom>
          <a:noFill/>
        </p:spPr>
        <p:txBody>
          <a:bodyPr wrap="square" rtlCol="0">
            <a:spAutoFit/>
          </a:bodyPr>
          <a:lstStyle/>
          <a:p>
            <a:r>
              <a:rPr lang="tr-TR" sz="1000" noProof="1">
                <a:cs typeface="Arial" panose="020B0604020202020204" pitchFamily="34" charset="0"/>
              </a:rPr>
              <a:t>Z</a:t>
            </a:r>
          </a:p>
        </p:txBody>
      </p:sp>
      <p:sp>
        <p:nvSpPr>
          <p:cNvPr id="72" name="Metin kutusu 71">
            <a:extLst>
              <a:ext uri="{FF2B5EF4-FFF2-40B4-BE49-F238E27FC236}">
                <a16:creationId xmlns:a16="http://schemas.microsoft.com/office/drawing/2014/main" id="{A9DD46C7-1DF2-4839-8B82-F4AC8D0ADA51}"/>
              </a:ext>
            </a:extLst>
          </p:cNvPr>
          <p:cNvSpPr txBox="1"/>
          <p:nvPr/>
        </p:nvSpPr>
        <p:spPr>
          <a:xfrm>
            <a:off x="3817478" y="1705953"/>
            <a:ext cx="245808" cy="246221"/>
          </a:xfrm>
          <a:prstGeom prst="rect">
            <a:avLst/>
          </a:prstGeom>
          <a:noFill/>
        </p:spPr>
        <p:txBody>
          <a:bodyPr wrap="square" rtlCol="0">
            <a:spAutoFit/>
          </a:bodyPr>
          <a:lstStyle/>
          <a:p>
            <a:r>
              <a:rPr lang="tr-TR" sz="1000" noProof="1">
                <a:cs typeface="Arial" panose="020B0604020202020204" pitchFamily="34" charset="0"/>
              </a:rPr>
              <a:t>T</a:t>
            </a:r>
          </a:p>
        </p:txBody>
      </p:sp>
      <p:sp>
        <p:nvSpPr>
          <p:cNvPr id="73" name="Metin kutusu 72">
            <a:extLst>
              <a:ext uri="{FF2B5EF4-FFF2-40B4-BE49-F238E27FC236}">
                <a16:creationId xmlns:a16="http://schemas.microsoft.com/office/drawing/2014/main" id="{19B59A21-72E3-42A7-8471-EF6CF9ADBA0E}"/>
              </a:ext>
            </a:extLst>
          </p:cNvPr>
          <p:cNvSpPr txBox="1"/>
          <p:nvPr/>
        </p:nvSpPr>
        <p:spPr>
          <a:xfrm>
            <a:off x="5890319" y="2126031"/>
            <a:ext cx="245808" cy="246221"/>
          </a:xfrm>
          <a:prstGeom prst="rect">
            <a:avLst/>
          </a:prstGeom>
          <a:noFill/>
        </p:spPr>
        <p:txBody>
          <a:bodyPr wrap="square" rtlCol="0">
            <a:spAutoFit/>
          </a:bodyPr>
          <a:lstStyle/>
          <a:p>
            <a:r>
              <a:rPr lang="tr-TR" sz="1000" noProof="1">
                <a:cs typeface="Arial" panose="020B0604020202020204" pitchFamily="34" charset="0"/>
              </a:rPr>
              <a:t>T</a:t>
            </a:r>
          </a:p>
        </p:txBody>
      </p:sp>
      <p:sp>
        <p:nvSpPr>
          <p:cNvPr id="74" name="Metin kutusu 73">
            <a:extLst>
              <a:ext uri="{FF2B5EF4-FFF2-40B4-BE49-F238E27FC236}">
                <a16:creationId xmlns:a16="http://schemas.microsoft.com/office/drawing/2014/main" id="{A48D6701-FEDB-4C14-93C0-B8C8E0E83B43}"/>
              </a:ext>
            </a:extLst>
          </p:cNvPr>
          <p:cNvSpPr txBox="1"/>
          <p:nvPr/>
        </p:nvSpPr>
        <p:spPr>
          <a:xfrm>
            <a:off x="5952409" y="1203820"/>
            <a:ext cx="245808" cy="246221"/>
          </a:xfrm>
          <a:prstGeom prst="rect">
            <a:avLst/>
          </a:prstGeom>
          <a:noFill/>
        </p:spPr>
        <p:txBody>
          <a:bodyPr wrap="square" rtlCol="0">
            <a:spAutoFit/>
          </a:bodyPr>
          <a:lstStyle/>
          <a:p>
            <a:r>
              <a:rPr lang="tr-TR" sz="1000" noProof="1">
                <a:cs typeface="Arial" panose="020B0604020202020204" pitchFamily="34" charset="0"/>
              </a:rPr>
              <a:t>Y</a:t>
            </a:r>
          </a:p>
        </p:txBody>
      </p:sp>
      <p:sp>
        <p:nvSpPr>
          <p:cNvPr id="75" name="Metin kutusu 74">
            <a:extLst>
              <a:ext uri="{FF2B5EF4-FFF2-40B4-BE49-F238E27FC236}">
                <a16:creationId xmlns:a16="http://schemas.microsoft.com/office/drawing/2014/main" id="{6DF654EE-7F1F-4415-82C1-81DA648E5DC6}"/>
              </a:ext>
            </a:extLst>
          </p:cNvPr>
          <p:cNvSpPr txBox="1"/>
          <p:nvPr/>
        </p:nvSpPr>
        <p:spPr>
          <a:xfrm>
            <a:off x="5311959" y="1758327"/>
            <a:ext cx="245808" cy="246221"/>
          </a:xfrm>
          <a:prstGeom prst="rect">
            <a:avLst/>
          </a:prstGeom>
          <a:noFill/>
        </p:spPr>
        <p:txBody>
          <a:bodyPr wrap="square" rtlCol="0">
            <a:spAutoFit/>
          </a:bodyPr>
          <a:lstStyle/>
          <a:p>
            <a:r>
              <a:rPr lang="tr-TR" sz="1000" noProof="1">
                <a:cs typeface="Arial" panose="020B0604020202020204" pitchFamily="34" charset="0"/>
              </a:rPr>
              <a:t>Z</a:t>
            </a:r>
          </a:p>
        </p:txBody>
      </p:sp>
      <p:sp>
        <p:nvSpPr>
          <p:cNvPr id="76" name="Metin kutusu 75">
            <a:extLst>
              <a:ext uri="{FF2B5EF4-FFF2-40B4-BE49-F238E27FC236}">
                <a16:creationId xmlns:a16="http://schemas.microsoft.com/office/drawing/2014/main" id="{1381A874-2BC5-40B2-9A0E-0942F1D996D6}"/>
              </a:ext>
            </a:extLst>
          </p:cNvPr>
          <p:cNvSpPr txBox="1"/>
          <p:nvPr/>
        </p:nvSpPr>
        <p:spPr>
          <a:xfrm>
            <a:off x="6310406" y="1788141"/>
            <a:ext cx="245808" cy="246221"/>
          </a:xfrm>
          <a:prstGeom prst="rect">
            <a:avLst/>
          </a:prstGeom>
          <a:noFill/>
        </p:spPr>
        <p:txBody>
          <a:bodyPr wrap="square" rtlCol="0">
            <a:spAutoFit/>
          </a:bodyPr>
          <a:lstStyle/>
          <a:p>
            <a:r>
              <a:rPr lang="tr-TR" sz="1000" noProof="1">
                <a:cs typeface="Arial" panose="020B0604020202020204" pitchFamily="34" charset="0"/>
              </a:rPr>
              <a:t>X</a:t>
            </a:r>
          </a:p>
        </p:txBody>
      </p:sp>
      <mc:AlternateContent xmlns:mc="http://schemas.openxmlformats.org/markup-compatibility/2006" xmlns:a14="http://schemas.microsoft.com/office/drawing/2010/main">
        <mc:Choice Requires="a14">
          <p:sp>
            <p:nvSpPr>
              <p:cNvPr id="77" name="Metin kutusu 76">
                <a:extLst>
                  <a:ext uri="{FF2B5EF4-FFF2-40B4-BE49-F238E27FC236}">
                    <a16:creationId xmlns:a16="http://schemas.microsoft.com/office/drawing/2014/main" id="{C9E25F00-513A-4BDF-9BEF-497F63089A2D}"/>
                  </a:ext>
                </a:extLst>
              </p:cNvPr>
              <p:cNvSpPr txBox="1"/>
              <p:nvPr/>
            </p:nvSpPr>
            <p:spPr>
              <a:xfrm>
                <a:off x="5846891" y="1541677"/>
                <a:ext cx="442780" cy="215444"/>
              </a:xfrm>
              <a:prstGeom prst="rect">
                <a:avLst/>
              </a:prstGeom>
              <a:noFill/>
            </p:spPr>
            <p:txBody>
              <a:bodyPr wrap="square" rtlCol="0">
                <a:spAutoFit/>
              </a:bodyPr>
              <a:lstStyle/>
              <a:p>
                <a:r>
                  <a:rPr lang="tr-TR" sz="800" noProof="1">
                    <a:cs typeface="Arial" panose="020B0604020202020204" pitchFamily="34" charset="0"/>
                  </a:rPr>
                  <a:t>85</a:t>
                </a:r>
                <a14:m>
                  <m:oMath xmlns:m="http://schemas.openxmlformats.org/officeDocument/2006/math">
                    <m:r>
                      <a:rPr lang="tr-TR" sz="800" b="0" i="0"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800" noProof="1">
                  <a:cs typeface="Arial" panose="020B0604020202020204" pitchFamily="34" charset="0"/>
                </a:endParaRPr>
              </a:p>
            </p:txBody>
          </p:sp>
        </mc:Choice>
        <mc:Fallback xmlns="">
          <p:sp>
            <p:nvSpPr>
              <p:cNvPr id="77" name="Metin kutusu 76">
                <a:extLst>
                  <a:ext uri="{FF2B5EF4-FFF2-40B4-BE49-F238E27FC236}">
                    <a16:creationId xmlns:a16="http://schemas.microsoft.com/office/drawing/2014/main" id="{C9E25F00-513A-4BDF-9BEF-497F63089A2D}"/>
                  </a:ext>
                </a:extLst>
              </p:cNvPr>
              <p:cNvSpPr txBox="1">
                <a:spLocks noRot="1" noChangeAspect="1" noMove="1" noResize="1" noEditPoints="1" noAdjustHandles="1" noChangeArrowheads="1" noChangeShapeType="1" noTextEdit="1"/>
              </p:cNvSpPr>
              <p:nvPr/>
            </p:nvSpPr>
            <p:spPr>
              <a:xfrm>
                <a:off x="5846891" y="1541677"/>
                <a:ext cx="442780" cy="215444"/>
              </a:xfrm>
              <a:prstGeom prst="rect">
                <a:avLst/>
              </a:prstGeom>
              <a:blipFill>
                <a:blip r:embed="rId15"/>
                <a:stretch>
                  <a:fillRect b="-1142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8" name="Metin kutusu 77">
                <a:extLst>
                  <a:ext uri="{FF2B5EF4-FFF2-40B4-BE49-F238E27FC236}">
                    <a16:creationId xmlns:a16="http://schemas.microsoft.com/office/drawing/2014/main" id="{D20C06AF-8A34-4E18-8024-CF41BE32AAEC}"/>
                  </a:ext>
                </a:extLst>
              </p:cNvPr>
              <p:cNvSpPr txBox="1"/>
              <p:nvPr/>
            </p:nvSpPr>
            <p:spPr>
              <a:xfrm>
                <a:off x="5601520" y="1613619"/>
                <a:ext cx="442780" cy="215444"/>
              </a:xfrm>
              <a:prstGeom prst="rect">
                <a:avLst/>
              </a:prstGeom>
              <a:noFill/>
            </p:spPr>
            <p:txBody>
              <a:bodyPr wrap="square" rtlCol="0">
                <a:spAutoFit/>
              </a:bodyPr>
              <a:lstStyle/>
              <a:p>
                <a:r>
                  <a:rPr lang="tr-TR" sz="800" noProof="1">
                    <a:cs typeface="Arial" panose="020B0604020202020204" pitchFamily="34" charset="0"/>
                  </a:rPr>
                  <a:t>170</a:t>
                </a:r>
                <a14:m>
                  <m:oMath xmlns:m="http://schemas.openxmlformats.org/officeDocument/2006/math">
                    <m:r>
                      <a:rPr lang="tr-TR" sz="800" b="0" i="0"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800" noProof="1">
                  <a:cs typeface="Arial" panose="020B0604020202020204" pitchFamily="34" charset="0"/>
                </a:endParaRPr>
              </a:p>
            </p:txBody>
          </p:sp>
        </mc:Choice>
        <mc:Fallback xmlns="">
          <p:sp>
            <p:nvSpPr>
              <p:cNvPr id="78" name="Metin kutusu 77">
                <a:extLst>
                  <a:ext uri="{FF2B5EF4-FFF2-40B4-BE49-F238E27FC236}">
                    <a16:creationId xmlns:a16="http://schemas.microsoft.com/office/drawing/2014/main" id="{D20C06AF-8A34-4E18-8024-CF41BE32AAEC}"/>
                  </a:ext>
                </a:extLst>
              </p:cNvPr>
              <p:cNvSpPr txBox="1">
                <a:spLocks noRot="1" noChangeAspect="1" noMove="1" noResize="1" noEditPoints="1" noAdjustHandles="1" noChangeArrowheads="1" noChangeShapeType="1" noTextEdit="1"/>
              </p:cNvSpPr>
              <p:nvPr/>
            </p:nvSpPr>
            <p:spPr>
              <a:xfrm>
                <a:off x="5601520" y="1613619"/>
                <a:ext cx="442780" cy="215444"/>
              </a:xfrm>
              <a:prstGeom prst="rect">
                <a:avLst/>
              </a:prstGeom>
              <a:blipFill>
                <a:blip r:embed="rId16"/>
                <a:stretch>
                  <a:fillRect b="-1142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9" name="Metin kutusu 78">
                <a:extLst>
                  <a:ext uri="{FF2B5EF4-FFF2-40B4-BE49-F238E27FC236}">
                    <a16:creationId xmlns:a16="http://schemas.microsoft.com/office/drawing/2014/main" id="{F0275E9C-1DC6-49CD-9095-470377FE6744}"/>
                  </a:ext>
                </a:extLst>
              </p:cNvPr>
              <p:cNvSpPr txBox="1"/>
              <p:nvPr/>
            </p:nvSpPr>
            <p:spPr>
              <a:xfrm>
                <a:off x="5832305" y="1834528"/>
                <a:ext cx="442780" cy="215444"/>
              </a:xfrm>
              <a:prstGeom prst="rect">
                <a:avLst/>
              </a:prstGeom>
              <a:noFill/>
            </p:spPr>
            <p:txBody>
              <a:bodyPr wrap="square" rtlCol="0">
                <a:spAutoFit/>
              </a:bodyPr>
              <a:lstStyle/>
              <a:p>
                <a:r>
                  <a:rPr lang="tr-TR" sz="800" noProof="1">
                    <a:cs typeface="Arial" panose="020B0604020202020204" pitchFamily="34" charset="0"/>
                  </a:rPr>
                  <a:t>25</a:t>
                </a:r>
                <a14:m>
                  <m:oMath xmlns:m="http://schemas.openxmlformats.org/officeDocument/2006/math">
                    <m:r>
                      <a:rPr lang="tr-TR" sz="800" b="0" i="0"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800" noProof="1">
                  <a:cs typeface="Arial" panose="020B0604020202020204" pitchFamily="34" charset="0"/>
                </a:endParaRPr>
              </a:p>
            </p:txBody>
          </p:sp>
        </mc:Choice>
        <mc:Fallback xmlns="">
          <p:sp>
            <p:nvSpPr>
              <p:cNvPr id="79" name="Metin kutusu 78">
                <a:extLst>
                  <a:ext uri="{FF2B5EF4-FFF2-40B4-BE49-F238E27FC236}">
                    <a16:creationId xmlns:a16="http://schemas.microsoft.com/office/drawing/2014/main" id="{F0275E9C-1DC6-49CD-9095-470377FE6744}"/>
                  </a:ext>
                </a:extLst>
              </p:cNvPr>
              <p:cNvSpPr txBox="1">
                <a:spLocks noRot="1" noChangeAspect="1" noMove="1" noResize="1" noEditPoints="1" noAdjustHandles="1" noChangeArrowheads="1" noChangeShapeType="1" noTextEdit="1"/>
              </p:cNvSpPr>
              <p:nvPr/>
            </p:nvSpPr>
            <p:spPr>
              <a:xfrm>
                <a:off x="5832305" y="1834528"/>
                <a:ext cx="442780" cy="215444"/>
              </a:xfrm>
              <a:prstGeom prst="rect">
                <a:avLst/>
              </a:prstGeom>
              <a:blipFill>
                <a:blip r:embed="rId17"/>
                <a:stretch>
                  <a:fillRect b="-1142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1" name="Metin kutusu 80">
                <a:extLst>
                  <a:ext uri="{FF2B5EF4-FFF2-40B4-BE49-F238E27FC236}">
                    <a16:creationId xmlns:a16="http://schemas.microsoft.com/office/drawing/2014/main" id="{A1DD750E-B400-4761-BC62-FD69C9BC908E}"/>
                  </a:ext>
                </a:extLst>
              </p:cNvPr>
              <p:cNvSpPr txBox="1"/>
              <p:nvPr/>
            </p:nvSpPr>
            <p:spPr>
              <a:xfrm>
                <a:off x="4205962" y="1539524"/>
                <a:ext cx="442780" cy="215444"/>
              </a:xfrm>
              <a:prstGeom prst="rect">
                <a:avLst/>
              </a:prstGeom>
              <a:noFill/>
            </p:spPr>
            <p:txBody>
              <a:bodyPr wrap="square" rtlCol="0">
                <a:spAutoFit/>
              </a:bodyPr>
              <a:lstStyle/>
              <a:p>
                <a:r>
                  <a:rPr lang="tr-TR" sz="800" noProof="1">
                    <a:cs typeface="Arial" panose="020B0604020202020204" pitchFamily="34" charset="0"/>
                  </a:rPr>
                  <a:t>70</a:t>
                </a:r>
                <a14:m>
                  <m:oMath xmlns:m="http://schemas.openxmlformats.org/officeDocument/2006/math">
                    <m:r>
                      <a:rPr lang="tr-TR" sz="800" b="0" i="0"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800" noProof="1">
                  <a:cs typeface="Arial" panose="020B0604020202020204" pitchFamily="34" charset="0"/>
                </a:endParaRPr>
              </a:p>
            </p:txBody>
          </p:sp>
        </mc:Choice>
        <mc:Fallback xmlns="">
          <p:sp>
            <p:nvSpPr>
              <p:cNvPr id="81" name="Metin kutusu 80">
                <a:extLst>
                  <a:ext uri="{FF2B5EF4-FFF2-40B4-BE49-F238E27FC236}">
                    <a16:creationId xmlns:a16="http://schemas.microsoft.com/office/drawing/2014/main" id="{A1DD750E-B400-4761-BC62-FD69C9BC908E}"/>
                  </a:ext>
                </a:extLst>
              </p:cNvPr>
              <p:cNvSpPr txBox="1">
                <a:spLocks noRot="1" noChangeAspect="1" noMove="1" noResize="1" noEditPoints="1" noAdjustHandles="1" noChangeArrowheads="1" noChangeShapeType="1" noTextEdit="1"/>
              </p:cNvSpPr>
              <p:nvPr/>
            </p:nvSpPr>
            <p:spPr>
              <a:xfrm>
                <a:off x="4205962" y="1539524"/>
                <a:ext cx="442780" cy="215444"/>
              </a:xfrm>
              <a:prstGeom prst="rect">
                <a:avLst/>
              </a:prstGeom>
              <a:blipFill>
                <a:blip r:embed="rId18"/>
                <a:stretch>
                  <a:fillRect b="-1142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2" name="Metin kutusu 81">
                <a:extLst>
                  <a:ext uri="{FF2B5EF4-FFF2-40B4-BE49-F238E27FC236}">
                    <a16:creationId xmlns:a16="http://schemas.microsoft.com/office/drawing/2014/main" id="{7FE769EC-A884-4D15-8F91-1B0ABA7106FD}"/>
                  </a:ext>
                </a:extLst>
              </p:cNvPr>
              <p:cNvSpPr txBox="1"/>
              <p:nvPr/>
            </p:nvSpPr>
            <p:spPr>
              <a:xfrm>
                <a:off x="4336137" y="1713623"/>
                <a:ext cx="442780" cy="215444"/>
              </a:xfrm>
              <a:prstGeom prst="rect">
                <a:avLst/>
              </a:prstGeom>
              <a:noFill/>
            </p:spPr>
            <p:txBody>
              <a:bodyPr wrap="square" rtlCol="0">
                <a:spAutoFit/>
              </a:bodyPr>
              <a:lstStyle/>
              <a:p>
                <a:r>
                  <a:rPr lang="tr-TR" sz="800" noProof="1">
                    <a:cs typeface="Arial" panose="020B0604020202020204" pitchFamily="34" charset="0"/>
                  </a:rPr>
                  <a:t>60</a:t>
                </a:r>
                <a14:m>
                  <m:oMath xmlns:m="http://schemas.openxmlformats.org/officeDocument/2006/math">
                    <m:r>
                      <a:rPr lang="tr-TR" sz="800" b="0" i="0"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800" noProof="1">
                  <a:cs typeface="Arial" panose="020B0604020202020204" pitchFamily="34" charset="0"/>
                </a:endParaRPr>
              </a:p>
            </p:txBody>
          </p:sp>
        </mc:Choice>
        <mc:Fallback xmlns="">
          <p:sp>
            <p:nvSpPr>
              <p:cNvPr id="82" name="Metin kutusu 81">
                <a:extLst>
                  <a:ext uri="{FF2B5EF4-FFF2-40B4-BE49-F238E27FC236}">
                    <a16:creationId xmlns:a16="http://schemas.microsoft.com/office/drawing/2014/main" id="{7FE769EC-A884-4D15-8F91-1B0ABA7106FD}"/>
                  </a:ext>
                </a:extLst>
              </p:cNvPr>
              <p:cNvSpPr txBox="1">
                <a:spLocks noRot="1" noChangeAspect="1" noMove="1" noResize="1" noEditPoints="1" noAdjustHandles="1" noChangeArrowheads="1" noChangeShapeType="1" noTextEdit="1"/>
              </p:cNvSpPr>
              <p:nvPr/>
            </p:nvSpPr>
            <p:spPr>
              <a:xfrm>
                <a:off x="4336137" y="1713623"/>
                <a:ext cx="442780" cy="215444"/>
              </a:xfrm>
              <a:prstGeom prst="rect">
                <a:avLst/>
              </a:prstGeom>
              <a:blipFill>
                <a:blip r:embed="rId19"/>
                <a:stretch>
                  <a:fillRect b="-1142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3" name="Metin kutusu 82">
                <a:extLst>
                  <a:ext uri="{FF2B5EF4-FFF2-40B4-BE49-F238E27FC236}">
                    <a16:creationId xmlns:a16="http://schemas.microsoft.com/office/drawing/2014/main" id="{12F95D18-5B7F-4CC2-9A2F-C1396609B8D6}"/>
                  </a:ext>
                </a:extLst>
              </p:cNvPr>
              <p:cNvSpPr txBox="1"/>
              <p:nvPr/>
            </p:nvSpPr>
            <p:spPr>
              <a:xfrm>
                <a:off x="4212349" y="1862497"/>
                <a:ext cx="442780" cy="215444"/>
              </a:xfrm>
              <a:prstGeom prst="rect">
                <a:avLst/>
              </a:prstGeom>
              <a:noFill/>
            </p:spPr>
            <p:txBody>
              <a:bodyPr wrap="square" rtlCol="0">
                <a:spAutoFit/>
              </a:bodyPr>
              <a:lstStyle/>
              <a:p>
                <a:r>
                  <a:rPr lang="tr-TR" sz="800" noProof="1">
                    <a:cs typeface="Arial" panose="020B0604020202020204" pitchFamily="34" charset="0"/>
                  </a:rPr>
                  <a:t>70</a:t>
                </a:r>
                <a14:m>
                  <m:oMath xmlns:m="http://schemas.openxmlformats.org/officeDocument/2006/math">
                    <m:r>
                      <a:rPr lang="tr-TR" sz="800" b="0" i="0"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800" noProof="1">
                  <a:cs typeface="Arial" panose="020B0604020202020204" pitchFamily="34" charset="0"/>
                </a:endParaRPr>
              </a:p>
            </p:txBody>
          </p:sp>
        </mc:Choice>
        <mc:Fallback xmlns="">
          <p:sp>
            <p:nvSpPr>
              <p:cNvPr id="83" name="Metin kutusu 82">
                <a:extLst>
                  <a:ext uri="{FF2B5EF4-FFF2-40B4-BE49-F238E27FC236}">
                    <a16:creationId xmlns:a16="http://schemas.microsoft.com/office/drawing/2014/main" id="{12F95D18-5B7F-4CC2-9A2F-C1396609B8D6}"/>
                  </a:ext>
                </a:extLst>
              </p:cNvPr>
              <p:cNvSpPr txBox="1">
                <a:spLocks noRot="1" noChangeAspect="1" noMove="1" noResize="1" noEditPoints="1" noAdjustHandles="1" noChangeArrowheads="1" noChangeShapeType="1" noTextEdit="1"/>
              </p:cNvSpPr>
              <p:nvPr/>
            </p:nvSpPr>
            <p:spPr>
              <a:xfrm>
                <a:off x="4212349" y="1862497"/>
                <a:ext cx="442780" cy="215444"/>
              </a:xfrm>
              <a:prstGeom prst="rect">
                <a:avLst/>
              </a:prstGeom>
              <a:blipFill>
                <a:blip r:embed="rId18"/>
                <a:stretch>
                  <a:fillRect b="-11429"/>
                </a:stretch>
              </a:blipFill>
            </p:spPr>
            <p:txBody>
              <a:bodyPr/>
              <a:lstStyle/>
              <a:p>
                <a:r>
                  <a:rPr lang="tr-TR">
                    <a:noFill/>
                  </a:rPr>
                  <a:t> </a:t>
                </a:r>
              </a:p>
            </p:txBody>
          </p:sp>
        </mc:Fallback>
      </mc:AlternateContent>
      <p:sp>
        <p:nvSpPr>
          <p:cNvPr id="84" name="Metin kutusu 83">
            <a:extLst>
              <a:ext uri="{FF2B5EF4-FFF2-40B4-BE49-F238E27FC236}">
                <a16:creationId xmlns:a16="http://schemas.microsoft.com/office/drawing/2014/main" id="{80EAC44C-700A-40AE-82A4-3149BF8326B2}"/>
              </a:ext>
            </a:extLst>
          </p:cNvPr>
          <p:cNvSpPr txBox="1"/>
          <p:nvPr/>
        </p:nvSpPr>
        <p:spPr>
          <a:xfrm>
            <a:off x="3463258" y="2414223"/>
            <a:ext cx="3383350" cy="400110"/>
          </a:xfrm>
          <a:prstGeom prst="rect">
            <a:avLst/>
          </a:prstGeom>
          <a:noFill/>
        </p:spPr>
        <p:txBody>
          <a:bodyPr wrap="square" rtlCol="0">
            <a:spAutoFit/>
          </a:bodyPr>
          <a:lstStyle/>
          <a:p>
            <a:r>
              <a:rPr lang="tr-TR" sz="1000" b="1" noProof="1">
                <a:cs typeface="Arial" panose="020B0604020202020204" pitchFamily="34" charset="0"/>
              </a:rPr>
              <a:t>Buna göre, bir tane Z ürününün iki tane X ürününün ağırlığı oranı nedir?</a:t>
            </a:r>
          </a:p>
        </p:txBody>
      </p:sp>
      <p:sp>
        <p:nvSpPr>
          <p:cNvPr id="85" name="Metin kutusu 84">
            <a:extLst>
              <a:ext uri="{FF2B5EF4-FFF2-40B4-BE49-F238E27FC236}">
                <a16:creationId xmlns:a16="http://schemas.microsoft.com/office/drawing/2014/main" id="{DF821A84-FD99-4304-8410-D0EBB8AA9F70}"/>
              </a:ext>
            </a:extLst>
          </p:cNvPr>
          <p:cNvSpPr txBox="1"/>
          <p:nvPr/>
        </p:nvSpPr>
        <p:spPr>
          <a:xfrm>
            <a:off x="3555764" y="5489881"/>
            <a:ext cx="3281681" cy="553998"/>
          </a:xfrm>
          <a:prstGeom prst="rect">
            <a:avLst/>
          </a:prstGeom>
          <a:noFill/>
        </p:spPr>
        <p:txBody>
          <a:bodyPr wrap="square" rtlCol="0">
            <a:spAutoFit/>
          </a:bodyPr>
          <a:lstStyle/>
          <a:p>
            <a:r>
              <a:rPr lang="tr-TR" sz="1000" noProof="1"/>
              <a:t>A) 1                                     B) 2                                        C) 3</a:t>
            </a:r>
          </a:p>
          <a:p>
            <a:pPr marL="228600" indent="-228600">
              <a:buAutoNum type="alphaUcParenR"/>
            </a:pPr>
            <a:endParaRPr lang="tr-TR" sz="1000" noProof="1"/>
          </a:p>
          <a:p>
            <a:r>
              <a:rPr lang="tr-TR" sz="1000" noProof="1"/>
              <a:t>                      D) 4                                      E) 5</a:t>
            </a:r>
          </a:p>
        </p:txBody>
      </p:sp>
    </p:spTree>
    <p:extLst>
      <p:ext uri="{BB962C8B-B14F-4D97-AF65-F5344CB8AC3E}">
        <p14:creationId xmlns:p14="http://schemas.microsoft.com/office/powerpoint/2010/main" val="2816307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9692" y="5175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62286" y="432415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34267" y="777881"/>
            <a:ext cx="3261656" cy="1015663"/>
          </a:xfrm>
          <a:prstGeom prst="rect">
            <a:avLst/>
          </a:prstGeom>
          <a:noFill/>
        </p:spPr>
        <p:txBody>
          <a:bodyPr wrap="square" rtlCol="0">
            <a:spAutoFit/>
          </a:bodyPr>
          <a:lstStyle/>
          <a:p>
            <a:r>
              <a:rPr lang="tr-TR" sz="1000" noProof="1">
                <a:cs typeface="Arial" panose="020B0604020202020204" pitchFamily="34" charset="0"/>
              </a:rPr>
              <a:t>Toplam 360 tane arabası olan bir galerideki arabaların 140 tanesi TOGG, 120 tanesi Otokar geriye kalanlar BMC markasına aittir. </a:t>
            </a:r>
          </a:p>
          <a:p>
            <a:endParaRPr lang="tr-TR" sz="1000" noProof="1">
              <a:cs typeface="Arial" panose="020B0604020202020204" pitchFamily="34" charset="0"/>
            </a:endParaRPr>
          </a:p>
          <a:p>
            <a:r>
              <a:rPr lang="tr-TR" sz="1000" b="1" noProof="1">
                <a:cs typeface="Arial" panose="020B0604020202020204" pitchFamily="34" charset="0"/>
              </a:rPr>
              <a:t>Bu verileri dairesel grafikte gösteriniz ve BMC markasının araç adedini bulunuz.</a:t>
            </a:r>
          </a:p>
        </p:txBody>
      </p:sp>
      <p:sp>
        <p:nvSpPr>
          <p:cNvPr id="56" name="Ok: Beşgen 55">
            <a:extLst>
              <a:ext uri="{FF2B5EF4-FFF2-40B4-BE49-F238E27FC236}">
                <a16:creationId xmlns:a16="http://schemas.microsoft.com/office/drawing/2014/main" id="{D327283C-46A4-4C86-A990-995946C89AA1}"/>
              </a:ext>
            </a:extLst>
          </p:cNvPr>
          <p:cNvSpPr/>
          <p:nvPr/>
        </p:nvSpPr>
        <p:spPr>
          <a:xfrm>
            <a:off x="3633464" y="300651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58583" y="448998"/>
            <a:ext cx="2420151" cy="369892"/>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8" name="Grafik 7">
            <a:extLst>
              <a:ext uri="{FF2B5EF4-FFF2-40B4-BE49-F238E27FC236}">
                <a16:creationId xmlns:a16="http://schemas.microsoft.com/office/drawing/2014/main" id="{FCF67678-139C-48C6-B48D-D1B51470FF22}"/>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0930" y="4671804"/>
            <a:ext cx="1182510" cy="1182510"/>
          </a:xfrm>
          <a:prstGeom prst="rect">
            <a:avLst/>
          </a:prstGeom>
        </p:spPr>
      </p:pic>
      <p:sp>
        <p:nvSpPr>
          <p:cNvPr id="67" name="Dikdörtgen 66">
            <a:extLst>
              <a:ext uri="{FF2B5EF4-FFF2-40B4-BE49-F238E27FC236}">
                <a16:creationId xmlns:a16="http://schemas.microsoft.com/office/drawing/2014/main" id="{FFE844A9-E2E0-4966-AFDA-654B0505C282}"/>
              </a:ext>
            </a:extLst>
          </p:cNvPr>
          <p:cNvSpPr/>
          <p:nvPr/>
        </p:nvSpPr>
        <p:spPr>
          <a:xfrm>
            <a:off x="1435160" y="4727458"/>
            <a:ext cx="1527904" cy="954556"/>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8" name="Metin kutusu 67">
            <a:extLst>
              <a:ext uri="{FF2B5EF4-FFF2-40B4-BE49-F238E27FC236}">
                <a16:creationId xmlns:a16="http://schemas.microsoft.com/office/drawing/2014/main" id="{9C64740F-E099-49C2-AF9A-6737B0BCEA27}"/>
              </a:ext>
            </a:extLst>
          </p:cNvPr>
          <p:cNvSpPr txBox="1"/>
          <p:nvPr/>
        </p:nvSpPr>
        <p:spPr>
          <a:xfrm>
            <a:off x="1382589" y="4745822"/>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CA9E67"/>
                </a:solidFill>
                <a:cs typeface="Arial" panose="020B0604020202020204" pitchFamily="34" charset="0"/>
              </a:rPr>
              <a:t> </a:t>
            </a:r>
          </a:p>
        </p:txBody>
      </p:sp>
      <p:sp>
        <p:nvSpPr>
          <p:cNvPr id="69" name="Metin kutusu 68">
            <a:extLst>
              <a:ext uri="{FF2B5EF4-FFF2-40B4-BE49-F238E27FC236}">
                <a16:creationId xmlns:a16="http://schemas.microsoft.com/office/drawing/2014/main" id="{033132C0-1BF4-49D6-A21C-9DD9A58F576D}"/>
              </a:ext>
            </a:extLst>
          </p:cNvPr>
          <p:cNvSpPr txBox="1"/>
          <p:nvPr/>
        </p:nvSpPr>
        <p:spPr>
          <a:xfrm>
            <a:off x="1374237" y="509497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CEA10"/>
                </a:solidFill>
                <a:cs typeface="Arial" panose="020B0604020202020204" pitchFamily="34" charset="0"/>
              </a:rPr>
              <a:t> </a:t>
            </a:r>
          </a:p>
        </p:txBody>
      </p:sp>
      <p:sp>
        <p:nvSpPr>
          <p:cNvPr id="70" name="Metin kutusu 69">
            <a:extLst>
              <a:ext uri="{FF2B5EF4-FFF2-40B4-BE49-F238E27FC236}">
                <a16:creationId xmlns:a16="http://schemas.microsoft.com/office/drawing/2014/main" id="{F9EC24C2-B248-4C64-81DB-2A23F3293815}"/>
              </a:ext>
            </a:extLst>
          </p:cNvPr>
          <p:cNvSpPr txBox="1"/>
          <p:nvPr/>
        </p:nvSpPr>
        <p:spPr>
          <a:xfrm>
            <a:off x="1368266" y="5455679"/>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8366B"/>
                </a:solidFill>
                <a:cs typeface="Arial" panose="020B0604020202020204" pitchFamily="34" charset="0"/>
              </a:rPr>
              <a:t> </a:t>
            </a:r>
          </a:p>
        </p:txBody>
      </p:sp>
      <p:sp>
        <p:nvSpPr>
          <p:cNvPr id="71" name="Metin kutusu 70">
            <a:extLst>
              <a:ext uri="{FF2B5EF4-FFF2-40B4-BE49-F238E27FC236}">
                <a16:creationId xmlns:a16="http://schemas.microsoft.com/office/drawing/2014/main" id="{0231DC0E-8073-4039-A8FC-A4B1EEF05E04}"/>
              </a:ext>
            </a:extLst>
          </p:cNvPr>
          <p:cNvSpPr txBox="1"/>
          <p:nvPr/>
        </p:nvSpPr>
        <p:spPr>
          <a:xfrm>
            <a:off x="1526910" y="4734328"/>
            <a:ext cx="1699786" cy="246221"/>
          </a:xfrm>
          <a:prstGeom prst="rect">
            <a:avLst/>
          </a:prstGeom>
          <a:noFill/>
        </p:spPr>
        <p:txBody>
          <a:bodyPr wrap="square" rtlCol="0">
            <a:spAutoFit/>
          </a:bodyPr>
          <a:lstStyle/>
          <a:p>
            <a:r>
              <a:rPr lang="tr-TR" sz="1000" noProof="1">
                <a:cs typeface="Arial" panose="020B0604020202020204" pitchFamily="34" charset="0"/>
              </a:rPr>
              <a:t>TOGG marka araç sayısı</a:t>
            </a:r>
          </a:p>
        </p:txBody>
      </p:sp>
      <p:sp>
        <p:nvSpPr>
          <p:cNvPr id="72" name="Metin kutusu 71">
            <a:extLst>
              <a:ext uri="{FF2B5EF4-FFF2-40B4-BE49-F238E27FC236}">
                <a16:creationId xmlns:a16="http://schemas.microsoft.com/office/drawing/2014/main" id="{B8B0D826-4AEE-4BF6-9ABB-4CFE84672B4E}"/>
              </a:ext>
            </a:extLst>
          </p:cNvPr>
          <p:cNvSpPr txBox="1"/>
          <p:nvPr/>
        </p:nvSpPr>
        <p:spPr>
          <a:xfrm>
            <a:off x="1516886" y="5079882"/>
            <a:ext cx="1446178" cy="246221"/>
          </a:xfrm>
          <a:prstGeom prst="rect">
            <a:avLst/>
          </a:prstGeom>
          <a:noFill/>
        </p:spPr>
        <p:txBody>
          <a:bodyPr wrap="square" rtlCol="0">
            <a:spAutoFit/>
          </a:bodyPr>
          <a:lstStyle/>
          <a:p>
            <a:r>
              <a:rPr lang="tr-TR" sz="1000" noProof="1">
                <a:cs typeface="Arial" panose="020B0604020202020204" pitchFamily="34" charset="0"/>
              </a:rPr>
              <a:t>Otokar marka araç sayısı</a:t>
            </a:r>
          </a:p>
        </p:txBody>
      </p:sp>
      <p:sp>
        <p:nvSpPr>
          <p:cNvPr id="73" name="Metin kutusu 72">
            <a:extLst>
              <a:ext uri="{FF2B5EF4-FFF2-40B4-BE49-F238E27FC236}">
                <a16:creationId xmlns:a16="http://schemas.microsoft.com/office/drawing/2014/main" id="{8ECAEA39-EAC2-4A42-A2BA-0B4CDC3FD6E6}"/>
              </a:ext>
            </a:extLst>
          </p:cNvPr>
          <p:cNvSpPr txBox="1"/>
          <p:nvPr/>
        </p:nvSpPr>
        <p:spPr>
          <a:xfrm>
            <a:off x="1516886" y="5444920"/>
            <a:ext cx="1699786" cy="246221"/>
          </a:xfrm>
          <a:prstGeom prst="rect">
            <a:avLst/>
          </a:prstGeom>
          <a:noFill/>
        </p:spPr>
        <p:txBody>
          <a:bodyPr wrap="square" rtlCol="0">
            <a:spAutoFit/>
          </a:bodyPr>
          <a:lstStyle/>
          <a:p>
            <a:r>
              <a:rPr lang="tr-TR" sz="1000" noProof="1">
                <a:cs typeface="Arial" panose="020B0604020202020204" pitchFamily="34" charset="0"/>
              </a:rPr>
              <a:t>BMC marka araç sayısı</a:t>
            </a:r>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41F4144F-F60F-4691-BF97-E32324CF95D5}"/>
                  </a:ext>
                </a:extLst>
              </p:cNvPr>
              <p:cNvSpPr txBox="1"/>
              <p:nvPr/>
            </p:nvSpPr>
            <p:spPr>
              <a:xfrm>
                <a:off x="506620" y="4992043"/>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900" b="0" i="0" noProof="1" smtClean="0">
                          <a:latin typeface="Cambria Math" panose="02040503050406030204" pitchFamily="18" charset="0"/>
                        </a:rPr>
                        <m:t>140</m:t>
                      </m:r>
                      <m:r>
                        <a:rPr lang="tr-TR" sz="9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60" name="Metin kutusu 59">
                <a:extLst>
                  <a:ext uri="{FF2B5EF4-FFF2-40B4-BE49-F238E27FC236}">
                    <a16:creationId xmlns:a16="http://schemas.microsoft.com/office/drawing/2014/main" id="{41F4144F-F60F-4691-BF97-E32324CF95D5}"/>
                  </a:ext>
                </a:extLst>
              </p:cNvPr>
              <p:cNvSpPr txBox="1">
                <a:spLocks noRot="1" noChangeAspect="1" noMove="1" noResize="1" noEditPoints="1" noAdjustHandles="1" noChangeArrowheads="1" noChangeShapeType="1" noTextEdit="1"/>
              </p:cNvSpPr>
              <p:nvPr/>
            </p:nvSpPr>
            <p:spPr>
              <a:xfrm>
                <a:off x="506620" y="4992043"/>
                <a:ext cx="493877" cy="230832"/>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4" name="Metin kutusu 73">
                <a:extLst>
                  <a:ext uri="{FF2B5EF4-FFF2-40B4-BE49-F238E27FC236}">
                    <a16:creationId xmlns:a16="http://schemas.microsoft.com/office/drawing/2014/main" id="{BE1ADB38-7999-48F8-85A6-12E1C0933BA3}"/>
                  </a:ext>
                </a:extLst>
              </p:cNvPr>
              <p:cNvSpPr txBox="1"/>
              <p:nvPr/>
            </p:nvSpPr>
            <p:spPr>
              <a:xfrm>
                <a:off x="653482" y="5260119"/>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900" b="0" i="0" noProof="1" smtClean="0">
                          <a:latin typeface="Cambria Math" panose="02040503050406030204" pitchFamily="18" charset="0"/>
                        </a:rPr>
                        <m:t>120</m:t>
                      </m:r>
                      <m:r>
                        <a:rPr lang="tr-TR" sz="9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74" name="Metin kutusu 73">
                <a:extLst>
                  <a:ext uri="{FF2B5EF4-FFF2-40B4-BE49-F238E27FC236}">
                    <a16:creationId xmlns:a16="http://schemas.microsoft.com/office/drawing/2014/main" id="{BE1ADB38-7999-48F8-85A6-12E1C0933BA3}"/>
                  </a:ext>
                </a:extLst>
              </p:cNvPr>
              <p:cNvSpPr txBox="1">
                <a:spLocks noRot="1" noChangeAspect="1" noMove="1" noResize="1" noEditPoints="1" noAdjustHandles="1" noChangeArrowheads="1" noChangeShapeType="1" noTextEdit="1"/>
              </p:cNvSpPr>
              <p:nvPr/>
            </p:nvSpPr>
            <p:spPr>
              <a:xfrm>
                <a:off x="653482" y="5260119"/>
                <a:ext cx="493877" cy="230832"/>
              </a:xfrm>
              <a:prstGeom prst="rect">
                <a:avLst/>
              </a:prstGeom>
              <a:blipFill>
                <a:blip r:embed="rId9"/>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5" name="Metin kutusu 74">
                <a:extLst>
                  <a:ext uri="{FF2B5EF4-FFF2-40B4-BE49-F238E27FC236}">
                    <a16:creationId xmlns:a16="http://schemas.microsoft.com/office/drawing/2014/main" id="{0ADFE13F-3312-4757-87E7-2E2B6FD1A2B6}"/>
                  </a:ext>
                </a:extLst>
              </p:cNvPr>
              <p:cNvSpPr txBox="1"/>
              <p:nvPr/>
            </p:nvSpPr>
            <p:spPr>
              <a:xfrm>
                <a:off x="270573" y="5210687"/>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900" b="0" i="0" noProof="1" smtClean="0">
                          <a:latin typeface="Cambria Math" panose="02040503050406030204" pitchFamily="18" charset="0"/>
                        </a:rPr>
                        <m:t>100</m:t>
                      </m:r>
                      <m:r>
                        <a:rPr lang="tr-TR" sz="9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75" name="Metin kutusu 74">
                <a:extLst>
                  <a:ext uri="{FF2B5EF4-FFF2-40B4-BE49-F238E27FC236}">
                    <a16:creationId xmlns:a16="http://schemas.microsoft.com/office/drawing/2014/main" id="{0ADFE13F-3312-4757-87E7-2E2B6FD1A2B6}"/>
                  </a:ext>
                </a:extLst>
              </p:cNvPr>
              <p:cNvSpPr txBox="1">
                <a:spLocks noRot="1" noChangeAspect="1" noMove="1" noResize="1" noEditPoints="1" noAdjustHandles="1" noChangeArrowheads="1" noChangeShapeType="1" noTextEdit="1"/>
              </p:cNvSpPr>
              <p:nvPr/>
            </p:nvSpPr>
            <p:spPr>
              <a:xfrm>
                <a:off x="270573" y="5210687"/>
                <a:ext cx="493877" cy="230832"/>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6" name="Metin kutusu 75">
                <a:extLst>
                  <a:ext uri="{FF2B5EF4-FFF2-40B4-BE49-F238E27FC236}">
                    <a16:creationId xmlns:a16="http://schemas.microsoft.com/office/drawing/2014/main" id="{847710C5-2C34-4A19-BE5C-43F6C58EBB26}"/>
                  </a:ext>
                </a:extLst>
              </p:cNvPr>
              <p:cNvSpPr txBox="1"/>
              <p:nvPr/>
            </p:nvSpPr>
            <p:spPr>
              <a:xfrm>
                <a:off x="69822" y="5848550"/>
                <a:ext cx="3212178" cy="3323987"/>
              </a:xfrm>
              <a:prstGeom prst="rect">
                <a:avLst/>
              </a:prstGeom>
              <a:noFill/>
            </p:spPr>
            <p:txBody>
              <a:bodyPr wrap="square" rtlCol="0">
                <a:spAutoFit/>
              </a:bodyPr>
              <a:lstStyle/>
              <a:p>
                <a:r>
                  <a:rPr lang="tr-TR" sz="1000" noProof="1">
                    <a:cs typeface="Arial" panose="020B0604020202020204" pitchFamily="34" charset="0"/>
                  </a:rPr>
                  <a:t>Öncelikle her merkez açıyı bulalım. 3 farklı marka var yani grafik üçe bölünmüş durumda dolayısıyla 3 adet merkez açı var ikisini bize vermiş sayılır. Çünkü bize toplam araç sayısını 360 olduğu söyleniyor.</a:t>
                </a:r>
              </a:p>
              <a:p>
                <a:endParaRPr lang="tr-TR" sz="1000" noProof="1">
                  <a:cs typeface="Arial" panose="020B0604020202020204" pitchFamily="34" charset="0"/>
                </a:endParaRPr>
              </a:p>
              <a:p>
                <a:r>
                  <a:rPr lang="tr-TR" sz="1000" b="1" noProof="1">
                    <a:cs typeface="Arial" panose="020B0604020202020204" pitchFamily="34" charset="0"/>
                  </a:rPr>
                  <a:t>Tam açı olan 360 derece tüm araç sayısıyla doğru orantılıdır. Yani her derece 1 araca tekabül etmektedir. </a:t>
                </a:r>
              </a:p>
              <a:p>
                <a:endParaRPr lang="tr-TR" sz="1000" b="1" noProof="1">
                  <a:cs typeface="Arial" panose="020B0604020202020204" pitchFamily="34" charset="0"/>
                </a:endParaRPr>
              </a:p>
              <a:p>
                <a:r>
                  <a:rPr lang="tr-TR" sz="1000" noProof="1">
                    <a:cs typeface="Arial" panose="020B0604020202020204" pitchFamily="34" charset="0"/>
                  </a:rPr>
                  <a:t>Dolayısıyla bir markadan kaç adet varsa merkez açısıda öyle olacaktır. Yani TOGG marka 140 adet, 120 adet OTOKAR markadır. Toplamda 260 adet  araç var toplamda 360 adetti. Nihahi olarak BMC araç sayısını tüm araç sayısının 360 olduğundan ötürü 360-260 = 100 olduğunu bulabiliyoruz. </a:t>
                </a:r>
              </a:p>
              <a:p>
                <a:endParaRPr lang="tr-TR" sz="1000" noProof="1">
                  <a:cs typeface="Arial" panose="020B0604020202020204" pitchFamily="34" charset="0"/>
                </a:endParaRPr>
              </a:p>
              <a:p>
                <a:r>
                  <a:rPr lang="tr-TR" sz="1000" noProof="1">
                    <a:cs typeface="Arial" panose="020B0604020202020204" pitchFamily="34" charset="0"/>
                  </a:rPr>
                  <a:t>TOGG 140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endParaRPr lang="tr-TR" sz="1000" noProof="1">
                  <a:cs typeface="Arial" panose="020B0604020202020204" pitchFamily="34" charset="0"/>
                </a:endParaRPr>
              </a:p>
              <a:p>
                <a:r>
                  <a:rPr lang="tr-TR" sz="1000" noProof="1">
                    <a:cs typeface="Arial" panose="020B0604020202020204" pitchFamily="34" charset="0"/>
                  </a:rPr>
                  <a:t>OTOKAR 120</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1000" noProof="1">
                  <a:cs typeface="Arial" panose="020B0604020202020204" pitchFamily="34" charset="0"/>
                </a:endParaRPr>
              </a:p>
              <a:p>
                <a:r>
                  <a:rPr lang="tr-TR" sz="1000" noProof="1">
                    <a:cs typeface="Arial" panose="020B0604020202020204" pitchFamily="34" charset="0"/>
                  </a:rPr>
                  <a:t>BMC 100</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olduğunu bulabiliyoruz.</a:t>
                </a:r>
              </a:p>
              <a:p>
                <a:endParaRPr lang="tr-TR" sz="1000" noProof="1">
                  <a:cs typeface="Arial" panose="020B0604020202020204" pitchFamily="34" charset="0"/>
                </a:endParaRPr>
              </a:p>
              <a:p>
                <a:endParaRPr lang="tr-TR" sz="1000" b="1" noProof="1">
                  <a:cs typeface="Arial" panose="020B0604020202020204" pitchFamily="34" charset="0"/>
                </a:endParaRPr>
              </a:p>
              <a:p>
                <a:endParaRPr lang="tr-TR" sz="1000" noProof="1">
                  <a:cs typeface="Arial" panose="020B0604020202020204" pitchFamily="34" charset="0"/>
                </a:endParaRPr>
              </a:p>
            </p:txBody>
          </p:sp>
        </mc:Choice>
        <mc:Fallback xmlns="">
          <p:sp>
            <p:nvSpPr>
              <p:cNvPr id="76" name="Metin kutusu 75">
                <a:extLst>
                  <a:ext uri="{FF2B5EF4-FFF2-40B4-BE49-F238E27FC236}">
                    <a16:creationId xmlns:a16="http://schemas.microsoft.com/office/drawing/2014/main" id="{847710C5-2C34-4A19-BE5C-43F6C58EBB26}"/>
                  </a:ext>
                </a:extLst>
              </p:cNvPr>
              <p:cNvSpPr txBox="1">
                <a:spLocks noRot="1" noChangeAspect="1" noMove="1" noResize="1" noEditPoints="1" noAdjustHandles="1" noChangeArrowheads="1" noChangeShapeType="1" noTextEdit="1"/>
              </p:cNvSpPr>
              <p:nvPr/>
            </p:nvSpPr>
            <p:spPr>
              <a:xfrm>
                <a:off x="69822" y="5848550"/>
                <a:ext cx="3212178" cy="3323987"/>
              </a:xfrm>
              <a:prstGeom prst="rect">
                <a:avLst/>
              </a:prstGeom>
              <a:blipFill>
                <a:blip r:embed="rId11"/>
                <a:stretch>
                  <a:fillRect/>
                </a:stretch>
              </a:blipFill>
            </p:spPr>
            <p:txBody>
              <a:bodyPr/>
              <a:lstStyle/>
              <a:p>
                <a:r>
                  <a:rPr lang="tr-TR">
                    <a:noFill/>
                  </a:rPr>
                  <a:t> </a:t>
                </a:r>
              </a:p>
            </p:txBody>
          </p:sp>
        </mc:Fallback>
      </mc:AlternateContent>
      <p:pic>
        <p:nvPicPr>
          <p:cNvPr id="6" name="Grafik 5">
            <a:extLst>
              <a:ext uri="{FF2B5EF4-FFF2-40B4-BE49-F238E27FC236}">
                <a16:creationId xmlns:a16="http://schemas.microsoft.com/office/drawing/2014/main" id="{E1771D2D-D3FE-4C12-80E9-335E0C24AF57}"/>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68177" y="824161"/>
            <a:ext cx="1074873" cy="1074873"/>
          </a:xfrm>
          <a:prstGeom prst="rect">
            <a:avLst/>
          </a:prstGeom>
        </p:spPr>
      </p:pic>
      <p:sp>
        <p:nvSpPr>
          <p:cNvPr id="58" name="Dikdörtgen 57">
            <a:extLst>
              <a:ext uri="{FF2B5EF4-FFF2-40B4-BE49-F238E27FC236}">
                <a16:creationId xmlns:a16="http://schemas.microsoft.com/office/drawing/2014/main" id="{48EA34BF-3973-4B96-9004-506A9DC1C656}"/>
              </a:ext>
            </a:extLst>
          </p:cNvPr>
          <p:cNvSpPr/>
          <p:nvPr/>
        </p:nvSpPr>
        <p:spPr>
          <a:xfrm>
            <a:off x="4771978" y="908236"/>
            <a:ext cx="1527904" cy="954556"/>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2" name="Metin kutusu 61">
            <a:extLst>
              <a:ext uri="{FF2B5EF4-FFF2-40B4-BE49-F238E27FC236}">
                <a16:creationId xmlns:a16="http://schemas.microsoft.com/office/drawing/2014/main" id="{376BE103-C53A-4F4B-A3DF-81ED902DFC61}"/>
              </a:ext>
            </a:extLst>
          </p:cNvPr>
          <p:cNvSpPr txBox="1"/>
          <p:nvPr/>
        </p:nvSpPr>
        <p:spPr>
          <a:xfrm>
            <a:off x="4719407" y="926600"/>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6B7C5"/>
                </a:solidFill>
                <a:cs typeface="Arial" panose="020B0604020202020204" pitchFamily="34" charset="0"/>
              </a:rPr>
              <a:t> </a:t>
            </a:r>
          </a:p>
        </p:txBody>
      </p:sp>
      <p:sp>
        <p:nvSpPr>
          <p:cNvPr id="63" name="Metin kutusu 62">
            <a:extLst>
              <a:ext uri="{FF2B5EF4-FFF2-40B4-BE49-F238E27FC236}">
                <a16:creationId xmlns:a16="http://schemas.microsoft.com/office/drawing/2014/main" id="{326006D1-D356-4A54-A016-1AA918E4FE91}"/>
              </a:ext>
            </a:extLst>
          </p:cNvPr>
          <p:cNvSpPr txBox="1"/>
          <p:nvPr/>
        </p:nvSpPr>
        <p:spPr>
          <a:xfrm>
            <a:off x="4711055" y="1275751"/>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A7CEEF"/>
                </a:solidFill>
                <a:cs typeface="Arial" panose="020B0604020202020204" pitchFamily="34" charset="0"/>
              </a:rPr>
              <a:t> </a:t>
            </a:r>
          </a:p>
        </p:txBody>
      </p:sp>
      <p:sp>
        <p:nvSpPr>
          <p:cNvPr id="66" name="Metin kutusu 65">
            <a:extLst>
              <a:ext uri="{FF2B5EF4-FFF2-40B4-BE49-F238E27FC236}">
                <a16:creationId xmlns:a16="http://schemas.microsoft.com/office/drawing/2014/main" id="{FDB81566-A4B1-49B7-ACF2-15AC7B53DDB2}"/>
              </a:ext>
            </a:extLst>
          </p:cNvPr>
          <p:cNvSpPr txBox="1"/>
          <p:nvPr/>
        </p:nvSpPr>
        <p:spPr>
          <a:xfrm>
            <a:off x="4705084" y="163645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4F5D1"/>
                </a:solidFill>
                <a:cs typeface="Arial" panose="020B0604020202020204" pitchFamily="34" charset="0"/>
              </a:rPr>
              <a:t> </a:t>
            </a:r>
          </a:p>
        </p:txBody>
      </p:sp>
      <p:sp>
        <p:nvSpPr>
          <p:cNvPr id="77" name="Metin kutusu 76">
            <a:extLst>
              <a:ext uri="{FF2B5EF4-FFF2-40B4-BE49-F238E27FC236}">
                <a16:creationId xmlns:a16="http://schemas.microsoft.com/office/drawing/2014/main" id="{D8EBDD3C-9F57-40CD-9455-CF0506B8B3DA}"/>
              </a:ext>
            </a:extLst>
          </p:cNvPr>
          <p:cNvSpPr txBox="1"/>
          <p:nvPr/>
        </p:nvSpPr>
        <p:spPr>
          <a:xfrm>
            <a:off x="4863728" y="915106"/>
            <a:ext cx="1699786" cy="246221"/>
          </a:xfrm>
          <a:prstGeom prst="rect">
            <a:avLst/>
          </a:prstGeom>
          <a:noFill/>
        </p:spPr>
        <p:txBody>
          <a:bodyPr wrap="square" rtlCol="0">
            <a:spAutoFit/>
          </a:bodyPr>
          <a:lstStyle/>
          <a:p>
            <a:r>
              <a:rPr lang="tr-TR" sz="1000" noProof="1">
                <a:cs typeface="Arial" panose="020B0604020202020204" pitchFamily="34" charset="0"/>
              </a:rPr>
              <a:t>Trabzon`da yetişen sayı</a:t>
            </a:r>
          </a:p>
        </p:txBody>
      </p:sp>
      <p:sp>
        <p:nvSpPr>
          <p:cNvPr id="78" name="Metin kutusu 77">
            <a:extLst>
              <a:ext uri="{FF2B5EF4-FFF2-40B4-BE49-F238E27FC236}">
                <a16:creationId xmlns:a16="http://schemas.microsoft.com/office/drawing/2014/main" id="{92134B20-3628-420C-B9EA-36AACBBD2729}"/>
              </a:ext>
            </a:extLst>
          </p:cNvPr>
          <p:cNvSpPr txBox="1"/>
          <p:nvPr/>
        </p:nvSpPr>
        <p:spPr>
          <a:xfrm>
            <a:off x="4853704" y="1260660"/>
            <a:ext cx="1446178" cy="246221"/>
          </a:xfrm>
          <a:prstGeom prst="rect">
            <a:avLst/>
          </a:prstGeom>
          <a:noFill/>
        </p:spPr>
        <p:txBody>
          <a:bodyPr wrap="square" rtlCol="0">
            <a:spAutoFit/>
          </a:bodyPr>
          <a:lstStyle/>
          <a:p>
            <a:r>
              <a:rPr lang="tr-TR" sz="1000" noProof="1">
                <a:cs typeface="Arial" panose="020B0604020202020204" pitchFamily="34" charset="0"/>
              </a:rPr>
              <a:t>Rize`de yetişen sayı</a:t>
            </a:r>
          </a:p>
        </p:txBody>
      </p:sp>
      <p:sp>
        <p:nvSpPr>
          <p:cNvPr id="79" name="Metin kutusu 78">
            <a:extLst>
              <a:ext uri="{FF2B5EF4-FFF2-40B4-BE49-F238E27FC236}">
                <a16:creationId xmlns:a16="http://schemas.microsoft.com/office/drawing/2014/main" id="{78A02257-7679-4FBF-A7EC-5FDF05D8EE38}"/>
              </a:ext>
            </a:extLst>
          </p:cNvPr>
          <p:cNvSpPr txBox="1"/>
          <p:nvPr/>
        </p:nvSpPr>
        <p:spPr>
          <a:xfrm>
            <a:off x="4853704" y="1625698"/>
            <a:ext cx="1699786" cy="246221"/>
          </a:xfrm>
          <a:prstGeom prst="rect">
            <a:avLst/>
          </a:prstGeom>
          <a:noFill/>
        </p:spPr>
        <p:txBody>
          <a:bodyPr wrap="square" rtlCol="0">
            <a:spAutoFit/>
          </a:bodyPr>
          <a:lstStyle/>
          <a:p>
            <a:r>
              <a:rPr lang="tr-TR" sz="1000" noProof="1">
                <a:cs typeface="Arial" panose="020B0604020202020204" pitchFamily="34" charset="0"/>
              </a:rPr>
              <a:t>Ordu`da yetişen sayı</a:t>
            </a:r>
          </a:p>
        </p:txBody>
      </p:sp>
      <p:sp>
        <p:nvSpPr>
          <p:cNvPr id="80" name="Metin kutusu 79">
            <a:extLst>
              <a:ext uri="{FF2B5EF4-FFF2-40B4-BE49-F238E27FC236}">
                <a16:creationId xmlns:a16="http://schemas.microsoft.com/office/drawing/2014/main" id="{9B955E07-C12C-4443-8CA4-2D541A8A7630}"/>
              </a:ext>
            </a:extLst>
          </p:cNvPr>
          <p:cNvSpPr txBox="1"/>
          <p:nvPr/>
        </p:nvSpPr>
        <p:spPr>
          <a:xfrm>
            <a:off x="4325129" y="423300"/>
            <a:ext cx="2473851" cy="400110"/>
          </a:xfrm>
          <a:prstGeom prst="rect">
            <a:avLst/>
          </a:prstGeom>
          <a:noFill/>
        </p:spPr>
        <p:txBody>
          <a:bodyPr wrap="square" rtlCol="0">
            <a:spAutoFit/>
          </a:bodyPr>
          <a:lstStyle/>
          <a:p>
            <a:r>
              <a:rPr lang="tr-TR" sz="1000" noProof="1">
                <a:cs typeface="Arial" panose="020B0604020202020204" pitchFamily="34" charset="0"/>
              </a:rPr>
              <a:t>Aşağıdaki grafikte ilçelerin fındık üretim sayıları verilmiştir. </a:t>
            </a:r>
          </a:p>
        </p:txBody>
      </p:sp>
      <p:sp>
        <p:nvSpPr>
          <p:cNvPr id="81" name="Metin kutusu 80">
            <a:extLst>
              <a:ext uri="{FF2B5EF4-FFF2-40B4-BE49-F238E27FC236}">
                <a16:creationId xmlns:a16="http://schemas.microsoft.com/office/drawing/2014/main" id="{15B8CA35-E622-4F2F-B9EF-80678BA21CDD}"/>
              </a:ext>
            </a:extLst>
          </p:cNvPr>
          <p:cNvSpPr txBox="1"/>
          <p:nvPr/>
        </p:nvSpPr>
        <p:spPr>
          <a:xfrm>
            <a:off x="3539460" y="1884541"/>
            <a:ext cx="3255554" cy="400110"/>
          </a:xfrm>
          <a:prstGeom prst="rect">
            <a:avLst/>
          </a:prstGeom>
          <a:noFill/>
        </p:spPr>
        <p:txBody>
          <a:bodyPr wrap="square" rtlCol="0">
            <a:spAutoFit/>
          </a:bodyPr>
          <a:lstStyle/>
          <a:p>
            <a:r>
              <a:rPr lang="tr-TR" sz="1000" b="1" noProof="1">
                <a:cs typeface="Arial" panose="020B0604020202020204" pitchFamily="34" charset="0"/>
              </a:rPr>
              <a:t>Bu süre zarfında 144.000 fındık üretildiğine göre, Ordu`da üretilen fındık adedi kaçtır?</a:t>
            </a:r>
          </a:p>
        </p:txBody>
      </p:sp>
      <mc:AlternateContent xmlns:mc="http://schemas.openxmlformats.org/markup-compatibility/2006" xmlns:a14="http://schemas.microsoft.com/office/drawing/2010/main">
        <mc:Choice Requires="a14">
          <p:sp>
            <p:nvSpPr>
              <p:cNvPr id="82" name="Metin kutusu 81">
                <a:extLst>
                  <a:ext uri="{FF2B5EF4-FFF2-40B4-BE49-F238E27FC236}">
                    <a16:creationId xmlns:a16="http://schemas.microsoft.com/office/drawing/2014/main" id="{505D3642-BC89-4968-98A2-6F289241A427}"/>
                  </a:ext>
                </a:extLst>
              </p:cNvPr>
              <p:cNvSpPr txBox="1"/>
              <p:nvPr/>
            </p:nvSpPr>
            <p:spPr>
              <a:xfrm>
                <a:off x="3914023" y="1109591"/>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900" b="0" i="0" noProof="1" smtClean="0">
                          <a:latin typeface="Cambria Math" panose="02040503050406030204" pitchFamily="18" charset="0"/>
                        </a:rPr>
                        <m:t>130</m:t>
                      </m:r>
                      <m:r>
                        <a:rPr lang="tr-TR" sz="9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82" name="Metin kutusu 81">
                <a:extLst>
                  <a:ext uri="{FF2B5EF4-FFF2-40B4-BE49-F238E27FC236}">
                    <a16:creationId xmlns:a16="http://schemas.microsoft.com/office/drawing/2014/main" id="{505D3642-BC89-4968-98A2-6F289241A427}"/>
                  </a:ext>
                </a:extLst>
              </p:cNvPr>
              <p:cNvSpPr txBox="1">
                <a:spLocks noRot="1" noChangeAspect="1" noMove="1" noResize="1" noEditPoints="1" noAdjustHandles="1" noChangeArrowheads="1" noChangeShapeType="1" noTextEdit="1"/>
              </p:cNvSpPr>
              <p:nvPr/>
            </p:nvSpPr>
            <p:spPr>
              <a:xfrm>
                <a:off x="3914023" y="1109591"/>
                <a:ext cx="493877" cy="230832"/>
              </a:xfrm>
              <a:prstGeom prst="rect">
                <a:avLst/>
              </a:prstGeom>
              <a:blipFill>
                <a:blip r:embed="rId1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3" name="Metin kutusu 82">
                <a:extLst>
                  <a:ext uri="{FF2B5EF4-FFF2-40B4-BE49-F238E27FC236}">
                    <a16:creationId xmlns:a16="http://schemas.microsoft.com/office/drawing/2014/main" id="{3FA5A6DF-9DC3-4068-92D7-A5097A18827D}"/>
                  </a:ext>
                </a:extLst>
              </p:cNvPr>
              <p:cNvSpPr txBox="1"/>
              <p:nvPr/>
            </p:nvSpPr>
            <p:spPr>
              <a:xfrm>
                <a:off x="4011152" y="1330529"/>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900" b="0" i="0" noProof="1" smtClean="0">
                          <a:latin typeface="Cambria Math" panose="02040503050406030204" pitchFamily="18" charset="0"/>
                        </a:rPr>
                        <m:t>100</m:t>
                      </m:r>
                      <m:r>
                        <a:rPr lang="tr-TR" sz="9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83" name="Metin kutusu 82">
                <a:extLst>
                  <a:ext uri="{FF2B5EF4-FFF2-40B4-BE49-F238E27FC236}">
                    <a16:creationId xmlns:a16="http://schemas.microsoft.com/office/drawing/2014/main" id="{3FA5A6DF-9DC3-4068-92D7-A5097A18827D}"/>
                  </a:ext>
                </a:extLst>
              </p:cNvPr>
              <p:cNvSpPr txBox="1">
                <a:spLocks noRot="1" noChangeAspect="1" noMove="1" noResize="1" noEditPoints="1" noAdjustHandles="1" noChangeArrowheads="1" noChangeShapeType="1" noTextEdit="1"/>
              </p:cNvSpPr>
              <p:nvPr/>
            </p:nvSpPr>
            <p:spPr>
              <a:xfrm>
                <a:off x="4011152" y="1330529"/>
                <a:ext cx="493877" cy="230832"/>
              </a:xfrm>
              <a:prstGeom prst="rect">
                <a:avLst/>
              </a:prstGeom>
              <a:blipFill>
                <a:blip r:embed="rId15"/>
                <a:stretch>
                  <a:fillRect/>
                </a:stretch>
              </a:blipFill>
            </p:spPr>
            <p:txBody>
              <a:bodyPr/>
              <a:lstStyle/>
              <a:p>
                <a:r>
                  <a:rPr lang="tr-TR">
                    <a:noFill/>
                  </a:rPr>
                  <a:t> </a:t>
                </a:r>
              </a:p>
            </p:txBody>
          </p:sp>
        </mc:Fallback>
      </mc:AlternateContent>
      <p:sp>
        <p:nvSpPr>
          <p:cNvPr id="84" name="Metin kutusu 83">
            <a:extLst>
              <a:ext uri="{FF2B5EF4-FFF2-40B4-BE49-F238E27FC236}">
                <a16:creationId xmlns:a16="http://schemas.microsoft.com/office/drawing/2014/main" id="{936FA7AA-D78A-41C8-8A14-B570D6C768AB}"/>
              </a:ext>
            </a:extLst>
          </p:cNvPr>
          <p:cNvSpPr txBox="1"/>
          <p:nvPr/>
        </p:nvSpPr>
        <p:spPr>
          <a:xfrm>
            <a:off x="3557422" y="3269405"/>
            <a:ext cx="3255554" cy="553998"/>
          </a:xfrm>
          <a:prstGeom prst="rect">
            <a:avLst/>
          </a:prstGeom>
          <a:noFill/>
        </p:spPr>
        <p:txBody>
          <a:bodyPr wrap="square" rtlCol="0">
            <a:spAutoFit/>
          </a:bodyPr>
          <a:lstStyle/>
          <a:p>
            <a:r>
              <a:rPr lang="tr-TR" sz="1000" noProof="1">
                <a:cs typeface="Arial" panose="020B0604020202020204" pitchFamily="34" charset="0"/>
              </a:rPr>
              <a:t>Merkez açıları 360`a eşitlersek Ordu 120 derece olur. </a:t>
            </a:r>
          </a:p>
          <a:p>
            <a:r>
              <a:rPr lang="tr-TR" sz="1000" noProof="1">
                <a:cs typeface="Arial" panose="020B0604020202020204" pitchFamily="34" charset="0"/>
              </a:rPr>
              <a:t>120 derece 360 derecenin üçte biridir. Yani toplam fındık sayısını üçe böldüğümüzde 144.000/3 = </a:t>
            </a:r>
            <a:r>
              <a:rPr lang="tr-TR" sz="1000" b="1" noProof="1">
                <a:cs typeface="Arial" panose="020B0604020202020204" pitchFamily="34" charset="0"/>
              </a:rPr>
              <a:t>48.000</a:t>
            </a:r>
            <a:r>
              <a:rPr lang="tr-TR" sz="1000" noProof="1">
                <a:cs typeface="Arial" panose="020B0604020202020204" pitchFamily="34" charset="0"/>
              </a:rPr>
              <a:t> bulunur.</a:t>
            </a:r>
          </a:p>
        </p:txBody>
      </p:sp>
      <p:sp>
        <p:nvSpPr>
          <p:cNvPr id="85" name="Akış Çizelgesi: Depolanmış Veri 84">
            <a:extLst>
              <a:ext uri="{FF2B5EF4-FFF2-40B4-BE49-F238E27FC236}">
                <a16:creationId xmlns:a16="http://schemas.microsoft.com/office/drawing/2014/main" id="{10531A43-40EA-42AE-AA2A-C1A33B1B1FE0}"/>
              </a:ext>
            </a:extLst>
          </p:cNvPr>
          <p:cNvSpPr/>
          <p:nvPr/>
        </p:nvSpPr>
        <p:spPr>
          <a:xfrm rot="10800000">
            <a:off x="3749625" y="3856539"/>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86" name="Metin kutusu 85">
            <a:extLst>
              <a:ext uri="{FF2B5EF4-FFF2-40B4-BE49-F238E27FC236}">
                <a16:creationId xmlns:a16="http://schemas.microsoft.com/office/drawing/2014/main" id="{8E5A2111-D00C-4E17-8C9E-36F4248D7CCF}"/>
              </a:ext>
            </a:extLst>
          </p:cNvPr>
          <p:cNvSpPr txBox="1"/>
          <p:nvPr/>
        </p:nvSpPr>
        <p:spPr>
          <a:xfrm>
            <a:off x="3791306" y="3875090"/>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87" name="Oval 86">
            <a:extLst>
              <a:ext uri="{FF2B5EF4-FFF2-40B4-BE49-F238E27FC236}">
                <a16:creationId xmlns:a16="http://schemas.microsoft.com/office/drawing/2014/main" id="{B75A7DEB-0104-47B1-90A0-799BF2671817}"/>
              </a:ext>
            </a:extLst>
          </p:cNvPr>
          <p:cNvSpPr/>
          <p:nvPr/>
        </p:nvSpPr>
        <p:spPr>
          <a:xfrm>
            <a:off x="3600031" y="3856539"/>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88" name="Metin kutusu 87">
            <a:extLst>
              <a:ext uri="{FF2B5EF4-FFF2-40B4-BE49-F238E27FC236}">
                <a16:creationId xmlns:a16="http://schemas.microsoft.com/office/drawing/2014/main" id="{51F844F0-CD66-4E60-B5ED-0D54BED2ABEB}"/>
              </a:ext>
            </a:extLst>
          </p:cNvPr>
          <p:cNvSpPr txBox="1"/>
          <p:nvPr/>
        </p:nvSpPr>
        <p:spPr>
          <a:xfrm>
            <a:off x="3462759" y="386286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89" name="Metin kutusu 88">
            <a:extLst>
              <a:ext uri="{FF2B5EF4-FFF2-40B4-BE49-F238E27FC236}">
                <a16:creationId xmlns:a16="http://schemas.microsoft.com/office/drawing/2014/main" id="{83C74209-DB7D-49F2-9803-A21B89AAF11E}"/>
              </a:ext>
            </a:extLst>
          </p:cNvPr>
          <p:cNvSpPr txBox="1"/>
          <p:nvPr/>
        </p:nvSpPr>
        <p:spPr>
          <a:xfrm>
            <a:off x="4325129" y="3820823"/>
            <a:ext cx="2473851" cy="400110"/>
          </a:xfrm>
          <a:prstGeom prst="rect">
            <a:avLst/>
          </a:prstGeom>
          <a:noFill/>
        </p:spPr>
        <p:txBody>
          <a:bodyPr wrap="square" rtlCol="0">
            <a:spAutoFit/>
          </a:bodyPr>
          <a:lstStyle/>
          <a:p>
            <a:r>
              <a:rPr lang="tr-TR" sz="1000" noProof="1">
                <a:cs typeface="Arial" panose="020B0604020202020204" pitchFamily="34" charset="0"/>
              </a:rPr>
              <a:t>Aşağıdaki bir çiftlikteki hayvanların sayısı dairesel grafik ile gösterilmiştir.</a:t>
            </a:r>
          </a:p>
        </p:txBody>
      </p:sp>
      <p:pic>
        <p:nvPicPr>
          <p:cNvPr id="9" name="Grafik 8">
            <a:extLst>
              <a:ext uri="{FF2B5EF4-FFF2-40B4-BE49-F238E27FC236}">
                <a16:creationId xmlns:a16="http://schemas.microsoft.com/office/drawing/2014/main" id="{26611415-232E-42A6-9198-77E7461452C1}"/>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595366" y="4254069"/>
            <a:ext cx="1074872" cy="1074872"/>
          </a:xfrm>
          <a:prstGeom prst="rect">
            <a:avLst/>
          </a:prstGeom>
        </p:spPr>
      </p:pic>
      <p:sp>
        <p:nvSpPr>
          <p:cNvPr id="90" name="Dikdörtgen 89">
            <a:extLst>
              <a:ext uri="{FF2B5EF4-FFF2-40B4-BE49-F238E27FC236}">
                <a16:creationId xmlns:a16="http://schemas.microsoft.com/office/drawing/2014/main" id="{5C039913-FB90-4B81-9880-38D61144BD1D}"/>
              </a:ext>
            </a:extLst>
          </p:cNvPr>
          <p:cNvSpPr/>
          <p:nvPr/>
        </p:nvSpPr>
        <p:spPr>
          <a:xfrm>
            <a:off x="4831862" y="4278914"/>
            <a:ext cx="1527904" cy="954556"/>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1" name="Metin kutusu 90">
            <a:extLst>
              <a:ext uri="{FF2B5EF4-FFF2-40B4-BE49-F238E27FC236}">
                <a16:creationId xmlns:a16="http://schemas.microsoft.com/office/drawing/2014/main" id="{3584F7A2-975D-4EC1-AAC4-08655EB2F768}"/>
              </a:ext>
            </a:extLst>
          </p:cNvPr>
          <p:cNvSpPr txBox="1"/>
          <p:nvPr/>
        </p:nvSpPr>
        <p:spPr>
          <a:xfrm>
            <a:off x="4779291" y="4297278"/>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6B7C5"/>
                </a:solidFill>
                <a:cs typeface="Arial" panose="020B0604020202020204" pitchFamily="34" charset="0"/>
              </a:rPr>
              <a:t> </a:t>
            </a:r>
          </a:p>
        </p:txBody>
      </p:sp>
      <p:sp>
        <p:nvSpPr>
          <p:cNvPr id="92" name="Metin kutusu 91">
            <a:extLst>
              <a:ext uri="{FF2B5EF4-FFF2-40B4-BE49-F238E27FC236}">
                <a16:creationId xmlns:a16="http://schemas.microsoft.com/office/drawing/2014/main" id="{DAA38BE9-12CA-487D-A6C1-B86529633B08}"/>
              </a:ext>
            </a:extLst>
          </p:cNvPr>
          <p:cNvSpPr txBox="1"/>
          <p:nvPr/>
        </p:nvSpPr>
        <p:spPr>
          <a:xfrm>
            <a:off x="4770939" y="4646429"/>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A7CEEF"/>
                </a:solidFill>
                <a:cs typeface="Arial" panose="020B0604020202020204" pitchFamily="34" charset="0"/>
              </a:rPr>
              <a:t> </a:t>
            </a:r>
          </a:p>
        </p:txBody>
      </p:sp>
      <p:sp>
        <p:nvSpPr>
          <p:cNvPr id="93" name="Metin kutusu 92">
            <a:extLst>
              <a:ext uri="{FF2B5EF4-FFF2-40B4-BE49-F238E27FC236}">
                <a16:creationId xmlns:a16="http://schemas.microsoft.com/office/drawing/2014/main" id="{01FCB144-6FDC-4C44-A5B5-63256FD20CC8}"/>
              </a:ext>
            </a:extLst>
          </p:cNvPr>
          <p:cNvSpPr txBox="1"/>
          <p:nvPr/>
        </p:nvSpPr>
        <p:spPr>
          <a:xfrm>
            <a:off x="4764968" y="5007135"/>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ADD3A0"/>
                </a:solidFill>
                <a:cs typeface="Arial" panose="020B0604020202020204" pitchFamily="34" charset="0"/>
              </a:rPr>
              <a:t> </a:t>
            </a:r>
          </a:p>
        </p:txBody>
      </p:sp>
      <p:sp>
        <p:nvSpPr>
          <p:cNvPr id="94" name="Metin kutusu 93">
            <a:extLst>
              <a:ext uri="{FF2B5EF4-FFF2-40B4-BE49-F238E27FC236}">
                <a16:creationId xmlns:a16="http://schemas.microsoft.com/office/drawing/2014/main" id="{200F97F0-E8DF-4FC6-BBC3-24D1901F7ED6}"/>
              </a:ext>
            </a:extLst>
          </p:cNvPr>
          <p:cNvSpPr txBox="1"/>
          <p:nvPr/>
        </p:nvSpPr>
        <p:spPr>
          <a:xfrm>
            <a:off x="4923612" y="4285784"/>
            <a:ext cx="1025668" cy="246221"/>
          </a:xfrm>
          <a:prstGeom prst="rect">
            <a:avLst/>
          </a:prstGeom>
          <a:noFill/>
        </p:spPr>
        <p:txBody>
          <a:bodyPr wrap="square" rtlCol="0">
            <a:spAutoFit/>
          </a:bodyPr>
          <a:lstStyle/>
          <a:p>
            <a:r>
              <a:rPr lang="tr-TR" sz="1000" noProof="1">
                <a:cs typeface="Arial" panose="020B0604020202020204" pitchFamily="34" charset="0"/>
              </a:rPr>
              <a:t>Diğer hayvanlar</a:t>
            </a:r>
          </a:p>
        </p:txBody>
      </p:sp>
      <p:sp>
        <p:nvSpPr>
          <p:cNvPr id="95" name="Metin kutusu 94">
            <a:extLst>
              <a:ext uri="{FF2B5EF4-FFF2-40B4-BE49-F238E27FC236}">
                <a16:creationId xmlns:a16="http://schemas.microsoft.com/office/drawing/2014/main" id="{8599BDA2-784C-48B1-8DE2-0ACD5DDB6CD4}"/>
              </a:ext>
            </a:extLst>
          </p:cNvPr>
          <p:cNvSpPr txBox="1"/>
          <p:nvPr/>
        </p:nvSpPr>
        <p:spPr>
          <a:xfrm>
            <a:off x="4913588" y="4631338"/>
            <a:ext cx="1446178" cy="246221"/>
          </a:xfrm>
          <a:prstGeom prst="rect">
            <a:avLst/>
          </a:prstGeom>
          <a:noFill/>
        </p:spPr>
        <p:txBody>
          <a:bodyPr wrap="square" rtlCol="0">
            <a:spAutoFit/>
          </a:bodyPr>
          <a:lstStyle/>
          <a:p>
            <a:r>
              <a:rPr lang="tr-TR" sz="1000" noProof="1">
                <a:cs typeface="Arial" panose="020B0604020202020204" pitchFamily="34" charset="0"/>
              </a:rPr>
              <a:t>Koyun Sayısı</a:t>
            </a:r>
          </a:p>
        </p:txBody>
      </p:sp>
      <p:sp>
        <p:nvSpPr>
          <p:cNvPr id="96" name="Metin kutusu 95">
            <a:extLst>
              <a:ext uri="{FF2B5EF4-FFF2-40B4-BE49-F238E27FC236}">
                <a16:creationId xmlns:a16="http://schemas.microsoft.com/office/drawing/2014/main" id="{792775DD-632F-492F-B187-FAAFE23792CC}"/>
              </a:ext>
            </a:extLst>
          </p:cNvPr>
          <p:cNvSpPr txBox="1"/>
          <p:nvPr/>
        </p:nvSpPr>
        <p:spPr>
          <a:xfrm>
            <a:off x="4913588" y="4996376"/>
            <a:ext cx="1699786" cy="246221"/>
          </a:xfrm>
          <a:prstGeom prst="rect">
            <a:avLst/>
          </a:prstGeom>
          <a:noFill/>
        </p:spPr>
        <p:txBody>
          <a:bodyPr wrap="square" rtlCol="0">
            <a:spAutoFit/>
          </a:bodyPr>
          <a:lstStyle/>
          <a:p>
            <a:r>
              <a:rPr lang="tr-TR" sz="1000" noProof="1">
                <a:cs typeface="Arial" panose="020B0604020202020204" pitchFamily="34" charset="0"/>
              </a:rPr>
              <a:t>İnek Sayısı</a:t>
            </a:r>
          </a:p>
        </p:txBody>
      </p:sp>
      <mc:AlternateContent xmlns:mc="http://schemas.openxmlformats.org/markup-compatibility/2006" xmlns:a14="http://schemas.microsoft.com/office/drawing/2010/main">
        <mc:Choice Requires="a14">
          <p:sp>
            <p:nvSpPr>
              <p:cNvPr id="98" name="Metin kutusu 97">
                <a:extLst>
                  <a:ext uri="{FF2B5EF4-FFF2-40B4-BE49-F238E27FC236}">
                    <a16:creationId xmlns:a16="http://schemas.microsoft.com/office/drawing/2014/main" id="{094BF69D-B95E-43A5-A1E5-1467CE135BB6}"/>
                  </a:ext>
                </a:extLst>
              </p:cNvPr>
              <p:cNvSpPr txBox="1"/>
              <p:nvPr/>
            </p:nvSpPr>
            <p:spPr>
              <a:xfrm>
                <a:off x="3984728" y="4574944"/>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900" b="0" i="0" noProof="1" smtClean="0">
                          <a:latin typeface="Cambria Math" panose="02040503050406030204" pitchFamily="18" charset="0"/>
                        </a:rPr>
                        <m:t>90</m:t>
                      </m:r>
                      <m:r>
                        <a:rPr lang="tr-TR" sz="9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p>
            </p:txBody>
          </p:sp>
        </mc:Choice>
        <mc:Fallback xmlns="">
          <p:sp>
            <p:nvSpPr>
              <p:cNvPr id="98" name="Metin kutusu 97">
                <a:extLst>
                  <a:ext uri="{FF2B5EF4-FFF2-40B4-BE49-F238E27FC236}">
                    <a16:creationId xmlns:a16="http://schemas.microsoft.com/office/drawing/2014/main" id="{094BF69D-B95E-43A5-A1E5-1467CE135BB6}"/>
                  </a:ext>
                </a:extLst>
              </p:cNvPr>
              <p:cNvSpPr txBox="1">
                <a:spLocks noRot="1" noChangeAspect="1" noMove="1" noResize="1" noEditPoints="1" noAdjustHandles="1" noChangeArrowheads="1" noChangeShapeType="1" noTextEdit="1"/>
              </p:cNvSpPr>
              <p:nvPr/>
            </p:nvSpPr>
            <p:spPr>
              <a:xfrm>
                <a:off x="3984728" y="4574944"/>
                <a:ext cx="493877" cy="230832"/>
              </a:xfrm>
              <a:prstGeom prst="rect">
                <a:avLst/>
              </a:prstGeom>
              <a:blipFill>
                <a:blip r:embed="rId18"/>
                <a:stretch>
                  <a:fillRect/>
                </a:stretch>
              </a:blipFill>
            </p:spPr>
            <p:txBody>
              <a:bodyPr/>
              <a:lstStyle/>
              <a:p>
                <a:r>
                  <a:rPr lang="tr-TR">
                    <a:noFill/>
                  </a:rPr>
                  <a:t> </a:t>
                </a:r>
              </a:p>
            </p:txBody>
          </p:sp>
        </mc:Fallback>
      </mc:AlternateContent>
      <p:sp>
        <p:nvSpPr>
          <p:cNvPr id="99" name="Dikdörtgen 98">
            <a:extLst>
              <a:ext uri="{FF2B5EF4-FFF2-40B4-BE49-F238E27FC236}">
                <a16:creationId xmlns:a16="http://schemas.microsoft.com/office/drawing/2014/main" id="{DCD0CD09-6182-43CC-AD90-BEB49B02D47A}"/>
              </a:ext>
            </a:extLst>
          </p:cNvPr>
          <p:cNvSpPr/>
          <p:nvPr/>
        </p:nvSpPr>
        <p:spPr>
          <a:xfrm>
            <a:off x="4659981" y="4860032"/>
            <a:ext cx="91984" cy="47737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0" name="Metin kutusu 99">
            <a:extLst>
              <a:ext uri="{FF2B5EF4-FFF2-40B4-BE49-F238E27FC236}">
                <a16:creationId xmlns:a16="http://schemas.microsoft.com/office/drawing/2014/main" id="{19E8D12F-2A9C-425E-A44E-E9202A449EB1}"/>
              </a:ext>
            </a:extLst>
          </p:cNvPr>
          <p:cNvSpPr txBox="1"/>
          <p:nvPr/>
        </p:nvSpPr>
        <p:spPr>
          <a:xfrm>
            <a:off x="3517284" y="5316721"/>
            <a:ext cx="3489398" cy="1015663"/>
          </a:xfrm>
          <a:prstGeom prst="rect">
            <a:avLst/>
          </a:prstGeom>
          <a:noFill/>
        </p:spPr>
        <p:txBody>
          <a:bodyPr wrap="square" rtlCol="0">
            <a:spAutoFit/>
          </a:bodyPr>
          <a:lstStyle/>
          <a:p>
            <a:r>
              <a:rPr lang="tr-TR" sz="1000" b="1" noProof="1">
                <a:cs typeface="Arial" panose="020B0604020202020204" pitchFamily="34" charset="0"/>
              </a:rPr>
              <a:t>Çiftlikte toplam 180 hayvan vardır, diğer hayvanlar ise toplam hayvan sayısının yarısıdır. Aşağıdakilerden hangisi doğrudur?</a:t>
            </a:r>
          </a:p>
          <a:p>
            <a:r>
              <a:rPr lang="tr-TR" sz="1000" noProof="1">
                <a:cs typeface="Arial" panose="020B0604020202020204" pitchFamily="34" charset="0"/>
              </a:rPr>
              <a:t>I. Diğer hayvan sayısı koyun sayısının tam bir katıdır.</a:t>
            </a:r>
          </a:p>
          <a:p>
            <a:r>
              <a:rPr lang="tr-TR" sz="1000" noProof="1">
                <a:cs typeface="Arial" panose="020B0604020202020204" pitchFamily="34" charset="0"/>
              </a:rPr>
              <a:t>II. İnek ile koyun sayısı eşittir.</a:t>
            </a:r>
          </a:p>
          <a:p>
            <a:r>
              <a:rPr lang="tr-TR" sz="1000" noProof="1">
                <a:cs typeface="Arial" panose="020B0604020202020204" pitchFamily="34" charset="0"/>
              </a:rPr>
              <a:t>III. İnekleri ve diğer hayvanların sayısını temsil eden merkez açıların toplamı 360 derecedir. </a:t>
            </a:r>
          </a:p>
        </p:txBody>
      </p:sp>
      <p:sp>
        <p:nvSpPr>
          <p:cNvPr id="101" name="Ok: Beşgen 100">
            <a:extLst>
              <a:ext uri="{FF2B5EF4-FFF2-40B4-BE49-F238E27FC236}">
                <a16:creationId xmlns:a16="http://schemas.microsoft.com/office/drawing/2014/main" id="{653E7ECE-BBC0-45E8-BE3C-9E2EF21A7085}"/>
              </a:ext>
            </a:extLst>
          </p:cNvPr>
          <p:cNvSpPr/>
          <p:nvPr/>
        </p:nvSpPr>
        <p:spPr>
          <a:xfrm>
            <a:off x="3602454" y="7080942"/>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mc:AlternateContent xmlns:mc="http://schemas.openxmlformats.org/markup-compatibility/2006" xmlns:a14="http://schemas.microsoft.com/office/drawing/2010/main">
        <mc:Choice Requires="a14">
          <p:sp>
            <p:nvSpPr>
              <p:cNvPr id="102" name="Metin kutusu 101">
                <a:extLst>
                  <a:ext uri="{FF2B5EF4-FFF2-40B4-BE49-F238E27FC236}">
                    <a16:creationId xmlns:a16="http://schemas.microsoft.com/office/drawing/2014/main" id="{B7FCD993-005E-47BD-A565-6AE338FF06F4}"/>
                  </a:ext>
                </a:extLst>
              </p:cNvPr>
              <p:cNvSpPr txBox="1"/>
              <p:nvPr/>
            </p:nvSpPr>
            <p:spPr>
              <a:xfrm>
                <a:off x="4349692" y="7017844"/>
                <a:ext cx="2653392" cy="500458"/>
              </a:xfrm>
              <a:prstGeom prst="rect">
                <a:avLst/>
              </a:prstGeom>
              <a:noFill/>
            </p:spPr>
            <p:txBody>
              <a:bodyPr wrap="square" rtlCol="0">
                <a:spAutoFit/>
              </a:bodyPr>
              <a:lstStyle/>
              <a:p>
                <a:r>
                  <a:rPr lang="tr-TR" sz="1000" b="1" noProof="1">
                    <a:cs typeface="Arial" panose="020B0604020202020204" pitchFamily="34" charset="0"/>
                  </a:rPr>
                  <a:t>Toplam 180 hayvan varsa 360 dereceye denk.</a:t>
                </a:r>
              </a:p>
              <a:p>
                <a:r>
                  <a:rPr lang="tr-TR" sz="1000" b="1" noProof="1">
                    <a:cs typeface="Arial" panose="020B0604020202020204" pitchFamily="34" charset="0"/>
                  </a:rPr>
                  <a:t>1 dereceye </a:t>
                </a:r>
                <a14:m>
                  <m:oMath xmlns:m="http://schemas.openxmlformats.org/officeDocument/2006/math">
                    <m:f>
                      <m:fPr>
                        <m:ctrlPr>
                          <a:rPr lang="tr-TR" sz="1000" b="1" i="1" noProof="1" dirty="0" smtClean="0">
                            <a:latin typeface="Cambria Math" panose="02040503050406030204" pitchFamily="18" charset="0"/>
                          </a:rPr>
                        </m:ctrlPr>
                      </m:fPr>
                      <m:num>
                        <m:r>
                          <m:rPr>
                            <m:nor/>
                          </m:rPr>
                          <a:rPr lang="tr-TR" sz="1000" b="1" i="0" noProof="1" dirty="0" smtClean="0">
                            <a:latin typeface="Cambria Math" panose="02040503050406030204" pitchFamily="18" charset="0"/>
                          </a:rPr>
                          <m:t> </m:t>
                        </m:r>
                        <m:r>
                          <m:rPr>
                            <m:nor/>
                          </m:rPr>
                          <a:rPr lang="tr-TR" sz="1000" b="1" i="0" noProof="1" dirty="0" smtClean="0">
                            <a:latin typeface="Helvetica" panose="020B0604020202020204" pitchFamily="34" charset="0"/>
                            <a:cs typeface="Helvetica" panose="020B0604020202020204" pitchFamily="34" charset="0"/>
                          </a:rPr>
                          <m:t>1 </m:t>
                        </m:r>
                      </m:num>
                      <m:den>
                        <m:r>
                          <m:rPr>
                            <m:nor/>
                          </m:rPr>
                          <a:rPr lang="tr-TR" sz="1000" b="1" i="0" noProof="1" dirty="0" smtClean="0">
                            <a:latin typeface="Helvetica" panose="020B0604020202020204" pitchFamily="34" charset="0"/>
                            <a:cs typeface="Helvetica" panose="020B0604020202020204" pitchFamily="34" charset="0"/>
                          </a:rPr>
                          <m:t>2</m:t>
                        </m:r>
                      </m:den>
                    </m:f>
                  </m:oMath>
                </a14:m>
                <a:r>
                  <a:rPr lang="tr-TR" sz="1000" b="1" noProof="1">
                    <a:cs typeface="Arial" panose="020B0604020202020204" pitchFamily="34" charset="0"/>
                  </a:rPr>
                  <a:t>  hayvan düşmektedir. </a:t>
                </a:r>
              </a:p>
            </p:txBody>
          </p:sp>
        </mc:Choice>
        <mc:Fallback xmlns="">
          <p:sp>
            <p:nvSpPr>
              <p:cNvPr id="102" name="Metin kutusu 101">
                <a:extLst>
                  <a:ext uri="{FF2B5EF4-FFF2-40B4-BE49-F238E27FC236}">
                    <a16:creationId xmlns:a16="http://schemas.microsoft.com/office/drawing/2014/main" id="{B7FCD993-005E-47BD-A565-6AE338FF06F4}"/>
                  </a:ext>
                </a:extLst>
              </p:cNvPr>
              <p:cNvSpPr txBox="1">
                <a:spLocks noRot="1" noChangeAspect="1" noMove="1" noResize="1" noEditPoints="1" noAdjustHandles="1" noChangeArrowheads="1" noChangeShapeType="1" noTextEdit="1"/>
              </p:cNvSpPr>
              <p:nvPr/>
            </p:nvSpPr>
            <p:spPr>
              <a:xfrm>
                <a:off x="4349692" y="7017844"/>
                <a:ext cx="2653392" cy="500458"/>
              </a:xfrm>
              <a:prstGeom prst="rect">
                <a:avLst/>
              </a:prstGeom>
              <a:blipFill>
                <a:blip r:embed="rId19"/>
                <a:stretch>
                  <a:fillRect/>
                </a:stretch>
              </a:blipFill>
            </p:spPr>
            <p:txBody>
              <a:bodyPr/>
              <a:lstStyle/>
              <a:p>
                <a:r>
                  <a:rPr lang="tr-TR">
                    <a:noFill/>
                  </a:rPr>
                  <a:t> </a:t>
                </a:r>
              </a:p>
            </p:txBody>
          </p:sp>
        </mc:Fallback>
      </mc:AlternateContent>
      <p:sp>
        <p:nvSpPr>
          <p:cNvPr id="103" name="Metin kutusu 102">
            <a:extLst>
              <a:ext uri="{FF2B5EF4-FFF2-40B4-BE49-F238E27FC236}">
                <a16:creationId xmlns:a16="http://schemas.microsoft.com/office/drawing/2014/main" id="{58C8A618-914D-47E1-A9FA-5BA98E746605}"/>
              </a:ext>
            </a:extLst>
          </p:cNvPr>
          <p:cNvSpPr txBox="1"/>
          <p:nvPr/>
        </p:nvSpPr>
        <p:spPr>
          <a:xfrm>
            <a:off x="3547025" y="7422450"/>
            <a:ext cx="3339946" cy="1323439"/>
          </a:xfrm>
          <a:prstGeom prst="rect">
            <a:avLst/>
          </a:prstGeom>
          <a:noFill/>
        </p:spPr>
        <p:txBody>
          <a:bodyPr wrap="square" rtlCol="0">
            <a:spAutoFit/>
          </a:bodyPr>
          <a:lstStyle/>
          <a:p>
            <a:r>
              <a:rPr lang="tr-TR" sz="1000" noProof="1">
                <a:cs typeface="Arial" panose="020B0604020202020204" pitchFamily="34" charset="0"/>
              </a:rPr>
              <a:t>I. Diğer hayvan sayısı yarısıyla merkez açısı 180 derecedir. Koyunun merkez açısı da 90 derecedir. Merkez açılarla doğru orantılı olduğundan tam bir katıdır. </a:t>
            </a:r>
            <a:br>
              <a:rPr lang="tr-TR" sz="1000" noProof="1">
                <a:cs typeface="Arial" panose="020B0604020202020204" pitchFamily="34" charset="0"/>
              </a:rPr>
            </a:br>
            <a:endParaRPr lang="tr-TR" sz="1000" noProof="1">
              <a:cs typeface="Arial" panose="020B0604020202020204" pitchFamily="34" charset="0"/>
            </a:endParaRPr>
          </a:p>
          <a:p>
            <a:r>
              <a:rPr lang="tr-TR" sz="1000" noProof="1">
                <a:cs typeface="Arial" panose="020B0604020202020204" pitchFamily="34" charset="0"/>
              </a:rPr>
              <a:t>II. İnek ile koyun sayısının merkez açısı aynıdır yani doğrudur.</a:t>
            </a:r>
          </a:p>
          <a:p>
            <a:r>
              <a:rPr lang="tr-TR" sz="1000" noProof="1">
                <a:cs typeface="Arial" panose="020B0604020202020204" pitchFamily="34" charset="0"/>
              </a:rPr>
              <a:t>III. İneklerin açısı 90, diğer hayvanların 180 yani toplamları 360 değil 270 yapmaktadır. Zaten 3 adet veri grubu var, iki tanesinin toplamı teknik olarak 360 yapamaz.</a:t>
            </a:r>
          </a:p>
        </p:txBody>
      </p:sp>
      <p:sp>
        <p:nvSpPr>
          <p:cNvPr id="106" name="Metin kutusu 105">
            <a:extLst>
              <a:ext uri="{FF2B5EF4-FFF2-40B4-BE49-F238E27FC236}">
                <a16:creationId xmlns:a16="http://schemas.microsoft.com/office/drawing/2014/main" id="{A7BFC131-8497-49C3-8B0D-9CED1D58462C}"/>
              </a:ext>
            </a:extLst>
          </p:cNvPr>
          <p:cNvSpPr txBox="1"/>
          <p:nvPr/>
        </p:nvSpPr>
        <p:spPr>
          <a:xfrm>
            <a:off x="860308" y="525963"/>
            <a:ext cx="2475417" cy="200055"/>
          </a:xfrm>
          <a:prstGeom prst="rect">
            <a:avLst/>
          </a:prstGeom>
          <a:noFill/>
        </p:spPr>
        <p:txBody>
          <a:bodyPr wrap="square">
            <a:spAutoFit/>
          </a:bodyPr>
          <a:lstStyle/>
          <a:p>
            <a:pPr algn="ctr"/>
            <a:r>
              <a:rPr lang="tr-TR" sz="700" i="0" noProof="1">
                <a:solidFill>
                  <a:schemeClr val="bg1"/>
                </a:solidFill>
                <a:effectLst/>
                <a:latin typeface="Arial Narrow" panose="020B0606020202030204" pitchFamily="34" charset="0"/>
              </a:rPr>
              <a:t>“ Allah`a güvenirsen yol alırsın, insanlara güvenirsen yolda kalırsın. ”  </a:t>
            </a:r>
            <a:endParaRPr lang="tr-TR" sz="700" noProof="1">
              <a:solidFill>
                <a:schemeClr val="bg1"/>
              </a:solidFill>
              <a:latin typeface="Arial Narrow" panose="020B0606020202030204" pitchFamily="34" charset="0"/>
            </a:endParaRPr>
          </a:p>
        </p:txBody>
      </p:sp>
    </p:spTree>
    <p:extLst>
      <p:ext uri="{BB962C8B-B14F-4D97-AF65-F5344CB8AC3E}">
        <p14:creationId xmlns:p14="http://schemas.microsoft.com/office/powerpoint/2010/main" val="10535337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9692" y="5175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417" y="5134645"/>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00031" y="543513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pic>
        <p:nvPicPr>
          <p:cNvPr id="6" name="Grafik 5">
            <a:extLst>
              <a:ext uri="{FF2B5EF4-FFF2-40B4-BE49-F238E27FC236}">
                <a16:creationId xmlns:a16="http://schemas.microsoft.com/office/drawing/2014/main" id="{930AC48E-3125-4D5E-8BF3-B339156D30E4}"/>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24" y="852759"/>
            <a:ext cx="1268760" cy="1268760"/>
          </a:xfrm>
          <a:prstGeom prst="rect">
            <a:avLst/>
          </a:prstGeom>
        </p:spPr>
      </p:pic>
      <p:sp>
        <p:nvSpPr>
          <p:cNvPr id="51" name="Metin kutusu 50">
            <a:extLst>
              <a:ext uri="{FF2B5EF4-FFF2-40B4-BE49-F238E27FC236}">
                <a16:creationId xmlns:a16="http://schemas.microsoft.com/office/drawing/2014/main" id="{65CCB657-89A8-41EA-BADC-E231C441200B}"/>
              </a:ext>
            </a:extLst>
          </p:cNvPr>
          <p:cNvSpPr txBox="1"/>
          <p:nvPr/>
        </p:nvSpPr>
        <p:spPr>
          <a:xfrm>
            <a:off x="767344" y="447644"/>
            <a:ext cx="2565569" cy="400110"/>
          </a:xfrm>
          <a:prstGeom prst="rect">
            <a:avLst/>
          </a:prstGeom>
          <a:noFill/>
        </p:spPr>
        <p:txBody>
          <a:bodyPr wrap="square" rtlCol="0">
            <a:spAutoFit/>
          </a:bodyPr>
          <a:lstStyle/>
          <a:p>
            <a:r>
              <a:rPr lang="tr-TR" sz="1000" b="1" noProof="1">
                <a:cs typeface="Arial" panose="020B0604020202020204" pitchFamily="34" charset="0"/>
              </a:rPr>
              <a:t>Aşağıda bir şirketin çalışanlarının mezun </a:t>
            </a:r>
          </a:p>
          <a:p>
            <a:r>
              <a:rPr lang="tr-TR" sz="1000" b="1" noProof="1">
                <a:cs typeface="Arial" panose="020B0604020202020204" pitchFamily="34" charset="0"/>
              </a:rPr>
              <a:t>oldukları üniversiteler grafikle gösterilmiştir.</a:t>
            </a:r>
          </a:p>
        </p:txBody>
      </p:sp>
      <p:sp>
        <p:nvSpPr>
          <p:cNvPr id="58" name="Dikdörtgen 57">
            <a:extLst>
              <a:ext uri="{FF2B5EF4-FFF2-40B4-BE49-F238E27FC236}">
                <a16:creationId xmlns:a16="http://schemas.microsoft.com/office/drawing/2014/main" id="{F4FA35F5-A71D-4943-8029-96B0AE8CDE06}"/>
              </a:ext>
            </a:extLst>
          </p:cNvPr>
          <p:cNvSpPr/>
          <p:nvPr/>
        </p:nvSpPr>
        <p:spPr>
          <a:xfrm>
            <a:off x="1471835" y="907870"/>
            <a:ext cx="1527904" cy="1287866"/>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0" name="Metin kutusu 59">
            <a:extLst>
              <a:ext uri="{FF2B5EF4-FFF2-40B4-BE49-F238E27FC236}">
                <a16:creationId xmlns:a16="http://schemas.microsoft.com/office/drawing/2014/main" id="{B21DD768-870E-4E5F-9747-C86D462D0367}"/>
              </a:ext>
            </a:extLst>
          </p:cNvPr>
          <p:cNvSpPr txBox="1"/>
          <p:nvPr/>
        </p:nvSpPr>
        <p:spPr>
          <a:xfrm>
            <a:off x="1419264" y="926234"/>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A21F16"/>
                </a:solidFill>
                <a:cs typeface="Arial" panose="020B0604020202020204" pitchFamily="34" charset="0"/>
              </a:rPr>
              <a:t> </a:t>
            </a:r>
          </a:p>
        </p:txBody>
      </p:sp>
      <p:sp>
        <p:nvSpPr>
          <p:cNvPr id="62" name="Metin kutusu 61">
            <a:extLst>
              <a:ext uri="{FF2B5EF4-FFF2-40B4-BE49-F238E27FC236}">
                <a16:creationId xmlns:a16="http://schemas.microsoft.com/office/drawing/2014/main" id="{A726DFBD-4FDC-4C38-A338-6BDC11AC3852}"/>
              </a:ext>
            </a:extLst>
          </p:cNvPr>
          <p:cNvSpPr txBox="1"/>
          <p:nvPr/>
        </p:nvSpPr>
        <p:spPr>
          <a:xfrm>
            <a:off x="1410912" y="1275385"/>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252252"/>
                </a:solidFill>
                <a:cs typeface="Arial" panose="020B0604020202020204" pitchFamily="34" charset="0"/>
              </a:rPr>
              <a:t> </a:t>
            </a:r>
          </a:p>
        </p:txBody>
      </p:sp>
      <p:sp>
        <p:nvSpPr>
          <p:cNvPr id="66" name="Metin kutusu 65">
            <a:extLst>
              <a:ext uri="{FF2B5EF4-FFF2-40B4-BE49-F238E27FC236}">
                <a16:creationId xmlns:a16="http://schemas.microsoft.com/office/drawing/2014/main" id="{7F5F7377-1311-4739-AAF1-02879451624B}"/>
              </a:ext>
            </a:extLst>
          </p:cNvPr>
          <p:cNvSpPr txBox="1"/>
          <p:nvPr/>
        </p:nvSpPr>
        <p:spPr>
          <a:xfrm>
            <a:off x="1404941" y="1636091"/>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D891BE"/>
                </a:solidFill>
                <a:cs typeface="Arial" panose="020B0604020202020204" pitchFamily="34" charset="0"/>
              </a:rPr>
              <a:t> </a:t>
            </a:r>
          </a:p>
        </p:txBody>
      </p:sp>
      <p:sp>
        <p:nvSpPr>
          <p:cNvPr id="67" name="Metin kutusu 66">
            <a:extLst>
              <a:ext uri="{FF2B5EF4-FFF2-40B4-BE49-F238E27FC236}">
                <a16:creationId xmlns:a16="http://schemas.microsoft.com/office/drawing/2014/main" id="{C49DAF7E-0C17-4956-9F69-546FD2E0840A}"/>
              </a:ext>
            </a:extLst>
          </p:cNvPr>
          <p:cNvSpPr txBox="1"/>
          <p:nvPr/>
        </p:nvSpPr>
        <p:spPr>
          <a:xfrm>
            <a:off x="1553561" y="917516"/>
            <a:ext cx="1699786" cy="246221"/>
          </a:xfrm>
          <a:prstGeom prst="rect">
            <a:avLst/>
          </a:prstGeom>
          <a:noFill/>
        </p:spPr>
        <p:txBody>
          <a:bodyPr wrap="square" rtlCol="0">
            <a:spAutoFit/>
          </a:bodyPr>
          <a:lstStyle/>
          <a:p>
            <a:r>
              <a:rPr lang="tr-TR" sz="1000" noProof="1">
                <a:cs typeface="Arial" panose="020B0604020202020204" pitchFamily="34" charset="0"/>
              </a:rPr>
              <a:t>ODTÜ</a:t>
            </a:r>
          </a:p>
        </p:txBody>
      </p:sp>
      <p:sp>
        <p:nvSpPr>
          <p:cNvPr id="68" name="Metin kutusu 67">
            <a:extLst>
              <a:ext uri="{FF2B5EF4-FFF2-40B4-BE49-F238E27FC236}">
                <a16:creationId xmlns:a16="http://schemas.microsoft.com/office/drawing/2014/main" id="{0D57B8A7-7FC2-4D8D-A098-C0716628BD74}"/>
              </a:ext>
            </a:extLst>
          </p:cNvPr>
          <p:cNvSpPr txBox="1"/>
          <p:nvPr/>
        </p:nvSpPr>
        <p:spPr>
          <a:xfrm>
            <a:off x="1553561" y="1270049"/>
            <a:ext cx="1446178" cy="246221"/>
          </a:xfrm>
          <a:prstGeom prst="rect">
            <a:avLst/>
          </a:prstGeom>
          <a:noFill/>
        </p:spPr>
        <p:txBody>
          <a:bodyPr wrap="square" rtlCol="0">
            <a:spAutoFit/>
          </a:bodyPr>
          <a:lstStyle/>
          <a:p>
            <a:r>
              <a:rPr lang="tr-TR" sz="1000" noProof="1">
                <a:cs typeface="Arial" panose="020B0604020202020204" pitchFamily="34" charset="0"/>
              </a:rPr>
              <a:t>İTÜ</a:t>
            </a:r>
          </a:p>
        </p:txBody>
      </p:sp>
      <p:sp>
        <p:nvSpPr>
          <p:cNvPr id="69" name="Metin kutusu 68">
            <a:extLst>
              <a:ext uri="{FF2B5EF4-FFF2-40B4-BE49-F238E27FC236}">
                <a16:creationId xmlns:a16="http://schemas.microsoft.com/office/drawing/2014/main" id="{02CA8E92-A643-4DBC-B93D-6017C99D2900}"/>
              </a:ext>
            </a:extLst>
          </p:cNvPr>
          <p:cNvSpPr txBox="1"/>
          <p:nvPr/>
        </p:nvSpPr>
        <p:spPr>
          <a:xfrm>
            <a:off x="1553561" y="1625332"/>
            <a:ext cx="1699786" cy="246221"/>
          </a:xfrm>
          <a:prstGeom prst="rect">
            <a:avLst/>
          </a:prstGeom>
          <a:noFill/>
        </p:spPr>
        <p:txBody>
          <a:bodyPr wrap="square" rtlCol="0">
            <a:spAutoFit/>
          </a:bodyPr>
          <a:lstStyle/>
          <a:p>
            <a:r>
              <a:rPr lang="tr-TR" sz="1000" noProof="1">
                <a:cs typeface="Arial" panose="020B0604020202020204" pitchFamily="34" charset="0"/>
              </a:rPr>
              <a:t>Hacettepe Üniversitesi</a:t>
            </a:r>
          </a:p>
        </p:txBody>
      </p:sp>
      <p:sp>
        <p:nvSpPr>
          <p:cNvPr id="70" name="Metin kutusu 69">
            <a:extLst>
              <a:ext uri="{FF2B5EF4-FFF2-40B4-BE49-F238E27FC236}">
                <a16:creationId xmlns:a16="http://schemas.microsoft.com/office/drawing/2014/main" id="{B086F980-9E97-4883-B24F-7D9F367B8124}"/>
              </a:ext>
            </a:extLst>
          </p:cNvPr>
          <p:cNvSpPr txBox="1"/>
          <p:nvPr/>
        </p:nvSpPr>
        <p:spPr>
          <a:xfrm>
            <a:off x="1404941" y="1960274"/>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43BDD8"/>
                </a:solidFill>
                <a:cs typeface="Arial" panose="020B0604020202020204" pitchFamily="34" charset="0"/>
              </a:rPr>
              <a:t> </a:t>
            </a:r>
          </a:p>
        </p:txBody>
      </p:sp>
      <p:sp>
        <p:nvSpPr>
          <p:cNvPr id="71" name="Metin kutusu 70">
            <a:extLst>
              <a:ext uri="{FF2B5EF4-FFF2-40B4-BE49-F238E27FC236}">
                <a16:creationId xmlns:a16="http://schemas.microsoft.com/office/drawing/2014/main" id="{50D62D33-53B1-4DA8-AA04-E133DEDD74D8}"/>
              </a:ext>
            </a:extLst>
          </p:cNvPr>
          <p:cNvSpPr txBox="1"/>
          <p:nvPr/>
        </p:nvSpPr>
        <p:spPr>
          <a:xfrm>
            <a:off x="1553561" y="1949515"/>
            <a:ext cx="1699786" cy="246221"/>
          </a:xfrm>
          <a:prstGeom prst="rect">
            <a:avLst/>
          </a:prstGeom>
          <a:noFill/>
        </p:spPr>
        <p:txBody>
          <a:bodyPr wrap="square" rtlCol="0">
            <a:spAutoFit/>
          </a:bodyPr>
          <a:lstStyle/>
          <a:p>
            <a:r>
              <a:rPr lang="tr-TR" sz="1000" noProof="1">
                <a:cs typeface="Arial" panose="020B0604020202020204" pitchFamily="34" charset="0"/>
              </a:rPr>
              <a:t>Gazi Üniversitesi</a:t>
            </a:r>
          </a:p>
        </p:txBody>
      </p:sp>
      <mc:AlternateContent xmlns:mc="http://schemas.openxmlformats.org/markup-compatibility/2006" xmlns:a14="http://schemas.microsoft.com/office/drawing/2010/main">
        <mc:Choice Requires="a14">
          <p:sp>
            <p:nvSpPr>
              <p:cNvPr id="72" name="Metin kutusu 71">
                <a:extLst>
                  <a:ext uri="{FF2B5EF4-FFF2-40B4-BE49-F238E27FC236}">
                    <a16:creationId xmlns:a16="http://schemas.microsoft.com/office/drawing/2014/main" id="{F6969F3D-623E-44D0-AF03-B48459CBCC04}"/>
                  </a:ext>
                </a:extLst>
              </p:cNvPr>
              <p:cNvSpPr txBox="1"/>
              <p:nvPr/>
            </p:nvSpPr>
            <p:spPr>
              <a:xfrm>
                <a:off x="540134" y="1219449"/>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tr-TR" sz="900" b="0" i="0" noProof="1" smtClean="0">
                          <a:solidFill>
                            <a:schemeClr val="bg1"/>
                          </a:solidFill>
                        </a:rPr>
                        <m:t>150</m:t>
                      </m:r>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solidFill>
                    <a:schemeClr val="bg1"/>
                  </a:solidFill>
                </a:endParaRPr>
              </a:p>
            </p:txBody>
          </p:sp>
        </mc:Choice>
        <mc:Fallback xmlns="">
          <p:sp>
            <p:nvSpPr>
              <p:cNvPr id="72" name="Metin kutusu 71">
                <a:extLst>
                  <a:ext uri="{FF2B5EF4-FFF2-40B4-BE49-F238E27FC236}">
                    <a16:creationId xmlns:a16="http://schemas.microsoft.com/office/drawing/2014/main" id="{F6969F3D-623E-44D0-AF03-B48459CBCC04}"/>
                  </a:ext>
                </a:extLst>
              </p:cNvPr>
              <p:cNvSpPr txBox="1">
                <a:spLocks noRot="1" noChangeAspect="1" noMove="1" noResize="1" noEditPoints="1" noAdjustHandles="1" noChangeArrowheads="1" noChangeShapeType="1" noTextEdit="1"/>
              </p:cNvSpPr>
              <p:nvPr/>
            </p:nvSpPr>
            <p:spPr>
              <a:xfrm>
                <a:off x="540134" y="1219449"/>
                <a:ext cx="493877" cy="230832"/>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3" name="Metin kutusu 72">
                <a:extLst>
                  <a:ext uri="{FF2B5EF4-FFF2-40B4-BE49-F238E27FC236}">
                    <a16:creationId xmlns:a16="http://schemas.microsoft.com/office/drawing/2014/main" id="{EA63FBB5-823A-45A4-B1E5-EB77BA42A417}"/>
                  </a:ext>
                </a:extLst>
              </p:cNvPr>
              <p:cNvSpPr txBox="1"/>
              <p:nvPr/>
            </p:nvSpPr>
            <p:spPr>
              <a:xfrm>
                <a:off x="509509" y="1551803"/>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tr-TR" sz="900" b="0" i="0" noProof="1" smtClean="0">
                          <a:solidFill>
                            <a:schemeClr val="bg1"/>
                          </a:solidFill>
                        </a:rPr>
                        <m:t>60</m:t>
                      </m:r>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solidFill>
                    <a:schemeClr val="bg1"/>
                  </a:solidFill>
                </a:endParaRPr>
              </a:p>
            </p:txBody>
          </p:sp>
        </mc:Choice>
        <mc:Fallback xmlns="">
          <p:sp>
            <p:nvSpPr>
              <p:cNvPr id="73" name="Metin kutusu 72">
                <a:extLst>
                  <a:ext uri="{FF2B5EF4-FFF2-40B4-BE49-F238E27FC236}">
                    <a16:creationId xmlns:a16="http://schemas.microsoft.com/office/drawing/2014/main" id="{EA63FBB5-823A-45A4-B1E5-EB77BA42A417}"/>
                  </a:ext>
                </a:extLst>
              </p:cNvPr>
              <p:cNvSpPr txBox="1">
                <a:spLocks noRot="1" noChangeAspect="1" noMove="1" noResize="1" noEditPoints="1" noAdjustHandles="1" noChangeArrowheads="1" noChangeShapeType="1" noTextEdit="1"/>
              </p:cNvSpPr>
              <p:nvPr/>
            </p:nvSpPr>
            <p:spPr>
              <a:xfrm>
                <a:off x="509509" y="1551803"/>
                <a:ext cx="493877" cy="230832"/>
              </a:xfrm>
              <a:prstGeom prst="rect">
                <a:avLst/>
              </a:prstGeom>
              <a:blipFill>
                <a:blip r:embed="rId9"/>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4" name="Metin kutusu 73">
                <a:extLst>
                  <a:ext uri="{FF2B5EF4-FFF2-40B4-BE49-F238E27FC236}">
                    <a16:creationId xmlns:a16="http://schemas.microsoft.com/office/drawing/2014/main" id="{CE96B08D-91E1-47B1-B6E5-2DA04B6EB633}"/>
                  </a:ext>
                </a:extLst>
              </p:cNvPr>
              <p:cNvSpPr txBox="1"/>
              <p:nvPr/>
            </p:nvSpPr>
            <p:spPr>
              <a:xfrm>
                <a:off x="248658" y="1458439"/>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tr-TR" sz="900" b="0" i="0" noProof="1" smtClean="0">
                          <a:solidFill>
                            <a:schemeClr val="bg1"/>
                          </a:solidFill>
                        </a:rPr>
                        <m:t>80</m:t>
                      </m:r>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solidFill>
                    <a:schemeClr val="bg1"/>
                  </a:solidFill>
                </a:endParaRPr>
              </a:p>
            </p:txBody>
          </p:sp>
        </mc:Choice>
        <mc:Fallback xmlns="">
          <p:sp>
            <p:nvSpPr>
              <p:cNvPr id="74" name="Metin kutusu 73">
                <a:extLst>
                  <a:ext uri="{FF2B5EF4-FFF2-40B4-BE49-F238E27FC236}">
                    <a16:creationId xmlns:a16="http://schemas.microsoft.com/office/drawing/2014/main" id="{CE96B08D-91E1-47B1-B6E5-2DA04B6EB633}"/>
                  </a:ext>
                </a:extLst>
              </p:cNvPr>
              <p:cNvSpPr txBox="1">
                <a:spLocks noRot="1" noChangeAspect="1" noMove="1" noResize="1" noEditPoints="1" noAdjustHandles="1" noChangeArrowheads="1" noChangeShapeType="1" noTextEdit="1"/>
              </p:cNvSpPr>
              <p:nvPr/>
            </p:nvSpPr>
            <p:spPr>
              <a:xfrm>
                <a:off x="248658" y="1458439"/>
                <a:ext cx="493877" cy="230832"/>
              </a:xfrm>
              <a:prstGeom prst="rect">
                <a:avLst/>
              </a:prstGeom>
              <a:blipFill>
                <a:blip r:embed="rId10"/>
                <a:stretch>
                  <a:fillRect/>
                </a:stretch>
              </a:blipFill>
            </p:spPr>
            <p:txBody>
              <a:bodyPr/>
              <a:lstStyle/>
              <a:p>
                <a:r>
                  <a:rPr lang="tr-TR">
                    <a:noFill/>
                  </a:rPr>
                  <a:t> </a:t>
                </a:r>
              </a:p>
            </p:txBody>
          </p:sp>
        </mc:Fallback>
      </mc:AlternateContent>
      <p:sp>
        <p:nvSpPr>
          <p:cNvPr id="76" name="Metin kutusu 75">
            <a:extLst>
              <a:ext uri="{FF2B5EF4-FFF2-40B4-BE49-F238E27FC236}">
                <a16:creationId xmlns:a16="http://schemas.microsoft.com/office/drawing/2014/main" id="{27770A2E-EF7C-44A8-A1AA-567F6D218CBF}"/>
              </a:ext>
            </a:extLst>
          </p:cNvPr>
          <p:cNvSpPr txBox="1"/>
          <p:nvPr/>
        </p:nvSpPr>
        <p:spPr>
          <a:xfrm>
            <a:off x="53174" y="2213650"/>
            <a:ext cx="3447834" cy="1938992"/>
          </a:xfrm>
          <a:prstGeom prst="rect">
            <a:avLst/>
          </a:prstGeom>
          <a:noFill/>
        </p:spPr>
        <p:txBody>
          <a:bodyPr wrap="square" rtlCol="0">
            <a:spAutoFit/>
          </a:bodyPr>
          <a:lstStyle/>
          <a:p>
            <a:r>
              <a:rPr lang="tr-TR" sz="1000" b="1" noProof="1">
                <a:cs typeface="Arial" panose="020B0604020202020204" pitchFamily="34" charset="0"/>
              </a:rPr>
              <a:t>Toplam 5400 çalışanının olduğu bu şirkette ; </a:t>
            </a:r>
          </a:p>
          <a:p>
            <a:endParaRPr lang="tr-TR" sz="1000" noProof="1">
              <a:cs typeface="Arial" panose="020B0604020202020204" pitchFamily="34" charset="0"/>
            </a:endParaRPr>
          </a:p>
          <a:p>
            <a:r>
              <a:rPr lang="tr-TR" sz="1000" noProof="1">
                <a:cs typeface="Arial" panose="020B0604020202020204" pitchFamily="34" charset="0"/>
              </a:rPr>
              <a:t>I. Şirket tercihi olarak en fazla ODTÜ mezunu çalışana sahiptir. </a:t>
            </a:r>
          </a:p>
          <a:p>
            <a:r>
              <a:rPr lang="tr-TR" sz="1000" noProof="1">
                <a:cs typeface="Arial" panose="020B0604020202020204" pitchFamily="34" charset="0"/>
              </a:rPr>
              <a:t>II. Gazi Üniversite mezunu çalışan, Hacettepe Üniversite mezunu çalışan sayısından fazladır.</a:t>
            </a:r>
          </a:p>
          <a:p>
            <a:r>
              <a:rPr lang="tr-TR" sz="1000" noProof="1">
                <a:cs typeface="Arial" panose="020B0604020202020204" pitchFamily="34" charset="0"/>
              </a:rPr>
              <a:t>III. En iyi üniversite ODTÜ dür.</a:t>
            </a:r>
          </a:p>
          <a:p>
            <a:r>
              <a:rPr lang="tr-TR" sz="1000" noProof="1">
                <a:cs typeface="Arial" panose="020B0604020202020204" pitchFamily="34" charset="0"/>
              </a:rPr>
              <a:t>IV. 1200 tane Hacettepe mezunu çalışan vardır.</a:t>
            </a:r>
          </a:p>
          <a:p>
            <a:r>
              <a:rPr lang="tr-TR" sz="1000" noProof="1">
                <a:cs typeface="Arial" panose="020B0604020202020204" pitchFamily="34" charset="0"/>
              </a:rPr>
              <a:t>V. İTÜ mezunu çalışan sayısı, Hacettepe mezunu çalışan sayısından 300 azdır. </a:t>
            </a:r>
          </a:p>
          <a:p>
            <a:r>
              <a:rPr lang="tr-TR" sz="1000" noProof="1">
                <a:cs typeface="Arial" panose="020B0604020202020204" pitchFamily="34" charset="0"/>
              </a:rPr>
              <a:t>VI. Şirket sadece 4 farklı üniversiteden çalışan almaktadır.</a:t>
            </a:r>
          </a:p>
          <a:p>
            <a:endParaRPr lang="tr-TR" sz="1000" noProof="1">
              <a:cs typeface="Arial" panose="020B0604020202020204" pitchFamily="34" charset="0"/>
            </a:endParaRPr>
          </a:p>
          <a:p>
            <a:r>
              <a:rPr lang="tr-TR" sz="1000" b="1" noProof="1">
                <a:cs typeface="Arial" panose="020B0604020202020204" pitchFamily="34" charset="0"/>
              </a:rPr>
              <a:t>verilen grafikten yukarıdaki bilgilerin hangisi çıkarılabilir?</a:t>
            </a:r>
          </a:p>
        </p:txBody>
      </p:sp>
      <mc:AlternateContent xmlns:mc="http://schemas.openxmlformats.org/markup-compatibility/2006" xmlns:a14="http://schemas.microsoft.com/office/drawing/2010/main">
        <mc:Choice Requires="a14">
          <p:sp>
            <p:nvSpPr>
              <p:cNvPr id="77" name="Metin kutusu 76">
                <a:extLst>
                  <a:ext uri="{FF2B5EF4-FFF2-40B4-BE49-F238E27FC236}">
                    <a16:creationId xmlns:a16="http://schemas.microsoft.com/office/drawing/2014/main" id="{ED75AFC3-DD0C-4869-835A-1AB7B5B383E6}"/>
                  </a:ext>
                </a:extLst>
              </p:cNvPr>
              <p:cNvSpPr txBox="1"/>
              <p:nvPr/>
            </p:nvSpPr>
            <p:spPr>
              <a:xfrm>
                <a:off x="53174" y="5397312"/>
                <a:ext cx="3447834" cy="3323987"/>
              </a:xfrm>
              <a:prstGeom prst="rect">
                <a:avLst/>
              </a:prstGeom>
              <a:noFill/>
            </p:spPr>
            <p:txBody>
              <a:bodyPr wrap="square" rtlCol="0">
                <a:spAutoFit/>
              </a:bodyPr>
              <a:lstStyle/>
              <a:p>
                <a:r>
                  <a:rPr lang="tr-TR" sz="1000" b="1" noProof="1">
                    <a:cs typeface="Arial" panose="020B0604020202020204" pitchFamily="34" charset="0"/>
                  </a:rPr>
                  <a:t>5400 çalışan 360 derece ise 1 dereceye 15 öğrenci denktir.</a:t>
                </a:r>
              </a:p>
              <a:p>
                <a:endParaRPr lang="tr-TR" sz="1000" b="1" noProof="1">
                  <a:cs typeface="Arial" panose="020B0604020202020204" pitchFamily="34" charset="0"/>
                </a:endParaRPr>
              </a:p>
              <a:p>
                <a:r>
                  <a:rPr lang="tr-TR" sz="1000" b="1" noProof="1">
                    <a:cs typeface="Arial" panose="020B0604020202020204" pitchFamily="34" charset="0"/>
                  </a:rPr>
                  <a:t>I. </a:t>
                </a:r>
                <a:r>
                  <a:rPr lang="tr-TR" sz="1000" noProof="1">
                    <a:cs typeface="Arial" panose="020B0604020202020204" pitchFamily="34" charset="0"/>
                  </a:rPr>
                  <a:t>En fazla ODTÜ mezunu vardır çünkü merkez açısı en büyük olan ODTÜ olarak görülmektedir. </a:t>
                </a:r>
              </a:p>
              <a:p>
                <a:endParaRPr lang="tr-TR" sz="1000"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150+60+80 = 290   360-290 = 70</a:t>
                </a:r>
                <a14:m>
                  <m:oMath xmlns:m="http://schemas.openxmlformats.org/officeDocument/2006/math">
                    <m:r>
                      <a:rPr lang="tr-TR" sz="100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Gazi Üniversitesi`nin merkez açısıdır. Hacettepe`nin merkez açısı 80 olduğu için </a:t>
                </a:r>
                <a:br>
                  <a:rPr lang="tr-TR" sz="1000" noProof="1">
                    <a:cs typeface="Arial" panose="020B0604020202020204" pitchFamily="34" charset="0"/>
                  </a:rPr>
                </a:br>
                <a:r>
                  <a:rPr lang="tr-TR" sz="1000" noProof="1">
                    <a:cs typeface="Arial" panose="020B0604020202020204" pitchFamily="34" charset="0"/>
                  </a:rPr>
                  <a:t>Gazi`den daha fazla mezun çalışanı vardır.</a:t>
                </a:r>
              </a:p>
              <a:p>
                <a:endParaRPr lang="tr-TR" sz="1000" noProof="1">
                  <a:cs typeface="Arial" panose="020B0604020202020204" pitchFamily="34" charset="0"/>
                </a:endParaRPr>
              </a:p>
              <a:p>
                <a:r>
                  <a:rPr lang="tr-TR" sz="1000" b="1" noProof="1">
                    <a:cs typeface="Arial" panose="020B0604020202020204" pitchFamily="34" charset="0"/>
                  </a:rPr>
                  <a:t>III. </a:t>
                </a:r>
                <a:r>
                  <a:rPr lang="tr-TR" sz="1000" noProof="1">
                    <a:cs typeface="Arial" panose="020B0604020202020204" pitchFamily="34" charset="0"/>
                  </a:rPr>
                  <a:t>Bir şirketin personel sayısı grafiğinden hepsi aynı üniversiteden mezun olsa bile üniversiteler arasında karşılaştırma bu grafikle kesinlikle yapılamaz.</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IV. </a:t>
                </a:r>
                <a:r>
                  <a:rPr lang="tr-TR" sz="1000" noProof="1">
                    <a:cs typeface="Arial" panose="020B0604020202020204" pitchFamily="34" charset="0"/>
                  </a:rPr>
                  <a:t>Hacettepe merkez açısı 80 ve her 1 dereceye 15 çalışan</a:t>
                </a:r>
              </a:p>
              <a:p>
                <a:r>
                  <a:rPr lang="tr-TR" sz="1000" noProof="1">
                    <a:cs typeface="Arial" panose="020B0604020202020204" pitchFamily="34" charset="0"/>
                  </a:rPr>
                  <a:t>düşmektedir.  80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15 = 1200 çalışan vardır.</a:t>
                </a:r>
              </a:p>
              <a:p>
                <a:endParaRPr lang="tr-TR" sz="1000" noProof="1">
                  <a:cs typeface="Arial" panose="020B0604020202020204" pitchFamily="34" charset="0"/>
                </a:endParaRPr>
              </a:p>
              <a:p>
                <a:r>
                  <a:rPr lang="tr-TR" sz="1000" b="1" noProof="1">
                    <a:cs typeface="Arial" panose="020B0604020202020204" pitchFamily="34" charset="0"/>
                  </a:rPr>
                  <a:t>V. </a:t>
                </a:r>
                <a:r>
                  <a:rPr lang="tr-TR" sz="1000" noProof="1">
                    <a:cs typeface="Arial" panose="020B0604020202020204" pitchFamily="34" charset="0"/>
                  </a:rPr>
                  <a:t>Aradaki fark 20 derecedir ve her bir derece 15 çalışandır.</a:t>
                </a:r>
              </a:p>
              <a:p>
                <a:r>
                  <a:rPr lang="tr-TR" sz="1000" noProof="1">
                    <a:cs typeface="Arial" panose="020B0604020202020204" pitchFamily="34" charset="0"/>
                  </a:rPr>
                  <a:t>Yani 20</a:t>
                </a:r>
                <a:r>
                  <a:rPr lang="tr-TR" sz="1000" noProof="1">
                    <a:ea typeface="Cambria Math" panose="02040503050406030204" pitchFamily="18" charset="0"/>
                    <a:cs typeface="Arial" panose="020B0604020202020204" pitchFamily="34" charset="0"/>
                  </a:rPr>
                  <a:t>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 </m:t>
                    </m:r>
                  </m:oMath>
                </a14:m>
                <a:r>
                  <a:rPr lang="tr-TR" sz="1000" noProof="1">
                    <a:cs typeface="Arial" panose="020B0604020202020204" pitchFamily="34" charset="0"/>
                  </a:rPr>
                  <a:t>15 = 300 çalışan azdır doğrudur.</a:t>
                </a:r>
              </a:p>
              <a:p>
                <a:endParaRPr lang="tr-TR" sz="1000" noProof="1">
                  <a:cs typeface="Arial" panose="020B0604020202020204" pitchFamily="34" charset="0"/>
                </a:endParaRPr>
              </a:p>
              <a:p>
                <a:r>
                  <a:rPr lang="tr-TR" sz="1000" b="1" noProof="1">
                    <a:cs typeface="Arial" panose="020B0604020202020204" pitchFamily="34" charset="0"/>
                  </a:rPr>
                  <a:t>VI.  </a:t>
                </a:r>
                <a:r>
                  <a:rPr lang="tr-TR" sz="1000" noProof="1">
                    <a:cs typeface="Arial" panose="020B0604020202020204" pitchFamily="34" charset="0"/>
                  </a:rPr>
                  <a:t>Tüm çalışanlarının grafiği olduğu için sadece 4 üniversiteden mezun aldıklarını çıkarabiliriz.</a:t>
                </a:r>
              </a:p>
            </p:txBody>
          </p:sp>
        </mc:Choice>
        <mc:Fallback xmlns="">
          <p:sp>
            <p:nvSpPr>
              <p:cNvPr id="77" name="Metin kutusu 76">
                <a:extLst>
                  <a:ext uri="{FF2B5EF4-FFF2-40B4-BE49-F238E27FC236}">
                    <a16:creationId xmlns:a16="http://schemas.microsoft.com/office/drawing/2014/main" id="{ED75AFC3-DD0C-4869-835A-1AB7B5B383E6}"/>
                  </a:ext>
                </a:extLst>
              </p:cNvPr>
              <p:cNvSpPr txBox="1">
                <a:spLocks noRot="1" noChangeAspect="1" noMove="1" noResize="1" noEditPoints="1" noAdjustHandles="1" noChangeArrowheads="1" noChangeShapeType="1" noTextEdit="1"/>
              </p:cNvSpPr>
              <p:nvPr/>
            </p:nvSpPr>
            <p:spPr>
              <a:xfrm>
                <a:off x="53174" y="5397312"/>
                <a:ext cx="3447834" cy="3323987"/>
              </a:xfrm>
              <a:prstGeom prst="rect">
                <a:avLst/>
              </a:prstGeom>
              <a:blipFill>
                <a:blip r:embed="rId11"/>
                <a:stretch>
                  <a:fillRect b="-183"/>
                </a:stretch>
              </a:blipFill>
            </p:spPr>
            <p:txBody>
              <a:bodyPr/>
              <a:lstStyle/>
              <a:p>
                <a:r>
                  <a:rPr lang="tr-TR">
                    <a:noFill/>
                  </a:rPr>
                  <a:t> </a:t>
                </a:r>
              </a:p>
            </p:txBody>
          </p:sp>
        </mc:Fallback>
      </mc:AlternateContent>
      <p:sp>
        <p:nvSpPr>
          <p:cNvPr id="78" name="Metin kutusu 77">
            <a:extLst>
              <a:ext uri="{FF2B5EF4-FFF2-40B4-BE49-F238E27FC236}">
                <a16:creationId xmlns:a16="http://schemas.microsoft.com/office/drawing/2014/main" id="{BBECBCB6-A57C-416E-8BC0-B61F8BD40C97}"/>
              </a:ext>
            </a:extLst>
          </p:cNvPr>
          <p:cNvSpPr txBox="1"/>
          <p:nvPr/>
        </p:nvSpPr>
        <p:spPr>
          <a:xfrm>
            <a:off x="3642030" y="863202"/>
            <a:ext cx="3150470" cy="400110"/>
          </a:xfrm>
          <a:prstGeom prst="rect">
            <a:avLst/>
          </a:prstGeom>
          <a:noFill/>
        </p:spPr>
        <p:txBody>
          <a:bodyPr wrap="square" rtlCol="0">
            <a:spAutoFit/>
          </a:bodyPr>
          <a:lstStyle/>
          <a:p>
            <a:r>
              <a:rPr lang="tr-TR" sz="1000" noProof="1">
                <a:cs typeface="Arial" panose="020B0604020202020204" pitchFamily="34" charset="0"/>
              </a:rPr>
              <a:t>Türkiye`nin sadece 36 ilinde ki hava durumu aşağıdaki dairesel grafikte gösterilmiştir.</a:t>
            </a:r>
          </a:p>
        </p:txBody>
      </p:sp>
      <p:pic>
        <p:nvPicPr>
          <p:cNvPr id="8" name="Grafik 7">
            <a:extLst>
              <a:ext uri="{FF2B5EF4-FFF2-40B4-BE49-F238E27FC236}">
                <a16:creationId xmlns:a16="http://schemas.microsoft.com/office/drawing/2014/main" id="{6B5022CA-E8D2-43AD-BE65-8925FC855B74}"/>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58075" y="1273619"/>
            <a:ext cx="1372576" cy="1372576"/>
          </a:xfrm>
          <a:prstGeom prst="rect">
            <a:avLst/>
          </a:prstGeom>
        </p:spPr>
      </p:pic>
      <p:sp>
        <p:nvSpPr>
          <p:cNvPr id="79" name="Dikdörtgen 78">
            <a:extLst>
              <a:ext uri="{FF2B5EF4-FFF2-40B4-BE49-F238E27FC236}">
                <a16:creationId xmlns:a16="http://schemas.microsoft.com/office/drawing/2014/main" id="{66C10387-7082-4D9F-AE6F-910E4E829C70}"/>
              </a:ext>
            </a:extLst>
          </p:cNvPr>
          <p:cNvSpPr/>
          <p:nvPr/>
        </p:nvSpPr>
        <p:spPr>
          <a:xfrm>
            <a:off x="5199287" y="1278549"/>
            <a:ext cx="1527904" cy="1287866"/>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0" name="Metin kutusu 79">
            <a:extLst>
              <a:ext uri="{FF2B5EF4-FFF2-40B4-BE49-F238E27FC236}">
                <a16:creationId xmlns:a16="http://schemas.microsoft.com/office/drawing/2014/main" id="{70FBDCB5-C5EF-48F2-AE58-3B5751E7286E}"/>
              </a:ext>
            </a:extLst>
          </p:cNvPr>
          <p:cNvSpPr txBox="1"/>
          <p:nvPr/>
        </p:nvSpPr>
        <p:spPr>
          <a:xfrm>
            <a:off x="5146716" y="129691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4EAE33"/>
                </a:solidFill>
                <a:cs typeface="Arial" panose="020B0604020202020204" pitchFamily="34" charset="0"/>
              </a:rPr>
              <a:t> </a:t>
            </a:r>
          </a:p>
        </p:txBody>
      </p:sp>
      <p:sp>
        <p:nvSpPr>
          <p:cNvPr id="81" name="Metin kutusu 80">
            <a:extLst>
              <a:ext uri="{FF2B5EF4-FFF2-40B4-BE49-F238E27FC236}">
                <a16:creationId xmlns:a16="http://schemas.microsoft.com/office/drawing/2014/main" id="{57C47D62-CD51-4517-9F08-E1F57FA85DAB}"/>
              </a:ext>
            </a:extLst>
          </p:cNvPr>
          <p:cNvSpPr txBox="1"/>
          <p:nvPr/>
        </p:nvSpPr>
        <p:spPr>
          <a:xfrm>
            <a:off x="5138364" y="1646064"/>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284093"/>
                </a:solidFill>
                <a:cs typeface="Arial" panose="020B0604020202020204" pitchFamily="34" charset="0"/>
              </a:rPr>
              <a:t> </a:t>
            </a:r>
          </a:p>
        </p:txBody>
      </p:sp>
      <p:sp>
        <p:nvSpPr>
          <p:cNvPr id="82" name="Metin kutusu 81">
            <a:extLst>
              <a:ext uri="{FF2B5EF4-FFF2-40B4-BE49-F238E27FC236}">
                <a16:creationId xmlns:a16="http://schemas.microsoft.com/office/drawing/2014/main" id="{B20FF1E5-54F5-48A7-8F65-1CD80061D1D5}"/>
              </a:ext>
            </a:extLst>
          </p:cNvPr>
          <p:cNvSpPr txBox="1"/>
          <p:nvPr/>
        </p:nvSpPr>
        <p:spPr>
          <a:xfrm>
            <a:off x="5132393" y="2006770"/>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C15299"/>
                </a:solidFill>
                <a:cs typeface="Arial" panose="020B0604020202020204" pitchFamily="34" charset="0"/>
              </a:rPr>
              <a:t> </a:t>
            </a:r>
          </a:p>
        </p:txBody>
      </p:sp>
      <p:sp>
        <p:nvSpPr>
          <p:cNvPr id="83" name="Metin kutusu 82">
            <a:extLst>
              <a:ext uri="{FF2B5EF4-FFF2-40B4-BE49-F238E27FC236}">
                <a16:creationId xmlns:a16="http://schemas.microsoft.com/office/drawing/2014/main" id="{481ED1EB-1C05-437C-9F81-C1A8B1939DC8}"/>
              </a:ext>
            </a:extLst>
          </p:cNvPr>
          <p:cNvSpPr txBox="1"/>
          <p:nvPr/>
        </p:nvSpPr>
        <p:spPr>
          <a:xfrm>
            <a:off x="5281013" y="1288195"/>
            <a:ext cx="1699786" cy="246221"/>
          </a:xfrm>
          <a:prstGeom prst="rect">
            <a:avLst/>
          </a:prstGeom>
          <a:noFill/>
        </p:spPr>
        <p:txBody>
          <a:bodyPr wrap="square" rtlCol="0">
            <a:spAutoFit/>
          </a:bodyPr>
          <a:lstStyle/>
          <a:p>
            <a:r>
              <a:rPr lang="tr-TR" sz="1000" noProof="1">
                <a:cs typeface="Arial" panose="020B0604020202020204" pitchFamily="34" charset="0"/>
              </a:rPr>
              <a:t>Güneşli</a:t>
            </a:r>
          </a:p>
        </p:txBody>
      </p:sp>
      <p:sp>
        <p:nvSpPr>
          <p:cNvPr id="84" name="Metin kutusu 83">
            <a:extLst>
              <a:ext uri="{FF2B5EF4-FFF2-40B4-BE49-F238E27FC236}">
                <a16:creationId xmlns:a16="http://schemas.microsoft.com/office/drawing/2014/main" id="{8A406803-0E28-4D2A-8517-AB65C14AACC5}"/>
              </a:ext>
            </a:extLst>
          </p:cNvPr>
          <p:cNvSpPr txBox="1"/>
          <p:nvPr/>
        </p:nvSpPr>
        <p:spPr>
          <a:xfrm>
            <a:off x="5281013" y="1640728"/>
            <a:ext cx="1446178" cy="246221"/>
          </a:xfrm>
          <a:prstGeom prst="rect">
            <a:avLst/>
          </a:prstGeom>
          <a:noFill/>
        </p:spPr>
        <p:txBody>
          <a:bodyPr wrap="square" rtlCol="0">
            <a:spAutoFit/>
          </a:bodyPr>
          <a:lstStyle/>
          <a:p>
            <a:r>
              <a:rPr lang="tr-TR" sz="1000" noProof="1">
                <a:cs typeface="Arial" panose="020B0604020202020204" pitchFamily="34" charset="0"/>
              </a:rPr>
              <a:t>Parçalı Bulutlu</a:t>
            </a:r>
          </a:p>
        </p:txBody>
      </p:sp>
      <p:sp>
        <p:nvSpPr>
          <p:cNvPr id="85" name="Metin kutusu 84">
            <a:extLst>
              <a:ext uri="{FF2B5EF4-FFF2-40B4-BE49-F238E27FC236}">
                <a16:creationId xmlns:a16="http://schemas.microsoft.com/office/drawing/2014/main" id="{0D987DE1-AEED-4CCC-84DA-BFF86C9E71C1}"/>
              </a:ext>
            </a:extLst>
          </p:cNvPr>
          <p:cNvSpPr txBox="1"/>
          <p:nvPr/>
        </p:nvSpPr>
        <p:spPr>
          <a:xfrm>
            <a:off x="5281013" y="1996011"/>
            <a:ext cx="1699786" cy="246221"/>
          </a:xfrm>
          <a:prstGeom prst="rect">
            <a:avLst/>
          </a:prstGeom>
          <a:noFill/>
        </p:spPr>
        <p:txBody>
          <a:bodyPr wrap="square" rtlCol="0">
            <a:spAutoFit/>
          </a:bodyPr>
          <a:lstStyle/>
          <a:p>
            <a:r>
              <a:rPr lang="tr-TR" sz="1000" noProof="1">
                <a:cs typeface="Arial" panose="020B0604020202020204" pitchFamily="34" charset="0"/>
              </a:rPr>
              <a:t>Yağışlı</a:t>
            </a:r>
          </a:p>
        </p:txBody>
      </p:sp>
      <p:sp>
        <p:nvSpPr>
          <p:cNvPr id="86" name="Metin kutusu 85">
            <a:extLst>
              <a:ext uri="{FF2B5EF4-FFF2-40B4-BE49-F238E27FC236}">
                <a16:creationId xmlns:a16="http://schemas.microsoft.com/office/drawing/2014/main" id="{F9E39F11-4200-4B47-8DC3-7EEE7FE5D1C6}"/>
              </a:ext>
            </a:extLst>
          </p:cNvPr>
          <p:cNvSpPr txBox="1"/>
          <p:nvPr/>
        </p:nvSpPr>
        <p:spPr>
          <a:xfrm>
            <a:off x="5132393" y="233095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52B12"/>
                </a:solidFill>
                <a:cs typeface="Arial" panose="020B0604020202020204" pitchFamily="34" charset="0"/>
              </a:rPr>
              <a:t> </a:t>
            </a:r>
          </a:p>
        </p:txBody>
      </p:sp>
      <p:sp>
        <p:nvSpPr>
          <p:cNvPr id="87" name="Metin kutusu 86">
            <a:extLst>
              <a:ext uri="{FF2B5EF4-FFF2-40B4-BE49-F238E27FC236}">
                <a16:creationId xmlns:a16="http://schemas.microsoft.com/office/drawing/2014/main" id="{2136C211-A0AB-436D-8AF9-86AA778C7E5E}"/>
              </a:ext>
            </a:extLst>
          </p:cNvPr>
          <p:cNvSpPr txBox="1"/>
          <p:nvPr/>
        </p:nvSpPr>
        <p:spPr>
          <a:xfrm>
            <a:off x="5281013" y="2320194"/>
            <a:ext cx="1699786" cy="246221"/>
          </a:xfrm>
          <a:prstGeom prst="rect">
            <a:avLst/>
          </a:prstGeom>
          <a:noFill/>
        </p:spPr>
        <p:txBody>
          <a:bodyPr wrap="square" rtlCol="0">
            <a:spAutoFit/>
          </a:bodyPr>
          <a:lstStyle/>
          <a:p>
            <a:r>
              <a:rPr lang="tr-TR" sz="1000" noProof="1">
                <a:cs typeface="Arial" panose="020B0604020202020204" pitchFamily="34" charset="0"/>
              </a:rPr>
              <a:t>Sisli</a:t>
            </a:r>
          </a:p>
        </p:txBody>
      </p:sp>
      <mc:AlternateContent xmlns:mc="http://schemas.openxmlformats.org/markup-compatibility/2006" xmlns:a14="http://schemas.microsoft.com/office/drawing/2010/main">
        <mc:Choice Requires="a14">
          <p:sp>
            <p:nvSpPr>
              <p:cNvPr id="88" name="Metin kutusu 87">
                <a:extLst>
                  <a:ext uri="{FF2B5EF4-FFF2-40B4-BE49-F238E27FC236}">
                    <a16:creationId xmlns:a16="http://schemas.microsoft.com/office/drawing/2014/main" id="{E2CD9676-1379-42BF-94A0-C5EC4D82F18E}"/>
                  </a:ext>
                </a:extLst>
              </p:cNvPr>
              <p:cNvSpPr txBox="1"/>
              <p:nvPr/>
            </p:nvSpPr>
            <p:spPr>
              <a:xfrm>
                <a:off x="4273597" y="1709103"/>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tr-TR" sz="900" b="0" i="0" noProof="1" smtClean="0">
                          <a:solidFill>
                            <a:schemeClr val="bg1"/>
                          </a:solidFill>
                        </a:rPr>
                        <m:t>160</m:t>
                      </m:r>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solidFill>
                    <a:schemeClr val="bg1"/>
                  </a:solidFill>
                </a:endParaRPr>
              </a:p>
            </p:txBody>
          </p:sp>
        </mc:Choice>
        <mc:Fallback xmlns="">
          <p:sp>
            <p:nvSpPr>
              <p:cNvPr id="88" name="Metin kutusu 87">
                <a:extLst>
                  <a:ext uri="{FF2B5EF4-FFF2-40B4-BE49-F238E27FC236}">
                    <a16:creationId xmlns:a16="http://schemas.microsoft.com/office/drawing/2014/main" id="{E2CD9676-1379-42BF-94A0-C5EC4D82F18E}"/>
                  </a:ext>
                </a:extLst>
              </p:cNvPr>
              <p:cNvSpPr txBox="1">
                <a:spLocks noRot="1" noChangeAspect="1" noMove="1" noResize="1" noEditPoints="1" noAdjustHandles="1" noChangeArrowheads="1" noChangeShapeType="1" noTextEdit="1"/>
              </p:cNvSpPr>
              <p:nvPr/>
            </p:nvSpPr>
            <p:spPr>
              <a:xfrm>
                <a:off x="4273597" y="1709103"/>
                <a:ext cx="493877" cy="230832"/>
              </a:xfrm>
              <a:prstGeom prst="rect">
                <a:avLst/>
              </a:prstGeom>
              <a:blipFill>
                <a:blip r:embed="rId1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9" name="Metin kutusu 88">
                <a:extLst>
                  <a:ext uri="{FF2B5EF4-FFF2-40B4-BE49-F238E27FC236}">
                    <a16:creationId xmlns:a16="http://schemas.microsoft.com/office/drawing/2014/main" id="{497E6DDF-3438-4FCF-B67A-B120CCB821E3}"/>
                  </a:ext>
                </a:extLst>
              </p:cNvPr>
              <p:cNvSpPr txBox="1"/>
              <p:nvPr/>
            </p:nvSpPr>
            <p:spPr>
              <a:xfrm>
                <a:off x="3873289" y="1691650"/>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tr-TR" sz="900" b="0" i="0" noProof="1" smtClean="0">
                          <a:solidFill>
                            <a:schemeClr val="bg1"/>
                          </a:solidFill>
                        </a:rPr>
                        <m:t>50</m:t>
                      </m:r>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solidFill>
                    <a:schemeClr val="bg1"/>
                  </a:solidFill>
                </a:endParaRPr>
              </a:p>
            </p:txBody>
          </p:sp>
        </mc:Choice>
        <mc:Fallback xmlns="">
          <p:sp>
            <p:nvSpPr>
              <p:cNvPr id="89" name="Metin kutusu 88">
                <a:extLst>
                  <a:ext uri="{FF2B5EF4-FFF2-40B4-BE49-F238E27FC236}">
                    <a16:creationId xmlns:a16="http://schemas.microsoft.com/office/drawing/2014/main" id="{497E6DDF-3438-4FCF-B67A-B120CCB821E3}"/>
                  </a:ext>
                </a:extLst>
              </p:cNvPr>
              <p:cNvSpPr txBox="1">
                <a:spLocks noRot="1" noChangeAspect="1" noMove="1" noResize="1" noEditPoints="1" noAdjustHandles="1" noChangeArrowheads="1" noChangeShapeType="1" noTextEdit="1"/>
              </p:cNvSpPr>
              <p:nvPr/>
            </p:nvSpPr>
            <p:spPr>
              <a:xfrm>
                <a:off x="3873289" y="1691650"/>
                <a:ext cx="493877" cy="230832"/>
              </a:xfrm>
              <a:prstGeom prst="rect">
                <a:avLst/>
              </a:prstGeom>
              <a:blipFill>
                <a:blip r:embed="rId1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0" name="Metin kutusu 89">
                <a:extLst>
                  <a:ext uri="{FF2B5EF4-FFF2-40B4-BE49-F238E27FC236}">
                    <a16:creationId xmlns:a16="http://schemas.microsoft.com/office/drawing/2014/main" id="{47C571D1-C06A-49D6-BE72-E93FFC681D71}"/>
                  </a:ext>
                </a:extLst>
              </p:cNvPr>
              <p:cNvSpPr txBox="1"/>
              <p:nvPr/>
            </p:nvSpPr>
            <p:spPr>
              <a:xfrm>
                <a:off x="3905202" y="1948612"/>
                <a:ext cx="493877" cy="23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tr-TR" sz="900" b="0" i="0" noProof="1" smtClean="0">
                          <a:solidFill>
                            <a:schemeClr val="bg1"/>
                          </a:solidFill>
                        </a:rPr>
                        <m:t>70</m:t>
                      </m:r>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900" dirty="0">
                  <a:solidFill>
                    <a:schemeClr val="bg1"/>
                  </a:solidFill>
                </a:endParaRPr>
              </a:p>
            </p:txBody>
          </p:sp>
        </mc:Choice>
        <mc:Fallback xmlns="">
          <p:sp>
            <p:nvSpPr>
              <p:cNvPr id="90" name="Metin kutusu 89">
                <a:extLst>
                  <a:ext uri="{FF2B5EF4-FFF2-40B4-BE49-F238E27FC236}">
                    <a16:creationId xmlns:a16="http://schemas.microsoft.com/office/drawing/2014/main" id="{47C571D1-C06A-49D6-BE72-E93FFC681D71}"/>
                  </a:ext>
                </a:extLst>
              </p:cNvPr>
              <p:cNvSpPr txBox="1">
                <a:spLocks noRot="1" noChangeAspect="1" noMove="1" noResize="1" noEditPoints="1" noAdjustHandles="1" noChangeArrowheads="1" noChangeShapeType="1" noTextEdit="1"/>
              </p:cNvSpPr>
              <p:nvPr/>
            </p:nvSpPr>
            <p:spPr>
              <a:xfrm>
                <a:off x="3905202" y="1948612"/>
                <a:ext cx="493877" cy="230832"/>
              </a:xfrm>
              <a:prstGeom prst="rect">
                <a:avLst/>
              </a:prstGeom>
              <a:blipFill>
                <a:blip r:embed="rId16"/>
                <a:stretch>
                  <a:fillRect/>
                </a:stretch>
              </a:blipFill>
            </p:spPr>
            <p:txBody>
              <a:bodyPr/>
              <a:lstStyle/>
              <a:p>
                <a:r>
                  <a:rPr lang="tr-TR">
                    <a:noFill/>
                  </a:rPr>
                  <a:t> </a:t>
                </a:r>
              </a:p>
            </p:txBody>
          </p:sp>
        </mc:Fallback>
      </mc:AlternateContent>
      <p:sp>
        <p:nvSpPr>
          <p:cNvPr id="91" name="Metin kutusu 90">
            <a:extLst>
              <a:ext uri="{FF2B5EF4-FFF2-40B4-BE49-F238E27FC236}">
                <a16:creationId xmlns:a16="http://schemas.microsoft.com/office/drawing/2014/main" id="{DC6AF73A-FA0A-40DB-8DEF-C9FFC00926E9}"/>
              </a:ext>
            </a:extLst>
          </p:cNvPr>
          <p:cNvSpPr txBox="1"/>
          <p:nvPr/>
        </p:nvSpPr>
        <p:spPr>
          <a:xfrm>
            <a:off x="3542773" y="2602656"/>
            <a:ext cx="3447834" cy="1477328"/>
          </a:xfrm>
          <a:prstGeom prst="rect">
            <a:avLst/>
          </a:prstGeom>
          <a:noFill/>
        </p:spPr>
        <p:txBody>
          <a:bodyPr wrap="square" rtlCol="0">
            <a:spAutoFit/>
          </a:bodyPr>
          <a:lstStyle/>
          <a:p>
            <a:r>
              <a:rPr lang="tr-TR" sz="1000" b="1" noProof="1">
                <a:cs typeface="Arial" panose="020B0604020202020204" pitchFamily="34" charset="0"/>
              </a:rPr>
              <a:t>Sadece bu grafikteki verilenlere göre </a:t>
            </a:r>
          </a:p>
          <a:p>
            <a:endParaRPr lang="tr-TR" sz="1000" noProof="1">
              <a:cs typeface="Arial" panose="020B0604020202020204" pitchFamily="34" charset="0"/>
            </a:endParaRPr>
          </a:p>
          <a:p>
            <a:r>
              <a:rPr lang="tr-TR" sz="1000" noProof="1">
                <a:cs typeface="Arial" panose="020B0604020202020204" pitchFamily="34" charset="0"/>
              </a:rPr>
              <a:t>I. Güneşli olan il sayısı, parçalı bulutlu il sayısını tam katıdır.</a:t>
            </a:r>
          </a:p>
          <a:p>
            <a:r>
              <a:rPr lang="tr-TR" sz="1000" noProof="1">
                <a:cs typeface="Arial" panose="020B0604020202020204" pitchFamily="34" charset="0"/>
              </a:rPr>
              <a:t>II. Türkiye`de hiç kar yağışı olan il yoktur. </a:t>
            </a:r>
          </a:p>
          <a:p>
            <a:r>
              <a:rPr lang="tr-TR" sz="1000" noProof="1">
                <a:cs typeface="Arial" panose="020B0604020202020204" pitchFamily="34" charset="0"/>
              </a:rPr>
              <a:t>III. Yağışlı ve Sisli olan illerin toplamı 12 dir. </a:t>
            </a:r>
          </a:p>
          <a:p>
            <a:r>
              <a:rPr lang="tr-TR" sz="1000" noProof="1">
                <a:cs typeface="Arial" panose="020B0604020202020204" pitchFamily="34" charset="0"/>
              </a:rPr>
              <a:t>IV. Parçalı bulutlu il sayısı 4 farklı hava durumundan illerdeki </a:t>
            </a:r>
          </a:p>
          <a:p>
            <a:r>
              <a:rPr lang="tr-TR" sz="1000" noProof="1">
                <a:cs typeface="Arial" panose="020B0604020202020204" pitchFamily="34" charset="0"/>
              </a:rPr>
              <a:t>hava durumunda en fazla olan ikincidir. </a:t>
            </a:r>
          </a:p>
          <a:p>
            <a:endParaRPr lang="tr-TR" sz="1000" noProof="1">
              <a:cs typeface="Arial" panose="020B0604020202020204" pitchFamily="34" charset="0"/>
            </a:endParaRPr>
          </a:p>
          <a:p>
            <a:r>
              <a:rPr lang="tr-TR" sz="1000" b="1" noProof="1">
                <a:cs typeface="Arial" panose="020B0604020202020204" pitchFamily="34" charset="0"/>
              </a:rPr>
              <a:t>yukarıdakilerden hangileri çıkarılabilir?</a:t>
            </a:r>
          </a:p>
        </p:txBody>
      </p:sp>
      <mc:AlternateContent xmlns:mc="http://schemas.openxmlformats.org/markup-compatibility/2006" xmlns:a14="http://schemas.microsoft.com/office/drawing/2010/main">
        <mc:Choice Requires="a14">
          <p:sp>
            <p:nvSpPr>
              <p:cNvPr id="92" name="Metin kutusu 91">
                <a:extLst>
                  <a:ext uri="{FF2B5EF4-FFF2-40B4-BE49-F238E27FC236}">
                    <a16:creationId xmlns:a16="http://schemas.microsoft.com/office/drawing/2014/main" id="{FD9005AC-90B6-4BFC-BDD9-0133C44252CB}"/>
                  </a:ext>
                </a:extLst>
              </p:cNvPr>
              <p:cNvSpPr txBox="1"/>
              <p:nvPr/>
            </p:nvSpPr>
            <p:spPr>
              <a:xfrm>
                <a:off x="3537338" y="5743719"/>
                <a:ext cx="3289823" cy="3062826"/>
              </a:xfrm>
              <a:prstGeom prst="rect">
                <a:avLst/>
              </a:prstGeom>
              <a:noFill/>
            </p:spPr>
            <p:txBody>
              <a:bodyPr wrap="square" rtlCol="0">
                <a:spAutoFit/>
              </a:bodyPr>
              <a:lstStyle/>
              <a:p>
                <a:r>
                  <a:rPr lang="tr-TR" sz="1000" b="1" noProof="1">
                    <a:cs typeface="Arial" panose="020B0604020202020204" pitchFamily="34" charset="0"/>
                  </a:rPr>
                  <a:t>36 il 360 dereceye tekabül ediyorsa 1 il 10 derecedir. </a:t>
                </a:r>
              </a:p>
              <a:p>
                <a:r>
                  <a:rPr lang="tr-TR" sz="1000" b="1" noProof="1">
                    <a:cs typeface="Arial" panose="020B0604020202020204" pitchFamily="34" charset="0"/>
                  </a:rPr>
                  <a:t>1 derece ise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i="0" noProof="1" dirty="0" smtClean="0">
                            <a:latin typeface="Cambria Math" panose="02040503050406030204" pitchFamily="18" charset="0"/>
                          </a:rPr>
                          <m:t> </m:t>
                        </m:r>
                        <m:r>
                          <m:rPr>
                            <m:nor/>
                          </m:rPr>
                          <a:rPr lang="tr-TR" sz="800" i="0" noProof="1" dirty="0" smtClean="0">
                            <a:latin typeface="Helvetica" panose="020B0604020202020204" pitchFamily="34" charset="0"/>
                            <a:cs typeface="Helvetica" panose="020B0604020202020204" pitchFamily="34" charset="0"/>
                          </a:rPr>
                          <m:t>1 </m:t>
                        </m:r>
                      </m:num>
                      <m:den>
                        <m:r>
                          <m:rPr>
                            <m:nor/>
                          </m:rPr>
                          <a:rPr lang="tr-TR" sz="800" b="0" i="0" noProof="1" dirty="0" smtClean="0">
                            <a:latin typeface="Helvetica" panose="020B0604020202020204" pitchFamily="34" charset="0"/>
                            <a:cs typeface="Helvetica" panose="020B0604020202020204" pitchFamily="34" charset="0"/>
                          </a:rPr>
                          <m:t>10</m:t>
                        </m:r>
                      </m:den>
                    </m:f>
                  </m:oMath>
                </a14:m>
                <a:r>
                  <a:rPr lang="tr-TR" sz="800" noProof="1">
                    <a:cs typeface="Arial" panose="020B0604020202020204" pitchFamily="34" charset="0"/>
                  </a:rPr>
                  <a:t>  </a:t>
                </a:r>
                <a:r>
                  <a:rPr lang="tr-TR" sz="1000" b="1" noProof="1">
                    <a:cs typeface="Arial" panose="020B0604020202020204" pitchFamily="34" charset="0"/>
                  </a:rPr>
                  <a:t>il sayısına tekabül etmektedir</a:t>
                </a:r>
                <a:r>
                  <a:rPr lang="tr-TR" sz="1000" noProof="1">
                    <a:cs typeface="Arial" panose="020B0604020202020204" pitchFamily="34" charset="0"/>
                  </a:rPr>
                  <a:t>. </a:t>
                </a:r>
                <a:endParaRPr lang="tr-TR" sz="1000" b="1" noProof="1">
                  <a:cs typeface="Arial" panose="020B0604020202020204" pitchFamily="34" charset="0"/>
                </a:endParaRPr>
              </a:p>
              <a:p>
                <a:endParaRPr lang="tr-TR" sz="1000" b="1" noProof="1">
                  <a:cs typeface="Arial" panose="020B0604020202020204" pitchFamily="34" charset="0"/>
                </a:endParaRPr>
              </a:p>
              <a:p>
                <a:r>
                  <a:rPr lang="tr-TR" sz="1000" b="1" noProof="1">
                    <a:cs typeface="Arial" panose="020B0604020202020204" pitchFamily="34" charset="0"/>
                  </a:rPr>
                  <a:t>I. </a:t>
                </a:r>
                <a:r>
                  <a:rPr lang="tr-TR" sz="1000" noProof="1">
                    <a:cs typeface="Arial" panose="020B0604020202020204" pitchFamily="34" charset="0"/>
                  </a:rPr>
                  <a:t>Merkez açıları toplayalım tam açı 360`a eşitleyelim. </a:t>
                </a:r>
              </a:p>
              <a:p>
                <a:r>
                  <a:rPr lang="tr-TR" sz="1000" noProof="1">
                    <a:cs typeface="Arial" panose="020B0604020202020204" pitchFamily="34" charset="0"/>
                  </a:rPr>
                  <a:t>Parçalı bulutlu merkez açı 80 dir. Yani parçalı bulutlu il sayısı 8 tanedir, güneşli il sayısı ise 16 dır. Güneşli il sayısının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i="0" noProof="1" dirty="0" smtClean="0">
                            <a:latin typeface="Cambria Math" panose="02040503050406030204" pitchFamily="18" charset="0"/>
                          </a:rPr>
                          <m:t> </m:t>
                        </m:r>
                        <m:r>
                          <m:rPr>
                            <m:nor/>
                          </m:rPr>
                          <a:rPr lang="tr-TR" sz="800" i="0" noProof="1" dirty="0" smtClean="0">
                            <a:latin typeface="Helvetica" panose="020B0604020202020204" pitchFamily="34" charset="0"/>
                            <a:cs typeface="Helvetica" panose="020B0604020202020204" pitchFamily="34" charset="0"/>
                          </a:rPr>
                          <m:t>1 </m:t>
                        </m:r>
                      </m:num>
                      <m:den>
                        <m:r>
                          <m:rPr>
                            <m:nor/>
                          </m:rPr>
                          <a:rPr lang="tr-TR" sz="800" i="0" noProof="1" dirty="0" smtClean="0">
                            <a:latin typeface="Helvetica" panose="020B0604020202020204" pitchFamily="34" charset="0"/>
                            <a:cs typeface="Helvetica" panose="020B0604020202020204" pitchFamily="34" charset="0"/>
                          </a:rPr>
                          <m:t>2</m:t>
                        </m:r>
                      </m:den>
                    </m:f>
                  </m:oMath>
                </a14:m>
                <a:r>
                  <a:rPr lang="tr-TR" sz="800" noProof="1">
                    <a:cs typeface="Arial" panose="020B0604020202020204" pitchFamily="34" charset="0"/>
                  </a:rPr>
                  <a:t> </a:t>
                </a:r>
                <a:r>
                  <a:rPr lang="tr-TR" sz="1000" noProof="1">
                    <a:cs typeface="Arial" panose="020B0604020202020204" pitchFamily="34" charset="0"/>
                  </a:rPr>
                  <a:t>katıdır ve tam bir katı değildir. </a:t>
                </a:r>
              </a:p>
              <a:p>
                <a:endParaRPr lang="tr-TR" sz="1000" noProof="1">
                  <a:cs typeface="Arial" panose="020B0604020202020204" pitchFamily="34" charset="0"/>
                </a:endParaRPr>
              </a:p>
              <a:p>
                <a:r>
                  <a:rPr lang="tr-TR" sz="1000" b="1" noProof="1">
                    <a:cs typeface="Arial" panose="020B0604020202020204" pitchFamily="34" charset="0"/>
                  </a:rPr>
                  <a:t>II.  </a:t>
                </a:r>
                <a:r>
                  <a:rPr lang="tr-TR" sz="1000" noProof="1">
                    <a:cs typeface="Arial" panose="020B0604020202020204" pitchFamily="34" charset="0"/>
                  </a:rPr>
                  <a:t>Türkiye`nin sadece 36 ili deniliyor yani bu cümleden başka illerinin olduğu da çıkarılabilir ve bu grafikle diğer illerde kar yağışı olup olmadığı yorumlanamaz.</a:t>
                </a:r>
              </a:p>
              <a:p>
                <a:endParaRPr lang="tr-TR" sz="1000" noProof="1">
                  <a:cs typeface="Arial" panose="020B0604020202020204" pitchFamily="34" charset="0"/>
                </a:endParaRPr>
              </a:p>
              <a:p>
                <a:r>
                  <a:rPr lang="tr-TR" sz="1000" noProof="1">
                    <a:cs typeface="Arial" panose="020B0604020202020204" pitchFamily="34" charset="0"/>
                  </a:rPr>
                  <a:t>III. Yağışlı ve sisli olan illerin merkez açıları toplamı 120,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i="0" noProof="1" dirty="0" smtClean="0">
                            <a:latin typeface="Cambria Math" panose="02040503050406030204" pitchFamily="18" charset="0"/>
                          </a:rPr>
                          <m:t> </m:t>
                        </m:r>
                        <m:r>
                          <m:rPr>
                            <m:nor/>
                          </m:rPr>
                          <a:rPr lang="tr-TR" sz="800" i="0" noProof="1" dirty="0" smtClean="0">
                            <a:latin typeface="Helvetica" panose="020B0604020202020204" pitchFamily="34" charset="0"/>
                            <a:cs typeface="Helvetica" panose="020B0604020202020204" pitchFamily="34" charset="0"/>
                          </a:rPr>
                          <m:t>1 </m:t>
                        </m:r>
                      </m:num>
                      <m:den>
                        <m:r>
                          <m:rPr>
                            <m:nor/>
                          </m:rPr>
                          <a:rPr lang="tr-TR" sz="800" b="0" i="0" noProof="1" dirty="0" smtClean="0">
                            <a:latin typeface="Helvetica" panose="020B0604020202020204" pitchFamily="34" charset="0"/>
                            <a:cs typeface="Helvetica" panose="020B0604020202020204" pitchFamily="34" charset="0"/>
                          </a:rPr>
                          <m:t>10</m:t>
                        </m:r>
                      </m:den>
                    </m:f>
                  </m:oMath>
                </a14:m>
                <a:r>
                  <a:rPr lang="tr-TR" sz="800" noProof="1">
                    <a:cs typeface="Arial" panose="020B0604020202020204" pitchFamily="34" charset="0"/>
                  </a:rPr>
                  <a:t> ile</a:t>
                </a:r>
              </a:p>
              <a:p>
                <a:r>
                  <a:rPr lang="tr-TR" sz="1000" noProof="1">
                    <a:cs typeface="Arial" panose="020B0604020202020204" pitchFamily="34" charset="0"/>
                  </a:rPr>
                  <a:t>çarpıldığında</a:t>
                </a:r>
                <a:r>
                  <a:rPr lang="tr-TR" sz="800" noProof="1">
                    <a:cs typeface="Arial" panose="020B0604020202020204" pitchFamily="34" charset="0"/>
                  </a:rPr>
                  <a:t> </a:t>
                </a:r>
                <a:r>
                  <a:rPr lang="tr-TR" sz="1000" noProof="1">
                    <a:cs typeface="Arial" panose="020B0604020202020204" pitchFamily="34" charset="0"/>
                  </a:rPr>
                  <a:t>12 ilin olduğunu söyleyebiliriz.</a:t>
                </a:r>
              </a:p>
              <a:p>
                <a:endParaRPr lang="tr-TR" sz="1000" noProof="1">
                  <a:cs typeface="Arial" panose="020B0604020202020204" pitchFamily="34" charset="0"/>
                </a:endParaRPr>
              </a:p>
              <a:p>
                <a:r>
                  <a:rPr lang="tr-TR" sz="1000" noProof="1">
                    <a:cs typeface="Arial" panose="020B0604020202020204" pitchFamily="34" charset="0"/>
                  </a:rPr>
                  <a:t>IV. Parçalı bulutlu ilin merkez açısı 80 ve merkez açıyla sayı doğru orantılı yani en büyük ikinci merkez açıya sahip olduğundan sayı olarakta ikinci konumdadır.</a:t>
                </a:r>
              </a:p>
            </p:txBody>
          </p:sp>
        </mc:Choice>
        <mc:Fallback xmlns="">
          <p:sp>
            <p:nvSpPr>
              <p:cNvPr id="92" name="Metin kutusu 91">
                <a:extLst>
                  <a:ext uri="{FF2B5EF4-FFF2-40B4-BE49-F238E27FC236}">
                    <a16:creationId xmlns:a16="http://schemas.microsoft.com/office/drawing/2014/main" id="{FD9005AC-90B6-4BFC-BDD9-0133C44252CB}"/>
                  </a:ext>
                </a:extLst>
              </p:cNvPr>
              <p:cNvSpPr txBox="1">
                <a:spLocks noRot="1" noChangeAspect="1" noMove="1" noResize="1" noEditPoints="1" noAdjustHandles="1" noChangeArrowheads="1" noChangeShapeType="1" noTextEdit="1"/>
              </p:cNvSpPr>
              <p:nvPr/>
            </p:nvSpPr>
            <p:spPr>
              <a:xfrm>
                <a:off x="3537338" y="5743719"/>
                <a:ext cx="3289823" cy="3062826"/>
              </a:xfrm>
              <a:prstGeom prst="rect">
                <a:avLst/>
              </a:prstGeom>
              <a:blipFill>
                <a:blip r:embed="rId17"/>
                <a:stretch>
                  <a:fillRect/>
                </a:stretch>
              </a:blipFill>
            </p:spPr>
            <p:txBody>
              <a:bodyPr/>
              <a:lstStyle/>
              <a:p>
                <a:r>
                  <a:rPr lang="tr-TR">
                    <a:noFill/>
                  </a:rPr>
                  <a:t> </a:t>
                </a:r>
              </a:p>
            </p:txBody>
          </p:sp>
        </mc:Fallback>
      </mc:AlternateContent>
      <p:sp>
        <p:nvSpPr>
          <p:cNvPr id="94" name="Kaydırma: Yatay 93">
            <a:extLst>
              <a:ext uri="{FF2B5EF4-FFF2-40B4-BE49-F238E27FC236}">
                <a16:creationId xmlns:a16="http://schemas.microsoft.com/office/drawing/2014/main" id="{C0059459-E884-477F-BA05-195F8E55A6C0}"/>
              </a:ext>
            </a:extLst>
          </p:cNvPr>
          <p:cNvSpPr/>
          <p:nvPr/>
        </p:nvSpPr>
        <p:spPr>
          <a:xfrm>
            <a:off x="4384783" y="432862"/>
            <a:ext cx="2420151" cy="369892"/>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5" name="Metin kutusu 94">
            <a:extLst>
              <a:ext uri="{FF2B5EF4-FFF2-40B4-BE49-F238E27FC236}">
                <a16:creationId xmlns:a16="http://schemas.microsoft.com/office/drawing/2014/main" id="{36F9A504-D6E8-407A-AFFB-080D6D4EE735}"/>
              </a:ext>
            </a:extLst>
          </p:cNvPr>
          <p:cNvSpPr txBox="1"/>
          <p:nvPr/>
        </p:nvSpPr>
        <p:spPr>
          <a:xfrm>
            <a:off x="4384781" y="459875"/>
            <a:ext cx="2438952" cy="307777"/>
          </a:xfrm>
          <a:prstGeom prst="rect">
            <a:avLst/>
          </a:prstGeom>
          <a:noFill/>
        </p:spPr>
        <p:txBody>
          <a:bodyPr wrap="square">
            <a:spAutoFit/>
          </a:bodyPr>
          <a:lstStyle/>
          <a:p>
            <a:r>
              <a:rPr lang="tr-TR" sz="700" i="0" noProof="1">
                <a:solidFill>
                  <a:schemeClr val="bg1"/>
                </a:solidFill>
                <a:effectLst/>
                <a:latin typeface="Arial Narrow" panose="020B0606020202030204" pitchFamily="34" charset="0"/>
              </a:rPr>
              <a:t>“ Hayattaki başarınız akademiyle doğru orantılı olmayabilir. Girişiminiz ve vizyonunuz daima güncel olmalıdır. ”  - Ahmet ÇELEN</a:t>
            </a:r>
            <a:endParaRPr lang="tr-TR" sz="700" noProof="1">
              <a:solidFill>
                <a:schemeClr val="bg1"/>
              </a:solidFill>
              <a:latin typeface="Arial Narrow" panose="020B0606020202030204" pitchFamily="34" charset="0"/>
            </a:endParaRPr>
          </a:p>
        </p:txBody>
      </p:sp>
    </p:spTree>
    <p:extLst>
      <p:ext uri="{BB962C8B-B14F-4D97-AF65-F5344CB8AC3E}">
        <p14:creationId xmlns:p14="http://schemas.microsoft.com/office/powerpoint/2010/main" val="40647218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9692" y="5175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23737" y="421366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60005" y="256760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801686" y="258615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10411" y="256760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12708" y="45601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10411" y="58681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6.</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71905" y="257575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8.</a:t>
            </a:r>
          </a:p>
        </p:txBody>
      </p:sp>
      <p:sp>
        <p:nvSpPr>
          <p:cNvPr id="51" name="Metin kutusu 50">
            <a:extLst>
              <a:ext uri="{FF2B5EF4-FFF2-40B4-BE49-F238E27FC236}">
                <a16:creationId xmlns:a16="http://schemas.microsoft.com/office/drawing/2014/main" id="{65CCB657-89A8-41EA-BADC-E231C441200B}"/>
              </a:ext>
            </a:extLst>
          </p:cNvPr>
          <p:cNvSpPr txBox="1"/>
          <p:nvPr/>
        </p:nvSpPr>
        <p:spPr>
          <a:xfrm>
            <a:off x="758242" y="445180"/>
            <a:ext cx="2564553" cy="400110"/>
          </a:xfrm>
          <a:prstGeom prst="rect">
            <a:avLst/>
          </a:prstGeom>
          <a:noFill/>
        </p:spPr>
        <p:txBody>
          <a:bodyPr wrap="square" rtlCol="0">
            <a:spAutoFit/>
          </a:bodyPr>
          <a:lstStyle/>
          <a:p>
            <a:r>
              <a:rPr lang="tr-TR" sz="1000" b="1" noProof="1">
                <a:cs typeface="Arial" panose="020B0604020202020204" pitchFamily="34" charset="0"/>
              </a:rPr>
              <a:t>Aşağıda bir topluluğun eğitim durumu dairesel grafikle gösterilmiştir.</a:t>
            </a:r>
          </a:p>
        </p:txBody>
      </p:sp>
      <p:sp>
        <p:nvSpPr>
          <p:cNvPr id="57" name="Dikdörtgen 56">
            <a:extLst>
              <a:ext uri="{FF2B5EF4-FFF2-40B4-BE49-F238E27FC236}">
                <a16:creationId xmlns:a16="http://schemas.microsoft.com/office/drawing/2014/main" id="{A831DD14-FA8D-4928-80E3-36504C2CEFB8}"/>
              </a:ext>
            </a:extLst>
          </p:cNvPr>
          <p:cNvSpPr/>
          <p:nvPr/>
        </p:nvSpPr>
        <p:spPr>
          <a:xfrm>
            <a:off x="1400374" y="865998"/>
            <a:ext cx="1527904" cy="1284585"/>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9ED6ADF9-58AE-4039-927C-C9F180F09759}"/>
              </a:ext>
            </a:extLst>
          </p:cNvPr>
          <p:cNvSpPr txBox="1"/>
          <p:nvPr/>
        </p:nvSpPr>
        <p:spPr>
          <a:xfrm>
            <a:off x="1347803" y="88436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AE770"/>
                </a:solidFill>
                <a:cs typeface="Arial" panose="020B0604020202020204" pitchFamily="34" charset="0"/>
              </a:rPr>
              <a:t> </a:t>
            </a:r>
          </a:p>
        </p:txBody>
      </p:sp>
      <p:sp>
        <p:nvSpPr>
          <p:cNvPr id="60" name="Metin kutusu 59">
            <a:extLst>
              <a:ext uri="{FF2B5EF4-FFF2-40B4-BE49-F238E27FC236}">
                <a16:creationId xmlns:a16="http://schemas.microsoft.com/office/drawing/2014/main" id="{16C5BB44-B9B3-4689-B0E6-97F78D5E09ED}"/>
              </a:ext>
            </a:extLst>
          </p:cNvPr>
          <p:cNvSpPr txBox="1"/>
          <p:nvPr/>
        </p:nvSpPr>
        <p:spPr>
          <a:xfrm>
            <a:off x="1339451" y="1233514"/>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72B854"/>
                </a:solidFill>
                <a:cs typeface="Arial" panose="020B0604020202020204" pitchFamily="34" charset="0"/>
              </a:rPr>
              <a:t> </a:t>
            </a:r>
          </a:p>
        </p:txBody>
      </p:sp>
      <p:sp>
        <p:nvSpPr>
          <p:cNvPr id="62" name="Metin kutusu 61">
            <a:extLst>
              <a:ext uri="{FF2B5EF4-FFF2-40B4-BE49-F238E27FC236}">
                <a16:creationId xmlns:a16="http://schemas.microsoft.com/office/drawing/2014/main" id="{B2E89849-52E2-4D97-8189-5D536CDC606F}"/>
              </a:ext>
            </a:extLst>
          </p:cNvPr>
          <p:cNvSpPr txBox="1"/>
          <p:nvPr/>
        </p:nvSpPr>
        <p:spPr>
          <a:xfrm>
            <a:off x="1333480" y="1594220"/>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00AAD1"/>
                </a:solidFill>
                <a:cs typeface="Arial" panose="020B0604020202020204" pitchFamily="34" charset="0"/>
              </a:rPr>
              <a:t> </a:t>
            </a:r>
          </a:p>
        </p:txBody>
      </p:sp>
      <p:sp>
        <p:nvSpPr>
          <p:cNvPr id="66" name="Metin kutusu 65">
            <a:extLst>
              <a:ext uri="{FF2B5EF4-FFF2-40B4-BE49-F238E27FC236}">
                <a16:creationId xmlns:a16="http://schemas.microsoft.com/office/drawing/2014/main" id="{61CA5F5D-50C1-4451-8280-CC9333737353}"/>
              </a:ext>
            </a:extLst>
          </p:cNvPr>
          <p:cNvSpPr txBox="1"/>
          <p:nvPr/>
        </p:nvSpPr>
        <p:spPr>
          <a:xfrm>
            <a:off x="1492124" y="872869"/>
            <a:ext cx="1699786" cy="246221"/>
          </a:xfrm>
          <a:prstGeom prst="rect">
            <a:avLst/>
          </a:prstGeom>
          <a:noFill/>
        </p:spPr>
        <p:txBody>
          <a:bodyPr wrap="square" rtlCol="0">
            <a:spAutoFit/>
          </a:bodyPr>
          <a:lstStyle/>
          <a:p>
            <a:r>
              <a:rPr lang="tr-TR" sz="1000" noProof="1">
                <a:cs typeface="Arial" panose="020B0604020202020204" pitchFamily="34" charset="0"/>
              </a:rPr>
              <a:t>Lise Mezunu</a:t>
            </a:r>
          </a:p>
        </p:txBody>
      </p:sp>
      <p:sp>
        <p:nvSpPr>
          <p:cNvPr id="67" name="Metin kutusu 66">
            <a:extLst>
              <a:ext uri="{FF2B5EF4-FFF2-40B4-BE49-F238E27FC236}">
                <a16:creationId xmlns:a16="http://schemas.microsoft.com/office/drawing/2014/main" id="{54CB15A8-1AC5-4DD6-A5CB-EDBFFCEA6C12}"/>
              </a:ext>
            </a:extLst>
          </p:cNvPr>
          <p:cNvSpPr txBox="1"/>
          <p:nvPr/>
        </p:nvSpPr>
        <p:spPr>
          <a:xfrm>
            <a:off x="1482100" y="1218423"/>
            <a:ext cx="1446178" cy="246221"/>
          </a:xfrm>
          <a:prstGeom prst="rect">
            <a:avLst/>
          </a:prstGeom>
          <a:noFill/>
        </p:spPr>
        <p:txBody>
          <a:bodyPr wrap="square" rtlCol="0">
            <a:spAutoFit/>
          </a:bodyPr>
          <a:lstStyle/>
          <a:p>
            <a:r>
              <a:rPr lang="tr-TR" sz="1000" noProof="1">
                <a:cs typeface="Arial" panose="020B0604020202020204" pitchFamily="34" charset="0"/>
              </a:rPr>
              <a:t>Ön lisans Mezunu</a:t>
            </a:r>
          </a:p>
        </p:txBody>
      </p:sp>
      <p:sp>
        <p:nvSpPr>
          <p:cNvPr id="68" name="Metin kutusu 67">
            <a:extLst>
              <a:ext uri="{FF2B5EF4-FFF2-40B4-BE49-F238E27FC236}">
                <a16:creationId xmlns:a16="http://schemas.microsoft.com/office/drawing/2014/main" id="{D6EA87C1-CA92-4104-9140-B9B225D18371}"/>
              </a:ext>
            </a:extLst>
          </p:cNvPr>
          <p:cNvSpPr txBox="1"/>
          <p:nvPr/>
        </p:nvSpPr>
        <p:spPr>
          <a:xfrm>
            <a:off x="1477011" y="1585617"/>
            <a:ext cx="1699786" cy="246221"/>
          </a:xfrm>
          <a:prstGeom prst="rect">
            <a:avLst/>
          </a:prstGeom>
          <a:noFill/>
        </p:spPr>
        <p:txBody>
          <a:bodyPr wrap="square" rtlCol="0">
            <a:spAutoFit/>
          </a:bodyPr>
          <a:lstStyle/>
          <a:p>
            <a:r>
              <a:rPr lang="tr-TR" sz="1000" noProof="1">
                <a:cs typeface="Arial" panose="020B0604020202020204" pitchFamily="34" charset="0"/>
              </a:rPr>
              <a:t>Doktora</a:t>
            </a:r>
          </a:p>
        </p:txBody>
      </p:sp>
      <p:sp>
        <p:nvSpPr>
          <p:cNvPr id="69" name="Metin kutusu 68">
            <a:extLst>
              <a:ext uri="{FF2B5EF4-FFF2-40B4-BE49-F238E27FC236}">
                <a16:creationId xmlns:a16="http://schemas.microsoft.com/office/drawing/2014/main" id="{00434810-D921-47C3-9B97-9600F2FDE56E}"/>
              </a:ext>
            </a:extLst>
          </p:cNvPr>
          <p:cNvSpPr txBox="1"/>
          <p:nvPr/>
        </p:nvSpPr>
        <p:spPr>
          <a:xfrm>
            <a:off x="1335351" y="1877928"/>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B5C6C"/>
                </a:solidFill>
                <a:cs typeface="Arial" panose="020B0604020202020204" pitchFamily="34" charset="0"/>
              </a:rPr>
              <a:t> </a:t>
            </a:r>
          </a:p>
        </p:txBody>
      </p:sp>
      <p:sp>
        <p:nvSpPr>
          <p:cNvPr id="70" name="Metin kutusu 69">
            <a:extLst>
              <a:ext uri="{FF2B5EF4-FFF2-40B4-BE49-F238E27FC236}">
                <a16:creationId xmlns:a16="http://schemas.microsoft.com/office/drawing/2014/main" id="{4EA0E1AF-6D45-4D44-8ABA-86C13AE93441}"/>
              </a:ext>
            </a:extLst>
          </p:cNvPr>
          <p:cNvSpPr txBox="1"/>
          <p:nvPr/>
        </p:nvSpPr>
        <p:spPr>
          <a:xfrm>
            <a:off x="1492124" y="1875924"/>
            <a:ext cx="1699786" cy="246221"/>
          </a:xfrm>
          <a:prstGeom prst="rect">
            <a:avLst/>
          </a:prstGeom>
          <a:noFill/>
        </p:spPr>
        <p:txBody>
          <a:bodyPr wrap="square" rtlCol="0">
            <a:spAutoFit/>
          </a:bodyPr>
          <a:lstStyle/>
          <a:p>
            <a:r>
              <a:rPr lang="tr-TR" sz="1000" noProof="1">
                <a:cs typeface="Arial" panose="020B0604020202020204" pitchFamily="34" charset="0"/>
              </a:rPr>
              <a:t>Lisans Mezunu</a:t>
            </a:r>
          </a:p>
        </p:txBody>
      </p:sp>
      <p:pic>
        <p:nvPicPr>
          <p:cNvPr id="9" name="Grafik 8">
            <a:extLst>
              <a:ext uri="{FF2B5EF4-FFF2-40B4-BE49-F238E27FC236}">
                <a16:creationId xmlns:a16="http://schemas.microsoft.com/office/drawing/2014/main" id="{510D7BA0-1F62-4E6A-B6FE-B6DAF1D16F5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080" y="865998"/>
            <a:ext cx="1284585" cy="1284585"/>
          </a:xfrm>
          <a:prstGeom prst="rect">
            <a:avLst/>
          </a:prstGeom>
        </p:spPr>
      </p:pic>
      <mc:AlternateContent xmlns:mc="http://schemas.openxmlformats.org/markup-compatibility/2006" xmlns:a14="http://schemas.microsoft.com/office/drawing/2010/main">
        <mc:Choice Requires="a14">
          <p:sp>
            <p:nvSpPr>
              <p:cNvPr id="71" name="Metin kutusu 70">
                <a:extLst>
                  <a:ext uri="{FF2B5EF4-FFF2-40B4-BE49-F238E27FC236}">
                    <a16:creationId xmlns:a16="http://schemas.microsoft.com/office/drawing/2014/main" id="{1866104D-C78C-48BD-8CF3-1E579E8DFCC9}"/>
                  </a:ext>
                </a:extLst>
              </p:cNvPr>
              <p:cNvSpPr txBox="1"/>
              <p:nvPr/>
            </p:nvSpPr>
            <p:spPr>
              <a:xfrm>
                <a:off x="573616" y="1241208"/>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109</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71" name="Metin kutusu 70">
                <a:extLst>
                  <a:ext uri="{FF2B5EF4-FFF2-40B4-BE49-F238E27FC236}">
                    <a16:creationId xmlns:a16="http://schemas.microsoft.com/office/drawing/2014/main" id="{1866104D-C78C-48BD-8CF3-1E579E8DFCC9}"/>
                  </a:ext>
                </a:extLst>
              </p:cNvPr>
              <p:cNvSpPr txBox="1">
                <a:spLocks noRot="1" noChangeAspect="1" noMove="1" noResize="1" noEditPoints="1" noAdjustHandles="1" noChangeArrowheads="1" noChangeShapeType="1" noTextEdit="1"/>
              </p:cNvSpPr>
              <p:nvPr/>
            </p:nvSpPr>
            <p:spPr>
              <a:xfrm>
                <a:off x="573616" y="1241208"/>
                <a:ext cx="493877" cy="230832"/>
              </a:xfrm>
              <a:prstGeom prst="rect">
                <a:avLst/>
              </a:prstGeom>
              <a:blipFill>
                <a:blip r:embed="rId8"/>
                <a:stretch>
                  <a:fillRect b="-1351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2" name="Metin kutusu 71">
                <a:extLst>
                  <a:ext uri="{FF2B5EF4-FFF2-40B4-BE49-F238E27FC236}">
                    <a16:creationId xmlns:a16="http://schemas.microsoft.com/office/drawing/2014/main" id="{010F95C2-F5F7-4D1B-9745-11275F7610A9}"/>
                  </a:ext>
                </a:extLst>
              </p:cNvPr>
              <p:cNvSpPr txBox="1"/>
              <p:nvPr/>
            </p:nvSpPr>
            <p:spPr>
              <a:xfrm>
                <a:off x="729086" y="1420646"/>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79</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72" name="Metin kutusu 71">
                <a:extLst>
                  <a:ext uri="{FF2B5EF4-FFF2-40B4-BE49-F238E27FC236}">
                    <a16:creationId xmlns:a16="http://schemas.microsoft.com/office/drawing/2014/main" id="{010F95C2-F5F7-4D1B-9745-11275F7610A9}"/>
                  </a:ext>
                </a:extLst>
              </p:cNvPr>
              <p:cNvSpPr txBox="1">
                <a:spLocks noRot="1" noChangeAspect="1" noMove="1" noResize="1" noEditPoints="1" noAdjustHandles="1" noChangeArrowheads="1" noChangeShapeType="1" noTextEdit="1"/>
              </p:cNvSpPr>
              <p:nvPr/>
            </p:nvSpPr>
            <p:spPr>
              <a:xfrm>
                <a:off x="729086" y="1420646"/>
                <a:ext cx="493877" cy="230832"/>
              </a:xfrm>
              <a:prstGeom prst="rect">
                <a:avLst/>
              </a:prstGeom>
              <a:blipFill>
                <a:blip r:embed="rId9"/>
                <a:stretch>
                  <a:fillRect b="-131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3" name="Metin kutusu 72">
                <a:extLst>
                  <a:ext uri="{FF2B5EF4-FFF2-40B4-BE49-F238E27FC236}">
                    <a16:creationId xmlns:a16="http://schemas.microsoft.com/office/drawing/2014/main" id="{85D9157E-E8A9-4637-9D19-BBDC37EB6F25}"/>
                  </a:ext>
                </a:extLst>
              </p:cNvPr>
              <p:cNvSpPr txBox="1"/>
              <p:nvPr/>
            </p:nvSpPr>
            <p:spPr>
              <a:xfrm>
                <a:off x="581715" y="1559620"/>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32</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73" name="Metin kutusu 72">
                <a:extLst>
                  <a:ext uri="{FF2B5EF4-FFF2-40B4-BE49-F238E27FC236}">
                    <a16:creationId xmlns:a16="http://schemas.microsoft.com/office/drawing/2014/main" id="{85D9157E-E8A9-4637-9D19-BBDC37EB6F25}"/>
                  </a:ext>
                </a:extLst>
              </p:cNvPr>
              <p:cNvSpPr txBox="1">
                <a:spLocks noRot="1" noChangeAspect="1" noMove="1" noResize="1" noEditPoints="1" noAdjustHandles="1" noChangeArrowheads="1" noChangeShapeType="1" noTextEdit="1"/>
              </p:cNvSpPr>
              <p:nvPr/>
            </p:nvSpPr>
            <p:spPr>
              <a:xfrm>
                <a:off x="581715" y="1559620"/>
                <a:ext cx="493877" cy="230832"/>
              </a:xfrm>
              <a:prstGeom prst="rect">
                <a:avLst/>
              </a:prstGeom>
              <a:blipFill>
                <a:blip r:embed="rId10"/>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5" name="Metin kutusu 74">
                <a:extLst>
                  <a:ext uri="{FF2B5EF4-FFF2-40B4-BE49-F238E27FC236}">
                    <a16:creationId xmlns:a16="http://schemas.microsoft.com/office/drawing/2014/main" id="{0B4411C3-0C8D-4AD3-8416-792CF44075EE}"/>
                  </a:ext>
                </a:extLst>
              </p:cNvPr>
              <p:cNvSpPr txBox="1"/>
              <p:nvPr/>
            </p:nvSpPr>
            <p:spPr>
              <a:xfrm>
                <a:off x="44624" y="4517253"/>
                <a:ext cx="3340877" cy="1785104"/>
              </a:xfrm>
              <a:prstGeom prst="rect">
                <a:avLst/>
              </a:prstGeom>
              <a:noFill/>
            </p:spPr>
            <p:txBody>
              <a:bodyPr wrap="square" rtlCol="0">
                <a:spAutoFit/>
              </a:bodyPr>
              <a:lstStyle/>
              <a:p>
                <a:r>
                  <a:rPr lang="tr-TR" sz="1000" b="1" noProof="1">
                    <a:cs typeface="Arial" panose="020B0604020202020204" pitchFamily="34" charset="0"/>
                  </a:rPr>
                  <a:t>Merkez açıların doğru orantılı olduğunu söylemiştirk. Lise </a:t>
                </a:r>
                <a:br>
                  <a:rPr lang="tr-TR" sz="1000" b="1" noProof="1">
                    <a:cs typeface="Arial" panose="020B0604020202020204" pitchFamily="34" charset="0"/>
                  </a:rPr>
                </a:br>
                <a:r>
                  <a:rPr lang="tr-TR" sz="1000" b="1" noProof="1">
                    <a:cs typeface="Arial" panose="020B0604020202020204" pitchFamily="34" charset="0"/>
                  </a:rPr>
                  <a:t>ve ön lisansın merkez açı farkı 109-79 = 30 dur. </a:t>
                </a:r>
              </a:p>
              <a:p>
                <a:endParaRPr lang="tr-TR" sz="1000" b="1" noProof="1">
                  <a:cs typeface="Arial" panose="020B0604020202020204" pitchFamily="34" charset="0"/>
                </a:endParaRPr>
              </a:p>
              <a:p>
                <a:r>
                  <a:rPr lang="tr-TR" sz="1000" noProof="1">
                    <a:cs typeface="Arial" panose="020B0604020202020204" pitchFamily="34" charset="0"/>
                  </a:rPr>
                  <a:t>30 Derecelik açı 240 kişiye tekabül ediyorsa </a:t>
                </a:r>
              </a:p>
              <a:p>
                <a:r>
                  <a:rPr lang="tr-TR" sz="1000" noProof="1">
                    <a:cs typeface="Arial" panose="020B0604020202020204" pitchFamily="34" charset="0"/>
                  </a:rPr>
                  <a:t>  1 derecelik açı 8 kişiye tekabül edecektir. </a:t>
                </a:r>
              </a:p>
              <a:p>
                <a:endParaRPr lang="tr-TR" sz="1000" noProof="1">
                  <a:cs typeface="Arial" panose="020B0604020202020204" pitchFamily="34" charset="0"/>
                </a:endParaRPr>
              </a:p>
              <a:p>
                <a:r>
                  <a:rPr lang="tr-TR" sz="1000" noProof="1">
                    <a:cs typeface="Arial" panose="020B0604020202020204" pitchFamily="34" charset="0"/>
                  </a:rPr>
                  <a:t>Lisans mezunu da doktora arasındaki farka bakalım. Fakat lisansın merkez açısı bilinmemektedir. 360 a eşitlediğimizde 140 olduğunu görebiliyoruz. Aradaki derece farkına bakalım ve 8 ile çarpalım çünkü her 1 derecelik açı 8 kişiye tekabül etmektedir. (</a:t>
                </a:r>
                <a:r>
                  <a:rPr lang="tr-TR" sz="1000" b="1" noProof="1">
                    <a:cs typeface="Arial" panose="020B0604020202020204" pitchFamily="34" charset="0"/>
                  </a:rPr>
                  <a:t>140-32</a:t>
                </a:r>
                <a:r>
                  <a:rPr lang="tr-TR" sz="1000" noProof="1">
                    <a:cs typeface="Arial" panose="020B0604020202020204" pitchFamily="34" charset="0"/>
                  </a:rPr>
                  <a:t>)</a:t>
                </a:r>
                <a:r>
                  <a:rPr lang="tr-TR" sz="1000" b="1" noProof="1">
                    <a:cs typeface="Arial" panose="020B0604020202020204" pitchFamily="34" charset="0"/>
                  </a:rPr>
                  <a:t> </a:t>
                </a:r>
                <a14:m>
                  <m:oMath xmlns:m="http://schemas.openxmlformats.org/officeDocument/2006/math">
                    <m:r>
                      <a:rPr lang="tr-TR" sz="1000" b="1" i="0"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cs typeface="Arial" panose="020B0604020202020204" pitchFamily="34" charset="0"/>
                  </a:rPr>
                  <a:t> 8 = 864 kişi fark vardır.</a:t>
                </a:r>
              </a:p>
            </p:txBody>
          </p:sp>
        </mc:Choice>
        <mc:Fallback xmlns="">
          <p:sp>
            <p:nvSpPr>
              <p:cNvPr id="75" name="Metin kutusu 74">
                <a:extLst>
                  <a:ext uri="{FF2B5EF4-FFF2-40B4-BE49-F238E27FC236}">
                    <a16:creationId xmlns:a16="http://schemas.microsoft.com/office/drawing/2014/main" id="{0B4411C3-0C8D-4AD3-8416-792CF44075EE}"/>
                  </a:ext>
                </a:extLst>
              </p:cNvPr>
              <p:cNvSpPr txBox="1">
                <a:spLocks noRot="1" noChangeAspect="1" noMove="1" noResize="1" noEditPoints="1" noAdjustHandles="1" noChangeArrowheads="1" noChangeShapeType="1" noTextEdit="1"/>
              </p:cNvSpPr>
              <p:nvPr/>
            </p:nvSpPr>
            <p:spPr>
              <a:xfrm>
                <a:off x="44624" y="4517253"/>
                <a:ext cx="3340877" cy="1785104"/>
              </a:xfrm>
              <a:prstGeom prst="rect">
                <a:avLst/>
              </a:prstGeom>
              <a:blipFill>
                <a:blip r:embed="rId11"/>
                <a:stretch>
                  <a:fillRect b="-1365"/>
                </a:stretch>
              </a:blipFill>
            </p:spPr>
            <p:txBody>
              <a:bodyPr/>
              <a:lstStyle/>
              <a:p>
                <a:r>
                  <a:rPr lang="tr-TR">
                    <a:noFill/>
                  </a:rPr>
                  <a:t> </a:t>
                </a:r>
              </a:p>
            </p:txBody>
          </p:sp>
        </mc:Fallback>
      </mc:AlternateContent>
      <p:sp>
        <p:nvSpPr>
          <p:cNvPr id="76" name="Metin kutusu 75">
            <a:extLst>
              <a:ext uri="{FF2B5EF4-FFF2-40B4-BE49-F238E27FC236}">
                <a16:creationId xmlns:a16="http://schemas.microsoft.com/office/drawing/2014/main" id="{0D082470-E835-4326-9293-3654C519232B}"/>
              </a:ext>
            </a:extLst>
          </p:cNvPr>
          <p:cNvSpPr txBox="1"/>
          <p:nvPr/>
        </p:nvSpPr>
        <p:spPr>
          <a:xfrm>
            <a:off x="53330" y="2171271"/>
            <a:ext cx="3308889" cy="553998"/>
          </a:xfrm>
          <a:prstGeom prst="rect">
            <a:avLst/>
          </a:prstGeom>
          <a:noFill/>
        </p:spPr>
        <p:txBody>
          <a:bodyPr wrap="square" rtlCol="0">
            <a:spAutoFit/>
          </a:bodyPr>
          <a:lstStyle/>
          <a:p>
            <a:r>
              <a:rPr lang="tr-TR" sz="1000" b="1" noProof="1">
                <a:cs typeface="Arial" panose="020B0604020202020204" pitchFamily="34" charset="0"/>
              </a:rPr>
              <a:t>Bu toplulukta lise mezunu sayısı; ön lisans mezunu sayısından 240 fazla olduğuna göre, lisans mezunu doktora öğrenimi görmüş öğrenci sayısından kaç fazladır?</a:t>
            </a:r>
          </a:p>
        </p:txBody>
      </p:sp>
      <p:sp>
        <p:nvSpPr>
          <p:cNvPr id="78" name="Akış Çizelgesi: Depolanmış Veri 77">
            <a:extLst>
              <a:ext uri="{FF2B5EF4-FFF2-40B4-BE49-F238E27FC236}">
                <a16:creationId xmlns:a16="http://schemas.microsoft.com/office/drawing/2014/main" id="{10AAAEFE-5C73-443A-99D6-FF4F6EBD7BF2}"/>
              </a:ext>
            </a:extLst>
          </p:cNvPr>
          <p:cNvSpPr/>
          <p:nvPr/>
        </p:nvSpPr>
        <p:spPr>
          <a:xfrm rot="10800000">
            <a:off x="236645" y="6372200"/>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79" name="Metin kutusu 78">
            <a:extLst>
              <a:ext uri="{FF2B5EF4-FFF2-40B4-BE49-F238E27FC236}">
                <a16:creationId xmlns:a16="http://schemas.microsoft.com/office/drawing/2014/main" id="{52AA424F-0C11-4B33-81A2-B565786606F9}"/>
              </a:ext>
            </a:extLst>
          </p:cNvPr>
          <p:cNvSpPr txBox="1"/>
          <p:nvPr/>
        </p:nvSpPr>
        <p:spPr>
          <a:xfrm>
            <a:off x="278326" y="6390751"/>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80" name="Oval 79">
            <a:extLst>
              <a:ext uri="{FF2B5EF4-FFF2-40B4-BE49-F238E27FC236}">
                <a16:creationId xmlns:a16="http://schemas.microsoft.com/office/drawing/2014/main" id="{D062C2AF-1159-47C0-B87F-6A66E729FA72}"/>
              </a:ext>
            </a:extLst>
          </p:cNvPr>
          <p:cNvSpPr/>
          <p:nvPr/>
        </p:nvSpPr>
        <p:spPr>
          <a:xfrm>
            <a:off x="87051" y="6372200"/>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81" name="Metin kutusu 80">
            <a:extLst>
              <a:ext uri="{FF2B5EF4-FFF2-40B4-BE49-F238E27FC236}">
                <a16:creationId xmlns:a16="http://schemas.microsoft.com/office/drawing/2014/main" id="{D7E71FEB-EBD4-4835-AF8A-2F9D5A227E57}"/>
              </a:ext>
            </a:extLst>
          </p:cNvPr>
          <p:cNvSpPr txBox="1"/>
          <p:nvPr/>
        </p:nvSpPr>
        <p:spPr>
          <a:xfrm>
            <a:off x="-50221" y="6378524"/>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7.</a:t>
            </a:r>
          </a:p>
        </p:txBody>
      </p:sp>
      <p:pic>
        <p:nvPicPr>
          <p:cNvPr id="82" name="Grafik 81">
            <a:extLst>
              <a:ext uri="{FF2B5EF4-FFF2-40B4-BE49-F238E27FC236}">
                <a16:creationId xmlns:a16="http://schemas.microsoft.com/office/drawing/2014/main" id="{5A4A0DE2-6FD6-479F-8557-F6BFB363FCB8}"/>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504" y="6736818"/>
            <a:ext cx="1182510" cy="1182510"/>
          </a:xfrm>
          <a:prstGeom prst="rect">
            <a:avLst/>
          </a:prstGeom>
        </p:spPr>
      </p:pic>
      <p:sp>
        <p:nvSpPr>
          <p:cNvPr id="83" name="Metin kutusu 82">
            <a:extLst>
              <a:ext uri="{FF2B5EF4-FFF2-40B4-BE49-F238E27FC236}">
                <a16:creationId xmlns:a16="http://schemas.microsoft.com/office/drawing/2014/main" id="{2DAA9AA2-78C7-4E6E-860D-80B2DE26623E}"/>
              </a:ext>
            </a:extLst>
          </p:cNvPr>
          <p:cNvSpPr txBox="1"/>
          <p:nvPr/>
        </p:nvSpPr>
        <p:spPr>
          <a:xfrm>
            <a:off x="821011" y="6320709"/>
            <a:ext cx="2497673" cy="400110"/>
          </a:xfrm>
          <a:prstGeom prst="rect">
            <a:avLst/>
          </a:prstGeom>
          <a:noFill/>
        </p:spPr>
        <p:txBody>
          <a:bodyPr wrap="square" rtlCol="0">
            <a:spAutoFit/>
          </a:bodyPr>
          <a:lstStyle/>
          <a:p>
            <a:r>
              <a:rPr lang="tr-TR" sz="1000" noProof="1">
                <a:cs typeface="Arial" panose="020B0604020202020204" pitchFamily="34" charset="0"/>
              </a:rPr>
              <a:t>3 kitabın bir sınıfta okunma sayıları dairesel grafikte verilmiştir. Sınıf 36 kişidir.</a:t>
            </a:r>
          </a:p>
        </p:txBody>
      </p:sp>
      <p:sp>
        <p:nvSpPr>
          <p:cNvPr id="88" name="Dikdörtgen 87">
            <a:extLst>
              <a:ext uri="{FF2B5EF4-FFF2-40B4-BE49-F238E27FC236}">
                <a16:creationId xmlns:a16="http://schemas.microsoft.com/office/drawing/2014/main" id="{399852A8-B7DF-4A7E-BE18-8A02232A8246}"/>
              </a:ext>
            </a:extLst>
          </p:cNvPr>
          <p:cNvSpPr/>
          <p:nvPr/>
        </p:nvSpPr>
        <p:spPr>
          <a:xfrm>
            <a:off x="1418804" y="6726880"/>
            <a:ext cx="1773106" cy="1027172"/>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9" name="Metin kutusu 88">
            <a:extLst>
              <a:ext uri="{FF2B5EF4-FFF2-40B4-BE49-F238E27FC236}">
                <a16:creationId xmlns:a16="http://schemas.microsoft.com/office/drawing/2014/main" id="{61562E07-7815-4271-B3D2-458459991237}"/>
              </a:ext>
            </a:extLst>
          </p:cNvPr>
          <p:cNvSpPr txBox="1"/>
          <p:nvPr/>
        </p:nvSpPr>
        <p:spPr>
          <a:xfrm>
            <a:off x="1366233" y="6745244"/>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CA9E67"/>
                </a:solidFill>
                <a:cs typeface="Arial" panose="020B0604020202020204" pitchFamily="34" charset="0"/>
              </a:rPr>
              <a:t> </a:t>
            </a:r>
          </a:p>
        </p:txBody>
      </p:sp>
      <p:sp>
        <p:nvSpPr>
          <p:cNvPr id="90" name="Metin kutusu 89">
            <a:extLst>
              <a:ext uri="{FF2B5EF4-FFF2-40B4-BE49-F238E27FC236}">
                <a16:creationId xmlns:a16="http://schemas.microsoft.com/office/drawing/2014/main" id="{118265D2-46B3-49DD-9D33-2D7474E42278}"/>
              </a:ext>
            </a:extLst>
          </p:cNvPr>
          <p:cNvSpPr txBox="1"/>
          <p:nvPr/>
        </p:nvSpPr>
        <p:spPr>
          <a:xfrm>
            <a:off x="1357881" y="7094395"/>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CEA10"/>
                </a:solidFill>
                <a:cs typeface="Arial" panose="020B0604020202020204" pitchFamily="34" charset="0"/>
              </a:rPr>
              <a:t> </a:t>
            </a:r>
          </a:p>
        </p:txBody>
      </p:sp>
      <p:sp>
        <p:nvSpPr>
          <p:cNvPr id="91" name="Metin kutusu 90">
            <a:extLst>
              <a:ext uri="{FF2B5EF4-FFF2-40B4-BE49-F238E27FC236}">
                <a16:creationId xmlns:a16="http://schemas.microsoft.com/office/drawing/2014/main" id="{A7090450-5151-4225-92FC-C580264CBAED}"/>
              </a:ext>
            </a:extLst>
          </p:cNvPr>
          <p:cNvSpPr txBox="1"/>
          <p:nvPr/>
        </p:nvSpPr>
        <p:spPr>
          <a:xfrm>
            <a:off x="1351910" y="7455101"/>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8366B"/>
                </a:solidFill>
                <a:cs typeface="Arial" panose="020B0604020202020204" pitchFamily="34" charset="0"/>
              </a:rPr>
              <a:t> </a:t>
            </a:r>
          </a:p>
        </p:txBody>
      </p:sp>
      <p:sp>
        <p:nvSpPr>
          <p:cNvPr id="92" name="Metin kutusu 91">
            <a:extLst>
              <a:ext uri="{FF2B5EF4-FFF2-40B4-BE49-F238E27FC236}">
                <a16:creationId xmlns:a16="http://schemas.microsoft.com/office/drawing/2014/main" id="{B9D1B923-7971-4998-9E18-987B867709E7}"/>
              </a:ext>
            </a:extLst>
          </p:cNvPr>
          <p:cNvSpPr txBox="1"/>
          <p:nvPr/>
        </p:nvSpPr>
        <p:spPr>
          <a:xfrm>
            <a:off x="1510554" y="6733750"/>
            <a:ext cx="1417724" cy="246221"/>
          </a:xfrm>
          <a:prstGeom prst="rect">
            <a:avLst/>
          </a:prstGeom>
          <a:noFill/>
        </p:spPr>
        <p:txBody>
          <a:bodyPr wrap="square" rtlCol="0">
            <a:spAutoFit/>
          </a:bodyPr>
          <a:lstStyle/>
          <a:p>
            <a:r>
              <a:rPr lang="tr-TR" sz="1000" noProof="1">
                <a:cs typeface="Arial" panose="020B0604020202020204" pitchFamily="34" charset="0"/>
              </a:rPr>
              <a:t>Sefiller</a:t>
            </a:r>
          </a:p>
        </p:txBody>
      </p:sp>
      <p:sp>
        <p:nvSpPr>
          <p:cNvPr id="93" name="Metin kutusu 92">
            <a:extLst>
              <a:ext uri="{FF2B5EF4-FFF2-40B4-BE49-F238E27FC236}">
                <a16:creationId xmlns:a16="http://schemas.microsoft.com/office/drawing/2014/main" id="{F809E6B0-BB2F-45A1-86F9-9219F48977F2}"/>
              </a:ext>
            </a:extLst>
          </p:cNvPr>
          <p:cNvSpPr txBox="1"/>
          <p:nvPr/>
        </p:nvSpPr>
        <p:spPr>
          <a:xfrm>
            <a:off x="1500530" y="7079304"/>
            <a:ext cx="1446178" cy="246221"/>
          </a:xfrm>
          <a:prstGeom prst="rect">
            <a:avLst/>
          </a:prstGeom>
          <a:noFill/>
        </p:spPr>
        <p:txBody>
          <a:bodyPr wrap="square" rtlCol="0">
            <a:spAutoFit/>
          </a:bodyPr>
          <a:lstStyle/>
          <a:p>
            <a:r>
              <a:rPr lang="tr-TR" sz="1000" noProof="1">
                <a:cs typeface="Arial" panose="020B0604020202020204" pitchFamily="34" charset="0"/>
              </a:rPr>
              <a:t>Aya Yolculuk</a:t>
            </a:r>
          </a:p>
        </p:txBody>
      </p:sp>
      <p:sp>
        <p:nvSpPr>
          <p:cNvPr id="94" name="Metin kutusu 93">
            <a:extLst>
              <a:ext uri="{FF2B5EF4-FFF2-40B4-BE49-F238E27FC236}">
                <a16:creationId xmlns:a16="http://schemas.microsoft.com/office/drawing/2014/main" id="{4ABC770C-4C9D-4066-ABA6-B99B60BC2567}"/>
              </a:ext>
            </a:extLst>
          </p:cNvPr>
          <p:cNvSpPr txBox="1"/>
          <p:nvPr/>
        </p:nvSpPr>
        <p:spPr>
          <a:xfrm>
            <a:off x="1490900" y="7454859"/>
            <a:ext cx="2299618" cy="246221"/>
          </a:xfrm>
          <a:prstGeom prst="rect">
            <a:avLst/>
          </a:prstGeom>
          <a:noFill/>
        </p:spPr>
        <p:txBody>
          <a:bodyPr wrap="square" rtlCol="0">
            <a:spAutoFit/>
          </a:bodyPr>
          <a:lstStyle/>
          <a:p>
            <a:r>
              <a:rPr lang="tr-TR" sz="1000" noProof="1">
                <a:cs typeface="Arial" panose="020B0604020202020204" pitchFamily="34" charset="0"/>
              </a:rPr>
              <a:t>Dünyanın Merkezine Yolculuk</a:t>
            </a:r>
          </a:p>
        </p:txBody>
      </p:sp>
      <mc:AlternateContent xmlns:mc="http://schemas.openxmlformats.org/markup-compatibility/2006" xmlns:a14="http://schemas.microsoft.com/office/drawing/2010/main">
        <mc:Choice Requires="a14">
          <p:sp>
            <p:nvSpPr>
              <p:cNvPr id="95" name="Metin kutusu 94">
                <a:extLst>
                  <a:ext uri="{FF2B5EF4-FFF2-40B4-BE49-F238E27FC236}">
                    <a16:creationId xmlns:a16="http://schemas.microsoft.com/office/drawing/2014/main" id="{32B3C508-AC38-46BF-975A-C0DF29839234}"/>
                  </a:ext>
                </a:extLst>
              </p:cNvPr>
              <p:cNvSpPr txBox="1"/>
              <p:nvPr/>
            </p:nvSpPr>
            <p:spPr>
              <a:xfrm>
                <a:off x="44624" y="7862017"/>
                <a:ext cx="3358516" cy="922497"/>
              </a:xfrm>
              <a:prstGeom prst="rect">
                <a:avLst/>
              </a:prstGeom>
              <a:noFill/>
            </p:spPr>
            <p:txBody>
              <a:bodyPr wrap="square" rtlCol="0">
                <a:spAutoFit/>
              </a:bodyPr>
              <a:lstStyle/>
              <a:p>
                <a:r>
                  <a:rPr lang="tr-TR" sz="1000" noProof="1">
                    <a:cs typeface="Arial" panose="020B0604020202020204" pitchFamily="34" charset="0"/>
                  </a:rPr>
                  <a:t>3 kitabın bir sınıfta okunma sayıları dairesel grafikte verilmiştir. Dünyanın Merkezine Yolculuk kitabını okuyanların bir kısmı kitap bitmeden yeni bir kitap okumaya başlamışlardır ve bu durumda merkez açı </a:t>
                </a:r>
                <a14:m>
                  <m:oMath xmlns:m="http://schemas.openxmlformats.org/officeDocument/2006/math">
                    <m:f>
                      <m:fPr>
                        <m:ctrlPr>
                          <a:rPr lang="tr-TR" sz="850" i="1" noProof="1" dirty="0" smtClean="0">
                            <a:latin typeface="Cambria Math" panose="02040503050406030204" pitchFamily="18" charset="0"/>
                          </a:rPr>
                        </m:ctrlPr>
                      </m:fPr>
                      <m:num>
                        <m:r>
                          <m:rPr>
                            <m:nor/>
                          </m:rPr>
                          <a:rPr lang="tr-TR" sz="850" i="0" noProof="1" dirty="0" smtClean="0">
                            <a:latin typeface="Cambria Math" panose="02040503050406030204" pitchFamily="18" charset="0"/>
                          </a:rPr>
                          <m:t> </m:t>
                        </m:r>
                        <m:r>
                          <m:rPr>
                            <m:nor/>
                          </m:rPr>
                          <a:rPr lang="tr-TR" sz="850" b="0" i="0" noProof="1" dirty="0" smtClean="0">
                            <a:latin typeface="Helvetica" panose="020B0604020202020204" pitchFamily="34" charset="0"/>
                            <a:cs typeface="Helvetica" panose="020B0604020202020204" pitchFamily="34" charset="0"/>
                          </a:rPr>
                          <m:t>3</m:t>
                        </m:r>
                        <m:r>
                          <m:rPr>
                            <m:nor/>
                          </m:rPr>
                          <a:rPr lang="tr-TR" sz="850" i="0" noProof="1" dirty="0" smtClean="0">
                            <a:latin typeface="Helvetica" panose="020B0604020202020204" pitchFamily="34" charset="0"/>
                            <a:cs typeface="Helvetica" panose="020B0604020202020204" pitchFamily="34" charset="0"/>
                          </a:rPr>
                          <m:t> </m:t>
                        </m:r>
                      </m:num>
                      <m:den>
                        <m:r>
                          <m:rPr>
                            <m:nor/>
                          </m:rPr>
                          <a:rPr lang="tr-TR" sz="850" b="0" i="0" noProof="1" dirty="0" smtClean="0">
                            <a:latin typeface="Helvetica" panose="020B0604020202020204" pitchFamily="34" charset="0"/>
                            <a:cs typeface="Helvetica" panose="020B0604020202020204" pitchFamily="34" charset="0"/>
                          </a:rPr>
                          <m:t>7</m:t>
                        </m:r>
                      </m:den>
                    </m:f>
                    <m:r>
                      <a:rPr lang="tr-TR" sz="850" b="0" i="1" noProof="1" dirty="0" smtClean="0">
                        <a:latin typeface="Cambria Math" panose="02040503050406030204" pitchFamily="18" charset="0"/>
                        <a:cs typeface="Helvetica" panose="020B0604020202020204" pitchFamily="34" charset="0"/>
                      </a:rPr>
                      <m:t> </m:t>
                    </m:r>
                  </m:oMath>
                </a14:m>
                <a:r>
                  <a:rPr lang="tr-TR" sz="1000" noProof="1">
                    <a:cs typeface="Arial" panose="020B0604020202020204" pitchFamily="34" charset="0"/>
                  </a:rPr>
                  <a:t>azalmıştır.</a:t>
                </a:r>
              </a:p>
              <a:p>
                <a:r>
                  <a:rPr lang="tr-TR" sz="1000" b="1" noProof="1">
                    <a:cs typeface="Arial" panose="020B0604020202020204" pitchFamily="34" charset="0"/>
                  </a:rPr>
                  <a:t>Buna göre, yeni kitabı kaç kişi okumaya başlamıştır?</a:t>
                </a:r>
              </a:p>
            </p:txBody>
          </p:sp>
        </mc:Choice>
        <mc:Fallback xmlns="">
          <p:sp>
            <p:nvSpPr>
              <p:cNvPr id="95" name="Metin kutusu 94">
                <a:extLst>
                  <a:ext uri="{FF2B5EF4-FFF2-40B4-BE49-F238E27FC236}">
                    <a16:creationId xmlns:a16="http://schemas.microsoft.com/office/drawing/2014/main" id="{32B3C508-AC38-46BF-975A-C0DF29839234}"/>
                  </a:ext>
                </a:extLst>
              </p:cNvPr>
              <p:cNvSpPr txBox="1">
                <a:spLocks noRot="1" noChangeAspect="1" noMove="1" noResize="1" noEditPoints="1" noAdjustHandles="1" noChangeArrowheads="1" noChangeShapeType="1" noTextEdit="1"/>
              </p:cNvSpPr>
              <p:nvPr/>
            </p:nvSpPr>
            <p:spPr>
              <a:xfrm>
                <a:off x="44624" y="7862017"/>
                <a:ext cx="3358516" cy="922497"/>
              </a:xfrm>
              <a:prstGeom prst="rect">
                <a:avLst/>
              </a:prstGeom>
              <a:blipFill>
                <a:blip r:embed="rId14"/>
                <a:stretch>
                  <a:fillRect b="-264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6" name="Metin kutusu 95">
                <a:extLst>
                  <a:ext uri="{FF2B5EF4-FFF2-40B4-BE49-F238E27FC236}">
                    <a16:creationId xmlns:a16="http://schemas.microsoft.com/office/drawing/2014/main" id="{0882E63A-E9EF-41DE-A7F8-B15496623621}"/>
                  </a:ext>
                </a:extLst>
              </p:cNvPr>
              <p:cNvSpPr txBox="1"/>
              <p:nvPr/>
            </p:nvSpPr>
            <p:spPr>
              <a:xfrm>
                <a:off x="521254" y="7058626"/>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120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96" name="Metin kutusu 95">
                <a:extLst>
                  <a:ext uri="{FF2B5EF4-FFF2-40B4-BE49-F238E27FC236}">
                    <a16:creationId xmlns:a16="http://schemas.microsoft.com/office/drawing/2014/main" id="{0882E63A-E9EF-41DE-A7F8-B15496623621}"/>
                  </a:ext>
                </a:extLst>
              </p:cNvPr>
              <p:cNvSpPr txBox="1">
                <a:spLocks noRot="1" noChangeAspect="1" noMove="1" noResize="1" noEditPoints="1" noAdjustHandles="1" noChangeArrowheads="1" noChangeShapeType="1" noTextEdit="1"/>
              </p:cNvSpPr>
              <p:nvPr/>
            </p:nvSpPr>
            <p:spPr>
              <a:xfrm>
                <a:off x="521254" y="7058626"/>
                <a:ext cx="493877" cy="230832"/>
              </a:xfrm>
              <a:prstGeom prst="rect">
                <a:avLst/>
              </a:prstGeom>
              <a:blipFill>
                <a:blip r:embed="rId15"/>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7" name="Metin kutusu 96">
                <a:extLst>
                  <a:ext uri="{FF2B5EF4-FFF2-40B4-BE49-F238E27FC236}">
                    <a16:creationId xmlns:a16="http://schemas.microsoft.com/office/drawing/2014/main" id="{4D26B162-6858-47E3-AB9E-2A3BC5F20A51}"/>
                  </a:ext>
                </a:extLst>
              </p:cNvPr>
              <p:cNvSpPr txBox="1"/>
              <p:nvPr/>
            </p:nvSpPr>
            <p:spPr>
              <a:xfrm>
                <a:off x="615912" y="7317223"/>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100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97" name="Metin kutusu 96">
                <a:extLst>
                  <a:ext uri="{FF2B5EF4-FFF2-40B4-BE49-F238E27FC236}">
                    <a16:creationId xmlns:a16="http://schemas.microsoft.com/office/drawing/2014/main" id="{4D26B162-6858-47E3-AB9E-2A3BC5F20A51}"/>
                  </a:ext>
                </a:extLst>
              </p:cNvPr>
              <p:cNvSpPr txBox="1">
                <a:spLocks noRot="1" noChangeAspect="1" noMove="1" noResize="1" noEditPoints="1" noAdjustHandles="1" noChangeArrowheads="1" noChangeShapeType="1" noTextEdit="1"/>
              </p:cNvSpPr>
              <p:nvPr/>
            </p:nvSpPr>
            <p:spPr>
              <a:xfrm>
                <a:off x="615912" y="7317223"/>
                <a:ext cx="493877" cy="230832"/>
              </a:xfrm>
              <a:prstGeom prst="rect">
                <a:avLst/>
              </a:prstGeom>
              <a:blipFill>
                <a:blip r:embed="rId16"/>
                <a:stretch>
                  <a:fillRect b="-131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8" name="Metin kutusu 97">
                <a:extLst>
                  <a:ext uri="{FF2B5EF4-FFF2-40B4-BE49-F238E27FC236}">
                    <a16:creationId xmlns:a16="http://schemas.microsoft.com/office/drawing/2014/main" id="{71FA78EF-8EC4-4620-A940-11187FA291E2}"/>
                  </a:ext>
                </a:extLst>
              </p:cNvPr>
              <p:cNvSpPr txBox="1"/>
              <p:nvPr/>
            </p:nvSpPr>
            <p:spPr>
              <a:xfrm>
                <a:off x="265072" y="7253724"/>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140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98" name="Metin kutusu 97">
                <a:extLst>
                  <a:ext uri="{FF2B5EF4-FFF2-40B4-BE49-F238E27FC236}">
                    <a16:creationId xmlns:a16="http://schemas.microsoft.com/office/drawing/2014/main" id="{71FA78EF-8EC4-4620-A940-11187FA291E2}"/>
                  </a:ext>
                </a:extLst>
              </p:cNvPr>
              <p:cNvSpPr txBox="1">
                <a:spLocks noRot="1" noChangeAspect="1" noMove="1" noResize="1" noEditPoints="1" noAdjustHandles="1" noChangeArrowheads="1" noChangeShapeType="1" noTextEdit="1"/>
              </p:cNvSpPr>
              <p:nvPr/>
            </p:nvSpPr>
            <p:spPr>
              <a:xfrm>
                <a:off x="265072" y="7253724"/>
                <a:ext cx="493877" cy="230832"/>
              </a:xfrm>
              <a:prstGeom prst="rect">
                <a:avLst/>
              </a:prstGeom>
              <a:blipFill>
                <a:blip r:embed="rId17"/>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9" name="Metin kutusu 98">
                <a:extLst>
                  <a:ext uri="{FF2B5EF4-FFF2-40B4-BE49-F238E27FC236}">
                    <a16:creationId xmlns:a16="http://schemas.microsoft.com/office/drawing/2014/main" id="{466AE88B-5311-460C-B9A1-AE5026A659D0}"/>
                  </a:ext>
                </a:extLst>
              </p:cNvPr>
              <p:cNvSpPr txBox="1"/>
              <p:nvPr/>
            </p:nvSpPr>
            <p:spPr>
              <a:xfrm>
                <a:off x="3568177" y="715730"/>
                <a:ext cx="3275526" cy="1883977"/>
              </a:xfrm>
              <a:prstGeom prst="rect">
                <a:avLst/>
              </a:prstGeom>
              <a:noFill/>
            </p:spPr>
            <p:txBody>
              <a:bodyPr wrap="square" rtlCol="0">
                <a:spAutoFit/>
              </a:bodyPr>
              <a:lstStyle/>
              <a:p>
                <a:r>
                  <a:rPr lang="tr-TR" sz="1000" noProof="1">
                    <a:cs typeface="Arial" panose="020B0604020202020204" pitchFamily="34" charset="0"/>
                  </a:rPr>
                  <a:t>360 derece tam açı  36 kişiye denkmiş. </a:t>
                </a:r>
              </a:p>
              <a:p>
                <a:r>
                  <a:rPr lang="tr-TR" sz="1000" noProof="1">
                    <a:cs typeface="Arial" panose="020B0604020202020204" pitchFamily="34" charset="0"/>
                  </a:rPr>
                  <a:t>1 derece bu bağlamda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i="0" noProof="1" dirty="0" smtClean="0">
                            <a:latin typeface="Cambria Math" panose="02040503050406030204" pitchFamily="18" charset="0"/>
                          </a:rPr>
                          <m:t> </m:t>
                        </m:r>
                        <m:r>
                          <m:rPr>
                            <m:nor/>
                          </m:rPr>
                          <a:rPr lang="tr-TR" sz="800" i="0" noProof="1" dirty="0" smtClean="0">
                            <a:latin typeface="Helvetica" panose="020B0604020202020204" pitchFamily="34" charset="0"/>
                            <a:cs typeface="Helvetica" panose="020B0604020202020204" pitchFamily="34" charset="0"/>
                          </a:rPr>
                          <m:t>1 </m:t>
                        </m:r>
                      </m:num>
                      <m:den>
                        <m:r>
                          <m:rPr>
                            <m:nor/>
                          </m:rPr>
                          <a:rPr lang="tr-TR" sz="800" b="0" i="0" noProof="1" dirty="0" smtClean="0">
                            <a:latin typeface="Helvetica" panose="020B0604020202020204" pitchFamily="34" charset="0"/>
                            <a:cs typeface="Helvetica" panose="020B0604020202020204" pitchFamily="34" charset="0"/>
                          </a:rPr>
                          <m:t>10</m:t>
                        </m:r>
                      </m:den>
                    </m:f>
                  </m:oMath>
                </a14:m>
                <a:r>
                  <a:rPr lang="tr-TR" sz="1000" noProof="1">
                    <a:cs typeface="Arial" panose="020B0604020202020204" pitchFamily="34" charset="0"/>
                  </a:rPr>
                  <a:t>  kişiye tekabül edecektir.</a:t>
                </a:r>
              </a:p>
              <a:p>
                <a:endParaRPr lang="tr-TR" sz="1000" noProof="1">
                  <a:cs typeface="Arial" panose="020B0604020202020204" pitchFamily="34" charset="0"/>
                </a:endParaRPr>
              </a:p>
              <a:p>
                <a:r>
                  <a:rPr lang="tr-TR" sz="1000" noProof="1">
                    <a:cs typeface="Arial" panose="020B0604020202020204" pitchFamily="34" charset="0"/>
                  </a:rPr>
                  <a:t>140 derece 14 kişiye denk olacaktır. Merkez açısı %20 azalıyormuş. </a:t>
                </a:r>
              </a:p>
              <a:p>
                <a:endParaRPr lang="tr-TR" sz="1000" noProof="1">
                  <a:cs typeface="Arial" panose="020B0604020202020204" pitchFamily="34" charset="0"/>
                </a:endParaRPr>
              </a:p>
              <a:p>
                <a:r>
                  <a:rPr lang="tr-TR" sz="1000" noProof="1">
                    <a:cs typeface="Arial" panose="020B0604020202020204" pitchFamily="34" charset="0"/>
                  </a:rPr>
                  <a:t>140 – 140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i="0" noProof="1" dirty="0" smtClean="0">
                            <a:latin typeface="Cambria Math" panose="02040503050406030204" pitchFamily="18" charset="0"/>
                          </a:rPr>
                          <m:t> </m:t>
                        </m:r>
                        <m:r>
                          <m:rPr>
                            <m:nor/>
                          </m:rPr>
                          <a:rPr lang="tr-TR" sz="800" b="0" i="0" noProof="1" dirty="0" smtClean="0">
                            <a:latin typeface="Helvetica" panose="020B0604020202020204" pitchFamily="34" charset="0"/>
                            <a:cs typeface="Helvetica" panose="020B0604020202020204" pitchFamily="34" charset="0"/>
                          </a:rPr>
                          <m:t>3</m:t>
                        </m:r>
                        <m:r>
                          <m:rPr>
                            <m:nor/>
                          </m:rPr>
                          <a:rPr lang="tr-TR" sz="800" i="0" noProof="1" dirty="0" smtClean="0">
                            <a:latin typeface="Helvetica" panose="020B0604020202020204" pitchFamily="34" charset="0"/>
                            <a:cs typeface="Helvetica" panose="020B0604020202020204" pitchFamily="34" charset="0"/>
                          </a:rPr>
                          <m:t> </m:t>
                        </m:r>
                      </m:num>
                      <m:den>
                        <m:r>
                          <m:rPr>
                            <m:nor/>
                          </m:rPr>
                          <a:rPr lang="tr-TR" sz="800" b="0" i="0" noProof="1" dirty="0" smtClean="0">
                            <a:latin typeface="Helvetica" panose="020B0604020202020204" pitchFamily="34" charset="0"/>
                            <a:cs typeface="Helvetica" panose="020B0604020202020204" pitchFamily="34" charset="0"/>
                          </a:rPr>
                          <m:t>7</m:t>
                        </m:r>
                      </m:den>
                    </m:f>
                  </m:oMath>
                </a14:m>
                <a:r>
                  <a:rPr lang="tr-TR" sz="800" noProof="1">
                    <a:cs typeface="Arial" panose="020B0604020202020204" pitchFamily="34" charset="0"/>
                  </a:rPr>
                  <a:t> </a:t>
                </a:r>
                <a:r>
                  <a:rPr lang="tr-TR" sz="1000" noProof="1">
                    <a:cs typeface="Arial" panose="020B0604020202020204" pitchFamily="34" charset="0"/>
                  </a:rPr>
                  <a:t>=</a:t>
                </a:r>
                <a:r>
                  <a:rPr lang="tr-TR" sz="800" noProof="1">
                    <a:cs typeface="Arial" panose="020B0604020202020204" pitchFamily="34" charset="0"/>
                  </a:rPr>
                  <a:t> </a:t>
                </a:r>
                <a:r>
                  <a:rPr lang="tr-TR" sz="1000" noProof="1">
                    <a:cs typeface="Arial" panose="020B0604020202020204" pitchFamily="34" charset="0"/>
                  </a:rPr>
                  <a:t>80</a:t>
                </a:r>
                <a:r>
                  <a:rPr lang="tr-TR" sz="800" noProof="1">
                    <a:cs typeface="Arial" panose="020B0604020202020204" pitchFamily="34" charset="0"/>
                  </a:rPr>
                  <a:t> </a:t>
                </a:r>
                <a:r>
                  <a:rPr lang="tr-TR" sz="1000" noProof="1">
                    <a:cs typeface="Arial" panose="020B0604020202020204" pitchFamily="34" charset="0"/>
                  </a:rPr>
                  <a:t>yeni merkez açı olacaktır. Merkez açı 80.</a:t>
                </a:r>
              </a:p>
              <a:p>
                <a:endParaRPr lang="tr-TR" sz="1000" noProof="1">
                  <a:cs typeface="Arial" panose="020B0604020202020204" pitchFamily="34" charset="0"/>
                </a:endParaRPr>
              </a:p>
              <a:p>
                <a:r>
                  <a:rPr lang="tr-TR" sz="1000" noProof="1">
                    <a:cs typeface="Arial" panose="020B0604020202020204" pitchFamily="34" charset="0"/>
                  </a:rPr>
                  <a:t>Yani Dünyanın Merkezine Yolculuk kitabını okuyanların yeni merkez açısı 80 yani buda 8 kişiye tekabül eder. Aradaki azalma yani 60 ise </a:t>
                </a:r>
                <a:r>
                  <a:rPr lang="tr-TR" sz="1000" b="1" noProof="1">
                    <a:cs typeface="Arial" panose="020B0604020202020204" pitchFamily="34" charset="0"/>
                  </a:rPr>
                  <a:t>6 kişinin yeni kitaba başladığını belirtir.</a:t>
                </a:r>
              </a:p>
            </p:txBody>
          </p:sp>
        </mc:Choice>
        <mc:Fallback xmlns="">
          <p:sp>
            <p:nvSpPr>
              <p:cNvPr id="99" name="Metin kutusu 98">
                <a:extLst>
                  <a:ext uri="{FF2B5EF4-FFF2-40B4-BE49-F238E27FC236}">
                    <a16:creationId xmlns:a16="http://schemas.microsoft.com/office/drawing/2014/main" id="{466AE88B-5311-460C-B9A1-AE5026A659D0}"/>
                  </a:ext>
                </a:extLst>
              </p:cNvPr>
              <p:cNvSpPr txBox="1">
                <a:spLocks noRot="1" noChangeAspect="1" noMove="1" noResize="1" noEditPoints="1" noAdjustHandles="1" noChangeArrowheads="1" noChangeShapeType="1" noTextEdit="1"/>
              </p:cNvSpPr>
              <p:nvPr/>
            </p:nvSpPr>
            <p:spPr>
              <a:xfrm>
                <a:off x="3568177" y="715730"/>
                <a:ext cx="3275526" cy="1883977"/>
              </a:xfrm>
              <a:prstGeom prst="rect">
                <a:avLst/>
              </a:prstGeom>
              <a:blipFill>
                <a:blip r:embed="rId18"/>
                <a:stretch>
                  <a:fillRect b="-1294"/>
                </a:stretch>
              </a:blipFill>
            </p:spPr>
            <p:txBody>
              <a:bodyPr/>
              <a:lstStyle/>
              <a:p>
                <a:r>
                  <a:rPr lang="tr-TR">
                    <a:noFill/>
                  </a:rPr>
                  <a:t> </a:t>
                </a:r>
              </a:p>
            </p:txBody>
          </p:sp>
        </mc:Fallback>
      </mc:AlternateContent>
      <p:pic>
        <p:nvPicPr>
          <p:cNvPr id="13" name="Grafik 12">
            <a:extLst>
              <a:ext uri="{FF2B5EF4-FFF2-40B4-BE49-F238E27FC236}">
                <a16:creationId xmlns:a16="http://schemas.microsoft.com/office/drawing/2014/main" id="{91B08EC5-149B-4D43-9D74-264535A00E23}"/>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601258" y="2898727"/>
            <a:ext cx="1184498" cy="1184498"/>
          </a:xfrm>
          <a:prstGeom prst="rect">
            <a:avLst/>
          </a:prstGeom>
        </p:spPr>
      </p:pic>
      <p:sp>
        <p:nvSpPr>
          <p:cNvPr id="100" name="Dikdörtgen 99">
            <a:extLst>
              <a:ext uri="{FF2B5EF4-FFF2-40B4-BE49-F238E27FC236}">
                <a16:creationId xmlns:a16="http://schemas.microsoft.com/office/drawing/2014/main" id="{4A851ADF-109F-438B-B6D4-52A5B42B3283}"/>
              </a:ext>
            </a:extLst>
          </p:cNvPr>
          <p:cNvSpPr/>
          <p:nvPr/>
        </p:nvSpPr>
        <p:spPr>
          <a:xfrm>
            <a:off x="4882791" y="2754052"/>
            <a:ext cx="1527904" cy="1201812"/>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1" name="Metin kutusu 100">
            <a:extLst>
              <a:ext uri="{FF2B5EF4-FFF2-40B4-BE49-F238E27FC236}">
                <a16:creationId xmlns:a16="http://schemas.microsoft.com/office/drawing/2014/main" id="{E76405A3-8B0B-4DA9-8F37-80565E394847}"/>
              </a:ext>
            </a:extLst>
          </p:cNvPr>
          <p:cNvSpPr txBox="1"/>
          <p:nvPr/>
        </p:nvSpPr>
        <p:spPr>
          <a:xfrm>
            <a:off x="4830220" y="2772416"/>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91D0D6"/>
                </a:solidFill>
                <a:cs typeface="Arial" panose="020B0604020202020204" pitchFamily="34" charset="0"/>
              </a:rPr>
              <a:t> </a:t>
            </a:r>
          </a:p>
        </p:txBody>
      </p:sp>
      <p:sp>
        <p:nvSpPr>
          <p:cNvPr id="102" name="Metin kutusu 101">
            <a:extLst>
              <a:ext uri="{FF2B5EF4-FFF2-40B4-BE49-F238E27FC236}">
                <a16:creationId xmlns:a16="http://schemas.microsoft.com/office/drawing/2014/main" id="{BF9DE30C-1C5A-4BB4-96E5-0955C78F6AD8}"/>
              </a:ext>
            </a:extLst>
          </p:cNvPr>
          <p:cNvSpPr txBox="1"/>
          <p:nvPr/>
        </p:nvSpPr>
        <p:spPr>
          <a:xfrm>
            <a:off x="4821868" y="312156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C0B6DB"/>
                </a:solidFill>
                <a:cs typeface="Arial" panose="020B0604020202020204" pitchFamily="34" charset="0"/>
              </a:rPr>
              <a:t> </a:t>
            </a:r>
          </a:p>
        </p:txBody>
      </p:sp>
      <p:sp>
        <p:nvSpPr>
          <p:cNvPr id="103" name="Metin kutusu 102">
            <a:extLst>
              <a:ext uri="{FF2B5EF4-FFF2-40B4-BE49-F238E27FC236}">
                <a16:creationId xmlns:a16="http://schemas.microsoft.com/office/drawing/2014/main" id="{01E9F87F-0B25-473C-BC3A-964B906D7B81}"/>
              </a:ext>
            </a:extLst>
          </p:cNvPr>
          <p:cNvSpPr txBox="1"/>
          <p:nvPr/>
        </p:nvSpPr>
        <p:spPr>
          <a:xfrm>
            <a:off x="4824008" y="342133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28D5F"/>
                </a:solidFill>
                <a:cs typeface="Arial" panose="020B0604020202020204" pitchFamily="34" charset="0"/>
              </a:rPr>
              <a:t> </a:t>
            </a:r>
          </a:p>
        </p:txBody>
      </p:sp>
      <p:sp>
        <p:nvSpPr>
          <p:cNvPr id="104" name="Metin kutusu 103">
            <a:extLst>
              <a:ext uri="{FF2B5EF4-FFF2-40B4-BE49-F238E27FC236}">
                <a16:creationId xmlns:a16="http://schemas.microsoft.com/office/drawing/2014/main" id="{6F8EE4FB-616E-480D-8C77-8E7621E573DF}"/>
              </a:ext>
            </a:extLst>
          </p:cNvPr>
          <p:cNvSpPr txBox="1"/>
          <p:nvPr/>
        </p:nvSpPr>
        <p:spPr>
          <a:xfrm>
            <a:off x="4974541" y="2760922"/>
            <a:ext cx="1699786" cy="246221"/>
          </a:xfrm>
          <a:prstGeom prst="rect">
            <a:avLst/>
          </a:prstGeom>
          <a:noFill/>
        </p:spPr>
        <p:txBody>
          <a:bodyPr wrap="square" rtlCol="0">
            <a:spAutoFit/>
          </a:bodyPr>
          <a:lstStyle/>
          <a:p>
            <a:r>
              <a:rPr lang="tr-TR" sz="1000" noProof="1">
                <a:cs typeface="Arial" panose="020B0604020202020204" pitchFamily="34" charset="0"/>
              </a:rPr>
              <a:t>Diğer Personeller</a:t>
            </a:r>
          </a:p>
        </p:txBody>
      </p:sp>
      <p:sp>
        <p:nvSpPr>
          <p:cNvPr id="105" name="Metin kutusu 104">
            <a:extLst>
              <a:ext uri="{FF2B5EF4-FFF2-40B4-BE49-F238E27FC236}">
                <a16:creationId xmlns:a16="http://schemas.microsoft.com/office/drawing/2014/main" id="{88333BD8-61BB-4254-AB07-50057A67E116}"/>
              </a:ext>
            </a:extLst>
          </p:cNvPr>
          <p:cNvSpPr txBox="1"/>
          <p:nvPr/>
        </p:nvSpPr>
        <p:spPr>
          <a:xfrm>
            <a:off x="4964517" y="3106476"/>
            <a:ext cx="1446178" cy="246221"/>
          </a:xfrm>
          <a:prstGeom prst="rect">
            <a:avLst/>
          </a:prstGeom>
          <a:noFill/>
        </p:spPr>
        <p:txBody>
          <a:bodyPr wrap="square" rtlCol="0">
            <a:spAutoFit/>
          </a:bodyPr>
          <a:lstStyle/>
          <a:p>
            <a:r>
              <a:rPr lang="tr-TR" sz="1000" noProof="1">
                <a:cs typeface="Arial" panose="020B0604020202020204" pitchFamily="34" charset="0"/>
              </a:rPr>
              <a:t>İdari Yönetim</a:t>
            </a:r>
          </a:p>
        </p:txBody>
      </p:sp>
      <p:sp>
        <p:nvSpPr>
          <p:cNvPr id="106" name="Metin kutusu 105">
            <a:extLst>
              <a:ext uri="{FF2B5EF4-FFF2-40B4-BE49-F238E27FC236}">
                <a16:creationId xmlns:a16="http://schemas.microsoft.com/office/drawing/2014/main" id="{2DDA31A9-47B8-4886-83C8-2421D1A24470}"/>
              </a:ext>
            </a:extLst>
          </p:cNvPr>
          <p:cNvSpPr txBox="1"/>
          <p:nvPr/>
        </p:nvSpPr>
        <p:spPr>
          <a:xfrm>
            <a:off x="4967539" y="3412734"/>
            <a:ext cx="1699786" cy="246221"/>
          </a:xfrm>
          <a:prstGeom prst="rect">
            <a:avLst/>
          </a:prstGeom>
          <a:noFill/>
        </p:spPr>
        <p:txBody>
          <a:bodyPr wrap="square" rtlCol="0">
            <a:spAutoFit/>
          </a:bodyPr>
          <a:lstStyle/>
          <a:p>
            <a:r>
              <a:rPr lang="tr-TR" sz="1000" noProof="1">
                <a:cs typeface="Arial" panose="020B0604020202020204" pitchFamily="34" charset="0"/>
              </a:rPr>
              <a:t>Tekniker</a:t>
            </a:r>
          </a:p>
        </p:txBody>
      </p:sp>
      <p:sp>
        <p:nvSpPr>
          <p:cNvPr id="107" name="Metin kutusu 106">
            <a:extLst>
              <a:ext uri="{FF2B5EF4-FFF2-40B4-BE49-F238E27FC236}">
                <a16:creationId xmlns:a16="http://schemas.microsoft.com/office/drawing/2014/main" id="{49FDBBA2-102B-4B33-8D8C-4572096B62DB}"/>
              </a:ext>
            </a:extLst>
          </p:cNvPr>
          <p:cNvSpPr txBox="1"/>
          <p:nvPr/>
        </p:nvSpPr>
        <p:spPr>
          <a:xfrm>
            <a:off x="4825879" y="3705045"/>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3A6CB"/>
                </a:solidFill>
                <a:cs typeface="Arial" panose="020B0604020202020204" pitchFamily="34" charset="0"/>
              </a:rPr>
              <a:t> </a:t>
            </a:r>
          </a:p>
        </p:txBody>
      </p:sp>
      <p:sp>
        <p:nvSpPr>
          <p:cNvPr id="108" name="Metin kutusu 107">
            <a:extLst>
              <a:ext uri="{FF2B5EF4-FFF2-40B4-BE49-F238E27FC236}">
                <a16:creationId xmlns:a16="http://schemas.microsoft.com/office/drawing/2014/main" id="{2E1431BE-4848-4756-8AEA-C0608D317C24}"/>
              </a:ext>
            </a:extLst>
          </p:cNvPr>
          <p:cNvSpPr txBox="1"/>
          <p:nvPr/>
        </p:nvSpPr>
        <p:spPr>
          <a:xfrm>
            <a:off x="4982652" y="3703041"/>
            <a:ext cx="1699786" cy="246221"/>
          </a:xfrm>
          <a:prstGeom prst="rect">
            <a:avLst/>
          </a:prstGeom>
          <a:noFill/>
        </p:spPr>
        <p:txBody>
          <a:bodyPr wrap="square" rtlCol="0">
            <a:spAutoFit/>
          </a:bodyPr>
          <a:lstStyle/>
          <a:p>
            <a:r>
              <a:rPr lang="tr-TR" sz="1000" noProof="1">
                <a:cs typeface="Arial" panose="020B0604020202020204" pitchFamily="34" charset="0"/>
              </a:rPr>
              <a:t>Mühendis</a:t>
            </a:r>
          </a:p>
        </p:txBody>
      </p:sp>
      <mc:AlternateContent xmlns:mc="http://schemas.openxmlformats.org/markup-compatibility/2006" xmlns:a14="http://schemas.microsoft.com/office/drawing/2010/main">
        <mc:Choice Requires="a14">
          <p:sp>
            <p:nvSpPr>
              <p:cNvPr id="110" name="Metin kutusu 109">
                <a:extLst>
                  <a:ext uri="{FF2B5EF4-FFF2-40B4-BE49-F238E27FC236}">
                    <a16:creationId xmlns:a16="http://schemas.microsoft.com/office/drawing/2014/main" id="{17D19CA5-6F67-45AB-BF5C-090C4E7FBA92}"/>
                  </a:ext>
                </a:extLst>
              </p:cNvPr>
              <p:cNvSpPr txBox="1"/>
              <p:nvPr/>
            </p:nvSpPr>
            <p:spPr>
              <a:xfrm>
                <a:off x="4071056" y="3544103"/>
                <a:ext cx="468369"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30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110" name="Metin kutusu 109">
                <a:extLst>
                  <a:ext uri="{FF2B5EF4-FFF2-40B4-BE49-F238E27FC236}">
                    <a16:creationId xmlns:a16="http://schemas.microsoft.com/office/drawing/2014/main" id="{17D19CA5-6F67-45AB-BF5C-090C4E7FBA92}"/>
                  </a:ext>
                </a:extLst>
              </p:cNvPr>
              <p:cNvSpPr txBox="1">
                <a:spLocks noRot="1" noChangeAspect="1" noMove="1" noResize="1" noEditPoints="1" noAdjustHandles="1" noChangeArrowheads="1" noChangeShapeType="1" noTextEdit="1"/>
              </p:cNvSpPr>
              <p:nvPr/>
            </p:nvSpPr>
            <p:spPr>
              <a:xfrm>
                <a:off x="4071056" y="3544103"/>
                <a:ext cx="468369" cy="230832"/>
              </a:xfrm>
              <a:prstGeom prst="rect">
                <a:avLst/>
              </a:prstGeom>
              <a:blipFill>
                <a:blip r:embed="rId21"/>
                <a:stretch>
                  <a:fillRect b="-131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1" name="Metin kutusu 110">
                <a:extLst>
                  <a:ext uri="{FF2B5EF4-FFF2-40B4-BE49-F238E27FC236}">
                    <a16:creationId xmlns:a16="http://schemas.microsoft.com/office/drawing/2014/main" id="{A4F95C6D-DAFD-495C-8D2C-BACE20AE5226}"/>
                  </a:ext>
                </a:extLst>
              </p:cNvPr>
              <p:cNvSpPr txBox="1"/>
              <p:nvPr/>
            </p:nvSpPr>
            <p:spPr>
              <a:xfrm>
                <a:off x="4244502" y="3424767"/>
                <a:ext cx="468369"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60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111" name="Metin kutusu 110">
                <a:extLst>
                  <a:ext uri="{FF2B5EF4-FFF2-40B4-BE49-F238E27FC236}">
                    <a16:creationId xmlns:a16="http://schemas.microsoft.com/office/drawing/2014/main" id="{A4F95C6D-DAFD-495C-8D2C-BACE20AE5226}"/>
                  </a:ext>
                </a:extLst>
              </p:cNvPr>
              <p:cNvSpPr txBox="1">
                <a:spLocks noRot="1" noChangeAspect="1" noMove="1" noResize="1" noEditPoints="1" noAdjustHandles="1" noChangeArrowheads="1" noChangeShapeType="1" noTextEdit="1"/>
              </p:cNvSpPr>
              <p:nvPr/>
            </p:nvSpPr>
            <p:spPr>
              <a:xfrm>
                <a:off x="4244502" y="3424767"/>
                <a:ext cx="468369" cy="230832"/>
              </a:xfrm>
              <a:prstGeom prst="rect">
                <a:avLst/>
              </a:prstGeom>
              <a:blipFill>
                <a:blip r:embed="rId22"/>
                <a:stretch>
                  <a:fillRect b="-10526"/>
                </a:stretch>
              </a:blipFill>
            </p:spPr>
            <p:txBody>
              <a:bodyPr/>
              <a:lstStyle/>
              <a:p>
                <a:r>
                  <a:rPr lang="tr-TR">
                    <a:noFill/>
                  </a:rPr>
                  <a:t> </a:t>
                </a:r>
              </a:p>
            </p:txBody>
          </p:sp>
        </mc:Fallback>
      </mc:AlternateContent>
      <p:sp>
        <p:nvSpPr>
          <p:cNvPr id="113" name="Metin kutusu 112">
            <a:extLst>
              <a:ext uri="{FF2B5EF4-FFF2-40B4-BE49-F238E27FC236}">
                <a16:creationId xmlns:a16="http://schemas.microsoft.com/office/drawing/2014/main" id="{5AD902F4-B4E8-4B63-A49F-57375D8594C0}"/>
              </a:ext>
            </a:extLst>
          </p:cNvPr>
          <p:cNvSpPr txBox="1"/>
          <p:nvPr/>
        </p:nvSpPr>
        <p:spPr>
          <a:xfrm>
            <a:off x="3563766" y="4038764"/>
            <a:ext cx="3255557" cy="861774"/>
          </a:xfrm>
          <a:prstGeom prst="rect">
            <a:avLst/>
          </a:prstGeom>
          <a:noFill/>
        </p:spPr>
        <p:txBody>
          <a:bodyPr wrap="square" rtlCol="0">
            <a:spAutoFit/>
          </a:bodyPr>
          <a:lstStyle/>
          <a:p>
            <a:r>
              <a:rPr lang="tr-TR" sz="1000" noProof="1">
                <a:cs typeface="Arial" panose="020B0604020202020204" pitchFamily="34" charset="0"/>
              </a:rPr>
              <a:t>Bir devlet kurumunda çalışanların unvanları ve pozisyonları kişi sayısı olarak dairesel grafikte gösterilmiştir.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Mühendisler idari yönetimden sayı olarak 3k daha az olduğuna göre bu kurumda çalışan </a:t>
            </a:r>
            <a:r>
              <a:rPr lang="tr-TR" sz="1000" b="1" u="sng" noProof="1">
                <a:cs typeface="Arial" panose="020B0604020202020204" pitchFamily="34" charset="0"/>
              </a:rPr>
              <a:t>en az </a:t>
            </a:r>
            <a:r>
              <a:rPr lang="tr-TR" sz="1000" b="1" noProof="1">
                <a:cs typeface="Arial" panose="020B0604020202020204" pitchFamily="34" charset="0"/>
              </a:rPr>
              <a:t>kaç kişi vardır?</a:t>
            </a:r>
          </a:p>
        </p:txBody>
      </p:sp>
      <mc:AlternateContent xmlns:mc="http://schemas.openxmlformats.org/markup-compatibility/2006" xmlns:a14="http://schemas.microsoft.com/office/drawing/2010/main">
        <mc:Choice Requires="a14">
          <p:sp>
            <p:nvSpPr>
              <p:cNvPr id="114" name="Metin kutusu 113">
                <a:extLst>
                  <a:ext uri="{FF2B5EF4-FFF2-40B4-BE49-F238E27FC236}">
                    <a16:creationId xmlns:a16="http://schemas.microsoft.com/office/drawing/2014/main" id="{DC856D60-362F-4261-BC43-338AB510BAD2}"/>
                  </a:ext>
                </a:extLst>
              </p:cNvPr>
              <p:cNvSpPr txBox="1"/>
              <p:nvPr/>
            </p:nvSpPr>
            <p:spPr>
              <a:xfrm>
                <a:off x="3582474" y="6141673"/>
                <a:ext cx="3255557" cy="2605265"/>
              </a:xfrm>
              <a:prstGeom prst="rect">
                <a:avLst/>
              </a:prstGeom>
              <a:noFill/>
            </p:spPr>
            <p:txBody>
              <a:bodyPr wrap="square" rtlCol="0">
                <a:spAutoFit/>
              </a:bodyPr>
              <a:lstStyle/>
              <a:p>
                <a:r>
                  <a:rPr lang="tr-TR" sz="1000" noProof="1">
                    <a:cs typeface="Arial" panose="020B0604020202020204" pitchFamily="34" charset="0"/>
                  </a:rPr>
                  <a:t>Merkez açının doğru orantılı olduğundan faydalanarak mühendislik ve idari yönetim arasındaki açıya baktığımızda 30 derece olduğunu görebiliyoruz.</a:t>
                </a:r>
              </a:p>
              <a:p>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Bu 30 derecelik fark 3k`ye tekabül etmekteymiş. Bu fark ise iki departmanın çalışan sayıları farkıdır yani kesinlikle kişiler tam sayı ile gösterilmelidir o yüzden 3k`nın soruda istenildiği üzere en küçük tam sayı değerini alması gerekir. </a:t>
                </a:r>
              </a:p>
              <a:p>
                <a:pPr marL="171450" indent="-171450">
                  <a:buFont typeface="Wingdings" panose="05000000000000000000" pitchFamily="2" charset="2"/>
                  <a:buChar char="v"/>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Bu durum k =</a:t>
                </a:r>
                <a:r>
                  <a:rPr lang="tr-TR" sz="1000" noProof="1"/>
                  <a:t> </a:t>
                </a:r>
                <a14:m>
                  <m:oMath xmlns:m="http://schemas.openxmlformats.org/officeDocument/2006/math">
                    <m:f>
                      <m:fPr>
                        <m:ctrlPr>
                          <a:rPr lang="tr-TR" sz="800" i="1" noProof="1" dirty="0" smtClean="0">
                            <a:latin typeface="Cambria Math" panose="02040503050406030204" pitchFamily="18" charset="0"/>
                          </a:rPr>
                        </m:ctrlPr>
                      </m:fPr>
                      <m:num>
                        <m:r>
                          <m:rPr>
                            <m:nor/>
                          </m:rPr>
                          <a:rPr lang="tr-TR" sz="800" i="0" noProof="1" dirty="0" smtClean="0">
                            <a:latin typeface="Cambria Math" panose="02040503050406030204" pitchFamily="18" charset="0"/>
                          </a:rPr>
                          <m:t> </m:t>
                        </m:r>
                        <m:r>
                          <m:rPr>
                            <m:nor/>
                          </m:rPr>
                          <a:rPr lang="tr-TR" sz="800" b="0" i="0" noProof="1" dirty="0" smtClean="0">
                            <a:latin typeface="Helvetica" panose="020B0604020202020204" pitchFamily="34" charset="0"/>
                            <a:cs typeface="Helvetica" panose="020B0604020202020204" pitchFamily="34" charset="0"/>
                          </a:rPr>
                          <m:t>1</m:t>
                        </m:r>
                        <m:r>
                          <m:rPr>
                            <m:nor/>
                          </m:rPr>
                          <a:rPr lang="tr-TR" sz="800" i="0" noProof="1" dirty="0" smtClean="0">
                            <a:latin typeface="Helvetica" panose="020B0604020202020204" pitchFamily="34" charset="0"/>
                            <a:cs typeface="Helvetica" panose="020B0604020202020204" pitchFamily="34" charset="0"/>
                          </a:rPr>
                          <m:t> </m:t>
                        </m:r>
                      </m:num>
                      <m:den>
                        <m:r>
                          <m:rPr>
                            <m:nor/>
                          </m:rPr>
                          <a:rPr lang="tr-TR" sz="800" b="0" i="0" noProof="1" dirty="0" smtClean="0">
                            <a:latin typeface="Helvetica" panose="020B0604020202020204" pitchFamily="34" charset="0"/>
                            <a:cs typeface="Helvetica" panose="020B0604020202020204" pitchFamily="34" charset="0"/>
                          </a:rPr>
                          <m:t>3</m:t>
                        </m:r>
                      </m:den>
                    </m:f>
                  </m:oMath>
                </a14:m>
                <a:r>
                  <a:rPr lang="tr-TR" sz="800" noProof="1">
                    <a:cs typeface="Arial" panose="020B0604020202020204" pitchFamily="34" charset="0"/>
                  </a:rPr>
                  <a:t>  </a:t>
                </a:r>
                <a:r>
                  <a:rPr lang="tr-TR" sz="1000" noProof="1">
                    <a:cs typeface="Arial" panose="020B0604020202020204" pitchFamily="34" charset="0"/>
                  </a:rPr>
                  <a:t>olduğunda sağlanacaktır. Bu 30 derecelik fark 3k yani 1 kişi olacaktır. </a:t>
                </a:r>
              </a:p>
              <a:p>
                <a:pPr marL="171450" indent="-171450">
                  <a:buFont typeface="Wingdings" panose="05000000000000000000" pitchFamily="2" charset="2"/>
                  <a:buChar char="v"/>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30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1 kişiye denktir. Tam açı olan 360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12 kişiye denktir. </a:t>
                </a:r>
              </a:p>
              <a:p>
                <a:pPr marL="171450" indent="-171450">
                  <a:buFont typeface="Wingdings" panose="05000000000000000000" pitchFamily="2" charset="2"/>
                  <a:buChar char="v"/>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Bu devlet kurumunda en az 12 kişi çalışabilir.</a:t>
                </a:r>
              </a:p>
            </p:txBody>
          </p:sp>
        </mc:Choice>
        <mc:Fallback xmlns="">
          <p:sp>
            <p:nvSpPr>
              <p:cNvPr id="114" name="Metin kutusu 113">
                <a:extLst>
                  <a:ext uri="{FF2B5EF4-FFF2-40B4-BE49-F238E27FC236}">
                    <a16:creationId xmlns:a16="http://schemas.microsoft.com/office/drawing/2014/main" id="{DC856D60-362F-4261-BC43-338AB510BAD2}"/>
                  </a:ext>
                </a:extLst>
              </p:cNvPr>
              <p:cNvSpPr txBox="1">
                <a:spLocks noRot="1" noChangeAspect="1" noMove="1" noResize="1" noEditPoints="1" noAdjustHandles="1" noChangeArrowheads="1" noChangeShapeType="1" noTextEdit="1"/>
              </p:cNvSpPr>
              <p:nvPr/>
            </p:nvSpPr>
            <p:spPr>
              <a:xfrm>
                <a:off x="3582474" y="6141673"/>
                <a:ext cx="3255557" cy="2605265"/>
              </a:xfrm>
              <a:prstGeom prst="rect">
                <a:avLst/>
              </a:prstGeom>
              <a:blipFill>
                <a:blip r:embed="rId23"/>
                <a:stretch>
                  <a:fillRect r="-187" b="-467"/>
                </a:stretch>
              </a:blipFill>
            </p:spPr>
            <p:txBody>
              <a:bodyPr/>
              <a:lstStyle/>
              <a:p>
                <a:r>
                  <a:rPr lang="tr-TR">
                    <a:noFill/>
                  </a:rPr>
                  <a:t> </a:t>
                </a:r>
              </a:p>
            </p:txBody>
          </p:sp>
        </mc:Fallback>
      </mc:AlternateContent>
    </p:spTree>
    <p:extLst>
      <p:ext uri="{BB962C8B-B14F-4D97-AF65-F5344CB8AC3E}">
        <p14:creationId xmlns:p14="http://schemas.microsoft.com/office/powerpoint/2010/main" val="40907794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3048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9692" y="5175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417" y="6103072"/>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28776" y="5026365"/>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9.</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mc:AlternateContent xmlns:mc="http://schemas.openxmlformats.org/markup-compatibility/2006" xmlns:a14="http://schemas.microsoft.com/office/drawing/2010/main">
        <mc:Choice Requires="a14">
          <p:sp>
            <p:nvSpPr>
              <p:cNvPr id="51" name="Metin kutusu 50">
                <a:extLst>
                  <a:ext uri="{FF2B5EF4-FFF2-40B4-BE49-F238E27FC236}">
                    <a16:creationId xmlns:a16="http://schemas.microsoft.com/office/drawing/2014/main" id="{65CCB657-89A8-41EA-BADC-E231C441200B}"/>
                  </a:ext>
                </a:extLst>
              </p:cNvPr>
              <p:cNvSpPr txBox="1"/>
              <p:nvPr/>
            </p:nvSpPr>
            <p:spPr>
              <a:xfrm>
                <a:off x="35753" y="789159"/>
                <a:ext cx="3255556" cy="400110"/>
              </a:xfrm>
              <a:prstGeom prst="rect">
                <a:avLst/>
              </a:prstGeom>
              <a:noFill/>
            </p:spPr>
            <p:txBody>
              <a:bodyPr wrap="square" rtlCol="0">
                <a:spAutoFit/>
              </a:bodyPr>
              <a:lstStyle/>
              <a:p>
                <a:r>
                  <a:rPr lang="tr-TR" sz="1000" b="1" noProof="1">
                    <a:cs typeface="Arial" panose="020B0604020202020204" pitchFamily="34" charset="0"/>
                  </a:rPr>
                  <a:t>Aşağıda bir üniversitenin binaları için kaç </a:t>
                </a:r>
                <a14:m>
                  <m:oMath xmlns:m="http://schemas.openxmlformats.org/officeDocument/2006/math">
                    <m:sSup>
                      <m:sSupPr>
                        <m:ctrlPr>
                          <a:rPr lang="tr-TR" sz="1000" b="1" i="1" noProof="1" smtClean="0">
                            <a:solidFill>
                              <a:srgbClr val="836967"/>
                            </a:solidFill>
                            <a:latin typeface="Cambria Math" panose="02040503050406030204" pitchFamily="18" charset="0"/>
                          </a:rPr>
                        </m:ctrlPr>
                      </m:sSupPr>
                      <m:e>
                        <m:r>
                          <m:rPr>
                            <m:nor/>
                          </m:rPr>
                          <a:rPr lang="tr-TR" sz="1000" b="1" i="0" noProof="1" smtClean="0"/>
                          <m:t>m</m:t>
                        </m:r>
                      </m:e>
                      <m:sup>
                        <m:r>
                          <a:rPr lang="tr-TR" sz="1000" b="1" i="1" noProof="1" smtClean="0">
                            <a:latin typeface="Cambria Math" panose="02040503050406030204" pitchFamily="18" charset="0"/>
                          </a:rPr>
                          <m:t>2</m:t>
                        </m:r>
                      </m:sup>
                    </m:sSup>
                    <m:r>
                      <a:rPr lang="tr-TR" sz="1000" b="1" i="0" noProof="1" smtClean="0">
                        <a:latin typeface="Cambria Math" panose="02040503050406030204" pitchFamily="18" charset="0"/>
                      </a:rPr>
                      <m:t> </m:t>
                    </m:r>
                  </m:oMath>
                </a14:m>
                <a:r>
                  <a:rPr lang="tr-TR" sz="1000" b="1" noProof="1">
                    <a:cs typeface="Arial" panose="020B0604020202020204" pitchFamily="34" charset="0"/>
                  </a:rPr>
                  <a:t>ayırdığını dairesel grafik göstermektedir. Toplam alan 8640</a:t>
                </a:r>
                <a:r>
                  <a:rPr lang="tr-TR" sz="1000" b="1" noProof="1">
                    <a:solidFill>
                      <a:srgbClr val="836967"/>
                    </a:solidFill>
                  </a:rPr>
                  <a:t> </a:t>
                </a:r>
                <a14:m>
                  <m:oMath xmlns:m="http://schemas.openxmlformats.org/officeDocument/2006/math">
                    <m:sSup>
                      <m:sSupPr>
                        <m:ctrlPr>
                          <a:rPr lang="tr-TR" sz="1000" b="1" i="1" noProof="1">
                            <a:solidFill>
                              <a:srgbClr val="836967"/>
                            </a:solidFill>
                            <a:latin typeface="Cambria Math" panose="02040503050406030204" pitchFamily="18" charset="0"/>
                          </a:rPr>
                        </m:ctrlPr>
                      </m:sSupPr>
                      <m:e>
                        <m:r>
                          <a:rPr lang="tr-TR" sz="1000" b="1" noProof="1">
                            <a:latin typeface="Cambria Math" panose="02040503050406030204" pitchFamily="18" charset="0"/>
                          </a:rPr>
                          <m:t>𝐦</m:t>
                        </m:r>
                      </m:e>
                      <m:sup>
                        <m:r>
                          <a:rPr lang="tr-TR" sz="1000" b="1" i="1" noProof="1">
                            <a:latin typeface="Cambria Math" panose="02040503050406030204" pitchFamily="18" charset="0"/>
                          </a:rPr>
                          <m:t>2</m:t>
                        </m:r>
                      </m:sup>
                    </m:sSup>
                  </m:oMath>
                </a14:m>
                <a:r>
                  <a:rPr lang="tr-TR" sz="1000" b="1" noProof="1">
                    <a:cs typeface="Arial" panose="020B0604020202020204" pitchFamily="34" charset="0"/>
                  </a:rPr>
                  <a:t> </a:t>
                </a:r>
              </a:p>
            </p:txBody>
          </p:sp>
        </mc:Choice>
        <mc:Fallback xmlns="">
          <p:sp>
            <p:nvSpPr>
              <p:cNvPr id="51" name="Metin kutusu 50">
                <a:extLst>
                  <a:ext uri="{FF2B5EF4-FFF2-40B4-BE49-F238E27FC236}">
                    <a16:creationId xmlns:a16="http://schemas.microsoft.com/office/drawing/2014/main" id="{65CCB657-89A8-41EA-BADC-E231C441200B}"/>
                  </a:ext>
                </a:extLst>
              </p:cNvPr>
              <p:cNvSpPr txBox="1">
                <a:spLocks noRot="1" noChangeAspect="1" noMove="1" noResize="1" noEditPoints="1" noAdjustHandles="1" noChangeArrowheads="1" noChangeShapeType="1" noTextEdit="1"/>
              </p:cNvSpPr>
              <p:nvPr/>
            </p:nvSpPr>
            <p:spPr>
              <a:xfrm>
                <a:off x="35753" y="789159"/>
                <a:ext cx="3255556" cy="400110"/>
              </a:xfrm>
              <a:prstGeom prst="rect">
                <a:avLst/>
              </a:prstGeom>
              <a:blipFill>
                <a:blip r:embed="rId6"/>
                <a:stretch>
                  <a:fillRect b="-9091"/>
                </a:stretch>
              </a:blipFill>
            </p:spPr>
            <p:txBody>
              <a:bodyPr/>
              <a:lstStyle/>
              <a:p>
                <a:r>
                  <a:rPr lang="tr-TR">
                    <a:noFill/>
                  </a:rPr>
                  <a:t> </a:t>
                </a:r>
              </a:p>
            </p:txBody>
          </p:sp>
        </mc:Fallback>
      </mc:AlternateContent>
      <p:pic>
        <p:nvPicPr>
          <p:cNvPr id="6" name="Grafik 5">
            <a:extLst>
              <a:ext uri="{FF2B5EF4-FFF2-40B4-BE49-F238E27FC236}">
                <a16:creationId xmlns:a16="http://schemas.microsoft.com/office/drawing/2014/main" id="{ED59DD18-0586-4579-B812-B8B1E8832CE2}"/>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51" y="1169390"/>
            <a:ext cx="1316080" cy="1316080"/>
          </a:xfrm>
          <a:prstGeom prst="rect">
            <a:avLst/>
          </a:prstGeom>
        </p:spPr>
      </p:pic>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9EEE7A4B-4FFC-4C47-82DF-7728886C65BB}"/>
                  </a:ext>
                </a:extLst>
              </p:cNvPr>
              <p:cNvSpPr txBox="1"/>
              <p:nvPr/>
            </p:nvSpPr>
            <p:spPr>
              <a:xfrm>
                <a:off x="611043" y="1541399"/>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80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58" name="Metin kutusu 57">
                <a:extLst>
                  <a:ext uri="{FF2B5EF4-FFF2-40B4-BE49-F238E27FC236}">
                    <a16:creationId xmlns:a16="http://schemas.microsoft.com/office/drawing/2014/main" id="{9EEE7A4B-4FFC-4C47-82DF-7728886C65BB}"/>
                  </a:ext>
                </a:extLst>
              </p:cNvPr>
              <p:cNvSpPr txBox="1">
                <a:spLocks noRot="1" noChangeAspect="1" noMove="1" noResize="1" noEditPoints="1" noAdjustHandles="1" noChangeArrowheads="1" noChangeShapeType="1" noTextEdit="1"/>
              </p:cNvSpPr>
              <p:nvPr/>
            </p:nvSpPr>
            <p:spPr>
              <a:xfrm>
                <a:off x="611043" y="1541399"/>
                <a:ext cx="493877" cy="230832"/>
              </a:xfrm>
              <a:prstGeom prst="rect">
                <a:avLst/>
              </a:prstGeom>
              <a:blipFill>
                <a:blip r:embed="rId9"/>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299CA336-0A3F-4240-B461-5FAED94E25C0}"/>
                  </a:ext>
                </a:extLst>
              </p:cNvPr>
              <p:cNvSpPr txBox="1"/>
              <p:nvPr/>
            </p:nvSpPr>
            <p:spPr>
              <a:xfrm>
                <a:off x="401616" y="1722586"/>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160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60" name="Metin kutusu 59">
                <a:extLst>
                  <a:ext uri="{FF2B5EF4-FFF2-40B4-BE49-F238E27FC236}">
                    <a16:creationId xmlns:a16="http://schemas.microsoft.com/office/drawing/2014/main" id="{299CA336-0A3F-4240-B461-5FAED94E25C0}"/>
                  </a:ext>
                </a:extLst>
              </p:cNvPr>
              <p:cNvSpPr txBox="1">
                <a:spLocks noRot="1" noChangeAspect="1" noMove="1" noResize="1" noEditPoints="1" noAdjustHandles="1" noChangeArrowheads="1" noChangeShapeType="1" noTextEdit="1"/>
              </p:cNvSpPr>
              <p:nvPr/>
            </p:nvSpPr>
            <p:spPr>
              <a:xfrm>
                <a:off x="401616" y="1722586"/>
                <a:ext cx="493877" cy="230832"/>
              </a:xfrm>
              <a:prstGeom prst="rect">
                <a:avLst/>
              </a:prstGeom>
              <a:blipFill>
                <a:blip r:embed="rId10"/>
                <a:stretch>
                  <a:fillRect b="-1351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2" name="Metin kutusu 61">
                <a:extLst>
                  <a:ext uri="{FF2B5EF4-FFF2-40B4-BE49-F238E27FC236}">
                    <a16:creationId xmlns:a16="http://schemas.microsoft.com/office/drawing/2014/main" id="{859BD5FB-93AD-4EAE-83F5-80B340634D36}"/>
                  </a:ext>
                </a:extLst>
              </p:cNvPr>
              <p:cNvSpPr txBox="1"/>
              <p:nvPr/>
            </p:nvSpPr>
            <p:spPr>
              <a:xfrm>
                <a:off x="760148" y="1749679"/>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60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62" name="Metin kutusu 61">
                <a:extLst>
                  <a:ext uri="{FF2B5EF4-FFF2-40B4-BE49-F238E27FC236}">
                    <a16:creationId xmlns:a16="http://schemas.microsoft.com/office/drawing/2014/main" id="{859BD5FB-93AD-4EAE-83F5-80B340634D36}"/>
                  </a:ext>
                </a:extLst>
              </p:cNvPr>
              <p:cNvSpPr txBox="1">
                <a:spLocks noRot="1" noChangeAspect="1" noMove="1" noResize="1" noEditPoints="1" noAdjustHandles="1" noChangeArrowheads="1" noChangeShapeType="1" noTextEdit="1"/>
              </p:cNvSpPr>
              <p:nvPr/>
            </p:nvSpPr>
            <p:spPr>
              <a:xfrm>
                <a:off x="760148" y="1749679"/>
                <a:ext cx="493877" cy="230832"/>
              </a:xfrm>
              <a:prstGeom prst="rect">
                <a:avLst/>
              </a:prstGeom>
              <a:blipFill>
                <a:blip r:embed="rId11"/>
                <a:stretch>
                  <a:fillRect b="-13158"/>
                </a:stretch>
              </a:blipFill>
            </p:spPr>
            <p:txBody>
              <a:bodyPr/>
              <a:lstStyle/>
              <a:p>
                <a:r>
                  <a:rPr lang="tr-TR">
                    <a:noFill/>
                  </a:rPr>
                  <a:t> </a:t>
                </a:r>
              </a:p>
            </p:txBody>
          </p:sp>
        </mc:Fallback>
      </mc:AlternateContent>
      <p:sp>
        <p:nvSpPr>
          <p:cNvPr id="68" name="Dikdörtgen 67">
            <a:extLst>
              <a:ext uri="{FF2B5EF4-FFF2-40B4-BE49-F238E27FC236}">
                <a16:creationId xmlns:a16="http://schemas.microsoft.com/office/drawing/2014/main" id="{90E11957-C9C8-4AB9-9A08-28209B893D83}"/>
              </a:ext>
            </a:extLst>
          </p:cNvPr>
          <p:cNvSpPr/>
          <p:nvPr/>
        </p:nvSpPr>
        <p:spPr>
          <a:xfrm>
            <a:off x="1482132" y="1174399"/>
            <a:ext cx="1527904" cy="1284585"/>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9" name="Metin kutusu 68">
            <a:extLst>
              <a:ext uri="{FF2B5EF4-FFF2-40B4-BE49-F238E27FC236}">
                <a16:creationId xmlns:a16="http://schemas.microsoft.com/office/drawing/2014/main" id="{1CF51364-B1EE-4F48-B092-7E60974924D8}"/>
              </a:ext>
            </a:extLst>
          </p:cNvPr>
          <p:cNvSpPr txBox="1"/>
          <p:nvPr/>
        </p:nvSpPr>
        <p:spPr>
          <a:xfrm>
            <a:off x="1429561" y="1192764"/>
            <a:ext cx="268595" cy="246221"/>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rgbClr val="DACEE7"/>
                </a:solidFill>
                <a:cs typeface="Arial" panose="020B0604020202020204" pitchFamily="34" charset="0"/>
              </a:rPr>
              <a:t> </a:t>
            </a:r>
          </a:p>
        </p:txBody>
      </p:sp>
      <p:sp>
        <p:nvSpPr>
          <p:cNvPr id="70" name="Metin kutusu 69">
            <a:extLst>
              <a:ext uri="{FF2B5EF4-FFF2-40B4-BE49-F238E27FC236}">
                <a16:creationId xmlns:a16="http://schemas.microsoft.com/office/drawing/2014/main" id="{B39683F2-967A-49B5-A41E-3773C012E3E1}"/>
              </a:ext>
            </a:extLst>
          </p:cNvPr>
          <p:cNvSpPr txBox="1"/>
          <p:nvPr/>
        </p:nvSpPr>
        <p:spPr>
          <a:xfrm>
            <a:off x="1421209" y="1541915"/>
            <a:ext cx="268595" cy="246221"/>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rgbClr val="6AC6E0"/>
                </a:solidFill>
                <a:cs typeface="Arial" panose="020B0604020202020204" pitchFamily="34" charset="0"/>
              </a:rPr>
              <a:t> </a:t>
            </a:r>
          </a:p>
        </p:txBody>
      </p:sp>
      <p:sp>
        <p:nvSpPr>
          <p:cNvPr id="71" name="Metin kutusu 70">
            <a:extLst>
              <a:ext uri="{FF2B5EF4-FFF2-40B4-BE49-F238E27FC236}">
                <a16:creationId xmlns:a16="http://schemas.microsoft.com/office/drawing/2014/main" id="{8B016CF6-E0BB-49A4-A92E-598EFCE30783}"/>
              </a:ext>
            </a:extLst>
          </p:cNvPr>
          <p:cNvSpPr txBox="1"/>
          <p:nvPr/>
        </p:nvSpPr>
        <p:spPr>
          <a:xfrm>
            <a:off x="1414574" y="1871876"/>
            <a:ext cx="268595" cy="246221"/>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rgbClr val="8ABE23"/>
                </a:solidFill>
                <a:cs typeface="Arial" panose="020B0604020202020204" pitchFamily="34" charset="0"/>
              </a:rPr>
              <a:t> </a:t>
            </a:r>
          </a:p>
        </p:txBody>
      </p:sp>
      <p:sp>
        <p:nvSpPr>
          <p:cNvPr id="72" name="Metin kutusu 71">
            <a:extLst>
              <a:ext uri="{FF2B5EF4-FFF2-40B4-BE49-F238E27FC236}">
                <a16:creationId xmlns:a16="http://schemas.microsoft.com/office/drawing/2014/main" id="{36BDF284-8F00-4FA2-A5C6-BB8D7CBCA2D0}"/>
              </a:ext>
            </a:extLst>
          </p:cNvPr>
          <p:cNvSpPr txBox="1"/>
          <p:nvPr/>
        </p:nvSpPr>
        <p:spPr>
          <a:xfrm>
            <a:off x="1569526" y="1180183"/>
            <a:ext cx="1440510" cy="246221"/>
          </a:xfrm>
          <a:prstGeom prst="rect">
            <a:avLst/>
          </a:prstGeom>
          <a:noFill/>
        </p:spPr>
        <p:txBody>
          <a:bodyPr wrap="square" rtlCol="0">
            <a:spAutoFit/>
          </a:bodyPr>
          <a:lstStyle/>
          <a:p>
            <a:r>
              <a:rPr lang="tr-TR" sz="1000" noProof="1">
                <a:cs typeface="Arial" panose="020B0604020202020204" pitchFamily="34" charset="0"/>
              </a:rPr>
              <a:t>Tıp Fakültesi</a:t>
            </a:r>
          </a:p>
        </p:txBody>
      </p:sp>
      <p:sp>
        <p:nvSpPr>
          <p:cNvPr id="73" name="Metin kutusu 72">
            <a:extLst>
              <a:ext uri="{FF2B5EF4-FFF2-40B4-BE49-F238E27FC236}">
                <a16:creationId xmlns:a16="http://schemas.microsoft.com/office/drawing/2014/main" id="{CEBA91A7-9D06-4EB4-BD4C-68563D3ACE43}"/>
              </a:ext>
            </a:extLst>
          </p:cNvPr>
          <p:cNvSpPr txBox="1"/>
          <p:nvPr/>
        </p:nvSpPr>
        <p:spPr>
          <a:xfrm>
            <a:off x="1563858" y="1533373"/>
            <a:ext cx="1446178" cy="246221"/>
          </a:xfrm>
          <a:prstGeom prst="rect">
            <a:avLst/>
          </a:prstGeom>
          <a:noFill/>
        </p:spPr>
        <p:txBody>
          <a:bodyPr wrap="square" rtlCol="0">
            <a:spAutoFit/>
          </a:bodyPr>
          <a:lstStyle/>
          <a:p>
            <a:r>
              <a:rPr lang="tr-TR" sz="1000" noProof="1">
                <a:cs typeface="Arial" panose="020B0604020202020204" pitchFamily="34" charset="0"/>
              </a:rPr>
              <a:t>Rektörlük</a:t>
            </a:r>
          </a:p>
        </p:txBody>
      </p:sp>
      <p:sp>
        <p:nvSpPr>
          <p:cNvPr id="74" name="Metin kutusu 73">
            <a:extLst>
              <a:ext uri="{FF2B5EF4-FFF2-40B4-BE49-F238E27FC236}">
                <a16:creationId xmlns:a16="http://schemas.microsoft.com/office/drawing/2014/main" id="{DEC618C7-2D60-4AD2-A30C-E65EBA66E4C2}"/>
              </a:ext>
            </a:extLst>
          </p:cNvPr>
          <p:cNvSpPr txBox="1"/>
          <p:nvPr/>
        </p:nvSpPr>
        <p:spPr>
          <a:xfrm>
            <a:off x="1555106" y="1870811"/>
            <a:ext cx="1699786" cy="246221"/>
          </a:xfrm>
          <a:prstGeom prst="rect">
            <a:avLst/>
          </a:prstGeom>
          <a:noFill/>
        </p:spPr>
        <p:txBody>
          <a:bodyPr wrap="square" rtlCol="0">
            <a:spAutoFit/>
          </a:bodyPr>
          <a:lstStyle/>
          <a:p>
            <a:r>
              <a:rPr lang="tr-TR" sz="1000" noProof="1">
                <a:cs typeface="Arial" panose="020B0604020202020204" pitchFamily="34" charset="0"/>
              </a:rPr>
              <a:t>Mühendislik Fakültesi</a:t>
            </a:r>
          </a:p>
        </p:txBody>
      </p:sp>
      <p:sp>
        <p:nvSpPr>
          <p:cNvPr id="75" name="Metin kutusu 74">
            <a:extLst>
              <a:ext uri="{FF2B5EF4-FFF2-40B4-BE49-F238E27FC236}">
                <a16:creationId xmlns:a16="http://schemas.microsoft.com/office/drawing/2014/main" id="{51B008E4-FCD0-4749-8123-BA7C86AE3A44}"/>
              </a:ext>
            </a:extLst>
          </p:cNvPr>
          <p:cNvSpPr txBox="1"/>
          <p:nvPr/>
        </p:nvSpPr>
        <p:spPr>
          <a:xfrm>
            <a:off x="1417109" y="2186329"/>
            <a:ext cx="268595" cy="246221"/>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rgbClr val="E83775"/>
                </a:solidFill>
                <a:cs typeface="Arial" panose="020B0604020202020204" pitchFamily="34" charset="0"/>
              </a:rPr>
              <a:t> </a:t>
            </a:r>
          </a:p>
        </p:txBody>
      </p:sp>
      <p:sp>
        <p:nvSpPr>
          <p:cNvPr id="76" name="Metin kutusu 75">
            <a:extLst>
              <a:ext uri="{FF2B5EF4-FFF2-40B4-BE49-F238E27FC236}">
                <a16:creationId xmlns:a16="http://schemas.microsoft.com/office/drawing/2014/main" id="{0049A698-1C40-43BB-8531-99A4031A6677}"/>
              </a:ext>
            </a:extLst>
          </p:cNvPr>
          <p:cNvSpPr txBox="1"/>
          <p:nvPr/>
        </p:nvSpPr>
        <p:spPr>
          <a:xfrm>
            <a:off x="1557969" y="2179338"/>
            <a:ext cx="1699786" cy="246221"/>
          </a:xfrm>
          <a:prstGeom prst="rect">
            <a:avLst/>
          </a:prstGeom>
          <a:noFill/>
        </p:spPr>
        <p:txBody>
          <a:bodyPr wrap="square" rtlCol="0">
            <a:spAutoFit/>
          </a:bodyPr>
          <a:lstStyle/>
          <a:p>
            <a:r>
              <a:rPr lang="tr-TR" sz="1000" noProof="1">
                <a:cs typeface="Arial" panose="020B0604020202020204" pitchFamily="34" charset="0"/>
              </a:rPr>
              <a:t>Fen Fakültesi</a:t>
            </a:r>
          </a:p>
        </p:txBody>
      </p:sp>
      <mc:AlternateContent xmlns:mc="http://schemas.openxmlformats.org/markup-compatibility/2006" xmlns:a14="http://schemas.microsoft.com/office/drawing/2010/main">
        <mc:Choice Requires="a14">
          <p:sp>
            <p:nvSpPr>
              <p:cNvPr id="77" name="Metin kutusu 76">
                <a:extLst>
                  <a:ext uri="{FF2B5EF4-FFF2-40B4-BE49-F238E27FC236}">
                    <a16:creationId xmlns:a16="http://schemas.microsoft.com/office/drawing/2014/main" id="{B4E4EB5C-BCFD-4F26-905B-78054DAFF91C}"/>
                  </a:ext>
                </a:extLst>
              </p:cNvPr>
              <p:cNvSpPr txBox="1"/>
              <p:nvPr/>
            </p:nvSpPr>
            <p:spPr>
              <a:xfrm>
                <a:off x="0" y="2494856"/>
                <a:ext cx="3310567" cy="861774"/>
              </a:xfrm>
              <a:prstGeom prst="rect">
                <a:avLst/>
              </a:prstGeom>
              <a:noFill/>
            </p:spPr>
            <p:txBody>
              <a:bodyPr wrap="square" rtlCol="0">
                <a:spAutoFit/>
              </a:bodyPr>
              <a:lstStyle/>
              <a:p>
                <a:r>
                  <a:rPr lang="tr-TR" sz="1000" noProof="1">
                    <a:cs typeface="Arial" panose="020B0604020202020204" pitchFamily="34" charset="0"/>
                  </a:rPr>
                  <a:t>Tıp fakültesinin 12`de biri ile rektörük binasının 8 de biri alınarak diş hekimliği fakültesine ayrılması planlanmaktadır.</a:t>
                </a:r>
              </a:p>
              <a:p>
                <a:endParaRPr lang="tr-TR" sz="1000" b="1" noProof="1">
                  <a:cs typeface="Arial" panose="020B0604020202020204" pitchFamily="34" charset="0"/>
                </a:endParaRPr>
              </a:p>
              <a:p>
                <a:r>
                  <a:rPr lang="tr-TR" sz="1000" b="1" noProof="1">
                    <a:cs typeface="Arial" panose="020B0604020202020204" pitchFamily="34" charset="0"/>
                  </a:rPr>
                  <a:t>Buna göre, diş hekimliği ile mühendislik fakültesinin arasında kaç </a:t>
                </a:r>
                <a14:m>
                  <m:oMath xmlns:m="http://schemas.openxmlformats.org/officeDocument/2006/math">
                    <m:sSup>
                      <m:sSupPr>
                        <m:ctrlPr>
                          <a:rPr lang="tr-TR" sz="1000" b="1" i="1" noProof="1" smtClean="0">
                            <a:solidFill>
                              <a:srgbClr val="836967"/>
                            </a:solidFill>
                            <a:latin typeface="Cambria Math" panose="02040503050406030204" pitchFamily="18" charset="0"/>
                          </a:rPr>
                        </m:ctrlPr>
                      </m:sSupPr>
                      <m:e>
                        <m:r>
                          <a:rPr lang="tr-TR" sz="1000" b="1" i="0" noProof="1" smtClean="0">
                            <a:latin typeface="Cambria Math" panose="02040503050406030204" pitchFamily="18" charset="0"/>
                          </a:rPr>
                          <m:t>𝐦</m:t>
                        </m:r>
                      </m:e>
                      <m:sup>
                        <m:r>
                          <a:rPr lang="tr-TR" sz="1000" b="1" i="1" noProof="1" smtClean="0">
                            <a:latin typeface="Cambria Math" panose="02040503050406030204" pitchFamily="18" charset="0"/>
                          </a:rPr>
                          <m:t>2</m:t>
                        </m:r>
                      </m:sup>
                    </m:sSup>
                    <m:r>
                      <a:rPr lang="tr-TR" sz="1000" b="1" i="0" noProof="1" smtClean="0">
                        <a:latin typeface="Cambria Math" panose="02040503050406030204" pitchFamily="18" charset="0"/>
                      </a:rPr>
                      <m:t> </m:t>
                    </m:r>
                  </m:oMath>
                </a14:m>
                <a:r>
                  <a:rPr lang="tr-TR" sz="1000" b="1" noProof="1">
                    <a:cs typeface="Arial" panose="020B0604020202020204" pitchFamily="34" charset="0"/>
                  </a:rPr>
                  <a:t>fark vardır?</a:t>
                </a:r>
              </a:p>
            </p:txBody>
          </p:sp>
        </mc:Choice>
        <mc:Fallback xmlns="">
          <p:sp>
            <p:nvSpPr>
              <p:cNvPr id="77" name="Metin kutusu 76">
                <a:extLst>
                  <a:ext uri="{FF2B5EF4-FFF2-40B4-BE49-F238E27FC236}">
                    <a16:creationId xmlns:a16="http://schemas.microsoft.com/office/drawing/2014/main" id="{B4E4EB5C-BCFD-4F26-905B-78054DAFF91C}"/>
                  </a:ext>
                </a:extLst>
              </p:cNvPr>
              <p:cNvSpPr txBox="1">
                <a:spLocks noRot="1" noChangeAspect="1" noMove="1" noResize="1" noEditPoints="1" noAdjustHandles="1" noChangeArrowheads="1" noChangeShapeType="1" noTextEdit="1"/>
              </p:cNvSpPr>
              <p:nvPr/>
            </p:nvSpPr>
            <p:spPr>
              <a:xfrm>
                <a:off x="0" y="2494856"/>
                <a:ext cx="3310567" cy="861774"/>
              </a:xfrm>
              <a:prstGeom prst="rect">
                <a:avLst/>
              </a:prstGeom>
              <a:blipFill>
                <a:blip r:embed="rId12"/>
                <a:stretch>
                  <a:fillRect b="-352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8" name="Metin kutusu 77">
                <a:extLst>
                  <a:ext uri="{FF2B5EF4-FFF2-40B4-BE49-F238E27FC236}">
                    <a16:creationId xmlns:a16="http://schemas.microsoft.com/office/drawing/2014/main" id="{736FB1F2-8B80-4F5E-8AEE-6674D94829A5}"/>
                  </a:ext>
                </a:extLst>
              </p:cNvPr>
              <p:cNvSpPr txBox="1"/>
              <p:nvPr/>
            </p:nvSpPr>
            <p:spPr>
              <a:xfrm>
                <a:off x="640012" y="1893601"/>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60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78" name="Metin kutusu 77">
                <a:extLst>
                  <a:ext uri="{FF2B5EF4-FFF2-40B4-BE49-F238E27FC236}">
                    <a16:creationId xmlns:a16="http://schemas.microsoft.com/office/drawing/2014/main" id="{736FB1F2-8B80-4F5E-8AEE-6674D94829A5}"/>
                  </a:ext>
                </a:extLst>
              </p:cNvPr>
              <p:cNvSpPr txBox="1">
                <a:spLocks noRot="1" noChangeAspect="1" noMove="1" noResize="1" noEditPoints="1" noAdjustHandles="1" noChangeArrowheads="1" noChangeShapeType="1" noTextEdit="1"/>
              </p:cNvSpPr>
              <p:nvPr/>
            </p:nvSpPr>
            <p:spPr>
              <a:xfrm>
                <a:off x="640012" y="1893601"/>
                <a:ext cx="493877" cy="230832"/>
              </a:xfrm>
              <a:prstGeom prst="rect">
                <a:avLst/>
              </a:prstGeom>
              <a:blipFill>
                <a:blip r:embed="rId13"/>
                <a:stretch>
                  <a:fillRect b="-1351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9" name="Metin kutusu 78">
                <a:extLst>
                  <a:ext uri="{FF2B5EF4-FFF2-40B4-BE49-F238E27FC236}">
                    <a16:creationId xmlns:a16="http://schemas.microsoft.com/office/drawing/2014/main" id="{B59DFE6A-4FE3-4931-915F-C4F462D06D61}"/>
                  </a:ext>
                </a:extLst>
              </p:cNvPr>
              <p:cNvSpPr txBox="1"/>
              <p:nvPr/>
            </p:nvSpPr>
            <p:spPr>
              <a:xfrm>
                <a:off x="41349" y="6384753"/>
                <a:ext cx="3269218" cy="2348656"/>
              </a:xfrm>
              <a:prstGeom prst="rect">
                <a:avLst/>
              </a:prstGeom>
              <a:noFill/>
            </p:spPr>
            <p:txBody>
              <a:bodyPr wrap="square" rtlCol="0">
                <a:spAutoFit/>
              </a:bodyPr>
              <a:lstStyle/>
              <a:p>
                <a:r>
                  <a:rPr lang="tr-TR" sz="1000" noProof="1">
                    <a:ea typeface="Cambria Math" panose="02040503050406030204" pitchFamily="18" charset="0"/>
                    <a:cs typeface="Arial" panose="020B0604020202020204" pitchFamily="34" charset="0"/>
                  </a:rPr>
                  <a:t>360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dirty="0">
                    <a:solidFill>
                      <a:schemeClr val="tx1"/>
                    </a:solidFill>
                  </a:rPr>
                  <a:t> tam açı toplam alana eşitse 8640 </a:t>
                </a:r>
                <a14:m>
                  <m:oMath xmlns:m="http://schemas.openxmlformats.org/officeDocument/2006/math">
                    <m:sSup>
                      <m:sSupPr>
                        <m:ctrlPr>
                          <a:rPr lang="tr-TR" sz="1000" i="1" noProof="1">
                            <a:solidFill>
                              <a:srgbClr val="836967"/>
                            </a:solidFill>
                            <a:latin typeface="Cambria Math" panose="02040503050406030204" pitchFamily="18" charset="0"/>
                          </a:rPr>
                        </m:ctrlPr>
                      </m:sSupPr>
                      <m:e>
                        <m:r>
                          <m:rPr>
                            <m:sty m:val="p"/>
                          </m:rPr>
                          <a:rPr lang="tr-TR" sz="1000" b="0" i="1" noProof="1">
                            <a:latin typeface="Cambria Math" panose="02040503050406030204" pitchFamily="18" charset="0"/>
                          </a:rPr>
                          <m:t>m</m:t>
                        </m:r>
                      </m:e>
                      <m:sup>
                        <m:r>
                          <a:rPr lang="tr-TR" sz="1000" b="0" i="1" noProof="1">
                            <a:latin typeface="Cambria Math" panose="02040503050406030204" pitchFamily="18" charset="0"/>
                          </a:rPr>
                          <m:t>2</m:t>
                        </m:r>
                      </m:sup>
                    </m:sSup>
                  </m:oMath>
                </a14:m>
                <a:r>
                  <a:rPr lang="tr-TR" sz="1000" noProof="1">
                    <a:cs typeface="Arial" panose="020B0604020202020204" pitchFamily="34" charset="0"/>
                  </a:rPr>
                  <a:t> </a:t>
                </a:r>
              </a:p>
              <a:p>
                <a:r>
                  <a:rPr lang="tr-TR" sz="1000" noProof="1">
                    <a:ea typeface="Cambria Math" panose="02040503050406030204" pitchFamily="18" charset="0"/>
                    <a:cs typeface="Arial" panose="020B0604020202020204" pitchFamily="34" charset="0"/>
                  </a:rPr>
                  <a:t>     1</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dirty="0">
                    <a:solidFill>
                      <a:schemeClr val="tx1"/>
                    </a:solidFill>
                  </a:rPr>
                  <a:t> açı 24 </a:t>
                </a:r>
                <a14:m>
                  <m:oMath xmlns:m="http://schemas.openxmlformats.org/officeDocument/2006/math">
                    <m:sSup>
                      <m:sSupPr>
                        <m:ctrlPr>
                          <a:rPr lang="tr-TR" sz="1000" i="1" noProof="1">
                            <a:solidFill>
                              <a:srgbClr val="836967"/>
                            </a:solidFill>
                            <a:latin typeface="Cambria Math" panose="02040503050406030204" pitchFamily="18" charset="0"/>
                          </a:rPr>
                        </m:ctrlPr>
                      </m:sSupPr>
                      <m:e>
                        <m:r>
                          <m:rPr>
                            <m:sty m:val="p"/>
                          </m:rPr>
                          <a:rPr lang="tr-TR" sz="1000" b="0" i="1" noProof="1">
                            <a:latin typeface="Cambria Math" panose="02040503050406030204" pitchFamily="18" charset="0"/>
                          </a:rPr>
                          <m:t>m</m:t>
                        </m:r>
                      </m:e>
                      <m:sup>
                        <m:r>
                          <a:rPr lang="tr-TR" sz="1000" b="0" i="1" noProof="1">
                            <a:latin typeface="Cambria Math" panose="02040503050406030204" pitchFamily="18" charset="0"/>
                          </a:rPr>
                          <m:t>2</m:t>
                        </m:r>
                      </m:sup>
                    </m:sSup>
                  </m:oMath>
                </a14:m>
                <a:r>
                  <a:rPr lang="tr-TR" sz="1000" noProof="1">
                    <a:cs typeface="Arial" panose="020B0604020202020204" pitchFamily="34" charset="0"/>
                  </a:rPr>
                  <a:t> alana tekabül etmektedir.</a:t>
                </a:r>
              </a:p>
              <a:p>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Rektörlük </a:t>
                </a:r>
                <a:r>
                  <a:rPr lang="tr-TR" sz="1000" noProof="1">
                    <a:ea typeface="Cambria Math" panose="02040503050406030204" pitchFamily="18" charset="0"/>
                    <a:cs typeface="Arial" panose="020B0604020202020204" pitchFamily="34" charset="0"/>
                  </a:rPr>
                  <a:t>80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t>
                </a:r>
                <a14:m>
                  <m:oMath xmlns:m="http://schemas.openxmlformats.org/officeDocument/2006/math">
                    <m:r>
                      <a:rPr lang="tr-TR" sz="1000" b="0" i="0" noProof="1" smtClean="0">
                        <a:latin typeface="Cambria Math" panose="02040503050406030204" pitchFamily="18" charset="0"/>
                      </a:rPr>
                      <m:t>       </m:t>
                    </m:r>
                    <m:r>
                      <a:rPr lang="tr-TR" sz="1000" b="0" i="1" noProof="1" smtClean="0">
                        <a:latin typeface="Cambria Math" panose="02040503050406030204" pitchFamily="18" charset="0"/>
                      </a:rPr>
                      <m:t> </m:t>
                    </m:r>
                    <m:r>
                      <a:rPr lang="tr-TR" sz="1000" i="1" noProof="1" smtClean="0">
                        <a:latin typeface="Cambria Math" panose="02040503050406030204" pitchFamily="18" charset="0"/>
                      </a:rPr>
                      <m:t>⇒</m:t>
                    </m:r>
                  </m:oMath>
                </a14:m>
                <a:r>
                  <a:rPr lang="tr-TR" sz="1000" noProof="1">
                    <a:cs typeface="Arial" panose="020B0604020202020204" pitchFamily="34" charset="0"/>
                  </a:rPr>
                  <a:t> 1920 – </a:t>
                </a:r>
                <a:r>
                  <a:rPr lang="tr-TR" sz="1000" noProof="1">
                    <a:solidFill>
                      <a:srgbClr val="C00000"/>
                    </a:solidFill>
                    <a:cs typeface="Arial" panose="020B0604020202020204" pitchFamily="34" charset="0"/>
                  </a:rPr>
                  <a:t>240</a:t>
                </a:r>
                <a:r>
                  <a:rPr lang="tr-TR" sz="1000" noProof="1">
                    <a:cs typeface="Arial" panose="020B0604020202020204" pitchFamily="34" charset="0"/>
                  </a:rPr>
                  <a:t> = 1680  </a:t>
                </a:r>
              </a:p>
              <a:p>
                <a:pPr marL="171450" indent="-171450">
                  <a:buFont typeface="Wingdings" panose="05000000000000000000" pitchFamily="2" charset="2"/>
                  <a:buChar char="Ø"/>
                </a:pPr>
                <a:r>
                  <a:rPr lang="tr-TR" sz="1000" noProof="1">
                    <a:cs typeface="Arial" panose="020B0604020202020204" pitchFamily="34" charset="0"/>
                  </a:rPr>
                  <a:t>Mühendislik </a:t>
                </a:r>
                <a:r>
                  <a:rPr lang="tr-TR" sz="1000" noProof="1">
                    <a:ea typeface="Cambria Math" panose="02040503050406030204" pitchFamily="18" charset="0"/>
                    <a:cs typeface="Arial" panose="020B0604020202020204" pitchFamily="34" charset="0"/>
                  </a:rPr>
                  <a:t>60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t>
                </a:r>
                <a14:m>
                  <m:oMath xmlns:m="http://schemas.openxmlformats.org/officeDocument/2006/math">
                    <m:r>
                      <a:rPr lang="tr-TR" sz="1000" i="1" noProof="1">
                        <a:latin typeface="Cambria Math" panose="02040503050406030204" pitchFamily="18" charset="0"/>
                      </a:rPr>
                      <m:t>⇒</m:t>
                    </m:r>
                  </m:oMath>
                </a14:m>
                <a:r>
                  <a:rPr lang="tr-TR" sz="1000" noProof="1">
                    <a:cs typeface="Arial" panose="020B0604020202020204" pitchFamily="34" charset="0"/>
                  </a:rPr>
                  <a:t> 1440</a:t>
                </a:r>
              </a:p>
              <a:p>
                <a:pPr marL="171450" indent="-171450">
                  <a:buFont typeface="Wingdings" panose="05000000000000000000" pitchFamily="2" charset="2"/>
                  <a:buChar char="Ø"/>
                </a:pPr>
                <a:r>
                  <a:rPr lang="tr-TR" sz="1000" noProof="1">
                    <a:cs typeface="Arial" panose="020B0604020202020204" pitchFamily="34" charset="0"/>
                  </a:rPr>
                  <a:t>Tıp Fakültesi </a:t>
                </a:r>
                <a:r>
                  <a:rPr lang="tr-TR" sz="1000" noProof="1">
                    <a:ea typeface="Cambria Math" panose="02040503050406030204" pitchFamily="18" charset="0"/>
                    <a:cs typeface="Arial" panose="020B0604020202020204" pitchFamily="34" charset="0"/>
                  </a:rPr>
                  <a:t>160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t>
                </a:r>
                <a14:m>
                  <m:oMath xmlns:m="http://schemas.openxmlformats.org/officeDocument/2006/math">
                    <m:r>
                      <a:rPr lang="tr-TR" sz="1000" i="1" noProof="1">
                        <a:latin typeface="Cambria Math" panose="02040503050406030204" pitchFamily="18" charset="0"/>
                      </a:rPr>
                      <m:t>⇒</m:t>
                    </m:r>
                  </m:oMath>
                </a14:m>
                <a:r>
                  <a:rPr lang="tr-TR" sz="1000" noProof="1">
                    <a:cs typeface="Arial" panose="020B0604020202020204" pitchFamily="34" charset="0"/>
                  </a:rPr>
                  <a:t> 3840 – </a:t>
                </a:r>
                <a:r>
                  <a:rPr lang="tr-TR" sz="1000" noProof="1">
                    <a:solidFill>
                      <a:srgbClr val="C00000"/>
                    </a:solidFill>
                    <a:cs typeface="Arial" panose="020B0604020202020204" pitchFamily="34" charset="0"/>
                  </a:rPr>
                  <a:t>320 </a:t>
                </a:r>
                <a:r>
                  <a:rPr lang="tr-TR" sz="1000" noProof="1">
                    <a:cs typeface="Arial" panose="020B0604020202020204" pitchFamily="34" charset="0"/>
                  </a:rPr>
                  <a:t>= 3520</a:t>
                </a:r>
              </a:p>
              <a:p>
                <a:pPr marL="171450" indent="-171450">
                  <a:buFont typeface="Wingdings" panose="05000000000000000000" pitchFamily="2" charset="2"/>
                  <a:buChar char="Ø"/>
                </a:pPr>
                <a:r>
                  <a:rPr lang="tr-TR" sz="1000" noProof="1">
                    <a:cs typeface="Arial" panose="020B0604020202020204" pitchFamily="34" charset="0"/>
                  </a:rPr>
                  <a:t>Fen Fakültesi </a:t>
                </a:r>
                <a:r>
                  <a:rPr lang="tr-TR" sz="1000" noProof="1">
                    <a:ea typeface="Cambria Math" panose="02040503050406030204" pitchFamily="18" charset="0"/>
                    <a:cs typeface="Arial" panose="020B0604020202020204" pitchFamily="34" charset="0"/>
                  </a:rPr>
                  <a:t>60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t>
                </a:r>
                <a14:m>
                  <m:oMath xmlns:m="http://schemas.openxmlformats.org/officeDocument/2006/math">
                    <m:r>
                      <a:rPr lang="tr-TR" sz="1000" b="0" i="0" noProof="1" smtClean="0">
                        <a:latin typeface="Cambria Math" panose="02040503050406030204" pitchFamily="18" charset="0"/>
                      </a:rPr>
                      <m:t> </m:t>
                    </m:r>
                    <m:r>
                      <a:rPr lang="tr-TR" sz="1000" i="1" noProof="1">
                        <a:latin typeface="Cambria Math" panose="02040503050406030204" pitchFamily="18" charset="0"/>
                      </a:rPr>
                      <m:t>⇒</m:t>
                    </m:r>
                  </m:oMath>
                </a14:m>
                <a:r>
                  <a:rPr lang="tr-TR" sz="1000" noProof="1">
                    <a:cs typeface="Arial" panose="020B0604020202020204" pitchFamily="34" charset="0"/>
                  </a:rPr>
                  <a:t> 1440</a:t>
                </a:r>
              </a:p>
              <a:p>
                <a:endParaRPr lang="tr-TR" sz="1000" noProof="1">
                  <a:cs typeface="Arial" panose="020B0604020202020204" pitchFamily="34" charset="0"/>
                </a:endParaRPr>
              </a:p>
              <a:p>
                <a:r>
                  <a:rPr lang="tr-TR" sz="1000" noProof="1">
                    <a:cs typeface="Arial" panose="020B0604020202020204" pitchFamily="34" charset="0"/>
                  </a:rPr>
                  <a:t>Tıp fakültesinin </a:t>
                </a:r>
                <a14:m>
                  <m:oMath xmlns:m="http://schemas.openxmlformats.org/officeDocument/2006/math">
                    <m:f>
                      <m:fPr>
                        <m:ctrlPr>
                          <a:rPr lang="tr-TR" sz="1000" i="1" noProof="1" dirty="0" smtClean="0">
                            <a:latin typeface="Cambria Math" panose="02040503050406030204" pitchFamily="18" charset="0"/>
                          </a:rPr>
                        </m:ctrlPr>
                      </m:fPr>
                      <m:num>
                        <m:r>
                          <m:rPr>
                            <m:nor/>
                          </m:rPr>
                          <a:rPr lang="tr-TR" sz="1000" i="0" noProof="1" dirty="0" smtClean="0">
                            <a:latin typeface="Cambria Math" panose="02040503050406030204" pitchFamily="18" charset="0"/>
                          </a:rPr>
                          <m:t> </m:t>
                        </m:r>
                        <m:r>
                          <m:rPr>
                            <m:nor/>
                          </m:rPr>
                          <a:rPr lang="tr-TR" sz="1000" b="0" i="0" noProof="1" dirty="0" smtClean="0">
                            <a:latin typeface="Helvetica" panose="020B0604020202020204" pitchFamily="34" charset="0"/>
                            <a:cs typeface="Helvetica" panose="020B0604020202020204" pitchFamily="34" charset="0"/>
                          </a:rPr>
                          <m:t>1</m:t>
                        </m:r>
                        <m:r>
                          <m:rPr>
                            <m:nor/>
                          </m:rPr>
                          <a:rPr lang="tr-TR" sz="1000" i="0" noProof="1" dirty="0" smtClean="0">
                            <a:latin typeface="Helvetica" panose="020B0604020202020204" pitchFamily="34" charset="0"/>
                            <a:cs typeface="Helvetica" panose="020B0604020202020204" pitchFamily="34" charset="0"/>
                          </a:rPr>
                          <m:t> </m:t>
                        </m:r>
                      </m:num>
                      <m:den>
                        <m:r>
                          <m:rPr>
                            <m:nor/>
                          </m:rPr>
                          <a:rPr lang="tr-TR" sz="1000" b="0" i="0" noProof="1" dirty="0" smtClean="0">
                            <a:latin typeface="Helvetica" panose="020B0604020202020204" pitchFamily="34" charset="0"/>
                            <a:cs typeface="Helvetica" panose="020B0604020202020204" pitchFamily="34" charset="0"/>
                          </a:rPr>
                          <m:t>12</m:t>
                        </m:r>
                      </m:den>
                    </m:f>
                  </m:oMath>
                </a14:m>
                <a:r>
                  <a:rPr lang="tr-TR" sz="1000" noProof="1">
                    <a:cs typeface="Arial" panose="020B0604020202020204" pitchFamily="34" charset="0"/>
                  </a:rPr>
                  <a:t>`si 320, rektörlüğü </a:t>
                </a:r>
                <a14:m>
                  <m:oMath xmlns:m="http://schemas.openxmlformats.org/officeDocument/2006/math">
                    <m:f>
                      <m:fPr>
                        <m:ctrlPr>
                          <a:rPr lang="tr-TR" sz="1000" i="1" noProof="1" dirty="0">
                            <a:latin typeface="Cambria Math" panose="02040503050406030204" pitchFamily="18" charset="0"/>
                          </a:rPr>
                        </m:ctrlPr>
                      </m:fPr>
                      <m:num>
                        <m:r>
                          <m:rPr>
                            <m:nor/>
                          </m:rPr>
                          <a:rPr lang="tr-TR" sz="1000" noProof="1" dirty="0">
                            <a:latin typeface="Cambria Math" panose="02040503050406030204" pitchFamily="18" charset="0"/>
                          </a:rPr>
                          <m:t> </m:t>
                        </m:r>
                        <m:r>
                          <m:rPr>
                            <m:nor/>
                          </m:rPr>
                          <a:rPr lang="tr-TR" sz="1000" b="0" i="0" noProof="1" dirty="0" smtClean="0">
                            <a:latin typeface="Helvetica" panose="020B0604020202020204" pitchFamily="34" charset="0"/>
                            <a:cs typeface="Helvetica" panose="020B0604020202020204" pitchFamily="34" charset="0"/>
                          </a:rPr>
                          <m:t>1</m:t>
                        </m:r>
                        <m:r>
                          <m:rPr>
                            <m:nor/>
                          </m:rPr>
                          <a:rPr lang="tr-TR" sz="1000" noProof="1" dirty="0">
                            <a:latin typeface="Helvetica" panose="020B0604020202020204" pitchFamily="34" charset="0"/>
                            <a:cs typeface="Helvetica" panose="020B0604020202020204" pitchFamily="34" charset="0"/>
                          </a:rPr>
                          <m:t> </m:t>
                        </m:r>
                      </m:num>
                      <m:den>
                        <m:r>
                          <m:rPr>
                            <m:nor/>
                          </m:rPr>
                          <a:rPr lang="tr-TR" sz="1000" b="0" i="0" noProof="1" dirty="0" smtClean="0">
                            <a:latin typeface="Helvetica" panose="020B0604020202020204" pitchFamily="34" charset="0"/>
                            <a:cs typeface="Helvetica" panose="020B0604020202020204" pitchFamily="34" charset="0"/>
                          </a:rPr>
                          <m:t>8</m:t>
                        </m:r>
                      </m:den>
                    </m:f>
                  </m:oMath>
                </a14:m>
                <a:r>
                  <a:rPr lang="tr-TR" sz="1000" noProof="1">
                    <a:cs typeface="Arial" panose="020B0604020202020204" pitchFamily="34" charset="0"/>
                  </a:rPr>
                  <a:t>`i 240 edecektir.</a:t>
                </a:r>
              </a:p>
              <a:p>
                <a:endParaRPr lang="tr-TR" sz="1000" noProof="1">
                  <a:cs typeface="Arial" panose="020B0604020202020204" pitchFamily="34" charset="0"/>
                </a:endParaRPr>
              </a:p>
              <a:p>
                <a:r>
                  <a:rPr lang="tr-TR" sz="1000" noProof="1">
                    <a:cs typeface="Arial" panose="020B0604020202020204" pitchFamily="34" charset="0"/>
                  </a:rPr>
                  <a:t>Diş hekimliği fakültesinin toplam alanı 560 metrekaredir. </a:t>
                </a:r>
              </a:p>
              <a:p>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Mühendislik fakültesine 1440 metre kare, diş hekimliği fakültesi 560 metre kare farkları 880 metrekaredir.</a:t>
                </a:r>
              </a:p>
            </p:txBody>
          </p:sp>
        </mc:Choice>
        <mc:Fallback xmlns="">
          <p:sp>
            <p:nvSpPr>
              <p:cNvPr id="79" name="Metin kutusu 78">
                <a:extLst>
                  <a:ext uri="{FF2B5EF4-FFF2-40B4-BE49-F238E27FC236}">
                    <a16:creationId xmlns:a16="http://schemas.microsoft.com/office/drawing/2014/main" id="{B59DFE6A-4FE3-4931-915F-C4F462D06D61}"/>
                  </a:ext>
                </a:extLst>
              </p:cNvPr>
              <p:cNvSpPr txBox="1">
                <a:spLocks noRot="1" noChangeAspect="1" noMove="1" noResize="1" noEditPoints="1" noAdjustHandles="1" noChangeArrowheads="1" noChangeShapeType="1" noTextEdit="1"/>
              </p:cNvSpPr>
              <p:nvPr/>
            </p:nvSpPr>
            <p:spPr>
              <a:xfrm>
                <a:off x="41349" y="6384753"/>
                <a:ext cx="3269218" cy="2348656"/>
              </a:xfrm>
              <a:prstGeom prst="rect">
                <a:avLst/>
              </a:prstGeom>
              <a:blipFill>
                <a:blip r:embed="rId14"/>
                <a:stretch>
                  <a:fillRect b="-518"/>
                </a:stretch>
              </a:blipFill>
            </p:spPr>
            <p:txBody>
              <a:bodyPr/>
              <a:lstStyle/>
              <a:p>
                <a:r>
                  <a:rPr lang="tr-TR">
                    <a:noFill/>
                  </a:rPr>
                  <a:t> </a:t>
                </a:r>
              </a:p>
            </p:txBody>
          </p:sp>
        </mc:Fallback>
      </mc:AlternateContent>
      <p:sp>
        <p:nvSpPr>
          <p:cNvPr id="81" name="Kaydırma: Yatay 80">
            <a:extLst>
              <a:ext uri="{FF2B5EF4-FFF2-40B4-BE49-F238E27FC236}">
                <a16:creationId xmlns:a16="http://schemas.microsoft.com/office/drawing/2014/main" id="{7AA735B8-D088-4C50-A9D3-C8AAF55CEE43}"/>
              </a:ext>
            </a:extLst>
          </p:cNvPr>
          <p:cNvSpPr/>
          <p:nvPr/>
        </p:nvSpPr>
        <p:spPr>
          <a:xfrm>
            <a:off x="858583" y="448998"/>
            <a:ext cx="2420151" cy="369892"/>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2" name="Metin kutusu 81">
            <a:extLst>
              <a:ext uri="{FF2B5EF4-FFF2-40B4-BE49-F238E27FC236}">
                <a16:creationId xmlns:a16="http://schemas.microsoft.com/office/drawing/2014/main" id="{0A68AB5C-7362-4578-953B-68F46E2F6B00}"/>
              </a:ext>
            </a:extLst>
          </p:cNvPr>
          <p:cNvSpPr txBox="1"/>
          <p:nvPr/>
        </p:nvSpPr>
        <p:spPr>
          <a:xfrm>
            <a:off x="871010" y="477567"/>
            <a:ext cx="2375436" cy="307777"/>
          </a:xfrm>
          <a:prstGeom prst="rect">
            <a:avLst/>
          </a:prstGeom>
          <a:noFill/>
        </p:spPr>
        <p:txBody>
          <a:bodyPr wrap="square">
            <a:spAutoFit/>
          </a:bodyPr>
          <a:lstStyle/>
          <a:p>
            <a:pPr algn="ctr"/>
            <a:r>
              <a:rPr lang="tr-TR" sz="700" i="0" noProof="1">
                <a:solidFill>
                  <a:schemeClr val="bg1"/>
                </a:solidFill>
                <a:effectLst/>
                <a:latin typeface="Arial Narrow" panose="020B0606020202030204" pitchFamily="34" charset="0"/>
              </a:rPr>
              <a:t>“Yaşadığım her olayın 'diğer yüzünü' de düşünmeye çalışırım.”  </a:t>
            </a:r>
            <a:br>
              <a:rPr lang="tr-TR" sz="700" i="0" noProof="1">
                <a:solidFill>
                  <a:schemeClr val="bg1"/>
                </a:solidFill>
                <a:effectLst/>
                <a:latin typeface="Arial Narrow" panose="020B0606020202030204" pitchFamily="34" charset="0"/>
              </a:rPr>
            </a:br>
            <a:r>
              <a:rPr lang="tr-TR" sz="700" i="0" noProof="1">
                <a:solidFill>
                  <a:schemeClr val="bg1"/>
                </a:solidFill>
                <a:effectLst/>
                <a:latin typeface="Arial Narrow" panose="020B0606020202030204" pitchFamily="34" charset="0"/>
              </a:rPr>
              <a:t>- Aamir Khan</a:t>
            </a:r>
            <a:endParaRPr lang="tr-TR" sz="700" noProof="1">
              <a:solidFill>
                <a:schemeClr val="bg1"/>
              </a:solidFill>
              <a:latin typeface="Arial Narrow" panose="020B0606020202030204" pitchFamily="34" charset="0"/>
            </a:endParaRPr>
          </a:p>
        </p:txBody>
      </p:sp>
      <p:pic>
        <p:nvPicPr>
          <p:cNvPr id="83" name="Grafik 82">
            <a:extLst>
              <a:ext uri="{FF2B5EF4-FFF2-40B4-BE49-F238E27FC236}">
                <a16:creationId xmlns:a16="http://schemas.microsoft.com/office/drawing/2014/main" id="{A4BF4548-58AF-4F80-A1DC-3FDDBC67FCEA}"/>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628776" y="773044"/>
            <a:ext cx="1184498" cy="1184498"/>
          </a:xfrm>
          <a:prstGeom prst="rect">
            <a:avLst/>
          </a:prstGeom>
        </p:spPr>
      </p:pic>
      <p:pic>
        <p:nvPicPr>
          <p:cNvPr id="9" name="Grafik 8">
            <a:extLst>
              <a:ext uri="{FF2B5EF4-FFF2-40B4-BE49-F238E27FC236}">
                <a16:creationId xmlns:a16="http://schemas.microsoft.com/office/drawing/2014/main" id="{A9B56BDB-45E0-4099-AA0B-67E95129DE07}"/>
              </a:ext>
            </a:extLst>
          </p:cNvPr>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648904" y="2149510"/>
            <a:ext cx="1184497" cy="1184497"/>
          </a:xfrm>
          <a:prstGeom prst="rect">
            <a:avLst/>
          </a:prstGeom>
        </p:spPr>
      </p:pic>
      <p:sp>
        <p:nvSpPr>
          <p:cNvPr id="93" name="Dikdörtgen 92">
            <a:extLst>
              <a:ext uri="{FF2B5EF4-FFF2-40B4-BE49-F238E27FC236}">
                <a16:creationId xmlns:a16="http://schemas.microsoft.com/office/drawing/2014/main" id="{FB5FF470-1CE1-4F05-B1CD-DA663814484A}"/>
              </a:ext>
            </a:extLst>
          </p:cNvPr>
          <p:cNvSpPr/>
          <p:nvPr/>
        </p:nvSpPr>
        <p:spPr>
          <a:xfrm>
            <a:off x="4953135" y="2125007"/>
            <a:ext cx="1527904" cy="1284585"/>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4" name="Metin kutusu 93">
            <a:extLst>
              <a:ext uri="{FF2B5EF4-FFF2-40B4-BE49-F238E27FC236}">
                <a16:creationId xmlns:a16="http://schemas.microsoft.com/office/drawing/2014/main" id="{7F0C9B7E-E42E-4DA2-89DA-5AE77EE4283A}"/>
              </a:ext>
            </a:extLst>
          </p:cNvPr>
          <p:cNvSpPr txBox="1"/>
          <p:nvPr/>
        </p:nvSpPr>
        <p:spPr>
          <a:xfrm>
            <a:off x="4900564" y="2143372"/>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401338"/>
                </a:solidFill>
                <a:cs typeface="Arial" panose="020B0604020202020204" pitchFamily="34" charset="0"/>
              </a:rPr>
              <a:t> </a:t>
            </a:r>
          </a:p>
        </p:txBody>
      </p:sp>
      <p:sp>
        <p:nvSpPr>
          <p:cNvPr id="95" name="Metin kutusu 94">
            <a:extLst>
              <a:ext uri="{FF2B5EF4-FFF2-40B4-BE49-F238E27FC236}">
                <a16:creationId xmlns:a16="http://schemas.microsoft.com/office/drawing/2014/main" id="{94445DEA-7FB8-4AB4-8DFC-CBB9F259AC63}"/>
              </a:ext>
            </a:extLst>
          </p:cNvPr>
          <p:cNvSpPr txBox="1"/>
          <p:nvPr/>
        </p:nvSpPr>
        <p:spPr>
          <a:xfrm>
            <a:off x="4892212" y="249252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A32F16"/>
                </a:solidFill>
                <a:cs typeface="Arial" panose="020B0604020202020204" pitchFamily="34" charset="0"/>
              </a:rPr>
              <a:t> </a:t>
            </a:r>
          </a:p>
        </p:txBody>
      </p:sp>
      <p:sp>
        <p:nvSpPr>
          <p:cNvPr id="96" name="Metin kutusu 95">
            <a:extLst>
              <a:ext uri="{FF2B5EF4-FFF2-40B4-BE49-F238E27FC236}">
                <a16:creationId xmlns:a16="http://schemas.microsoft.com/office/drawing/2014/main" id="{C2D1BE86-FF1A-49C4-9CF0-8657F7387727}"/>
              </a:ext>
            </a:extLst>
          </p:cNvPr>
          <p:cNvSpPr txBox="1"/>
          <p:nvPr/>
        </p:nvSpPr>
        <p:spPr>
          <a:xfrm>
            <a:off x="4886241" y="2853229"/>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28357E"/>
                </a:solidFill>
                <a:cs typeface="Arial" panose="020B0604020202020204" pitchFamily="34" charset="0"/>
              </a:rPr>
              <a:t> </a:t>
            </a:r>
          </a:p>
        </p:txBody>
      </p:sp>
      <p:sp>
        <p:nvSpPr>
          <p:cNvPr id="102" name="Metin kutusu 101">
            <a:extLst>
              <a:ext uri="{FF2B5EF4-FFF2-40B4-BE49-F238E27FC236}">
                <a16:creationId xmlns:a16="http://schemas.microsoft.com/office/drawing/2014/main" id="{FBE6D724-619B-444C-99CE-1E8EFA24D9F5}"/>
              </a:ext>
            </a:extLst>
          </p:cNvPr>
          <p:cNvSpPr txBox="1"/>
          <p:nvPr/>
        </p:nvSpPr>
        <p:spPr>
          <a:xfrm>
            <a:off x="3470260" y="1948659"/>
            <a:ext cx="1576688" cy="200055"/>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tr-TR" sz="700" noProof="1">
                <a:solidFill>
                  <a:schemeClr val="tx1"/>
                </a:solidFill>
                <a:cs typeface="Arial" panose="020B0604020202020204" pitchFamily="34" charset="0"/>
              </a:rPr>
              <a:t>Grafik 1 : Sipariş Edilen Ürünler (adet)</a:t>
            </a:r>
            <a:endParaRPr lang="tr-TR" sz="700" b="1" noProof="1">
              <a:solidFill>
                <a:schemeClr val="tx1"/>
              </a:solidFill>
              <a:cs typeface="Arial" panose="020B0604020202020204" pitchFamily="34" charset="0"/>
            </a:endParaRPr>
          </a:p>
        </p:txBody>
      </p:sp>
      <p:sp>
        <p:nvSpPr>
          <p:cNvPr id="97" name="Metin kutusu 96">
            <a:extLst>
              <a:ext uri="{FF2B5EF4-FFF2-40B4-BE49-F238E27FC236}">
                <a16:creationId xmlns:a16="http://schemas.microsoft.com/office/drawing/2014/main" id="{9D08BA36-246C-427E-B609-FEEB9C07149D}"/>
              </a:ext>
            </a:extLst>
          </p:cNvPr>
          <p:cNvSpPr txBox="1"/>
          <p:nvPr/>
        </p:nvSpPr>
        <p:spPr>
          <a:xfrm>
            <a:off x="5044885" y="2131878"/>
            <a:ext cx="1699786" cy="246221"/>
          </a:xfrm>
          <a:prstGeom prst="rect">
            <a:avLst/>
          </a:prstGeom>
          <a:noFill/>
        </p:spPr>
        <p:txBody>
          <a:bodyPr wrap="square" rtlCol="0">
            <a:spAutoFit/>
          </a:bodyPr>
          <a:lstStyle/>
          <a:p>
            <a:r>
              <a:rPr lang="tr-TR" sz="1000" noProof="1">
                <a:cs typeface="Arial" panose="020B0604020202020204" pitchFamily="34" charset="0"/>
              </a:rPr>
              <a:t>D ürünü satış adedi</a:t>
            </a:r>
          </a:p>
        </p:txBody>
      </p:sp>
      <p:sp>
        <p:nvSpPr>
          <p:cNvPr id="98" name="Metin kutusu 97">
            <a:extLst>
              <a:ext uri="{FF2B5EF4-FFF2-40B4-BE49-F238E27FC236}">
                <a16:creationId xmlns:a16="http://schemas.microsoft.com/office/drawing/2014/main" id="{DB78F21C-36E1-439F-BCB0-6EE6E79F5C99}"/>
              </a:ext>
            </a:extLst>
          </p:cNvPr>
          <p:cNvSpPr txBox="1"/>
          <p:nvPr/>
        </p:nvSpPr>
        <p:spPr>
          <a:xfrm>
            <a:off x="5034861" y="2477432"/>
            <a:ext cx="1446178" cy="246221"/>
          </a:xfrm>
          <a:prstGeom prst="rect">
            <a:avLst/>
          </a:prstGeom>
          <a:noFill/>
        </p:spPr>
        <p:txBody>
          <a:bodyPr wrap="square" rtlCol="0">
            <a:spAutoFit/>
          </a:bodyPr>
          <a:lstStyle/>
          <a:p>
            <a:r>
              <a:rPr lang="tr-TR" sz="1000" noProof="1">
                <a:cs typeface="Arial" panose="020B0604020202020204" pitchFamily="34" charset="0"/>
              </a:rPr>
              <a:t>C ürünü satış adedi</a:t>
            </a:r>
          </a:p>
        </p:txBody>
      </p:sp>
      <p:sp>
        <p:nvSpPr>
          <p:cNvPr id="99" name="Metin kutusu 98">
            <a:extLst>
              <a:ext uri="{FF2B5EF4-FFF2-40B4-BE49-F238E27FC236}">
                <a16:creationId xmlns:a16="http://schemas.microsoft.com/office/drawing/2014/main" id="{ED73E331-6673-4CC2-9550-61542EE507D5}"/>
              </a:ext>
            </a:extLst>
          </p:cNvPr>
          <p:cNvSpPr txBox="1"/>
          <p:nvPr/>
        </p:nvSpPr>
        <p:spPr>
          <a:xfrm>
            <a:off x="5029772" y="2844626"/>
            <a:ext cx="1699786" cy="246221"/>
          </a:xfrm>
          <a:prstGeom prst="rect">
            <a:avLst/>
          </a:prstGeom>
          <a:noFill/>
        </p:spPr>
        <p:txBody>
          <a:bodyPr wrap="square" rtlCol="0">
            <a:spAutoFit/>
          </a:bodyPr>
          <a:lstStyle/>
          <a:p>
            <a:r>
              <a:rPr lang="tr-TR" sz="1000" noProof="1">
                <a:cs typeface="Arial" panose="020B0604020202020204" pitchFamily="34" charset="0"/>
              </a:rPr>
              <a:t>B ürünü satış adedi</a:t>
            </a:r>
          </a:p>
        </p:txBody>
      </p:sp>
      <p:sp>
        <p:nvSpPr>
          <p:cNvPr id="100" name="Metin kutusu 99">
            <a:extLst>
              <a:ext uri="{FF2B5EF4-FFF2-40B4-BE49-F238E27FC236}">
                <a16:creationId xmlns:a16="http://schemas.microsoft.com/office/drawing/2014/main" id="{41C7F38D-ECDF-42D6-B666-8658E0D3F735}"/>
              </a:ext>
            </a:extLst>
          </p:cNvPr>
          <p:cNvSpPr txBox="1"/>
          <p:nvPr/>
        </p:nvSpPr>
        <p:spPr>
          <a:xfrm>
            <a:off x="4888112" y="313693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61C4E3"/>
                </a:solidFill>
                <a:cs typeface="Arial" panose="020B0604020202020204" pitchFamily="34" charset="0"/>
              </a:rPr>
              <a:t> </a:t>
            </a:r>
          </a:p>
        </p:txBody>
      </p:sp>
      <p:sp>
        <p:nvSpPr>
          <p:cNvPr id="101" name="Metin kutusu 100">
            <a:extLst>
              <a:ext uri="{FF2B5EF4-FFF2-40B4-BE49-F238E27FC236}">
                <a16:creationId xmlns:a16="http://schemas.microsoft.com/office/drawing/2014/main" id="{7042935B-245B-431D-9D33-939A1614DD34}"/>
              </a:ext>
            </a:extLst>
          </p:cNvPr>
          <p:cNvSpPr txBox="1"/>
          <p:nvPr/>
        </p:nvSpPr>
        <p:spPr>
          <a:xfrm>
            <a:off x="5044885" y="3134933"/>
            <a:ext cx="1699786" cy="246221"/>
          </a:xfrm>
          <a:prstGeom prst="rect">
            <a:avLst/>
          </a:prstGeom>
          <a:noFill/>
        </p:spPr>
        <p:txBody>
          <a:bodyPr wrap="square" rtlCol="0">
            <a:spAutoFit/>
          </a:bodyPr>
          <a:lstStyle/>
          <a:p>
            <a:r>
              <a:rPr lang="tr-TR" sz="1000" noProof="1">
                <a:cs typeface="Arial" panose="020B0604020202020204" pitchFamily="34" charset="0"/>
              </a:rPr>
              <a:t>A ürünü satış adedi</a:t>
            </a:r>
          </a:p>
        </p:txBody>
      </p:sp>
      <p:sp>
        <p:nvSpPr>
          <p:cNvPr id="103" name="Metin kutusu 102">
            <a:extLst>
              <a:ext uri="{FF2B5EF4-FFF2-40B4-BE49-F238E27FC236}">
                <a16:creationId xmlns:a16="http://schemas.microsoft.com/office/drawing/2014/main" id="{1332CF85-D25E-4114-9ACC-557C275B6CAA}"/>
              </a:ext>
            </a:extLst>
          </p:cNvPr>
          <p:cNvSpPr txBox="1"/>
          <p:nvPr/>
        </p:nvSpPr>
        <p:spPr>
          <a:xfrm>
            <a:off x="3523798" y="3344795"/>
            <a:ext cx="1512167" cy="215444"/>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r>
              <a:rPr lang="tr-TR" sz="800" noProof="1">
                <a:solidFill>
                  <a:schemeClr val="tx1"/>
                </a:solidFill>
                <a:cs typeface="Arial" panose="020B0604020202020204" pitchFamily="34" charset="0"/>
              </a:rPr>
              <a:t>Grafik 2 : Satılan Ürünler (adet)</a:t>
            </a:r>
            <a:endParaRPr lang="tr-TR" sz="800" b="1" noProof="1">
              <a:solidFill>
                <a:schemeClr val="tx1"/>
              </a:solidFill>
              <a:cs typeface="Arial" panose="020B0604020202020204" pitchFamily="34" charset="0"/>
            </a:endParaRPr>
          </a:p>
        </p:txBody>
      </p:sp>
      <p:sp>
        <p:nvSpPr>
          <p:cNvPr id="10" name="Dikdörtgen 9">
            <a:extLst>
              <a:ext uri="{FF2B5EF4-FFF2-40B4-BE49-F238E27FC236}">
                <a16:creationId xmlns:a16="http://schemas.microsoft.com/office/drawing/2014/main" id="{4F8C3C50-DD33-43C7-9FD0-84DA53795086}"/>
              </a:ext>
            </a:extLst>
          </p:cNvPr>
          <p:cNvSpPr/>
          <p:nvPr/>
        </p:nvSpPr>
        <p:spPr>
          <a:xfrm>
            <a:off x="4944544" y="631455"/>
            <a:ext cx="1538648" cy="1349056"/>
          </a:xfrm>
          <a:prstGeom prst="rect">
            <a:avLst/>
          </a:prstGeom>
          <a:solidFill>
            <a:schemeClr val="bg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4" name="Metin kutusu 103">
            <a:extLst>
              <a:ext uri="{FF2B5EF4-FFF2-40B4-BE49-F238E27FC236}">
                <a16:creationId xmlns:a16="http://schemas.microsoft.com/office/drawing/2014/main" id="{55914579-21B8-4D2E-9550-4B4610C2EB65}"/>
              </a:ext>
            </a:extLst>
          </p:cNvPr>
          <p:cNvSpPr txBox="1"/>
          <p:nvPr/>
        </p:nvSpPr>
        <p:spPr>
          <a:xfrm>
            <a:off x="4926842" y="688162"/>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91D0D6"/>
                </a:solidFill>
                <a:cs typeface="Arial" panose="020B0604020202020204" pitchFamily="34" charset="0"/>
              </a:rPr>
              <a:t> </a:t>
            </a:r>
          </a:p>
        </p:txBody>
      </p:sp>
      <p:sp>
        <p:nvSpPr>
          <p:cNvPr id="105" name="Metin kutusu 104">
            <a:extLst>
              <a:ext uri="{FF2B5EF4-FFF2-40B4-BE49-F238E27FC236}">
                <a16:creationId xmlns:a16="http://schemas.microsoft.com/office/drawing/2014/main" id="{163CC30C-B48E-4BD8-95AA-C4AF847C9ADB}"/>
              </a:ext>
            </a:extLst>
          </p:cNvPr>
          <p:cNvSpPr txBox="1"/>
          <p:nvPr/>
        </p:nvSpPr>
        <p:spPr>
          <a:xfrm>
            <a:off x="4918490" y="103731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C0B6DB"/>
                </a:solidFill>
                <a:cs typeface="Arial" panose="020B0604020202020204" pitchFamily="34" charset="0"/>
              </a:rPr>
              <a:t> </a:t>
            </a:r>
          </a:p>
        </p:txBody>
      </p:sp>
      <p:sp>
        <p:nvSpPr>
          <p:cNvPr id="106" name="Metin kutusu 105">
            <a:extLst>
              <a:ext uri="{FF2B5EF4-FFF2-40B4-BE49-F238E27FC236}">
                <a16:creationId xmlns:a16="http://schemas.microsoft.com/office/drawing/2014/main" id="{858EF1B8-C2D6-4A9E-A38D-088FF818E35E}"/>
              </a:ext>
            </a:extLst>
          </p:cNvPr>
          <p:cNvSpPr txBox="1"/>
          <p:nvPr/>
        </p:nvSpPr>
        <p:spPr>
          <a:xfrm>
            <a:off x="4912519" y="1398019"/>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E3A6CB"/>
                </a:solidFill>
                <a:cs typeface="Arial" panose="020B0604020202020204" pitchFamily="34" charset="0"/>
              </a:rPr>
              <a:t> </a:t>
            </a:r>
          </a:p>
        </p:txBody>
      </p:sp>
      <p:sp>
        <p:nvSpPr>
          <p:cNvPr id="107" name="Metin kutusu 106">
            <a:extLst>
              <a:ext uri="{FF2B5EF4-FFF2-40B4-BE49-F238E27FC236}">
                <a16:creationId xmlns:a16="http://schemas.microsoft.com/office/drawing/2014/main" id="{DD831AF4-36F1-4E68-B930-AE6BDD6C21D6}"/>
              </a:ext>
            </a:extLst>
          </p:cNvPr>
          <p:cNvSpPr txBox="1"/>
          <p:nvPr/>
        </p:nvSpPr>
        <p:spPr>
          <a:xfrm>
            <a:off x="5071163" y="676668"/>
            <a:ext cx="1699786" cy="246221"/>
          </a:xfrm>
          <a:prstGeom prst="rect">
            <a:avLst/>
          </a:prstGeom>
          <a:noFill/>
        </p:spPr>
        <p:txBody>
          <a:bodyPr wrap="square" rtlCol="0">
            <a:spAutoFit/>
          </a:bodyPr>
          <a:lstStyle/>
          <a:p>
            <a:r>
              <a:rPr lang="tr-TR" sz="1000" noProof="1">
                <a:cs typeface="Arial" panose="020B0604020202020204" pitchFamily="34" charset="0"/>
              </a:rPr>
              <a:t>A ürünü alış adedi</a:t>
            </a:r>
          </a:p>
        </p:txBody>
      </p:sp>
      <p:sp>
        <p:nvSpPr>
          <p:cNvPr id="108" name="Metin kutusu 107">
            <a:extLst>
              <a:ext uri="{FF2B5EF4-FFF2-40B4-BE49-F238E27FC236}">
                <a16:creationId xmlns:a16="http://schemas.microsoft.com/office/drawing/2014/main" id="{153684D5-AEA2-40C3-BB84-D0FBDE6214D2}"/>
              </a:ext>
            </a:extLst>
          </p:cNvPr>
          <p:cNvSpPr txBox="1"/>
          <p:nvPr/>
        </p:nvSpPr>
        <p:spPr>
          <a:xfrm>
            <a:off x="5061139" y="1022222"/>
            <a:ext cx="1446178" cy="246221"/>
          </a:xfrm>
          <a:prstGeom prst="rect">
            <a:avLst/>
          </a:prstGeom>
          <a:noFill/>
        </p:spPr>
        <p:txBody>
          <a:bodyPr wrap="square" rtlCol="0">
            <a:spAutoFit/>
          </a:bodyPr>
          <a:lstStyle/>
          <a:p>
            <a:r>
              <a:rPr lang="tr-TR" sz="1000" noProof="1">
                <a:cs typeface="Arial" panose="020B0604020202020204" pitchFamily="34" charset="0"/>
              </a:rPr>
              <a:t>B ürünü alış adedi</a:t>
            </a:r>
          </a:p>
        </p:txBody>
      </p:sp>
      <p:sp>
        <p:nvSpPr>
          <p:cNvPr id="109" name="Metin kutusu 108">
            <a:extLst>
              <a:ext uri="{FF2B5EF4-FFF2-40B4-BE49-F238E27FC236}">
                <a16:creationId xmlns:a16="http://schemas.microsoft.com/office/drawing/2014/main" id="{E49981B5-3A45-4D51-BE20-BD335901CBB3}"/>
              </a:ext>
            </a:extLst>
          </p:cNvPr>
          <p:cNvSpPr txBox="1"/>
          <p:nvPr/>
        </p:nvSpPr>
        <p:spPr>
          <a:xfrm>
            <a:off x="5056050" y="1389416"/>
            <a:ext cx="1699786" cy="246221"/>
          </a:xfrm>
          <a:prstGeom prst="rect">
            <a:avLst/>
          </a:prstGeom>
          <a:noFill/>
        </p:spPr>
        <p:txBody>
          <a:bodyPr wrap="square" rtlCol="0">
            <a:spAutoFit/>
          </a:bodyPr>
          <a:lstStyle/>
          <a:p>
            <a:r>
              <a:rPr lang="tr-TR" sz="1000" noProof="1">
                <a:cs typeface="Arial" panose="020B0604020202020204" pitchFamily="34" charset="0"/>
              </a:rPr>
              <a:t>C ürünü alış adedi</a:t>
            </a:r>
          </a:p>
        </p:txBody>
      </p:sp>
      <p:sp>
        <p:nvSpPr>
          <p:cNvPr id="110" name="Metin kutusu 109">
            <a:extLst>
              <a:ext uri="{FF2B5EF4-FFF2-40B4-BE49-F238E27FC236}">
                <a16:creationId xmlns:a16="http://schemas.microsoft.com/office/drawing/2014/main" id="{44A42F8C-AAB0-437D-A4D9-638256567B9E}"/>
              </a:ext>
            </a:extLst>
          </p:cNvPr>
          <p:cNvSpPr txBox="1"/>
          <p:nvPr/>
        </p:nvSpPr>
        <p:spPr>
          <a:xfrm>
            <a:off x="4914390" y="1681727"/>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F28D5F"/>
                </a:solidFill>
                <a:cs typeface="Arial" panose="020B0604020202020204" pitchFamily="34" charset="0"/>
              </a:rPr>
              <a:t> </a:t>
            </a:r>
          </a:p>
        </p:txBody>
      </p:sp>
      <p:sp>
        <p:nvSpPr>
          <p:cNvPr id="111" name="Metin kutusu 110">
            <a:extLst>
              <a:ext uri="{FF2B5EF4-FFF2-40B4-BE49-F238E27FC236}">
                <a16:creationId xmlns:a16="http://schemas.microsoft.com/office/drawing/2014/main" id="{E2ED9DAE-C54E-4F77-B505-FF202CCB3136}"/>
              </a:ext>
            </a:extLst>
          </p:cNvPr>
          <p:cNvSpPr txBox="1"/>
          <p:nvPr/>
        </p:nvSpPr>
        <p:spPr>
          <a:xfrm>
            <a:off x="5071163" y="1679723"/>
            <a:ext cx="1699786" cy="246221"/>
          </a:xfrm>
          <a:prstGeom prst="rect">
            <a:avLst/>
          </a:prstGeom>
          <a:noFill/>
        </p:spPr>
        <p:txBody>
          <a:bodyPr wrap="square" rtlCol="0">
            <a:spAutoFit/>
          </a:bodyPr>
          <a:lstStyle/>
          <a:p>
            <a:r>
              <a:rPr lang="tr-TR" sz="1000" noProof="1">
                <a:cs typeface="Arial" panose="020B0604020202020204" pitchFamily="34" charset="0"/>
              </a:rPr>
              <a:t>D ürünü alış adedi</a:t>
            </a:r>
          </a:p>
        </p:txBody>
      </p:sp>
      <mc:AlternateContent xmlns:mc="http://schemas.openxmlformats.org/markup-compatibility/2006" xmlns:a14="http://schemas.microsoft.com/office/drawing/2010/main">
        <mc:Choice Requires="a14">
          <p:sp>
            <p:nvSpPr>
              <p:cNvPr id="112" name="Metin kutusu 111">
                <a:extLst>
                  <a:ext uri="{FF2B5EF4-FFF2-40B4-BE49-F238E27FC236}">
                    <a16:creationId xmlns:a16="http://schemas.microsoft.com/office/drawing/2014/main" id="{52E245F9-BF88-4D38-8126-1FD9F1D801EE}"/>
                  </a:ext>
                </a:extLst>
              </p:cNvPr>
              <p:cNvSpPr txBox="1"/>
              <p:nvPr/>
            </p:nvSpPr>
            <p:spPr>
              <a:xfrm>
                <a:off x="3854687" y="1275382"/>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130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112" name="Metin kutusu 111">
                <a:extLst>
                  <a:ext uri="{FF2B5EF4-FFF2-40B4-BE49-F238E27FC236}">
                    <a16:creationId xmlns:a16="http://schemas.microsoft.com/office/drawing/2014/main" id="{52E245F9-BF88-4D38-8126-1FD9F1D801EE}"/>
                  </a:ext>
                </a:extLst>
              </p:cNvPr>
              <p:cNvSpPr txBox="1">
                <a:spLocks noRot="1" noChangeAspect="1" noMove="1" noResize="1" noEditPoints="1" noAdjustHandles="1" noChangeArrowheads="1" noChangeShapeType="1" noTextEdit="1"/>
              </p:cNvSpPr>
              <p:nvPr/>
            </p:nvSpPr>
            <p:spPr>
              <a:xfrm>
                <a:off x="3854687" y="1275382"/>
                <a:ext cx="493877" cy="230832"/>
              </a:xfrm>
              <a:prstGeom prst="rect">
                <a:avLst/>
              </a:prstGeom>
              <a:blipFill>
                <a:blip r:embed="rId19"/>
                <a:stretch>
                  <a:fillRect b="-131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3" name="Metin kutusu 112">
                <a:extLst>
                  <a:ext uri="{FF2B5EF4-FFF2-40B4-BE49-F238E27FC236}">
                    <a16:creationId xmlns:a16="http://schemas.microsoft.com/office/drawing/2014/main" id="{4685934F-2B07-4740-812C-4289BCEB7EB2}"/>
                  </a:ext>
                </a:extLst>
              </p:cNvPr>
              <p:cNvSpPr txBox="1"/>
              <p:nvPr/>
            </p:nvSpPr>
            <p:spPr>
              <a:xfrm>
                <a:off x="4091670" y="1077348"/>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100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113" name="Metin kutusu 112">
                <a:extLst>
                  <a:ext uri="{FF2B5EF4-FFF2-40B4-BE49-F238E27FC236}">
                    <a16:creationId xmlns:a16="http://schemas.microsoft.com/office/drawing/2014/main" id="{4685934F-2B07-4740-812C-4289BCEB7EB2}"/>
                  </a:ext>
                </a:extLst>
              </p:cNvPr>
              <p:cNvSpPr txBox="1">
                <a:spLocks noRot="1" noChangeAspect="1" noMove="1" noResize="1" noEditPoints="1" noAdjustHandles="1" noChangeArrowheads="1" noChangeShapeType="1" noTextEdit="1"/>
              </p:cNvSpPr>
              <p:nvPr/>
            </p:nvSpPr>
            <p:spPr>
              <a:xfrm>
                <a:off x="4091670" y="1077348"/>
                <a:ext cx="493877" cy="230832"/>
              </a:xfrm>
              <a:prstGeom prst="rect">
                <a:avLst/>
              </a:prstGeom>
              <a:blipFill>
                <a:blip r:embed="rId20"/>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4" name="Metin kutusu 113">
                <a:extLst>
                  <a:ext uri="{FF2B5EF4-FFF2-40B4-BE49-F238E27FC236}">
                    <a16:creationId xmlns:a16="http://schemas.microsoft.com/office/drawing/2014/main" id="{8C2259BF-CE81-4CD3-ADE8-5819D1702B6E}"/>
                  </a:ext>
                </a:extLst>
              </p:cNvPr>
              <p:cNvSpPr txBox="1"/>
              <p:nvPr/>
            </p:nvSpPr>
            <p:spPr>
              <a:xfrm>
                <a:off x="4109612" y="1408330"/>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50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114" name="Metin kutusu 113">
                <a:extLst>
                  <a:ext uri="{FF2B5EF4-FFF2-40B4-BE49-F238E27FC236}">
                    <a16:creationId xmlns:a16="http://schemas.microsoft.com/office/drawing/2014/main" id="{8C2259BF-CE81-4CD3-ADE8-5819D1702B6E}"/>
                  </a:ext>
                </a:extLst>
              </p:cNvPr>
              <p:cNvSpPr txBox="1">
                <a:spLocks noRot="1" noChangeAspect="1" noMove="1" noResize="1" noEditPoints="1" noAdjustHandles="1" noChangeArrowheads="1" noChangeShapeType="1" noTextEdit="1"/>
              </p:cNvSpPr>
              <p:nvPr/>
            </p:nvSpPr>
            <p:spPr>
              <a:xfrm>
                <a:off x="4109612" y="1408330"/>
                <a:ext cx="493877" cy="230832"/>
              </a:xfrm>
              <a:prstGeom prst="rect">
                <a:avLst/>
              </a:prstGeom>
              <a:blipFill>
                <a:blip r:embed="rId21"/>
                <a:stretch>
                  <a:fillRect b="-131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5" name="Metin kutusu 114">
                <a:extLst>
                  <a:ext uri="{FF2B5EF4-FFF2-40B4-BE49-F238E27FC236}">
                    <a16:creationId xmlns:a16="http://schemas.microsoft.com/office/drawing/2014/main" id="{99FCDF6E-CB44-4B7A-9EA2-676401C616CC}"/>
                  </a:ext>
                </a:extLst>
              </p:cNvPr>
              <p:cNvSpPr txBox="1"/>
              <p:nvPr/>
            </p:nvSpPr>
            <p:spPr>
              <a:xfrm>
                <a:off x="4279882" y="1309572"/>
                <a:ext cx="493877" cy="230832"/>
              </a:xfrm>
              <a:prstGeom prst="rect">
                <a:avLst/>
              </a:prstGeom>
              <a:noFill/>
            </p:spPr>
            <p:txBody>
              <a:bodyPr wrap="square">
                <a:spAutoFit/>
              </a:bodyPr>
              <a:lstStyle/>
              <a:p>
                <a:r>
                  <a:rPr lang="tr-TR" sz="900" noProof="1">
                    <a:ea typeface="Cambria Math" panose="02040503050406030204" pitchFamily="18" charset="0"/>
                    <a:cs typeface="Arial" panose="020B0604020202020204" pitchFamily="34" charset="0"/>
                  </a:rPr>
                  <a:t>80</a:t>
                </a:r>
                <a14:m>
                  <m:oMath xmlns:m="http://schemas.openxmlformats.org/officeDocument/2006/math">
                    <m:r>
                      <a:rPr lang="tr-TR" sz="9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tx1"/>
                  </a:solidFill>
                </a:endParaRPr>
              </a:p>
            </p:txBody>
          </p:sp>
        </mc:Choice>
        <mc:Fallback xmlns="">
          <p:sp>
            <p:nvSpPr>
              <p:cNvPr id="115" name="Metin kutusu 114">
                <a:extLst>
                  <a:ext uri="{FF2B5EF4-FFF2-40B4-BE49-F238E27FC236}">
                    <a16:creationId xmlns:a16="http://schemas.microsoft.com/office/drawing/2014/main" id="{99FCDF6E-CB44-4B7A-9EA2-676401C616CC}"/>
                  </a:ext>
                </a:extLst>
              </p:cNvPr>
              <p:cNvSpPr txBox="1">
                <a:spLocks noRot="1" noChangeAspect="1" noMove="1" noResize="1" noEditPoints="1" noAdjustHandles="1" noChangeArrowheads="1" noChangeShapeType="1" noTextEdit="1"/>
              </p:cNvSpPr>
              <p:nvPr/>
            </p:nvSpPr>
            <p:spPr>
              <a:xfrm>
                <a:off x="4279882" y="1309572"/>
                <a:ext cx="493877" cy="230832"/>
              </a:xfrm>
              <a:prstGeom prst="rect">
                <a:avLst/>
              </a:prstGeom>
              <a:blipFill>
                <a:blip r:embed="rId9"/>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6" name="Metin kutusu 115">
                <a:extLst>
                  <a:ext uri="{FF2B5EF4-FFF2-40B4-BE49-F238E27FC236}">
                    <a16:creationId xmlns:a16="http://schemas.microsoft.com/office/drawing/2014/main" id="{64435044-AF1E-4A95-B259-90C98986365A}"/>
                  </a:ext>
                </a:extLst>
              </p:cNvPr>
              <p:cNvSpPr txBox="1"/>
              <p:nvPr/>
            </p:nvSpPr>
            <p:spPr>
              <a:xfrm>
                <a:off x="4116564" y="2499052"/>
                <a:ext cx="493877" cy="230832"/>
              </a:xfrm>
              <a:prstGeom prst="rect">
                <a:avLst/>
              </a:prstGeom>
              <a:noFill/>
            </p:spPr>
            <p:txBody>
              <a:bodyPr wrap="square">
                <a:spAutoFit/>
              </a:bodyPr>
              <a:lstStyle/>
              <a:p>
                <a:r>
                  <a:rPr lang="tr-TR" sz="900" noProof="1">
                    <a:solidFill>
                      <a:schemeClr val="bg1"/>
                    </a:solidFill>
                    <a:ea typeface="Cambria Math" panose="02040503050406030204" pitchFamily="18" charset="0"/>
                    <a:cs typeface="Arial" panose="020B0604020202020204" pitchFamily="34" charset="0"/>
                  </a:rPr>
                  <a:t>80</a:t>
                </a:r>
                <a14:m>
                  <m:oMath xmlns:m="http://schemas.openxmlformats.org/officeDocument/2006/math">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bg1"/>
                  </a:solidFill>
                </a:endParaRPr>
              </a:p>
            </p:txBody>
          </p:sp>
        </mc:Choice>
        <mc:Fallback xmlns="">
          <p:sp>
            <p:nvSpPr>
              <p:cNvPr id="116" name="Metin kutusu 115">
                <a:extLst>
                  <a:ext uri="{FF2B5EF4-FFF2-40B4-BE49-F238E27FC236}">
                    <a16:creationId xmlns:a16="http://schemas.microsoft.com/office/drawing/2014/main" id="{64435044-AF1E-4A95-B259-90C98986365A}"/>
                  </a:ext>
                </a:extLst>
              </p:cNvPr>
              <p:cNvSpPr txBox="1">
                <a:spLocks noRot="1" noChangeAspect="1" noMove="1" noResize="1" noEditPoints="1" noAdjustHandles="1" noChangeArrowheads="1" noChangeShapeType="1" noTextEdit="1"/>
              </p:cNvSpPr>
              <p:nvPr/>
            </p:nvSpPr>
            <p:spPr>
              <a:xfrm>
                <a:off x="4116564" y="2499052"/>
                <a:ext cx="493877" cy="230832"/>
              </a:xfrm>
              <a:prstGeom prst="rect">
                <a:avLst/>
              </a:prstGeom>
              <a:blipFill>
                <a:blip r:embed="rId22"/>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7" name="Metin kutusu 116">
                <a:extLst>
                  <a:ext uri="{FF2B5EF4-FFF2-40B4-BE49-F238E27FC236}">
                    <a16:creationId xmlns:a16="http://schemas.microsoft.com/office/drawing/2014/main" id="{D374DB68-B7FE-4849-80F8-F757633CBC32}"/>
                  </a:ext>
                </a:extLst>
              </p:cNvPr>
              <p:cNvSpPr txBox="1"/>
              <p:nvPr/>
            </p:nvSpPr>
            <p:spPr>
              <a:xfrm>
                <a:off x="4264454" y="2666532"/>
                <a:ext cx="493877" cy="230832"/>
              </a:xfrm>
              <a:prstGeom prst="rect">
                <a:avLst/>
              </a:prstGeom>
              <a:noFill/>
            </p:spPr>
            <p:txBody>
              <a:bodyPr wrap="square">
                <a:spAutoFit/>
              </a:bodyPr>
              <a:lstStyle/>
              <a:p>
                <a:r>
                  <a:rPr lang="tr-TR" sz="900" noProof="1">
                    <a:solidFill>
                      <a:schemeClr val="bg1"/>
                    </a:solidFill>
                    <a:ea typeface="Cambria Math" panose="02040503050406030204" pitchFamily="18" charset="0"/>
                    <a:cs typeface="Arial" panose="020B0604020202020204" pitchFamily="34" charset="0"/>
                  </a:rPr>
                  <a:t>40</a:t>
                </a:r>
                <a14:m>
                  <m:oMath xmlns:m="http://schemas.openxmlformats.org/officeDocument/2006/math">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bg1"/>
                  </a:solidFill>
                </a:endParaRPr>
              </a:p>
            </p:txBody>
          </p:sp>
        </mc:Choice>
        <mc:Fallback xmlns="">
          <p:sp>
            <p:nvSpPr>
              <p:cNvPr id="117" name="Metin kutusu 116">
                <a:extLst>
                  <a:ext uri="{FF2B5EF4-FFF2-40B4-BE49-F238E27FC236}">
                    <a16:creationId xmlns:a16="http://schemas.microsoft.com/office/drawing/2014/main" id="{D374DB68-B7FE-4849-80F8-F757633CBC32}"/>
                  </a:ext>
                </a:extLst>
              </p:cNvPr>
              <p:cNvSpPr txBox="1">
                <a:spLocks noRot="1" noChangeAspect="1" noMove="1" noResize="1" noEditPoints="1" noAdjustHandles="1" noChangeArrowheads="1" noChangeShapeType="1" noTextEdit="1"/>
              </p:cNvSpPr>
              <p:nvPr/>
            </p:nvSpPr>
            <p:spPr>
              <a:xfrm>
                <a:off x="4264454" y="2666532"/>
                <a:ext cx="493877" cy="230832"/>
              </a:xfrm>
              <a:prstGeom prst="rect">
                <a:avLst/>
              </a:prstGeom>
              <a:blipFill>
                <a:blip r:embed="rId23"/>
                <a:stretch>
                  <a:fillRect b="-131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8" name="Metin kutusu 117">
                <a:extLst>
                  <a:ext uri="{FF2B5EF4-FFF2-40B4-BE49-F238E27FC236}">
                    <a16:creationId xmlns:a16="http://schemas.microsoft.com/office/drawing/2014/main" id="{1E45F2C6-F630-43B1-82B2-39F61CD936F7}"/>
                  </a:ext>
                </a:extLst>
              </p:cNvPr>
              <p:cNvSpPr txBox="1"/>
              <p:nvPr/>
            </p:nvSpPr>
            <p:spPr>
              <a:xfrm>
                <a:off x="4128732" y="2809378"/>
                <a:ext cx="493877" cy="230832"/>
              </a:xfrm>
              <a:prstGeom prst="rect">
                <a:avLst/>
              </a:prstGeom>
              <a:noFill/>
            </p:spPr>
            <p:txBody>
              <a:bodyPr wrap="square">
                <a:spAutoFit/>
              </a:bodyPr>
              <a:lstStyle/>
              <a:p>
                <a:r>
                  <a:rPr lang="tr-TR" sz="900" noProof="1">
                    <a:solidFill>
                      <a:schemeClr val="bg1"/>
                    </a:solidFill>
                    <a:ea typeface="Cambria Math" panose="02040503050406030204" pitchFamily="18" charset="0"/>
                    <a:cs typeface="Arial" panose="020B0604020202020204" pitchFamily="34" charset="0"/>
                  </a:rPr>
                  <a:t>80</a:t>
                </a:r>
                <a14:m>
                  <m:oMath xmlns:m="http://schemas.openxmlformats.org/officeDocument/2006/math">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bg1"/>
                  </a:solidFill>
                </a:endParaRPr>
              </a:p>
            </p:txBody>
          </p:sp>
        </mc:Choice>
        <mc:Fallback xmlns="">
          <p:sp>
            <p:nvSpPr>
              <p:cNvPr id="118" name="Metin kutusu 117">
                <a:extLst>
                  <a:ext uri="{FF2B5EF4-FFF2-40B4-BE49-F238E27FC236}">
                    <a16:creationId xmlns:a16="http://schemas.microsoft.com/office/drawing/2014/main" id="{1E45F2C6-F630-43B1-82B2-39F61CD936F7}"/>
                  </a:ext>
                </a:extLst>
              </p:cNvPr>
              <p:cNvSpPr txBox="1">
                <a:spLocks noRot="1" noChangeAspect="1" noMove="1" noResize="1" noEditPoints="1" noAdjustHandles="1" noChangeArrowheads="1" noChangeShapeType="1" noTextEdit="1"/>
              </p:cNvSpPr>
              <p:nvPr/>
            </p:nvSpPr>
            <p:spPr>
              <a:xfrm>
                <a:off x="4128732" y="2809378"/>
                <a:ext cx="493877" cy="230832"/>
              </a:xfrm>
              <a:prstGeom prst="rect">
                <a:avLst/>
              </a:prstGeom>
              <a:blipFill>
                <a:blip r:embed="rId22"/>
                <a:stretch>
                  <a:fillRect b="-105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9" name="Metin kutusu 118">
                <a:extLst>
                  <a:ext uri="{FF2B5EF4-FFF2-40B4-BE49-F238E27FC236}">
                    <a16:creationId xmlns:a16="http://schemas.microsoft.com/office/drawing/2014/main" id="{FA8F59E2-60A2-4A90-9799-FAF0757DB060}"/>
                  </a:ext>
                </a:extLst>
              </p:cNvPr>
              <p:cNvSpPr txBox="1"/>
              <p:nvPr/>
            </p:nvSpPr>
            <p:spPr>
              <a:xfrm>
                <a:off x="3860521" y="2650922"/>
                <a:ext cx="493877" cy="230832"/>
              </a:xfrm>
              <a:prstGeom prst="rect">
                <a:avLst/>
              </a:prstGeom>
              <a:noFill/>
            </p:spPr>
            <p:txBody>
              <a:bodyPr wrap="square">
                <a:spAutoFit/>
              </a:bodyPr>
              <a:lstStyle/>
              <a:p>
                <a:r>
                  <a:rPr lang="tr-TR" sz="900" noProof="1">
                    <a:solidFill>
                      <a:schemeClr val="bg1"/>
                    </a:solidFill>
                    <a:ea typeface="Cambria Math" panose="02040503050406030204" pitchFamily="18" charset="0"/>
                    <a:cs typeface="Arial" panose="020B0604020202020204" pitchFamily="34" charset="0"/>
                  </a:rPr>
                  <a:t>160</a:t>
                </a:r>
                <a14:m>
                  <m:oMath xmlns:m="http://schemas.openxmlformats.org/officeDocument/2006/math">
                    <m:r>
                      <a:rPr lang="tr-TR" sz="900" i="1" noProof="1">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a14:m>
                <a:endParaRPr lang="tr-TR" sz="900" dirty="0">
                  <a:solidFill>
                    <a:schemeClr val="bg1"/>
                  </a:solidFill>
                </a:endParaRPr>
              </a:p>
            </p:txBody>
          </p:sp>
        </mc:Choice>
        <mc:Fallback xmlns="">
          <p:sp>
            <p:nvSpPr>
              <p:cNvPr id="119" name="Metin kutusu 118">
                <a:extLst>
                  <a:ext uri="{FF2B5EF4-FFF2-40B4-BE49-F238E27FC236}">
                    <a16:creationId xmlns:a16="http://schemas.microsoft.com/office/drawing/2014/main" id="{FA8F59E2-60A2-4A90-9799-FAF0757DB060}"/>
                  </a:ext>
                </a:extLst>
              </p:cNvPr>
              <p:cNvSpPr txBox="1">
                <a:spLocks noRot="1" noChangeAspect="1" noMove="1" noResize="1" noEditPoints="1" noAdjustHandles="1" noChangeArrowheads="1" noChangeShapeType="1" noTextEdit="1"/>
              </p:cNvSpPr>
              <p:nvPr/>
            </p:nvSpPr>
            <p:spPr>
              <a:xfrm>
                <a:off x="3860521" y="2650922"/>
                <a:ext cx="493877" cy="230832"/>
              </a:xfrm>
              <a:prstGeom prst="rect">
                <a:avLst/>
              </a:prstGeom>
              <a:blipFill>
                <a:blip r:embed="rId24"/>
                <a:stretch>
                  <a:fillRect b="-10526"/>
                </a:stretch>
              </a:blipFill>
            </p:spPr>
            <p:txBody>
              <a:bodyPr/>
              <a:lstStyle/>
              <a:p>
                <a:r>
                  <a:rPr lang="tr-TR">
                    <a:noFill/>
                  </a:rPr>
                  <a:t> </a:t>
                </a:r>
              </a:p>
            </p:txBody>
          </p:sp>
        </mc:Fallback>
      </mc:AlternateContent>
      <p:sp>
        <p:nvSpPr>
          <p:cNvPr id="120" name="Metin kutusu 119">
            <a:extLst>
              <a:ext uri="{FF2B5EF4-FFF2-40B4-BE49-F238E27FC236}">
                <a16:creationId xmlns:a16="http://schemas.microsoft.com/office/drawing/2014/main" id="{B0DA8DAD-B00A-49E0-8662-ADC6EAB4AEB9}"/>
              </a:ext>
            </a:extLst>
          </p:cNvPr>
          <p:cNvSpPr txBox="1"/>
          <p:nvPr/>
        </p:nvSpPr>
        <p:spPr>
          <a:xfrm>
            <a:off x="3523798" y="3513720"/>
            <a:ext cx="3272745" cy="400110"/>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r>
              <a:rPr lang="tr-TR" sz="1000" b="1" noProof="1">
                <a:solidFill>
                  <a:schemeClr val="tx1"/>
                </a:solidFill>
                <a:cs typeface="Arial" panose="020B0604020202020204" pitchFamily="34" charset="0"/>
              </a:rPr>
              <a:t>A ürününden 20 tane alınmış ve hepsi satılmıştır.  Buna göre bulabildiğiniz kadar veri bulunuz </a:t>
            </a:r>
            <a:r>
              <a:rPr lang="tr-TR" sz="1000" b="1" noProof="1">
                <a:solidFill>
                  <a:schemeClr val="tx1"/>
                </a:solidFill>
                <a:cs typeface="Arial" panose="020B0604020202020204" pitchFamily="34" charset="0"/>
                <a:sym typeface="Wingdings" panose="05000000000000000000" pitchFamily="2" charset="2"/>
              </a:rPr>
              <a:t></a:t>
            </a:r>
            <a:endParaRPr lang="tr-TR" sz="1000" b="1" noProof="1">
              <a:solidFill>
                <a:schemeClr val="tx1"/>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121" name="Metin kutusu 120">
                <a:extLst>
                  <a:ext uri="{FF2B5EF4-FFF2-40B4-BE49-F238E27FC236}">
                    <a16:creationId xmlns:a16="http://schemas.microsoft.com/office/drawing/2014/main" id="{99DD6384-B2A5-4D39-8692-EEE0546E20CB}"/>
                  </a:ext>
                </a:extLst>
              </p:cNvPr>
              <p:cNvSpPr txBox="1"/>
              <p:nvPr/>
            </p:nvSpPr>
            <p:spPr>
              <a:xfrm>
                <a:off x="3549736" y="5311664"/>
                <a:ext cx="3289074" cy="3431196"/>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spAutoFit/>
              </a:bodyPr>
              <a:lstStyle/>
              <a:p>
                <a:r>
                  <a:rPr lang="tr-TR" sz="1000" noProof="1">
                    <a:solidFill>
                      <a:schemeClr val="tx1"/>
                    </a:solidFill>
                    <a:cs typeface="Arial" panose="020B0604020202020204" pitchFamily="34" charset="0"/>
                  </a:rPr>
                  <a:t>A ürününden 20 tane alınmışsa 100</a:t>
                </a:r>
                <a14:m>
                  <m:oMath xmlns:m="http://schemas.openxmlformats.org/officeDocument/2006/math">
                    <m:r>
                      <a:rPr lang="tr-TR" sz="1000" b="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dirty="0">
                    <a:solidFill>
                      <a:schemeClr val="tx1"/>
                    </a:solidFill>
                  </a:rPr>
                  <a:t> demek ki 20 ürüne denk geliyormuş sayı olaraktan.</a:t>
                </a:r>
              </a:p>
              <a:p>
                <a:endParaRPr lang="tr-TR" sz="1000" dirty="0">
                  <a:solidFill>
                    <a:schemeClr val="tx1"/>
                  </a:solidFill>
                </a:endParaRPr>
              </a:p>
              <a:p>
                <a:r>
                  <a:rPr lang="tr-TR" sz="1000" dirty="0">
                    <a:solidFill>
                      <a:schemeClr val="tx1"/>
                    </a:solidFill>
                  </a:rPr>
                  <a:t>20 ürün 100</a:t>
                </a:r>
                <a14:m>
                  <m:oMath xmlns:m="http://schemas.openxmlformats.org/officeDocument/2006/math">
                    <m:r>
                      <a:rPr lang="tr-TR" sz="1000" b="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dirty="0">
                    <a:solidFill>
                      <a:schemeClr val="tx1"/>
                    </a:solidFill>
                  </a:rPr>
                  <a:t> ise  360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dirty="0">
                    <a:solidFill>
                      <a:schemeClr val="tx1"/>
                    </a:solidFill>
                  </a:rPr>
                  <a:t> toplamda 72 ürün demektir. Yani her </a:t>
                </a:r>
              </a:p>
              <a:p>
                <a:r>
                  <a:rPr lang="tr-TR" sz="1000" dirty="0">
                    <a:solidFill>
                      <a:schemeClr val="tx1"/>
                    </a:solidFill>
                  </a:rPr>
                  <a:t> 1</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dirty="0">
                    <a:solidFill>
                      <a:schemeClr val="tx1"/>
                    </a:solidFill>
                  </a:rPr>
                  <a:t>  </a:t>
                </a:r>
                <a14:m>
                  <m:oMath xmlns:m="http://schemas.openxmlformats.org/officeDocument/2006/math">
                    <m:f>
                      <m:fPr>
                        <m:ctrlPr>
                          <a:rPr lang="tr-TR" sz="800" i="1" noProof="1" dirty="0" smtClean="0">
                            <a:solidFill>
                              <a:schemeClr val="tx1"/>
                            </a:solidFill>
                            <a:latin typeface="Cambria Math" panose="02040503050406030204" pitchFamily="18" charset="0"/>
                          </a:rPr>
                        </m:ctrlPr>
                      </m:fPr>
                      <m:num>
                        <m:r>
                          <m:rPr>
                            <m:nor/>
                          </m:rPr>
                          <a:rPr lang="tr-TR" sz="800" noProof="1" dirty="0">
                            <a:solidFill>
                              <a:schemeClr val="tx1"/>
                            </a:solidFill>
                            <a:latin typeface="Cambria Math" panose="02040503050406030204" pitchFamily="18" charset="0"/>
                          </a:rPr>
                          <m:t> </m:t>
                        </m:r>
                        <m:r>
                          <m:rPr>
                            <m:nor/>
                          </m:rPr>
                          <a:rPr lang="tr-TR" sz="800" noProof="1" dirty="0">
                            <a:solidFill>
                              <a:schemeClr val="tx1"/>
                            </a:solidFill>
                            <a:latin typeface="Helvetica" panose="020B0604020202020204" pitchFamily="34" charset="0"/>
                            <a:cs typeface="Helvetica" panose="020B0604020202020204" pitchFamily="34" charset="0"/>
                          </a:rPr>
                          <m:t>1 </m:t>
                        </m:r>
                      </m:num>
                      <m:den>
                        <m:r>
                          <m:rPr>
                            <m:nor/>
                          </m:rPr>
                          <a:rPr lang="tr-TR" sz="800" b="0" i="0" noProof="1" dirty="0" smtClean="0">
                            <a:solidFill>
                              <a:schemeClr val="tx1"/>
                            </a:solidFill>
                            <a:latin typeface="Helvetica" panose="020B0604020202020204" pitchFamily="34" charset="0"/>
                            <a:cs typeface="Helvetica" panose="020B0604020202020204" pitchFamily="34" charset="0"/>
                          </a:rPr>
                          <m:t>5</m:t>
                        </m:r>
                      </m:den>
                    </m:f>
                  </m:oMath>
                </a14:m>
                <a:r>
                  <a:rPr lang="tr-TR" sz="8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ürün </a:t>
                </a:r>
                <a:r>
                  <a:rPr lang="tr-TR" sz="1000" u="sng" noProof="1">
                    <a:solidFill>
                      <a:schemeClr val="tx1"/>
                    </a:solidFill>
                    <a:cs typeface="Arial" panose="020B0604020202020204" pitchFamily="34" charset="0"/>
                  </a:rPr>
                  <a:t>sayısına</a:t>
                </a:r>
                <a:r>
                  <a:rPr lang="tr-TR" sz="1000" noProof="1">
                    <a:solidFill>
                      <a:schemeClr val="tx1"/>
                    </a:solidFill>
                    <a:cs typeface="Arial" panose="020B0604020202020204" pitchFamily="34" charset="0"/>
                  </a:rPr>
                  <a:t> tekabül etmektedir. Birinci grafikteki merkez açılarının </a:t>
                </a:r>
                <a14:m>
                  <m:oMath xmlns:m="http://schemas.openxmlformats.org/officeDocument/2006/math">
                    <m:f>
                      <m:fPr>
                        <m:ctrlPr>
                          <a:rPr lang="tr-TR" sz="1000" i="1" noProof="1" dirty="0">
                            <a:solidFill>
                              <a:schemeClr val="tx1"/>
                            </a:solidFill>
                            <a:latin typeface="Cambria Math" panose="02040503050406030204" pitchFamily="18" charset="0"/>
                          </a:rPr>
                        </m:ctrlPr>
                      </m:fPr>
                      <m:num>
                        <m:r>
                          <m:rPr>
                            <m:nor/>
                          </m:rPr>
                          <a:rPr lang="tr-TR" sz="1000" noProof="1" dirty="0">
                            <a:solidFill>
                              <a:schemeClr val="tx1"/>
                            </a:solidFill>
                            <a:latin typeface="Cambria Math" panose="02040503050406030204" pitchFamily="18" charset="0"/>
                          </a:rPr>
                          <m:t> </m:t>
                        </m:r>
                        <m:r>
                          <m:rPr>
                            <m:nor/>
                          </m:rPr>
                          <a:rPr lang="tr-TR" sz="1000" noProof="1" dirty="0">
                            <a:solidFill>
                              <a:schemeClr val="tx1"/>
                            </a:solidFill>
                            <a:latin typeface="Helvetica" panose="020B0604020202020204" pitchFamily="34" charset="0"/>
                            <a:cs typeface="Helvetica" panose="020B0604020202020204" pitchFamily="34" charset="0"/>
                          </a:rPr>
                          <m:t>1 </m:t>
                        </m:r>
                      </m:num>
                      <m:den>
                        <m:r>
                          <m:rPr>
                            <m:nor/>
                          </m:rPr>
                          <a:rPr lang="tr-TR" sz="1000" noProof="1" dirty="0">
                            <a:solidFill>
                              <a:schemeClr val="tx1"/>
                            </a:solidFill>
                            <a:latin typeface="Helvetica" panose="020B0604020202020204" pitchFamily="34" charset="0"/>
                            <a:cs typeface="Helvetica" panose="020B0604020202020204" pitchFamily="34" charset="0"/>
                          </a:rPr>
                          <m:t>5</m:t>
                        </m:r>
                      </m:den>
                    </m:f>
                  </m:oMath>
                </a14:m>
                <a:r>
                  <a:rPr lang="tr-TR" sz="1000" noProof="1">
                    <a:solidFill>
                      <a:schemeClr val="tx1"/>
                    </a:solidFill>
                    <a:cs typeface="Arial" panose="020B0604020202020204" pitchFamily="34" charset="0"/>
                  </a:rPr>
                  <a:t>  </a:t>
                </a:r>
                <a:r>
                  <a:rPr lang="tr-TR" sz="1100" noProof="1">
                    <a:solidFill>
                      <a:schemeClr val="tx1"/>
                    </a:solidFill>
                    <a:cs typeface="Arial" panose="020B0604020202020204" pitchFamily="34" charset="0"/>
                  </a:rPr>
                  <a:t>katı ürün sayısını ifade etmektedir.</a:t>
                </a:r>
              </a:p>
              <a:p>
                <a:endParaRPr lang="tr-TR" sz="11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2.grafiği yorumlayalım :  A ürünün tamamının satıldığını söyleniyor 20 adet aldık ve satmışız. </a:t>
                </a:r>
              </a:p>
              <a:p>
                <a:endParaRPr lang="tr-TR" sz="1100" noProof="1">
                  <a:solidFill>
                    <a:schemeClr val="tx1"/>
                  </a:solidFill>
                  <a:cs typeface="Arial" panose="020B0604020202020204" pitchFamily="34" charset="0"/>
                </a:endParaRPr>
              </a:p>
              <a:p>
                <a:pPr marL="171450" indent="-171450">
                  <a:buFont typeface="Wingdings" panose="05000000000000000000" pitchFamily="2" charset="2"/>
                  <a:buChar char="Ø"/>
                </a:pPr>
                <a:r>
                  <a:rPr lang="tr-TR" sz="1000" b="1" noProof="1">
                    <a:solidFill>
                      <a:schemeClr val="tx1"/>
                    </a:solidFill>
                    <a:cs typeface="Arial" panose="020B0604020202020204" pitchFamily="34" charset="0"/>
                  </a:rPr>
                  <a:t>İkinci grafikte </a:t>
                </a:r>
                <a:r>
                  <a:rPr lang="tr-TR" sz="1000" noProof="1">
                    <a:solidFill>
                      <a:schemeClr val="tx1"/>
                    </a:solidFill>
                    <a:cs typeface="Arial" panose="020B0604020202020204" pitchFamily="34" charset="0"/>
                  </a:rPr>
                  <a:t>20 adet A ürün 160</a:t>
                </a:r>
                <a14:m>
                  <m:oMath xmlns:m="http://schemas.openxmlformats.org/officeDocument/2006/math">
                    <m:r>
                      <a:rPr lang="tr-TR" sz="1000" i="1" noProof="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solidFill>
                      <a:schemeClr val="tx1"/>
                    </a:solidFill>
                    <a:cs typeface="Arial" panose="020B0604020202020204" pitchFamily="34" charset="0"/>
                  </a:rPr>
                  <a:t> ile temsil edilmiş.</a:t>
                </a:r>
              </a:p>
              <a:p>
                <a:pPr marL="171450" indent="-171450">
                  <a:buFont typeface="Wingdings" panose="05000000000000000000" pitchFamily="2" charset="2"/>
                  <a:buChar char="Ø"/>
                </a:pPr>
                <a:r>
                  <a:rPr lang="tr-TR" sz="1000" noProof="1">
                    <a:solidFill>
                      <a:schemeClr val="tx1"/>
                    </a:solidFill>
                    <a:cs typeface="Arial" panose="020B0604020202020204" pitchFamily="34" charset="0"/>
                  </a:rPr>
                  <a:t>1</a:t>
                </a:r>
                <a14:m>
                  <m:oMath xmlns:m="http://schemas.openxmlformats.org/officeDocument/2006/math">
                    <m:r>
                      <a:rPr lang="tr-TR" sz="100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solidFill>
                      <a:schemeClr val="tx1"/>
                    </a:solidFill>
                    <a:cs typeface="Arial" panose="020B0604020202020204" pitchFamily="34" charset="0"/>
                  </a:rPr>
                  <a:t> nin anlamı </a:t>
                </a:r>
                <a14:m>
                  <m:oMath xmlns:m="http://schemas.openxmlformats.org/officeDocument/2006/math">
                    <m:f>
                      <m:fPr>
                        <m:ctrlPr>
                          <a:rPr lang="tr-TR" sz="1000" i="1" noProof="1" dirty="0">
                            <a:solidFill>
                              <a:schemeClr val="tx1"/>
                            </a:solidFill>
                            <a:latin typeface="Cambria Math" panose="02040503050406030204" pitchFamily="18" charset="0"/>
                          </a:rPr>
                        </m:ctrlPr>
                      </m:fPr>
                      <m:num>
                        <m:r>
                          <m:rPr>
                            <m:nor/>
                          </m:rPr>
                          <a:rPr lang="tr-TR" sz="1000" noProof="1" dirty="0">
                            <a:solidFill>
                              <a:schemeClr val="tx1"/>
                            </a:solidFill>
                            <a:latin typeface="Cambria Math" panose="02040503050406030204" pitchFamily="18" charset="0"/>
                          </a:rPr>
                          <m:t> </m:t>
                        </m:r>
                        <m:r>
                          <m:rPr>
                            <m:nor/>
                          </m:rPr>
                          <a:rPr lang="tr-TR" sz="1000" noProof="1" dirty="0">
                            <a:solidFill>
                              <a:schemeClr val="tx1"/>
                            </a:solidFill>
                            <a:latin typeface="Helvetica" panose="020B0604020202020204" pitchFamily="34" charset="0"/>
                            <a:cs typeface="Helvetica" panose="020B0604020202020204" pitchFamily="34" charset="0"/>
                          </a:rPr>
                          <m:t>1 </m:t>
                        </m:r>
                      </m:num>
                      <m:den>
                        <m:r>
                          <m:rPr>
                            <m:nor/>
                          </m:rPr>
                          <a:rPr lang="tr-TR" sz="1000" b="0" i="0" noProof="1" dirty="0" smtClean="0">
                            <a:solidFill>
                              <a:schemeClr val="tx1"/>
                            </a:solidFill>
                            <a:latin typeface="Helvetica" panose="020B0604020202020204" pitchFamily="34" charset="0"/>
                            <a:cs typeface="Helvetica" panose="020B0604020202020204" pitchFamily="34" charset="0"/>
                          </a:rPr>
                          <m:t>8</m:t>
                        </m:r>
                      </m:den>
                    </m:f>
                  </m:oMath>
                </a14:m>
                <a:r>
                  <a:rPr lang="tr-TR" sz="1000" noProof="1">
                    <a:solidFill>
                      <a:schemeClr val="tx1"/>
                    </a:solidFill>
                    <a:cs typeface="Arial" panose="020B0604020202020204" pitchFamily="34" charset="0"/>
                  </a:rPr>
                  <a:t> </a:t>
                </a:r>
                <a:r>
                  <a:rPr lang="tr-TR" sz="1000" u="sng" noProof="1">
                    <a:solidFill>
                      <a:schemeClr val="tx1"/>
                    </a:solidFill>
                    <a:cs typeface="Arial" panose="020B0604020202020204" pitchFamily="34" charset="0"/>
                  </a:rPr>
                  <a:t>sayıda</a:t>
                </a:r>
                <a:r>
                  <a:rPr lang="tr-TR" sz="1000" noProof="1">
                    <a:solidFill>
                      <a:schemeClr val="tx1"/>
                    </a:solidFill>
                    <a:cs typeface="Arial" panose="020B0604020202020204" pitchFamily="34" charset="0"/>
                  </a:rPr>
                  <a:t> ürüne tekabül edecektir.</a:t>
                </a:r>
              </a:p>
              <a:p>
                <a:pPr marL="171450" indent="-171450">
                  <a:buFont typeface="Wingdings" panose="05000000000000000000" pitchFamily="2" charset="2"/>
                  <a:buChar char="Ø"/>
                </a:pPr>
                <a:r>
                  <a:rPr lang="tr-TR" sz="1000" noProof="1">
                    <a:solidFill>
                      <a:schemeClr val="tx1"/>
                    </a:solidFill>
                    <a:cs typeface="Arial" panose="020B0604020202020204" pitchFamily="34" charset="0"/>
                  </a:rPr>
                  <a:t>İkinci grafikte merkez açının </a:t>
                </a:r>
                <a14:m>
                  <m:oMath xmlns:m="http://schemas.openxmlformats.org/officeDocument/2006/math">
                    <m:f>
                      <m:fPr>
                        <m:ctrlPr>
                          <a:rPr lang="tr-TR" sz="1000" i="1" noProof="1" dirty="0" smtClean="0">
                            <a:solidFill>
                              <a:schemeClr val="tx1"/>
                            </a:solidFill>
                            <a:latin typeface="Cambria Math" panose="02040503050406030204" pitchFamily="18" charset="0"/>
                          </a:rPr>
                        </m:ctrlPr>
                      </m:fPr>
                      <m:num>
                        <m:r>
                          <m:rPr>
                            <m:nor/>
                          </m:rPr>
                          <a:rPr lang="tr-TR" sz="1000" noProof="1" dirty="0">
                            <a:solidFill>
                              <a:schemeClr val="tx1"/>
                            </a:solidFill>
                            <a:latin typeface="Cambria Math" panose="02040503050406030204" pitchFamily="18" charset="0"/>
                          </a:rPr>
                          <m:t> </m:t>
                        </m:r>
                        <m:r>
                          <m:rPr>
                            <m:nor/>
                          </m:rPr>
                          <a:rPr lang="tr-TR" sz="1000" noProof="1" dirty="0">
                            <a:solidFill>
                              <a:schemeClr val="tx1"/>
                            </a:solidFill>
                            <a:latin typeface="Helvetica" panose="020B0604020202020204" pitchFamily="34" charset="0"/>
                            <a:cs typeface="Helvetica" panose="020B0604020202020204" pitchFamily="34" charset="0"/>
                          </a:rPr>
                          <m:t>1 </m:t>
                        </m:r>
                      </m:num>
                      <m:den>
                        <m:r>
                          <m:rPr>
                            <m:nor/>
                          </m:rPr>
                          <a:rPr lang="tr-TR" sz="1000" b="0" i="0" noProof="1" dirty="0" smtClean="0">
                            <a:solidFill>
                              <a:schemeClr val="tx1"/>
                            </a:solidFill>
                            <a:latin typeface="Helvetica" panose="020B0604020202020204" pitchFamily="34" charset="0"/>
                            <a:cs typeface="Helvetica" panose="020B0604020202020204" pitchFamily="34" charset="0"/>
                          </a:rPr>
                          <m:t>8</m:t>
                        </m:r>
                      </m:den>
                    </m:f>
                  </m:oMath>
                </a14:m>
                <a:r>
                  <a:rPr lang="tr-TR" sz="1000" noProof="1">
                    <a:solidFill>
                      <a:schemeClr val="tx1"/>
                    </a:solidFill>
                    <a:cs typeface="Arial" panose="020B0604020202020204" pitchFamily="34" charset="0"/>
                  </a:rPr>
                  <a:t> `i alınırsa ürün sayısı bulunur. </a:t>
                </a:r>
              </a:p>
              <a:p>
                <a:pPr marL="171450" indent="-171450">
                  <a:buFont typeface="Wingdings" panose="05000000000000000000" pitchFamily="2" charset="2"/>
                  <a:buChar char="Ø"/>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v"/>
                </a:pPr>
                <a:r>
                  <a:rPr lang="tr-TR" sz="1000" b="1" noProof="1">
                    <a:solidFill>
                      <a:schemeClr val="tx1"/>
                    </a:solidFill>
                    <a:cs typeface="Arial" panose="020B0604020202020204" pitchFamily="34" charset="0"/>
                  </a:rPr>
                  <a:t>Genel yorum </a:t>
                </a:r>
                <a:r>
                  <a:rPr lang="tr-TR" sz="1000" noProof="1">
                    <a:solidFill>
                      <a:schemeClr val="tx1"/>
                    </a:solidFill>
                    <a:cs typeface="Arial" panose="020B0604020202020204" pitchFamily="34" charset="0"/>
                  </a:rPr>
                  <a:t>: Birinci grafik alış, ikinci grafik satış ve tüm verileri bulabiliyoruz. Ürünlerin satış oranları % leri veya kaç adedi satılmıştır gibi soruların çözümlerini bu sayede yapabiliriz, bulduğumuz veriler ile hepsi bulunabilir.</a:t>
                </a:r>
              </a:p>
            </p:txBody>
          </p:sp>
        </mc:Choice>
        <mc:Fallback xmlns="">
          <p:sp>
            <p:nvSpPr>
              <p:cNvPr id="121" name="Metin kutusu 120">
                <a:extLst>
                  <a:ext uri="{FF2B5EF4-FFF2-40B4-BE49-F238E27FC236}">
                    <a16:creationId xmlns:a16="http://schemas.microsoft.com/office/drawing/2014/main" id="{99DD6384-B2A5-4D39-8692-EEE0546E20CB}"/>
                  </a:ext>
                </a:extLst>
              </p:cNvPr>
              <p:cNvSpPr txBox="1">
                <a:spLocks noRot="1" noChangeAspect="1" noMove="1" noResize="1" noEditPoints="1" noAdjustHandles="1" noChangeArrowheads="1" noChangeShapeType="1" noTextEdit="1"/>
              </p:cNvSpPr>
              <p:nvPr/>
            </p:nvSpPr>
            <p:spPr>
              <a:xfrm>
                <a:off x="3549736" y="5311664"/>
                <a:ext cx="3289074" cy="3431196"/>
              </a:xfrm>
              <a:prstGeom prst="rect">
                <a:avLst/>
              </a:prstGeom>
              <a:blipFill>
                <a:blip r:embed="rId25"/>
                <a:stretch>
                  <a:fillRect/>
                </a:stretch>
              </a:blipFill>
              <a:ln>
                <a:noFill/>
              </a:ln>
            </p:spPr>
            <p:txBody>
              <a:bodyPr/>
              <a:lstStyle/>
              <a:p>
                <a:r>
                  <a:rPr lang="tr-TR">
                    <a:noFill/>
                  </a:rPr>
                  <a:t> </a:t>
                </a:r>
              </a:p>
            </p:txBody>
          </p:sp>
        </mc:Fallback>
      </mc:AlternateContent>
    </p:spTree>
    <p:extLst>
      <p:ext uri="{BB962C8B-B14F-4D97-AF65-F5344CB8AC3E}">
        <p14:creationId xmlns:p14="http://schemas.microsoft.com/office/powerpoint/2010/main" val="33888180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9692" y="5175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66349" y="200231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2759" y="42639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mc:AlternateContent xmlns:mc="http://schemas.openxmlformats.org/markup-compatibility/2006" xmlns:a14="http://schemas.microsoft.com/office/drawing/2010/main">
        <mc:Choice Requires="a14">
          <p:sp>
            <p:nvSpPr>
              <p:cNvPr id="51" name="Metin kutusu 50">
                <a:extLst>
                  <a:ext uri="{FF2B5EF4-FFF2-40B4-BE49-F238E27FC236}">
                    <a16:creationId xmlns:a16="http://schemas.microsoft.com/office/drawing/2014/main" id="{65CCB657-89A8-41EA-BADC-E231C441200B}"/>
                  </a:ext>
                </a:extLst>
              </p:cNvPr>
              <p:cNvSpPr txBox="1"/>
              <p:nvPr/>
            </p:nvSpPr>
            <p:spPr>
              <a:xfrm>
                <a:off x="786090" y="455823"/>
                <a:ext cx="2556603" cy="400110"/>
              </a:xfrm>
              <a:prstGeom prst="rect">
                <a:avLst/>
              </a:prstGeom>
              <a:noFill/>
            </p:spPr>
            <p:txBody>
              <a:bodyPr wrap="square" rtlCol="0">
                <a:spAutoFit/>
              </a:bodyPr>
              <a:lstStyle/>
              <a:p>
                <a:r>
                  <a:rPr lang="tr-TR" sz="1000" b="1" noProof="1">
                    <a:cs typeface="Arial" panose="020B0604020202020204" pitchFamily="34" charset="0"/>
                  </a:rPr>
                  <a:t>Aşağıda bir üniversitenin binalarına kaç </a:t>
                </a:r>
                <a14:m>
                  <m:oMath xmlns:m="http://schemas.openxmlformats.org/officeDocument/2006/math">
                    <m:sSup>
                      <m:sSupPr>
                        <m:ctrlPr>
                          <a:rPr lang="tr-TR" sz="1000" b="1" i="1" noProof="1" smtClean="0">
                            <a:solidFill>
                              <a:srgbClr val="836967"/>
                            </a:solidFill>
                            <a:latin typeface="Cambria Math" panose="02040503050406030204" pitchFamily="18" charset="0"/>
                          </a:rPr>
                        </m:ctrlPr>
                      </m:sSupPr>
                      <m:e>
                        <m:r>
                          <a:rPr lang="tr-TR" sz="1000" b="1" i="0" noProof="1" smtClean="0">
                            <a:latin typeface="Cambria Math" panose="02040503050406030204" pitchFamily="18" charset="0"/>
                          </a:rPr>
                          <m:t>𝐦</m:t>
                        </m:r>
                      </m:e>
                      <m:sup>
                        <m:r>
                          <a:rPr lang="tr-TR" sz="1000" b="1" i="1" noProof="1" smtClean="0">
                            <a:latin typeface="Cambria Math" panose="02040503050406030204" pitchFamily="18" charset="0"/>
                          </a:rPr>
                          <m:t>2</m:t>
                        </m:r>
                      </m:sup>
                    </m:sSup>
                    <m:r>
                      <a:rPr lang="tr-TR" sz="1000" b="1" i="0" noProof="1" smtClean="0">
                        <a:latin typeface="Cambria Math" panose="02040503050406030204" pitchFamily="18" charset="0"/>
                      </a:rPr>
                      <m:t> </m:t>
                    </m:r>
                  </m:oMath>
                </a14:m>
                <a:r>
                  <a:rPr lang="tr-TR" sz="1000" b="1" noProof="1">
                    <a:cs typeface="Arial" panose="020B0604020202020204" pitchFamily="34" charset="0"/>
                  </a:rPr>
                  <a:t>ayırdığını göstermektedir. </a:t>
                </a:r>
              </a:p>
            </p:txBody>
          </p:sp>
        </mc:Choice>
        <mc:Fallback xmlns="">
          <p:sp>
            <p:nvSpPr>
              <p:cNvPr id="51" name="Metin kutusu 50">
                <a:extLst>
                  <a:ext uri="{FF2B5EF4-FFF2-40B4-BE49-F238E27FC236}">
                    <a16:creationId xmlns:a16="http://schemas.microsoft.com/office/drawing/2014/main" id="{65CCB657-89A8-41EA-BADC-E231C441200B}"/>
                  </a:ext>
                </a:extLst>
              </p:cNvPr>
              <p:cNvSpPr txBox="1">
                <a:spLocks noRot="1" noChangeAspect="1" noMove="1" noResize="1" noEditPoints="1" noAdjustHandles="1" noChangeArrowheads="1" noChangeShapeType="1" noTextEdit="1"/>
              </p:cNvSpPr>
              <p:nvPr/>
            </p:nvSpPr>
            <p:spPr>
              <a:xfrm>
                <a:off x="786090" y="455823"/>
                <a:ext cx="2556603" cy="400110"/>
              </a:xfrm>
              <a:prstGeom prst="rect">
                <a:avLst/>
              </a:prstGeom>
              <a:blipFill>
                <a:blip r:embed="rId6"/>
                <a:stretch>
                  <a:fillRect b="-9231"/>
                </a:stretch>
              </a:blipFill>
            </p:spPr>
            <p:txBody>
              <a:bodyPr/>
              <a:lstStyle/>
              <a:p>
                <a:r>
                  <a:rPr lang="tr-TR">
                    <a:noFill/>
                  </a:rPr>
                  <a:t> </a:t>
                </a:r>
              </a:p>
            </p:txBody>
          </p:sp>
        </mc:Fallback>
      </mc:AlternateContent>
      <p:pic>
        <p:nvPicPr>
          <p:cNvPr id="6" name="Grafik 5">
            <a:extLst>
              <a:ext uri="{FF2B5EF4-FFF2-40B4-BE49-F238E27FC236}">
                <a16:creationId xmlns:a16="http://schemas.microsoft.com/office/drawing/2014/main" id="{ED59DD18-0586-4579-B812-B8B1E8832CE2}"/>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696" y="860293"/>
            <a:ext cx="1316080" cy="1316080"/>
          </a:xfrm>
          <a:prstGeom prst="rect">
            <a:avLst/>
          </a:prstGeom>
        </p:spPr>
      </p:pic>
    </p:spTree>
    <p:extLst>
      <p:ext uri="{BB962C8B-B14F-4D97-AF65-F5344CB8AC3E}">
        <p14:creationId xmlns:p14="http://schemas.microsoft.com/office/powerpoint/2010/main" val="8524979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 </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59017" y="692206"/>
            <a:ext cx="3255555" cy="553998"/>
          </a:xfrm>
          <a:prstGeom prst="rect">
            <a:avLst/>
          </a:prstGeom>
          <a:noFill/>
        </p:spPr>
        <p:txBody>
          <a:bodyPr wrap="square" rtlCol="0">
            <a:spAutoFit/>
          </a:bodyPr>
          <a:lstStyle/>
          <a:p>
            <a:r>
              <a:rPr lang="tr-TR" sz="1000" noProof="1">
                <a:cs typeface="Arial" panose="020B0604020202020204" pitchFamily="34" charset="0"/>
              </a:rPr>
              <a:t>Bu grafikler dairesel şekilde olurlar ve ne kadar türde veri gösterilmesi gerekiyorsa daire dilimi o kadar eş parçaya ayrılır ve bu türler merkez açı ile orantılı olarak yapılır.</a:t>
            </a:r>
          </a:p>
        </p:txBody>
      </p:sp>
      <p:sp>
        <p:nvSpPr>
          <p:cNvPr id="10" name="Dikdörtgen 9">
            <a:extLst>
              <a:ext uri="{FF2B5EF4-FFF2-40B4-BE49-F238E27FC236}">
                <a16:creationId xmlns:a16="http://schemas.microsoft.com/office/drawing/2014/main" id="{A486474E-8B88-482A-9D98-99B67CB9AFBF}"/>
              </a:ext>
            </a:extLst>
          </p:cNvPr>
          <p:cNvSpPr/>
          <p:nvPr/>
        </p:nvSpPr>
        <p:spPr>
          <a:xfrm>
            <a:off x="125097" y="1310142"/>
            <a:ext cx="3118411" cy="7418441"/>
          </a:xfrm>
          <a:custGeom>
            <a:avLst/>
            <a:gdLst>
              <a:gd name="connsiteX0" fmla="*/ 0 w 2978385"/>
              <a:gd name="connsiteY0" fmla="*/ 0 h 7077712"/>
              <a:gd name="connsiteX1" fmla="*/ 2978385 w 2978385"/>
              <a:gd name="connsiteY1" fmla="*/ 0 h 7077712"/>
              <a:gd name="connsiteX2" fmla="*/ 2978385 w 2978385"/>
              <a:gd name="connsiteY2" fmla="*/ 7077712 h 7077712"/>
              <a:gd name="connsiteX3" fmla="*/ 0 w 2978385"/>
              <a:gd name="connsiteY3" fmla="*/ 7077712 h 7077712"/>
              <a:gd name="connsiteX4" fmla="*/ 0 w 2978385"/>
              <a:gd name="connsiteY4" fmla="*/ 0 h 7077712"/>
              <a:gd name="connsiteX0" fmla="*/ 0 w 2978385"/>
              <a:gd name="connsiteY0" fmla="*/ 0 h 7382512"/>
              <a:gd name="connsiteX1" fmla="*/ 2978385 w 2978385"/>
              <a:gd name="connsiteY1" fmla="*/ 0 h 7382512"/>
              <a:gd name="connsiteX2" fmla="*/ 2978385 w 2978385"/>
              <a:gd name="connsiteY2" fmla="*/ 7077712 h 7382512"/>
              <a:gd name="connsiteX3" fmla="*/ 0 w 2978385"/>
              <a:gd name="connsiteY3" fmla="*/ 7077712 h 7382512"/>
              <a:gd name="connsiteX4" fmla="*/ 0 w 2978385"/>
              <a:gd name="connsiteY4" fmla="*/ 0 h 7382512"/>
              <a:gd name="connsiteX0" fmla="*/ 0 w 2978385"/>
              <a:gd name="connsiteY0" fmla="*/ 0 h 7510541"/>
              <a:gd name="connsiteX1" fmla="*/ 2978385 w 2978385"/>
              <a:gd name="connsiteY1" fmla="*/ 0 h 7510541"/>
              <a:gd name="connsiteX2" fmla="*/ 2978385 w 2978385"/>
              <a:gd name="connsiteY2" fmla="*/ 7077712 h 7510541"/>
              <a:gd name="connsiteX3" fmla="*/ 0 w 2978385"/>
              <a:gd name="connsiteY3" fmla="*/ 7077712 h 7510541"/>
              <a:gd name="connsiteX4" fmla="*/ 0 w 2978385"/>
              <a:gd name="connsiteY4" fmla="*/ 0 h 7510541"/>
              <a:gd name="connsiteX0" fmla="*/ 0 w 2991085"/>
              <a:gd name="connsiteY0" fmla="*/ 0 h 7503317"/>
              <a:gd name="connsiteX1" fmla="*/ 2978385 w 2991085"/>
              <a:gd name="connsiteY1" fmla="*/ 0 h 7503317"/>
              <a:gd name="connsiteX2" fmla="*/ 2991085 w 2991085"/>
              <a:gd name="connsiteY2" fmla="*/ 7065012 h 7503317"/>
              <a:gd name="connsiteX3" fmla="*/ 0 w 2991085"/>
              <a:gd name="connsiteY3" fmla="*/ 7077712 h 7503317"/>
              <a:gd name="connsiteX4" fmla="*/ 0 w 2991085"/>
              <a:gd name="connsiteY4" fmla="*/ 0 h 750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085" h="7503317">
                <a:moveTo>
                  <a:pt x="0" y="0"/>
                </a:moveTo>
                <a:lnTo>
                  <a:pt x="2978385" y="0"/>
                </a:lnTo>
                <a:cubicBezTo>
                  <a:pt x="2982618" y="2355004"/>
                  <a:pt x="2986852" y="4710008"/>
                  <a:pt x="2991085" y="7065012"/>
                </a:cubicBezTo>
                <a:cubicBezTo>
                  <a:pt x="1490290" y="7750812"/>
                  <a:pt x="21245" y="7534912"/>
                  <a:pt x="0" y="7077712"/>
                </a:cubicBezTo>
                <a:lnTo>
                  <a:pt x="0" y="0"/>
                </a:lnTo>
                <a:close/>
              </a:path>
            </a:pathLst>
          </a:cu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42" name="Metin kutusu 41">
                <a:extLst>
                  <a:ext uri="{FF2B5EF4-FFF2-40B4-BE49-F238E27FC236}">
                    <a16:creationId xmlns:a16="http://schemas.microsoft.com/office/drawing/2014/main" id="{BCDF6D71-E7D1-4603-97F0-7681D036FE16}"/>
                  </a:ext>
                </a:extLst>
              </p:cNvPr>
              <p:cNvSpPr txBox="1"/>
              <p:nvPr/>
            </p:nvSpPr>
            <p:spPr>
              <a:xfrm>
                <a:off x="106197" y="1318596"/>
                <a:ext cx="3109210" cy="400110"/>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Grafikteki merkez açıların toplamı 360</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dir. Bu merkez açılar ise aşağıdaki şekilde </a:t>
                </a:r>
                <a14:m>
                  <m:oMath xmlns:m="http://schemas.openxmlformats.org/officeDocument/2006/math">
                    <m:r>
                      <m:rPr>
                        <m:sty m:val="p"/>
                      </m:rPr>
                      <a:rPr lang="tr-TR" sz="1000" b="0" i="0" noProof="1" smtClean="0">
                        <a:latin typeface="Cambria Math" panose="02040503050406030204" pitchFamily="18" charset="0"/>
                      </a:rPr>
                      <m:t>α</m:t>
                    </m:r>
                  </m:oMath>
                </a14:m>
                <a:r>
                  <a:rPr lang="tr-TR" sz="1000" noProof="1">
                    <a:cs typeface="Arial" panose="020B0604020202020204" pitchFamily="34" charset="0"/>
                  </a:rPr>
                  <a:t>, </a:t>
                </a:r>
                <a14:m>
                  <m:oMath xmlns:m="http://schemas.openxmlformats.org/officeDocument/2006/math">
                    <m:r>
                      <m:rPr>
                        <m:sty m:val="p"/>
                      </m:rPr>
                      <a:rPr lang="tr-TR" sz="1000" b="0" i="0" noProof="1" smtClean="0">
                        <a:latin typeface="Cambria Math" panose="02040503050406030204" pitchFamily="18" charset="0"/>
                      </a:rPr>
                      <m:t>β</m:t>
                    </m:r>
                  </m:oMath>
                </a14:m>
                <a:r>
                  <a:rPr lang="tr-TR" sz="1000" noProof="1">
                    <a:cs typeface="Arial" panose="020B0604020202020204" pitchFamily="34" charset="0"/>
                  </a:rPr>
                  <a:t>, </a:t>
                </a:r>
                <a14:m>
                  <m:oMath xmlns:m="http://schemas.openxmlformats.org/officeDocument/2006/math">
                    <m:r>
                      <m:rPr>
                        <m:sty m:val="p"/>
                      </m:rPr>
                      <a:rPr lang="tr-TR" sz="1000" b="0" i="0" noProof="1" smtClean="0">
                        <a:latin typeface="Cambria Math" panose="02040503050406030204" pitchFamily="18" charset="0"/>
                        <a:ea typeface="Cambria Math" panose="02040503050406030204" pitchFamily="18" charset="0"/>
                        <a:cs typeface="Arial" panose="020B0604020202020204" pitchFamily="34" charset="0"/>
                      </a:rPr>
                      <m:t>θ</m:t>
                    </m:r>
                  </m:oMath>
                </a14:m>
                <a:r>
                  <a:rPr lang="tr-TR" sz="1000" noProof="1">
                    <a:cs typeface="Arial" panose="020B0604020202020204" pitchFamily="34" charset="0"/>
                  </a:rPr>
                  <a:t> dır. </a:t>
                </a:r>
              </a:p>
            </p:txBody>
          </p:sp>
        </mc:Choice>
        <mc:Fallback xmlns="">
          <p:sp>
            <p:nvSpPr>
              <p:cNvPr id="42" name="Metin kutusu 41">
                <a:extLst>
                  <a:ext uri="{FF2B5EF4-FFF2-40B4-BE49-F238E27FC236}">
                    <a16:creationId xmlns:a16="http://schemas.microsoft.com/office/drawing/2014/main" id="{BCDF6D71-E7D1-4603-97F0-7681D036FE16}"/>
                  </a:ext>
                </a:extLst>
              </p:cNvPr>
              <p:cNvSpPr txBox="1">
                <a:spLocks noRot="1" noChangeAspect="1" noMove="1" noResize="1" noEditPoints="1" noAdjustHandles="1" noChangeArrowheads="1" noChangeShapeType="1" noTextEdit="1"/>
              </p:cNvSpPr>
              <p:nvPr/>
            </p:nvSpPr>
            <p:spPr>
              <a:xfrm>
                <a:off x="106197" y="1318596"/>
                <a:ext cx="3109210" cy="400110"/>
              </a:xfrm>
              <a:prstGeom prst="rect">
                <a:avLst/>
              </a:prstGeom>
              <a:blipFill>
                <a:blip r:embed="rId7"/>
                <a:stretch>
                  <a:fillRect b="-9091"/>
                </a:stretch>
              </a:blipFill>
            </p:spPr>
            <p:txBody>
              <a:bodyPr/>
              <a:lstStyle/>
              <a:p>
                <a:r>
                  <a:rPr lang="tr-TR">
                    <a:noFill/>
                  </a:rPr>
                  <a:t> </a:t>
                </a:r>
              </a:p>
            </p:txBody>
          </p:sp>
        </mc:Fallback>
      </mc:AlternateContent>
      <p:sp>
        <p:nvSpPr>
          <p:cNvPr id="83" name="Dikdörtgen 82">
            <a:extLst>
              <a:ext uri="{FF2B5EF4-FFF2-40B4-BE49-F238E27FC236}">
                <a16:creationId xmlns:a16="http://schemas.microsoft.com/office/drawing/2014/main" id="{D17ADCA7-372A-489F-9C39-F17B748C1458}"/>
              </a:ext>
            </a:extLst>
          </p:cNvPr>
          <p:cNvSpPr/>
          <p:nvPr/>
        </p:nvSpPr>
        <p:spPr>
          <a:xfrm>
            <a:off x="1412776" y="1714319"/>
            <a:ext cx="1422486" cy="954556"/>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pic>
        <p:nvPicPr>
          <p:cNvPr id="61" name="Grafik 60">
            <a:extLst>
              <a:ext uri="{FF2B5EF4-FFF2-40B4-BE49-F238E27FC236}">
                <a16:creationId xmlns:a16="http://schemas.microsoft.com/office/drawing/2014/main" id="{FAF18E1E-9AF4-4842-ADE3-749B1013F694}"/>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0168" y="1726467"/>
            <a:ext cx="960401" cy="960401"/>
          </a:xfrm>
          <a:prstGeom prst="rect">
            <a:avLst/>
          </a:prstGeom>
        </p:spPr>
      </p:pic>
      <mc:AlternateContent xmlns:mc="http://schemas.openxmlformats.org/markup-compatibility/2006" xmlns:a14="http://schemas.microsoft.com/office/drawing/2010/main">
        <mc:Choice Requires="a14">
          <p:sp>
            <p:nvSpPr>
              <p:cNvPr id="70" name="Metin kutusu 69">
                <a:extLst>
                  <a:ext uri="{FF2B5EF4-FFF2-40B4-BE49-F238E27FC236}">
                    <a16:creationId xmlns:a16="http://schemas.microsoft.com/office/drawing/2014/main" id="{F3D8B18C-158D-45CF-8F8B-4E3081043DE0}"/>
                  </a:ext>
                </a:extLst>
              </p:cNvPr>
              <p:cNvSpPr txBox="1"/>
              <p:nvPr/>
            </p:nvSpPr>
            <p:spPr>
              <a:xfrm rot="20855703">
                <a:off x="547221" y="1943157"/>
                <a:ext cx="426293" cy="246221"/>
              </a:xfrm>
              <a:prstGeom prst="rect">
                <a:avLst/>
              </a:prstGeom>
              <a:noFill/>
            </p:spPr>
            <p:txBody>
              <a:bodyPr wrap="square">
                <a:spAutoFit/>
              </a:bodyPr>
              <a:lstStyle/>
              <a:p>
                <a14:m>
                  <m:oMath xmlns:m="http://schemas.openxmlformats.org/officeDocument/2006/math">
                    <m:r>
                      <m:rPr>
                        <m:sty m:val="p"/>
                      </m:rPr>
                      <a:rPr lang="tr-TR" sz="1000" i="0" noProof="1" smtClean="0">
                        <a:latin typeface="Cambria Math" panose="02040503050406030204" pitchFamily="18" charset="0"/>
                      </a:rPr>
                      <m:t>α</m:t>
                    </m:r>
                  </m:oMath>
                </a14:m>
                <a:r>
                  <a:rPr lang="tr-TR" sz="1000" noProof="1">
                    <a:ea typeface="Cambria Math" panose="02040503050406030204" pitchFamily="18" charset="0"/>
                    <a:cs typeface="Arial" panose="020B0604020202020204" pitchFamily="34" charset="0"/>
                  </a:rPr>
                  <a:t> </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endParaRPr lang="tr-TR" sz="1000" dirty="0"/>
              </a:p>
            </p:txBody>
          </p:sp>
        </mc:Choice>
        <mc:Fallback xmlns="">
          <p:sp>
            <p:nvSpPr>
              <p:cNvPr id="70" name="Metin kutusu 69">
                <a:extLst>
                  <a:ext uri="{FF2B5EF4-FFF2-40B4-BE49-F238E27FC236}">
                    <a16:creationId xmlns:a16="http://schemas.microsoft.com/office/drawing/2014/main" id="{F3D8B18C-158D-45CF-8F8B-4E3081043DE0}"/>
                  </a:ext>
                </a:extLst>
              </p:cNvPr>
              <p:cNvSpPr txBox="1">
                <a:spLocks noRot="1" noChangeAspect="1" noMove="1" noResize="1" noEditPoints="1" noAdjustHandles="1" noChangeArrowheads="1" noChangeShapeType="1" noTextEdit="1"/>
              </p:cNvSpPr>
              <p:nvPr/>
            </p:nvSpPr>
            <p:spPr>
              <a:xfrm rot="20855703">
                <a:off x="547221" y="1943157"/>
                <a:ext cx="426293" cy="246221"/>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1" name="Metin kutusu 70">
                <a:extLst>
                  <a:ext uri="{FF2B5EF4-FFF2-40B4-BE49-F238E27FC236}">
                    <a16:creationId xmlns:a16="http://schemas.microsoft.com/office/drawing/2014/main" id="{00B2EEBC-8EAC-4225-8560-795EDACF80D9}"/>
                  </a:ext>
                </a:extLst>
              </p:cNvPr>
              <p:cNvSpPr txBox="1"/>
              <p:nvPr/>
            </p:nvSpPr>
            <p:spPr>
              <a:xfrm rot="2458789">
                <a:off x="707654" y="2085608"/>
                <a:ext cx="42629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tr-TR" sz="1000" noProof="1">
                          <a:latin typeface="Cambria Math" panose="02040503050406030204" pitchFamily="18" charset="0"/>
                        </a:rPr>
                        <m:t>β</m:t>
                      </m:r>
                      <m:r>
                        <a:rPr lang="tr-TR" sz="10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dirty="0"/>
              </a:p>
            </p:txBody>
          </p:sp>
        </mc:Choice>
        <mc:Fallback xmlns="">
          <p:sp>
            <p:nvSpPr>
              <p:cNvPr id="71" name="Metin kutusu 70">
                <a:extLst>
                  <a:ext uri="{FF2B5EF4-FFF2-40B4-BE49-F238E27FC236}">
                    <a16:creationId xmlns:a16="http://schemas.microsoft.com/office/drawing/2014/main" id="{00B2EEBC-8EAC-4225-8560-795EDACF80D9}"/>
                  </a:ext>
                </a:extLst>
              </p:cNvPr>
              <p:cNvSpPr txBox="1">
                <a:spLocks noRot="1" noChangeAspect="1" noMove="1" noResize="1" noEditPoints="1" noAdjustHandles="1" noChangeArrowheads="1" noChangeShapeType="1" noTextEdit="1"/>
              </p:cNvSpPr>
              <p:nvPr/>
            </p:nvSpPr>
            <p:spPr>
              <a:xfrm rot="2458789">
                <a:off x="707654" y="2085608"/>
                <a:ext cx="426293" cy="246221"/>
              </a:xfrm>
              <a:prstGeom prst="rect">
                <a:avLst/>
              </a:prstGeom>
              <a:blipFill>
                <a:blip r:embed="rId11"/>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2" name="Metin kutusu 71">
                <a:extLst>
                  <a:ext uri="{FF2B5EF4-FFF2-40B4-BE49-F238E27FC236}">
                    <a16:creationId xmlns:a16="http://schemas.microsoft.com/office/drawing/2014/main" id="{2E02A89B-7D06-404C-9747-FD67379EB428}"/>
                  </a:ext>
                </a:extLst>
              </p:cNvPr>
              <p:cNvSpPr txBox="1"/>
              <p:nvPr/>
            </p:nvSpPr>
            <p:spPr>
              <a:xfrm rot="15069812">
                <a:off x="432966" y="2162668"/>
                <a:ext cx="42629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tr-TR" sz="1000" noProof="1">
                          <a:latin typeface="Cambria Math" panose="02040503050406030204" pitchFamily="18" charset="0"/>
                          <a:ea typeface="Cambria Math" panose="02040503050406030204" pitchFamily="18" charset="0"/>
                          <a:cs typeface="Arial" panose="020B0604020202020204" pitchFamily="34" charset="0"/>
                        </a:rPr>
                        <m:t>θ</m:t>
                      </m:r>
                      <m:r>
                        <a:rPr lang="tr-TR" sz="1000" i="1" noProof="1">
                          <a:latin typeface="Cambria Math" panose="02040503050406030204" pitchFamily="18" charset="0"/>
                          <a:ea typeface="Cambria Math" panose="02040503050406030204" pitchFamily="18" charset="0"/>
                          <a:cs typeface="Arial" panose="020B0604020202020204" pitchFamily="34" charset="0"/>
                        </a:rPr>
                        <m:t>°</m:t>
                      </m:r>
                    </m:oMath>
                  </m:oMathPara>
                </a14:m>
                <a:endParaRPr lang="tr-TR" sz="1000" dirty="0"/>
              </a:p>
            </p:txBody>
          </p:sp>
        </mc:Choice>
        <mc:Fallback xmlns="">
          <p:sp>
            <p:nvSpPr>
              <p:cNvPr id="72" name="Metin kutusu 71">
                <a:extLst>
                  <a:ext uri="{FF2B5EF4-FFF2-40B4-BE49-F238E27FC236}">
                    <a16:creationId xmlns:a16="http://schemas.microsoft.com/office/drawing/2014/main" id="{2E02A89B-7D06-404C-9747-FD67379EB428}"/>
                  </a:ext>
                </a:extLst>
              </p:cNvPr>
              <p:cNvSpPr txBox="1">
                <a:spLocks noRot="1" noChangeAspect="1" noMove="1" noResize="1" noEditPoints="1" noAdjustHandles="1" noChangeArrowheads="1" noChangeShapeType="1" noTextEdit="1"/>
              </p:cNvSpPr>
              <p:nvPr/>
            </p:nvSpPr>
            <p:spPr>
              <a:xfrm rot="15069812">
                <a:off x="432966" y="2162668"/>
                <a:ext cx="426293" cy="246221"/>
              </a:xfrm>
              <a:prstGeom prst="rect">
                <a:avLst/>
              </a:prstGeom>
              <a:blipFill>
                <a:blip r:embed="rId12"/>
                <a:stretch>
                  <a:fillRect/>
                </a:stretch>
              </a:blipFill>
            </p:spPr>
            <p:txBody>
              <a:bodyPr/>
              <a:lstStyle/>
              <a:p>
                <a:r>
                  <a:rPr lang="tr-TR">
                    <a:noFill/>
                  </a:rPr>
                  <a:t> </a:t>
                </a:r>
              </a:p>
            </p:txBody>
          </p:sp>
        </mc:Fallback>
      </mc:AlternateContent>
      <p:sp>
        <p:nvSpPr>
          <p:cNvPr id="73" name="Metin kutusu 72">
            <a:extLst>
              <a:ext uri="{FF2B5EF4-FFF2-40B4-BE49-F238E27FC236}">
                <a16:creationId xmlns:a16="http://schemas.microsoft.com/office/drawing/2014/main" id="{BFE24FCF-1E0D-42E4-AC22-9DDF89F702F0}"/>
              </a:ext>
            </a:extLst>
          </p:cNvPr>
          <p:cNvSpPr txBox="1"/>
          <p:nvPr/>
        </p:nvSpPr>
        <p:spPr>
          <a:xfrm>
            <a:off x="1360205" y="1732683"/>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94C243"/>
                </a:solidFill>
                <a:cs typeface="Arial" panose="020B0604020202020204" pitchFamily="34" charset="0"/>
              </a:rPr>
              <a:t> </a:t>
            </a:r>
          </a:p>
        </p:txBody>
      </p:sp>
      <p:sp>
        <p:nvSpPr>
          <p:cNvPr id="75" name="Metin kutusu 74">
            <a:extLst>
              <a:ext uri="{FF2B5EF4-FFF2-40B4-BE49-F238E27FC236}">
                <a16:creationId xmlns:a16="http://schemas.microsoft.com/office/drawing/2014/main" id="{8C949D0A-79B9-4AE5-88B6-F3D0F8EAE2E4}"/>
              </a:ext>
            </a:extLst>
          </p:cNvPr>
          <p:cNvSpPr txBox="1"/>
          <p:nvPr/>
        </p:nvSpPr>
        <p:spPr>
          <a:xfrm>
            <a:off x="1351853" y="2081834"/>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D0DB69"/>
                </a:solidFill>
                <a:cs typeface="Arial" panose="020B0604020202020204" pitchFamily="34" charset="0"/>
              </a:rPr>
              <a:t> </a:t>
            </a:r>
          </a:p>
        </p:txBody>
      </p:sp>
      <p:sp>
        <p:nvSpPr>
          <p:cNvPr id="76" name="Metin kutusu 75">
            <a:extLst>
              <a:ext uri="{FF2B5EF4-FFF2-40B4-BE49-F238E27FC236}">
                <a16:creationId xmlns:a16="http://schemas.microsoft.com/office/drawing/2014/main" id="{C02429A6-A96B-48B1-A259-6E7510D6C645}"/>
              </a:ext>
            </a:extLst>
          </p:cNvPr>
          <p:cNvSpPr txBox="1"/>
          <p:nvPr/>
        </p:nvSpPr>
        <p:spPr>
          <a:xfrm>
            <a:off x="1345882" y="2442540"/>
            <a:ext cx="268595"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rgbClr val="83CFEE"/>
                </a:solidFill>
                <a:cs typeface="Arial" panose="020B0604020202020204" pitchFamily="34" charset="0"/>
              </a:rPr>
              <a:t> </a:t>
            </a:r>
          </a:p>
        </p:txBody>
      </p:sp>
      <p:sp>
        <p:nvSpPr>
          <p:cNvPr id="77" name="Metin kutusu 76">
            <a:extLst>
              <a:ext uri="{FF2B5EF4-FFF2-40B4-BE49-F238E27FC236}">
                <a16:creationId xmlns:a16="http://schemas.microsoft.com/office/drawing/2014/main" id="{FABB324D-4DE3-4286-A22B-406AA28FEE0A}"/>
              </a:ext>
            </a:extLst>
          </p:cNvPr>
          <p:cNvSpPr txBox="1"/>
          <p:nvPr/>
        </p:nvSpPr>
        <p:spPr>
          <a:xfrm>
            <a:off x="1504526" y="1721189"/>
            <a:ext cx="1699786" cy="246221"/>
          </a:xfrm>
          <a:prstGeom prst="rect">
            <a:avLst/>
          </a:prstGeom>
          <a:noFill/>
        </p:spPr>
        <p:txBody>
          <a:bodyPr wrap="square" rtlCol="0">
            <a:spAutoFit/>
          </a:bodyPr>
          <a:lstStyle/>
          <a:p>
            <a:r>
              <a:rPr lang="tr-TR" sz="1000" noProof="1">
                <a:cs typeface="Arial" panose="020B0604020202020204" pitchFamily="34" charset="0"/>
              </a:rPr>
              <a:t>A markası ürün adeti</a:t>
            </a:r>
          </a:p>
        </p:txBody>
      </p:sp>
      <p:sp>
        <p:nvSpPr>
          <p:cNvPr id="78" name="Metin kutusu 77">
            <a:extLst>
              <a:ext uri="{FF2B5EF4-FFF2-40B4-BE49-F238E27FC236}">
                <a16:creationId xmlns:a16="http://schemas.microsoft.com/office/drawing/2014/main" id="{985AFE1E-1CBC-432F-AA93-82339897EF29}"/>
              </a:ext>
            </a:extLst>
          </p:cNvPr>
          <p:cNvSpPr txBox="1"/>
          <p:nvPr/>
        </p:nvSpPr>
        <p:spPr>
          <a:xfrm>
            <a:off x="1494502" y="2066743"/>
            <a:ext cx="1359660" cy="246221"/>
          </a:xfrm>
          <a:prstGeom prst="rect">
            <a:avLst/>
          </a:prstGeom>
          <a:noFill/>
        </p:spPr>
        <p:txBody>
          <a:bodyPr wrap="square" rtlCol="0">
            <a:spAutoFit/>
          </a:bodyPr>
          <a:lstStyle/>
          <a:p>
            <a:r>
              <a:rPr lang="tr-TR" sz="1000" noProof="1">
                <a:cs typeface="Arial" panose="020B0604020202020204" pitchFamily="34" charset="0"/>
              </a:rPr>
              <a:t>B markası ürün adeti</a:t>
            </a:r>
          </a:p>
        </p:txBody>
      </p:sp>
      <p:sp>
        <p:nvSpPr>
          <p:cNvPr id="79" name="Metin kutusu 78">
            <a:extLst>
              <a:ext uri="{FF2B5EF4-FFF2-40B4-BE49-F238E27FC236}">
                <a16:creationId xmlns:a16="http://schemas.microsoft.com/office/drawing/2014/main" id="{19A19AF1-ED9E-42F3-8DB6-CB780A420EDC}"/>
              </a:ext>
            </a:extLst>
          </p:cNvPr>
          <p:cNvSpPr txBox="1"/>
          <p:nvPr/>
        </p:nvSpPr>
        <p:spPr>
          <a:xfrm>
            <a:off x="1494502" y="2431781"/>
            <a:ext cx="1699786" cy="246221"/>
          </a:xfrm>
          <a:prstGeom prst="rect">
            <a:avLst/>
          </a:prstGeom>
          <a:noFill/>
        </p:spPr>
        <p:txBody>
          <a:bodyPr wrap="square" rtlCol="0">
            <a:spAutoFit/>
          </a:bodyPr>
          <a:lstStyle/>
          <a:p>
            <a:r>
              <a:rPr lang="tr-TR" sz="1000" noProof="1">
                <a:cs typeface="Arial" panose="020B0604020202020204" pitchFamily="34" charset="0"/>
              </a:rPr>
              <a:t>C markası ürün adeti</a:t>
            </a:r>
          </a:p>
        </p:txBody>
      </p:sp>
      <mc:AlternateContent xmlns:mc="http://schemas.openxmlformats.org/markup-compatibility/2006" xmlns:a14="http://schemas.microsoft.com/office/drawing/2010/main">
        <mc:Choice Requires="a14">
          <p:sp>
            <p:nvSpPr>
              <p:cNvPr id="80" name="Metin kutusu 79">
                <a:extLst>
                  <a:ext uri="{FF2B5EF4-FFF2-40B4-BE49-F238E27FC236}">
                    <a16:creationId xmlns:a16="http://schemas.microsoft.com/office/drawing/2014/main" id="{EDA174F4-D404-4B16-8934-2F2F89E1273B}"/>
                  </a:ext>
                </a:extLst>
              </p:cNvPr>
              <p:cNvSpPr txBox="1"/>
              <p:nvPr/>
            </p:nvSpPr>
            <p:spPr>
              <a:xfrm>
                <a:off x="83328" y="2673168"/>
                <a:ext cx="3160179" cy="6093976"/>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Renklendirmeler üzerine C markası ürünler mavi renkle, B markası ürünler sarımsı, A markası ürünler ise yeşil renk ile gösterilmiştir.</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Her grafikte olduğu gibi grafiğin neyi ifade ettiği soruda verilir.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Dairesel grafiklerin çözüm mantığı merkez açıların toplamının tam açı olan 360`a eşit olduğudur. Merkez açılara baktığımızda </a:t>
                </a:r>
                <a14:m>
                  <m:oMath xmlns:m="http://schemas.openxmlformats.org/officeDocument/2006/math">
                    <m:r>
                      <m:rPr>
                        <m:sty m:val="p"/>
                      </m:rPr>
                      <a:rPr lang="tr-TR" sz="1000" b="0" i="0" noProof="1" smtClean="0">
                        <a:latin typeface="Cambria Math" panose="02040503050406030204" pitchFamily="18" charset="0"/>
                      </a:rPr>
                      <m:t>α</m:t>
                    </m:r>
                  </m:oMath>
                </a14:m>
                <a:r>
                  <a:rPr lang="tr-TR" sz="1000" noProof="1">
                    <a:cs typeface="Arial" panose="020B0604020202020204" pitchFamily="34" charset="0"/>
                  </a:rPr>
                  <a:t> + </a:t>
                </a:r>
                <a14:m>
                  <m:oMath xmlns:m="http://schemas.openxmlformats.org/officeDocument/2006/math">
                    <m:r>
                      <m:rPr>
                        <m:sty m:val="p"/>
                      </m:rPr>
                      <a:rPr lang="tr-TR" sz="1000" b="0" i="0" noProof="1" smtClean="0">
                        <a:latin typeface="Cambria Math" panose="02040503050406030204" pitchFamily="18" charset="0"/>
                      </a:rPr>
                      <m:t>β</m:t>
                    </m:r>
                    <m:r>
                      <a:rPr lang="tr-TR" sz="1000" b="0" i="0" noProof="1" smtClean="0">
                        <a:latin typeface="Cambria Math" panose="02040503050406030204" pitchFamily="18" charset="0"/>
                      </a:rPr>
                      <m:t> </m:t>
                    </m:r>
                  </m:oMath>
                </a14:m>
                <a:r>
                  <a:rPr lang="tr-TR" sz="1000" noProof="1">
                    <a:cs typeface="Arial" panose="020B0604020202020204" pitchFamily="34" charset="0"/>
                  </a:rPr>
                  <a:t>+ </a:t>
                </a:r>
                <a14:m>
                  <m:oMath xmlns:m="http://schemas.openxmlformats.org/officeDocument/2006/math">
                    <m:r>
                      <m:rPr>
                        <m:sty m:val="p"/>
                      </m:rPr>
                      <a:rPr lang="tr-TR" sz="1000" b="0" i="0" noProof="1" smtClean="0">
                        <a:latin typeface="Cambria Math" panose="02040503050406030204" pitchFamily="18" charset="0"/>
                        <a:ea typeface="Cambria Math" panose="02040503050406030204" pitchFamily="18" charset="0"/>
                        <a:cs typeface="Arial" panose="020B0604020202020204" pitchFamily="34" charset="0"/>
                      </a:rPr>
                      <m:t>θ</m:t>
                    </m:r>
                  </m:oMath>
                </a14:m>
                <a:r>
                  <a:rPr lang="tr-TR" sz="1000" noProof="1">
                    <a:cs typeface="Arial" panose="020B0604020202020204" pitchFamily="34" charset="0"/>
                  </a:rPr>
                  <a:t> = 360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Merkez açılardaki bu denkem sayesinde 2 adet açı biliniyorsa diğeri kolaylıkla bulunabilir.</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Yukarıda verilen grafiğe baktığımızda A,B,C markalarının ürün sayılarını ifade ediyor. Tam açı 360</a:t>
                </a:r>
                <a:r>
                  <a:rPr lang="tr-TR" sz="1000" b="0" noProof="1">
                    <a:ea typeface="Cambria Math" panose="02040503050406030204" pitchFamily="18" charset="0"/>
                    <a:cs typeface="Arial" panose="020B0604020202020204" pitchFamily="34" charset="0"/>
                  </a:rPr>
                  <a:t> </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olduğundan ötürü toplam ürün sayısını bu şekilde orantılayabiliriz. Örneğin </a:t>
                </a:r>
                <a14:m>
                  <m:oMath xmlns:m="http://schemas.openxmlformats.org/officeDocument/2006/math">
                    <m:r>
                      <m:rPr>
                        <m:sty m:val="p"/>
                      </m:rPr>
                      <a:rPr lang="tr-TR" sz="1000" noProof="1">
                        <a:latin typeface="Cambria Math" panose="02040503050406030204" pitchFamily="18" charset="0"/>
                      </a:rPr>
                      <m:t>α</m:t>
                    </m:r>
                  </m:oMath>
                </a14:m>
                <a:r>
                  <a:rPr lang="tr-TR" sz="1000" noProof="1">
                    <a:cs typeface="Arial" panose="020B0604020202020204" pitchFamily="34" charset="0"/>
                  </a:rPr>
                  <a:t>, </a:t>
                </a:r>
                <a14:m>
                  <m:oMath xmlns:m="http://schemas.openxmlformats.org/officeDocument/2006/math">
                    <m:r>
                      <m:rPr>
                        <m:sty m:val="p"/>
                      </m:rPr>
                      <a:rPr lang="tr-TR" sz="1000" noProof="1">
                        <a:latin typeface="Cambria Math" panose="02040503050406030204" pitchFamily="18" charset="0"/>
                      </a:rPr>
                      <m:t>β</m:t>
                    </m:r>
                  </m:oMath>
                </a14:m>
                <a:r>
                  <a:rPr lang="tr-TR" sz="1000" noProof="1">
                    <a:cs typeface="Arial" panose="020B0604020202020204" pitchFamily="34" charset="0"/>
                  </a:rPr>
                  <a:t>, </a:t>
                </a:r>
                <a14:m>
                  <m:oMath xmlns:m="http://schemas.openxmlformats.org/officeDocument/2006/math">
                    <m:r>
                      <m:rPr>
                        <m:sty m:val="p"/>
                      </m:rPr>
                      <a:rPr lang="tr-TR" sz="1000" noProof="1">
                        <a:latin typeface="Cambria Math" panose="02040503050406030204" pitchFamily="18" charset="0"/>
                        <a:ea typeface="Cambria Math" panose="02040503050406030204" pitchFamily="18" charset="0"/>
                        <a:cs typeface="Arial" panose="020B0604020202020204" pitchFamily="34" charset="0"/>
                      </a:rPr>
                      <m:t>θ</m:t>
                    </m:r>
                  </m:oMath>
                </a14:m>
                <a:r>
                  <a:rPr lang="tr-TR" sz="1000" noProof="1">
                    <a:cs typeface="Arial" panose="020B0604020202020204" pitchFamily="34" charset="0"/>
                  </a:rPr>
                  <a:t> sırasıyla 115,140,105 olsun ve toplam ürün adedi 720 olsun.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Toplam ürün adedi 720 ve merkez açının toplamıda 360</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A,B,C ürünlerinin adedini merkez açıları doğru orantı ile temsil etmektedir.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endParaRPr lang="tr-TR" sz="1000" noProof="1">
                  <a:cs typeface="Arial" panose="020B0604020202020204" pitchFamily="34" charset="0"/>
                </a:endParaRPr>
              </a:p>
              <a:p>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Orantıyı yapmamızdaki amaç her bir derece için kaç adet ürüne tekabül ettiğini bulmaktır. Çünkü A,B,C ürünlerinin ortak katlarını vs bulmak veya başka yollardan çözmek daha da uzatabilir. Her derece için aynı sayıya tekabül edeni bulduğumuzda merkez açının ölçüsüyle çarparak ilgili markanın ürün sayısını bulmuş oluruz.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İçler dışlar yaptığımızda 720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1 = 360 </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x  ise   x=2 </a:t>
                </a:r>
              </a:p>
              <a:p>
                <a:r>
                  <a:rPr lang="tr-TR" sz="1000" noProof="1">
                    <a:cs typeface="Arial" panose="020B0604020202020204" pitchFamily="34" charset="0"/>
                  </a:rPr>
                  <a:t>    olarak bulunur yani her 1 derece 2 ürüne </a:t>
                </a:r>
              </a:p>
              <a:p>
                <a:r>
                  <a:rPr lang="tr-TR" sz="1000" noProof="1">
                    <a:cs typeface="Arial" panose="020B0604020202020204" pitchFamily="34" charset="0"/>
                  </a:rPr>
                  <a:t>    karşılık gelmektedir. </a:t>
                </a:r>
              </a:p>
            </p:txBody>
          </p:sp>
        </mc:Choice>
        <mc:Fallback xmlns="">
          <p:sp>
            <p:nvSpPr>
              <p:cNvPr id="80" name="Metin kutusu 79">
                <a:extLst>
                  <a:ext uri="{FF2B5EF4-FFF2-40B4-BE49-F238E27FC236}">
                    <a16:creationId xmlns:a16="http://schemas.microsoft.com/office/drawing/2014/main" id="{EDA174F4-D404-4B16-8934-2F2F89E1273B}"/>
                  </a:ext>
                </a:extLst>
              </p:cNvPr>
              <p:cNvSpPr txBox="1">
                <a:spLocks noRot="1" noChangeAspect="1" noMove="1" noResize="1" noEditPoints="1" noAdjustHandles="1" noChangeArrowheads="1" noChangeShapeType="1" noTextEdit="1"/>
              </p:cNvSpPr>
              <p:nvPr/>
            </p:nvSpPr>
            <p:spPr>
              <a:xfrm>
                <a:off x="83328" y="2673168"/>
                <a:ext cx="3160179" cy="6093976"/>
              </a:xfrm>
              <a:prstGeom prst="rect">
                <a:avLst/>
              </a:prstGeom>
              <a:blipFill>
                <a:blip r:embed="rId1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1" name="Metin kutusu 80">
                <a:extLst>
                  <a:ext uri="{FF2B5EF4-FFF2-40B4-BE49-F238E27FC236}">
                    <a16:creationId xmlns:a16="http://schemas.microsoft.com/office/drawing/2014/main" id="{33B186BB-1A2E-4FD1-AFB7-1026C3A73EC4}"/>
                  </a:ext>
                </a:extLst>
              </p:cNvPr>
              <p:cNvSpPr txBox="1"/>
              <p:nvPr/>
            </p:nvSpPr>
            <p:spPr>
              <a:xfrm>
                <a:off x="608019" y="6261621"/>
                <a:ext cx="2824762" cy="553998"/>
              </a:xfrm>
              <a:prstGeom prst="rect">
                <a:avLst/>
              </a:prstGeom>
              <a:noFill/>
            </p:spPr>
            <p:txBody>
              <a:bodyPr wrap="square" rtlCol="0">
                <a:spAutoFit/>
              </a:bodyPr>
              <a:lstStyle/>
              <a:p>
                <a:r>
                  <a:rPr lang="tr-TR" sz="1000" noProof="1">
                    <a:cs typeface="Arial" panose="020B0604020202020204" pitchFamily="34" charset="0"/>
                  </a:rPr>
                  <a:t>720 adet ürün                          360</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endParaRPr lang="tr-TR" sz="1000" noProof="1">
                  <a:cs typeface="Arial" panose="020B0604020202020204" pitchFamily="34" charset="0"/>
                </a:endParaRPr>
              </a:p>
              <a:p>
                <a:br>
                  <a:rPr lang="tr-TR" sz="1000" noProof="1">
                    <a:cs typeface="Arial" panose="020B0604020202020204" pitchFamily="34" charset="0"/>
                  </a:rPr>
                </a:br>
                <a:r>
                  <a:rPr lang="tr-TR" sz="1000" noProof="1">
                    <a:cs typeface="Arial" panose="020B0604020202020204" pitchFamily="34" charset="0"/>
                  </a:rPr>
                  <a:t>     x adet ürün                              1</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a:t>
                </a:r>
              </a:p>
            </p:txBody>
          </p:sp>
        </mc:Choice>
        <mc:Fallback xmlns="">
          <p:sp>
            <p:nvSpPr>
              <p:cNvPr id="81" name="Metin kutusu 80">
                <a:extLst>
                  <a:ext uri="{FF2B5EF4-FFF2-40B4-BE49-F238E27FC236}">
                    <a16:creationId xmlns:a16="http://schemas.microsoft.com/office/drawing/2014/main" id="{33B186BB-1A2E-4FD1-AFB7-1026C3A73EC4}"/>
                  </a:ext>
                </a:extLst>
              </p:cNvPr>
              <p:cNvSpPr txBox="1">
                <a:spLocks noRot="1" noChangeAspect="1" noMove="1" noResize="1" noEditPoints="1" noAdjustHandles="1" noChangeArrowheads="1" noChangeShapeType="1" noTextEdit="1"/>
              </p:cNvSpPr>
              <p:nvPr/>
            </p:nvSpPr>
            <p:spPr>
              <a:xfrm>
                <a:off x="608019" y="6261621"/>
                <a:ext cx="2824762" cy="553998"/>
              </a:xfrm>
              <a:prstGeom prst="rect">
                <a:avLst/>
              </a:prstGeom>
              <a:blipFill>
                <a:blip r:embed="rId14"/>
                <a:stretch>
                  <a:fillRect b="-6593"/>
                </a:stretch>
              </a:blipFill>
            </p:spPr>
            <p:txBody>
              <a:bodyPr/>
              <a:lstStyle/>
              <a:p>
                <a:r>
                  <a:rPr lang="tr-TR">
                    <a:noFill/>
                  </a:rPr>
                  <a:t> </a:t>
                </a:r>
              </a:p>
            </p:txBody>
          </p:sp>
        </mc:Fallback>
      </mc:AlternateContent>
      <p:cxnSp>
        <p:nvCxnSpPr>
          <p:cNvPr id="68" name="Düz Ok Bağlayıcısı 67">
            <a:extLst>
              <a:ext uri="{FF2B5EF4-FFF2-40B4-BE49-F238E27FC236}">
                <a16:creationId xmlns:a16="http://schemas.microsoft.com/office/drawing/2014/main" id="{A84F6009-7CE0-4015-B3AB-916FDFD2BF2E}"/>
              </a:ext>
            </a:extLst>
          </p:cNvPr>
          <p:cNvCxnSpPr/>
          <p:nvPr/>
        </p:nvCxnSpPr>
        <p:spPr>
          <a:xfrm flipH="1" flipV="1">
            <a:off x="1512364" y="6386435"/>
            <a:ext cx="720080" cy="32437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Düz Ok Bağlayıcısı 81">
            <a:extLst>
              <a:ext uri="{FF2B5EF4-FFF2-40B4-BE49-F238E27FC236}">
                <a16:creationId xmlns:a16="http://schemas.microsoft.com/office/drawing/2014/main" id="{E8E4A05C-E7D8-490F-AAA8-283F603ECB42}"/>
              </a:ext>
            </a:extLst>
          </p:cNvPr>
          <p:cNvCxnSpPr/>
          <p:nvPr/>
        </p:nvCxnSpPr>
        <p:spPr>
          <a:xfrm flipV="1">
            <a:off x="1512364" y="6378670"/>
            <a:ext cx="598856" cy="35545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6" name="Dikdörtgen 85">
            <a:extLst>
              <a:ext uri="{FF2B5EF4-FFF2-40B4-BE49-F238E27FC236}">
                <a16:creationId xmlns:a16="http://schemas.microsoft.com/office/drawing/2014/main" id="{1FC6E999-0F46-4B2C-8B31-80AFB76F2533}"/>
              </a:ext>
            </a:extLst>
          </p:cNvPr>
          <p:cNvSpPr/>
          <p:nvPr/>
        </p:nvSpPr>
        <p:spPr>
          <a:xfrm>
            <a:off x="3600205" y="490440"/>
            <a:ext cx="3180150" cy="2092881"/>
          </a:xfrm>
          <a:prstGeom prst="rect">
            <a:avLst/>
          </a:prstGeom>
          <a:solidFill>
            <a:srgbClr val="FF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mc:AlternateContent xmlns:mc="http://schemas.openxmlformats.org/markup-compatibility/2006" xmlns:a14="http://schemas.microsoft.com/office/drawing/2010/main">
        <mc:Choice Requires="a14">
          <p:sp>
            <p:nvSpPr>
              <p:cNvPr id="87" name="Metin kutusu 86">
                <a:extLst>
                  <a:ext uri="{FF2B5EF4-FFF2-40B4-BE49-F238E27FC236}">
                    <a16:creationId xmlns:a16="http://schemas.microsoft.com/office/drawing/2014/main" id="{B862EDDD-186F-4D2E-A2F1-3C16A8148D1C}"/>
                  </a:ext>
                </a:extLst>
              </p:cNvPr>
              <p:cNvSpPr txBox="1"/>
              <p:nvPr/>
            </p:nvSpPr>
            <p:spPr>
              <a:xfrm>
                <a:off x="3551818" y="492127"/>
                <a:ext cx="3255555" cy="2092881"/>
              </a:xfrm>
              <a:prstGeom prst="rect">
                <a:avLst/>
              </a:prstGeom>
              <a:noFill/>
            </p:spPr>
            <p:txBody>
              <a:bodyPr wrap="square" rtlCol="0">
                <a:spAutoFit/>
              </a:bodyPr>
              <a:lstStyle/>
              <a:p>
                <a:pPr marL="171450" indent="-171450">
                  <a:buFont typeface="Wingdings" panose="05000000000000000000" pitchFamily="2" charset="2"/>
                  <a:buChar char="Ø"/>
                </a:pPr>
                <a:r>
                  <a:rPr lang="tr-TR" sz="1000" noProof="1">
                    <a:cs typeface="Arial" panose="020B0604020202020204" pitchFamily="34" charset="0"/>
                  </a:rPr>
                  <a:t>Her 1</a:t>
                </a:r>
                <a:r>
                  <a:rPr lang="tr-TR" sz="1000" b="0" noProof="1">
                    <a:ea typeface="Cambria Math" panose="02040503050406030204" pitchFamily="18" charset="0"/>
                    <a:cs typeface="Arial" panose="020B0604020202020204" pitchFamily="34" charset="0"/>
                  </a:rPr>
                  <a:t> </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 2 ürün olduğunu bulduk.</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A markasının merkez açı ölçüsü 115</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yani 230 ürün.</a:t>
                </a:r>
              </a:p>
              <a:p>
                <a:pPr marL="171450" indent="-171450">
                  <a:buFont typeface="Wingdings" panose="05000000000000000000" pitchFamily="2" charset="2"/>
                  <a:buChar char="Ø"/>
                </a:pPr>
                <a:r>
                  <a:rPr lang="tr-TR" sz="1000" noProof="1">
                    <a:cs typeface="Arial" panose="020B0604020202020204" pitchFamily="34" charset="0"/>
                  </a:rPr>
                  <a:t>B markasının merkez açı ölçüsü 140</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yani 280 ürün.</a:t>
                </a:r>
              </a:p>
              <a:p>
                <a:pPr marL="171450" indent="-171450">
                  <a:buFont typeface="Wingdings" panose="05000000000000000000" pitchFamily="2" charset="2"/>
                  <a:buChar char="Ø"/>
                </a:pPr>
                <a:r>
                  <a:rPr lang="tr-TR" sz="1000" noProof="1">
                    <a:cs typeface="Arial" panose="020B0604020202020204" pitchFamily="34" charset="0"/>
                  </a:rPr>
                  <a:t>C markasının merkez açı ölçüsü 105</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yani 210 ürün.</a:t>
                </a:r>
              </a:p>
              <a:p>
                <a:endParaRPr lang="tr-TR" sz="1000" noProof="1">
                  <a:cs typeface="Arial" panose="020B0604020202020204" pitchFamily="34" charset="0"/>
                </a:endParaRPr>
              </a:p>
              <a:p>
                <a:r>
                  <a:rPr lang="tr-TR" sz="1000" noProof="1">
                    <a:cs typeface="Arial" panose="020B0604020202020204" pitchFamily="34" charset="0"/>
                  </a:rPr>
                  <a:t>360</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bu grafikte 720 ürüne tekabül ediyordu. Her açıya da sabit sayıda ürün düştüğünden ötürü oran orantı kullanarak bu şekilde hesapladık peki teyit edebilir miyiz?</a:t>
                </a:r>
              </a:p>
              <a:p>
                <a:endParaRPr lang="tr-TR" sz="1000" noProof="1">
                  <a:cs typeface="Arial" panose="020B0604020202020204" pitchFamily="34" charset="0"/>
                </a:endParaRPr>
              </a:p>
              <a:p>
                <a:r>
                  <a:rPr lang="tr-TR" sz="1000" noProof="1">
                    <a:cs typeface="Arial" panose="020B0604020202020204" pitchFamily="34" charset="0"/>
                  </a:rPr>
                  <a:t>Elbette ürün sayısını topladığımızda 230+280+210 = 720 toplam ürün sayısını bulduk ve açı ölçülerini topladığımızda</a:t>
                </a:r>
              </a:p>
              <a:p>
                <a:r>
                  <a:rPr lang="tr-TR" sz="1000" noProof="1">
                    <a:cs typeface="Arial" panose="020B0604020202020204" pitchFamily="34" charset="0"/>
                  </a:rPr>
                  <a:t>360 olduğunu gördük bu şekilde teyit edebiliriz.</a:t>
                </a:r>
              </a:p>
            </p:txBody>
          </p:sp>
        </mc:Choice>
        <mc:Fallback xmlns="">
          <p:sp>
            <p:nvSpPr>
              <p:cNvPr id="87" name="Metin kutusu 86">
                <a:extLst>
                  <a:ext uri="{FF2B5EF4-FFF2-40B4-BE49-F238E27FC236}">
                    <a16:creationId xmlns:a16="http://schemas.microsoft.com/office/drawing/2014/main" id="{B862EDDD-186F-4D2E-A2F1-3C16A8148D1C}"/>
                  </a:ext>
                </a:extLst>
              </p:cNvPr>
              <p:cNvSpPr txBox="1">
                <a:spLocks noRot="1" noChangeAspect="1" noMove="1" noResize="1" noEditPoints="1" noAdjustHandles="1" noChangeArrowheads="1" noChangeShapeType="1" noTextEdit="1"/>
              </p:cNvSpPr>
              <p:nvPr/>
            </p:nvSpPr>
            <p:spPr>
              <a:xfrm>
                <a:off x="3551818" y="492127"/>
                <a:ext cx="3255555" cy="2092881"/>
              </a:xfrm>
              <a:prstGeom prst="rect">
                <a:avLst/>
              </a:prstGeom>
              <a:blipFill>
                <a:blip r:embed="rId15"/>
                <a:stretch>
                  <a:fillRect r="-187" b="-875"/>
                </a:stretch>
              </a:blipFill>
            </p:spPr>
            <p:txBody>
              <a:bodyPr/>
              <a:lstStyle/>
              <a:p>
                <a:r>
                  <a:rPr lang="tr-TR">
                    <a:noFill/>
                  </a:rPr>
                  <a:t> </a:t>
                </a:r>
              </a:p>
            </p:txBody>
          </p:sp>
        </mc:Fallback>
      </mc:AlternateContent>
      <p:sp>
        <p:nvSpPr>
          <p:cNvPr id="60" name="Kaydırma: Yatay 59">
            <a:extLst>
              <a:ext uri="{FF2B5EF4-FFF2-40B4-BE49-F238E27FC236}">
                <a16:creationId xmlns:a16="http://schemas.microsoft.com/office/drawing/2014/main" id="{6E14B71A-4C21-4962-9D69-90179CA7C68B}"/>
              </a:ext>
            </a:extLst>
          </p:cNvPr>
          <p:cNvSpPr/>
          <p:nvPr/>
        </p:nvSpPr>
        <p:spPr>
          <a:xfrm>
            <a:off x="3620031" y="5422584"/>
            <a:ext cx="3136845" cy="734734"/>
          </a:xfrm>
          <a:prstGeom prst="horizontalScroll">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400" dirty="0">
                <a:solidFill>
                  <a:schemeClr val="tx1"/>
                </a:solidFill>
              </a:rPr>
              <a:t>Dairesel Grafiklerde Dikkat Edilecekler</a:t>
            </a:r>
          </a:p>
        </p:txBody>
      </p:sp>
      <p:sp>
        <p:nvSpPr>
          <p:cNvPr id="63" name="Dikdörtgen: Köşeleri Yuvarlatılmış 62">
            <a:extLst>
              <a:ext uri="{FF2B5EF4-FFF2-40B4-BE49-F238E27FC236}">
                <a16:creationId xmlns:a16="http://schemas.microsoft.com/office/drawing/2014/main" id="{C8DE2287-4DF7-4C3B-841F-4B76C9A2427C}"/>
              </a:ext>
            </a:extLst>
          </p:cNvPr>
          <p:cNvSpPr/>
          <p:nvPr/>
        </p:nvSpPr>
        <p:spPr>
          <a:xfrm>
            <a:off x="3609117" y="6230828"/>
            <a:ext cx="3171238" cy="2407904"/>
          </a:xfrm>
          <a:prstGeom prst="roundRect">
            <a:avLst>
              <a:gd name="adj" fmla="val 3885"/>
            </a:avLst>
          </a:prstGeom>
          <a:ln w="9525">
            <a:solidFill>
              <a:srgbClr val="66CCFF"/>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tr-TR" dirty="0"/>
          </a:p>
        </p:txBody>
      </p:sp>
      <p:sp>
        <p:nvSpPr>
          <p:cNvPr id="64" name="Metin kutusu 63">
            <a:extLst>
              <a:ext uri="{FF2B5EF4-FFF2-40B4-BE49-F238E27FC236}">
                <a16:creationId xmlns:a16="http://schemas.microsoft.com/office/drawing/2014/main" id="{0549E735-BE6B-45F2-BDB1-DF5503B19356}"/>
              </a:ext>
            </a:extLst>
          </p:cNvPr>
          <p:cNvSpPr txBox="1"/>
          <p:nvPr/>
        </p:nvSpPr>
        <p:spPr>
          <a:xfrm>
            <a:off x="3620031" y="6254209"/>
            <a:ext cx="3160324" cy="2400657"/>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Grafikler göz korkutucu gelebilir fakat yorumlamayı ve sayısal değerleri hesaplamayı öğrendiğinizde göründüğü gibi olmadığını göreceksiniz.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Grafiğin tamamını yorumlamak zorunda değilsiniz, sorudan sizden istediğini vermeniz yeterlidir.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Nadir olsa da bazı sorularda ürün sayısı tam açı olan 360 dereceyle tam bölünmeyen veya ters düşen bir sayısal değer olabilir. İşlemlerinizde sağlama yaparak sorunun çözümüne hiç durmadan ilerleyin. Her zaman sizlere tam katı çıkmayabilir bu sizi yanlış çözüyorum diye yanılgıya düşürmesin fakat zaten bu tarz örnekler sınav formatlarında genelde tercih edilmiyor. Nolur nolmaz, vazgçememeniz için belirtmek istedik.</a:t>
            </a:r>
          </a:p>
        </p:txBody>
      </p:sp>
      <p:sp>
        <p:nvSpPr>
          <p:cNvPr id="4" name="Dikdörtgen 3">
            <a:extLst>
              <a:ext uri="{FF2B5EF4-FFF2-40B4-BE49-F238E27FC236}">
                <a16:creationId xmlns:a16="http://schemas.microsoft.com/office/drawing/2014/main" id="{63F10E5B-2BAA-4D14-9936-D976B8F96DBD}"/>
              </a:ext>
            </a:extLst>
          </p:cNvPr>
          <p:cNvSpPr/>
          <p:nvPr/>
        </p:nvSpPr>
        <p:spPr>
          <a:xfrm>
            <a:off x="3620031" y="2667201"/>
            <a:ext cx="3136845" cy="2681665"/>
          </a:xfrm>
          <a:prstGeom prst="rect">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69" name="Metin kutusu 68">
                <a:extLst>
                  <a:ext uri="{FF2B5EF4-FFF2-40B4-BE49-F238E27FC236}">
                    <a16:creationId xmlns:a16="http://schemas.microsoft.com/office/drawing/2014/main" id="{FFEEFB1E-3AB7-40D1-AB02-6102A3085C47}"/>
                  </a:ext>
                </a:extLst>
              </p:cNvPr>
              <p:cNvSpPr txBox="1"/>
              <p:nvPr/>
            </p:nvSpPr>
            <p:spPr>
              <a:xfrm>
                <a:off x="3602445" y="2969507"/>
                <a:ext cx="3255555" cy="2246769"/>
              </a:xfrm>
              <a:prstGeom prst="rect">
                <a:avLst/>
              </a:prstGeom>
              <a:noFill/>
            </p:spPr>
            <p:txBody>
              <a:bodyPr wrap="square" rtlCol="0">
                <a:spAutoFit/>
              </a:bodyPr>
              <a:lstStyle/>
              <a:p>
                <a:pPr marL="171450" indent="-171450">
                  <a:buFont typeface="Wingdings" panose="05000000000000000000" pitchFamily="2" charset="2"/>
                  <a:buChar char="Ø"/>
                </a:pPr>
                <a:r>
                  <a:rPr lang="tr-TR" sz="1000" noProof="1">
                    <a:cs typeface="Arial" panose="020B0604020202020204" pitchFamily="34" charset="0"/>
                  </a:rPr>
                  <a:t> Verilen merkez açılar kullanılarak mümkünse bilinmeyen merkez açılar bulunur.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Dairesel grafik neyi ifade ediyorsa bu sayısal değerin statü farketmeksizin toplamı tam açı yani 360</a:t>
                </a:r>
                <a14:m>
                  <m:oMath xmlns:m="http://schemas.openxmlformats.org/officeDocument/2006/math">
                    <m:r>
                      <a:rPr lang="tr-TR" sz="1000" b="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ile doğru orantı kullanılarak 1</a:t>
                </a:r>
                <a14:m>
                  <m:oMath xmlns:m="http://schemas.openxmlformats.org/officeDocument/2006/math">
                    <m:r>
                      <a:rPr lang="tr-TR" sz="10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`ye tekabül edecek ilgili sayısal değer bulunur.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Her dereceye tekabül eden değer bulununca merkez açılarla bu doğru orantı kullanılarak bulunur.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Her açı için aynı sayısal değer olduğundan temsil ettiği merkez açıyla çarpıldığında ilgili grubun sayısal değeri de bulunmuş olunur ve sorudan ne istenildiğine bakılır.</a:t>
                </a:r>
              </a:p>
            </p:txBody>
          </p:sp>
        </mc:Choice>
        <mc:Fallback xmlns="">
          <p:sp>
            <p:nvSpPr>
              <p:cNvPr id="69" name="Metin kutusu 68">
                <a:extLst>
                  <a:ext uri="{FF2B5EF4-FFF2-40B4-BE49-F238E27FC236}">
                    <a16:creationId xmlns:a16="http://schemas.microsoft.com/office/drawing/2014/main" id="{FFEEFB1E-3AB7-40D1-AB02-6102A3085C47}"/>
                  </a:ext>
                </a:extLst>
              </p:cNvPr>
              <p:cNvSpPr txBox="1">
                <a:spLocks noRot="1" noChangeAspect="1" noMove="1" noResize="1" noEditPoints="1" noAdjustHandles="1" noChangeArrowheads="1" noChangeShapeType="1" noTextEdit="1"/>
              </p:cNvSpPr>
              <p:nvPr/>
            </p:nvSpPr>
            <p:spPr>
              <a:xfrm>
                <a:off x="3602445" y="2969507"/>
                <a:ext cx="3255555" cy="2246769"/>
              </a:xfrm>
              <a:prstGeom prst="rect">
                <a:avLst/>
              </a:prstGeom>
              <a:blipFill>
                <a:blip r:embed="rId16"/>
                <a:stretch>
                  <a:fillRect r="-375" b="-813"/>
                </a:stretch>
              </a:blipFill>
            </p:spPr>
            <p:txBody>
              <a:bodyPr/>
              <a:lstStyle/>
              <a:p>
                <a:r>
                  <a:rPr lang="tr-TR">
                    <a:noFill/>
                  </a:rPr>
                  <a:t> </a:t>
                </a:r>
              </a:p>
            </p:txBody>
          </p:sp>
        </mc:Fallback>
      </mc:AlternateContent>
      <p:sp>
        <p:nvSpPr>
          <p:cNvPr id="84" name="Metin kutusu 83">
            <a:extLst>
              <a:ext uri="{FF2B5EF4-FFF2-40B4-BE49-F238E27FC236}">
                <a16:creationId xmlns:a16="http://schemas.microsoft.com/office/drawing/2014/main" id="{6474A038-4A41-4C28-85F8-1CDC7A59881A}"/>
              </a:ext>
            </a:extLst>
          </p:cNvPr>
          <p:cNvSpPr txBox="1"/>
          <p:nvPr/>
        </p:nvSpPr>
        <p:spPr>
          <a:xfrm>
            <a:off x="3620031" y="2687456"/>
            <a:ext cx="3136845"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Dairesel Grafiklerin Çözüm Yolları </a:t>
            </a:r>
          </a:p>
        </p:txBody>
      </p:sp>
    </p:spTree>
    <p:extLst>
      <p:ext uri="{BB962C8B-B14F-4D97-AF65-F5344CB8AC3E}">
        <p14:creationId xmlns:p14="http://schemas.microsoft.com/office/powerpoint/2010/main" val="1469394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Grafik Problemleri</a:t>
            </a:r>
          </a:p>
          <a:p>
            <a:r>
              <a:rPr lang="tr-TR" sz="1000" b="1" noProof="1">
                <a:latin typeface="+mj-lt"/>
                <a:cs typeface="Arial" panose="020B0604020202020204" pitchFamily="34" charset="0"/>
              </a:rPr>
              <a:t>      Doğrusal Grafikler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61274" y="2207617"/>
            <a:ext cx="3317461" cy="246221"/>
          </a:xfrm>
          <a:prstGeom prst="rect">
            <a:avLst/>
          </a:prstGeom>
          <a:noFill/>
        </p:spPr>
        <p:txBody>
          <a:bodyPr wrap="square" rtlCol="0">
            <a:spAutoFit/>
          </a:bodyPr>
          <a:lstStyle/>
          <a:p>
            <a:r>
              <a:rPr lang="tr-TR" sz="1000" b="1" noProof="1">
                <a:cs typeface="Arial" panose="020B0604020202020204" pitchFamily="34" charset="0"/>
              </a:rPr>
              <a:t>Buna göre, Ahmet`in 4.cü gün sonunda parası kaç TL olur?</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55" name="Dikdörtgen 54">
            <a:extLst>
              <a:ext uri="{FF2B5EF4-FFF2-40B4-BE49-F238E27FC236}">
                <a16:creationId xmlns:a16="http://schemas.microsoft.com/office/drawing/2014/main" id="{60057654-B723-41D9-BB6B-053ABEC224DE}"/>
              </a:ext>
            </a:extLst>
          </p:cNvPr>
          <p:cNvSpPr/>
          <p:nvPr/>
        </p:nvSpPr>
        <p:spPr>
          <a:xfrm>
            <a:off x="0" y="7430817"/>
            <a:ext cx="3396226"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II ve IV                               C) I ve IV</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429000" y="2095018"/>
            <a:ext cx="3487280" cy="861774"/>
          </a:xfrm>
          <a:prstGeom prst="rect">
            <a:avLst/>
          </a:prstGeom>
          <a:noFill/>
        </p:spPr>
        <p:txBody>
          <a:bodyPr wrap="square" rtlCol="0">
            <a:spAutoFit/>
          </a:bodyPr>
          <a:lstStyle/>
          <a:p>
            <a:r>
              <a:rPr lang="tr-TR" sz="1000" noProof="1">
                <a:cs typeface="Arial" panose="020B0604020202020204" pitchFamily="34" charset="0"/>
              </a:rPr>
              <a:t>Yukardaki doğrusal grafiklerden ilki buğdaydan elde edilen un miktarını, 2.si undan elde edilen ekmek sayısını göstermektedir.</a:t>
            </a:r>
          </a:p>
          <a:p>
            <a:endParaRPr lang="tr-TR" sz="1000" noProof="1">
              <a:cs typeface="Arial" panose="020B0604020202020204" pitchFamily="34" charset="0"/>
            </a:endParaRPr>
          </a:p>
          <a:p>
            <a:r>
              <a:rPr lang="tr-TR" sz="1000" b="1" noProof="1">
                <a:cs typeface="Arial" panose="020B0604020202020204" pitchFamily="34" charset="0"/>
              </a:rPr>
              <a:t>Buna göre , 144 adet ekmek üretebilmek için kaç kg buğday gereklidir?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cxnSp>
        <p:nvCxnSpPr>
          <p:cNvPr id="7" name="Düz Ok Bağlayıcısı 6">
            <a:extLst>
              <a:ext uri="{FF2B5EF4-FFF2-40B4-BE49-F238E27FC236}">
                <a16:creationId xmlns:a16="http://schemas.microsoft.com/office/drawing/2014/main" id="{82F5415A-47E3-4E28-9C1B-6B165E1FCBF7}"/>
              </a:ext>
            </a:extLst>
          </p:cNvPr>
          <p:cNvCxnSpPr/>
          <p:nvPr/>
        </p:nvCxnSpPr>
        <p:spPr>
          <a:xfrm flipV="1">
            <a:off x="310383" y="1117214"/>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Düz Ok Bağlayıcısı 12">
            <a:extLst>
              <a:ext uri="{FF2B5EF4-FFF2-40B4-BE49-F238E27FC236}">
                <a16:creationId xmlns:a16="http://schemas.microsoft.com/office/drawing/2014/main" id="{E49C2131-D0CB-457B-BF88-7BA92CED56A4}"/>
              </a:ext>
            </a:extLst>
          </p:cNvPr>
          <p:cNvCxnSpPr/>
          <p:nvPr/>
        </p:nvCxnSpPr>
        <p:spPr>
          <a:xfrm>
            <a:off x="161542" y="2085922"/>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400110"/>
          </a:xfrm>
          <a:prstGeom prst="rect">
            <a:avLst/>
          </a:prstGeom>
          <a:noFill/>
        </p:spPr>
        <p:txBody>
          <a:bodyPr wrap="square" rtlCol="0">
            <a:spAutoFit/>
          </a:bodyPr>
          <a:lstStyle/>
          <a:p>
            <a:r>
              <a:rPr lang="tr-TR" sz="1000" b="1" noProof="1">
                <a:cs typeface="Arial" panose="020B0604020202020204" pitchFamily="34" charset="0"/>
              </a:rPr>
              <a:t>Aşağıdaki doğrusal grafikte Ahmet`in biriktirdiği paranın değişimi verilmiştir.  </a:t>
            </a:r>
          </a:p>
        </p:txBody>
      </p:sp>
      <p:sp>
        <p:nvSpPr>
          <p:cNvPr id="48" name="Metin kutusu 47">
            <a:extLst>
              <a:ext uri="{FF2B5EF4-FFF2-40B4-BE49-F238E27FC236}">
                <a16:creationId xmlns:a16="http://schemas.microsoft.com/office/drawing/2014/main" id="{2C948837-B8E2-4ADD-8A0E-FD49AA51C358}"/>
              </a:ext>
            </a:extLst>
          </p:cNvPr>
          <p:cNvSpPr txBox="1"/>
          <p:nvPr/>
        </p:nvSpPr>
        <p:spPr>
          <a:xfrm>
            <a:off x="1318495" y="1939628"/>
            <a:ext cx="1078571" cy="246221"/>
          </a:xfrm>
          <a:prstGeom prst="rect">
            <a:avLst/>
          </a:prstGeom>
          <a:noFill/>
        </p:spPr>
        <p:txBody>
          <a:bodyPr wrap="square" rtlCol="0">
            <a:spAutoFit/>
          </a:bodyPr>
          <a:lstStyle/>
          <a:p>
            <a:r>
              <a:rPr lang="tr-TR" sz="1000" noProof="1">
                <a:cs typeface="Arial" panose="020B0604020202020204" pitchFamily="34" charset="0"/>
              </a:rPr>
              <a:t>Zaman (Gün)</a:t>
            </a:r>
          </a:p>
        </p:txBody>
      </p:sp>
      <p:sp>
        <p:nvSpPr>
          <p:cNvPr id="61" name="Metin kutusu 60">
            <a:extLst>
              <a:ext uri="{FF2B5EF4-FFF2-40B4-BE49-F238E27FC236}">
                <a16:creationId xmlns:a16="http://schemas.microsoft.com/office/drawing/2014/main" id="{425D974C-D979-4C8F-9C87-4AE8F1AF6165}"/>
              </a:ext>
            </a:extLst>
          </p:cNvPr>
          <p:cNvSpPr txBox="1"/>
          <p:nvPr/>
        </p:nvSpPr>
        <p:spPr>
          <a:xfrm>
            <a:off x="179507" y="907707"/>
            <a:ext cx="1305276" cy="246221"/>
          </a:xfrm>
          <a:prstGeom prst="rect">
            <a:avLst/>
          </a:prstGeom>
          <a:noFill/>
        </p:spPr>
        <p:txBody>
          <a:bodyPr wrap="square" rtlCol="0">
            <a:spAutoFit/>
          </a:bodyPr>
          <a:lstStyle/>
          <a:p>
            <a:r>
              <a:rPr lang="tr-TR" sz="1000" noProof="1">
                <a:cs typeface="Arial" panose="020B0604020202020204" pitchFamily="34" charset="0"/>
              </a:rPr>
              <a:t>Biriktirdiği Para (TL)</a:t>
            </a:r>
          </a:p>
        </p:txBody>
      </p:sp>
      <p:cxnSp>
        <p:nvCxnSpPr>
          <p:cNvPr id="63" name="Düz Ok Bağlayıcısı 62">
            <a:extLst>
              <a:ext uri="{FF2B5EF4-FFF2-40B4-BE49-F238E27FC236}">
                <a16:creationId xmlns:a16="http://schemas.microsoft.com/office/drawing/2014/main" id="{B4EF2216-6DE0-4DE3-B382-B143BA5BD6B4}"/>
              </a:ext>
            </a:extLst>
          </p:cNvPr>
          <p:cNvCxnSpPr/>
          <p:nvPr/>
        </p:nvCxnSpPr>
        <p:spPr>
          <a:xfrm flipV="1">
            <a:off x="3706790" y="696309"/>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Düz Ok Bağlayıcısı 64">
            <a:extLst>
              <a:ext uri="{FF2B5EF4-FFF2-40B4-BE49-F238E27FC236}">
                <a16:creationId xmlns:a16="http://schemas.microsoft.com/office/drawing/2014/main" id="{EECE3D84-2850-43AA-B972-09A6F3DF63B8}"/>
              </a:ext>
            </a:extLst>
          </p:cNvPr>
          <p:cNvCxnSpPr/>
          <p:nvPr/>
        </p:nvCxnSpPr>
        <p:spPr>
          <a:xfrm>
            <a:off x="3557949" y="1665017"/>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Metin kutusu 65">
            <a:extLst>
              <a:ext uri="{FF2B5EF4-FFF2-40B4-BE49-F238E27FC236}">
                <a16:creationId xmlns:a16="http://schemas.microsoft.com/office/drawing/2014/main" id="{5A71217E-9B43-440B-9F06-FE26C3FA4F8D}"/>
              </a:ext>
            </a:extLst>
          </p:cNvPr>
          <p:cNvSpPr txBox="1"/>
          <p:nvPr/>
        </p:nvSpPr>
        <p:spPr>
          <a:xfrm>
            <a:off x="4649464" y="1546859"/>
            <a:ext cx="1078571" cy="246221"/>
          </a:xfrm>
          <a:prstGeom prst="rect">
            <a:avLst/>
          </a:prstGeom>
          <a:noFill/>
        </p:spPr>
        <p:txBody>
          <a:bodyPr wrap="square" rtlCol="0">
            <a:spAutoFit/>
          </a:bodyPr>
          <a:lstStyle/>
          <a:p>
            <a:r>
              <a:rPr lang="tr-TR" sz="1000" noProof="1">
                <a:cs typeface="Arial" panose="020B0604020202020204" pitchFamily="34" charset="0"/>
              </a:rPr>
              <a:t>Un (kg)</a:t>
            </a:r>
          </a:p>
        </p:txBody>
      </p:sp>
      <p:sp>
        <p:nvSpPr>
          <p:cNvPr id="67" name="Metin kutusu 66">
            <a:extLst>
              <a:ext uri="{FF2B5EF4-FFF2-40B4-BE49-F238E27FC236}">
                <a16:creationId xmlns:a16="http://schemas.microsoft.com/office/drawing/2014/main" id="{6076B4A8-55E5-4CFE-BD9B-21DE1B21AF90}"/>
              </a:ext>
            </a:extLst>
          </p:cNvPr>
          <p:cNvSpPr txBox="1"/>
          <p:nvPr/>
        </p:nvSpPr>
        <p:spPr>
          <a:xfrm>
            <a:off x="3575914" y="486802"/>
            <a:ext cx="1078571" cy="246221"/>
          </a:xfrm>
          <a:prstGeom prst="rect">
            <a:avLst/>
          </a:prstGeom>
          <a:noFill/>
        </p:spPr>
        <p:txBody>
          <a:bodyPr wrap="square" rtlCol="0">
            <a:spAutoFit/>
          </a:bodyPr>
          <a:lstStyle/>
          <a:p>
            <a:r>
              <a:rPr lang="tr-TR" sz="1000" noProof="1">
                <a:cs typeface="Arial" panose="020B0604020202020204" pitchFamily="34" charset="0"/>
              </a:rPr>
              <a:t>Buğday (kg)</a:t>
            </a:r>
          </a:p>
        </p:txBody>
      </p:sp>
      <p:cxnSp>
        <p:nvCxnSpPr>
          <p:cNvPr id="17" name="Düz Bağlayıcı 16">
            <a:extLst>
              <a:ext uri="{FF2B5EF4-FFF2-40B4-BE49-F238E27FC236}">
                <a16:creationId xmlns:a16="http://schemas.microsoft.com/office/drawing/2014/main" id="{90954ED6-3F61-4B87-9015-F2ECFAC7B459}"/>
              </a:ext>
            </a:extLst>
          </p:cNvPr>
          <p:cNvCxnSpPr>
            <a:cxnSpLocks/>
          </p:cNvCxnSpPr>
          <p:nvPr/>
        </p:nvCxnSpPr>
        <p:spPr>
          <a:xfrm flipV="1">
            <a:off x="310383" y="1275779"/>
            <a:ext cx="598337" cy="456760"/>
          </a:xfrm>
          <a:prstGeom prst="line">
            <a:avLst/>
          </a:prstGeom>
        </p:spPr>
        <p:style>
          <a:lnRef idx="1">
            <a:schemeClr val="accent1"/>
          </a:lnRef>
          <a:fillRef idx="0">
            <a:schemeClr val="accent1"/>
          </a:fillRef>
          <a:effectRef idx="0">
            <a:schemeClr val="accent1"/>
          </a:effectRef>
          <a:fontRef idx="minor">
            <a:schemeClr val="tx1"/>
          </a:fontRef>
        </p:style>
      </p:cxnSp>
      <p:sp>
        <p:nvSpPr>
          <p:cNvPr id="68" name="Metin kutusu 67">
            <a:extLst>
              <a:ext uri="{FF2B5EF4-FFF2-40B4-BE49-F238E27FC236}">
                <a16:creationId xmlns:a16="http://schemas.microsoft.com/office/drawing/2014/main" id="{0328FF27-198A-4831-A1D3-1C5219F7FD40}"/>
              </a:ext>
            </a:extLst>
          </p:cNvPr>
          <p:cNvSpPr txBox="1"/>
          <p:nvPr/>
        </p:nvSpPr>
        <p:spPr>
          <a:xfrm>
            <a:off x="776088" y="2035355"/>
            <a:ext cx="337520" cy="246221"/>
          </a:xfrm>
          <a:prstGeom prst="rect">
            <a:avLst/>
          </a:prstGeom>
          <a:noFill/>
        </p:spPr>
        <p:txBody>
          <a:bodyPr wrap="square" rtlCol="0">
            <a:spAutoFit/>
          </a:bodyPr>
          <a:lstStyle/>
          <a:p>
            <a:r>
              <a:rPr lang="tr-TR" sz="1000" noProof="1">
                <a:cs typeface="Arial" panose="020B0604020202020204" pitchFamily="34" charset="0"/>
              </a:rPr>
              <a:t>2</a:t>
            </a:r>
          </a:p>
        </p:txBody>
      </p:sp>
      <p:sp>
        <p:nvSpPr>
          <p:cNvPr id="69" name="Metin kutusu 68">
            <a:extLst>
              <a:ext uri="{FF2B5EF4-FFF2-40B4-BE49-F238E27FC236}">
                <a16:creationId xmlns:a16="http://schemas.microsoft.com/office/drawing/2014/main" id="{96E5240D-0727-48C6-9657-68BA2A145B26}"/>
              </a:ext>
            </a:extLst>
          </p:cNvPr>
          <p:cNvSpPr txBox="1"/>
          <p:nvPr/>
        </p:nvSpPr>
        <p:spPr>
          <a:xfrm>
            <a:off x="57177" y="1594896"/>
            <a:ext cx="337520" cy="246221"/>
          </a:xfrm>
          <a:prstGeom prst="rect">
            <a:avLst/>
          </a:prstGeom>
          <a:noFill/>
        </p:spPr>
        <p:txBody>
          <a:bodyPr wrap="square" rtlCol="0">
            <a:spAutoFit/>
          </a:bodyPr>
          <a:lstStyle/>
          <a:p>
            <a:r>
              <a:rPr lang="tr-TR" sz="1000" noProof="1">
                <a:cs typeface="Arial" panose="020B0604020202020204" pitchFamily="34" charset="0"/>
              </a:rPr>
              <a:t>50</a:t>
            </a:r>
          </a:p>
        </p:txBody>
      </p:sp>
      <p:sp>
        <p:nvSpPr>
          <p:cNvPr id="70" name="Metin kutusu 69">
            <a:extLst>
              <a:ext uri="{FF2B5EF4-FFF2-40B4-BE49-F238E27FC236}">
                <a16:creationId xmlns:a16="http://schemas.microsoft.com/office/drawing/2014/main" id="{E51A6399-73C2-49AE-8854-23532B9AA754}"/>
              </a:ext>
            </a:extLst>
          </p:cNvPr>
          <p:cNvSpPr txBox="1"/>
          <p:nvPr/>
        </p:nvSpPr>
        <p:spPr>
          <a:xfrm>
            <a:off x="-15048" y="1142713"/>
            <a:ext cx="397924" cy="246221"/>
          </a:xfrm>
          <a:prstGeom prst="rect">
            <a:avLst/>
          </a:prstGeom>
          <a:noFill/>
        </p:spPr>
        <p:txBody>
          <a:bodyPr wrap="square" rtlCol="0">
            <a:spAutoFit/>
          </a:bodyPr>
          <a:lstStyle/>
          <a:p>
            <a:r>
              <a:rPr lang="tr-TR" sz="1000" noProof="1">
                <a:cs typeface="Arial" panose="020B0604020202020204" pitchFamily="34" charset="0"/>
              </a:rPr>
              <a:t>140</a:t>
            </a:r>
          </a:p>
        </p:txBody>
      </p:sp>
      <p:cxnSp>
        <p:nvCxnSpPr>
          <p:cNvPr id="27" name="Düz Bağlayıcı 26">
            <a:extLst>
              <a:ext uri="{FF2B5EF4-FFF2-40B4-BE49-F238E27FC236}">
                <a16:creationId xmlns:a16="http://schemas.microsoft.com/office/drawing/2014/main" id="{BA54E132-2F0B-4197-A062-B523920E1FC6}"/>
              </a:ext>
            </a:extLst>
          </p:cNvPr>
          <p:cNvCxnSpPr>
            <a:cxnSpLocks/>
          </p:cNvCxnSpPr>
          <p:nvPr/>
        </p:nvCxnSpPr>
        <p:spPr>
          <a:xfrm>
            <a:off x="307926" y="1280864"/>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 name="Düz Bağlayıcı 70">
            <a:extLst>
              <a:ext uri="{FF2B5EF4-FFF2-40B4-BE49-F238E27FC236}">
                <a16:creationId xmlns:a16="http://schemas.microsoft.com/office/drawing/2014/main" id="{CBE65FA9-572C-409C-B14A-4788930124D2}"/>
              </a:ext>
            </a:extLst>
          </p:cNvPr>
          <p:cNvCxnSpPr>
            <a:cxnSpLocks/>
          </p:cNvCxnSpPr>
          <p:nvPr/>
        </p:nvCxnSpPr>
        <p:spPr>
          <a:xfrm>
            <a:off x="908720" y="1278528"/>
            <a:ext cx="0" cy="81583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 name="Düz Ok Bağlayıcısı 71">
            <a:extLst>
              <a:ext uri="{FF2B5EF4-FFF2-40B4-BE49-F238E27FC236}">
                <a16:creationId xmlns:a16="http://schemas.microsoft.com/office/drawing/2014/main" id="{A4AD9BE2-4826-4AB6-834B-522565ADE755}"/>
              </a:ext>
            </a:extLst>
          </p:cNvPr>
          <p:cNvCxnSpPr>
            <a:cxnSpLocks/>
          </p:cNvCxnSpPr>
          <p:nvPr/>
        </p:nvCxnSpPr>
        <p:spPr>
          <a:xfrm flipH="1" flipV="1">
            <a:off x="301904" y="4932040"/>
            <a:ext cx="1817" cy="4778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Düz Ok Bağlayıcısı 72">
            <a:extLst>
              <a:ext uri="{FF2B5EF4-FFF2-40B4-BE49-F238E27FC236}">
                <a16:creationId xmlns:a16="http://schemas.microsoft.com/office/drawing/2014/main" id="{05961572-7783-46B2-8DAA-049F30F4B7C6}"/>
              </a:ext>
            </a:extLst>
          </p:cNvPr>
          <p:cNvCxnSpPr>
            <a:cxnSpLocks/>
          </p:cNvCxnSpPr>
          <p:nvPr/>
        </p:nvCxnSpPr>
        <p:spPr>
          <a:xfrm>
            <a:off x="819837" y="5893668"/>
            <a:ext cx="4277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Metin kutusu 73">
            <a:extLst>
              <a:ext uri="{FF2B5EF4-FFF2-40B4-BE49-F238E27FC236}">
                <a16:creationId xmlns:a16="http://schemas.microsoft.com/office/drawing/2014/main" id="{FCDCC177-CD2C-4366-822E-4B01C2232202}"/>
              </a:ext>
            </a:extLst>
          </p:cNvPr>
          <p:cNvSpPr txBox="1"/>
          <p:nvPr/>
        </p:nvSpPr>
        <p:spPr>
          <a:xfrm>
            <a:off x="1318318" y="5745505"/>
            <a:ext cx="1078571" cy="246221"/>
          </a:xfrm>
          <a:prstGeom prst="rect">
            <a:avLst/>
          </a:prstGeom>
          <a:noFill/>
        </p:spPr>
        <p:txBody>
          <a:bodyPr wrap="square" rtlCol="0">
            <a:spAutoFit/>
          </a:bodyPr>
          <a:lstStyle/>
          <a:p>
            <a:r>
              <a:rPr lang="tr-TR" sz="1000" noProof="1">
                <a:cs typeface="Arial" panose="020B0604020202020204" pitchFamily="34" charset="0"/>
              </a:rPr>
              <a:t>Zaman (Saat)</a:t>
            </a:r>
          </a:p>
        </p:txBody>
      </p:sp>
      <p:sp>
        <p:nvSpPr>
          <p:cNvPr id="75" name="Metin kutusu 74">
            <a:extLst>
              <a:ext uri="{FF2B5EF4-FFF2-40B4-BE49-F238E27FC236}">
                <a16:creationId xmlns:a16="http://schemas.microsoft.com/office/drawing/2014/main" id="{CEAFC83B-44C8-40FB-AE22-9ACEF62AE107}"/>
              </a:ext>
            </a:extLst>
          </p:cNvPr>
          <p:cNvSpPr txBox="1"/>
          <p:nvPr/>
        </p:nvSpPr>
        <p:spPr>
          <a:xfrm>
            <a:off x="176138" y="4670684"/>
            <a:ext cx="1305276" cy="246221"/>
          </a:xfrm>
          <a:prstGeom prst="rect">
            <a:avLst/>
          </a:prstGeom>
          <a:noFill/>
        </p:spPr>
        <p:txBody>
          <a:bodyPr wrap="square" rtlCol="0">
            <a:spAutoFit/>
          </a:bodyPr>
          <a:lstStyle/>
          <a:p>
            <a:r>
              <a:rPr lang="tr-TR" sz="1000" noProof="1">
                <a:cs typeface="Arial" panose="020B0604020202020204" pitchFamily="34" charset="0"/>
              </a:rPr>
              <a:t>Gidilen Yol (km)</a:t>
            </a:r>
          </a:p>
        </p:txBody>
      </p:sp>
      <p:cxnSp>
        <p:nvCxnSpPr>
          <p:cNvPr id="76" name="Düz Bağlayıcı 75">
            <a:extLst>
              <a:ext uri="{FF2B5EF4-FFF2-40B4-BE49-F238E27FC236}">
                <a16:creationId xmlns:a16="http://schemas.microsoft.com/office/drawing/2014/main" id="{EE84031D-FAA0-422F-9AB6-BDB6C3047D21}"/>
              </a:ext>
            </a:extLst>
          </p:cNvPr>
          <p:cNvCxnSpPr>
            <a:cxnSpLocks/>
          </p:cNvCxnSpPr>
          <p:nvPr/>
        </p:nvCxnSpPr>
        <p:spPr>
          <a:xfrm flipV="1">
            <a:off x="547088" y="5081657"/>
            <a:ext cx="361455" cy="448103"/>
          </a:xfrm>
          <a:prstGeom prst="line">
            <a:avLst/>
          </a:prstGeom>
        </p:spPr>
        <p:style>
          <a:lnRef idx="1">
            <a:schemeClr val="accent1"/>
          </a:lnRef>
          <a:fillRef idx="0">
            <a:schemeClr val="accent1"/>
          </a:fillRef>
          <a:effectRef idx="0">
            <a:schemeClr val="accent1"/>
          </a:effectRef>
          <a:fontRef idx="minor">
            <a:schemeClr val="tx1"/>
          </a:fontRef>
        </p:style>
      </p:cxnSp>
      <p:sp>
        <p:nvSpPr>
          <p:cNvPr id="77" name="Metin kutusu 76">
            <a:extLst>
              <a:ext uri="{FF2B5EF4-FFF2-40B4-BE49-F238E27FC236}">
                <a16:creationId xmlns:a16="http://schemas.microsoft.com/office/drawing/2014/main" id="{67CA3042-CA46-4D83-B3BC-1FF55D2D3928}"/>
              </a:ext>
            </a:extLst>
          </p:cNvPr>
          <p:cNvSpPr txBox="1"/>
          <p:nvPr/>
        </p:nvSpPr>
        <p:spPr>
          <a:xfrm>
            <a:off x="775911" y="5841232"/>
            <a:ext cx="337520" cy="246221"/>
          </a:xfrm>
          <a:prstGeom prst="rect">
            <a:avLst/>
          </a:prstGeom>
          <a:noFill/>
        </p:spPr>
        <p:txBody>
          <a:bodyPr wrap="square" rtlCol="0">
            <a:spAutoFit/>
          </a:bodyPr>
          <a:lstStyle/>
          <a:p>
            <a:r>
              <a:rPr lang="tr-TR" sz="1000" noProof="1">
                <a:cs typeface="Arial" panose="020B0604020202020204" pitchFamily="34" charset="0"/>
              </a:rPr>
              <a:t>2</a:t>
            </a:r>
          </a:p>
        </p:txBody>
      </p:sp>
      <p:sp>
        <p:nvSpPr>
          <p:cNvPr id="78" name="Metin kutusu 77">
            <a:extLst>
              <a:ext uri="{FF2B5EF4-FFF2-40B4-BE49-F238E27FC236}">
                <a16:creationId xmlns:a16="http://schemas.microsoft.com/office/drawing/2014/main" id="{927994EC-F46D-44A6-A0FC-1A3BC71BD599}"/>
              </a:ext>
            </a:extLst>
          </p:cNvPr>
          <p:cNvSpPr txBox="1"/>
          <p:nvPr/>
        </p:nvSpPr>
        <p:spPr>
          <a:xfrm>
            <a:off x="25519" y="5363810"/>
            <a:ext cx="360633" cy="246221"/>
          </a:xfrm>
          <a:prstGeom prst="rect">
            <a:avLst/>
          </a:prstGeom>
          <a:noFill/>
        </p:spPr>
        <p:txBody>
          <a:bodyPr wrap="square" rtlCol="0">
            <a:spAutoFit/>
          </a:bodyPr>
          <a:lstStyle/>
          <a:p>
            <a:r>
              <a:rPr lang="tr-TR" sz="1000" noProof="1">
                <a:cs typeface="Arial" panose="020B0604020202020204" pitchFamily="34" charset="0"/>
              </a:rPr>
              <a:t>40</a:t>
            </a:r>
          </a:p>
        </p:txBody>
      </p:sp>
      <p:sp>
        <p:nvSpPr>
          <p:cNvPr id="79" name="Metin kutusu 78">
            <a:extLst>
              <a:ext uri="{FF2B5EF4-FFF2-40B4-BE49-F238E27FC236}">
                <a16:creationId xmlns:a16="http://schemas.microsoft.com/office/drawing/2014/main" id="{534C9AD4-4BCE-407D-B6BB-F640D17DA2A5}"/>
              </a:ext>
            </a:extLst>
          </p:cNvPr>
          <p:cNvSpPr txBox="1"/>
          <p:nvPr/>
        </p:nvSpPr>
        <p:spPr>
          <a:xfrm>
            <a:off x="-29931" y="4952512"/>
            <a:ext cx="397924" cy="246221"/>
          </a:xfrm>
          <a:prstGeom prst="rect">
            <a:avLst/>
          </a:prstGeom>
          <a:noFill/>
        </p:spPr>
        <p:txBody>
          <a:bodyPr wrap="square" rtlCol="0">
            <a:spAutoFit/>
          </a:bodyPr>
          <a:lstStyle/>
          <a:p>
            <a:r>
              <a:rPr lang="tr-TR" sz="1000" noProof="1">
                <a:cs typeface="Arial" panose="020B0604020202020204" pitchFamily="34" charset="0"/>
              </a:rPr>
              <a:t>120</a:t>
            </a:r>
          </a:p>
        </p:txBody>
      </p:sp>
      <p:cxnSp>
        <p:nvCxnSpPr>
          <p:cNvPr id="80" name="Düz Bağlayıcı 79">
            <a:extLst>
              <a:ext uri="{FF2B5EF4-FFF2-40B4-BE49-F238E27FC236}">
                <a16:creationId xmlns:a16="http://schemas.microsoft.com/office/drawing/2014/main" id="{BB6D5B8C-D689-4CA8-B0F0-EAA5932A6E3A}"/>
              </a:ext>
            </a:extLst>
          </p:cNvPr>
          <p:cNvCxnSpPr>
            <a:cxnSpLocks/>
          </p:cNvCxnSpPr>
          <p:nvPr/>
        </p:nvCxnSpPr>
        <p:spPr>
          <a:xfrm>
            <a:off x="307749" y="508674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1" name="Düz Bağlayıcı 80">
            <a:extLst>
              <a:ext uri="{FF2B5EF4-FFF2-40B4-BE49-F238E27FC236}">
                <a16:creationId xmlns:a16="http://schemas.microsoft.com/office/drawing/2014/main" id="{1998BF76-0F06-4F6B-AA02-EEC6542D9EC9}"/>
              </a:ext>
            </a:extLst>
          </p:cNvPr>
          <p:cNvCxnSpPr>
            <a:cxnSpLocks/>
          </p:cNvCxnSpPr>
          <p:nvPr/>
        </p:nvCxnSpPr>
        <p:spPr>
          <a:xfrm>
            <a:off x="908543" y="5084405"/>
            <a:ext cx="0" cy="81583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2" name="Metin kutusu 81">
            <a:extLst>
              <a:ext uri="{FF2B5EF4-FFF2-40B4-BE49-F238E27FC236}">
                <a16:creationId xmlns:a16="http://schemas.microsoft.com/office/drawing/2014/main" id="{E21E64C3-CE03-49CA-A905-DE814E9C9753}"/>
              </a:ext>
            </a:extLst>
          </p:cNvPr>
          <p:cNvSpPr txBox="1"/>
          <p:nvPr/>
        </p:nvSpPr>
        <p:spPr>
          <a:xfrm>
            <a:off x="-6719" y="6035860"/>
            <a:ext cx="3359093" cy="1477328"/>
          </a:xfrm>
          <a:prstGeom prst="rect">
            <a:avLst/>
          </a:prstGeom>
          <a:noFill/>
        </p:spPr>
        <p:txBody>
          <a:bodyPr wrap="square" rtlCol="0">
            <a:spAutoFit/>
          </a:bodyPr>
          <a:lstStyle/>
          <a:p>
            <a:r>
              <a:rPr lang="tr-TR" sz="1000" b="1" noProof="1">
                <a:cs typeface="Arial" panose="020B0604020202020204" pitchFamily="34" charset="0"/>
              </a:rPr>
              <a:t>Yukarda sadece </a:t>
            </a:r>
            <a:r>
              <a:rPr lang="tr-TR" sz="1000" b="1" u="sng" noProof="1">
                <a:cs typeface="Arial" panose="020B0604020202020204" pitchFamily="34" charset="0"/>
              </a:rPr>
              <a:t>bir kesiti</a:t>
            </a:r>
            <a:r>
              <a:rPr lang="tr-TR" sz="1000" b="1" noProof="1">
                <a:cs typeface="Arial" panose="020B0604020202020204" pitchFamily="34" charset="0"/>
              </a:rPr>
              <a:t> verilen doğrusal grafik aracın gittiği yolun zamana göre değişimi verilmiştir. Grafiğe göre ;</a:t>
            </a:r>
          </a:p>
          <a:p>
            <a:endParaRPr lang="tr-TR" sz="1000" noProof="1">
              <a:cs typeface="Arial" panose="020B0604020202020204" pitchFamily="34" charset="0"/>
            </a:endParaRPr>
          </a:p>
          <a:p>
            <a:r>
              <a:rPr lang="tr-TR" sz="1000" noProof="1">
                <a:cs typeface="Arial" panose="020B0604020202020204" pitchFamily="34" charset="0"/>
              </a:rPr>
              <a:t>I. Grafiğin eğimi pozitiftir.</a:t>
            </a:r>
          </a:p>
          <a:p>
            <a:r>
              <a:rPr lang="tr-TR" sz="1000" noProof="1">
                <a:cs typeface="Arial" panose="020B0604020202020204" pitchFamily="34" charset="0"/>
              </a:rPr>
              <a:t>II. Araç saatte 80 km süratle gitmektedir.</a:t>
            </a:r>
          </a:p>
          <a:p>
            <a:r>
              <a:rPr lang="tr-TR" sz="1000" noProof="1">
                <a:cs typeface="Arial" panose="020B0604020202020204" pitchFamily="34" charset="0"/>
              </a:rPr>
              <a:t>III. Araç 40 km yol gittiğinde yolculuk yeni başlamıştır. </a:t>
            </a:r>
          </a:p>
          <a:p>
            <a:r>
              <a:rPr lang="tr-TR" sz="1000" noProof="1">
                <a:cs typeface="Arial" panose="020B0604020202020204" pitchFamily="34" charset="0"/>
              </a:rPr>
              <a:t>IV. Araç 40 dakika gittiğinde 40 km yol almıştır.</a:t>
            </a:r>
          </a:p>
          <a:p>
            <a:endParaRPr lang="tr-TR" sz="1000" noProof="1">
              <a:cs typeface="Arial" panose="020B0604020202020204" pitchFamily="34" charset="0"/>
            </a:endParaRPr>
          </a:p>
          <a:p>
            <a:r>
              <a:rPr lang="tr-TR" sz="1000" b="1" noProof="1">
                <a:cs typeface="Arial" panose="020B0604020202020204" pitchFamily="34" charset="0"/>
              </a:rPr>
              <a:t>verilen önermelerden hangileri </a:t>
            </a:r>
            <a:r>
              <a:rPr lang="tr-TR" sz="1000" b="1" u="sng" noProof="1">
                <a:cs typeface="Arial" panose="020B0604020202020204" pitchFamily="34" charset="0"/>
              </a:rPr>
              <a:t>kesinlikle</a:t>
            </a:r>
            <a:r>
              <a:rPr lang="tr-TR" sz="1000" b="1" noProof="1">
                <a:cs typeface="Arial" panose="020B0604020202020204" pitchFamily="34" charset="0"/>
              </a:rPr>
              <a:t> doğrudur?</a:t>
            </a:r>
          </a:p>
        </p:txBody>
      </p:sp>
      <p:cxnSp>
        <p:nvCxnSpPr>
          <p:cNvPr id="83" name="Düz Ok Bağlayıcısı 82">
            <a:extLst>
              <a:ext uri="{FF2B5EF4-FFF2-40B4-BE49-F238E27FC236}">
                <a16:creationId xmlns:a16="http://schemas.microsoft.com/office/drawing/2014/main" id="{A7930806-8C18-49FF-8268-6BD278FCAA16}"/>
              </a:ext>
            </a:extLst>
          </p:cNvPr>
          <p:cNvCxnSpPr/>
          <p:nvPr/>
        </p:nvCxnSpPr>
        <p:spPr>
          <a:xfrm flipV="1">
            <a:off x="5437345" y="702106"/>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4" name="Düz Ok Bağlayıcısı 83">
            <a:extLst>
              <a:ext uri="{FF2B5EF4-FFF2-40B4-BE49-F238E27FC236}">
                <a16:creationId xmlns:a16="http://schemas.microsoft.com/office/drawing/2014/main" id="{BCF0A11F-2DBD-411A-93FB-7769F7D596C8}"/>
              </a:ext>
            </a:extLst>
          </p:cNvPr>
          <p:cNvCxnSpPr/>
          <p:nvPr/>
        </p:nvCxnSpPr>
        <p:spPr>
          <a:xfrm>
            <a:off x="5288504" y="1670814"/>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Metin kutusu 84">
            <a:extLst>
              <a:ext uri="{FF2B5EF4-FFF2-40B4-BE49-F238E27FC236}">
                <a16:creationId xmlns:a16="http://schemas.microsoft.com/office/drawing/2014/main" id="{2C4D9D8D-D432-4993-9175-83F580B146CF}"/>
              </a:ext>
            </a:extLst>
          </p:cNvPr>
          <p:cNvSpPr txBox="1"/>
          <p:nvPr/>
        </p:nvSpPr>
        <p:spPr>
          <a:xfrm>
            <a:off x="6371147" y="1523337"/>
            <a:ext cx="1078571" cy="246221"/>
          </a:xfrm>
          <a:prstGeom prst="rect">
            <a:avLst/>
          </a:prstGeom>
          <a:noFill/>
        </p:spPr>
        <p:txBody>
          <a:bodyPr wrap="square" rtlCol="0">
            <a:spAutoFit/>
          </a:bodyPr>
          <a:lstStyle/>
          <a:p>
            <a:r>
              <a:rPr lang="tr-TR" sz="1000" noProof="1">
                <a:cs typeface="Arial" panose="020B0604020202020204" pitchFamily="34" charset="0"/>
              </a:rPr>
              <a:t>Un (kg)</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5306469" y="492599"/>
            <a:ext cx="1078571" cy="246221"/>
          </a:xfrm>
          <a:prstGeom prst="rect">
            <a:avLst/>
          </a:prstGeom>
          <a:noFill/>
        </p:spPr>
        <p:txBody>
          <a:bodyPr wrap="square" rtlCol="0">
            <a:spAutoFit/>
          </a:bodyPr>
          <a:lstStyle/>
          <a:p>
            <a:r>
              <a:rPr lang="tr-TR" sz="1000" noProof="1">
                <a:cs typeface="Arial" panose="020B0604020202020204" pitchFamily="34" charset="0"/>
              </a:rPr>
              <a:t>Ekmek (Adet)</a:t>
            </a:r>
          </a:p>
        </p:txBody>
      </p:sp>
      <p:sp>
        <p:nvSpPr>
          <p:cNvPr id="87" name="Metin kutusu 86">
            <a:extLst>
              <a:ext uri="{FF2B5EF4-FFF2-40B4-BE49-F238E27FC236}">
                <a16:creationId xmlns:a16="http://schemas.microsoft.com/office/drawing/2014/main" id="{C8CD1190-5AD4-4287-8694-CE55AF7FFB61}"/>
              </a:ext>
            </a:extLst>
          </p:cNvPr>
          <p:cNvSpPr txBox="1"/>
          <p:nvPr/>
        </p:nvSpPr>
        <p:spPr>
          <a:xfrm>
            <a:off x="3861048" y="1804904"/>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 Grafik</a:t>
            </a:r>
          </a:p>
        </p:txBody>
      </p:sp>
      <p:sp>
        <p:nvSpPr>
          <p:cNvPr id="88" name="Metin kutusu 87">
            <a:extLst>
              <a:ext uri="{FF2B5EF4-FFF2-40B4-BE49-F238E27FC236}">
                <a16:creationId xmlns:a16="http://schemas.microsoft.com/office/drawing/2014/main" id="{FB445821-A3EB-45AD-8D83-DBA64E8F9824}"/>
              </a:ext>
            </a:extLst>
          </p:cNvPr>
          <p:cNvSpPr txBox="1"/>
          <p:nvPr/>
        </p:nvSpPr>
        <p:spPr>
          <a:xfrm>
            <a:off x="5610887" y="1809596"/>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II. Grafik</a:t>
            </a:r>
          </a:p>
        </p:txBody>
      </p:sp>
      <p:cxnSp>
        <p:nvCxnSpPr>
          <p:cNvPr id="89" name="Düz Bağlayıcı 88">
            <a:extLst>
              <a:ext uri="{FF2B5EF4-FFF2-40B4-BE49-F238E27FC236}">
                <a16:creationId xmlns:a16="http://schemas.microsoft.com/office/drawing/2014/main" id="{7933DFF2-3838-423B-9162-D36DE8354FCB}"/>
              </a:ext>
            </a:extLst>
          </p:cNvPr>
          <p:cNvCxnSpPr>
            <a:cxnSpLocks/>
          </p:cNvCxnSpPr>
          <p:nvPr/>
        </p:nvCxnSpPr>
        <p:spPr>
          <a:xfrm flipV="1">
            <a:off x="3707183" y="851181"/>
            <a:ext cx="598404" cy="80614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0" name="Düz Bağlayıcı 89">
            <a:extLst>
              <a:ext uri="{FF2B5EF4-FFF2-40B4-BE49-F238E27FC236}">
                <a16:creationId xmlns:a16="http://schemas.microsoft.com/office/drawing/2014/main" id="{A07D5AAC-81AF-431D-8FC5-B79BE7804D1D}"/>
              </a:ext>
            </a:extLst>
          </p:cNvPr>
          <p:cNvCxnSpPr>
            <a:cxnSpLocks/>
          </p:cNvCxnSpPr>
          <p:nvPr/>
        </p:nvCxnSpPr>
        <p:spPr>
          <a:xfrm>
            <a:off x="3704793" y="84918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1" name="Düz Bağlayıcı 90">
            <a:extLst>
              <a:ext uri="{FF2B5EF4-FFF2-40B4-BE49-F238E27FC236}">
                <a16:creationId xmlns:a16="http://schemas.microsoft.com/office/drawing/2014/main" id="{57C81369-28EF-4F86-9E2A-6ED9D65DDC27}"/>
              </a:ext>
            </a:extLst>
          </p:cNvPr>
          <p:cNvCxnSpPr>
            <a:cxnSpLocks/>
          </p:cNvCxnSpPr>
          <p:nvPr/>
        </p:nvCxnSpPr>
        <p:spPr>
          <a:xfrm>
            <a:off x="4305587" y="849181"/>
            <a:ext cx="0" cy="81583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2" name="Metin kutusu 91">
            <a:extLst>
              <a:ext uri="{FF2B5EF4-FFF2-40B4-BE49-F238E27FC236}">
                <a16:creationId xmlns:a16="http://schemas.microsoft.com/office/drawing/2014/main" id="{DB3D0F5E-8047-4E6A-B9DA-3D82FBFFE000}"/>
              </a:ext>
            </a:extLst>
          </p:cNvPr>
          <p:cNvSpPr txBox="1"/>
          <p:nvPr/>
        </p:nvSpPr>
        <p:spPr>
          <a:xfrm>
            <a:off x="3399987" y="718019"/>
            <a:ext cx="364008" cy="246221"/>
          </a:xfrm>
          <a:prstGeom prst="rect">
            <a:avLst/>
          </a:prstGeom>
          <a:noFill/>
        </p:spPr>
        <p:txBody>
          <a:bodyPr wrap="square" rtlCol="0">
            <a:spAutoFit/>
          </a:bodyPr>
          <a:lstStyle/>
          <a:p>
            <a:r>
              <a:rPr lang="tr-TR" sz="1000" noProof="1">
                <a:cs typeface="Arial" panose="020B0604020202020204" pitchFamily="34" charset="0"/>
              </a:rPr>
              <a:t>44</a:t>
            </a:r>
          </a:p>
        </p:txBody>
      </p:sp>
      <p:sp>
        <p:nvSpPr>
          <p:cNvPr id="93" name="Metin kutusu 92">
            <a:extLst>
              <a:ext uri="{FF2B5EF4-FFF2-40B4-BE49-F238E27FC236}">
                <a16:creationId xmlns:a16="http://schemas.microsoft.com/office/drawing/2014/main" id="{51DA6A2E-22D3-4CD7-96F1-74725CA8CA5E}"/>
              </a:ext>
            </a:extLst>
          </p:cNvPr>
          <p:cNvSpPr txBox="1"/>
          <p:nvPr/>
        </p:nvSpPr>
        <p:spPr>
          <a:xfrm>
            <a:off x="4136425" y="1617580"/>
            <a:ext cx="364008" cy="246221"/>
          </a:xfrm>
          <a:prstGeom prst="rect">
            <a:avLst/>
          </a:prstGeom>
          <a:noFill/>
        </p:spPr>
        <p:txBody>
          <a:bodyPr wrap="square" rtlCol="0">
            <a:spAutoFit/>
          </a:bodyPr>
          <a:lstStyle/>
          <a:p>
            <a:r>
              <a:rPr lang="tr-TR" sz="1000" noProof="1">
                <a:cs typeface="Arial" panose="020B0604020202020204" pitchFamily="34" charset="0"/>
              </a:rPr>
              <a:t>32</a:t>
            </a:r>
          </a:p>
        </p:txBody>
      </p:sp>
      <p:sp>
        <p:nvSpPr>
          <p:cNvPr id="94" name="Metin kutusu 93">
            <a:extLst>
              <a:ext uri="{FF2B5EF4-FFF2-40B4-BE49-F238E27FC236}">
                <a16:creationId xmlns:a16="http://schemas.microsoft.com/office/drawing/2014/main" id="{F6592AC9-EBF8-4FEB-927A-2364A289815A}"/>
              </a:ext>
            </a:extLst>
          </p:cNvPr>
          <p:cNvSpPr txBox="1"/>
          <p:nvPr/>
        </p:nvSpPr>
        <p:spPr>
          <a:xfrm>
            <a:off x="5902342" y="1623831"/>
            <a:ext cx="364008" cy="246221"/>
          </a:xfrm>
          <a:prstGeom prst="rect">
            <a:avLst/>
          </a:prstGeom>
          <a:noFill/>
        </p:spPr>
        <p:txBody>
          <a:bodyPr wrap="square" rtlCol="0">
            <a:spAutoFit/>
          </a:bodyPr>
          <a:lstStyle/>
          <a:p>
            <a:r>
              <a:rPr lang="tr-TR" sz="1000" noProof="1">
                <a:cs typeface="Arial" panose="020B0604020202020204" pitchFamily="34" charset="0"/>
              </a:rPr>
              <a:t>24</a:t>
            </a:r>
          </a:p>
        </p:txBody>
      </p:sp>
      <p:cxnSp>
        <p:nvCxnSpPr>
          <p:cNvPr id="95" name="Düz Bağlayıcı 94">
            <a:extLst>
              <a:ext uri="{FF2B5EF4-FFF2-40B4-BE49-F238E27FC236}">
                <a16:creationId xmlns:a16="http://schemas.microsoft.com/office/drawing/2014/main" id="{1012FA96-5304-4E2D-BCD6-1BC682F375C1}"/>
              </a:ext>
            </a:extLst>
          </p:cNvPr>
          <p:cNvCxnSpPr>
            <a:cxnSpLocks/>
          </p:cNvCxnSpPr>
          <p:nvPr/>
        </p:nvCxnSpPr>
        <p:spPr>
          <a:xfrm flipV="1">
            <a:off x="5435734" y="851182"/>
            <a:ext cx="598404" cy="806144"/>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6" name="Düz Bağlayıcı 95">
            <a:extLst>
              <a:ext uri="{FF2B5EF4-FFF2-40B4-BE49-F238E27FC236}">
                <a16:creationId xmlns:a16="http://schemas.microsoft.com/office/drawing/2014/main" id="{CED62F2E-0A02-4CB4-A111-D7C45CC51CF1}"/>
              </a:ext>
            </a:extLst>
          </p:cNvPr>
          <p:cNvCxnSpPr>
            <a:cxnSpLocks/>
          </p:cNvCxnSpPr>
          <p:nvPr/>
        </p:nvCxnSpPr>
        <p:spPr>
          <a:xfrm>
            <a:off x="5433344" y="84918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7" name="Düz Bağlayıcı 96">
            <a:extLst>
              <a:ext uri="{FF2B5EF4-FFF2-40B4-BE49-F238E27FC236}">
                <a16:creationId xmlns:a16="http://schemas.microsoft.com/office/drawing/2014/main" id="{22EAC6DD-BF9A-4374-B558-30DFB24F1C99}"/>
              </a:ext>
            </a:extLst>
          </p:cNvPr>
          <p:cNvCxnSpPr>
            <a:cxnSpLocks/>
          </p:cNvCxnSpPr>
          <p:nvPr/>
        </p:nvCxnSpPr>
        <p:spPr>
          <a:xfrm flipH="1">
            <a:off x="6034138" y="841135"/>
            <a:ext cx="12550" cy="82388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 name="Metin kutusu 103">
            <a:extLst>
              <a:ext uri="{FF2B5EF4-FFF2-40B4-BE49-F238E27FC236}">
                <a16:creationId xmlns:a16="http://schemas.microsoft.com/office/drawing/2014/main" id="{0E06DF96-414E-4C8E-96F4-8C195D2C5867}"/>
              </a:ext>
            </a:extLst>
          </p:cNvPr>
          <p:cNvSpPr txBox="1"/>
          <p:nvPr/>
        </p:nvSpPr>
        <p:spPr>
          <a:xfrm>
            <a:off x="5151871" y="726070"/>
            <a:ext cx="364008" cy="246221"/>
          </a:xfrm>
          <a:prstGeom prst="rect">
            <a:avLst/>
          </a:prstGeom>
          <a:noFill/>
        </p:spPr>
        <p:txBody>
          <a:bodyPr wrap="square" rtlCol="0">
            <a:spAutoFit/>
          </a:bodyPr>
          <a:lstStyle/>
          <a:p>
            <a:r>
              <a:rPr lang="tr-TR" sz="1000" noProof="1">
                <a:cs typeface="Arial" panose="020B0604020202020204" pitchFamily="34" charset="0"/>
              </a:rPr>
              <a:t>36</a:t>
            </a:r>
          </a:p>
        </p:txBody>
      </p:sp>
      <p:sp>
        <p:nvSpPr>
          <p:cNvPr id="105" name="Metin kutusu 104">
            <a:extLst>
              <a:ext uri="{FF2B5EF4-FFF2-40B4-BE49-F238E27FC236}">
                <a16:creationId xmlns:a16="http://schemas.microsoft.com/office/drawing/2014/main" id="{BC10E003-31E5-441A-A0C2-B4DA0AAD5E78}"/>
              </a:ext>
            </a:extLst>
          </p:cNvPr>
          <p:cNvSpPr txBox="1"/>
          <p:nvPr/>
        </p:nvSpPr>
        <p:spPr>
          <a:xfrm>
            <a:off x="3445027" y="2924048"/>
            <a:ext cx="3281681" cy="553998"/>
          </a:xfrm>
          <a:prstGeom prst="rect">
            <a:avLst/>
          </a:prstGeom>
          <a:noFill/>
        </p:spPr>
        <p:txBody>
          <a:bodyPr wrap="square" rtlCol="0">
            <a:spAutoFit/>
          </a:bodyPr>
          <a:lstStyle/>
          <a:p>
            <a:r>
              <a:rPr lang="tr-TR" sz="1000" noProof="1"/>
              <a:t>A) 121                                B) 132                                        C) 143</a:t>
            </a:r>
          </a:p>
          <a:p>
            <a:pPr marL="228600" indent="-228600">
              <a:buAutoNum type="alphaUcParenR"/>
            </a:pPr>
            <a:endParaRPr lang="tr-TR" sz="1000" noProof="1"/>
          </a:p>
          <a:p>
            <a:r>
              <a:rPr lang="tr-TR" sz="1000" noProof="1"/>
              <a:t>                      D) 156                                        E) 192</a:t>
            </a:r>
          </a:p>
        </p:txBody>
      </p:sp>
      <p:sp>
        <p:nvSpPr>
          <p:cNvPr id="106" name="Metin kutusu 105">
            <a:extLst>
              <a:ext uri="{FF2B5EF4-FFF2-40B4-BE49-F238E27FC236}">
                <a16:creationId xmlns:a16="http://schemas.microsoft.com/office/drawing/2014/main" id="{6EAEF5C7-2D68-4839-B6BA-92343A554BDC}"/>
              </a:ext>
            </a:extLst>
          </p:cNvPr>
          <p:cNvSpPr txBox="1"/>
          <p:nvPr/>
        </p:nvSpPr>
        <p:spPr>
          <a:xfrm>
            <a:off x="3635002" y="4738626"/>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 Grafik</a:t>
            </a:r>
          </a:p>
        </p:txBody>
      </p:sp>
      <p:sp>
        <p:nvSpPr>
          <p:cNvPr id="107" name="Metin kutusu 106">
            <a:extLst>
              <a:ext uri="{FF2B5EF4-FFF2-40B4-BE49-F238E27FC236}">
                <a16:creationId xmlns:a16="http://schemas.microsoft.com/office/drawing/2014/main" id="{779DE0D7-3EEE-4B67-80C7-7A35DD7B573A}"/>
              </a:ext>
            </a:extLst>
          </p:cNvPr>
          <p:cNvSpPr txBox="1"/>
          <p:nvPr/>
        </p:nvSpPr>
        <p:spPr>
          <a:xfrm>
            <a:off x="4663290" y="4738626"/>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II. Grafik</a:t>
            </a:r>
          </a:p>
        </p:txBody>
      </p:sp>
      <p:sp>
        <p:nvSpPr>
          <p:cNvPr id="108" name="Metin kutusu 107">
            <a:extLst>
              <a:ext uri="{FF2B5EF4-FFF2-40B4-BE49-F238E27FC236}">
                <a16:creationId xmlns:a16="http://schemas.microsoft.com/office/drawing/2014/main" id="{5E8CAFC9-6D1A-4E99-92DC-93FAA0A6C6CA}"/>
              </a:ext>
            </a:extLst>
          </p:cNvPr>
          <p:cNvSpPr txBox="1"/>
          <p:nvPr/>
        </p:nvSpPr>
        <p:spPr>
          <a:xfrm>
            <a:off x="5866980" y="4738626"/>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III. Grafik</a:t>
            </a:r>
          </a:p>
        </p:txBody>
      </p:sp>
      <p:sp>
        <p:nvSpPr>
          <p:cNvPr id="109" name="Metin kutusu 108">
            <a:extLst>
              <a:ext uri="{FF2B5EF4-FFF2-40B4-BE49-F238E27FC236}">
                <a16:creationId xmlns:a16="http://schemas.microsoft.com/office/drawing/2014/main" id="{2513730B-E720-4158-8477-1A07BBA85FF9}"/>
              </a:ext>
            </a:extLst>
          </p:cNvPr>
          <p:cNvSpPr txBox="1"/>
          <p:nvPr/>
        </p:nvSpPr>
        <p:spPr>
          <a:xfrm>
            <a:off x="3429000" y="6123039"/>
            <a:ext cx="3449971" cy="861774"/>
          </a:xfrm>
          <a:prstGeom prst="rect">
            <a:avLst/>
          </a:prstGeom>
          <a:noFill/>
        </p:spPr>
        <p:txBody>
          <a:bodyPr wrap="square" rtlCol="0">
            <a:spAutoFit/>
          </a:bodyPr>
          <a:lstStyle/>
          <a:p>
            <a:r>
              <a:rPr lang="tr-TR" sz="1000" noProof="1">
                <a:cs typeface="Arial" panose="020B0604020202020204" pitchFamily="34" charset="0"/>
              </a:rPr>
              <a:t>Yukarda 3 adet doğrusal grafikte yatay eksenler saat biriminde zamanı ifade etmektedir. </a:t>
            </a:r>
          </a:p>
          <a:p>
            <a:endParaRPr lang="tr-TR" sz="1000" b="1" noProof="1">
              <a:cs typeface="Arial" panose="020B0604020202020204" pitchFamily="34" charset="0"/>
            </a:endParaRPr>
          </a:p>
          <a:p>
            <a:r>
              <a:rPr lang="tr-TR" sz="1000" b="1" noProof="1">
                <a:cs typeface="Arial" panose="020B0604020202020204" pitchFamily="34" charset="0"/>
              </a:rPr>
              <a:t>Buna göre, yukarıdaki verilen grafiklerden hangilerinde bir mantık hatası veya eksiklik bulunmaktadır?</a:t>
            </a:r>
          </a:p>
        </p:txBody>
      </p:sp>
      <p:cxnSp>
        <p:nvCxnSpPr>
          <p:cNvPr id="110" name="Düz Ok Bağlayıcısı 109">
            <a:extLst>
              <a:ext uri="{FF2B5EF4-FFF2-40B4-BE49-F238E27FC236}">
                <a16:creationId xmlns:a16="http://schemas.microsoft.com/office/drawing/2014/main" id="{DA70697F-B185-4399-8D3E-9CB9312DB312}"/>
              </a:ext>
            </a:extLst>
          </p:cNvPr>
          <p:cNvCxnSpPr>
            <a:cxnSpLocks/>
          </p:cNvCxnSpPr>
          <p:nvPr/>
        </p:nvCxnSpPr>
        <p:spPr>
          <a:xfrm flipV="1">
            <a:off x="3674184" y="5267159"/>
            <a:ext cx="944" cy="8517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Düz Ok Bağlayıcısı 110">
            <a:extLst>
              <a:ext uri="{FF2B5EF4-FFF2-40B4-BE49-F238E27FC236}">
                <a16:creationId xmlns:a16="http://schemas.microsoft.com/office/drawing/2014/main" id="{5036C0E6-94D8-49BC-A5D6-552BD074426A}"/>
              </a:ext>
            </a:extLst>
          </p:cNvPr>
          <p:cNvCxnSpPr>
            <a:cxnSpLocks/>
          </p:cNvCxnSpPr>
          <p:nvPr/>
        </p:nvCxnSpPr>
        <p:spPr>
          <a:xfrm>
            <a:off x="3525343" y="6007494"/>
            <a:ext cx="9759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Düz Ok Bağlayıcısı 113">
            <a:extLst>
              <a:ext uri="{FF2B5EF4-FFF2-40B4-BE49-F238E27FC236}">
                <a16:creationId xmlns:a16="http://schemas.microsoft.com/office/drawing/2014/main" id="{C6504A90-2CA4-40D6-B2A9-029C56404892}"/>
              </a:ext>
            </a:extLst>
          </p:cNvPr>
          <p:cNvCxnSpPr>
            <a:cxnSpLocks/>
          </p:cNvCxnSpPr>
          <p:nvPr/>
        </p:nvCxnSpPr>
        <p:spPr>
          <a:xfrm flipV="1">
            <a:off x="4878987" y="5250378"/>
            <a:ext cx="944" cy="8517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Düz Ok Bağlayıcısı 114">
            <a:extLst>
              <a:ext uri="{FF2B5EF4-FFF2-40B4-BE49-F238E27FC236}">
                <a16:creationId xmlns:a16="http://schemas.microsoft.com/office/drawing/2014/main" id="{1279DF69-3FB9-4D0A-8750-4C37A5D9FC9D}"/>
              </a:ext>
            </a:extLst>
          </p:cNvPr>
          <p:cNvCxnSpPr>
            <a:cxnSpLocks/>
          </p:cNvCxnSpPr>
          <p:nvPr/>
        </p:nvCxnSpPr>
        <p:spPr>
          <a:xfrm>
            <a:off x="4730146" y="5990713"/>
            <a:ext cx="9759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Düz Ok Bağlayıcısı 115">
            <a:extLst>
              <a:ext uri="{FF2B5EF4-FFF2-40B4-BE49-F238E27FC236}">
                <a16:creationId xmlns:a16="http://schemas.microsoft.com/office/drawing/2014/main" id="{F6361788-06C3-4F6F-90F3-8B5155EDFA18}"/>
              </a:ext>
            </a:extLst>
          </p:cNvPr>
          <p:cNvCxnSpPr>
            <a:cxnSpLocks/>
          </p:cNvCxnSpPr>
          <p:nvPr/>
        </p:nvCxnSpPr>
        <p:spPr>
          <a:xfrm flipV="1">
            <a:off x="6028941" y="5250378"/>
            <a:ext cx="944" cy="8517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Düz Ok Bağlayıcısı 116">
            <a:extLst>
              <a:ext uri="{FF2B5EF4-FFF2-40B4-BE49-F238E27FC236}">
                <a16:creationId xmlns:a16="http://schemas.microsoft.com/office/drawing/2014/main" id="{A697B738-FDAC-4FF4-BF31-FCF68EE6B6D6}"/>
              </a:ext>
            </a:extLst>
          </p:cNvPr>
          <p:cNvCxnSpPr>
            <a:cxnSpLocks/>
          </p:cNvCxnSpPr>
          <p:nvPr/>
        </p:nvCxnSpPr>
        <p:spPr>
          <a:xfrm>
            <a:off x="5880100" y="5990713"/>
            <a:ext cx="9759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8" name="Metin kutusu 117">
            <a:extLst>
              <a:ext uri="{FF2B5EF4-FFF2-40B4-BE49-F238E27FC236}">
                <a16:creationId xmlns:a16="http://schemas.microsoft.com/office/drawing/2014/main" id="{A7046F30-B487-4139-8854-E46D2B78D5FE}"/>
              </a:ext>
            </a:extLst>
          </p:cNvPr>
          <p:cNvSpPr txBox="1"/>
          <p:nvPr/>
        </p:nvSpPr>
        <p:spPr>
          <a:xfrm>
            <a:off x="3479789" y="4989631"/>
            <a:ext cx="824693" cy="307777"/>
          </a:xfrm>
          <a:prstGeom prst="rect">
            <a:avLst/>
          </a:prstGeom>
          <a:noFill/>
        </p:spPr>
        <p:txBody>
          <a:bodyPr wrap="square" rtlCol="0">
            <a:spAutoFit/>
          </a:bodyPr>
          <a:lstStyle/>
          <a:p>
            <a:r>
              <a:rPr lang="tr-TR" sz="700" noProof="1">
                <a:cs typeface="Arial" panose="020B0604020202020204" pitchFamily="34" charset="0"/>
              </a:rPr>
              <a:t>Yanmakta Olan Mumun Boyu</a:t>
            </a:r>
          </a:p>
        </p:txBody>
      </p:sp>
      <p:sp>
        <p:nvSpPr>
          <p:cNvPr id="120" name="Metin kutusu 119">
            <a:extLst>
              <a:ext uri="{FF2B5EF4-FFF2-40B4-BE49-F238E27FC236}">
                <a16:creationId xmlns:a16="http://schemas.microsoft.com/office/drawing/2014/main" id="{B3A29D02-2FFA-46E7-877A-C3A5F29A7C59}"/>
              </a:ext>
            </a:extLst>
          </p:cNvPr>
          <p:cNvSpPr txBox="1"/>
          <p:nvPr/>
        </p:nvSpPr>
        <p:spPr>
          <a:xfrm>
            <a:off x="4510484" y="4984847"/>
            <a:ext cx="1062556" cy="307777"/>
          </a:xfrm>
          <a:prstGeom prst="rect">
            <a:avLst/>
          </a:prstGeom>
          <a:noFill/>
        </p:spPr>
        <p:txBody>
          <a:bodyPr wrap="square" rtlCol="0">
            <a:spAutoFit/>
          </a:bodyPr>
          <a:lstStyle/>
          <a:p>
            <a:r>
              <a:rPr lang="tr-TR" sz="700" noProof="1">
                <a:cs typeface="Arial" panose="020B0604020202020204" pitchFamily="34" charset="0"/>
              </a:rPr>
              <a:t>Sağlıklı bir insandaki yaranın iyileşmesi ( % )</a:t>
            </a:r>
          </a:p>
        </p:txBody>
      </p:sp>
      <p:sp>
        <p:nvSpPr>
          <p:cNvPr id="121" name="Metin kutusu 120">
            <a:extLst>
              <a:ext uri="{FF2B5EF4-FFF2-40B4-BE49-F238E27FC236}">
                <a16:creationId xmlns:a16="http://schemas.microsoft.com/office/drawing/2014/main" id="{BF763DB4-EFDF-410D-836D-2CCA3D1914CC}"/>
              </a:ext>
            </a:extLst>
          </p:cNvPr>
          <p:cNvSpPr txBox="1"/>
          <p:nvPr/>
        </p:nvSpPr>
        <p:spPr>
          <a:xfrm>
            <a:off x="5688746" y="4973660"/>
            <a:ext cx="1169254" cy="307777"/>
          </a:xfrm>
          <a:prstGeom prst="rect">
            <a:avLst/>
          </a:prstGeom>
          <a:noFill/>
        </p:spPr>
        <p:txBody>
          <a:bodyPr wrap="square" rtlCol="0">
            <a:spAutoFit/>
          </a:bodyPr>
          <a:lstStyle/>
          <a:p>
            <a:pPr algn="ctr"/>
            <a:r>
              <a:rPr lang="tr-TR" sz="700" noProof="1">
                <a:cs typeface="Arial" panose="020B0604020202020204" pitchFamily="34" charset="0"/>
              </a:rPr>
              <a:t>Sürekli hızlanan durmayan bir aracın aldığı yol (km) </a:t>
            </a:r>
          </a:p>
        </p:txBody>
      </p:sp>
      <p:sp>
        <p:nvSpPr>
          <p:cNvPr id="122" name="Dikdörtgen 121">
            <a:extLst>
              <a:ext uri="{FF2B5EF4-FFF2-40B4-BE49-F238E27FC236}">
                <a16:creationId xmlns:a16="http://schemas.microsoft.com/office/drawing/2014/main" id="{B5BB0781-D901-4168-8A16-867F1F37268F}"/>
              </a:ext>
            </a:extLst>
          </p:cNvPr>
          <p:cNvSpPr/>
          <p:nvPr/>
        </p:nvSpPr>
        <p:spPr>
          <a:xfrm>
            <a:off x="3454179" y="6949321"/>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sp>
        <p:nvSpPr>
          <p:cNvPr id="123" name="Metin kutusu 122">
            <a:extLst>
              <a:ext uri="{FF2B5EF4-FFF2-40B4-BE49-F238E27FC236}">
                <a16:creationId xmlns:a16="http://schemas.microsoft.com/office/drawing/2014/main" id="{B6A16489-EDD6-4F0F-BD6B-839475316F8F}"/>
              </a:ext>
            </a:extLst>
          </p:cNvPr>
          <p:cNvSpPr txBox="1"/>
          <p:nvPr/>
        </p:nvSpPr>
        <p:spPr>
          <a:xfrm>
            <a:off x="3399987" y="5385248"/>
            <a:ext cx="326059" cy="200055"/>
          </a:xfrm>
          <a:prstGeom prst="rect">
            <a:avLst/>
          </a:prstGeom>
          <a:noFill/>
        </p:spPr>
        <p:txBody>
          <a:bodyPr wrap="square" rtlCol="0">
            <a:spAutoFit/>
          </a:bodyPr>
          <a:lstStyle/>
          <a:p>
            <a:r>
              <a:rPr lang="tr-TR" sz="700" noProof="1">
                <a:cs typeface="Arial" panose="020B0604020202020204" pitchFamily="34" charset="0"/>
              </a:rPr>
              <a:t>14</a:t>
            </a:r>
          </a:p>
        </p:txBody>
      </p:sp>
      <p:sp>
        <p:nvSpPr>
          <p:cNvPr id="124" name="Metin kutusu 123">
            <a:extLst>
              <a:ext uri="{FF2B5EF4-FFF2-40B4-BE49-F238E27FC236}">
                <a16:creationId xmlns:a16="http://schemas.microsoft.com/office/drawing/2014/main" id="{BEB85865-4A32-412B-B316-2B09DA47B02B}"/>
              </a:ext>
            </a:extLst>
          </p:cNvPr>
          <p:cNvSpPr txBox="1"/>
          <p:nvPr/>
        </p:nvSpPr>
        <p:spPr>
          <a:xfrm>
            <a:off x="3422025" y="5663026"/>
            <a:ext cx="326059" cy="200055"/>
          </a:xfrm>
          <a:prstGeom prst="rect">
            <a:avLst/>
          </a:prstGeom>
          <a:noFill/>
        </p:spPr>
        <p:txBody>
          <a:bodyPr wrap="square" rtlCol="0">
            <a:spAutoFit/>
          </a:bodyPr>
          <a:lstStyle/>
          <a:p>
            <a:r>
              <a:rPr lang="tr-TR" sz="700" noProof="1">
                <a:cs typeface="Arial" panose="020B0604020202020204" pitchFamily="34" charset="0"/>
              </a:rPr>
              <a:t>5</a:t>
            </a:r>
          </a:p>
        </p:txBody>
      </p:sp>
      <p:sp>
        <p:nvSpPr>
          <p:cNvPr id="125" name="Metin kutusu 124">
            <a:extLst>
              <a:ext uri="{FF2B5EF4-FFF2-40B4-BE49-F238E27FC236}">
                <a16:creationId xmlns:a16="http://schemas.microsoft.com/office/drawing/2014/main" id="{D34FDE19-9936-4CAC-9AC2-96BA4DC9E264}"/>
              </a:ext>
            </a:extLst>
          </p:cNvPr>
          <p:cNvSpPr txBox="1"/>
          <p:nvPr/>
        </p:nvSpPr>
        <p:spPr>
          <a:xfrm>
            <a:off x="4639070" y="5362942"/>
            <a:ext cx="326059" cy="200055"/>
          </a:xfrm>
          <a:prstGeom prst="rect">
            <a:avLst/>
          </a:prstGeom>
          <a:noFill/>
        </p:spPr>
        <p:txBody>
          <a:bodyPr wrap="square" rtlCol="0">
            <a:spAutoFit/>
          </a:bodyPr>
          <a:lstStyle/>
          <a:p>
            <a:r>
              <a:rPr lang="tr-TR" sz="700" noProof="1">
                <a:cs typeface="Arial" panose="020B0604020202020204" pitchFamily="34" charset="0"/>
              </a:rPr>
              <a:t>80</a:t>
            </a:r>
          </a:p>
        </p:txBody>
      </p:sp>
      <p:sp>
        <p:nvSpPr>
          <p:cNvPr id="126" name="Metin kutusu 125">
            <a:extLst>
              <a:ext uri="{FF2B5EF4-FFF2-40B4-BE49-F238E27FC236}">
                <a16:creationId xmlns:a16="http://schemas.microsoft.com/office/drawing/2014/main" id="{D48FDBFA-42CB-4D34-A9D9-5BC4E9E2D526}"/>
              </a:ext>
            </a:extLst>
          </p:cNvPr>
          <p:cNvSpPr txBox="1"/>
          <p:nvPr/>
        </p:nvSpPr>
        <p:spPr>
          <a:xfrm>
            <a:off x="4631137" y="5641177"/>
            <a:ext cx="326059" cy="200055"/>
          </a:xfrm>
          <a:prstGeom prst="rect">
            <a:avLst/>
          </a:prstGeom>
          <a:noFill/>
        </p:spPr>
        <p:txBody>
          <a:bodyPr wrap="square" rtlCol="0">
            <a:spAutoFit/>
          </a:bodyPr>
          <a:lstStyle/>
          <a:p>
            <a:r>
              <a:rPr lang="tr-TR" sz="700" noProof="1">
                <a:cs typeface="Arial" panose="020B0604020202020204" pitchFamily="34" charset="0"/>
              </a:rPr>
              <a:t>45</a:t>
            </a:r>
          </a:p>
        </p:txBody>
      </p:sp>
      <p:sp>
        <p:nvSpPr>
          <p:cNvPr id="127" name="Metin kutusu 126">
            <a:extLst>
              <a:ext uri="{FF2B5EF4-FFF2-40B4-BE49-F238E27FC236}">
                <a16:creationId xmlns:a16="http://schemas.microsoft.com/office/drawing/2014/main" id="{6C5AD6CC-24F3-437D-BA2C-2FB9D25AF60F}"/>
              </a:ext>
            </a:extLst>
          </p:cNvPr>
          <p:cNvSpPr txBox="1"/>
          <p:nvPr/>
        </p:nvSpPr>
        <p:spPr>
          <a:xfrm>
            <a:off x="5747966" y="5353956"/>
            <a:ext cx="326059" cy="200055"/>
          </a:xfrm>
          <a:prstGeom prst="rect">
            <a:avLst/>
          </a:prstGeom>
          <a:noFill/>
        </p:spPr>
        <p:txBody>
          <a:bodyPr wrap="square" rtlCol="0">
            <a:spAutoFit/>
          </a:bodyPr>
          <a:lstStyle/>
          <a:p>
            <a:r>
              <a:rPr lang="tr-TR" sz="700" noProof="1">
                <a:cs typeface="Arial" panose="020B0604020202020204" pitchFamily="34" charset="0"/>
              </a:rPr>
              <a:t>140</a:t>
            </a:r>
          </a:p>
        </p:txBody>
      </p:sp>
      <p:sp>
        <p:nvSpPr>
          <p:cNvPr id="128" name="Metin kutusu 127">
            <a:extLst>
              <a:ext uri="{FF2B5EF4-FFF2-40B4-BE49-F238E27FC236}">
                <a16:creationId xmlns:a16="http://schemas.microsoft.com/office/drawing/2014/main" id="{B87151E1-E3B5-4F90-AD48-FA0357E1E14F}"/>
              </a:ext>
            </a:extLst>
          </p:cNvPr>
          <p:cNvSpPr txBox="1"/>
          <p:nvPr/>
        </p:nvSpPr>
        <p:spPr>
          <a:xfrm>
            <a:off x="5792011" y="5638469"/>
            <a:ext cx="326059" cy="200055"/>
          </a:xfrm>
          <a:prstGeom prst="rect">
            <a:avLst/>
          </a:prstGeom>
          <a:noFill/>
        </p:spPr>
        <p:txBody>
          <a:bodyPr wrap="square" rtlCol="0">
            <a:spAutoFit/>
          </a:bodyPr>
          <a:lstStyle/>
          <a:p>
            <a:r>
              <a:rPr lang="tr-TR" sz="700" noProof="1">
                <a:cs typeface="Arial" panose="020B0604020202020204" pitchFamily="34" charset="0"/>
              </a:rPr>
              <a:t>40</a:t>
            </a:r>
          </a:p>
        </p:txBody>
      </p:sp>
      <p:cxnSp>
        <p:nvCxnSpPr>
          <p:cNvPr id="113" name="Düz Bağlayıcı 112">
            <a:extLst>
              <a:ext uri="{FF2B5EF4-FFF2-40B4-BE49-F238E27FC236}">
                <a16:creationId xmlns:a16="http://schemas.microsoft.com/office/drawing/2014/main" id="{6BB0AF0F-0406-4DC8-8A29-31B83D99D41D}"/>
              </a:ext>
            </a:extLst>
          </p:cNvPr>
          <p:cNvCxnSpPr/>
          <p:nvPr/>
        </p:nvCxnSpPr>
        <p:spPr>
          <a:xfrm flipV="1">
            <a:off x="6028941" y="5385248"/>
            <a:ext cx="388391" cy="605465"/>
          </a:xfrm>
          <a:prstGeom prst="line">
            <a:avLst/>
          </a:prstGeom>
        </p:spPr>
        <p:style>
          <a:lnRef idx="1">
            <a:schemeClr val="accent2"/>
          </a:lnRef>
          <a:fillRef idx="0">
            <a:schemeClr val="accent2"/>
          </a:fillRef>
          <a:effectRef idx="0">
            <a:schemeClr val="accent2"/>
          </a:effectRef>
          <a:fontRef idx="minor">
            <a:schemeClr val="tx1"/>
          </a:fontRef>
        </p:style>
      </p:cxnSp>
      <p:cxnSp>
        <p:nvCxnSpPr>
          <p:cNvPr id="131" name="Düz Bağlayıcı 130">
            <a:extLst>
              <a:ext uri="{FF2B5EF4-FFF2-40B4-BE49-F238E27FC236}">
                <a16:creationId xmlns:a16="http://schemas.microsoft.com/office/drawing/2014/main" id="{8AF601B5-0232-48C1-B67F-3D28B970CC37}"/>
              </a:ext>
            </a:extLst>
          </p:cNvPr>
          <p:cNvCxnSpPr>
            <a:cxnSpLocks/>
            <a:endCxn id="142" idx="0"/>
          </p:cNvCxnSpPr>
          <p:nvPr/>
        </p:nvCxnSpPr>
        <p:spPr>
          <a:xfrm>
            <a:off x="4878987" y="5443080"/>
            <a:ext cx="472792" cy="534665"/>
          </a:xfrm>
          <a:prstGeom prst="line">
            <a:avLst/>
          </a:prstGeom>
        </p:spPr>
        <p:style>
          <a:lnRef idx="1">
            <a:schemeClr val="accent2"/>
          </a:lnRef>
          <a:fillRef idx="0">
            <a:schemeClr val="accent2"/>
          </a:fillRef>
          <a:effectRef idx="0">
            <a:schemeClr val="accent2"/>
          </a:effectRef>
          <a:fontRef idx="minor">
            <a:schemeClr val="tx1"/>
          </a:fontRef>
        </p:style>
      </p:cxnSp>
      <p:cxnSp>
        <p:nvCxnSpPr>
          <p:cNvPr id="133" name="Düz Bağlayıcı 132">
            <a:extLst>
              <a:ext uri="{FF2B5EF4-FFF2-40B4-BE49-F238E27FC236}">
                <a16:creationId xmlns:a16="http://schemas.microsoft.com/office/drawing/2014/main" id="{A4CFBCF2-FE23-4F63-A960-9FF7BE55CBAD}"/>
              </a:ext>
            </a:extLst>
          </p:cNvPr>
          <p:cNvCxnSpPr>
            <a:cxnSpLocks/>
          </p:cNvCxnSpPr>
          <p:nvPr/>
        </p:nvCxnSpPr>
        <p:spPr>
          <a:xfrm>
            <a:off x="3673363" y="5468955"/>
            <a:ext cx="351177" cy="542673"/>
          </a:xfrm>
          <a:prstGeom prst="line">
            <a:avLst/>
          </a:prstGeom>
        </p:spPr>
        <p:style>
          <a:lnRef idx="1">
            <a:schemeClr val="accent2"/>
          </a:lnRef>
          <a:fillRef idx="0">
            <a:schemeClr val="accent2"/>
          </a:fillRef>
          <a:effectRef idx="0">
            <a:schemeClr val="accent2"/>
          </a:effectRef>
          <a:fontRef idx="minor">
            <a:schemeClr val="tx1"/>
          </a:fontRef>
        </p:style>
      </p:cxnSp>
      <p:sp>
        <p:nvSpPr>
          <p:cNvPr id="141" name="Metin kutusu 140">
            <a:extLst>
              <a:ext uri="{FF2B5EF4-FFF2-40B4-BE49-F238E27FC236}">
                <a16:creationId xmlns:a16="http://schemas.microsoft.com/office/drawing/2014/main" id="{096A3CBA-8FE7-499C-AD72-0D55C72954EA}"/>
              </a:ext>
            </a:extLst>
          </p:cNvPr>
          <p:cNvSpPr txBox="1"/>
          <p:nvPr/>
        </p:nvSpPr>
        <p:spPr>
          <a:xfrm>
            <a:off x="3879734" y="5979178"/>
            <a:ext cx="326059" cy="200055"/>
          </a:xfrm>
          <a:prstGeom prst="rect">
            <a:avLst/>
          </a:prstGeom>
          <a:noFill/>
        </p:spPr>
        <p:txBody>
          <a:bodyPr wrap="square" rtlCol="0">
            <a:spAutoFit/>
          </a:bodyPr>
          <a:lstStyle/>
          <a:p>
            <a:r>
              <a:rPr lang="tr-TR" sz="700" noProof="1">
                <a:cs typeface="Arial" panose="020B0604020202020204" pitchFamily="34" charset="0"/>
              </a:rPr>
              <a:t>3</a:t>
            </a:r>
          </a:p>
        </p:txBody>
      </p:sp>
      <p:sp>
        <p:nvSpPr>
          <p:cNvPr id="142" name="Metin kutusu 141">
            <a:extLst>
              <a:ext uri="{FF2B5EF4-FFF2-40B4-BE49-F238E27FC236}">
                <a16:creationId xmlns:a16="http://schemas.microsoft.com/office/drawing/2014/main" id="{0938E7DA-48F2-41DE-A31E-C8F05209B7C0}"/>
              </a:ext>
            </a:extLst>
          </p:cNvPr>
          <p:cNvSpPr txBox="1"/>
          <p:nvPr/>
        </p:nvSpPr>
        <p:spPr>
          <a:xfrm>
            <a:off x="5188749" y="5977745"/>
            <a:ext cx="326059" cy="200055"/>
          </a:xfrm>
          <a:prstGeom prst="rect">
            <a:avLst/>
          </a:prstGeom>
          <a:noFill/>
        </p:spPr>
        <p:txBody>
          <a:bodyPr wrap="square" rtlCol="0">
            <a:spAutoFit/>
          </a:bodyPr>
          <a:lstStyle/>
          <a:p>
            <a:r>
              <a:rPr lang="tr-TR" sz="700" noProof="1">
                <a:cs typeface="Arial" panose="020B0604020202020204" pitchFamily="34" charset="0"/>
              </a:rPr>
              <a:t>24</a:t>
            </a:r>
          </a:p>
        </p:txBody>
      </p:sp>
      <p:sp>
        <p:nvSpPr>
          <p:cNvPr id="143" name="Metin kutusu 142">
            <a:extLst>
              <a:ext uri="{FF2B5EF4-FFF2-40B4-BE49-F238E27FC236}">
                <a16:creationId xmlns:a16="http://schemas.microsoft.com/office/drawing/2014/main" id="{10559F17-4479-49DC-9D74-20491D538490}"/>
              </a:ext>
            </a:extLst>
          </p:cNvPr>
          <p:cNvSpPr txBox="1"/>
          <p:nvPr/>
        </p:nvSpPr>
        <p:spPr>
          <a:xfrm>
            <a:off x="6303612" y="5963207"/>
            <a:ext cx="326059" cy="200055"/>
          </a:xfrm>
          <a:prstGeom prst="rect">
            <a:avLst/>
          </a:prstGeom>
          <a:noFill/>
        </p:spPr>
        <p:txBody>
          <a:bodyPr wrap="square" rtlCol="0">
            <a:spAutoFit/>
          </a:bodyPr>
          <a:lstStyle/>
          <a:p>
            <a:r>
              <a:rPr lang="tr-TR" sz="700" noProof="1">
                <a:cs typeface="Arial" panose="020B0604020202020204" pitchFamily="34" charset="0"/>
              </a:rPr>
              <a:t>0,4</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63401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1.D    2.C    3.A    4.E</a:t>
            </a:r>
          </a:p>
        </p:txBody>
      </p:sp>
    </p:spTree>
    <p:extLst>
      <p:ext uri="{BB962C8B-B14F-4D97-AF65-F5344CB8AC3E}">
        <p14:creationId xmlns:p14="http://schemas.microsoft.com/office/powerpoint/2010/main" val="42225209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Grafik Problemleri</a:t>
            </a:r>
          </a:p>
          <a:p>
            <a:r>
              <a:rPr lang="tr-TR" sz="1000" b="1" noProof="1">
                <a:latin typeface="+mj-lt"/>
                <a:cs typeface="Arial" panose="020B0604020202020204" pitchFamily="34" charset="0"/>
              </a:rPr>
              <a:t>      Doğrusal Grafikler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5"/>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43343" y="2229952"/>
            <a:ext cx="3317461" cy="400110"/>
          </a:xfrm>
          <a:prstGeom prst="rect">
            <a:avLst/>
          </a:prstGeom>
          <a:noFill/>
        </p:spPr>
        <p:txBody>
          <a:bodyPr wrap="square" rtlCol="0">
            <a:spAutoFit/>
          </a:bodyPr>
          <a:lstStyle/>
          <a:p>
            <a:r>
              <a:rPr lang="tr-TR" sz="1000" b="1" noProof="1">
                <a:cs typeface="Arial" panose="020B0604020202020204" pitchFamily="34" charset="0"/>
              </a:rPr>
              <a:t>Semih; grafikteki zaman verisini başlattığında saat 12.44 olduğuna göre, mumun boyu 5 mm kaldığında saat kaçtır?</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45856" y="2604561"/>
            <a:ext cx="3342411" cy="553998"/>
          </a:xfrm>
          <a:prstGeom prst="rect">
            <a:avLst/>
          </a:prstGeom>
          <a:noFill/>
        </p:spPr>
        <p:txBody>
          <a:bodyPr wrap="square" rtlCol="0">
            <a:spAutoFit/>
          </a:bodyPr>
          <a:lstStyle/>
          <a:p>
            <a:r>
              <a:rPr lang="tr-TR" sz="1000" noProof="1"/>
              <a:t>A) 14.44                                      B) 14.44                           C) 15.39</a:t>
            </a:r>
          </a:p>
          <a:p>
            <a:pPr marL="228600" indent="-228600">
              <a:buAutoNum type="alphaUcParenR"/>
            </a:pPr>
            <a:endParaRPr lang="tr-TR" sz="1000" noProof="1"/>
          </a:p>
          <a:p>
            <a:r>
              <a:rPr lang="tr-TR" sz="1000" noProof="1"/>
              <a:t>                      D) 15.44                                        E) 15.49</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429000" y="2095018"/>
            <a:ext cx="3487280" cy="707886"/>
          </a:xfrm>
          <a:prstGeom prst="rect">
            <a:avLst/>
          </a:prstGeom>
          <a:noFill/>
        </p:spPr>
        <p:txBody>
          <a:bodyPr wrap="square" rtlCol="0">
            <a:spAutoFit/>
          </a:bodyPr>
          <a:lstStyle/>
          <a:p>
            <a:r>
              <a:rPr lang="tr-TR" sz="1000" noProof="1">
                <a:cs typeface="Arial" panose="020B0604020202020204" pitchFamily="34" charset="0"/>
              </a:rPr>
              <a:t>Yukardaki doğrusal grafiklerden X,Y,Z maddelerinin elde edilebilen miktarları göstermektedir. </a:t>
            </a:r>
            <a:br>
              <a:rPr lang="tr-TR" sz="1000" noProof="1">
                <a:cs typeface="Arial" panose="020B0604020202020204" pitchFamily="34" charset="0"/>
              </a:rPr>
            </a:br>
            <a:endParaRPr lang="tr-TR" sz="1000" noProof="1">
              <a:cs typeface="Arial" panose="020B0604020202020204" pitchFamily="34" charset="0"/>
            </a:endParaRPr>
          </a:p>
          <a:p>
            <a:r>
              <a:rPr lang="tr-TR" sz="1000" b="1" noProof="1">
                <a:cs typeface="Arial" panose="020B0604020202020204" pitchFamily="34" charset="0"/>
              </a:rPr>
              <a:t>Buna göre , 180 adet Z üretebilmek için kaç kg X gerekir?</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cxnSp>
        <p:nvCxnSpPr>
          <p:cNvPr id="7" name="Düz Ok Bağlayıcısı 6">
            <a:extLst>
              <a:ext uri="{FF2B5EF4-FFF2-40B4-BE49-F238E27FC236}">
                <a16:creationId xmlns:a16="http://schemas.microsoft.com/office/drawing/2014/main" id="{82F5415A-47E3-4E28-9C1B-6B165E1FCBF7}"/>
              </a:ext>
            </a:extLst>
          </p:cNvPr>
          <p:cNvCxnSpPr/>
          <p:nvPr/>
        </p:nvCxnSpPr>
        <p:spPr>
          <a:xfrm flipV="1">
            <a:off x="310383" y="1117214"/>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Düz Ok Bağlayıcısı 12">
            <a:extLst>
              <a:ext uri="{FF2B5EF4-FFF2-40B4-BE49-F238E27FC236}">
                <a16:creationId xmlns:a16="http://schemas.microsoft.com/office/drawing/2014/main" id="{E49C2131-D0CB-457B-BF88-7BA92CED56A4}"/>
              </a:ext>
            </a:extLst>
          </p:cNvPr>
          <p:cNvCxnSpPr/>
          <p:nvPr/>
        </p:nvCxnSpPr>
        <p:spPr>
          <a:xfrm>
            <a:off x="161542" y="2085922"/>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400110"/>
          </a:xfrm>
          <a:prstGeom prst="rect">
            <a:avLst/>
          </a:prstGeom>
          <a:noFill/>
        </p:spPr>
        <p:txBody>
          <a:bodyPr wrap="square" rtlCol="0">
            <a:spAutoFit/>
          </a:bodyPr>
          <a:lstStyle/>
          <a:p>
            <a:r>
              <a:rPr lang="tr-TR" sz="1000" noProof="1">
                <a:cs typeface="Arial" panose="020B0604020202020204" pitchFamily="34" charset="0"/>
              </a:rPr>
              <a:t>Aşağıda yanan bir mumun boyundaki değişim zamana göre doğrusal grafikle gösterilmiştir.</a:t>
            </a:r>
          </a:p>
        </p:txBody>
      </p:sp>
      <p:sp>
        <p:nvSpPr>
          <p:cNvPr id="48" name="Metin kutusu 47">
            <a:extLst>
              <a:ext uri="{FF2B5EF4-FFF2-40B4-BE49-F238E27FC236}">
                <a16:creationId xmlns:a16="http://schemas.microsoft.com/office/drawing/2014/main" id="{2C948837-B8E2-4ADD-8A0E-FD49AA51C358}"/>
              </a:ext>
            </a:extLst>
          </p:cNvPr>
          <p:cNvSpPr txBox="1"/>
          <p:nvPr/>
        </p:nvSpPr>
        <p:spPr>
          <a:xfrm>
            <a:off x="1318495" y="1939628"/>
            <a:ext cx="1078571" cy="246221"/>
          </a:xfrm>
          <a:prstGeom prst="rect">
            <a:avLst/>
          </a:prstGeom>
          <a:noFill/>
        </p:spPr>
        <p:txBody>
          <a:bodyPr wrap="square" rtlCol="0">
            <a:spAutoFit/>
          </a:bodyPr>
          <a:lstStyle/>
          <a:p>
            <a:r>
              <a:rPr lang="tr-TR" sz="1000" noProof="1">
                <a:cs typeface="Arial" panose="020B0604020202020204" pitchFamily="34" charset="0"/>
              </a:rPr>
              <a:t>Zaman (saat)</a:t>
            </a:r>
          </a:p>
        </p:txBody>
      </p:sp>
      <p:sp>
        <p:nvSpPr>
          <p:cNvPr id="61" name="Metin kutusu 60">
            <a:extLst>
              <a:ext uri="{FF2B5EF4-FFF2-40B4-BE49-F238E27FC236}">
                <a16:creationId xmlns:a16="http://schemas.microsoft.com/office/drawing/2014/main" id="{425D974C-D979-4C8F-9C87-4AE8F1AF6165}"/>
              </a:ext>
            </a:extLst>
          </p:cNvPr>
          <p:cNvSpPr txBox="1"/>
          <p:nvPr/>
        </p:nvSpPr>
        <p:spPr>
          <a:xfrm>
            <a:off x="179507" y="907707"/>
            <a:ext cx="1305276" cy="246221"/>
          </a:xfrm>
          <a:prstGeom prst="rect">
            <a:avLst/>
          </a:prstGeom>
          <a:noFill/>
        </p:spPr>
        <p:txBody>
          <a:bodyPr wrap="square" rtlCol="0">
            <a:spAutoFit/>
          </a:bodyPr>
          <a:lstStyle/>
          <a:p>
            <a:r>
              <a:rPr lang="tr-TR" sz="1000" noProof="1">
                <a:cs typeface="Arial" panose="020B0604020202020204" pitchFamily="34" charset="0"/>
              </a:rPr>
              <a:t>Boy (mm)</a:t>
            </a:r>
          </a:p>
        </p:txBody>
      </p:sp>
      <p:cxnSp>
        <p:nvCxnSpPr>
          <p:cNvPr id="63" name="Düz Ok Bağlayıcısı 62">
            <a:extLst>
              <a:ext uri="{FF2B5EF4-FFF2-40B4-BE49-F238E27FC236}">
                <a16:creationId xmlns:a16="http://schemas.microsoft.com/office/drawing/2014/main" id="{B4EF2216-6DE0-4DE3-B382-B143BA5BD6B4}"/>
              </a:ext>
            </a:extLst>
          </p:cNvPr>
          <p:cNvCxnSpPr/>
          <p:nvPr/>
        </p:nvCxnSpPr>
        <p:spPr>
          <a:xfrm flipV="1">
            <a:off x="3706790" y="696309"/>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Düz Ok Bağlayıcısı 64">
            <a:extLst>
              <a:ext uri="{FF2B5EF4-FFF2-40B4-BE49-F238E27FC236}">
                <a16:creationId xmlns:a16="http://schemas.microsoft.com/office/drawing/2014/main" id="{EECE3D84-2850-43AA-B972-09A6F3DF63B8}"/>
              </a:ext>
            </a:extLst>
          </p:cNvPr>
          <p:cNvCxnSpPr/>
          <p:nvPr/>
        </p:nvCxnSpPr>
        <p:spPr>
          <a:xfrm>
            <a:off x="3557949" y="1665017"/>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Metin kutusu 65">
            <a:extLst>
              <a:ext uri="{FF2B5EF4-FFF2-40B4-BE49-F238E27FC236}">
                <a16:creationId xmlns:a16="http://schemas.microsoft.com/office/drawing/2014/main" id="{5A71217E-9B43-440B-9F06-FE26C3FA4F8D}"/>
              </a:ext>
            </a:extLst>
          </p:cNvPr>
          <p:cNvSpPr txBox="1"/>
          <p:nvPr/>
        </p:nvSpPr>
        <p:spPr>
          <a:xfrm>
            <a:off x="4649464" y="1546859"/>
            <a:ext cx="1142547" cy="246221"/>
          </a:xfrm>
          <a:prstGeom prst="rect">
            <a:avLst/>
          </a:prstGeom>
          <a:noFill/>
        </p:spPr>
        <p:txBody>
          <a:bodyPr wrap="square" rtlCol="0">
            <a:spAutoFit/>
          </a:bodyPr>
          <a:lstStyle/>
          <a:p>
            <a:r>
              <a:rPr lang="tr-TR" sz="1000" noProof="1">
                <a:cs typeface="Arial" panose="020B0604020202020204" pitchFamily="34" charset="0"/>
              </a:rPr>
              <a:t>Y (kg)</a:t>
            </a:r>
          </a:p>
        </p:txBody>
      </p:sp>
      <p:sp>
        <p:nvSpPr>
          <p:cNvPr id="67" name="Metin kutusu 66">
            <a:extLst>
              <a:ext uri="{FF2B5EF4-FFF2-40B4-BE49-F238E27FC236}">
                <a16:creationId xmlns:a16="http://schemas.microsoft.com/office/drawing/2014/main" id="{6076B4A8-55E5-4CFE-BD9B-21DE1B21AF90}"/>
              </a:ext>
            </a:extLst>
          </p:cNvPr>
          <p:cNvSpPr txBox="1"/>
          <p:nvPr/>
        </p:nvSpPr>
        <p:spPr>
          <a:xfrm>
            <a:off x="3575914" y="486802"/>
            <a:ext cx="1078571" cy="246221"/>
          </a:xfrm>
          <a:prstGeom prst="rect">
            <a:avLst/>
          </a:prstGeom>
          <a:noFill/>
        </p:spPr>
        <p:txBody>
          <a:bodyPr wrap="square" rtlCol="0">
            <a:spAutoFit/>
          </a:bodyPr>
          <a:lstStyle/>
          <a:p>
            <a:r>
              <a:rPr lang="tr-TR" sz="1000" noProof="1">
                <a:cs typeface="Arial" panose="020B0604020202020204" pitchFamily="34" charset="0"/>
              </a:rPr>
              <a:t>X (kg)</a:t>
            </a:r>
          </a:p>
        </p:txBody>
      </p:sp>
      <p:cxnSp>
        <p:nvCxnSpPr>
          <p:cNvPr id="17" name="Düz Bağlayıcı 16">
            <a:extLst>
              <a:ext uri="{FF2B5EF4-FFF2-40B4-BE49-F238E27FC236}">
                <a16:creationId xmlns:a16="http://schemas.microsoft.com/office/drawing/2014/main" id="{90954ED6-3F61-4B87-9015-F2ECFAC7B459}"/>
              </a:ext>
            </a:extLst>
          </p:cNvPr>
          <p:cNvCxnSpPr>
            <a:cxnSpLocks/>
          </p:cNvCxnSpPr>
          <p:nvPr/>
        </p:nvCxnSpPr>
        <p:spPr>
          <a:xfrm>
            <a:off x="309139" y="1282204"/>
            <a:ext cx="598435" cy="486487"/>
          </a:xfrm>
          <a:prstGeom prst="line">
            <a:avLst/>
          </a:prstGeom>
        </p:spPr>
        <p:style>
          <a:lnRef idx="1">
            <a:schemeClr val="accent4"/>
          </a:lnRef>
          <a:fillRef idx="0">
            <a:schemeClr val="accent4"/>
          </a:fillRef>
          <a:effectRef idx="0">
            <a:schemeClr val="accent4"/>
          </a:effectRef>
          <a:fontRef idx="minor">
            <a:schemeClr val="tx1"/>
          </a:fontRef>
        </p:style>
      </p:cxnSp>
      <p:sp>
        <p:nvSpPr>
          <p:cNvPr id="68" name="Metin kutusu 67">
            <a:extLst>
              <a:ext uri="{FF2B5EF4-FFF2-40B4-BE49-F238E27FC236}">
                <a16:creationId xmlns:a16="http://schemas.microsoft.com/office/drawing/2014/main" id="{0328FF27-198A-4831-A1D3-1C5219F7FD40}"/>
              </a:ext>
            </a:extLst>
          </p:cNvPr>
          <p:cNvSpPr txBox="1"/>
          <p:nvPr/>
        </p:nvSpPr>
        <p:spPr>
          <a:xfrm>
            <a:off x="776088" y="2035355"/>
            <a:ext cx="337520" cy="246221"/>
          </a:xfrm>
          <a:prstGeom prst="rect">
            <a:avLst/>
          </a:prstGeom>
          <a:noFill/>
        </p:spPr>
        <p:txBody>
          <a:bodyPr wrap="square" rtlCol="0">
            <a:spAutoFit/>
          </a:bodyPr>
          <a:lstStyle/>
          <a:p>
            <a:r>
              <a:rPr lang="tr-TR" sz="1000" noProof="1">
                <a:cs typeface="Arial" panose="020B0604020202020204" pitchFamily="34" charset="0"/>
              </a:rPr>
              <a:t>2</a:t>
            </a:r>
          </a:p>
        </p:txBody>
      </p:sp>
      <p:sp>
        <p:nvSpPr>
          <p:cNvPr id="69" name="Metin kutusu 68">
            <a:extLst>
              <a:ext uri="{FF2B5EF4-FFF2-40B4-BE49-F238E27FC236}">
                <a16:creationId xmlns:a16="http://schemas.microsoft.com/office/drawing/2014/main" id="{96E5240D-0727-48C6-9657-68BA2A145B26}"/>
              </a:ext>
            </a:extLst>
          </p:cNvPr>
          <p:cNvSpPr txBox="1"/>
          <p:nvPr/>
        </p:nvSpPr>
        <p:spPr>
          <a:xfrm>
            <a:off x="69995" y="1616860"/>
            <a:ext cx="337520" cy="246221"/>
          </a:xfrm>
          <a:prstGeom prst="rect">
            <a:avLst/>
          </a:prstGeom>
          <a:noFill/>
        </p:spPr>
        <p:txBody>
          <a:bodyPr wrap="square" rtlCol="0">
            <a:spAutoFit/>
          </a:bodyPr>
          <a:lstStyle/>
          <a:p>
            <a:r>
              <a:rPr lang="tr-TR" sz="1000" noProof="1">
                <a:cs typeface="Arial" panose="020B0604020202020204" pitchFamily="34" charset="0"/>
              </a:rPr>
              <a:t>50</a:t>
            </a:r>
          </a:p>
        </p:txBody>
      </p:sp>
      <p:sp>
        <p:nvSpPr>
          <p:cNvPr id="70" name="Metin kutusu 69">
            <a:extLst>
              <a:ext uri="{FF2B5EF4-FFF2-40B4-BE49-F238E27FC236}">
                <a16:creationId xmlns:a16="http://schemas.microsoft.com/office/drawing/2014/main" id="{E51A6399-73C2-49AE-8854-23532B9AA754}"/>
              </a:ext>
            </a:extLst>
          </p:cNvPr>
          <p:cNvSpPr txBox="1"/>
          <p:nvPr/>
        </p:nvSpPr>
        <p:spPr>
          <a:xfrm>
            <a:off x="-15048" y="1142713"/>
            <a:ext cx="397924" cy="246221"/>
          </a:xfrm>
          <a:prstGeom prst="rect">
            <a:avLst/>
          </a:prstGeom>
          <a:noFill/>
        </p:spPr>
        <p:txBody>
          <a:bodyPr wrap="square" rtlCol="0">
            <a:spAutoFit/>
          </a:bodyPr>
          <a:lstStyle/>
          <a:p>
            <a:r>
              <a:rPr lang="tr-TR" sz="1000" noProof="1">
                <a:cs typeface="Arial" panose="020B0604020202020204" pitchFamily="34" charset="0"/>
              </a:rPr>
              <a:t>140</a:t>
            </a:r>
          </a:p>
        </p:txBody>
      </p:sp>
      <p:cxnSp>
        <p:nvCxnSpPr>
          <p:cNvPr id="27" name="Düz Bağlayıcı 26">
            <a:extLst>
              <a:ext uri="{FF2B5EF4-FFF2-40B4-BE49-F238E27FC236}">
                <a16:creationId xmlns:a16="http://schemas.microsoft.com/office/drawing/2014/main" id="{BA54E132-2F0B-4197-A062-B523920E1FC6}"/>
              </a:ext>
            </a:extLst>
          </p:cNvPr>
          <p:cNvCxnSpPr>
            <a:cxnSpLocks/>
          </p:cNvCxnSpPr>
          <p:nvPr/>
        </p:nvCxnSpPr>
        <p:spPr>
          <a:xfrm>
            <a:off x="309139" y="176869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 name="Düz Bağlayıcı 70">
            <a:extLst>
              <a:ext uri="{FF2B5EF4-FFF2-40B4-BE49-F238E27FC236}">
                <a16:creationId xmlns:a16="http://schemas.microsoft.com/office/drawing/2014/main" id="{CBE65FA9-572C-409C-B14A-4788930124D2}"/>
              </a:ext>
            </a:extLst>
          </p:cNvPr>
          <p:cNvCxnSpPr>
            <a:cxnSpLocks/>
          </p:cNvCxnSpPr>
          <p:nvPr/>
        </p:nvCxnSpPr>
        <p:spPr>
          <a:xfrm>
            <a:off x="907574" y="1768691"/>
            <a:ext cx="1146" cy="32567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 name="Düz Ok Bağlayıcısı 71">
            <a:extLst>
              <a:ext uri="{FF2B5EF4-FFF2-40B4-BE49-F238E27FC236}">
                <a16:creationId xmlns:a16="http://schemas.microsoft.com/office/drawing/2014/main" id="{A4AD9BE2-4826-4AB6-834B-522565ADE755}"/>
              </a:ext>
            </a:extLst>
          </p:cNvPr>
          <p:cNvCxnSpPr>
            <a:cxnSpLocks/>
          </p:cNvCxnSpPr>
          <p:nvPr/>
        </p:nvCxnSpPr>
        <p:spPr>
          <a:xfrm flipV="1">
            <a:off x="295541" y="4932040"/>
            <a:ext cx="6364" cy="12679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Düz Ok Bağlayıcısı 72">
            <a:extLst>
              <a:ext uri="{FF2B5EF4-FFF2-40B4-BE49-F238E27FC236}">
                <a16:creationId xmlns:a16="http://schemas.microsoft.com/office/drawing/2014/main" id="{05961572-7783-46B2-8DAA-049F30F4B7C6}"/>
              </a:ext>
            </a:extLst>
          </p:cNvPr>
          <p:cNvCxnSpPr>
            <a:cxnSpLocks/>
          </p:cNvCxnSpPr>
          <p:nvPr/>
        </p:nvCxnSpPr>
        <p:spPr>
          <a:xfrm>
            <a:off x="98507" y="5893668"/>
            <a:ext cx="11490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Metin kutusu 73">
            <a:extLst>
              <a:ext uri="{FF2B5EF4-FFF2-40B4-BE49-F238E27FC236}">
                <a16:creationId xmlns:a16="http://schemas.microsoft.com/office/drawing/2014/main" id="{FCDCC177-CD2C-4366-822E-4B01C2232202}"/>
              </a:ext>
            </a:extLst>
          </p:cNvPr>
          <p:cNvSpPr txBox="1"/>
          <p:nvPr/>
        </p:nvSpPr>
        <p:spPr>
          <a:xfrm>
            <a:off x="1206556" y="5761273"/>
            <a:ext cx="1078571" cy="246221"/>
          </a:xfrm>
          <a:prstGeom prst="rect">
            <a:avLst/>
          </a:prstGeom>
          <a:noFill/>
        </p:spPr>
        <p:txBody>
          <a:bodyPr wrap="square" rtlCol="0">
            <a:spAutoFit/>
          </a:bodyPr>
          <a:lstStyle/>
          <a:p>
            <a:r>
              <a:rPr lang="tr-TR" sz="1000" noProof="1">
                <a:cs typeface="Arial" panose="020B0604020202020204" pitchFamily="34" charset="0"/>
              </a:rPr>
              <a:t>Zaman (dakika)</a:t>
            </a:r>
          </a:p>
        </p:txBody>
      </p:sp>
      <mc:AlternateContent xmlns:mc="http://schemas.openxmlformats.org/markup-compatibility/2006" xmlns:a14="http://schemas.microsoft.com/office/drawing/2010/main">
        <mc:Choice Requires="a14">
          <p:sp>
            <p:nvSpPr>
              <p:cNvPr id="75" name="Metin kutusu 74">
                <a:extLst>
                  <a:ext uri="{FF2B5EF4-FFF2-40B4-BE49-F238E27FC236}">
                    <a16:creationId xmlns:a16="http://schemas.microsoft.com/office/drawing/2014/main" id="{CEAFC83B-44C8-40FB-AE22-9ACEF62AE107}"/>
                  </a:ext>
                </a:extLst>
              </p:cNvPr>
              <p:cNvSpPr txBox="1"/>
              <p:nvPr/>
            </p:nvSpPr>
            <p:spPr>
              <a:xfrm>
                <a:off x="172960" y="4703846"/>
                <a:ext cx="1305276" cy="246221"/>
              </a:xfrm>
              <a:prstGeom prst="rect">
                <a:avLst/>
              </a:prstGeom>
              <a:noFill/>
            </p:spPr>
            <p:txBody>
              <a:bodyPr wrap="square" rtlCol="0">
                <a:spAutoFit/>
              </a:bodyPr>
              <a:lstStyle/>
              <a:p>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C</a:t>
                </a:r>
              </a:p>
            </p:txBody>
          </p:sp>
        </mc:Choice>
        <mc:Fallback xmlns="">
          <p:sp>
            <p:nvSpPr>
              <p:cNvPr id="75" name="Metin kutusu 74">
                <a:extLst>
                  <a:ext uri="{FF2B5EF4-FFF2-40B4-BE49-F238E27FC236}">
                    <a16:creationId xmlns:a16="http://schemas.microsoft.com/office/drawing/2014/main" id="{CEAFC83B-44C8-40FB-AE22-9ACEF62AE107}"/>
                  </a:ext>
                </a:extLst>
              </p:cNvPr>
              <p:cNvSpPr txBox="1">
                <a:spLocks noRot="1" noChangeAspect="1" noMove="1" noResize="1" noEditPoints="1" noAdjustHandles="1" noChangeArrowheads="1" noChangeShapeType="1" noTextEdit="1"/>
              </p:cNvSpPr>
              <p:nvPr/>
            </p:nvSpPr>
            <p:spPr>
              <a:xfrm>
                <a:off x="172960" y="4703846"/>
                <a:ext cx="1305276" cy="246221"/>
              </a:xfrm>
              <a:prstGeom prst="rect">
                <a:avLst/>
              </a:prstGeom>
              <a:blipFill>
                <a:blip r:embed="rId6"/>
                <a:stretch>
                  <a:fillRect b="-15000"/>
                </a:stretch>
              </a:blipFill>
            </p:spPr>
            <p:txBody>
              <a:bodyPr/>
              <a:lstStyle/>
              <a:p>
                <a:r>
                  <a:rPr lang="tr-TR">
                    <a:noFill/>
                  </a:rPr>
                  <a:t> </a:t>
                </a:r>
              </a:p>
            </p:txBody>
          </p:sp>
        </mc:Fallback>
      </mc:AlternateContent>
      <p:cxnSp>
        <p:nvCxnSpPr>
          <p:cNvPr id="76" name="Düz Bağlayıcı 75">
            <a:extLst>
              <a:ext uri="{FF2B5EF4-FFF2-40B4-BE49-F238E27FC236}">
                <a16:creationId xmlns:a16="http://schemas.microsoft.com/office/drawing/2014/main" id="{EE84031D-FAA0-422F-9AB6-BDB6C3047D21}"/>
              </a:ext>
            </a:extLst>
          </p:cNvPr>
          <p:cNvCxnSpPr>
            <a:cxnSpLocks/>
          </p:cNvCxnSpPr>
          <p:nvPr/>
        </p:nvCxnSpPr>
        <p:spPr>
          <a:xfrm flipV="1">
            <a:off x="299008" y="5096150"/>
            <a:ext cx="610098" cy="104034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7" name="Metin kutusu 76">
            <a:extLst>
              <a:ext uri="{FF2B5EF4-FFF2-40B4-BE49-F238E27FC236}">
                <a16:creationId xmlns:a16="http://schemas.microsoft.com/office/drawing/2014/main" id="{67CA3042-CA46-4D83-B3BC-1FF55D2D3928}"/>
              </a:ext>
            </a:extLst>
          </p:cNvPr>
          <p:cNvSpPr txBox="1"/>
          <p:nvPr/>
        </p:nvSpPr>
        <p:spPr>
          <a:xfrm>
            <a:off x="775911" y="5841232"/>
            <a:ext cx="337520" cy="246221"/>
          </a:xfrm>
          <a:prstGeom prst="rect">
            <a:avLst/>
          </a:prstGeom>
          <a:noFill/>
        </p:spPr>
        <p:txBody>
          <a:bodyPr wrap="square" rtlCol="0">
            <a:spAutoFit/>
          </a:bodyPr>
          <a:lstStyle/>
          <a:p>
            <a:r>
              <a:rPr lang="tr-TR" sz="1000" noProof="1">
                <a:cs typeface="Arial" panose="020B0604020202020204" pitchFamily="34" charset="0"/>
              </a:rPr>
              <a:t>20</a:t>
            </a:r>
          </a:p>
        </p:txBody>
      </p:sp>
      <p:sp>
        <p:nvSpPr>
          <p:cNvPr id="79" name="Metin kutusu 78">
            <a:extLst>
              <a:ext uri="{FF2B5EF4-FFF2-40B4-BE49-F238E27FC236}">
                <a16:creationId xmlns:a16="http://schemas.microsoft.com/office/drawing/2014/main" id="{534C9AD4-4BCE-407D-B6BB-F640D17DA2A5}"/>
              </a:ext>
            </a:extLst>
          </p:cNvPr>
          <p:cNvSpPr txBox="1"/>
          <p:nvPr/>
        </p:nvSpPr>
        <p:spPr>
          <a:xfrm>
            <a:off x="14460" y="4953262"/>
            <a:ext cx="397924" cy="246221"/>
          </a:xfrm>
          <a:prstGeom prst="rect">
            <a:avLst/>
          </a:prstGeom>
          <a:noFill/>
        </p:spPr>
        <p:txBody>
          <a:bodyPr wrap="square" rtlCol="0">
            <a:spAutoFit/>
          </a:bodyPr>
          <a:lstStyle/>
          <a:p>
            <a:r>
              <a:rPr lang="tr-TR" sz="1000" noProof="1">
                <a:cs typeface="Arial" panose="020B0604020202020204" pitchFamily="34" charset="0"/>
              </a:rPr>
              <a:t>60</a:t>
            </a:r>
          </a:p>
        </p:txBody>
      </p:sp>
      <p:cxnSp>
        <p:nvCxnSpPr>
          <p:cNvPr id="80" name="Düz Bağlayıcı 79">
            <a:extLst>
              <a:ext uri="{FF2B5EF4-FFF2-40B4-BE49-F238E27FC236}">
                <a16:creationId xmlns:a16="http://schemas.microsoft.com/office/drawing/2014/main" id="{BB6D5B8C-D689-4CA8-B0F0-EAA5932A6E3A}"/>
              </a:ext>
            </a:extLst>
          </p:cNvPr>
          <p:cNvCxnSpPr>
            <a:cxnSpLocks/>
          </p:cNvCxnSpPr>
          <p:nvPr/>
        </p:nvCxnSpPr>
        <p:spPr>
          <a:xfrm>
            <a:off x="307749" y="508674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1" name="Düz Bağlayıcı 80">
            <a:extLst>
              <a:ext uri="{FF2B5EF4-FFF2-40B4-BE49-F238E27FC236}">
                <a16:creationId xmlns:a16="http://schemas.microsoft.com/office/drawing/2014/main" id="{1998BF76-0F06-4F6B-AA02-EEC6542D9EC9}"/>
              </a:ext>
            </a:extLst>
          </p:cNvPr>
          <p:cNvCxnSpPr>
            <a:cxnSpLocks/>
          </p:cNvCxnSpPr>
          <p:nvPr/>
        </p:nvCxnSpPr>
        <p:spPr>
          <a:xfrm>
            <a:off x="908543" y="5084405"/>
            <a:ext cx="0" cy="81583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Metin kutusu 81">
                <a:extLst>
                  <a:ext uri="{FF2B5EF4-FFF2-40B4-BE49-F238E27FC236}">
                    <a16:creationId xmlns:a16="http://schemas.microsoft.com/office/drawing/2014/main" id="{E21E64C3-CE03-49CA-A905-DE814E9C9753}"/>
                  </a:ext>
                </a:extLst>
              </p:cNvPr>
              <p:cNvSpPr txBox="1"/>
              <p:nvPr/>
            </p:nvSpPr>
            <p:spPr>
              <a:xfrm>
                <a:off x="-1350" y="6218355"/>
                <a:ext cx="3430350" cy="1577611"/>
              </a:xfrm>
              <a:prstGeom prst="rect">
                <a:avLst/>
              </a:prstGeom>
              <a:noFill/>
            </p:spPr>
            <p:txBody>
              <a:bodyPr wrap="square" rtlCol="0">
                <a:spAutoFit/>
              </a:bodyPr>
              <a:lstStyle/>
              <a:p>
                <a:r>
                  <a:rPr lang="tr-TR" sz="1000" b="1" noProof="1">
                    <a:cs typeface="Arial" panose="020B0604020202020204" pitchFamily="34" charset="0"/>
                  </a:rPr>
                  <a:t>Yukarıdaki grafikte başlangıç sıcaklığı -20 °C olan bir maddenin ısıtılması sırasında sıcaklığının zamana göre doğrusal değişimini göstermektedir.</a:t>
                </a:r>
              </a:p>
              <a:p>
                <a:endParaRPr lang="tr-TR" sz="1000" noProof="1">
                  <a:cs typeface="Arial" panose="020B0604020202020204" pitchFamily="34" charset="0"/>
                </a:endParaRPr>
              </a:p>
              <a:p>
                <a:r>
                  <a:rPr lang="tr-TR" sz="1000" noProof="1">
                    <a:cs typeface="Arial" panose="020B0604020202020204" pitchFamily="34" charset="0"/>
                  </a:rPr>
                  <a:t>F : Fahrenheit  ,  C : Celsius (</a:t>
                </a:r>
                <a14:m>
                  <m:oMath xmlns:m="http://schemas.openxmlformats.org/officeDocument/2006/math">
                    <m:r>
                      <a:rPr lang="tr-TR" sz="1000" b="0" i="0" noProof="1" smtClean="0">
                        <a:latin typeface="Cambria Math" panose="02040503050406030204" pitchFamily="18" charset="0"/>
                        <a:ea typeface="Cambria Math" panose="02040503050406030204" pitchFamily="18" charset="0"/>
                        <a:cs typeface="Arial" panose="020B0604020202020204" pitchFamily="34" charset="0"/>
                      </a:rPr>
                      <m:t> </m:t>
                    </m:r>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C ) arasında</a:t>
                </a:r>
              </a:p>
              <a:p>
                <a:endParaRPr lang="tr-TR" sz="1000" noProof="1">
                  <a:cs typeface="Arial" panose="020B0604020202020204" pitchFamily="34" charset="0"/>
                </a:endParaRPr>
              </a:p>
              <a:p>
                <a:r>
                  <a:rPr lang="tr-TR" sz="1000" noProof="1"/>
                  <a:t>F =</a:t>
                </a:r>
                <a:r>
                  <a:rPr lang="tr-TR" sz="1000" b="1" noProof="1"/>
                  <a:t> </a:t>
                </a:r>
                <a14:m>
                  <m:oMath xmlns:m="http://schemas.openxmlformats.org/officeDocument/2006/math">
                    <m:f>
                      <m:fPr>
                        <m:ctrlPr>
                          <a:rPr lang="tr-TR" sz="1000" b="1" i="1" noProof="1" dirty="0" smtClean="0">
                            <a:latin typeface="Cambria Math" panose="02040503050406030204" pitchFamily="18" charset="0"/>
                          </a:rPr>
                        </m:ctrlPr>
                      </m:fPr>
                      <m:num>
                        <m:r>
                          <m:rPr>
                            <m:nor/>
                          </m:rPr>
                          <a:rPr lang="tr-TR" sz="1000" b="0" i="0" noProof="1" dirty="0" smtClean="0">
                            <a:latin typeface="Cambria Math" panose="02040503050406030204" pitchFamily="18" charset="0"/>
                          </a:rPr>
                          <m:t> </m:t>
                        </m:r>
                        <m:r>
                          <m:rPr>
                            <m:nor/>
                          </m:rPr>
                          <a:rPr lang="tr-TR" sz="1000" b="0" i="0" noProof="1" dirty="0" smtClean="0">
                            <a:latin typeface="Helvetica" panose="020B0604020202020204" pitchFamily="34" charset="0"/>
                            <a:cs typeface="Helvetica" panose="020B0604020202020204" pitchFamily="34" charset="0"/>
                          </a:rPr>
                          <m:t>9 </m:t>
                        </m:r>
                      </m:num>
                      <m:den>
                        <m:r>
                          <m:rPr>
                            <m:nor/>
                          </m:rPr>
                          <a:rPr lang="tr-TR" sz="1000" b="0" i="0" noProof="1" dirty="0" smtClean="0">
                            <a:latin typeface="Helvetica" panose="020B0604020202020204" pitchFamily="34" charset="0"/>
                            <a:cs typeface="Helvetica" panose="020B0604020202020204" pitchFamily="34" charset="0"/>
                          </a:rPr>
                          <m:t>5</m:t>
                        </m:r>
                      </m:den>
                    </m:f>
                  </m:oMath>
                </a14:m>
                <a:r>
                  <a:rPr lang="tr-TR" sz="1000" noProof="1">
                    <a:cs typeface="Arial" panose="020B0604020202020204" pitchFamily="34" charset="0"/>
                  </a:rPr>
                  <a:t> </a:t>
                </a:r>
                <a14:m>
                  <m:oMath xmlns:m="http://schemas.openxmlformats.org/officeDocument/2006/math">
                    <m:r>
                      <a:rPr lang="tr-TR" sz="12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C + 32 ilişkisi vardır. </a:t>
                </a:r>
              </a:p>
              <a:p>
                <a:endParaRPr lang="tr-TR" sz="1000" noProof="1">
                  <a:cs typeface="Arial" panose="020B0604020202020204" pitchFamily="34" charset="0"/>
                </a:endParaRPr>
              </a:p>
              <a:p>
                <a:r>
                  <a:rPr lang="tr-TR" sz="1000" b="1" noProof="1">
                    <a:cs typeface="Arial" panose="020B0604020202020204" pitchFamily="34" charset="0"/>
                  </a:rPr>
                  <a:t>Buna göre, bu maddenin 30.dakikadaki sıcaklığı kaç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 </m:t>
                    </m:r>
                  </m:oMath>
                </a14:m>
                <a:r>
                  <a:rPr lang="tr-TR" sz="1000" b="1" noProof="1"/>
                  <a:t>F`dır?</a:t>
                </a:r>
                <a:endParaRPr lang="tr-TR" sz="1000" b="1" noProof="1">
                  <a:cs typeface="Arial" panose="020B0604020202020204" pitchFamily="34" charset="0"/>
                </a:endParaRPr>
              </a:p>
            </p:txBody>
          </p:sp>
        </mc:Choice>
        <mc:Fallback xmlns="">
          <p:sp>
            <p:nvSpPr>
              <p:cNvPr id="82" name="Metin kutusu 81">
                <a:extLst>
                  <a:ext uri="{FF2B5EF4-FFF2-40B4-BE49-F238E27FC236}">
                    <a16:creationId xmlns:a16="http://schemas.microsoft.com/office/drawing/2014/main" id="{E21E64C3-CE03-49CA-A905-DE814E9C9753}"/>
                  </a:ext>
                </a:extLst>
              </p:cNvPr>
              <p:cNvSpPr txBox="1">
                <a:spLocks noRot="1" noChangeAspect="1" noMove="1" noResize="1" noEditPoints="1" noAdjustHandles="1" noChangeArrowheads="1" noChangeShapeType="1" noTextEdit="1"/>
              </p:cNvSpPr>
              <p:nvPr/>
            </p:nvSpPr>
            <p:spPr>
              <a:xfrm>
                <a:off x="-1350" y="6218355"/>
                <a:ext cx="3430350" cy="1577611"/>
              </a:xfrm>
              <a:prstGeom prst="rect">
                <a:avLst/>
              </a:prstGeom>
              <a:blipFill>
                <a:blip r:embed="rId7"/>
                <a:stretch>
                  <a:fillRect b="-1544"/>
                </a:stretch>
              </a:blipFill>
            </p:spPr>
            <p:txBody>
              <a:bodyPr/>
              <a:lstStyle/>
              <a:p>
                <a:r>
                  <a:rPr lang="tr-TR">
                    <a:noFill/>
                  </a:rPr>
                  <a:t> </a:t>
                </a:r>
              </a:p>
            </p:txBody>
          </p:sp>
        </mc:Fallback>
      </mc:AlternateContent>
      <p:cxnSp>
        <p:nvCxnSpPr>
          <p:cNvPr id="83" name="Düz Ok Bağlayıcısı 82">
            <a:extLst>
              <a:ext uri="{FF2B5EF4-FFF2-40B4-BE49-F238E27FC236}">
                <a16:creationId xmlns:a16="http://schemas.microsoft.com/office/drawing/2014/main" id="{A7930806-8C18-49FF-8268-6BD278FCAA16}"/>
              </a:ext>
            </a:extLst>
          </p:cNvPr>
          <p:cNvCxnSpPr/>
          <p:nvPr/>
        </p:nvCxnSpPr>
        <p:spPr>
          <a:xfrm flipV="1">
            <a:off x="5437345" y="702106"/>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4" name="Düz Ok Bağlayıcısı 83">
            <a:extLst>
              <a:ext uri="{FF2B5EF4-FFF2-40B4-BE49-F238E27FC236}">
                <a16:creationId xmlns:a16="http://schemas.microsoft.com/office/drawing/2014/main" id="{BCF0A11F-2DBD-411A-93FB-7769F7D596C8}"/>
              </a:ext>
            </a:extLst>
          </p:cNvPr>
          <p:cNvCxnSpPr/>
          <p:nvPr/>
        </p:nvCxnSpPr>
        <p:spPr>
          <a:xfrm>
            <a:off x="5288504" y="1670814"/>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Metin kutusu 84">
            <a:extLst>
              <a:ext uri="{FF2B5EF4-FFF2-40B4-BE49-F238E27FC236}">
                <a16:creationId xmlns:a16="http://schemas.microsoft.com/office/drawing/2014/main" id="{2C4D9D8D-D432-4993-9175-83F580B146CF}"/>
              </a:ext>
            </a:extLst>
          </p:cNvPr>
          <p:cNvSpPr txBox="1"/>
          <p:nvPr/>
        </p:nvSpPr>
        <p:spPr>
          <a:xfrm>
            <a:off x="6371147" y="1523337"/>
            <a:ext cx="1078571" cy="246221"/>
          </a:xfrm>
          <a:prstGeom prst="rect">
            <a:avLst/>
          </a:prstGeom>
          <a:noFill/>
        </p:spPr>
        <p:txBody>
          <a:bodyPr wrap="square" rtlCol="0">
            <a:spAutoFit/>
          </a:bodyPr>
          <a:lstStyle/>
          <a:p>
            <a:r>
              <a:rPr lang="tr-TR" sz="1000" noProof="1">
                <a:cs typeface="Arial" panose="020B0604020202020204" pitchFamily="34" charset="0"/>
              </a:rPr>
              <a:t>Y (kg)</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5306469" y="492599"/>
            <a:ext cx="1078571" cy="246221"/>
          </a:xfrm>
          <a:prstGeom prst="rect">
            <a:avLst/>
          </a:prstGeom>
          <a:noFill/>
        </p:spPr>
        <p:txBody>
          <a:bodyPr wrap="square" rtlCol="0">
            <a:spAutoFit/>
          </a:bodyPr>
          <a:lstStyle/>
          <a:p>
            <a:r>
              <a:rPr lang="tr-TR" sz="1000" noProof="1">
                <a:cs typeface="Arial" panose="020B0604020202020204" pitchFamily="34" charset="0"/>
              </a:rPr>
              <a:t>Z (2 Adet)</a:t>
            </a:r>
          </a:p>
        </p:txBody>
      </p:sp>
      <p:sp>
        <p:nvSpPr>
          <p:cNvPr id="87" name="Metin kutusu 86">
            <a:extLst>
              <a:ext uri="{FF2B5EF4-FFF2-40B4-BE49-F238E27FC236}">
                <a16:creationId xmlns:a16="http://schemas.microsoft.com/office/drawing/2014/main" id="{C8CD1190-5AD4-4287-8694-CE55AF7FFB61}"/>
              </a:ext>
            </a:extLst>
          </p:cNvPr>
          <p:cNvSpPr txBox="1"/>
          <p:nvPr/>
        </p:nvSpPr>
        <p:spPr>
          <a:xfrm>
            <a:off x="3861048" y="1804904"/>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 Grafik</a:t>
            </a:r>
          </a:p>
        </p:txBody>
      </p:sp>
      <p:sp>
        <p:nvSpPr>
          <p:cNvPr id="88" name="Metin kutusu 87">
            <a:extLst>
              <a:ext uri="{FF2B5EF4-FFF2-40B4-BE49-F238E27FC236}">
                <a16:creationId xmlns:a16="http://schemas.microsoft.com/office/drawing/2014/main" id="{FB445821-A3EB-45AD-8D83-DBA64E8F9824}"/>
              </a:ext>
            </a:extLst>
          </p:cNvPr>
          <p:cNvSpPr txBox="1"/>
          <p:nvPr/>
        </p:nvSpPr>
        <p:spPr>
          <a:xfrm>
            <a:off x="5610887" y="1809596"/>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II. Grafik</a:t>
            </a:r>
          </a:p>
        </p:txBody>
      </p:sp>
      <p:cxnSp>
        <p:nvCxnSpPr>
          <p:cNvPr id="89" name="Düz Bağlayıcı 88">
            <a:extLst>
              <a:ext uri="{FF2B5EF4-FFF2-40B4-BE49-F238E27FC236}">
                <a16:creationId xmlns:a16="http://schemas.microsoft.com/office/drawing/2014/main" id="{7933DFF2-3838-423B-9162-D36DE8354FCB}"/>
              </a:ext>
            </a:extLst>
          </p:cNvPr>
          <p:cNvCxnSpPr>
            <a:cxnSpLocks/>
          </p:cNvCxnSpPr>
          <p:nvPr/>
        </p:nvCxnSpPr>
        <p:spPr>
          <a:xfrm flipV="1">
            <a:off x="3707183" y="851181"/>
            <a:ext cx="598404" cy="806145"/>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0" name="Düz Bağlayıcı 89">
            <a:extLst>
              <a:ext uri="{FF2B5EF4-FFF2-40B4-BE49-F238E27FC236}">
                <a16:creationId xmlns:a16="http://schemas.microsoft.com/office/drawing/2014/main" id="{A07D5AAC-81AF-431D-8FC5-B79BE7804D1D}"/>
              </a:ext>
            </a:extLst>
          </p:cNvPr>
          <p:cNvCxnSpPr>
            <a:cxnSpLocks/>
          </p:cNvCxnSpPr>
          <p:nvPr/>
        </p:nvCxnSpPr>
        <p:spPr>
          <a:xfrm>
            <a:off x="3704793" y="84918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1" name="Düz Bağlayıcı 90">
            <a:extLst>
              <a:ext uri="{FF2B5EF4-FFF2-40B4-BE49-F238E27FC236}">
                <a16:creationId xmlns:a16="http://schemas.microsoft.com/office/drawing/2014/main" id="{57C81369-28EF-4F86-9E2A-6ED9D65DDC27}"/>
              </a:ext>
            </a:extLst>
          </p:cNvPr>
          <p:cNvCxnSpPr>
            <a:cxnSpLocks/>
          </p:cNvCxnSpPr>
          <p:nvPr/>
        </p:nvCxnSpPr>
        <p:spPr>
          <a:xfrm>
            <a:off x="4305587" y="849181"/>
            <a:ext cx="0" cy="81583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2" name="Metin kutusu 91">
            <a:extLst>
              <a:ext uri="{FF2B5EF4-FFF2-40B4-BE49-F238E27FC236}">
                <a16:creationId xmlns:a16="http://schemas.microsoft.com/office/drawing/2014/main" id="{DB3D0F5E-8047-4E6A-B9DA-3D82FBFFE000}"/>
              </a:ext>
            </a:extLst>
          </p:cNvPr>
          <p:cNvSpPr txBox="1"/>
          <p:nvPr/>
        </p:nvSpPr>
        <p:spPr>
          <a:xfrm>
            <a:off x="3399987" y="718019"/>
            <a:ext cx="364008" cy="246221"/>
          </a:xfrm>
          <a:prstGeom prst="rect">
            <a:avLst/>
          </a:prstGeom>
          <a:noFill/>
        </p:spPr>
        <p:txBody>
          <a:bodyPr wrap="square" rtlCol="0">
            <a:spAutoFit/>
          </a:bodyPr>
          <a:lstStyle/>
          <a:p>
            <a:r>
              <a:rPr lang="tr-TR" sz="1000" noProof="1">
                <a:cs typeface="Arial" panose="020B0604020202020204" pitchFamily="34" charset="0"/>
              </a:rPr>
              <a:t>42</a:t>
            </a:r>
          </a:p>
        </p:txBody>
      </p:sp>
      <p:sp>
        <p:nvSpPr>
          <p:cNvPr id="93" name="Metin kutusu 92">
            <a:extLst>
              <a:ext uri="{FF2B5EF4-FFF2-40B4-BE49-F238E27FC236}">
                <a16:creationId xmlns:a16="http://schemas.microsoft.com/office/drawing/2014/main" id="{51DA6A2E-22D3-4CD7-96F1-74725CA8CA5E}"/>
              </a:ext>
            </a:extLst>
          </p:cNvPr>
          <p:cNvSpPr txBox="1"/>
          <p:nvPr/>
        </p:nvSpPr>
        <p:spPr>
          <a:xfrm>
            <a:off x="4136425" y="1617580"/>
            <a:ext cx="364008" cy="246221"/>
          </a:xfrm>
          <a:prstGeom prst="rect">
            <a:avLst/>
          </a:prstGeom>
          <a:noFill/>
        </p:spPr>
        <p:txBody>
          <a:bodyPr wrap="square" rtlCol="0">
            <a:spAutoFit/>
          </a:bodyPr>
          <a:lstStyle/>
          <a:p>
            <a:r>
              <a:rPr lang="tr-TR" sz="1000" noProof="1">
                <a:cs typeface="Arial" panose="020B0604020202020204" pitchFamily="34" charset="0"/>
              </a:rPr>
              <a:t>24</a:t>
            </a:r>
          </a:p>
        </p:txBody>
      </p:sp>
      <p:sp>
        <p:nvSpPr>
          <p:cNvPr id="94" name="Metin kutusu 93">
            <a:extLst>
              <a:ext uri="{FF2B5EF4-FFF2-40B4-BE49-F238E27FC236}">
                <a16:creationId xmlns:a16="http://schemas.microsoft.com/office/drawing/2014/main" id="{F6592AC9-EBF8-4FEB-927A-2364A289815A}"/>
              </a:ext>
            </a:extLst>
          </p:cNvPr>
          <p:cNvSpPr txBox="1"/>
          <p:nvPr/>
        </p:nvSpPr>
        <p:spPr>
          <a:xfrm>
            <a:off x="5902342" y="1623831"/>
            <a:ext cx="364008" cy="246221"/>
          </a:xfrm>
          <a:prstGeom prst="rect">
            <a:avLst/>
          </a:prstGeom>
          <a:noFill/>
        </p:spPr>
        <p:txBody>
          <a:bodyPr wrap="square" rtlCol="0">
            <a:spAutoFit/>
          </a:bodyPr>
          <a:lstStyle/>
          <a:p>
            <a:r>
              <a:rPr lang="tr-TR" sz="1000" noProof="1">
                <a:cs typeface="Arial" panose="020B0604020202020204" pitchFamily="34" charset="0"/>
              </a:rPr>
              <a:t>48</a:t>
            </a:r>
          </a:p>
        </p:txBody>
      </p:sp>
      <p:cxnSp>
        <p:nvCxnSpPr>
          <p:cNvPr id="95" name="Düz Bağlayıcı 94">
            <a:extLst>
              <a:ext uri="{FF2B5EF4-FFF2-40B4-BE49-F238E27FC236}">
                <a16:creationId xmlns:a16="http://schemas.microsoft.com/office/drawing/2014/main" id="{1012FA96-5304-4E2D-BCD6-1BC682F375C1}"/>
              </a:ext>
            </a:extLst>
          </p:cNvPr>
          <p:cNvCxnSpPr>
            <a:cxnSpLocks/>
          </p:cNvCxnSpPr>
          <p:nvPr/>
        </p:nvCxnSpPr>
        <p:spPr>
          <a:xfrm flipV="1">
            <a:off x="5435734" y="851182"/>
            <a:ext cx="598404" cy="8061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6" name="Düz Bağlayıcı 95">
            <a:extLst>
              <a:ext uri="{FF2B5EF4-FFF2-40B4-BE49-F238E27FC236}">
                <a16:creationId xmlns:a16="http://schemas.microsoft.com/office/drawing/2014/main" id="{CED62F2E-0A02-4CB4-A111-D7C45CC51CF1}"/>
              </a:ext>
            </a:extLst>
          </p:cNvPr>
          <p:cNvCxnSpPr>
            <a:cxnSpLocks/>
          </p:cNvCxnSpPr>
          <p:nvPr/>
        </p:nvCxnSpPr>
        <p:spPr>
          <a:xfrm>
            <a:off x="5433344" y="84918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7" name="Düz Bağlayıcı 96">
            <a:extLst>
              <a:ext uri="{FF2B5EF4-FFF2-40B4-BE49-F238E27FC236}">
                <a16:creationId xmlns:a16="http://schemas.microsoft.com/office/drawing/2014/main" id="{22EAC6DD-BF9A-4374-B558-30DFB24F1C99}"/>
              </a:ext>
            </a:extLst>
          </p:cNvPr>
          <p:cNvCxnSpPr>
            <a:cxnSpLocks/>
          </p:cNvCxnSpPr>
          <p:nvPr/>
        </p:nvCxnSpPr>
        <p:spPr>
          <a:xfrm flipH="1">
            <a:off x="6034138" y="841135"/>
            <a:ext cx="12550" cy="82388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 name="Metin kutusu 103">
            <a:extLst>
              <a:ext uri="{FF2B5EF4-FFF2-40B4-BE49-F238E27FC236}">
                <a16:creationId xmlns:a16="http://schemas.microsoft.com/office/drawing/2014/main" id="{0E06DF96-414E-4C8E-96F4-8C195D2C5867}"/>
              </a:ext>
            </a:extLst>
          </p:cNvPr>
          <p:cNvSpPr txBox="1"/>
          <p:nvPr/>
        </p:nvSpPr>
        <p:spPr>
          <a:xfrm>
            <a:off x="5151871" y="726070"/>
            <a:ext cx="364008" cy="246221"/>
          </a:xfrm>
          <a:prstGeom prst="rect">
            <a:avLst/>
          </a:prstGeom>
          <a:noFill/>
        </p:spPr>
        <p:txBody>
          <a:bodyPr wrap="square" rtlCol="0">
            <a:spAutoFit/>
          </a:bodyPr>
          <a:lstStyle/>
          <a:p>
            <a:r>
              <a:rPr lang="tr-TR" sz="1000" noProof="1">
                <a:cs typeface="Arial" panose="020B0604020202020204" pitchFamily="34" charset="0"/>
              </a:rPr>
              <a:t>30</a:t>
            </a:r>
          </a:p>
        </p:txBody>
      </p:sp>
      <p:sp>
        <p:nvSpPr>
          <p:cNvPr id="105" name="Metin kutusu 104">
            <a:extLst>
              <a:ext uri="{FF2B5EF4-FFF2-40B4-BE49-F238E27FC236}">
                <a16:creationId xmlns:a16="http://schemas.microsoft.com/office/drawing/2014/main" id="{BC10E003-31E5-441A-A0C2-B4DA0AAD5E78}"/>
              </a:ext>
            </a:extLst>
          </p:cNvPr>
          <p:cNvSpPr txBox="1"/>
          <p:nvPr/>
        </p:nvSpPr>
        <p:spPr>
          <a:xfrm>
            <a:off x="3482989" y="2779858"/>
            <a:ext cx="3281681" cy="553998"/>
          </a:xfrm>
          <a:prstGeom prst="rect">
            <a:avLst/>
          </a:prstGeom>
          <a:noFill/>
        </p:spPr>
        <p:txBody>
          <a:bodyPr wrap="square" rtlCol="0">
            <a:spAutoFit/>
          </a:bodyPr>
          <a:lstStyle/>
          <a:p>
            <a:r>
              <a:rPr lang="tr-TR" sz="1000" noProof="1"/>
              <a:t>A) 126                                B) 144                                        C) 240</a:t>
            </a:r>
          </a:p>
          <a:p>
            <a:pPr marL="228600" indent="-228600">
              <a:buAutoNum type="alphaUcParenR"/>
            </a:pPr>
            <a:endParaRPr lang="tr-TR" sz="1000" noProof="1"/>
          </a:p>
          <a:p>
            <a:r>
              <a:rPr lang="tr-TR" sz="1000" noProof="1"/>
              <a:t>                      D) 252                                        E) 288</a:t>
            </a:r>
          </a:p>
        </p:txBody>
      </p:sp>
      <p:sp>
        <p:nvSpPr>
          <p:cNvPr id="109" name="Metin kutusu 108">
            <a:extLst>
              <a:ext uri="{FF2B5EF4-FFF2-40B4-BE49-F238E27FC236}">
                <a16:creationId xmlns:a16="http://schemas.microsoft.com/office/drawing/2014/main" id="{2513730B-E720-4158-8477-1A07BBA85FF9}"/>
              </a:ext>
            </a:extLst>
          </p:cNvPr>
          <p:cNvSpPr txBox="1"/>
          <p:nvPr/>
        </p:nvSpPr>
        <p:spPr>
          <a:xfrm>
            <a:off x="3388267" y="6290941"/>
            <a:ext cx="3621317" cy="246221"/>
          </a:xfrm>
          <a:prstGeom prst="rect">
            <a:avLst/>
          </a:prstGeom>
          <a:noFill/>
        </p:spPr>
        <p:txBody>
          <a:bodyPr wrap="square" rtlCol="0">
            <a:spAutoFit/>
          </a:bodyPr>
          <a:lstStyle/>
          <a:p>
            <a:r>
              <a:rPr lang="tr-TR" sz="970" b="1" noProof="1">
                <a:cs typeface="Arial" panose="020B0604020202020204" pitchFamily="34" charset="0"/>
              </a:rPr>
              <a:t>Buna göre, 4.dakikaya kadar oyundaki puanı ne kadar azalmıştır?  </a:t>
            </a:r>
          </a:p>
        </p:txBody>
      </p:sp>
      <p:cxnSp>
        <p:nvCxnSpPr>
          <p:cNvPr id="110" name="Düz Ok Bağlayıcısı 109">
            <a:extLst>
              <a:ext uri="{FF2B5EF4-FFF2-40B4-BE49-F238E27FC236}">
                <a16:creationId xmlns:a16="http://schemas.microsoft.com/office/drawing/2014/main" id="{DA70697F-B185-4399-8D3E-9CB9312DB312}"/>
              </a:ext>
            </a:extLst>
          </p:cNvPr>
          <p:cNvCxnSpPr>
            <a:cxnSpLocks/>
          </p:cNvCxnSpPr>
          <p:nvPr/>
        </p:nvCxnSpPr>
        <p:spPr>
          <a:xfrm flipV="1">
            <a:off x="3662132" y="5189243"/>
            <a:ext cx="12052" cy="11109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Düz Ok Bağlayıcısı 110">
            <a:extLst>
              <a:ext uri="{FF2B5EF4-FFF2-40B4-BE49-F238E27FC236}">
                <a16:creationId xmlns:a16="http://schemas.microsoft.com/office/drawing/2014/main" id="{5036C0E6-94D8-49BC-A5D6-552BD074426A}"/>
              </a:ext>
            </a:extLst>
          </p:cNvPr>
          <p:cNvCxnSpPr>
            <a:cxnSpLocks/>
          </p:cNvCxnSpPr>
          <p:nvPr/>
        </p:nvCxnSpPr>
        <p:spPr>
          <a:xfrm>
            <a:off x="3525344" y="5796136"/>
            <a:ext cx="105578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8" name="Metin kutusu 117">
            <a:extLst>
              <a:ext uri="{FF2B5EF4-FFF2-40B4-BE49-F238E27FC236}">
                <a16:creationId xmlns:a16="http://schemas.microsoft.com/office/drawing/2014/main" id="{A7046F30-B487-4139-8854-E46D2B78D5FE}"/>
              </a:ext>
            </a:extLst>
          </p:cNvPr>
          <p:cNvSpPr txBox="1"/>
          <p:nvPr/>
        </p:nvSpPr>
        <p:spPr>
          <a:xfrm>
            <a:off x="3477668" y="4960686"/>
            <a:ext cx="1674203" cy="230832"/>
          </a:xfrm>
          <a:prstGeom prst="rect">
            <a:avLst/>
          </a:prstGeom>
          <a:noFill/>
        </p:spPr>
        <p:txBody>
          <a:bodyPr wrap="square" rtlCol="0">
            <a:spAutoFit/>
          </a:bodyPr>
          <a:lstStyle/>
          <a:p>
            <a:r>
              <a:rPr lang="tr-TR" sz="900" noProof="1">
                <a:cs typeface="Arial" panose="020B0604020202020204" pitchFamily="34" charset="0"/>
              </a:rPr>
              <a:t>Oyundaki Puan (sayısal değer)</a:t>
            </a:r>
          </a:p>
        </p:txBody>
      </p:sp>
      <p:sp>
        <p:nvSpPr>
          <p:cNvPr id="123" name="Metin kutusu 122">
            <a:extLst>
              <a:ext uri="{FF2B5EF4-FFF2-40B4-BE49-F238E27FC236}">
                <a16:creationId xmlns:a16="http://schemas.microsoft.com/office/drawing/2014/main" id="{B6A16489-EDD6-4F0F-BD6B-839475316F8F}"/>
              </a:ext>
            </a:extLst>
          </p:cNvPr>
          <p:cNvSpPr txBox="1"/>
          <p:nvPr/>
        </p:nvSpPr>
        <p:spPr>
          <a:xfrm>
            <a:off x="3436324" y="5360029"/>
            <a:ext cx="326059" cy="200055"/>
          </a:xfrm>
          <a:prstGeom prst="rect">
            <a:avLst/>
          </a:prstGeom>
          <a:noFill/>
        </p:spPr>
        <p:txBody>
          <a:bodyPr wrap="square" rtlCol="0">
            <a:spAutoFit/>
          </a:bodyPr>
          <a:lstStyle/>
          <a:p>
            <a:r>
              <a:rPr lang="tr-TR" sz="700" noProof="1">
                <a:cs typeface="Arial" panose="020B0604020202020204" pitchFamily="34" charset="0"/>
              </a:rPr>
              <a:t>20</a:t>
            </a:r>
          </a:p>
        </p:txBody>
      </p:sp>
      <p:sp>
        <p:nvSpPr>
          <p:cNvPr id="124" name="Metin kutusu 123">
            <a:extLst>
              <a:ext uri="{FF2B5EF4-FFF2-40B4-BE49-F238E27FC236}">
                <a16:creationId xmlns:a16="http://schemas.microsoft.com/office/drawing/2014/main" id="{BEB85865-4A32-412B-B316-2B09DA47B02B}"/>
              </a:ext>
            </a:extLst>
          </p:cNvPr>
          <p:cNvSpPr txBox="1"/>
          <p:nvPr/>
        </p:nvSpPr>
        <p:spPr>
          <a:xfrm>
            <a:off x="3415986" y="6097481"/>
            <a:ext cx="326059" cy="200055"/>
          </a:xfrm>
          <a:prstGeom prst="rect">
            <a:avLst/>
          </a:prstGeom>
          <a:noFill/>
        </p:spPr>
        <p:txBody>
          <a:bodyPr wrap="square" rtlCol="0">
            <a:spAutoFit/>
          </a:bodyPr>
          <a:lstStyle/>
          <a:p>
            <a:r>
              <a:rPr lang="tr-TR" sz="700" noProof="1">
                <a:cs typeface="Arial" panose="020B0604020202020204" pitchFamily="34" charset="0"/>
              </a:rPr>
              <a:t>-50</a:t>
            </a:r>
          </a:p>
        </p:txBody>
      </p:sp>
      <p:cxnSp>
        <p:nvCxnSpPr>
          <p:cNvPr id="133" name="Düz Bağlayıcı 132">
            <a:extLst>
              <a:ext uri="{FF2B5EF4-FFF2-40B4-BE49-F238E27FC236}">
                <a16:creationId xmlns:a16="http://schemas.microsoft.com/office/drawing/2014/main" id="{A4CFBCF2-FE23-4F63-A960-9FF7BE55CBAD}"/>
              </a:ext>
            </a:extLst>
          </p:cNvPr>
          <p:cNvCxnSpPr>
            <a:cxnSpLocks/>
          </p:cNvCxnSpPr>
          <p:nvPr/>
        </p:nvCxnSpPr>
        <p:spPr>
          <a:xfrm>
            <a:off x="3673363" y="5468955"/>
            <a:ext cx="675169" cy="749400"/>
          </a:xfrm>
          <a:prstGeom prst="line">
            <a:avLst/>
          </a:prstGeom>
          <a:ln>
            <a:solidFill>
              <a:schemeClr val="accent6">
                <a:lumMod val="75000"/>
              </a:schemeClr>
            </a:solidFill>
          </a:ln>
        </p:spPr>
        <p:style>
          <a:lnRef idx="1">
            <a:schemeClr val="accent2"/>
          </a:lnRef>
          <a:fillRef idx="0">
            <a:schemeClr val="accent2"/>
          </a:fillRef>
          <a:effectRef idx="0">
            <a:schemeClr val="accent2"/>
          </a:effectRef>
          <a:fontRef idx="minor">
            <a:schemeClr val="tx1"/>
          </a:fontRef>
        </p:style>
      </p:cxnSp>
      <p:sp>
        <p:nvSpPr>
          <p:cNvPr id="141" name="Metin kutusu 140">
            <a:extLst>
              <a:ext uri="{FF2B5EF4-FFF2-40B4-BE49-F238E27FC236}">
                <a16:creationId xmlns:a16="http://schemas.microsoft.com/office/drawing/2014/main" id="{096A3CBA-8FE7-499C-AD72-0D55C72954EA}"/>
              </a:ext>
            </a:extLst>
          </p:cNvPr>
          <p:cNvSpPr txBox="1"/>
          <p:nvPr/>
        </p:nvSpPr>
        <p:spPr>
          <a:xfrm>
            <a:off x="3864949" y="5636475"/>
            <a:ext cx="326059" cy="200055"/>
          </a:xfrm>
          <a:prstGeom prst="rect">
            <a:avLst/>
          </a:prstGeom>
          <a:noFill/>
        </p:spPr>
        <p:txBody>
          <a:bodyPr wrap="square" rtlCol="0">
            <a:spAutoFit/>
          </a:bodyPr>
          <a:lstStyle/>
          <a:p>
            <a:r>
              <a:rPr lang="tr-TR" sz="700" noProof="1">
                <a:cs typeface="Arial" panose="020B0604020202020204" pitchFamily="34" charset="0"/>
              </a:rPr>
              <a:t>3</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63401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5.D    6.E   7.D    8.C</a:t>
            </a:r>
          </a:p>
        </p:txBody>
      </p:sp>
      <p:pic>
        <p:nvPicPr>
          <p:cNvPr id="8" name="Resim 7">
            <a:extLst>
              <a:ext uri="{FF2B5EF4-FFF2-40B4-BE49-F238E27FC236}">
                <a16:creationId xmlns:a16="http://schemas.microsoft.com/office/drawing/2014/main" id="{25695B5A-858A-4CA8-863A-251D6AF1529F}"/>
              </a:ext>
            </a:extLst>
          </p:cNvPr>
          <p:cNvPicPr>
            <a:picLocks noChangeAspect="1"/>
          </p:cNvPicPr>
          <p:nvPr/>
        </p:nvPicPr>
        <p:blipFill>
          <a:blip r:embed="rId8" cstate="print">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1346765" y="1094844"/>
            <a:ext cx="570173" cy="570173"/>
          </a:xfrm>
          <a:prstGeom prst="rect">
            <a:avLst/>
          </a:prstGeom>
        </p:spPr>
      </p:pic>
      <p:sp>
        <p:nvSpPr>
          <p:cNvPr id="119" name="Metin kutusu 118">
            <a:extLst>
              <a:ext uri="{FF2B5EF4-FFF2-40B4-BE49-F238E27FC236}">
                <a16:creationId xmlns:a16="http://schemas.microsoft.com/office/drawing/2014/main" id="{356B27F7-E514-4938-B5CD-0E83FE80BB42}"/>
              </a:ext>
            </a:extLst>
          </p:cNvPr>
          <p:cNvSpPr txBox="1"/>
          <p:nvPr/>
        </p:nvSpPr>
        <p:spPr>
          <a:xfrm>
            <a:off x="-7356" y="5994252"/>
            <a:ext cx="360633" cy="246221"/>
          </a:xfrm>
          <a:prstGeom prst="rect">
            <a:avLst/>
          </a:prstGeom>
          <a:noFill/>
        </p:spPr>
        <p:txBody>
          <a:bodyPr wrap="square" rtlCol="0">
            <a:spAutoFit/>
          </a:bodyPr>
          <a:lstStyle/>
          <a:p>
            <a:r>
              <a:rPr lang="tr-TR" sz="1000" noProof="1">
                <a:cs typeface="Arial" panose="020B0604020202020204" pitchFamily="34" charset="0"/>
              </a:rPr>
              <a:t>-20</a:t>
            </a:r>
          </a:p>
        </p:txBody>
      </p:sp>
      <p:sp>
        <p:nvSpPr>
          <p:cNvPr id="129" name="Metin kutusu 128">
            <a:extLst>
              <a:ext uri="{FF2B5EF4-FFF2-40B4-BE49-F238E27FC236}">
                <a16:creationId xmlns:a16="http://schemas.microsoft.com/office/drawing/2014/main" id="{C9C31F13-8031-4B26-B75E-B539A6F05251}"/>
              </a:ext>
            </a:extLst>
          </p:cNvPr>
          <p:cNvSpPr txBox="1"/>
          <p:nvPr/>
        </p:nvSpPr>
        <p:spPr>
          <a:xfrm>
            <a:off x="32020" y="7778012"/>
            <a:ext cx="3381285" cy="553998"/>
          </a:xfrm>
          <a:prstGeom prst="rect">
            <a:avLst/>
          </a:prstGeom>
          <a:noFill/>
        </p:spPr>
        <p:txBody>
          <a:bodyPr wrap="square" rtlCol="0">
            <a:spAutoFit/>
          </a:bodyPr>
          <a:lstStyle/>
          <a:p>
            <a:r>
              <a:rPr lang="tr-TR" sz="1000" noProof="1"/>
              <a:t>A) 184                                      B) 88                                        C) 120</a:t>
            </a:r>
          </a:p>
          <a:p>
            <a:pPr marL="228600" indent="-228600">
              <a:buAutoNum type="alphaUcParenR"/>
            </a:pPr>
            <a:endParaRPr lang="tr-TR" sz="1000" noProof="1"/>
          </a:p>
          <a:p>
            <a:r>
              <a:rPr lang="tr-TR" sz="1000" noProof="1"/>
              <a:t>                      D) 212                                        E) 242</a:t>
            </a:r>
          </a:p>
        </p:txBody>
      </p:sp>
      <p:sp>
        <p:nvSpPr>
          <p:cNvPr id="132" name="Metin kutusu 131">
            <a:extLst>
              <a:ext uri="{FF2B5EF4-FFF2-40B4-BE49-F238E27FC236}">
                <a16:creationId xmlns:a16="http://schemas.microsoft.com/office/drawing/2014/main" id="{A7216665-341A-4689-A42F-7612D264A460}"/>
              </a:ext>
            </a:extLst>
          </p:cNvPr>
          <p:cNvSpPr txBox="1"/>
          <p:nvPr/>
        </p:nvSpPr>
        <p:spPr>
          <a:xfrm>
            <a:off x="4545048" y="5681105"/>
            <a:ext cx="1674203" cy="230832"/>
          </a:xfrm>
          <a:prstGeom prst="rect">
            <a:avLst/>
          </a:prstGeom>
          <a:noFill/>
        </p:spPr>
        <p:txBody>
          <a:bodyPr wrap="square" rtlCol="0">
            <a:spAutoFit/>
          </a:bodyPr>
          <a:lstStyle/>
          <a:p>
            <a:r>
              <a:rPr lang="tr-TR" sz="900" noProof="1">
                <a:cs typeface="Arial" panose="020B0604020202020204" pitchFamily="34" charset="0"/>
              </a:rPr>
              <a:t>Oyun Süresi (dakika)</a:t>
            </a:r>
          </a:p>
        </p:txBody>
      </p:sp>
      <p:sp>
        <p:nvSpPr>
          <p:cNvPr id="134" name="Metin kutusu 133">
            <a:extLst>
              <a:ext uri="{FF2B5EF4-FFF2-40B4-BE49-F238E27FC236}">
                <a16:creationId xmlns:a16="http://schemas.microsoft.com/office/drawing/2014/main" id="{85FBA1D3-4BF0-4D9C-8834-1E6B27665314}"/>
              </a:ext>
            </a:extLst>
          </p:cNvPr>
          <p:cNvSpPr txBox="1"/>
          <p:nvPr/>
        </p:nvSpPr>
        <p:spPr>
          <a:xfrm>
            <a:off x="3525344" y="4720389"/>
            <a:ext cx="3579282" cy="246221"/>
          </a:xfrm>
          <a:prstGeom prst="rect">
            <a:avLst/>
          </a:prstGeom>
          <a:noFill/>
        </p:spPr>
        <p:txBody>
          <a:bodyPr wrap="square" rtlCol="0">
            <a:spAutoFit/>
          </a:bodyPr>
          <a:lstStyle/>
          <a:p>
            <a:r>
              <a:rPr lang="tr-TR" sz="1000" noProof="1">
                <a:cs typeface="Arial" panose="020B0604020202020204" pitchFamily="34" charset="0"/>
              </a:rPr>
              <a:t>Aşağıda bir oyundaki puan durumu zamana göre gösterilmiştir.</a:t>
            </a:r>
          </a:p>
        </p:txBody>
      </p:sp>
      <p:sp>
        <p:nvSpPr>
          <p:cNvPr id="135" name="Metin kutusu 134">
            <a:extLst>
              <a:ext uri="{FF2B5EF4-FFF2-40B4-BE49-F238E27FC236}">
                <a16:creationId xmlns:a16="http://schemas.microsoft.com/office/drawing/2014/main" id="{25F7BE8D-D680-49FD-9804-274B2670F32D}"/>
              </a:ext>
            </a:extLst>
          </p:cNvPr>
          <p:cNvSpPr txBox="1"/>
          <p:nvPr/>
        </p:nvSpPr>
        <p:spPr>
          <a:xfrm>
            <a:off x="4227160" y="5631962"/>
            <a:ext cx="326059" cy="200055"/>
          </a:xfrm>
          <a:prstGeom prst="rect">
            <a:avLst/>
          </a:prstGeom>
          <a:noFill/>
        </p:spPr>
        <p:txBody>
          <a:bodyPr wrap="square" rtlCol="0">
            <a:spAutoFit/>
          </a:bodyPr>
          <a:lstStyle/>
          <a:p>
            <a:r>
              <a:rPr lang="tr-TR" sz="700" noProof="1">
                <a:cs typeface="Arial" panose="020B0604020202020204" pitchFamily="34" charset="0"/>
              </a:rPr>
              <a:t>4</a:t>
            </a:r>
          </a:p>
        </p:txBody>
      </p:sp>
      <p:cxnSp>
        <p:nvCxnSpPr>
          <p:cNvPr id="136" name="Düz Bağlayıcı 135">
            <a:extLst>
              <a:ext uri="{FF2B5EF4-FFF2-40B4-BE49-F238E27FC236}">
                <a16:creationId xmlns:a16="http://schemas.microsoft.com/office/drawing/2014/main" id="{EE300A31-4105-4A83-B070-FC67D199191E}"/>
              </a:ext>
            </a:extLst>
          </p:cNvPr>
          <p:cNvCxnSpPr>
            <a:cxnSpLocks/>
          </p:cNvCxnSpPr>
          <p:nvPr/>
        </p:nvCxnSpPr>
        <p:spPr>
          <a:xfrm>
            <a:off x="4348102" y="5792393"/>
            <a:ext cx="0" cy="425156"/>
          </a:xfrm>
          <a:prstGeom prst="line">
            <a:avLst/>
          </a:prstGeom>
          <a:ln>
            <a:solidFill>
              <a:srgbClr val="C00000"/>
            </a:solidFill>
            <a:prstDash val="sysDash"/>
          </a:ln>
        </p:spPr>
        <p:style>
          <a:lnRef idx="1">
            <a:schemeClr val="accent2"/>
          </a:lnRef>
          <a:fillRef idx="0">
            <a:schemeClr val="accent2"/>
          </a:fillRef>
          <a:effectRef idx="0">
            <a:schemeClr val="accent2"/>
          </a:effectRef>
          <a:fontRef idx="minor">
            <a:schemeClr val="tx1"/>
          </a:fontRef>
        </p:style>
      </p:cxnSp>
      <p:cxnSp>
        <p:nvCxnSpPr>
          <p:cNvPr id="137" name="Düz Bağlayıcı 136">
            <a:extLst>
              <a:ext uri="{FF2B5EF4-FFF2-40B4-BE49-F238E27FC236}">
                <a16:creationId xmlns:a16="http://schemas.microsoft.com/office/drawing/2014/main" id="{8FA6446C-5523-42C0-947B-6403C7AA6CE1}"/>
              </a:ext>
            </a:extLst>
          </p:cNvPr>
          <p:cNvCxnSpPr>
            <a:cxnSpLocks/>
          </p:cNvCxnSpPr>
          <p:nvPr/>
        </p:nvCxnSpPr>
        <p:spPr>
          <a:xfrm>
            <a:off x="3662132" y="6217549"/>
            <a:ext cx="685970" cy="0"/>
          </a:xfrm>
          <a:prstGeom prst="line">
            <a:avLst/>
          </a:prstGeom>
          <a:ln>
            <a:solidFill>
              <a:srgbClr val="C00000"/>
            </a:solidFill>
            <a:prstDash val="sysDash"/>
          </a:ln>
        </p:spPr>
        <p:style>
          <a:lnRef idx="1">
            <a:schemeClr val="accent2"/>
          </a:lnRef>
          <a:fillRef idx="0">
            <a:schemeClr val="accent2"/>
          </a:fillRef>
          <a:effectRef idx="0">
            <a:schemeClr val="accent2"/>
          </a:effectRef>
          <a:fontRef idx="minor">
            <a:schemeClr val="tx1"/>
          </a:fontRef>
        </p:style>
      </p:cxnSp>
      <p:sp>
        <p:nvSpPr>
          <p:cNvPr id="138" name="Metin kutusu 137">
            <a:extLst>
              <a:ext uri="{FF2B5EF4-FFF2-40B4-BE49-F238E27FC236}">
                <a16:creationId xmlns:a16="http://schemas.microsoft.com/office/drawing/2014/main" id="{13699398-C1D9-465B-8CD4-E9D1E548E7C4}"/>
              </a:ext>
            </a:extLst>
          </p:cNvPr>
          <p:cNvSpPr txBox="1"/>
          <p:nvPr/>
        </p:nvSpPr>
        <p:spPr>
          <a:xfrm>
            <a:off x="3463320" y="6520877"/>
            <a:ext cx="3326743" cy="553998"/>
          </a:xfrm>
          <a:prstGeom prst="rect">
            <a:avLst/>
          </a:prstGeom>
          <a:noFill/>
        </p:spPr>
        <p:txBody>
          <a:bodyPr wrap="square" rtlCol="0">
            <a:spAutoFit/>
          </a:bodyPr>
          <a:lstStyle/>
          <a:p>
            <a:r>
              <a:rPr lang="tr-TR" sz="1000" noProof="1"/>
              <a:t>A) 20                                      B) 50                                        C) 70</a:t>
            </a:r>
          </a:p>
          <a:p>
            <a:pPr marL="228600" indent="-228600">
              <a:buAutoNum type="alphaUcParenR"/>
            </a:pPr>
            <a:endParaRPr lang="tr-TR" sz="1000" noProof="1"/>
          </a:p>
          <a:p>
            <a:r>
              <a:rPr lang="tr-TR" sz="1000" noProof="1"/>
              <a:t>                      D) 60                                        E) 200</a:t>
            </a:r>
          </a:p>
        </p:txBody>
      </p:sp>
    </p:spTree>
    <p:extLst>
      <p:ext uri="{BB962C8B-B14F-4D97-AF65-F5344CB8AC3E}">
        <p14:creationId xmlns:p14="http://schemas.microsoft.com/office/powerpoint/2010/main" val="34954161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Grafik Problemleri</a:t>
            </a:r>
          </a:p>
          <a:p>
            <a:r>
              <a:rPr lang="tr-TR" sz="1000" b="1" noProof="1">
                <a:latin typeface="+mj-lt"/>
                <a:cs typeface="Arial" panose="020B0604020202020204" pitchFamily="34" charset="0"/>
              </a:rPr>
              <a:t>      Doğrusal Grafikler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5"/>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739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63760" y="4646341"/>
            <a:ext cx="36666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50653" y="4697544"/>
            <a:ext cx="360592"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52457" y="2219340"/>
            <a:ext cx="3408599" cy="400110"/>
          </a:xfrm>
          <a:prstGeom prst="rect">
            <a:avLst/>
          </a:prstGeom>
          <a:noFill/>
        </p:spPr>
        <p:txBody>
          <a:bodyPr wrap="square" rtlCol="0">
            <a:spAutoFit/>
          </a:bodyPr>
          <a:lstStyle/>
          <a:p>
            <a:r>
              <a:rPr lang="tr-TR" sz="1000" b="1" noProof="1">
                <a:cs typeface="Arial" panose="020B0604020202020204" pitchFamily="34" charset="0"/>
              </a:rPr>
              <a:t>Merve mumun grafikten okuduğu üzere sabit yandığını anlamıştır. Buna göre mumun tamamen kaç dakikada yanar?</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434228" y="2053199"/>
            <a:ext cx="3423771" cy="861774"/>
          </a:xfrm>
          <a:prstGeom prst="rect">
            <a:avLst/>
          </a:prstGeom>
          <a:noFill/>
        </p:spPr>
        <p:txBody>
          <a:bodyPr wrap="square" rtlCol="0">
            <a:spAutoFit/>
          </a:bodyPr>
          <a:lstStyle/>
          <a:p>
            <a:r>
              <a:rPr lang="tr-TR" sz="1000" noProof="1">
                <a:cs typeface="Arial" panose="020B0604020202020204" pitchFamily="34" charset="0"/>
              </a:rPr>
              <a:t>Yukarıdaki birinci grafik aracın kalan yakıt miktarını, ikinci grafikte ise aldığı yolun zamanla ilişkisi belirtilmiştir. </a:t>
            </a:r>
            <a:br>
              <a:rPr lang="tr-TR" sz="1000" noProof="1">
                <a:cs typeface="Arial" panose="020B0604020202020204" pitchFamily="34" charset="0"/>
              </a:rPr>
            </a:br>
            <a:endParaRPr lang="tr-TR" sz="1000" noProof="1">
              <a:cs typeface="Arial" panose="020B0604020202020204" pitchFamily="34" charset="0"/>
            </a:endParaRPr>
          </a:p>
          <a:p>
            <a:r>
              <a:rPr lang="tr-TR" sz="1000" b="1" noProof="1">
                <a:cs typeface="Arial" panose="020B0604020202020204" pitchFamily="34" charset="0"/>
              </a:rPr>
              <a:t>Buna göre ; aynı koşullardaki aynı araç, 120 litre benzin ile hiç durmadan devam ettiği takdirde kaç km yol alabilir?</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cxnSp>
        <p:nvCxnSpPr>
          <p:cNvPr id="7" name="Düz Ok Bağlayıcısı 6">
            <a:extLst>
              <a:ext uri="{FF2B5EF4-FFF2-40B4-BE49-F238E27FC236}">
                <a16:creationId xmlns:a16="http://schemas.microsoft.com/office/drawing/2014/main" id="{82F5415A-47E3-4E28-9C1B-6B165E1FCBF7}"/>
              </a:ext>
            </a:extLst>
          </p:cNvPr>
          <p:cNvCxnSpPr/>
          <p:nvPr/>
        </p:nvCxnSpPr>
        <p:spPr>
          <a:xfrm flipV="1">
            <a:off x="310383" y="1117214"/>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Düz Ok Bağlayıcısı 12">
            <a:extLst>
              <a:ext uri="{FF2B5EF4-FFF2-40B4-BE49-F238E27FC236}">
                <a16:creationId xmlns:a16="http://schemas.microsoft.com/office/drawing/2014/main" id="{E49C2131-D0CB-457B-BF88-7BA92CED56A4}"/>
              </a:ext>
            </a:extLst>
          </p:cNvPr>
          <p:cNvCxnSpPr/>
          <p:nvPr/>
        </p:nvCxnSpPr>
        <p:spPr>
          <a:xfrm>
            <a:off x="161542" y="2085922"/>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400110"/>
          </a:xfrm>
          <a:prstGeom prst="rect">
            <a:avLst/>
          </a:prstGeom>
          <a:noFill/>
        </p:spPr>
        <p:txBody>
          <a:bodyPr wrap="square" rtlCol="0">
            <a:spAutoFit/>
          </a:bodyPr>
          <a:lstStyle/>
          <a:p>
            <a:r>
              <a:rPr lang="tr-TR" sz="1000" noProof="1">
                <a:cs typeface="Arial" panose="020B0604020202020204" pitchFamily="34" charset="0"/>
              </a:rPr>
              <a:t>Aşağıda yanan bir mumun boyundaki değişim zamana göre doğrusal grafikle gösterilmiştir.</a:t>
            </a:r>
          </a:p>
        </p:txBody>
      </p:sp>
      <p:sp>
        <p:nvSpPr>
          <p:cNvPr id="48" name="Metin kutusu 47">
            <a:extLst>
              <a:ext uri="{FF2B5EF4-FFF2-40B4-BE49-F238E27FC236}">
                <a16:creationId xmlns:a16="http://schemas.microsoft.com/office/drawing/2014/main" id="{2C948837-B8E2-4ADD-8A0E-FD49AA51C358}"/>
              </a:ext>
            </a:extLst>
          </p:cNvPr>
          <p:cNvSpPr txBox="1"/>
          <p:nvPr/>
        </p:nvSpPr>
        <p:spPr>
          <a:xfrm>
            <a:off x="1318495" y="1939628"/>
            <a:ext cx="1078571" cy="246221"/>
          </a:xfrm>
          <a:prstGeom prst="rect">
            <a:avLst/>
          </a:prstGeom>
          <a:noFill/>
        </p:spPr>
        <p:txBody>
          <a:bodyPr wrap="square" rtlCol="0">
            <a:spAutoFit/>
          </a:bodyPr>
          <a:lstStyle/>
          <a:p>
            <a:r>
              <a:rPr lang="tr-TR" sz="1000" noProof="1">
                <a:cs typeface="Arial" panose="020B0604020202020204" pitchFamily="34" charset="0"/>
              </a:rPr>
              <a:t>Zaman (dakika)</a:t>
            </a:r>
          </a:p>
        </p:txBody>
      </p:sp>
      <p:sp>
        <p:nvSpPr>
          <p:cNvPr id="61" name="Metin kutusu 60">
            <a:extLst>
              <a:ext uri="{FF2B5EF4-FFF2-40B4-BE49-F238E27FC236}">
                <a16:creationId xmlns:a16="http://schemas.microsoft.com/office/drawing/2014/main" id="{425D974C-D979-4C8F-9C87-4AE8F1AF6165}"/>
              </a:ext>
            </a:extLst>
          </p:cNvPr>
          <p:cNvSpPr txBox="1"/>
          <p:nvPr/>
        </p:nvSpPr>
        <p:spPr>
          <a:xfrm>
            <a:off x="179507" y="907707"/>
            <a:ext cx="1305276" cy="246221"/>
          </a:xfrm>
          <a:prstGeom prst="rect">
            <a:avLst/>
          </a:prstGeom>
          <a:noFill/>
        </p:spPr>
        <p:txBody>
          <a:bodyPr wrap="square" rtlCol="0">
            <a:spAutoFit/>
          </a:bodyPr>
          <a:lstStyle/>
          <a:p>
            <a:r>
              <a:rPr lang="tr-TR" sz="1000" noProof="1">
                <a:cs typeface="Arial" panose="020B0604020202020204" pitchFamily="34" charset="0"/>
              </a:rPr>
              <a:t>Boy (cm)</a:t>
            </a:r>
          </a:p>
        </p:txBody>
      </p:sp>
      <p:cxnSp>
        <p:nvCxnSpPr>
          <p:cNvPr id="63" name="Düz Ok Bağlayıcısı 62">
            <a:extLst>
              <a:ext uri="{FF2B5EF4-FFF2-40B4-BE49-F238E27FC236}">
                <a16:creationId xmlns:a16="http://schemas.microsoft.com/office/drawing/2014/main" id="{B4EF2216-6DE0-4DE3-B382-B143BA5BD6B4}"/>
              </a:ext>
            </a:extLst>
          </p:cNvPr>
          <p:cNvCxnSpPr/>
          <p:nvPr/>
        </p:nvCxnSpPr>
        <p:spPr>
          <a:xfrm flipV="1">
            <a:off x="3713381" y="676549"/>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Düz Ok Bağlayıcısı 64">
            <a:extLst>
              <a:ext uri="{FF2B5EF4-FFF2-40B4-BE49-F238E27FC236}">
                <a16:creationId xmlns:a16="http://schemas.microsoft.com/office/drawing/2014/main" id="{EECE3D84-2850-43AA-B972-09A6F3DF63B8}"/>
              </a:ext>
            </a:extLst>
          </p:cNvPr>
          <p:cNvCxnSpPr/>
          <p:nvPr/>
        </p:nvCxnSpPr>
        <p:spPr>
          <a:xfrm>
            <a:off x="3564540" y="1645257"/>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Metin kutusu 65">
            <a:extLst>
              <a:ext uri="{FF2B5EF4-FFF2-40B4-BE49-F238E27FC236}">
                <a16:creationId xmlns:a16="http://schemas.microsoft.com/office/drawing/2014/main" id="{5A71217E-9B43-440B-9F06-FE26C3FA4F8D}"/>
              </a:ext>
            </a:extLst>
          </p:cNvPr>
          <p:cNvSpPr txBox="1"/>
          <p:nvPr/>
        </p:nvSpPr>
        <p:spPr>
          <a:xfrm>
            <a:off x="4656055" y="1527099"/>
            <a:ext cx="568219" cy="400110"/>
          </a:xfrm>
          <a:prstGeom prst="rect">
            <a:avLst/>
          </a:prstGeom>
          <a:noFill/>
        </p:spPr>
        <p:txBody>
          <a:bodyPr wrap="square" rtlCol="0">
            <a:spAutoFit/>
          </a:bodyPr>
          <a:lstStyle/>
          <a:p>
            <a:r>
              <a:rPr lang="tr-TR" sz="1000" noProof="1">
                <a:cs typeface="Arial" panose="020B0604020202020204" pitchFamily="34" charset="0"/>
              </a:rPr>
              <a:t>Zaman </a:t>
            </a:r>
            <a:br>
              <a:rPr lang="tr-TR" sz="1000" noProof="1">
                <a:cs typeface="Arial" panose="020B0604020202020204" pitchFamily="34" charset="0"/>
              </a:rPr>
            </a:br>
            <a:r>
              <a:rPr lang="tr-TR" sz="1000" noProof="1">
                <a:cs typeface="Arial" panose="020B0604020202020204" pitchFamily="34" charset="0"/>
              </a:rPr>
              <a:t>(saat)</a:t>
            </a:r>
          </a:p>
        </p:txBody>
      </p:sp>
      <p:sp>
        <p:nvSpPr>
          <p:cNvPr id="67" name="Metin kutusu 66">
            <a:extLst>
              <a:ext uri="{FF2B5EF4-FFF2-40B4-BE49-F238E27FC236}">
                <a16:creationId xmlns:a16="http://schemas.microsoft.com/office/drawing/2014/main" id="{6076B4A8-55E5-4CFE-BD9B-21DE1B21AF90}"/>
              </a:ext>
            </a:extLst>
          </p:cNvPr>
          <p:cNvSpPr txBox="1"/>
          <p:nvPr/>
        </p:nvSpPr>
        <p:spPr>
          <a:xfrm>
            <a:off x="3549839" y="466475"/>
            <a:ext cx="1293244" cy="246221"/>
          </a:xfrm>
          <a:prstGeom prst="rect">
            <a:avLst/>
          </a:prstGeom>
          <a:noFill/>
        </p:spPr>
        <p:txBody>
          <a:bodyPr wrap="square" rtlCol="0">
            <a:spAutoFit/>
          </a:bodyPr>
          <a:lstStyle/>
          <a:p>
            <a:r>
              <a:rPr lang="tr-TR" sz="1000" noProof="1">
                <a:cs typeface="Arial" panose="020B0604020202020204" pitchFamily="34" charset="0"/>
              </a:rPr>
              <a:t>Yakıt Miktarı (litre)</a:t>
            </a:r>
          </a:p>
        </p:txBody>
      </p:sp>
      <p:cxnSp>
        <p:nvCxnSpPr>
          <p:cNvPr id="17" name="Düz Bağlayıcı 16">
            <a:extLst>
              <a:ext uri="{FF2B5EF4-FFF2-40B4-BE49-F238E27FC236}">
                <a16:creationId xmlns:a16="http://schemas.microsoft.com/office/drawing/2014/main" id="{90954ED6-3F61-4B87-9015-F2ECFAC7B459}"/>
              </a:ext>
            </a:extLst>
          </p:cNvPr>
          <p:cNvCxnSpPr>
            <a:cxnSpLocks/>
          </p:cNvCxnSpPr>
          <p:nvPr/>
        </p:nvCxnSpPr>
        <p:spPr>
          <a:xfrm>
            <a:off x="309139" y="1282204"/>
            <a:ext cx="598435" cy="486487"/>
          </a:xfrm>
          <a:prstGeom prst="line">
            <a:avLst/>
          </a:prstGeom>
        </p:spPr>
        <p:style>
          <a:lnRef idx="1">
            <a:schemeClr val="accent4"/>
          </a:lnRef>
          <a:fillRef idx="0">
            <a:schemeClr val="accent4"/>
          </a:fillRef>
          <a:effectRef idx="0">
            <a:schemeClr val="accent4"/>
          </a:effectRef>
          <a:fontRef idx="minor">
            <a:schemeClr val="tx1"/>
          </a:fontRef>
        </p:style>
      </p:cxnSp>
      <p:sp>
        <p:nvSpPr>
          <p:cNvPr id="68" name="Metin kutusu 67">
            <a:extLst>
              <a:ext uri="{FF2B5EF4-FFF2-40B4-BE49-F238E27FC236}">
                <a16:creationId xmlns:a16="http://schemas.microsoft.com/office/drawing/2014/main" id="{0328FF27-198A-4831-A1D3-1C5219F7FD40}"/>
              </a:ext>
            </a:extLst>
          </p:cNvPr>
          <p:cNvSpPr txBox="1"/>
          <p:nvPr/>
        </p:nvSpPr>
        <p:spPr>
          <a:xfrm>
            <a:off x="776088" y="2035355"/>
            <a:ext cx="337520" cy="246221"/>
          </a:xfrm>
          <a:prstGeom prst="rect">
            <a:avLst/>
          </a:prstGeom>
          <a:noFill/>
        </p:spPr>
        <p:txBody>
          <a:bodyPr wrap="square" rtlCol="0">
            <a:spAutoFit/>
          </a:bodyPr>
          <a:lstStyle/>
          <a:p>
            <a:r>
              <a:rPr lang="tr-TR" sz="1000" noProof="1">
                <a:cs typeface="Arial" panose="020B0604020202020204" pitchFamily="34" charset="0"/>
              </a:rPr>
              <a:t>10</a:t>
            </a:r>
          </a:p>
        </p:txBody>
      </p:sp>
      <p:sp>
        <p:nvSpPr>
          <p:cNvPr id="69" name="Metin kutusu 68">
            <a:extLst>
              <a:ext uri="{FF2B5EF4-FFF2-40B4-BE49-F238E27FC236}">
                <a16:creationId xmlns:a16="http://schemas.microsoft.com/office/drawing/2014/main" id="{96E5240D-0727-48C6-9657-68BA2A145B26}"/>
              </a:ext>
            </a:extLst>
          </p:cNvPr>
          <p:cNvSpPr txBox="1"/>
          <p:nvPr/>
        </p:nvSpPr>
        <p:spPr>
          <a:xfrm>
            <a:off x="1975" y="1642328"/>
            <a:ext cx="465044" cy="246221"/>
          </a:xfrm>
          <a:prstGeom prst="rect">
            <a:avLst/>
          </a:prstGeom>
          <a:noFill/>
        </p:spPr>
        <p:txBody>
          <a:bodyPr wrap="square" rtlCol="0">
            <a:spAutoFit/>
          </a:bodyPr>
          <a:lstStyle/>
          <a:p>
            <a:r>
              <a:rPr lang="tr-TR" sz="1000" noProof="1">
                <a:cs typeface="Arial" panose="020B0604020202020204" pitchFamily="34" charset="0"/>
              </a:rPr>
              <a:t>9,6</a:t>
            </a:r>
          </a:p>
        </p:txBody>
      </p:sp>
      <p:sp>
        <p:nvSpPr>
          <p:cNvPr id="70" name="Metin kutusu 69">
            <a:extLst>
              <a:ext uri="{FF2B5EF4-FFF2-40B4-BE49-F238E27FC236}">
                <a16:creationId xmlns:a16="http://schemas.microsoft.com/office/drawing/2014/main" id="{E51A6399-73C2-49AE-8854-23532B9AA754}"/>
              </a:ext>
            </a:extLst>
          </p:cNvPr>
          <p:cNvSpPr txBox="1"/>
          <p:nvPr/>
        </p:nvSpPr>
        <p:spPr>
          <a:xfrm>
            <a:off x="19943" y="1135901"/>
            <a:ext cx="397924" cy="246221"/>
          </a:xfrm>
          <a:prstGeom prst="rect">
            <a:avLst/>
          </a:prstGeom>
          <a:noFill/>
        </p:spPr>
        <p:txBody>
          <a:bodyPr wrap="square" rtlCol="0">
            <a:spAutoFit/>
          </a:bodyPr>
          <a:lstStyle/>
          <a:p>
            <a:r>
              <a:rPr lang="tr-TR" sz="1000" noProof="1">
                <a:cs typeface="Arial" panose="020B0604020202020204" pitchFamily="34" charset="0"/>
              </a:rPr>
              <a:t>12</a:t>
            </a:r>
          </a:p>
        </p:txBody>
      </p:sp>
      <p:cxnSp>
        <p:nvCxnSpPr>
          <p:cNvPr id="27" name="Düz Bağlayıcı 26">
            <a:extLst>
              <a:ext uri="{FF2B5EF4-FFF2-40B4-BE49-F238E27FC236}">
                <a16:creationId xmlns:a16="http://schemas.microsoft.com/office/drawing/2014/main" id="{BA54E132-2F0B-4197-A062-B523920E1FC6}"/>
              </a:ext>
            </a:extLst>
          </p:cNvPr>
          <p:cNvCxnSpPr>
            <a:cxnSpLocks/>
          </p:cNvCxnSpPr>
          <p:nvPr/>
        </p:nvCxnSpPr>
        <p:spPr>
          <a:xfrm>
            <a:off x="309139" y="176869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 name="Düz Bağlayıcı 70">
            <a:extLst>
              <a:ext uri="{FF2B5EF4-FFF2-40B4-BE49-F238E27FC236}">
                <a16:creationId xmlns:a16="http://schemas.microsoft.com/office/drawing/2014/main" id="{CBE65FA9-572C-409C-B14A-4788930124D2}"/>
              </a:ext>
            </a:extLst>
          </p:cNvPr>
          <p:cNvCxnSpPr>
            <a:cxnSpLocks/>
          </p:cNvCxnSpPr>
          <p:nvPr/>
        </p:nvCxnSpPr>
        <p:spPr>
          <a:xfrm>
            <a:off x="907197" y="1765177"/>
            <a:ext cx="1146" cy="32567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3" name="Düz Ok Bağlayıcısı 82">
            <a:extLst>
              <a:ext uri="{FF2B5EF4-FFF2-40B4-BE49-F238E27FC236}">
                <a16:creationId xmlns:a16="http://schemas.microsoft.com/office/drawing/2014/main" id="{A7930806-8C18-49FF-8268-6BD278FCAA16}"/>
              </a:ext>
            </a:extLst>
          </p:cNvPr>
          <p:cNvCxnSpPr/>
          <p:nvPr/>
        </p:nvCxnSpPr>
        <p:spPr>
          <a:xfrm flipV="1">
            <a:off x="5443936" y="682346"/>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4" name="Düz Ok Bağlayıcısı 83">
            <a:extLst>
              <a:ext uri="{FF2B5EF4-FFF2-40B4-BE49-F238E27FC236}">
                <a16:creationId xmlns:a16="http://schemas.microsoft.com/office/drawing/2014/main" id="{BCF0A11F-2DBD-411A-93FB-7769F7D596C8}"/>
              </a:ext>
            </a:extLst>
          </p:cNvPr>
          <p:cNvCxnSpPr/>
          <p:nvPr/>
        </p:nvCxnSpPr>
        <p:spPr>
          <a:xfrm>
            <a:off x="5295095" y="1651054"/>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Metin kutusu 84">
            <a:extLst>
              <a:ext uri="{FF2B5EF4-FFF2-40B4-BE49-F238E27FC236}">
                <a16:creationId xmlns:a16="http://schemas.microsoft.com/office/drawing/2014/main" id="{2C4D9D8D-D432-4993-9175-83F580B146CF}"/>
              </a:ext>
            </a:extLst>
          </p:cNvPr>
          <p:cNvSpPr txBox="1"/>
          <p:nvPr/>
        </p:nvSpPr>
        <p:spPr>
          <a:xfrm>
            <a:off x="6377738" y="1503577"/>
            <a:ext cx="1078571" cy="400110"/>
          </a:xfrm>
          <a:prstGeom prst="rect">
            <a:avLst/>
          </a:prstGeom>
          <a:noFill/>
        </p:spPr>
        <p:txBody>
          <a:bodyPr wrap="square" rtlCol="0">
            <a:spAutoFit/>
          </a:bodyPr>
          <a:lstStyle/>
          <a:p>
            <a:r>
              <a:rPr lang="tr-TR" sz="1000" noProof="1">
                <a:cs typeface="Arial" panose="020B0604020202020204" pitchFamily="34" charset="0"/>
              </a:rPr>
              <a:t>Zaman </a:t>
            </a:r>
            <a:br>
              <a:rPr lang="tr-TR" sz="1000" noProof="1">
                <a:cs typeface="Arial" panose="020B0604020202020204" pitchFamily="34" charset="0"/>
              </a:rPr>
            </a:br>
            <a:r>
              <a:rPr lang="tr-TR" sz="1000" noProof="1">
                <a:cs typeface="Arial" panose="020B0604020202020204" pitchFamily="34" charset="0"/>
              </a:rPr>
              <a:t>(saat)</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5313060" y="472839"/>
            <a:ext cx="1078571" cy="246221"/>
          </a:xfrm>
          <a:prstGeom prst="rect">
            <a:avLst/>
          </a:prstGeom>
          <a:noFill/>
        </p:spPr>
        <p:txBody>
          <a:bodyPr wrap="square" rtlCol="0">
            <a:spAutoFit/>
          </a:bodyPr>
          <a:lstStyle/>
          <a:p>
            <a:r>
              <a:rPr lang="tr-TR" sz="1000" noProof="1">
                <a:cs typeface="Arial" panose="020B0604020202020204" pitchFamily="34" charset="0"/>
              </a:rPr>
              <a:t>Yol (km)</a:t>
            </a:r>
          </a:p>
        </p:txBody>
      </p:sp>
      <p:sp>
        <p:nvSpPr>
          <p:cNvPr id="87" name="Metin kutusu 86">
            <a:extLst>
              <a:ext uri="{FF2B5EF4-FFF2-40B4-BE49-F238E27FC236}">
                <a16:creationId xmlns:a16="http://schemas.microsoft.com/office/drawing/2014/main" id="{C8CD1190-5AD4-4287-8694-CE55AF7FFB61}"/>
              </a:ext>
            </a:extLst>
          </p:cNvPr>
          <p:cNvSpPr txBox="1"/>
          <p:nvPr/>
        </p:nvSpPr>
        <p:spPr>
          <a:xfrm>
            <a:off x="3864949" y="1807254"/>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 Grafik</a:t>
            </a:r>
          </a:p>
        </p:txBody>
      </p:sp>
      <p:sp>
        <p:nvSpPr>
          <p:cNvPr id="88" name="Metin kutusu 87">
            <a:extLst>
              <a:ext uri="{FF2B5EF4-FFF2-40B4-BE49-F238E27FC236}">
                <a16:creationId xmlns:a16="http://schemas.microsoft.com/office/drawing/2014/main" id="{FB445821-A3EB-45AD-8D83-DBA64E8F9824}"/>
              </a:ext>
            </a:extLst>
          </p:cNvPr>
          <p:cNvSpPr txBox="1"/>
          <p:nvPr/>
        </p:nvSpPr>
        <p:spPr>
          <a:xfrm>
            <a:off x="5615314" y="1815121"/>
            <a:ext cx="670585" cy="24622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tr-TR" sz="1000" noProof="1">
                <a:solidFill>
                  <a:schemeClr val="tx1"/>
                </a:solidFill>
                <a:cs typeface="Arial" panose="020B0604020202020204" pitchFamily="34" charset="0"/>
              </a:rPr>
              <a:t>II. Grafik</a:t>
            </a:r>
          </a:p>
        </p:txBody>
      </p:sp>
      <p:cxnSp>
        <p:nvCxnSpPr>
          <p:cNvPr id="89" name="Düz Bağlayıcı 88">
            <a:extLst>
              <a:ext uri="{FF2B5EF4-FFF2-40B4-BE49-F238E27FC236}">
                <a16:creationId xmlns:a16="http://schemas.microsoft.com/office/drawing/2014/main" id="{7933DFF2-3838-423B-9162-D36DE8354FCB}"/>
              </a:ext>
            </a:extLst>
          </p:cNvPr>
          <p:cNvCxnSpPr>
            <a:cxnSpLocks/>
          </p:cNvCxnSpPr>
          <p:nvPr/>
        </p:nvCxnSpPr>
        <p:spPr>
          <a:xfrm>
            <a:off x="3715386" y="821490"/>
            <a:ext cx="594788" cy="4740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0" name="Düz Bağlayıcı 89">
            <a:extLst>
              <a:ext uri="{FF2B5EF4-FFF2-40B4-BE49-F238E27FC236}">
                <a16:creationId xmlns:a16="http://schemas.microsoft.com/office/drawing/2014/main" id="{A07D5AAC-81AF-431D-8FC5-B79BE7804D1D}"/>
              </a:ext>
            </a:extLst>
          </p:cNvPr>
          <p:cNvCxnSpPr>
            <a:cxnSpLocks/>
          </p:cNvCxnSpPr>
          <p:nvPr/>
        </p:nvCxnSpPr>
        <p:spPr>
          <a:xfrm>
            <a:off x="3713381" y="1295557"/>
            <a:ext cx="59213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1" name="Düz Bağlayıcı 90">
            <a:extLst>
              <a:ext uri="{FF2B5EF4-FFF2-40B4-BE49-F238E27FC236}">
                <a16:creationId xmlns:a16="http://schemas.microsoft.com/office/drawing/2014/main" id="{57C81369-28EF-4F86-9E2A-6ED9D65DDC27}"/>
              </a:ext>
            </a:extLst>
          </p:cNvPr>
          <p:cNvCxnSpPr>
            <a:cxnSpLocks/>
          </p:cNvCxnSpPr>
          <p:nvPr/>
        </p:nvCxnSpPr>
        <p:spPr>
          <a:xfrm>
            <a:off x="4312178" y="1295557"/>
            <a:ext cx="1" cy="3497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2" name="Metin kutusu 91">
            <a:extLst>
              <a:ext uri="{FF2B5EF4-FFF2-40B4-BE49-F238E27FC236}">
                <a16:creationId xmlns:a16="http://schemas.microsoft.com/office/drawing/2014/main" id="{DB3D0F5E-8047-4E6A-B9DA-3D82FBFFE000}"/>
              </a:ext>
            </a:extLst>
          </p:cNvPr>
          <p:cNvSpPr txBox="1"/>
          <p:nvPr/>
        </p:nvSpPr>
        <p:spPr>
          <a:xfrm>
            <a:off x="3395784" y="730174"/>
            <a:ext cx="413867" cy="246221"/>
          </a:xfrm>
          <a:prstGeom prst="rect">
            <a:avLst/>
          </a:prstGeom>
          <a:noFill/>
        </p:spPr>
        <p:txBody>
          <a:bodyPr wrap="square" rtlCol="0">
            <a:spAutoFit/>
          </a:bodyPr>
          <a:lstStyle/>
          <a:p>
            <a:r>
              <a:rPr lang="tr-TR" sz="1000" noProof="1">
                <a:cs typeface="Arial" panose="020B0604020202020204" pitchFamily="34" charset="0"/>
              </a:rPr>
              <a:t>150</a:t>
            </a:r>
          </a:p>
        </p:txBody>
      </p:sp>
      <p:sp>
        <p:nvSpPr>
          <p:cNvPr id="93" name="Metin kutusu 92">
            <a:extLst>
              <a:ext uri="{FF2B5EF4-FFF2-40B4-BE49-F238E27FC236}">
                <a16:creationId xmlns:a16="http://schemas.microsoft.com/office/drawing/2014/main" id="{51DA6A2E-22D3-4CD7-96F1-74725CA8CA5E}"/>
              </a:ext>
            </a:extLst>
          </p:cNvPr>
          <p:cNvSpPr txBox="1"/>
          <p:nvPr/>
        </p:nvSpPr>
        <p:spPr>
          <a:xfrm>
            <a:off x="4190297" y="1608597"/>
            <a:ext cx="364008" cy="246221"/>
          </a:xfrm>
          <a:prstGeom prst="rect">
            <a:avLst/>
          </a:prstGeom>
          <a:noFill/>
        </p:spPr>
        <p:txBody>
          <a:bodyPr wrap="square" rtlCol="0">
            <a:spAutoFit/>
          </a:bodyPr>
          <a:lstStyle/>
          <a:p>
            <a:r>
              <a:rPr lang="tr-TR" sz="1000" noProof="1">
                <a:cs typeface="Arial" panose="020B0604020202020204" pitchFamily="34" charset="0"/>
              </a:rPr>
              <a:t>5</a:t>
            </a:r>
          </a:p>
        </p:txBody>
      </p:sp>
      <p:sp>
        <p:nvSpPr>
          <p:cNvPr id="94" name="Metin kutusu 93">
            <a:extLst>
              <a:ext uri="{FF2B5EF4-FFF2-40B4-BE49-F238E27FC236}">
                <a16:creationId xmlns:a16="http://schemas.microsoft.com/office/drawing/2014/main" id="{F6592AC9-EBF8-4FEB-927A-2364A289815A}"/>
              </a:ext>
            </a:extLst>
          </p:cNvPr>
          <p:cNvSpPr txBox="1"/>
          <p:nvPr/>
        </p:nvSpPr>
        <p:spPr>
          <a:xfrm>
            <a:off x="5908933" y="1604071"/>
            <a:ext cx="364008" cy="246221"/>
          </a:xfrm>
          <a:prstGeom prst="rect">
            <a:avLst/>
          </a:prstGeom>
          <a:noFill/>
        </p:spPr>
        <p:txBody>
          <a:bodyPr wrap="square" rtlCol="0">
            <a:spAutoFit/>
          </a:bodyPr>
          <a:lstStyle/>
          <a:p>
            <a:r>
              <a:rPr lang="tr-TR" sz="1000" noProof="1">
                <a:cs typeface="Arial" panose="020B0604020202020204" pitchFamily="34" charset="0"/>
              </a:rPr>
              <a:t>12</a:t>
            </a:r>
          </a:p>
        </p:txBody>
      </p:sp>
      <p:cxnSp>
        <p:nvCxnSpPr>
          <p:cNvPr id="95" name="Düz Bağlayıcı 94">
            <a:extLst>
              <a:ext uri="{FF2B5EF4-FFF2-40B4-BE49-F238E27FC236}">
                <a16:creationId xmlns:a16="http://schemas.microsoft.com/office/drawing/2014/main" id="{1012FA96-5304-4E2D-BCD6-1BC682F375C1}"/>
              </a:ext>
            </a:extLst>
          </p:cNvPr>
          <p:cNvCxnSpPr>
            <a:cxnSpLocks/>
          </p:cNvCxnSpPr>
          <p:nvPr/>
        </p:nvCxnSpPr>
        <p:spPr>
          <a:xfrm flipV="1">
            <a:off x="5442325" y="831422"/>
            <a:ext cx="598404" cy="8061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6" name="Düz Bağlayıcı 95">
            <a:extLst>
              <a:ext uri="{FF2B5EF4-FFF2-40B4-BE49-F238E27FC236}">
                <a16:creationId xmlns:a16="http://schemas.microsoft.com/office/drawing/2014/main" id="{CED62F2E-0A02-4CB4-A111-D7C45CC51CF1}"/>
              </a:ext>
            </a:extLst>
          </p:cNvPr>
          <p:cNvCxnSpPr>
            <a:cxnSpLocks/>
          </p:cNvCxnSpPr>
          <p:nvPr/>
        </p:nvCxnSpPr>
        <p:spPr>
          <a:xfrm>
            <a:off x="5439935" y="829421"/>
            <a:ext cx="600794"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7" name="Düz Bağlayıcı 96">
            <a:extLst>
              <a:ext uri="{FF2B5EF4-FFF2-40B4-BE49-F238E27FC236}">
                <a16:creationId xmlns:a16="http://schemas.microsoft.com/office/drawing/2014/main" id="{22EAC6DD-BF9A-4374-B558-30DFB24F1C99}"/>
              </a:ext>
            </a:extLst>
          </p:cNvPr>
          <p:cNvCxnSpPr>
            <a:cxnSpLocks/>
          </p:cNvCxnSpPr>
          <p:nvPr/>
        </p:nvCxnSpPr>
        <p:spPr>
          <a:xfrm flipH="1">
            <a:off x="6040729" y="821375"/>
            <a:ext cx="12550" cy="82388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 name="Metin kutusu 103">
            <a:extLst>
              <a:ext uri="{FF2B5EF4-FFF2-40B4-BE49-F238E27FC236}">
                <a16:creationId xmlns:a16="http://schemas.microsoft.com/office/drawing/2014/main" id="{0E06DF96-414E-4C8E-96F4-8C195D2C5867}"/>
              </a:ext>
            </a:extLst>
          </p:cNvPr>
          <p:cNvSpPr txBox="1"/>
          <p:nvPr/>
        </p:nvSpPr>
        <p:spPr>
          <a:xfrm>
            <a:off x="4963922" y="706310"/>
            <a:ext cx="558548" cy="246221"/>
          </a:xfrm>
          <a:prstGeom prst="rect">
            <a:avLst/>
          </a:prstGeom>
          <a:noFill/>
        </p:spPr>
        <p:txBody>
          <a:bodyPr wrap="square" rtlCol="0">
            <a:spAutoFit/>
          </a:bodyPr>
          <a:lstStyle/>
          <a:p>
            <a:pPr algn="ctr"/>
            <a:r>
              <a:rPr lang="tr-TR" sz="1000" noProof="1">
                <a:cs typeface="Arial" panose="020B0604020202020204" pitchFamily="34" charset="0"/>
              </a:rPr>
              <a:t>900</a:t>
            </a:r>
          </a:p>
        </p:txBody>
      </p:sp>
      <p:sp>
        <p:nvSpPr>
          <p:cNvPr id="105" name="Metin kutusu 104">
            <a:extLst>
              <a:ext uri="{FF2B5EF4-FFF2-40B4-BE49-F238E27FC236}">
                <a16:creationId xmlns:a16="http://schemas.microsoft.com/office/drawing/2014/main" id="{BC10E003-31E5-441A-A0C2-B4DA0AAD5E78}"/>
              </a:ext>
            </a:extLst>
          </p:cNvPr>
          <p:cNvSpPr txBox="1"/>
          <p:nvPr/>
        </p:nvSpPr>
        <p:spPr>
          <a:xfrm>
            <a:off x="3461056" y="2871330"/>
            <a:ext cx="3374151" cy="553998"/>
          </a:xfrm>
          <a:prstGeom prst="rect">
            <a:avLst/>
          </a:prstGeom>
          <a:noFill/>
        </p:spPr>
        <p:txBody>
          <a:bodyPr wrap="square" rtlCol="0">
            <a:spAutoFit/>
          </a:bodyPr>
          <a:lstStyle/>
          <a:p>
            <a:r>
              <a:rPr lang="tr-TR" sz="1000" noProof="1"/>
              <a:t>A) 560                                        B) 640                                 C) 720</a:t>
            </a:r>
          </a:p>
          <a:p>
            <a:pPr marL="228600" indent="-228600">
              <a:buAutoNum type="alphaUcParenR"/>
            </a:pPr>
            <a:endParaRPr lang="tr-TR" sz="1000" noProof="1"/>
          </a:p>
          <a:p>
            <a:r>
              <a:rPr lang="tr-TR" sz="1000" noProof="1"/>
              <a:t>                      D) 900                                        E) 1440</a:t>
            </a:r>
          </a:p>
        </p:txBody>
      </p:sp>
      <p:sp>
        <p:nvSpPr>
          <p:cNvPr id="109" name="Metin kutusu 108">
            <a:extLst>
              <a:ext uri="{FF2B5EF4-FFF2-40B4-BE49-F238E27FC236}">
                <a16:creationId xmlns:a16="http://schemas.microsoft.com/office/drawing/2014/main" id="{2513730B-E720-4158-8477-1A07BBA85FF9}"/>
              </a:ext>
            </a:extLst>
          </p:cNvPr>
          <p:cNvSpPr txBox="1"/>
          <p:nvPr/>
        </p:nvSpPr>
        <p:spPr>
          <a:xfrm>
            <a:off x="3456906" y="6153299"/>
            <a:ext cx="3621317" cy="246221"/>
          </a:xfrm>
          <a:prstGeom prst="rect">
            <a:avLst/>
          </a:prstGeom>
          <a:noFill/>
        </p:spPr>
        <p:txBody>
          <a:bodyPr wrap="square" rtlCol="0">
            <a:spAutoFit/>
          </a:bodyPr>
          <a:lstStyle/>
          <a:p>
            <a:r>
              <a:rPr lang="tr-TR" sz="970" b="1" noProof="1">
                <a:cs typeface="Arial" panose="020B0604020202020204" pitchFamily="34" charset="0"/>
              </a:rPr>
              <a:t>Yukarıda verilen doğrusal denklem grafiklerine göre m+n ?</a:t>
            </a:r>
          </a:p>
        </p:txBody>
      </p:sp>
      <p:cxnSp>
        <p:nvCxnSpPr>
          <p:cNvPr id="110" name="Düz Ok Bağlayıcısı 109">
            <a:extLst>
              <a:ext uri="{FF2B5EF4-FFF2-40B4-BE49-F238E27FC236}">
                <a16:creationId xmlns:a16="http://schemas.microsoft.com/office/drawing/2014/main" id="{DA70697F-B185-4399-8D3E-9CB9312DB312}"/>
              </a:ext>
            </a:extLst>
          </p:cNvPr>
          <p:cNvCxnSpPr>
            <a:cxnSpLocks/>
          </p:cNvCxnSpPr>
          <p:nvPr/>
        </p:nvCxnSpPr>
        <p:spPr>
          <a:xfrm flipV="1">
            <a:off x="3665952" y="5189244"/>
            <a:ext cx="8232" cy="9186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Düz Ok Bağlayıcısı 110">
            <a:extLst>
              <a:ext uri="{FF2B5EF4-FFF2-40B4-BE49-F238E27FC236}">
                <a16:creationId xmlns:a16="http://schemas.microsoft.com/office/drawing/2014/main" id="{5036C0E6-94D8-49BC-A5D6-552BD074426A}"/>
              </a:ext>
            </a:extLst>
          </p:cNvPr>
          <p:cNvCxnSpPr>
            <a:cxnSpLocks/>
          </p:cNvCxnSpPr>
          <p:nvPr/>
        </p:nvCxnSpPr>
        <p:spPr>
          <a:xfrm>
            <a:off x="3549839" y="6005076"/>
            <a:ext cx="105578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8" name="Metin kutusu 117">
            <a:extLst>
              <a:ext uri="{FF2B5EF4-FFF2-40B4-BE49-F238E27FC236}">
                <a16:creationId xmlns:a16="http://schemas.microsoft.com/office/drawing/2014/main" id="{A7046F30-B487-4139-8854-E46D2B78D5FE}"/>
              </a:ext>
            </a:extLst>
          </p:cNvPr>
          <p:cNvSpPr txBox="1"/>
          <p:nvPr/>
        </p:nvSpPr>
        <p:spPr>
          <a:xfrm>
            <a:off x="3477668" y="4960686"/>
            <a:ext cx="1674203" cy="230832"/>
          </a:xfrm>
          <a:prstGeom prst="rect">
            <a:avLst/>
          </a:prstGeom>
          <a:noFill/>
        </p:spPr>
        <p:txBody>
          <a:bodyPr wrap="square" rtlCol="0">
            <a:spAutoFit/>
          </a:bodyPr>
          <a:lstStyle/>
          <a:p>
            <a:r>
              <a:rPr lang="tr-TR" sz="900" noProof="1">
                <a:cs typeface="Arial" panose="020B0604020202020204" pitchFamily="34" charset="0"/>
              </a:rPr>
              <a:t>Düşey (y)</a:t>
            </a:r>
          </a:p>
        </p:txBody>
      </p:sp>
      <p:sp>
        <p:nvSpPr>
          <p:cNvPr id="123" name="Metin kutusu 122">
            <a:extLst>
              <a:ext uri="{FF2B5EF4-FFF2-40B4-BE49-F238E27FC236}">
                <a16:creationId xmlns:a16="http://schemas.microsoft.com/office/drawing/2014/main" id="{B6A16489-EDD6-4F0F-BD6B-839475316F8F}"/>
              </a:ext>
            </a:extLst>
          </p:cNvPr>
          <p:cNvSpPr txBox="1"/>
          <p:nvPr/>
        </p:nvSpPr>
        <p:spPr>
          <a:xfrm>
            <a:off x="3449761" y="5264413"/>
            <a:ext cx="326059" cy="200055"/>
          </a:xfrm>
          <a:prstGeom prst="rect">
            <a:avLst/>
          </a:prstGeom>
          <a:noFill/>
        </p:spPr>
        <p:txBody>
          <a:bodyPr wrap="square" rtlCol="0">
            <a:spAutoFit/>
          </a:bodyPr>
          <a:lstStyle/>
          <a:p>
            <a:r>
              <a:rPr lang="tr-TR" sz="700" noProof="1">
                <a:cs typeface="Arial" panose="020B0604020202020204" pitchFamily="34" charset="0"/>
              </a:rPr>
              <a:t>20</a:t>
            </a:r>
          </a:p>
        </p:txBody>
      </p:sp>
      <p:cxnSp>
        <p:nvCxnSpPr>
          <p:cNvPr id="133" name="Düz Bağlayıcı 132">
            <a:extLst>
              <a:ext uri="{FF2B5EF4-FFF2-40B4-BE49-F238E27FC236}">
                <a16:creationId xmlns:a16="http://schemas.microsoft.com/office/drawing/2014/main" id="{A4CFBCF2-FE23-4F63-A960-9FF7BE55CBAD}"/>
              </a:ext>
            </a:extLst>
          </p:cNvPr>
          <p:cNvCxnSpPr>
            <a:cxnSpLocks/>
          </p:cNvCxnSpPr>
          <p:nvPr/>
        </p:nvCxnSpPr>
        <p:spPr>
          <a:xfrm>
            <a:off x="3672561" y="5362528"/>
            <a:ext cx="684742" cy="29485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63401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9.A   10.D  11.D  12.E</a:t>
            </a:r>
          </a:p>
        </p:txBody>
      </p:sp>
      <p:pic>
        <p:nvPicPr>
          <p:cNvPr id="8" name="Resim 7">
            <a:extLst>
              <a:ext uri="{FF2B5EF4-FFF2-40B4-BE49-F238E27FC236}">
                <a16:creationId xmlns:a16="http://schemas.microsoft.com/office/drawing/2014/main" id="{25695B5A-858A-4CA8-863A-251D6AF1529F}"/>
              </a:ext>
            </a:extLst>
          </p:cNvPr>
          <p:cNvPicPr>
            <a:picLocks noChangeAspect="1"/>
          </p:cNvPicPr>
          <p:nvPr/>
        </p:nvPicPr>
        <p:blipFill>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346765" y="1094844"/>
            <a:ext cx="570173" cy="570173"/>
          </a:xfrm>
          <a:prstGeom prst="rect">
            <a:avLst/>
          </a:prstGeom>
        </p:spPr>
      </p:pic>
      <p:sp>
        <p:nvSpPr>
          <p:cNvPr id="132" name="Metin kutusu 131">
            <a:extLst>
              <a:ext uri="{FF2B5EF4-FFF2-40B4-BE49-F238E27FC236}">
                <a16:creationId xmlns:a16="http://schemas.microsoft.com/office/drawing/2014/main" id="{A7216665-341A-4689-A42F-7612D264A460}"/>
              </a:ext>
            </a:extLst>
          </p:cNvPr>
          <p:cNvSpPr txBox="1"/>
          <p:nvPr/>
        </p:nvSpPr>
        <p:spPr>
          <a:xfrm>
            <a:off x="4554305" y="5893088"/>
            <a:ext cx="590187" cy="230832"/>
          </a:xfrm>
          <a:prstGeom prst="rect">
            <a:avLst/>
          </a:prstGeom>
          <a:noFill/>
        </p:spPr>
        <p:txBody>
          <a:bodyPr wrap="square" rtlCol="0">
            <a:spAutoFit/>
          </a:bodyPr>
          <a:lstStyle/>
          <a:p>
            <a:r>
              <a:rPr lang="tr-TR" sz="900" noProof="1">
                <a:cs typeface="Arial" panose="020B0604020202020204" pitchFamily="34" charset="0"/>
              </a:rPr>
              <a:t>Yatay (x)</a:t>
            </a:r>
          </a:p>
        </p:txBody>
      </p:sp>
      <p:sp>
        <p:nvSpPr>
          <p:cNvPr id="134" name="Metin kutusu 133">
            <a:extLst>
              <a:ext uri="{FF2B5EF4-FFF2-40B4-BE49-F238E27FC236}">
                <a16:creationId xmlns:a16="http://schemas.microsoft.com/office/drawing/2014/main" id="{85FBA1D3-4BF0-4D9C-8834-1E6B27665314}"/>
              </a:ext>
            </a:extLst>
          </p:cNvPr>
          <p:cNvSpPr txBox="1"/>
          <p:nvPr/>
        </p:nvSpPr>
        <p:spPr>
          <a:xfrm>
            <a:off x="3556120" y="4734428"/>
            <a:ext cx="3374151" cy="241605"/>
          </a:xfrm>
          <a:prstGeom prst="rect">
            <a:avLst/>
          </a:prstGeom>
          <a:noFill/>
        </p:spPr>
        <p:txBody>
          <a:bodyPr wrap="square" rtlCol="0">
            <a:spAutoFit/>
          </a:bodyPr>
          <a:lstStyle/>
          <a:p>
            <a:r>
              <a:rPr lang="tr-TR" sz="965" b="1" noProof="1">
                <a:cs typeface="Arial" panose="020B0604020202020204" pitchFamily="34" charset="0"/>
              </a:rPr>
              <a:t>Aşağıda bir oyundaki puan durumu zamana göre gösterilmiştir.</a:t>
            </a:r>
          </a:p>
        </p:txBody>
      </p:sp>
      <p:sp>
        <p:nvSpPr>
          <p:cNvPr id="138" name="Metin kutusu 137">
            <a:extLst>
              <a:ext uri="{FF2B5EF4-FFF2-40B4-BE49-F238E27FC236}">
                <a16:creationId xmlns:a16="http://schemas.microsoft.com/office/drawing/2014/main" id="{13699398-C1D9-465B-8CD4-E9D1E548E7C4}"/>
              </a:ext>
            </a:extLst>
          </p:cNvPr>
          <p:cNvSpPr txBox="1"/>
          <p:nvPr/>
        </p:nvSpPr>
        <p:spPr>
          <a:xfrm>
            <a:off x="3481120" y="6334974"/>
            <a:ext cx="3326743" cy="553998"/>
          </a:xfrm>
          <a:prstGeom prst="rect">
            <a:avLst/>
          </a:prstGeom>
          <a:noFill/>
        </p:spPr>
        <p:txBody>
          <a:bodyPr wrap="square" rtlCol="0">
            <a:spAutoFit/>
          </a:bodyPr>
          <a:lstStyle/>
          <a:p>
            <a:r>
              <a:rPr lang="tr-TR" sz="1000" noProof="1"/>
              <a:t>A) 34                                      B) 44                                        C) 29</a:t>
            </a:r>
          </a:p>
          <a:p>
            <a:pPr marL="228600" indent="-228600">
              <a:buAutoNum type="alphaUcParenR"/>
            </a:pPr>
            <a:endParaRPr lang="tr-TR" sz="1000" noProof="1"/>
          </a:p>
          <a:p>
            <a:r>
              <a:rPr lang="tr-TR" sz="1000" noProof="1"/>
              <a:t>                      D) 32                                        E) 38</a:t>
            </a:r>
          </a:p>
        </p:txBody>
      </p:sp>
      <p:cxnSp>
        <p:nvCxnSpPr>
          <p:cNvPr id="98" name="Düz Ok Bağlayıcısı 97">
            <a:extLst>
              <a:ext uri="{FF2B5EF4-FFF2-40B4-BE49-F238E27FC236}">
                <a16:creationId xmlns:a16="http://schemas.microsoft.com/office/drawing/2014/main" id="{3CD875C6-8559-47F6-AD68-7F89253C1FF7}"/>
              </a:ext>
            </a:extLst>
          </p:cNvPr>
          <p:cNvCxnSpPr>
            <a:cxnSpLocks/>
          </p:cNvCxnSpPr>
          <p:nvPr/>
        </p:nvCxnSpPr>
        <p:spPr>
          <a:xfrm flipV="1">
            <a:off x="415039" y="5082891"/>
            <a:ext cx="1244" cy="13564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9" name="Düz Ok Bağlayıcısı 98">
            <a:extLst>
              <a:ext uri="{FF2B5EF4-FFF2-40B4-BE49-F238E27FC236}">
                <a16:creationId xmlns:a16="http://schemas.microsoft.com/office/drawing/2014/main" id="{71C258A5-25BE-4942-9984-4B7B56B01802}"/>
              </a:ext>
            </a:extLst>
          </p:cNvPr>
          <p:cNvCxnSpPr/>
          <p:nvPr/>
        </p:nvCxnSpPr>
        <p:spPr>
          <a:xfrm>
            <a:off x="289105" y="6314931"/>
            <a:ext cx="11569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0" name="Metin kutusu 99">
            <a:extLst>
              <a:ext uri="{FF2B5EF4-FFF2-40B4-BE49-F238E27FC236}">
                <a16:creationId xmlns:a16="http://schemas.microsoft.com/office/drawing/2014/main" id="{E32F1739-C8B9-4BE7-9646-0736F60CC862}"/>
              </a:ext>
            </a:extLst>
          </p:cNvPr>
          <p:cNvSpPr txBox="1"/>
          <p:nvPr/>
        </p:nvSpPr>
        <p:spPr>
          <a:xfrm>
            <a:off x="1393170" y="6177716"/>
            <a:ext cx="1172950" cy="246221"/>
          </a:xfrm>
          <a:prstGeom prst="rect">
            <a:avLst/>
          </a:prstGeom>
          <a:noFill/>
        </p:spPr>
        <p:txBody>
          <a:bodyPr wrap="square" rtlCol="0">
            <a:spAutoFit/>
          </a:bodyPr>
          <a:lstStyle/>
          <a:p>
            <a:r>
              <a:rPr lang="tr-TR" sz="1000" noProof="1">
                <a:cs typeface="Arial" panose="020B0604020202020204" pitchFamily="34" charset="0"/>
              </a:rPr>
              <a:t>Geçen Zaman (ay)</a:t>
            </a:r>
          </a:p>
        </p:txBody>
      </p:sp>
      <p:sp>
        <p:nvSpPr>
          <p:cNvPr id="101" name="Metin kutusu 100">
            <a:extLst>
              <a:ext uri="{FF2B5EF4-FFF2-40B4-BE49-F238E27FC236}">
                <a16:creationId xmlns:a16="http://schemas.microsoft.com/office/drawing/2014/main" id="{87CE2696-9701-4D68-9297-C33ED341F9A8}"/>
              </a:ext>
            </a:extLst>
          </p:cNvPr>
          <p:cNvSpPr txBox="1"/>
          <p:nvPr/>
        </p:nvSpPr>
        <p:spPr>
          <a:xfrm>
            <a:off x="285407" y="4873383"/>
            <a:ext cx="1305276" cy="246221"/>
          </a:xfrm>
          <a:prstGeom prst="rect">
            <a:avLst/>
          </a:prstGeom>
          <a:noFill/>
        </p:spPr>
        <p:txBody>
          <a:bodyPr wrap="square" rtlCol="0">
            <a:spAutoFit/>
          </a:bodyPr>
          <a:lstStyle/>
          <a:p>
            <a:r>
              <a:rPr lang="tr-TR" sz="1000" noProof="1">
                <a:cs typeface="Arial" panose="020B0604020202020204" pitchFamily="34" charset="0"/>
              </a:rPr>
              <a:t>Kilo (Lbs)</a:t>
            </a:r>
          </a:p>
        </p:txBody>
      </p:sp>
      <p:cxnSp>
        <p:nvCxnSpPr>
          <p:cNvPr id="102" name="Düz Bağlayıcı 101">
            <a:extLst>
              <a:ext uri="{FF2B5EF4-FFF2-40B4-BE49-F238E27FC236}">
                <a16:creationId xmlns:a16="http://schemas.microsoft.com/office/drawing/2014/main" id="{46957C7F-2118-4AF9-82E5-BFBEAC23155D}"/>
              </a:ext>
            </a:extLst>
          </p:cNvPr>
          <p:cNvCxnSpPr>
            <a:cxnSpLocks/>
          </p:cNvCxnSpPr>
          <p:nvPr/>
        </p:nvCxnSpPr>
        <p:spPr>
          <a:xfrm>
            <a:off x="422885" y="5241312"/>
            <a:ext cx="371702" cy="402196"/>
          </a:xfrm>
          <a:prstGeom prst="line">
            <a:avLst/>
          </a:prstGeom>
        </p:spPr>
        <p:style>
          <a:lnRef idx="1">
            <a:schemeClr val="accent5"/>
          </a:lnRef>
          <a:fillRef idx="0">
            <a:schemeClr val="accent5"/>
          </a:fillRef>
          <a:effectRef idx="0">
            <a:schemeClr val="accent5"/>
          </a:effectRef>
          <a:fontRef idx="minor">
            <a:schemeClr val="tx1"/>
          </a:fontRef>
        </p:style>
      </p:cxnSp>
      <p:sp>
        <p:nvSpPr>
          <p:cNvPr id="106" name="Metin kutusu 105">
            <a:extLst>
              <a:ext uri="{FF2B5EF4-FFF2-40B4-BE49-F238E27FC236}">
                <a16:creationId xmlns:a16="http://schemas.microsoft.com/office/drawing/2014/main" id="{DCD63807-C310-4E9B-8DA2-BC1DCBB68799}"/>
              </a:ext>
            </a:extLst>
          </p:cNvPr>
          <p:cNvSpPr txBox="1"/>
          <p:nvPr/>
        </p:nvSpPr>
        <p:spPr>
          <a:xfrm>
            <a:off x="160574" y="6005076"/>
            <a:ext cx="465044" cy="246221"/>
          </a:xfrm>
          <a:prstGeom prst="rect">
            <a:avLst/>
          </a:prstGeom>
          <a:noFill/>
        </p:spPr>
        <p:txBody>
          <a:bodyPr wrap="square" rtlCol="0">
            <a:spAutoFit/>
          </a:bodyPr>
          <a:lstStyle/>
          <a:p>
            <a:r>
              <a:rPr lang="tr-TR" sz="1000" noProof="1">
                <a:cs typeface="Arial" panose="020B0604020202020204" pitchFamily="34" charset="0"/>
              </a:rPr>
              <a:t>50</a:t>
            </a:r>
          </a:p>
        </p:txBody>
      </p:sp>
      <p:sp>
        <p:nvSpPr>
          <p:cNvPr id="107" name="Metin kutusu 106">
            <a:extLst>
              <a:ext uri="{FF2B5EF4-FFF2-40B4-BE49-F238E27FC236}">
                <a16:creationId xmlns:a16="http://schemas.microsoft.com/office/drawing/2014/main" id="{BC53D24F-E697-46C2-A874-3C6E04C45752}"/>
              </a:ext>
            </a:extLst>
          </p:cNvPr>
          <p:cNvSpPr txBox="1"/>
          <p:nvPr/>
        </p:nvSpPr>
        <p:spPr>
          <a:xfrm>
            <a:off x="140072" y="5094193"/>
            <a:ext cx="397924" cy="246221"/>
          </a:xfrm>
          <a:prstGeom prst="rect">
            <a:avLst/>
          </a:prstGeom>
          <a:noFill/>
        </p:spPr>
        <p:txBody>
          <a:bodyPr wrap="square" rtlCol="0">
            <a:spAutoFit/>
          </a:bodyPr>
          <a:lstStyle/>
          <a:p>
            <a:r>
              <a:rPr lang="tr-TR" sz="1000" noProof="1">
                <a:cs typeface="Arial" panose="020B0604020202020204" pitchFamily="34" charset="0"/>
              </a:rPr>
              <a:t>80</a:t>
            </a:r>
          </a:p>
        </p:txBody>
      </p:sp>
      <p:sp>
        <p:nvSpPr>
          <p:cNvPr id="114" name="Metin kutusu 113">
            <a:extLst>
              <a:ext uri="{FF2B5EF4-FFF2-40B4-BE49-F238E27FC236}">
                <a16:creationId xmlns:a16="http://schemas.microsoft.com/office/drawing/2014/main" id="{666FA55E-533C-413E-8F03-2C8B4CE3DE09}"/>
              </a:ext>
            </a:extLst>
          </p:cNvPr>
          <p:cNvSpPr txBox="1"/>
          <p:nvPr/>
        </p:nvSpPr>
        <p:spPr>
          <a:xfrm>
            <a:off x="158237" y="4668347"/>
            <a:ext cx="3359093" cy="246221"/>
          </a:xfrm>
          <a:prstGeom prst="rect">
            <a:avLst/>
          </a:prstGeom>
          <a:noFill/>
        </p:spPr>
        <p:txBody>
          <a:bodyPr wrap="square" rtlCol="0">
            <a:spAutoFit/>
          </a:bodyPr>
          <a:lstStyle/>
          <a:p>
            <a:r>
              <a:rPr lang="tr-TR" sz="1000" b="1" noProof="1">
                <a:cs typeface="Arial" panose="020B0604020202020204" pitchFamily="34" charset="0"/>
              </a:rPr>
              <a:t>Bianka ve Emily`nin zamana göre kilo değişimleri verilmiştir. </a:t>
            </a:r>
          </a:p>
        </p:txBody>
      </p:sp>
      <p:sp>
        <p:nvSpPr>
          <p:cNvPr id="115" name="Metin kutusu 114">
            <a:extLst>
              <a:ext uri="{FF2B5EF4-FFF2-40B4-BE49-F238E27FC236}">
                <a16:creationId xmlns:a16="http://schemas.microsoft.com/office/drawing/2014/main" id="{43497A73-5EC8-4139-BB68-A4C708B7223F}"/>
              </a:ext>
            </a:extLst>
          </p:cNvPr>
          <p:cNvSpPr txBox="1"/>
          <p:nvPr/>
        </p:nvSpPr>
        <p:spPr>
          <a:xfrm>
            <a:off x="73130" y="6438849"/>
            <a:ext cx="3359092" cy="707886"/>
          </a:xfrm>
          <a:prstGeom prst="rect">
            <a:avLst/>
          </a:prstGeom>
          <a:noFill/>
        </p:spPr>
        <p:txBody>
          <a:bodyPr wrap="square" rtlCol="0">
            <a:spAutoFit/>
          </a:bodyPr>
          <a:lstStyle/>
          <a:p>
            <a:r>
              <a:rPr lang="tr-TR" sz="1000" noProof="1">
                <a:cs typeface="Arial" panose="020B0604020202020204" pitchFamily="34" charset="0"/>
              </a:rPr>
              <a:t>İki arkadaş aynı kiloya sahip olabilmek için birisi zayıflamakta birisi de gayelerini gerçekleştirmek için kilo almaktadır. </a:t>
            </a:r>
          </a:p>
          <a:p>
            <a:endParaRPr lang="tr-TR" sz="1000" noProof="1">
              <a:cs typeface="Arial" panose="020B0604020202020204" pitchFamily="34" charset="0"/>
            </a:endParaRPr>
          </a:p>
          <a:p>
            <a:r>
              <a:rPr lang="tr-TR" sz="1000" b="1" noProof="1">
                <a:cs typeface="Arial" panose="020B0604020202020204" pitchFamily="34" charset="0"/>
              </a:rPr>
              <a:t>Buna göre, kaç hafta sonra kiloları eşitlenir? </a:t>
            </a:r>
            <a:r>
              <a:rPr lang="tr-TR" sz="1000" noProof="1">
                <a:cs typeface="Arial" panose="020B0604020202020204" pitchFamily="34" charset="0"/>
              </a:rPr>
              <a:t>(Lbs kilo birimi)</a:t>
            </a:r>
            <a:endParaRPr lang="tr-TR" sz="1000" b="1" noProof="1">
              <a:cs typeface="Arial" panose="020B0604020202020204" pitchFamily="34" charset="0"/>
            </a:endParaRPr>
          </a:p>
        </p:txBody>
      </p:sp>
      <p:cxnSp>
        <p:nvCxnSpPr>
          <p:cNvPr id="116" name="Düz Bağlayıcı 115">
            <a:extLst>
              <a:ext uri="{FF2B5EF4-FFF2-40B4-BE49-F238E27FC236}">
                <a16:creationId xmlns:a16="http://schemas.microsoft.com/office/drawing/2014/main" id="{FC083B72-589D-4DD5-AF93-68D194B25EF8}"/>
              </a:ext>
            </a:extLst>
          </p:cNvPr>
          <p:cNvCxnSpPr>
            <a:cxnSpLocks/>
          </p:cNvCxnSpPr>
          <p:nvPr/>
        </p:nvCxnSpPr>
        <p:spPr>
          <a:xfrm>
            <a:off x="422132" y="5532220"/>
            <a:ext cx="26836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7" name="Düz Bağlayıcı 116">
            <a:extLst>
              <a:ext uri="{FF2B5EF4-FFF2-40B4-BE49-F238E27FC236}">
                <a16:creationId xmlns:a16="http://schemas.microsoft.com/office/drawing/2014/main" id="{57348E5E-5127-4712-9FF4-15987FC34733}"/>
              </a:ext>
            </a:extLst>
          </p:cNvPr>
          <p:cNvCxnSpPr>
            <a:cxnSpLocks/>
          </p:cNvCxnSpPr>
          <p:nvPr/>
        </p:nvCxnSpPr>
        <p:spPr>
          <a:xfrm>
            <a:off x="690492" y="5987968"/>
            <a:ext cx="0" cy="32696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0" name="Metin kutusu 119">
            <a:extLst>
              <a:ext uri="{FF2B5EF4-FFF2-40B4-BE49-F238E27FC236}">
                <a16:creationId xmlns:a16="http://schemas.microsoft.com/office/drawing/2014/main" id="{809A9CCB-C4E1-42B6-8F5E-D325CF623A85}"/>
              </a:ext>
            </a:extLst>
          </p:cNvPr>
          <p:cNvSpPr txBox="1"/>
          <p:nvPr/>
        </p:nvSpPr>
        <p:spPr>
          <a:xfrm>
            <a:off x="579578" y="6254004"/>
            <a:ext cx="465044" cy="246221"/>
          </a:xfrm>
          <a:prstGeom prst="rect">
            <a:avLst/>
          </a:prstGeom>
          <a:noFill/>
        </p:spPr>
        <p:txBody>
          <a:bodyPr wrap="square" rtlCol="0">
            <a:spAutoFit/>
          </a:bodyPr>
          <a:lstStyle/>
          <a:p>
            <a:r>
              <a:rPr lang="tr-TR" sz="1000" noProof="1">
                <a:cs typeface="Arial" panose="020B0604020202020204" pitchFamily="34" charset="0"/>
              </a:rPr>
              <a:t>2</a:t>
            </a:r>
          </a:p>
        </p:txBody>
      </p:sp>
      <p:sp>
        <p:nvSpPr>
          <p:cNvPr id="121" name="Metin kutusu 120">
            <a:extLst>
              <a:ext uri="{FF2B5EF4-FFF2-40B4-BE49-F238E27FC236}">
                <a16:creationId xmlns:a16="http://schemas.microsoft.com/office/drawing/2014/main" id="{2674AE94-8504-4C8E-B22E-8C6246DC36A6}"/>
              </a:ext>
            </a:extLst>
          </p:cNvPr>
          <p:cNvSpPr txBox="1"/>
          <p:nvPr/>
        </p:nvSpPr>
        <p:spPr>
          <a:xfrm>
            <a:off x="125665" y="5398281"/>
            <a:ext cx="397924" cy="246221"/>
          </a:xfrm>
          <a:prstGeom prst="rect">
            <a:avLst/>
          </a:prstGeom>
          <a:noFill/>
        </p:spPr>
        <p:txBody>
          <a:bodyPr wrap="square" rtlCol="0">
            <a:spAutoFit/>
          </a:bodyPr>
          <a:lstStyle/>
          <a:p>
            <a:r>
              <a:rPr lang="tr-TR" sz="1000" noProof="1">
                <a:cs typeface="Arial" panose="020B0604020202020204" pitchFamily="34" charset="0"/>
              </a:rPr>
              <a:t>79</a:t>
            </a:r>
          </a:p>
        </p:txBody>
      </p:sp>
      <p:cxnSp>
        <p:nvCxnSpPr>
          <p:cNvPr id="122" name="Düz Bağlayıcı 121">
            <a:extLst>
              <a:ext uri="{FF2B5EF4-FFF2-40B4-BE49-F238E27FC236}">
                <a16:creationId xmlns:a16="http://schemas.microsoft.com/office/drawing/2014/main" id="{C5B5BA4E-82EE-4168-9B57-16C4CCDD97E4}"/>
              </a:ext>
            </a:extLst>
          </p:cNvPr>
          <p:cNvCxnSpPr>
            <a:cxnSpLocks/>
          </p:cNvCxnSpPr>
          <p:nvPr/>
        </p:nvCxnSpPr>
        <p:spPr>
          <a:xfrm flipV="1">
            <a:off x="422132" y="5806585"/>
            <a:ext cx="630102" cy="301275"/>
          </a:xfrm>
          <a:prstGeom prst="line">
            <a:avLst/>
          </a:prstGeom>
          <a:ln>
            <a:solidFill>
              <a:srgbClr val="7030A0"/>
            </a:solidFill>
          </a:ln>
        </p:spPr>
        <p:style>
          <a:lnRef idx="1">
            <a:schemeClr val="accent4"/>
          </a:lnRef>
          <a:fillRef idx="0">
            <a:schemeClr val="accent4"/>
          </a:fillRef>
          <a:effectRef idx="0">
            <a:schemeClr val="accent4"/>
          </a:effectRef>
          <a:fontRef idx="minor">
            <a:schemeClr val="tx1"/>
          </a:fontRef>
        </p:style>
      </p:cxnSp>
      <p:cxnSp>
        <p:nvCxnSpPr>
          <p:cNvPr id="125" name="Düz Bağlayıcı 124">
            <a:extLst>
              <a:ext uri="{FF2B5EF4-FFF2-40B4-BE49-F238E27FC236}">
                <a16:creationId xmlns:a16="http://schemas.microsoft.com/office/drawing/2014/main" id="{8C4E5C6A-DC33-42D9-B017-2772171901D7}"/>
              </a:ext>
            </a:extLst>
          </p:cNvPr>
          <p:cNvCxnSpPr>
            <a:cxnSpLocks/>
          </p:cNvCxnSpPr>
          <p:nvPr/>
        </p:nvCxnSpPr>
        <p:spPr>
          <a:xfrm>
            <a:off x="415039" y="5987968"/>
            <a:ext cx="275453"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39" name="Metin kutusu 138">
            <a:extLst>
              <a:ext uri="{FF2B5EF4-FFF2-40B4-BE49-F238E27FC236}">
                <a16:creationId xmlns:a16="http://schemas.microsoft.com/office/drawing/2014/main" id="{4562F790-0512-4E19-AAC5-22C69753A211}"/>
              </a:ext>
            </a:extLst>
          </p:cNvPr>
          <p:cNvSpPr txBox="1"/>
          <p:nvPr/>
        </p:nvSpPr>
        <p:spPr>
          <a:xfrm>
            <a:off x="634674" y="5352233"/>
            <a:ext cx="546563" cy="246221"/>
          </a:xfrm>
          <a:prstGeom prst="rect">
            <a:avLst/>
          </a:prstGeom>
          <a:noFill/>
        </p:spPr>
        <p:txBody>
          <a:bodyPr wrap="square" rtlCol="0">
            <a:spAutoFit/>
          </a:bodyPr>
          <a:lstStyle/>
          <a:p>
            <a:r>
              <a:rPr lang="tr-TR" sz="1000" noProof="1">
                <a:solidFill>
                  <a:srgbClr val="C00000"/>
                </a:solidFill>
                <a:cs typeface="Arial" panose="020B0604020202020204" pitchFamily="34" charset="0"/>
              </a:rPr>
              <a:t>Bianka</a:t>
            </a:r>
          </a:p>
        </p:txBody>
      </p:sp>
      <p:sp>
        <p:nvSpPr>
          <p:cNvPr id="140" name="Metin kutusu 139">
            <a:extLst>
              <a:ext uri="{FF2B5EF4-FFF2-40B4-BE49-F238E27FC236}">
                <a16:creationId xmlns:a16="http://schemas.microsoft.com/office/drawing/2014/main" id="{451C91C1-62F1-47F3-B7D6-645E51226936}"/>
              </a:ext>
            </a:extLst>
          </p:cNvPr>
          <p:cNvSpPr txBox="1"/>
          <p:nvPr/>
        </p:nvSpPr>
        <p:spPr>
          <a:xfrm>
            <a:off x="1034036" y="5717653"/>
            <a:ext cx="546563" cy="246221"/>
          </a:xfrm>
          <a:prstGeom prst="rect">
            <a:avLst/>
          </a:prstGeom>
          <a:noFill/>
        </p:spPr>
        <p:txBody>
          <a:bodyPr wrap="square" rtlCol="0">
            <a:spAutoFit/>
          </a:bodyPr>
          <a:lstStyle/>
          <a:p>
            <a:r>
              <a:rPr lang="tr-TR" sz="1000" noProof="1">
                <a:solidFill>
                  <a:srgbClr val="C00000"/>
                </a:solidFill>
                <a:cs typeface="Arial" panose="020B0604020202020204" pitchFamily="34" charset="0"/>
              </a:rPr>
              <a:t>Emily</a:t>
            </a:r>
          </a:p>
        </p:txBody>
      </p:sp>
      <p:sp>
        <p:nvSpPr>
          <p:cNvPr id="142" name="Metin kutusu 141">
            <a:extLst>
              <a:ext uri="{FF2B5EF4-FFF2-40B4-BE49-F238E27FC236}">
                <a16:creationId xmlns:a16="http://schemas.microsoft.com/office/drawing/2014/main" id="{69D755BC-00A4-4F19-8029-ED79343B32C3}"/>
              </a:ext>
            </a:extLst>
          </p:cNvPr>
          <p:cNvSpPr txBox="1"/>
          <p:nvPr/>
        </p:nvSpPr>
        <p:spPr>
          <a:xfrm>
            <a:off x="160144" y="5825485"/>
            <a:ext cx="465044" cy="246221"/>
          </a:xfrm>
          <a:prstGeom prst="rect">
            <a:avLst/>
          </a:prstGeom>
          <a:noFill/>
        </p:spPr>
        <p:txBody>
          <a:bodyPr wrap="square" rtlCol="0">
            <a:spAutoFit/>
          </a:bodyPr>
          <a:lstStyle/>
          <a:p>
            <a:r>
              <a:rPr lang="tr-TR" sz="1000" noProof="1">
                <a:cs typeface="Arial" panose="020B0604020202020204" pitchFamily="34" charset="0"/>
              </a:rPr>
              <a:t>52</a:t>
            </a:r>
          </a:p>
        </p:txBody>
      </p:sp>
      <p:sp>
        <p:nvSpPr>
          <p:cNvPr id="143" name="Metin kutusu 142">
            <a:extLst>
              <a:ext uri="{FF2B5EF4-FFF2-40B4-BE49-F238E27FC236}">
                <a16:creationId xmlns:a16="http://schemas.microsoft.com/office/drawing/2014/main" id="{E90FD3F5-B1CF-4D50-92E0-D31DCADB44A3}"/>
              </a:ext>
            </a:extLst>
          </p:cNvPr>
          <p:cNvSpPr txBox="1"/>
          <p:nvPr/>
        </p:nvSpPr>
        <p:spPr>
          <a:xfrm>
            <a:off x="67938" y="7084436"/>
            <a:ext cx="3326743" cy="553998"/>
          </a:xfrm>
          <a:prstGeom prst="rect">
            <a:avLst/>
          </a:prstGeom>
          <a:noFill/>
        </p:spPr>
        <p:txBody>
          <a:bodyPr wrap="square" rtlCol="0">
            <a:spAutoFit/>
          </a:bodyPr>
          <a:lstStyle/>
          <a:p>
            <a:r>
              <a:rPr lang="tr-TR" sz="1000" noProof="1"/>
              <a:t>A) 20                                      B) 40                                        C) 60</a:t>
            </a:r>
          </a:p>
          <a:p>
            <a:pPr marL="228600" indent="-228600">
              <a:buAutoNum type="alphaUcParenR"/>
            </a:pPr>
            <a:endParaRPr lang="tr-TR" sz="1000" noProof="1"/>
          </a:p>
          <a:p>
            <a:r>
              <a:rPr lang="tr-TR" sz="1000" noProof="1"/>
              <a:t>                      D) 80                                        E) 100</a:t>
            </a:r>
          </a:p>
        </p:txBody>
      </p:sp>
      <p:cxnSp>
        <p:nvCxnSpPr>
          <p:cNvPr id="145" name="Düz Bağlayıcı 144">
            <a:extLst>
              <a:ext uri="{FF2B5EF4-FFF2-40B4-BE49-F238E27FC236}">
                <a16:creationId xmlns:a16="http://schemas.microsoft.com/office/drawing/2014/main" id="{C6AC4FC9-4CF8-43B2-9EAD-701B837AED0E}"/>
              </a:ext>
            </a:extLst>
          </p:cNvPr>
          <p:cNvCxnSpPr>
            <a:cxnSpLocks/>
          </p:cNvCxnSpPr>
          <p:nvPr/>
        </p:nvCxnSpPr>
        <p:spPr>
          <a:xfrm flipH="1">
            <a:off x="690493" y="5532219"/>
            <a:ext cx="7323" cy="456747"/>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7" name="Metin kutusu 146">
            <a:extLst>
              <a:ext uri="{FF2B5EF4-FFF2-40B4-BE49-F238E27FC236}">
                <a16:creationId xmlns:a16="http://schemas.microsoft.com/office/drawing/2014/main" id="{6FF22E40-B8E9-4AC7-BE92-8B32665F0352}"/>
              </a:ext>
            </a:extLst>
          </p:cNvPr>
          <p:cNvSpPr txBox="1"/>
          <p:nvPr/>
        </p:nvSpPr>
        <p:spPr>
          <a:xfrm>
            <a:off x="3388267" y="1167821"/>
            <a:ext cx="413867" cy="246221"/>
          </a:xfrm>
          <a:prstGeom prst="rect">
            <a:avLst/>
          </a:prstGeom>
          <a:noFill/>
        </p:spPr>
        <p:txBody>
          <a:bodyPr wrap="square" rtlCol="0">
            <a:spAutoFit/>
          </a:bodyPr>
          <a:lstStyle/>
          <a:p>
            <a:r>
              <a:rPr lang="tr-TR" sz="1000" noProof="1">
                <a:cs typeface="Arial" panose="020B0604020202020204" pitchFamily="34" charset="0"/>
              </a:rPr>
              <a:t>100</a:t>
            </a:r>
          </a:p>
        </p:txBody>
      </p:sp>
      <p:sp>
        <p:nvSpPr>
          <p:cNvPr id="155" name="Metin kutusu 154">
            <a:extLst>
              <a:ext uri="{FF2B5EF4-FFF2-40B4-BE49-F238E27FC236}">
                <a16:creationId xmlns:a16="http://schemas.microsoft.com/office/drawing/2014/main" id="{338956E9-2D83-4A0E-AC8D-4684DAB547D6}"/>
              </a:ext>
            </a:extLst>
          </p:cNvPr>
          <p:cNvSpPr txBox="1"/>
          <p:nvPr/>
        </p:nvSpPr>
        <p:spPr>
          <a:xfrm>
            <a:off x="57799" y="2555878"/>
            <a:ext cx="3347020" cy="553998"/>
          </a:xfrm>
          <a:prstGeom prst="rect">
            <a:avLst/>
          </a:prstGeom>
          <a:noFill/>
        </p:spPr>
        <p:txBody>
          <a:bodyPr wrap="square" rtlCol="0">
            <a:spAutoFit/>
          </a:bodyPr>
          <a:lstStyle/>
          <a:p>
            <a:r>
              <a:rPr lang="tr-TR" sz="1000" noProof="1"/>
              <a:t>A) 50                                      B) 35                                        C) 70</a:t>
            </a:r>
          </a:p>
          <a:p>
            <a:pPr marL="228600" indent="-228600">
              <a:buAutoNum type="alphaUcParenR"/>
            </a:pPr>
            <a:endParaRPr lang="tr-TR" sz="1000" noProof="1"/>
          </a:p>
          <a:p>
            <a:r>
              <a:rPr lang="tr-TR" sz="1000" noProof="1"/>
              <a:t>                      D) 24                                        E) 120</a:t>
            </a:r>
          </a:p>
        </p:txBody>
      </p:sp>
      <p:cxnSp>
        <p:nvCxnSpPr>
          <p:cNvPr id="157" name="Düz Bağlayıcı 156">
            <a:extLst>
              <a:ext uri="{FF2B5EF4-FFF2-40B4-BE49-F238E27FC236}">
                <a16:creationId xmlns:a16="http://schemas.microsoft.com/office/drawing/2014/main" id="{DCDEB98C-5116-445C-96A3-4BD171225441}"/>
              </a:ext>
            </a:extLst>
          </p:cNvPr>
          <p:cNvCxnSpPr>
            <a:cxnSpLocks/>
          </p:cNvCxnSpPr>
          <p:nvPr/>
        </p:nvCxnSpPr>
        <p:spPr>
          <a:xfrm>
            <a:off x="3675471" y="5475343"/>
            <a:ext cx="257585"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1" name="Düz Bağlayıcı 160">
            <a:extLst>
              <a:ext uri="{FF2B5EF4-FFF2-40B4-BE49-F238E27FC236}">
                <a16:creationId xmlns:a16="http://schemas.microsoft.com/office/drawing/2014/main" id="{D6CEDCAE-4D5F-41BC-A0D0-B24C0C0854CB}"/>
              </a:ext>
            </a:extLst>
          </p:cNvPr>
          <p:cNvCxnSpPr>
            <a:cxnSpLocks/>
          </p:cNvCxnSpPr>
          <p:nvPr/>
        </p:nvCxnSpPr>
        <p:spPr>
          <a:xfrm>
            <a:off x="3933056" y="5475343"/>
            <a:ext cx="0" cy="52973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4" name="Düz Bağlayıcı 163">
            <a:extLst>
              <a:ext uri="{FF2B5EF4-FFF2-40B4-BE49-F238E27FC236}">
                <a16:creationId xmlns:a16="http://schemas.microsoft.com/office/drawing/2014/main" id="{B2270A29-136D-4AA6-8618-C48C5718F971}"/>
              </a:ext>
            </a:extLst>
          </p:cNvPr>
          <p:cNvCxnSpPr>
            <a:cxnSpLocks/>
          </p:cNvCxnSpPr>
          <p:nvPr/>
        </p:nvCxnSpPr>
        <p:spPr>
          <a:xfrm>
            <a:off x="3665952" y="5580112"/>
            <a:ext cx="483472"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6" name="Düz Bağlayıcı 165">
            <a:extLst>
              <a:ext uri="{FF2B5EF4-FFF2-40B4-BE49-F238E27FC236}">
                <a16:creationId xmlns:a16="http://schemas.microsoft.com/office/drawing/2014/main" id="{95608A59-1DFD-4FB9-A076-BBD2964CD5F5}"/>
              </a:ext>
            </a:extLst>
          </p:cNvPr>
          <p:cNvCxnSpPr>
            <a:cxnSpLocks/>
          </p:cNvCxnSpPr>
          <p:nvPr/>
        </p:nvCxnSpPr>
        <p:spPr>
          <a:xfrm>
            <a:off x="4158943" y="5571854"/>
            <a:ext cx="0" cy="42514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83" name="Metin kutusu 182">
            <a:extLst>
              <a:ext uri="{FF2B5EF4-FFF2-40B4-BE49-F238E27FC236}">
                <a16:creationId xmlns:a16="http://schemas.microsoft.com/office/drawing/2014/main" id="{1FF75390-2AAC-4F08-9348-B9477686D1AE}"/>
              </a:ext>
            </a:extLst>
          </p:cNvPr>
          <p:cNvSpPr txBox="1"/>
          <p:nvPr/>
        </p:nvSpPr>
        <p:spPr>
          <a:xfrm>
            <a:off x="3807795" y="5973850"/>
            <a:ext cx="326059" cy="200055"/>
          </a:xfrm>
          <a:prstGeom prst="rect">
            <a:avLst/>
          </a:prstGeom>
          <a:noFill/>
        </p:spPr>
        <p:txBody>
          <a:bodyPr wrap="square" rtlCol="0">
            <a:spAutoFit/>
          </a:bodyPr>
          <a:lstStyle/>
          <a:p>
            <a:r>
              <a:rPr lang="tr-TR" sz="700" noProof="1">
                <a:cs typeface="Arial" panose="020B0604020202020204" pitchFamily="34" charset="0"/>
              </a:rPr>
              <a:t>m</a:t>
            </a:r>
          </a:p>
        </p:txBody>
      </p:sp>
      <p:sp>
        <p:nvSpPr>
          <p:cNvPr id="184" name="Metin kutusu 183">
            <a:extLst>
              <a:ext uri="{FF2B5EF4-FFF2-40B4-BE49-F238E27FC236}">
                <a16:creationId xmlns:a16="http://schemas.microsoft.com/office/drawing/2014/main" id="{E72652C8-C434-4389-AE21-94313EB3D1C0}"/>
              </a:ext>
            </a:extLst>
          </p:cNvPr>
          <p:cNvSpPr txBox="1"/>
          <p:nvPr/>
        </p:nvSpPr>
        <p:spPr>
          <a:xfrm>
            <a:off x="4039461" y="5975519"/>
            <a:ext cx="326059" cy="200055"/>
          </a:xfrm>
          <a:prstGeom prst="rect">
            <a:avLst/>
          </a:prstGeom>
          <a:noFill/>
        </p:spPr>
        <p:txBody>
          <a:bodyPr wrap="square" rtlCol="0">
            <a:spAutoFit/>
          </a:bodyPr>
          <a:lstStyle/>
          <a:p>
            <a:r>
              <a:rPr lang="tr-TR" sz="700" noProof="1">
                <a:cs typeface="Arial" panose="020B0604020202020204" pitchFamily="34" charset="0"/>
              </a:rPr>
              <a:t>9</a:t>
            </a:r>
          </a:p>
        </p:txBody>
      </p:sp>
      <p:sp>
        <p:nvSpPr>
          <p:cNvPr id="185" name="Metin kutusu 184">
            <a:extLst>
              <a:ext uri="{FF2B5EF4-FFF2-40B4-BE49-F238E27FC236}">
                <a16:creationId xmlns:a16="http://schemas.microsoft.com/office/drawing/2014/main" id="{B9A63FE1-8D5D-425E-A728-64037F04119C}"/>
              </a:ext>
            </a:extLst>
          </p:cNvPr>
          <p:cNvSpPr txBox="1"/>
          <p:nvPr/>
        </p:nvSpPr>
        <p:spPr>
          <a:xfrm>
            <a:off x="3449799" y="5475123"/>
            <a:ext cx="326059" cy="200055"/>
          </a:xfrm>
          <a:prstGeom prst="rect">
            <a:avLst/>
          </a:prstGeom>
          <a:noFill/>
        </p:spPr>
        <p:txBody>
          <a:bodyPr wrap="square" rtlCol="0">
            <a:spAutoFit/>
          </a:bodyPr>
          <a:lstStyle/>
          <a:p>
            <a:r>
              <a:rPr lang="tr-TR" sz="700" noProof="1">
                <a:cs typeface="Arial" panose="020B0604020202020204" pitchFamily="34" charset="0"/>
              </a:rPr>
              <a:t>11</a:t>
            </a:r>
          </a:p>
        </p:txBody>
      </p:sp>
      <p:sp>
        <p:nvSpPr>
          <p:cNvPr id="188" name="Metin kutusu 187">
            <a:extLst>
              <a:ext uri="{FF2B5EF4-FFF2-40B4-BE49-F238E27FC236}">
                <a16:creationId xmlns:a16="http://schemas.microsoft.com/office/drawing/2014/main" id="{A6A65FD8-0DD7-48DB-A232-71C44FF9525E}"/>
              </a:ext>
            </a:extLst>
          </p:cNvPr>
          <p:cNvSpPr txBox="1"/>
          <p:nvPr/>
        </p:nvSpPr>
        <p:spPr>
          <a:xfrm>
            <a:off x="3446237" y="5373479"/>
            <a:ext cx="326059" cy="200055"/>
          </a:xfrm>
          <a:prstGeom prst="rect">
            <a:avLst/>
          </a:prstGeom>
          <a:noFill/>
        </p:spPr>
        <p:txBody>
          <a:bodyPr wrap="square" rtlCol="0">
            <a:spAutoFit/>
          </a:bodyPr>
          <a:lstStyle/>
          <a:p>
            <a:r>
              <a:rPr lang="tr-TR" sz="700" noProof="1">
                <a:cs typeface="Arial" panose="020B0604020202020204" pitchFamily="34" charset="0"/>
              </a:rPr>
              <a:t>16</a:t>
            </a:r>
          </a:p>
        </p:txBody>
      </p:sp>
      <p:cxnSp>
        <p:nvCxnSpPr>
          <p:cNvPr id="189" name="Düz Ok Bağlayıcısı 188">
            <a:extLst>
              <a:ext uri="{FF2B5EF4-FFF2-40B4-BE49-F238E27FC236}">
                <a16:creationId xmlns:a16="http://schemas.microsoft.com/office/drawing/2014/main" id="{D4C7E775-6C85-4828-A690-410B5DF25877}"/>
              </a:ext>
            </a:extLst>
          </p:cNvPr>
          <p:cNvCxnSpPr>
            <a:cxnSpLocks/>
          </p:cNvCxnSpPr>
          <p:nvPr/>
        </p:nvCxnSpPr>
        <p:spPr>
          <a:xfrm flipV="1">
            <a:off x="5376538" y="5192483"/>
            <a:ext cx="8232" cy="9186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0" name="Düz Ok Bağlayıcısı 189">
            <a:extLst>
              <a:ext uri="{FF2B5EF4-FFF2-40B4-BE49-F238E27FC236}">
                <a16:creationId xmlns:a16="http://schemas.microsoft.com/office/drawing/2014/main" id="{CF016666-78B1-48E0-9408-DCDFA7F0FE91}"/>
              </a:ext>
            </a:extLst>
          </p:cNvPr>
          <p:cNvCxnSpPr>
            <a:cxnSpLocks/>
          </p:cNvCxnSpPr>
          <p:nvPr/>
        </p:nvCxnSpPr>
        <p:spPr>
          <a:xfrm>
            <a:off x="5260425" y="6008315"/>
            <a:ext cx="105578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1" name="Metin kutusu 190">
            <a:extLst>
              <a:ext uri="{FF2B5EF4-FFF2-40B4-BE49-F238E27FC236}">
                <a16:creationId xmlns:a16="http://schemas.microsoft.com/office/drawing/2014/main" id="{D061C157-B325-4C93-BEE3-546594459237}"/>
              </a:ext>
            </a:extLst>
          </p:cNvPr>
          <p:cNvSpPr txBox="1"/>
          <p:nvPr/>
        </p:nvSpPr>
        <p:spPr>
          <a:xfrm>
            <a:off x="5188254" y="4963925"/>
            <a:ext cx="1674203" cy="230832"/>
          </a:xfrm>
          <a:prstGeom prst="rect">
            <a:avLst/>
          </a:prstGeom>
          <a:noFill/>
        </p:spPr>
        <p:txBody>
          <a:bodyPr wrap="square" rtlCol="0">
            <a:spAutoFit/>
          </a:bodyPr>
          <a:lstStyle/>
          <a:p>
            <a:r>
              <a:rPr lang="tr-TR" sz="900" noProof="1">
                <a:cs typeface="Arial" panose="020B0604020202020204" pitchFamily="34" charset="0"/>
              </a:rPr>
              <a:t>Düşey (y)</a:t>
            </a:r>
          </a:p>
        </p:txBody>
      </p:sp>
      <p:sp>
        <p:nvSpPr>
          <p:cNvPr id="192" name="Metin kutusu 191">
            <a:extLst>
              <a:ext uri="{FF2B5EF4-FFF2-40B4-BE49-F238E27FC236}">
                <a16:creationId xmlns:a16="http://schemas.microsoft.com/office/drawing/2014/main" id="{C749B4BB-E5AF-41B3-857C-D289BA40927C}"/>
              </a:ext>
            </a:extLst>
          </p:cNvPr>
          <p:cNvSpPr txBox="1"/>
          <p:nvPr/>
        </p:nvSpPr>
        <p:spPr>
          <a:xfrm>
            <a:off x="5139429" y="5276477"/>
            <a:ext cx="326059" cy="200055"/>
          </a:xfrm>
          <a:prstGeom prst="rect">
            <a:avLst/>
          </a:prstGeom>
          <a:noFill/>
        </p:spPr>
        <p:txBody>
          <a:bodyPr wrap="square" rtlCol="0">
            <a:spAutoFit/>
          </a:bodyPr>
          <a:lstStyle/>
          <a:p>
            <a:r>
              <a:rPr lang="tr-TR" sz="700" noProof="1">
                <a:cs typeface="Arial" panose="020B0604020202020204" pitchFamily="34" charset="0"/>
              </a:rPr>
              <a:t>46</a:t>
            </a:r>
          </a:p>
        </p:txBody>
      </p:sp>
      <p:sp>
        <p:nvSpPr>
          <p:cNvPr id="193" name="Metin kutusu 192">
            <a:extLst>
              <a:ext uri="{FF2B5EF4-FFF2-40B4-BE49-F238E27FC236}">
                <a16:creationId xmlns:a16="http://schemas.microsoft.com/office/drawing/2014/main" id="{87EECD79-7D6C-4227-A534-972181AE8E0C}"/>
              </a:ext>
            </a:extLst>
          </p:cNvPr>
          <p:cNvSpPr txBox="1"/>
          <p:nvPr/>
        </p:nvSpPr>
        <p:spPr>
          <a:xfrm>
            <a:off x="6264891" y="5896327"/>
            <a:ext cx="590187" cy="230832"/>
          </a:xfrm>
          <a:prstGeom prst="rect">
            <a:avLst/>
          </a:prstGeom>
          <a:noFill/>
        </p:spPr>
        <p:txBody>
          <a:bodyPr wrap="square" rtlCol="0">
            <a:spAutoFit/>
          </a:bodyPr>
          <a:lstStyle/>
          <a:p>
            <a:r>
              <a:rPr lang="tr-TR" sz="900" noProof="1">
                <a:cs typeface="Arial" panose="020B0604020202020204" pitchFamily="34" charset="0"/>
              </a:rPr>
              <a:t>Yatay (x)</a:t>
            </a:r>
          </a:p>
        </p:txBody>
      </p:sp>
      <p:sp>
        <p:nvSpPr>
          <p:cNvPr id="194" name="Metin kutusu 193">
            <a:extLst>
              <a:ext uri="{FF2B5EF4-FFF2-40B4-BE49-F238E27FC236}">
                <a16:creationId xmlns:a16="http://schemas.microsoft.com/office/drawing/2014/main" id="{78170748-2F05-4B36-AAB3-F3DBDEC97ADA}"/>
              </a:ext>
            </a:extLst>
          </p:cNvPr>
          <p:cNvSpPr txBox="1"/>
          <p:nvPr/>
        </p:nvSpPr>
        <p:spPr>
          <a:xfrm>
            <a:off x="5670350" y="5962272"/>
            <a:ext cx="326059" cy="200055"/>
          </a:xfrm>
          <a:prstGeom prst="rect">
            <a:avLst/>
          </a:prstGeom>
          <a:noFill/>
        </p:spPr>
        <p:txBody>
          <a:bodyPr wrap="square" rtlCol="0">
            <a:spAutoFit/>
          </a:bodyPr>
          <a:lstStyle/>
          <a:p>
            <a:r>
              <a:rPr lang="tr-TR" sz="700" noProof="1">
                <a:cs typeface="Arial" panose="020B0604020202020204" pitchFamily="34" charset="0"/>
              </a:rPr>
              <a:t>m</a:t>
            </a:r>
          </a:p>
        </p:txBody>
      </p:sp>
      <p:cxnSp>
        <p:nvCxnSpPr>
          <p:cNvPr id="1058" name="Düz Bağlayıcı 1057">
            <a:extLst>
              <a:ext uri="{FF2B5EF4-FFF2-40B4-BE49-F238E27FC236}">
                <a16:creationId xmlns:a16="http://schemas.microsoft.com/office/drawing/2014/main" id="{5EA9A82E-2B52-48F6-86B8-2B01BF2A548F}"/>
              </a:ext>
            </a:extLst>
          </p:cNvPr>
          <p:cNvCxnSpPr>
            <a:cxnSpLocks/>
          </p:cNvCxnSpPr>
          <p:nvPr/>
        </p:nvCxnSpPr>
        <p:spPr>
          <a:xfrm flipV="1">
            <a:off x="5384770" y="5355283"/>
            <a:ext cx="636518" cy="4911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Düz Bağlayıcı 201">
            <a:extLst>
              <a:ext uri="{FF2B5EF4-FFF2-40B4-BE49-F238E27FC236}">
                <a16:creationId xmlns:a16="http://schemas.microsoft.com/office/drawing/2014/main" id="{E7625F19-C0CD-462E-9726-20097E768EF9}"/>
              </a:ext>
            </a:extLst>
          </p:cNvPr>
          <p:cNvCxnSpPr>
            <a:cxnSpLocks/>
          </p:cNvCxnSpPr>
          <p:nvPr/>
        </p:nvCxnSpPr>
        <p:spPr>
          <a:xfrm>
            <a:off x="5617249" y="5673528"/>
            <a:ext cx="0" cy="336138"/>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6" name="Düz Bağlayıcı 205">
            <a:extLst>
              <a:ext uri="{FF2B5EF4-FFF2-40B4-BE49-F238E27FC236}">
                <a16:creationId xmlns:a16="http://schemas.microsoft.com/office/drawing/2014/main" id="{AF011286-B7F9-4B42-86E5-384CD3ECFB5A}"/>
              </a:ext>
            </a:extLst>
          </p:cNvPr>
          <p:cNvCxnSpPr>
            <a:cxnSpLocks/>
          </p:cNvCxnSpPr>
          <p:nvPr/>
        </p:nvCxnSpPr>
        <p:spPr>
          <a:xfrm flipH="1">
            <a:off x="5801637" y="5516641"/>
            <a:ext cx="4398" cy="48864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8" name="Düz Bağlayıcı 217">
            <a:extLst>
              <a:ext uri="{FF2B5EF4-FFF2-40B4-BE49-F238E27FC236}">
                <a16:creationId xmlns:a16="http://schemas.microsoft.com/office/drawing/2014/main" id="{3720F24B-40FE-4EA1-8F80-F4F867DF1BE2}"/>
              </a:ext>
            </a:extLst>
          </p:cNvPr>
          <p:cNvCxnSpPr>
            <a:cxnSpLocks/>
          </p:cNvCxnSpPr>
          <p:nvPr/>
        </p:nvCxnSpPr>
        <p:spPr>
          <a:xfrm flipH="1">
            <a:off x="5990422" y="5386812"/>
            <a:ext cx="1" cy="62468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1" name="Düz Bağlayıcı 220">
            <a:extLst>
              <a:ext uri="{FF2B5EF4-FFF2-40B4-BE49-F238E27FC236}">
                <a16:creationId xmlns:a16="http://schemas.microsoft.com/office/drawing/2014/main" id="{48A379E6-0A60-4001-A711-2ADF05694718}"/>
              </a:ext>
            </a:extLst>
          </p:cNvPr>
          <p:cNvCxnSpPr>
            <a:cxnSpLocks/>
          </p:cNvCxnSpPr>
          <p:nvPr/>
        </p:nvCxnSpPr>
        <p:spPr>
          <a:xfrm>
            <a:off x="5387226" y="5673528"/>
            <a:ext cx="22808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3" name="Düz Bağlayıcı 222">
            <a:extLst>
              <a:ext uri="{FF2B5EF4-FFF2-40B4-BE49-F238E27FC236}">
                <a16:creationId xmlns:a16="http://schemas.microsoft.com/office/drawing/2014/main" id="{A874EC55-781A-4AC2-ACB7-753426398209}"/>
              </a:ext>
            </a:extLst>
          </p:cNvPr>
          <p:cNvCxnSpPr>
            <a:cxnSpLocks/>
          </p:cNvCxnSpPr>
          <p:nvPr/>
        </p:nvCxnSpPr>
        <p:spPr>
          <a:xfrm>
            <a:off x="5384770" y="5518031"/>
            <a:ext cx="417859"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5" name="Düz Bağlayıcı 224">
            <a:extLst>
              <a:ext uri="{FF2B5EF4-FFF2-40B4-BE49-F238E27FC236}">
                <a16:creationId xmlns:a16="http://schemas.microsoft.com/office/drawing/2014/main" id="{87F84048-F324-4A3D-9B73-E8752FF48E08}"/>
              </a:ext>
            </a:extLst>
          </p:cNvPr>
          <p:cNvCxnSpPr>
            <a:cxnSpLocks/>
          </p:cNvCxnSpPr>
          <p:nvPr/>
        </p:nvCxnSpPr>
        <p:spPr>
          <a:xfrm flipV="1">
            <a:off x="5380654" y="5385105"/>
            <a:ext cx="599099" cy="1707"/>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9" name="Metin kutusu 228">
            <a:extLst>
              <a:ext uri="{FF2B5EF4-FFF2-40B4-BE49-F238E27FC236}">
                <a16:creationId xmlns:a16="http://schemas.microsoft.com/office/drawing/2014/main" id="{0CA6AA8D-DD39-41A2-B51E-5B6B0E3F334C}"/>
              </a:ext>
            </a:extLst>
          </p:cNvPr>
          <p:cNvSpPr txBox="1"/>
          <p:nvPr/>
        </p:nvSpPr>
        <p:spPr>
          <a:xfrm>
            <a:off x="5139427" y="5415717"/>
            <a:ext cx="326059" cy="200055"/>
          </a:xfrm>
          <a:prstGeom prst="rect">
            <a:avLst/>
          </a:prstGeom>
          <a:noFill/>
        </p:spPr>
        <p:txBody>
          <a:bodyPr wrap="square" rtlCol="0">
            <a:spAutoFit/>
          </a:bodyPr>
          <a:lstStyle/>
          <a:p>
            <a:r>
              <a:rPr lang="tr-TR" sz="700" noProof="1">
                <a:cs typeface="Arial" panose="020B0604020202020204" pitchFamily="34" charset="0"/>
              </a:rPr>
              <a:t>35</a:t>
            </a:r>
          </a:p>
        </p:txBody>
      </p:sp>
      <p:sp>
        <p:nvSpPr>
          <p:cNvPr id="230" name="Metin kutusu 229">
            <a:extLst>
              <a:ext uri="{FF2B5EF4-FFF2-40B4-BE49-F238E27FC236}">
                <a16:creationId xmlns:a16="http://schemas.microsoft.com/office/drawing/2014/main" id="{91EB6CAA-E90C-4685-8639-DF4B10353293}"/>
              </a:ext>
            </a:extLst>
          </p:cNvPr>
          <p:cNvSpPr txBox="1"/>
          <p:nvPr/>
        </p:nvSpPr>
        <p:spPr>
          <a:xfrm>
            <a:off x="5136689" y="5557243"/>
            <a:ext cx="326059" cy="200055"/>
          </a:xfrm>
          <a:prstGeom prst="rect">
            <a:avLst/>
          </a:prstGeom>
          <a:noFill/>
        </p:spPr>
        <p:txBody>
          <a:bodyPr wrap="square" rtlCol="0">
            <a:spAutoFit/>
          </a:bodyPr>
          <a:lstStyle/>
          <a:p>
            <a:r>
              <a:rPr lang="tr-TR" sz="700" noProof="1">
                <a:cs typeface="Arial" panose="020B0604020202020204" pitchFamily="34" charset="0"/>
              </a:rPr>
              <a:t>29</a:t>
            </a:r>
          </a:p>
        </p:txBody>
      </p:sp>
      <p:sp>
        <p:nvSpPr>
          <p:cNvPr id="231" name="Metin kutusu 230">
            <a:extLst>
              <a:ext uri="{FF2B5EF4-FFF2-40B4-BE49-F238E27FC236}">
                <a16:creationId xmlns:a16="http://schemas.microsoft.com/office/drawing/2014/main" id="{2D5A23EF-4BE1-4B5C-A7FE-731B665ACFA7}"/>
              </a:ext>
            </a:extLst>
          </p:cNvPr>
          <p:cNvSpPr txBox="1"/>
          <p:nvPr/>
        </p:nvSpPr>
        <p:spPr>
          <a:xfrm>
            <a:off x="5489348" y="5962272"/>
            <a:ext cx="326059" cy="200055"/>
          </a:xfrm>
          <a:prstGeom prst="rect">
            <a:avLst/>
          </a:prstGeom>
          <a:noFill/>
        </p:spPr>
        <p:txBody>
          <a:bodyPr wrap="square" rtlCol="0">
            <a:spAutoFit/>
          </a:bodyPr>
          <a:lstStyle/>
          <a:p>
            <a:r>
              <a:rPr lang="tr-TR" sz="700" noProof="1">
                <a:cs typeface="Arial" panose="020B0604020202020204" pitchFamily="34" charset="0"/>
              </a:rPr>
              <a:t>22</a:t>
            </a:r>
          </a:p>
        </p:txBody>
      </p:sp>
      <p:sp>
        <p:nvSpPr>
          <p:cNvPr id="233" name="Metin kutusu 232">
            <a:extLst>
              <a:ext uri="{FF2B5EF4-FFF2-40B4-BE49-F238E27FC236}">
                <a16:creationId xmlns:a16="http://schemas.microsoft.com/office/drawing/2014/main" id="{EA953AF4-11EC-4D69-904D-2805C82774A1}"/>
              </a:ext>
            </a:extLst>
          </p:cNvPr>
          <p:cNvSpPr txBox="1"/>
          <p:nvPr/>
        </p:nvSpPr>
        <p:spPr>
          <a:xfrm>
            <a:off x="5852058" y="5965349"/>
            <a:ext cx="326059" cy="200055"/>
          </a:xfrm>
          <a:prstGeom prst="rect">
            <a:avLst/>
          </a:prstGeom>
          <a:noFill/>
        </p:spPr>
        <p:txBody>
          <a:bodyPr wrap="square" rtlCol="0">
            <a:spAutoFit/>
          </a:bodyPr>
          <a:lstStyle/>
          <a:p>
            <a:r>
              <a:rPr lang="tr-TR" sz="700" noProof="1">
                <a:cs typeface="Arial" panose="020B0604020202020204" pitchFamily="34" charset="0"/>
              </a:rPr>
              <a:t>56</a:t>
            </a:r>
          </a:p>
        </p:txBody>
      </p:sp>
    </p:spTree>
    <p:extLst>
      <p:ext uri="{BB962C8B-B14F-4D97-AF65-F5344CB8AC3E}">
        <p14:creationId xmlns:p14="http://schemas.microsoft.com/office/powerpoint/2010/main" val="28333187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Grafik Problemleri</a:t>
            </a:r>
          </a:p>
          <a:p>
            <a:r>
              <a:rPr lang="tr-TR" sz="1000" b="1" noProof="1">
                <a:latin typeface="+mj-lt"/>
                <a:cs typeface="Arial" panose="020B0604020202020204" pitchFamily="34" charset="0"/>
              </a:rPr>
              <a:t>      Doğrusal ve Parabolik Grafikler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891154"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14.</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15.</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3302841" cy="246221"/>
          </a:xfrm>
          <a:prstGeom prst="rect">
            <a:avLst/>
          </a:prstGeom>
          <a:noFill/>
        </p:spPr>
        <p:txBody>
          <a:bodyPr wrap="square" rtlCol="0">
            <a:spAutoFit/>
          </a:bodyPr>
          <a:lstStyle/>
          <a:p>
            <a:r>
              <a:rPr lang="tr-TR" sz="1000" noProof="1">
                <a:cs typeface="Arial" panose="020B0604020202020204" pitchFamily="34" charset="0"/>
              </a:rPr>
              <a:t>Aşağıda bir aracın konum zaman grafiği verilmiştir.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0" y="8833647"/>
            <a:ext cx="1052736"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13.B  14.C 15.B</a:t>
            </a:r>
          </a:p>
        </p:txBody>
      </p:sp>
      <p:sp>
        <p:nvSpPr>
          <p:cNvPr id="58" name="Metin kutusu 57">
            <a:extLst>
              <a:ext uri="{FF2B5EF4-FFF2-40B4-BE49-F238E27FC236}">
                <a16:creationId xmlns:a16="http://schemas.microsoft.com/office/drawing/2014/main" id="{CE90EFC4-E8EE-446E-9FA7-CFD985CEDE41}"/>
              </a:ext>
            </a:extLst>
          </p:cNvPr>
          <p:cNvSpPr txBox="1"/>
          <p:nvPr/>
        </p:nvSpPr>
        <p:spPr>
          <a:xfrm>
            <a:off x="-83084" y="452787"/>
            <a:ext cx="390184"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13.</a:t>
            </a:r>
          </a:p>
        </p:txBody>
      </p:sp>
      <p:sp>
        <p:nvSpPr>
          <p:cNvPr id="59" name="Metin kutusu 58">
            <a:extLst>
              <a:ext uri="{FF2B5EF4-FFF2-40B4-BE49-F238E27FC236}">
                <a16:creationId xmlns:a16="http://schemas.microsoft.com/office/drawing/2014/main" id="{C1C15803-3DB2-4811-BE91-05DAE56D11ED}"/>
              </a:ext>
            </a:extLst>
          </p:cNvPr>
          <p:cNvSpPr txBox="1"/>
          <p:nvPr/>
        </p:nvSpPr>
        <p:spPr>
          <a:xfrm>
            <a:off x="217494" y="524070"/>
            <a:ext cx="3118580" cy="784830"/>
          </a:xfrm>
          <a:prstGeom prst="rect">
            <a:avLst/>
          </a:prstGeom>
          <a:solidFill>
            <a:schemeClr val="accent5">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tr-TR" sz="1500" noProof="1">
                <a:solidFill>
                  <a:schemeClr val="tx1"/>
                </a:solidFill>
                <a:latin typeface="Allema" panose="03000505000000020004" pitchFamily="66" charset="-94"/>
                <a:cs typeface="Arial" panose="020B0604020202020204" pitchFamily="34" charset="0"/>
              </a:rPr>
              <a:t>Formül Köşesi</a:t>
            </a:r>
            <a:br>
              <a:rPr lang="tr-TR" sz="1500" noProof="1">
                <a:solidFill>
                  <a:schemeClr val="tx1"/>
                </a:solidFill>
                <a:latin typeface="Allema" panose="03000505000000020004" pitchFamily="66" charset="-94"/>
                <a:cs typeface="Arial" panose="020B0604020202020204" pitchFamily="34" charset="0"/>
              </a:rPr>
            </a:br>
            <a:endParaRPr lang="tr-TR" sz="1500" noProof="1">
              <a:solidFill>
                <a:schemeClr val="tx1"/>
              </a:solidFill>
              <a:latin typeface="Cambria Math" panose="02040503050406030204" pitchFamily="18" charset="0"/>
              <a:cs typeface="Arial" panose="020B0604020202020204" pitchFamily="34" charset="0"/>
            </a:endParaRPr>
          </a:p>
          <a:p>
            <a:pPr algn="ctr"/>
            <a:endParaRPr lang="tr-TR" sz="1500" noProof="1">
              <a:solidFill>
                <a:schemeClr val="tx1"/>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2F0DC617-FB1A-4743-BFBE-DEA6547153DE}"/>
                  </a:ext>
                </a:extLst>
              </p:cNvPr>
              <p:cNvSpPr txBox="1"/>
              <p:nvPr/>
            </p:nvSpPr>
            <p:spPr>
              <a:xfrm>
                <a:off x="199522" y="797440"/>
                <a:ext cx="3229477" cy="506164"/>
              </a:xfrm>
              <a:prstGeom prst="rect">
                <a:avLst/>
              </a:prstGeom>
              <a:noFill/>
            </p:spPr>
            <p:txBody>
              <a:bodyPr wrap="square">
                <a:spAutoFit/>
              </a:bodyPr>
              <a:lstStyle/>
              <a:p>
                <a14:m>
                  <m:oMath xmlns:m="http://schemas.openxmlformats.org/officeDocument/2006/math">
                    <m:f>
                      <m:fPr>
                        <m:ctrlPr>
                          <a:rPr lang="tr-TR" sz="1000" i="1" noProof="1" smtClean="0">
                            <a:solidFill>
                              <a:schemeClr val="tx1"/>
                            </a:solidFill>
                            <a:latin typeface="Cambria Math" panose="02040503050406030204" pitchFamily="18" charset="0"/>
                            <a:cs typeface="Arial" panose="020B0604020202020204" pitchFamily="34" charset="0"/>
                          </a:rPr>
                        </m:ctrlPr>
                      </m:fPr>
                      <m:num>
                        <m:r>
                          <m:rPr>
                            <m:nor/>
                          </m:rPr>
                          <a:rPr lang="tr-TR" sz="1000" b="0" noProof="1" smtClean="0">
                            <a:solidFill>
                              <a:schemeClr val="tx1"/>
                            </a:solidFill>
                            <a:cs typeface="Arial" panose="020B0604020202020204" pitchFamily="34" charset="0"/>
                          </a:rPr>
                          <m:t>K</m:t>
                        </m:r>
                        <m:r>
                          <m:rPr>
                            <m:nor/>
                          </m:rPr>
                          <a:rPr lang="tr-TR" sz="1000" b="0" noProof="1" smtClean="0">
                            <a:solidFill>
                              <a:schemeClr val="tx1"/>
                            </a:solidFill>
                            <a:cs typeface="Arial" panose="020B0604020202020204" pitchFamily="34" charset="0"/>
                          </a:rPr>
                          <m:t>ü</m:t>
                        </m:r>
                        <m:r>
                          <m:rPr>
                            <m:nor/>
                          </m:rPr>
                          <a:rPr lang="tr-TR" sz="1000" b="0" noProof="1" smtClean="0">
                            <a:solidFill>
                              <a:schemeClr val="tx1"/>
                            </a:solidFill>
                            <a:cs typeface="Arial" panose="020B0604020202020204" pitchFamily="34" charset="0"/>
                          </a:rPr>
                          <m:t>tle</m:t>
                        </m:r>
                      </m:num>
                      <m:den>
                        <m:r>
                          <m:rPr>
                            <m:nor/>
                          </m:rPr>
                          <a:rPr lang="tr-TR" sz="1000" b="0" noProof="1" smtClean="0">
                            <a:solidFill>
                              <a:schemeClr val="tx1"/>
                            </a:solidFill>
                            <a:cs typeface="Arial" panose="020B0604020202020204" pitchFamily="34" charset="0"/>
                          </a:rPr>
                          <m:t>Ö</m:t>
                        </m:r>
                        <m:r>
                          <m:rPr>
                            <m:nor/>
                          </m:rPr>
                          <a:rPr lang="tr-TR" sz="1000" b="0" noProof="1" smtClean="0">
                            <a:solidFill>
                              <a:schemeClr val="tx1"/>
                            </a:solidFill>
                            <a:cs typeface="Arial" panose="020B0604020202020204" pitchFamily="34" charset="0"/>
                          </a:rPr>
                          <m:t>zk</m:t>
                        </m:r>
                        <m:r>
                          <m:rPr>
                            <m:nor/>
                          </m:rPr>
                          <a:rPr lang="tr-TR" sz="1000" b="0" noProof="1" smtClean="0">
                            <a:solidFill>
                              <a:schemeClr val="tx1"/>
                            </a:solidFill>
                            <a:cs typeface="Arial" panose="020B0604020202020204" pitchFamily="34" charset="0"/>
                          </a:rPr>
                          <m:t>ü</m:t>
                        </m:r>
                        <m:r>
                          <m:rPr>
                            <m:nor/>
                          </m:rPr>
                          <a:rPr lang="tr-TR" sz="1000" b="0" noProof="1" smtClean="0">
                            <a:solidFill>
                              <a:schemeClr val="tx1"/>
                            </a:solidFill>
                            <a:cs typeface="Arial" panose="020B0604020202020204" pitchFamily="34" charset="0"/>
                          </a:rPr>
                          <m:t>tle</m:t>
                        </m:r>
                      </m:den>
                    </m:f>
                  </m:oMath>
                </a14:m>
                <a:r>
                  <a:rPr lang="tr-TR" sz="1000" noProof="1">
                    <a:solidFill>
                      <a:schemeClr val="tx1"/>
                    </a:solidFill>
                    <a:cs typeface="Arial" panose="020B0604020202020204" pitchFamily="34" charset="0"/>
                  </a:rPr>
                  <a:t> = Hacim                                                    </a:t>
                </a:r>
                <a14:m>
                  <m:oMath xmlns:m="http://schemas.openxmlformats.org/officeDocument/2006/math">
                    <m:f>
                      <m:fPr>
                        <m:ctrlPr>
                          <a:rPr lang="tr-TR" sz="1000" i="1" noProof="1">
                            <a:latin typeface="Cambria Math" panose="02040503050406030204" pitchFamily="18" charset="0"/>
                            <a:cs typeface="Arial" panose="020B0604020202020204" pitchFamily="34" charset="0"/>
                          </a:rPr>
                        </m:ctrlPr>
                      </m:fPr>
                      <m:num>
                        <m:r>
                          <m:rPr>
                            <m:nor/>
                          </m:rPr>
                          <a:rPr lang="tr-TR" sz="1000" b="0" i="0" noProof="1" smtClean="0">
                            <a:cs typeface="Arial" panose="020B0604020202020204" pitchFamily="34" charset="0"/>
                          </a:rPr>
                          <m:t>yol</m:t>
                        </m:r>
                      </m:num>
                      <m:den>
                        <m:r>
                          <m:rPr>
                            <m:nor/>
                          </m:rPr>
                          <a:rPr lang="tr-TR" sz="1000" b="0" i="0" noProof="1" smtClean="0">
                            <a:cs typeface="Arial" panose="020B0604020202020204" pitchFamily="34" charset="0"/>
                          </a:rPr>
                          <m:t>h</m:t>
                        </m:r>
                        <m:r>
                          <m:rPr>
                            <m:nor/>
                          </m:rPr>
                          <a:rPr lang="tr-TR" sz="1000" b="0" i="0" noProof="1" smtClean="0">
                            <a:cs typeface="Arial" panose="020B0604020202020204" pitchFamily="34" charset="0"/>
                          </a:rPr>
                          <m:t>ı</m:t>
                        </m:r>
                        <m:r>
                          <m:rPr>
                            <m:nor/>
                          </m:rPr>
                          <a:rPr lang="tr-TR" sz="1000" b="0" i="0" noProof="1" smtClean="0">
                            <a:cs typeface="Arial" panose="020B0604020202020204" pitchFamily="34" charset="0"/>
                          </a:rPr>
                          <m:t>z</m:t>
                        </m:r>
                      </m:den>
                    </m:f>
                  </m:oMath>
                </a14:m>
                <a:r>
                  <a:rPr lang="tr-TR" sz="1000" noProof="1">
                    <a:cs typeface="Arial" panose="020B0604020202020204" pitchFamily="34" charset="0"/>
                  </a:rPr>
                  <a:t> = zaman</a:t>
                </a:r>
                <a:endParaRPr lang="tr-TR" sz="1000" dirty="0"/>
              </a:p>
              <a:p>
                <a:r>
                  <a:rPr lang="tr-TR" sz="1000" noProof="1">
                    <a:solidFill>
                      <a:schemeClr val="tx1"/>
                    </a:solidFill>
                    <a:cs typeface="Arial" panose="020B0604020202020204" pitchFamily="34" charset="0"/>
                  </a:rPr>
                  <a:t> </a:t>
                </a:r>
                <a:endParaRPr lang="tr-TR" sz="1000" dirty="0"/>
              </a:p>
            </p:txBody>
          </p:sp>
        </mc:Choice>
        <mc:Fallback xmlns="">
          <p:sp>
            <p:nvSpPr>
              <p:cNvPr id="60" name="Metin kutusu 59">
                <a:extLst>
                  <a:ext uri="{FF2B5EF4-FFF2-40B4-BE49-F238E27FC236}">
                    <a16:creationId xmlns:a16="http://schemas.microsoft.com/office/drawing/2014/main" id="{2F0DC617-FB1A-4743-BFBE-DEA6547153DE}"/>
                  </a:ext>
                </a:extLst>
              </p:cNvPr>
              <p:cNvSpPr txBox="1">
                <a:spLocks noRot="1" noChangeAspect="1" noMove="1" noResize="1" noEditPoints="1" noAdjustHandles="1" noChangeArrowheads="1" noChangeShapeType="1" noTextEdit="1"/>
              </p:cNvSpPr>
              <p:nvPr/>
            </p:nvSpPr>
            <p:spPr>
              <a:xfrm>
                <a:off x="199522" y="797440"/>
                <a:ext cx="3229477" cy="506164"/>
              </a:xfrm>
              <a:prstGeom prst="rect">
                <a:avLst/>
              </a:prstGeom>
              <a:blipFill>
                <a:blip r:embed="rId5"/>
                <a:stretch>
                  <a:fillRect/>
                </a:stretch>
              </a:blipFill>
            </p:spPr>
            <p:txBody>
              <a:bodyPr/>
              <a:lstStyle/>
              <a:p>
                <a:r>
                  <a:rPr lang="tr-TR">
                    <a:noFill/>
                  </a:rPr>
                  <a:t> </a:t>
                </a:r>
              </a:p>
            </p:txBody>
          </p:sp>
        </mc:Fallback>
      </mc:AlternateContent>
      <p:sp>
        <p:nvSpPr>
          <p:cNvPr id="61" name="Metin kutusu 60">
            <a:extLst>
              <a:ext uri="{FF2B5EF4-FFF2-40B4-BE49-F238E27FC236}">
                <a16:creationId xmlns:a16="http://schemas.microsoft.com/office/drawing/2014/main" id="{FCFD6783-7157-4A4E-9DB7-F5C813B2E8A7}"/>
              </a:ext>
            </a:extLst>
          </p:cNvPr>
          <p:cNvSpPr txBox="1"/>
          <p:nvPr/>
        </p:nvSpPr>
        <p:spPr>
          <a:xfrm>
            <a:off x="141796" y="1296832"/>
            <a:ext cx="3287204" cy="553998"/>
          </a:xfrm>
          <a:prstGeom prst="rect">
            <a:avLst/>
          </a:prstGeom>
          <a:noFill/>
        </p:spPr>
        <p:txBody>
          <a:bodyPr wrap="square" rtlCol="0">
            <a:spAutoFit/>
          </a:bodyPr>
          <a:lstStyle/>
          <a:p>
            <a:r>
              <a:rPr lang="tr-TR" sz="1000" noProof="1">
                <a:cs typeface="Arial" panose="020B0604020202020204" pitchFamily="34" charset="0"/>
              </a:rPr>
              <a:t>Yukarıda bazı formüller panoda verilmiştir. Bu formüller yardımıyla aşağıdaki grafiklerin eğimlerinin hangi niceliği ifade ettiğini Sude bulacaktır. </a:t>
            </a:r>
          </a:p>
        </p:txBody>
      </p:sp>
      <p:cxnSp>
        <p:nvCxnSpPr>
          <p:cNvPr id="63" name="Düz Ok Bağlayıcısı 62">
            <a:extLst>
              <a:ext uri="{FF2B5EF4-FFF2-40B4-BE49-F238E27FC236}">
                <a16:creationId xmlns:a16="http://schemas.microsoft.com/office/drawing/2014/main" id="{6622844F-0E76-4D5E-9EEA-54A4E330C83D}"/>
              </a:ext>
            </a:extLst>
          </p:cNvPr>
          <p:cNvCxnSpPr>
            <a:cxnSpLocks/>
          </p:cNvCxnSpPr>
          <p:nvPr/>
        </p:nvCxnSpPr>
        <p:spPr>
          <a:xfrm flipV="1">
            <a:off x="302061" y="2023635"/>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Düz Ok Bağlayıcısı 63">
            <a:extLst>
              <a:ext uri="{FF2B5EF4-FFF2-40B4-BE49-F238E27FC236}">
                <a16:creationId xmlns:a16="http://schemas.microsoft.com/office/drawing/2014/main" id="{47CFF4B3-584D-440E-9224-33C9994CA615}"/>
              </a:ext>
            </a:extLst>
          </p:cNvPr>
          <p:cNvCxnSpPr>
            <a:cxnSpLocks/>
          </p:cNvCxnSpPr>
          <p:nvPr/>
        </p:nvCxnSpPr>
        <p:spPr>
          <a:xfrm>
            <a:off x="153220" y="2992343"/>
            <a:ext cx="11278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Metin kutusu 64">
            <a:extLst>
              <a:ext uri="{FF2B5EF4-FFF2-40B4-BE49-F238E27FC236}">
                <a16:creationId xmlns:a16="http://schemas.microsoft.com/office/drawing/2014/main" id="{5B3EA5BD-40C5-4C56-871A-CC55AF0366F0}"/>
              </a:ext>
            </a:extLst>
          </p:cNvPr>
          <p:cNvSpPr txBox="1"/>
          <p:nvPr/>
        </p:nvSpPr>
        <p:spPr>
          <a:xfrm>
            <a:off x="1297469" y="2864642"/>
            <a:ext cx="547353" cy="246221"/>
          </a:xfrm>
          <a:prstGeom prst="rect">
            <a:avLst/>
          </a:prstGeom>
          <a:noFill/>
        </p:spPr>
        <p:txBody>
          <a:bodyPr wrap="square" rtlCol="0">
            <a:spAutoFit/>
          </a:bodyPr>
          <a:lstStyle/>
          <a:p>
            <a:r>
              <a:rPr lang="tr-TR" sz="1000" noProof="1">
                <a:cs typeface="Arial" panose="020B0604020202020204" pitchFamily="34" charset="0"/>
              </a:rPr>
              <a:t>Hacim</a:t>
            </a:r>
          </a:p>
        </p:txBody>
      </p:sp>
      <p:sp>
        <p:nvSpPr>
          <p:cNvPr id="66" name="Metin kutusu 65">
            <a:extLst>
              <a:ext uri="{FF2B5EF4-FFF2-40B4-BE49-F238E27FC236}">
                <a16:creationId xmlns:a16="http://schemas.microsoft.com/office/drawing/2014/main" id="{63B30378-35B3-4673-A1BB-29EA48D61181}"/>
              </a:ext>
            </a:extLst>
          </p:cNvPr>
          <p:cNvSpPr txBox="1"/>
          <p:nvPr/>
        </p:nvSpPr>
        <p:spPr>
          <a:xfrm>
            <a:off x="171185" y="1814128"/>
            <a:ext cx="1272408" cy="246221"/>
          </a:xfrm>
          <a:prstGeom prst="rect">
            <a:avLst/>
          </a:prstGeom>
          <a:noFill/>
        </p:spPr>
        <p:txBody>
          <a:bodyPr wrap="square" rtlCol="0">
            <a:spAutoFit/>
          </a:bodyPr>
          <a:lstStyle/>
          <a:p>
            <a:r>
              <a:rPr lang="tr-TR" sz="1000" noProof="1">
                <a:cs typeface="Arial" panose="020B0604020202020204" pitchFamily="34" charset="0"/>
              </a:rPr>
              <a:t>Kütle</a:t>
            </a:r>
          </a:p>
        </p:txBody>
      </p:sp>
      <p:cxnSp>
        <p:nvCxnSpPr>
          <p:cNvPr id="13" name="Düz Bağlayıcı 12">
            <a:extLst>
              <a:ext uri="{FF2B5EF4-FFF2-40B4-BE49-F238E27FC236}">
                <a16:creationId xmlns:a16="http://schemas.microsoft.com/office/drawing/2014/main" id="{2D961343-5BF3-4B5A-A92E-7447B9D28BAE}"/>
              </a:ext>
            </a:extLst>
          </p:cNvPr>
          <p:cNvCxnSpPr>
            <a:cxnSpLocks/>
          </p:cNvCxnSpPr>
          <p:nvPr/>
        </p:nvCxnSpPr>
        <p:spPr>
          <a:xfrm flipV="1">
            <a:off x="302061" y="2123728"/>
            <a:ext cx="966699" cy="7200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Düz Ok Bağlayıcısı 67">
            <a:extLst>
              <a:ext uri="{FF2B5EF4-FFF2-40B4-BE49-F238E27FC236}">
                <a16:creationId xmlns:a16="http://schemas.microsoft.com/office/drawing/2014/main" id="{FBFC4A78-E257-42E1-9152-4EB904F64850}"/>
              </a:ext>
            </a:extLst>
          </p:cNvPr>
          <p:cNvCxnSpPr>
            <a:cxnSpLocks/>
          </p:cNvCxnSpPr>
          <p:nvPr/>
        </p:nvCxnSpPr>
        <p:spPr>
          <a:xfrm flipV="1">
            <a:off x="2015577" y="2018212"/>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Düz Ok Bağlayıcısı 68">
            <a:extLst>
              <a:ext uri="{FF2B5EF4-FFF2-40B4-BE49-F238E27FC236}">
                <a16:creationId xmlns:a16="http://schemas.microsoft.com/office/drawing/2014/main" id="{C42BDF77-14A7-4C11-BE1F-19EF3B85710C}"/>
              </a:ext>
            </a:extLst>
          </p:cNvPr>
          <p:cNvCxnSpPr>
            <a:cxnSpLocks/>
          </p:cNvCxnSpPr>
          <p:nvPr/>
        </p:nvCxnSpPr>
        <p:spPr>
          <a:xfrm>
            <a:off x="1866736" y="2986920"/>
            <a:ext cx="11278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Metin kutusu 69">
            <a:extLst>
              <a:ext uri="{FF2B5EF4-FFF2-40B4-BE49-F238E27FC236}">
                <a16:creationId xmlns:a16="http://schemas.microsoft.com/office/drawing/2014/main" id="{400AF151-3B83-4F64-BEC2-5C79BFF52C8A}"/>
              </a:ext>
            </a:extLst>
          </p:cNvPr>
          <p:cNvSpPr txBox="1"/>
          <p:nvPr/>
        </p:nvSpPr>
        <p:spPr>
          <a:xfrm>
            <a:off x="2964252" y="2852265"/>
            <a:ext cx="547353" cy="246221"/>
          </a:xfrm>
          <a:prstGeom prst="rect">
            <a:avLst/>
          </a:prstGeom>
          <a:noFill/>
        </p:spPr>
        <p:txBody>
          <a:bodyPr wrap="square" rtlCol="0">
            <a:spAutoFit/>
          </a:bodyPr>
          <a:lstStyle/>
          <a:p>
            <a:r>
              <a:rPr lang="tr-TR" sz="1000" noProof="1">
                <a:cs typeface="Arial" panose="020B0604020202020204" pitchFamily="34" charset="0"/>
              </a:rPr>
              <a:t>Zaman</a:t>
            </a:r>
          </a:p>
        </p:txBody>
      </p:sp>
      <p:sp>
        <p:nvSpPr>
          <p:cNvPr id="71" name="Metin kutusu 70">
            <a:extLst>
              <a:ext uri="{FF2B5EF4-FFF2-40B4-BE49-F238E27FC236}">
                <a16:creationId xmlns:a16="http://schemas.microsoft.com/office/drawing/2014/main" id="{BFFC9D77-22C9-4340-9057-5FE7A78F9CFE}"/>
              </a:ext>
            </a:extLst>
          </p:cNvPr>
          <p:cNvSpPr txBox="1"/>
          <p:nvPr/>
        </p:nvSpPr>
        <p:spPr>
          <a:xfrm>
            <a:off x="1884701" y="1808705"/>
            <a:ext cx="1272408" cy="246221"/>
          </a:xfrm>
          <a:prstGeom prst="rect">
            <a:avLst/>
          </a:prstGeom>
          <a:noFill/>
        </p:spPr>
        <p:txBody>
          <a:bodyPr wrap="square" rtlCol="0">
            <a:spAutoFit/>
          </a:bodyPr>
          <a:lstStyle/>
          <a:p>
            <a:r>
              <a:rPr lang="tr-TR" sz="1000" noProof="1">
                <a:cs typeface="Arial" panose="020B0604020202020204" pitchFamily="34" charset="0"/>
              </a:rPr>
              <a:t>Konum</a:t>
            </a:r>
          </a:p>
        </p:txBody>
      </p:sp>
      <p:cxnSp>
        <p:nvCxnSpPr>
          <p:cNvPr id="72" name="Düz Bağlayıcı 71">
            <a:extLst>
              <a:ext uri="{FF2B5EF4-FFF2-40B4-BE49-F238E27FC236}">
                <a16:creationId xmlns:a16="http://schemas.microsoft.com/office/drawing/2014/main" id="{BCC17284-D450-4EFE-BA89-255E31104A3B}"/>
              </a:ext>
            </a:extLst>
          </p:cNvPr>
          <p:cNvCxnSpPr>
            <a:cxnSpLocks/>
          </p:cNvCxnSpPr>
          <p:nvPr/>
        </p:nvCxnSpPr>
        <p:spPr>
          <a:xfrm flipV="1">
            <a:off x="2006566" y="2100943"/>
            <a:ext cx="574367" cy="88597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3" name="Metin kutusu 72">
            <a:extLst>
              <a:ext uri="{FF2B5EF4-FFF2-40B4-BE49-F238E27FC236}">
                <a16:creationId xmlns:a16="http://schemas.microsoft.com/office/drawing/2014/main" id="{43EE1D39-A5E6-438F-9D47-CBBABCB13500}"/>
              </a:ext>
            </a:extLst>
          </p:cNvPr>
          <p:cNvSpPr txBox="1"/>
          <p:nvPr/>
        </p:nvSpPr>
        <p:spPr>
          <a:xfrm>
            <a:off x="18431" y="3395269"/>
            <a:ext cx="3423972" cy="400110"/>
          </a:xfrm>
          <a:prstGeom prst="rect">
            <a:avLst/>
          </a:prstGeom>
          <a:noFill/>
        </p:spPr>
        <p:txBody>
          <a:bodyPr wrap="square" rtlCol="0">
            <a:spAutoFit/>
          </a:bodyPr>
          <a:lstStyle/>
          <a:p>
            <a:r>
              <a:rPr lang="tr-TR" sz="1000" b="1" noProof="1">
                <a:cs typeface="Arial" panose="020B0604020202020204" pitchFamily="34" charset="0"/>
              </a:rPr>
              <a:t>Birimleri standart kabul edilecek bu grafiklerin eğimleri sırasıyla hangi niceliği verir?</a:t>
            </a:r>
          </a:p>
        </p:txBody>
      </p:sp>
      <p:sp>
        <p:nvSpPr>
          <p:cNvPr id="29" name="Dikdörtgen 28">
            <a:extLst>
              <a:ext uri="{FF2B5EF4-FFF2-40B4-BE49-F238E27FC236}">
                <a16:creationId xmlns:a16="http://schemas.microsoft.com/office/drawing/2014/main" id="{6B60327B-3D57-48FD-A05D-1D45EAD2E968}"/>
              </a:ext>
            </a:extLst>
          </p:cNvPr>
          <p:cNvSpPr/>
          <p:nvPr/>
        </p:nvSpPr>
        <p:spPr>
          <a:xfrm>
            <a:off x="368976" y="3137593"/>
            <a:ext cx="576065" cy="227571"/>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noProof="1">
                <a:solidFill>
                  <a:schemeClr val="tx1"/>
                </a:solidFill>
              </a:rPr>
              <a:t>I.Grafik</a:t>
            </a:r>
          </a:p>
        </p:txBody>
      </p:sp>
      <p:sp>
        <p:nvSpPr>
          <p:cNvPr id="74" name="Dikdörtgen 73">
            <a:extLst>
              <a:ext uri="{FF2B5EF4-FFF2-40B4-BE49-F238E27FC236}">
                <a16:creationId xmlns:a16="http://schemas.microsoft.com/office/drawing/2014/main" id="{D585825C-C7BB-4411-ACF7-ABB779C7CB76}"/>
              </a:ext>
            </a:extLst>
          </p:cNvPr>
          <p:cNvSpPr/>
          <p:nvPr/>
        </p:nvSpPr>
        <p:spPr>
          <a:xfrm>
            <a:off x="2291404" y="3132271"/>
            <a:ext cx="630800" cy="227571"/>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noProof="1">
                <a:solidFill>
                  <a:schemeClr val="tx1"/>
                </a:solidFill>
              </a:rPr>
              <a:t>II.Grafik</a:t>
            </a:r>
          </a:p>
        </p:txBody>
      </p:sp>
      <p:sp>
        <p:nvSpPr>
          <p:cNvPr id="75" name="Metin kutusu 74">
            <a:extLst>
              <a:ext uri="{FF2B5EF4-FFF2-40B4-BE49-F238E27FC236}">
                <a16:creationId xmlns:a16="http://schemas.microsoft.com/office/drawing/2014/main" id="{D8B53EC2-0BD2-4DBB-8642-F7973EB7B7A3}"/>
              </a:ext>
            </a:extLst>
          </p:cNvPr>
          <p:cNvSpPr txBox="1"/>
          <p:nvPr/>
        </p:nvSpPr>
        <p:spPr>
          <a:xfrm>
            <a:off x="128717" y="4119029"/>
            <a:ext cx="445113" cy="1631216"/>
          </a:xfrm>
          <a:prstGeom prst="rect">
            <a:avLst/>
          </a:prstGeom>
          <a:noFill/>
        </p:spPr>
        <p:txBody>
          <a:bodyPr wrap="square" rtlCol="0">
            <a:spAutoFit/>
          </a:bodyPr>
          <a:lstStyle/>
          <a:p>
            <a:r>
              <a:rPr lang="tr-TR" sz="1000" noProof="1">
                <a:cs typeface="Arial" panose="020B0604020202020204" pitchFamily="34" charset="0"/>
              </a:rPr>
              <a:t>A)</a:t>
            </a:r>
          </a:p>
          <a:p>
            <a:endParaRPr lang="tr-TR" sz="1000" noProof="1">
              <a:cs typeface="Arial" panose="020B0604020202020204" pitchFamily="34" charset="0"/>
            </a:endParaRPr>
          </a:p>
          <a:p>
            <a:r>
              <a:rPr lang="tr-TR" sz="1000" noProof="1">
                <a:cs typeface="Arial" panose="020B0604020202020204" pitchFamily="34" charset="0"/>
              </a:rPr>
              <a:t>B)</a:t>
            </a:r>
          </a:p>
          <a:p>
            <a:endParaRPr lang="tr-TR" sz="1000" noProof="1">
              <a:cs typeface="Arial" panose="020B0604020202020204" pitchFamily="34" charset="0"/>
            </a:endParaRPr>
          </a:p>
          <a:p>
            <a:r>
              <a:rPr lang="tr-TR" sz="1000" noProof="1">
                <a:cs typeface="Arial" panose="020B0604020202020204" pitchFamily="34" charset="0"/>
              </a:rPr>
              <a:t>C)</a:t>
            </a:r>
          </a:p>
          <a:p>
            <a:endParaRPr lang="tr-TR" sz="1000" noProof="1">
              <a:cs typeface="Arial" panose="020B0604020202020204" pitchFamily="34" charset="0"/>
            </a:endParaRPr>
          </a:p>
          <a:p>
            <a:r>
              <a:rPr lang="tr-TR" sz="1000" noProof="1">
                <a:cs typeface="Arial" panose="020B0604020202020204" pitchFamily="34" charset="0"/>
              </a:rPr>
              <a:t>D)</a:t>
            </a:r>
          </a:p>
          <a:p>
            <a:endParaRPr lang="tr-TR" sz="1000" noProof="1">
              <a:cs typeface="Arial" panose="020B0604020202020204" pitchFamily="34" charset="0"/>
            </a:endParaRPr>
          </a:p>
          <a:p>
            <a:r>
              <a:rPr lang="tr-TR" sz="1000" noProof="1">
                <a:cs typeface="Arial" panose="020B0604020202020204" pitchFamily="34" charset="0"/>
              </a:rPr>
              <a:t>E)</a:t>
            </a:r>
          </a:p>
          <a:p>
            <a:pPr marL="228600" indent="-228600">
              <a:buAutoNum type="alphaUcParenR"/>
            </a:pPr>
            <a:endParaRPr lang="tr-TR" sz="1000" noProof="1">
              <a:cs typeface="Arial" panose="020B0604020202020204" pitchFamily="34" charset="0"/>
            </a:endParaRPr>
          </a:p>
        </p:txBody>
      </p:sp>
      <p:sp>
        <p:nvSpPr>
          <p:cNvPr id="76" name="Metin kutusu 75">
            <a:extLst>
              <a:ext uri="{FF2B5EF4-FFF2-40B4-BE49-F238E27FC236}">
                <a16:creationId xmlns:a16="http://schemas.microsoft.com/office/drawing/2014/main" id="{57100561-26EF-4C51-8910-DB019B0549BB}"/>
              </a:ext>
            </a:extLst>
          </p:cNvPr>
          <p:cNvSpPr txBox="1"/>
          <p:nvPr/>
        </p:nvSpPr>
        <p:spPr>
          <a:xfrm>
            <a:off x="611933" y="3813176"/>
            <a:ext cx="1247494" cy="246221"/>
          </a:xfrm>
          <a:prstGeom prst="rect">
            <a:avLst/>
          </a:prstGeom>
          <a:noFill/>
        </p:spPr>
        <p:txBody>
          <a:bodyPr wrap="square" rtlCol="0">
            <a:spAutoFit/>
          </a:bodyPr>
          <a:lstStyle/>
          <a:p>
            <a:pPr algn="ctr"/>
            <a:r>
              <a:rPr lang="tr-TR" sz="1000" noProof="1">
                <a:cs typeface="Arial" panose="020B0604020202020204" pitchFamily="34" charset="0"/>
              </a:rPr>
              <a:t>I. Grafik</a:t>
            </a:r>
          </a:p>
        </p:txBody>
      </p:sp>
      <p:sp>
        <p:nvSpPr>
          <p:cNvPr id="77" name="Metin kutusu 76">
            <a:extLst>
              <a:ext uri="{FF2B5EF4-FFF2-40B4-BE49-F238E27FC236}">
                <a16:creationId xmlns:a16="http://schemas.microsoft.com/office/drawing/2014/main" id="{7128CD88-8F10-4920-9D69-7930D12E6797}"/>
              </a:ext>
            </a:extLst>
          </p:cNvPr>
          <p:cNvSpPr txBox="1"/>
          <p:nvPr/>
        </p:nvSpPr>
        <p:spPr>
          <a:xfrm>
            <a:off x="2093228" y="3795490"/>
            <a:ext cx="1102275" cy="246221"/>
          </a:xfrm>
          <a:prstGeom prst="rect">
            <a:avLst/>
          </a:prstGeom>
          <a:noFill/>
        </p:spPr>
        <p:txBody>
          <a:bodyPr wrap="square" rtlCol="0">
            <a:spAutoFit/>
          </a:bodyPr>
          <a:lstStyle/>
          <a:p>
            <a:pPr algn="ctr"/>
            <a:r>
              <a:rPr lang="tr-TR" sz="1000" noProof="1">
                <a:cs typeface="Arial" panose="020B0604020202020204" pitchFamily="34" charset="0"/>
              </a:rPr>
              <a:t>II. Grafik</a:t>
            </a:r>
          </a:p>
        </p:txBody>
      </p:sp>
      <p:cxnSp>
        <p:nvCxnSpPr>
          <p:cNvPr id="78" name="Düz Bağlayıcı 77">
            <a:extLst>
              <a:ext uri="{FF2B5EF4-FFF2-40B4-BE49-F238E27FC236}">
                <a16:creationId xmlns:a16="http://schemas.microsoft.com/office/drawing/2014/main" id="{3B7AF2B2-DE21-403C-8CC0-560C8D1D68D3}"/>
              </a:ext>
            </a:extLst>
          </p:cNvPr>
          <p:cNvCxnSpPr/>
          <p:nvPr/>
        </p:nvCxnSpPr>
        <p:spPr>
          <a:xfrm>
            <a:off x="652736" y="4045065"/>
            <a:ext cx="1068448" cy="0"/>
          </a:xfrm>
          <a:prstGeom prst="line">
            <a:avLst/>
          </a:prstGeom>
        </p:spPr>
        <p:style>
          <a:lnRef idx="1">
            <a:schemeClr val="dk1"/>
          </a:lnRef>
          <a:fillRef idx="0">
            <a:schemeClr val="dk1"/>
          </a:fillRef>
          <a:effectRef idx="0">
            <a:schemeClr val="dk1"/>
          </a:effectRef>
          <a:fontRef idx="minor">
            <a:schemeClr val="tx1"/>
          </a:fontRef>
        </p:style>
      </p:cxnSp>
      <p:cxnSp>
        <p:nvCxnSpPr>
          <p:cNvPr id="79" name="Düz Bağlayıcı 78">
            <a:extLst>
              <a:ext uri="{FF2B5EF4-FFF2-40B4-BE49-F238E27FC236}">
                <a16:creationId xmlns:a16="http://schemas.microsoft.com/office/drawing/2014/main" id="{34D5DE54-D33C-4E19-B9D0-BABFFC66ACB3}"/>
              </a:ext>
            </a:extLst>
          </p:cNvPr>
          <p:cNvCxnSpPr/>
          <p:nvPr/>
        </p:nvCxnSpPr>
        <p:spPr>
          <a:xfrm>
            <a:off x="2134465" y="4044982"/>
            <a:ext cx="1068448" cy="0"/>
          </a:xfrm>
          <a:prstGeom prst="line">
            <a:avLst/>
          </a:prstGeom>
        </p:spPr>
        <p:style>
          <a:lnRef idx="1">
            <a:schemeClr val="dk1"/>
          </a:lnRef>
          <a:fillRef idx="0">
            <a:schemeClr val="dk1"/>
          </a:fillRef>
          <a:effectRef idx="0">
            <a:schemeClr val="dk1"/>
          </a:effectRef>
          <a:fontRef idx="minor">
            <a:schemeClr val="tx1"/>
          </a:fontRef>
        </p:style>
      </p:cxnSp>
      <p:sp>
        <p:nvSpPr>
          <p:cNvPr id="80" name="Metin kutusu 79">
            <a:extLst>
              <a:ext uri="{FF2B5EF4-FFF2-40B4-BE49-F238E27FC236}">
                <a16:creationId xmlns:a16="http://schemas.microsoft.com/office/drawing/2014/main" id="{5E08C308-6C9B-42A9-A50F-622D481943AF}"/>
              </a:ext>
            </a:extLst>
          </p:cNvPr>
          <p:cNvSpPr txBox="1"/>
          <p:nvPr/>
        </p:nvSpPr>
        <p:spPr>
          <a:xfrm>
            <a:off x="616273" y="4109629"/>
            <a:ext cx="1150568" cy="246221"/>
          </a:xfrm>
          <a:prstGeom prst="rect">
            <a:avLst/>
          </a:prstGeom>
          <a:noFill/>
        </p:spPr>
        <p:txBody>
          <a:bodyPr wrap="square" rtlCol="0">
            <a:spAutoFit/>
          </a:bodyPr>
          <a:lstStyle/>
          <a:p>
            <a:pPr algn="ctr"/>
            <a:r>
              <a:rPr lang="tr-TR" sz="1000" noProof="1">
                <a:cs typeface="Arial" panose="020B0604020202020204" pitchFamily="34" charset="0"/>
              </a:rPr>
              <a:t>Kütle</a:t>
            </a:r>
          </a:p>
        </p:txBody>
      </p:sp>
      <p:sp>
        <p:nvSpPr>
          <p:cNvPr id="81" name="Metin kutusu 80">
            <a:extLst>
              <a:ext uri="{FF2B5EF4-FFF2-40B4-BE49-F238E27FC236}">
                <a16:creationId xmlns:a16="http://schemas.microsoft.com/office/drawing/2014/main" id="{03D47713-F1B0-4986-BDA2-E235ED684F68}"/>
              </a:ext>
            </a:extLst>
          </p:cNvPr>
          <p:cNvSpPr txBox="1"/>
          <p:nvPr/>
        </p:nvSpPr>
        <p:spPr>
          <a:xfrm>
            <a:off x="622297" y="4389594"/>
            <a:ext cx="1150568" cy="246221"/>
          </a:xfrm>
          <a:prstGeom prst="rect">
            <a:avLst/>
          </a:prstGeom>
          <a:noFill/>
        </p:spPr>
        <p:txBody>
          <a:bodyPr wrap="square" rtlCol="0">
            <a:spAutoFit/>
          </a:bodyPr>
          <a:lstStyle/>
          <a:p>
            <a:pPr algn="ctr"/>
            <a:r>
              <a:rPr lang="tr-TR" sz="1000" noProof="1">
                <a:cs typeface="Arial" panose="020B0604020202020204" pitchFamily="34" charset="0"/>
              </a:rPr>
              <a:t>Özkütle</a:t>
            </a:r>
          </a:p>
        </p:txBody>
      </p:sp>
      <p:sp>
        <p:nvSpPr>
          <p:cNvPr id="82" name="Metin kutusu 81">
            <a:extLst>
              <a:ext uri="{FF2B5EF4-FFF2-40B4-BE49-F238E27FC236}">
                <a16:creationId xmlns:a16="http://schemas.microsoft.com/office/drawing/2014/main" id="{6FA71830-0434-4DFA-9BE3-65BD7FD19FF3}"/>
              </a:ext>
            </a:extLst>
          </p:cNvPr>
          <p:cNvSpPr txBox="1"/>
          <p:nvPr/>
        </p:nvSpPr>
        <p:spPr>
          <a:xfrm>
            <a:off x="622297" y="4725763"/>
            <a:ext cx="1150568" cy="246221"/>
          </a:xfrm>
          <a:prstGeom prst="rect">
            <a:avLst/>
          </a:prstGeom>
          <a:noFill/>
        </p:spPr>
        <p:txBody>
          <a:bodyPr wrap="square" rtlCol="0">
            <a:spAutoFit/>
          </a:bodyPr>
          <a:lstStyle/>
          <a:p>
            <a:pPr algn="ctr"/>
            <a:r>
              <a:rPr lang="tr-TR" sz="1000" noProof="1">
                <a:cs typeface="Arial" panose="020B0604020202020204" pitchFamily="34" charset="0"/>
              </a:rPr>
              <a:t>Kütle</a:t>
            </a:r>
          </a:p>
        </p:txBody>
      </p:sp>
      <p:sp>
        <p:nvSpPr>
          <p:cNvPr id="83" name="Metin kutusu 82">
            <a:extLst>
              <a:ext uri="{FF2B5EF4-FFF2-40B4-BE49-F238E27FC236}">
                <a16:creationId xmlns:a16="http://schemas.microsoft.com/office/drawing/2014/main" id="{8181AB6C-7480-434A-A962-575B918822C0}"/>
              </a:ext>
            </a:extLst>
          </p:cNvPr>
          <p:cNvSpPr txBox="1"/>
          <p:nvPr/>
        </p:nvSpPr>
        <p:spPr>
          <a:xfrm>
            <a:off x="622297" y="5055606"/>
            <a:ext cx="1150568" cy="246221"/>
          </a:xfrm>
          <a:prstGeom prst="rect">
            <a:avLst/>
          </a:prstGeom>
          <a:noFill/>
        </p:spPr>
        <p:txBody>
          <a:bodyPr wrap="square" rtlCol="0">
            <a:spAutoFit/>
          </a:bodyPr>
          <a:lstStyle/>
          <a:p>
            <a:pPr algn="ctr"/>
            <a:r>
              <a:rPr lang="tr-TR" sz="1000" noProof="1">
                <a:cs typeface="Arial" panose="020B0604020202020204" pitchFamily="34" charset="0"/>
              </a:rPr>
              <a:t>Özkütle</a:t>
            </a:r>
          </a:p>
        </p:txBody>
      </p:sp>
      <p:sp>
        <p:nvSpPr>
          <p:cNvPr id="84" name="Metin kutusu 83">
            <a:extLst>
              <a:ext uri="{FF2B5EF4-FFF2-40B4-BE49-F238E27FC236}">
                <a16:creationId xmlns:a16="http://schemas.microsoft.com/office/drawing/2014/main" id="{9EFAC60C-6EB6-4328-989F-533718DEB5EC}"/>
              </a:ext>
            </a:extLst>
          </p:cNvPr>
          <p:cNvSpPr txBox="1"/>
          <p:nvPr/>
        </p:nvSpPr>
        <p:spPr>
          <a:xfrm>
            <a:off x="622297" y="5373835"/>
            <a:ext cx="1150568" cy="246221"/>
          </a:xfrm>
          <a:prstGeom prst="rect">
            <a:avLst/>
          </a:prstGeom>
          <a:noFill/>
        </p:spPr>
        <p:txBody>
          <a:bodyPr wrap="square" rtlCol="0">
            <a:spAutoFit/>
          </a:bodyPr>
          <a:lstStyle/>
          <a:p>
            <a:pPr algn="ctr"/>
            <a:r>
              <a:rPr lang="tr-TR" sz="1000" noProof="1">
                <a:cs typeface="Arial" panose="020B0604020202020204" pitchFamily="34" charset="0"/>
              </a:rPr>
              <a:t>Hacim</a:t>
            </a:r>
          </a:p>
        </p:txBody>
      </p:sp>
      <p:sp>
        <p:nvSpPr>
          <p:cNvPr id="85" name="Metin kutusu 84">
            <a:extLst>
              <a:ext uri="{FF2B5EF4-FFF2-40B4-BE49-F238E27FC236}">
                <a16:creationId xmlns:a16="http://schemas.microsoft.com/office/drawing/2014/main" id="{B159F4FF-CA12-458C-9656-44F098B52E71}"/>
              </a:ext>
            </a:extLst>
          </p:cNvPr>
          <p:cNvSpPr txBox="1"/>
          <p:nvPr/>
        </p:nvSpPr>
        <p:spPr>
          <a:xfrm>
            <a:off x="1990449" y="4114004"/>
            <a:ext cx="1150568" cy="246221"/>
          </a:xfrm>
          <a:prstGeom prst="rect">
            <a:avLst/>
          </a:prstGeom>
          <a:noFill/>
        </p:spPr>
        <p:txBody>
          <a:bodyPr wrap="square" rtlCol="0">
            <a:spAutoFit/>
          </a:bodyPr>
          <a:lstStyle/>
          <a:p>
            <a:pPr algn="ctr"/>
            <a:r>
              <a:rPr lang="tr-TR" sz="1000" noProof="1">
                <a:cs typeface="Arial" panose="020B0604020202020204" pitchFamily="34" charset="0"/>
              </a:rPr>
              <a:t>Zaman</a:t>
            </a:r>
          </a:p>
        </p:txBody>
      </p:sp>
      <p:sp>
        <p:nvSpPr>
          <p:cNvPr id="87" name="Metin kutusu 86">
            <a:extLst>
              <a:ext uri="{FF2B5EF4-FFF2-40B4-BE49-F238E27FC236}">
                <a16:creationId xmlns:a16="http://schemas.microsoft.com/office/drawing/2014/main" id="{403A58AC-3778-4361-A0B7-4E72C2910ABC}"/>
              </a:ext>
            </a:extLst>
          </p:cNvPr>
          <p:cNvSpPr txBox="1"/>
          <p:nvPr/>
        </p:nvSpPr>
        <p:spPr>
          <a:xfrm>
            <a:off x="1996473" y="4393969"/>
            <a:ext cx="1150568" cy="246221"/>
          </a:xfrm>
          <a:prstGeom prst="rect">
            <a:avLst/>
          </a:prstGeom>
          <a:noFill/>
        </p:spPr>
        <p:txBody>
          <a:bodyPr wrap="square" rtlCol="0">
            <a:spAutoFit/>
          </a:bodyPr>
          <a:lstStyle/>
          <a:p>
            <a:pPr algn="ctr"/>
            <a:r>
              <a:rPr lang="tr-TR" sz="1000" noProof="1">
                <a:cs typeface="Arial" panose="020B0604020202020204" pitchFamily="34" charset="0"/>
              </a:rPr>
              <a:t>Hız</a:t>
            </a:r>
          </a:p>
        </p:txBody>
      </p:sp>
      <p:sp>
        <p:nvSpPr>
          <p:cNvPr id="88" name="Metin kutusu 87">
            <a:extLst>
              <a:ext uri="{FF2B5EF4-FFF2-40B4-BE49-F238E27FC236}">
                <a16:creationId xmlns:a16="http://schemas.microsoft.com/office/drawing/2014/main" id="{DA35EEC6-34B8-4BA9-9EF0-845836C3E5AB}"/>
              </a:ext>
            </a:extLst>
          </p:cNvPr>
          <p:cNvSpPr txBox="1"/>
          <p:nvPr/>
        </p:nvSpPr>
        <p:spPr>
          <a:xfrm>
            <a:off x="1996473" y="4730138"/>
            <a:ext cx="1150568" cy="246221"/>
          </a:xfrm>
          <a:prstGeom prst="rect">
            <a:avLst/>
          </a:prstGeom>
          <a:noFill/>
        </p:spPr>
        <p:txBody>
          <a:bodyPr wrap="square" rtlCol="0">
            <a:spAutoFit/>
          </a:bodyPr>
          <a:lstStyle/>
          <a:p>
            <a:pPr algn="ctr"/>
            <a:r>
              <a:rPr lang="tr-TR" sz="1000" noProof="1">
                <a:cs typeface="Arial" panose="020B0604020202020204" pitchFamily="34" charset="0"/>
              </a:rPr>
              <a:t>Yol</a:t>
            </a:r>
          </a:p>
        </p:txBody>
      </p:sp>
      <p:sp>
        <p:nvSpPr>
          <p:cNvPr id="89" name="Metin kutusu 88">
            <a:extLst>
              <a:ext uri="{FF2B5EF4-FFF2-40B4-BE49-F238E27FC236}">
                <a16:creationId xmlns:a16="http://schemas.microsoft.com/office/drawing/2014/main" id="{5F65F0AE-19F6-4CE0-9EC2-8892FB9FC8D0}"/>
              </a:ext>
            </a:extLst>
          </p:cNvPr>
          <p:cNvSpPr txBox="1"/>
          <p:nvPr/>
        </p:nvSpPr>
        <p:spPr>
          <a:xfrm>
            <a:off x="1996473" y="5059981"/>
            <a:ext cx="1150568" cy="246221"/>
          </a:xfrm>
          <a:prstGeom prst="rect">
            <a:avLst/>
          </a:prstGeom>
          <a:noFill/>
        </p:spPr>
        <p:txBody>
          <a:bodyPr wrap="square" rtlCol="0">
            <a:spAutoFit/>
          </a:bodyPr>
          <a:lstStyle/>
          <a:p>
            <a:pPr algn="ctr"/>
            <a:r>
              <a:rPr lang="tr-TR" sz="1000" noProof="1">
                <a:cs typeface="Arial" panose="020B0604020202020204" pitchFamily="34" charset="0"/>
              </a:rPr>
              <a:t>Zaman</a:t>
            </a:r>
          </a:p>
        </p:txBody>
      </p:sp>
      <p:sp>
        <p:nvSpPr>
          <p:cNvPr id="90" name="Metin kutusu 89">
            <a:extLst>
              <a:ext uri="{FF2B5EF4-FFF2-40B4-BE49-F238E27FC236}">
                <a16:creationId xmlns:a16="http://schemas.microsoft.com/office/drawing/2014/main" id="{D096BC71-45BF-49FD-98A6-D95F3B3A1497}"/>
              </a:ext>
            </a:extLst>
          </p:cNvPr>
          <p:cNvSpPr txBox="1"/>
          <p:nvPr/>
        </p:nvSpPr>
        <p:spPr>
          <a:xfrm>
            <a:off x="1996473" y="5378210"/>
            <a:ext cx="1150568" cy="246221"/>
          </a:xfrm>
          <a:prstGeom prst="rect">
            <a:avLst/>
          </a:prstGeom>
          <a:noFill/>
        </p:spPr>
        <p:txBody>
          <a:bodyPr wrap="square" rtlCol="0">
            <a:spAutoFit/>
          </a:bodyPr>
          <a:lstStyle/>
          <a:p>
            <a:pPr algn="ctr"/>
            <a:r>
              <a:rPr lang="tr-TR" sz="1000" noProof="1">
                <a:cs typeface="Arial" panose="020B0604020202020204" pitchFamily="34" charset="0"/>
              </a:rPr>
              <a:t>Yol</a:t>
            </a:r>
          </a:p>
        </p:txBody>
      </p:sp>
      <p:cxnSp>
        <p:nvCxnSpPr>
          <p:cNvPr id="91" name="Düz Ok Bağlayıcısı 90">
            <a:extLst>
              <a:ext uri="{FF2B5EF4-FFF2-40B4-BE49-F238E27FC236}">
                <a16:creationId xmlns:a16="http://schemas.microsoft.com/office/drawing/2014/main" id="{13235274-A68F-4F39-BCF9-5C8308267F93}"/>
              </a:ext>
            </a:extLst>
          </p:cNvPr>
          <p:cNvCxnSpPr>
            <a:cxnSpLocks/>
          </p:cNvCxnSpPr>
          <p:nvPr/>
        </p:nvCxnSpPr>
        <p:spPr>
          <a:xfrm flipV="1">
            <a:off x="3705078" y="882048"/>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Düz Ok Bağlayıcısı 91">
            <a:extLst>
              <a:ext uri="{FF2B5EF4-FFF2-40B4-BE49-F238E27FC236}">
                <a16:creationId xmlns:a16="http://schemas.microsoft.com/office/drawing/2014/main" id="{5D99D26F-D067-448F-B67A-BB37F4C7F6B9}"/>
              </a:ext>
            </a:extLst>
          </p:cNvPr>
          <p:cNvCxnSpPr>
            <a:cxnSpLocks/>
          </p:cNvCxnSpPr>
          <p:nvPr/>
        </p:nvCxnSpPr>
        <p:spPr>
          <a:xfrm>
            <a:off x="3556237" y="1850756"/>
            <a:ext cx="11278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Metin kutusu 92">
            <a:extLst>
              <a:ext uri="{FF2B5EF4-FFF2-40B4-BE49-F238E27FC236}">
                <a16:creationId xmlns:a16="http://schemas.microsoft.com/office/drawing/2014/main" id="{D5117CA6-2120-4504-888E-F3378C902F85}"/>
              </a:ext>
            </a:extLst>
          </p:cNvPr>
          <p:cNvSpPr txBox="1"/>
          <p:nvPr/>
        </p:nvSpPr>
        <p:spPr>
          <a:xfrm>
            <a:off x="4653753" y="1716101"/>
            <a:ext cx="1007495" cy="246221"/>
          </a:xfrm>
          <a:prstGeom prst="rect">
            <a:avLst/>
          </a:prstGeom>
          <a:noFill/>
        </p:spPr>
        <p:txBody>
          <a:bodyPr wrap="square" rtlCol="0">
            <a:spAutoFit/>
          </a:bodyPr>
          <a:lstStyle/>
          <a:p>
            <a:r>
              <a:rPr lang="tr-TR" sz="1000" noProof="1">
                <a:cs typeface="Arial" panose="020B0604020202020204" pitchFamily="34" charset="0"/>
              </a:rPr>
              <a:t>Zaman (dakika)</a:t>
            </a:r>
          </a:p>
        </p:txBody>
      </p:sp>
      <p:sp>
        <p:nvSpPr>
          <p:cNvPr id="94" name="Metin kutusu 93">
            <a:extLst>
              <a:ext uri="{FF2B5EF4-FFF2-40B4-BE49-F238E27FC236}">
                <a16:creationId xmlns:a16="http://schemas.microsoft.com/office/drawing/2014/main" id="{40EBE1BE-29F7-43B8-B7BA-BFE7C718B969}"/>
              </a:ext>
            </a:extLst>
          </p:cNvPr>
          <p:cNvSpPr txBox="1"/>
          <p:nvPr/>
        </p:nvSpPr>
        <p:spPr>
          <a:xfrm>
            <a:off x="3574202" y="672541"/>
            <a:ext cx="2015038" cy="246221"/>
          </a:xfrm>
          <a:prstGeom prst="rect">
            <a:avLst/>
          </a:prstGeom>
          <a:noFill/>
        </p:spPr>
        <p:txBody>
          <a:bodyPr wrap="square" rtlCol="0">
            <a:spAutoFit/>
          </a:bodyPr>
          <a:lstStyle/>
          <a:p>
            <a:r>
              <a:rPr lang="tr-TR" sz="1000" noProof="1">
                <a:cs typeface="Arial" panose="020B0604020202020204" pitchFamily="34" charset="0"/>
              </a:rPr>
              <a:t>Gidilen Yol – Konum (metre)</a:t>
            </a:r>
          </a:p>
        </p:txBody>
      </p:sp>
      <p:sp>
        <p:nvSpPr>
          <p:cNvPr id="7" name="Serbest Form: Şekil 6">
            <a:extLst>
              <a:ext uri="{FF2B5EF4-FFF2-40B4-BE49-F238E27FC236}">
                <a16:creationId xmlns:a16="http://schemas.microsoft.com/office/drawing/2014/main" id="{3971AD8C-884E-4AAD-922E-68E75778A546}"/>
              </a:ext>
            </a:extLst>
          </p:cNvPr>
          <p:cNvSpPr/>
          <p:nvPr/>
        </p:nvSpPr>
        <p:spPr>
          <a:xfrm>
            <a:off x="3707606" y="1131003"/>
            <a:ext cx="771551" cy="714466"/>
          </a:xfrm>
          <a:custGeom>
            <a:avLst/>
            <a:gdLst>
              <a:gd name="connsiteX0" fmla="*/ 0 w 783432"/>
              <a:gd name="connsiteY0" fmla="*/ 776288 h 776288"/>
              <a:gd name="connsiteX1" fmla="*/ 252413 w 783432"/>
              <a:gd name="connsiteY1" fmla="*/ 164307 h 776288"/>
              <a:gd name="connsiteX2" fmla="*/ 783432 w 783432"/>
              <a:gd name="connsiteY2" fmla="*/ 0 h 776288"/>
            </a:gdLst>
            <a:ahLst/>
            <a:cxnLst>
              <a:cxn ang="0">
                <a:pos x="connsiteX0" y="connsiteY0"/>
              </a:cxn>
              <a:cxn ang="0">
                <a:pos x="connsiteX1" y="connsiteY1"/>
              </a:cxn>
              <a:cxn ang="0">
                <a:pos x="connsiteX2" y="connsiteY2"/>
              </a:cxn>
            </a:cxnLst>
            <a:rect l="l" t="t" r="r" b="b"/>
            <a:pathLst>
              <a:path w="783432" h="776288">
                <a:moveTo>
                  <a:pt x="0" y="776288"/>
                </a:moveTo>
                <a:cubicBezTo>
                  <a:pt x="60920" y="534988"/>
                  <a:pt x="121841" y="293688"/>
                  <a:pt x="252413" y="164307"/>
                </a:cubicBezTo>
                <a:cubicBezTo>
                  <a:pt x="382985" y="34926"/>
                  <a:pt x="583208" y="17463"/>
                  <a:pt x="783432" y="0"/>
                </a:cubicBezTo>
              </a:path>
            </a:pathLst>
          </a:custGeom>
          <a:noFill/>
          <a:ln w="952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5" name="Metin kutusu 94">
            <a:extLst>
              <a:ext uri="{FF2B5EF4-FFF2-40B4-BE49-F238E27FC236}">
                <a16:creationId xmlns:a16="http://schemas.microsoft.com/office/drawing/2014/main" id="{20E25A67-263D-4F88-8892-91DE1132224B}"/>
              </a:ext>
            </a:extLst>
          </p:cNvPr>
          <p:cNvSpPr txBox="1"/>
          <p:nvPr/>
        </p:nvSpPr>
        <p:spPr>
          <a:xfrm>
            <a:off x="3518197" y="1992739"/>
            <a:ext cx="3302841" cy="1323439"/>
          </a:xfrm>
          <a:prstGeom prst="rect">
            <a:avLst/>
          </a:prstGeom>
          <a:noFill/>
        </p:spPr>
        <p:txBody>
          <a:bodyPr wrap="square" rtlCol="0">
            <a:spAutoFit/>
          </a:bodyPr>
          <a:lstStyle/>
          <a:p>
            <a:r>
              <a:rPr lang="tr-TR" sz="1000" b="1" noProof="1">
                <a:cs typeface="Arial" panose="020B0604020202020204" pitchFamily="34" charset="0"/>
              </a:rPr>
              <a:t>Grafiğe göre,</a:t>
            </a:r>
          </a:p>
          <a:p>
            <a:endParaRPr lang="tr-TR" sz="1000" noProof="1">
              <a:cs typeface="Arial" panose="020B0604020202020204" pitchFamily="34" charset="0"/>
            </a:endParaRPr>
          </a:p>
          <a:p>
            <a:r>
              <a:rPr lang="tr-TR" sz="1000" noProof="1">
                <a:cs typeface="Arial" panose="020B0604020202020204" pitchFamily="34" charset="0"/>
              </a:rPr>
              <a:t>  I. 16.dakika ve sonrasında aracın konumu değişmemiştir.</a:t>
            </a:r>
          </a:p>
          <a:p>
            <a:r>
              <a:rPr lang="tr-TR" sz="1000" noProof="1">
                <a:cs typeface="Arial" panose="020B0604020202020204" pitchFamily="34" charset="0"/>
              </a:rPr>
              <a:t> II. Konum ile zaman daima ters orantılıdır.</a:t>
            </a:r>
          </a:p>
          <a:p>
            <a:r>
              <a:rPr lang="tr-TR" sz="1000" noProof="1">
                <a:cs typeface="Arial" panose="020B0604020202020204" pitchFamily="34" charset="0"/>
              </a:rPr>
              <a:t>III. 16.dakikadan sonra artış miktarı daha önceki dakikalara göre daha da azalmıştır.</a:t>
            </a:r>
          </a:p>
          <a:p>
            <a:endParaRPr lang="tr-TR" sz="1000" noProof="1">
              <a:cs typeface="Arial" panose="020B0604020202020204" pitchFamily="34" charset="0"/>
            </a:endParaRPr>
          </a:p>
          <a:p>
            <a:r>
              <a:rPr lang="tr-TR" sz="1000" b="1" noProof="1">
                <a:cs typeface="Arial" panose="020B0604020202020204" pitchFamily="34" charset="0"/>
              </a:rPr>
              <a:t>yargılarından hangileri doğrudur?</a:t>
            </a:r>
          </a:p>
        </p:txBody>
      </p:sp>
      <p:cxnSp>
        <p:nvCxnSpPr>
          <p:cNvPr id="10" name="Düz Bağlayıcı 9">
            <a:extLst>
              <a:ext uri="{FF2B5EF4-FFF2-40B4-BE49-F238E27FC236}">
                <a16:creationId xmlns:a16="http://schemas.microsoft.com/office/drawing/2014/main" id="{59604187-9AE7-4510-AF6D-EEC82A94006B}"/>
              </a:ext>
            </a:extLst>
          </p:cNvPr>
          <p:cNvCxnSpPr>
            <a:cxnSpLocks/>
          </p:cNvCxnSpPr>
          <p:nvPr/>
        </p:nvCxnSpPr>
        <p:spPr>
          <a:xfrm>
            <a:off x="4120147" y="1187624"/>
            <a:ext cx="0" cy="663132"/>
          </a:xfrm>
          <a:prstGeom prst="line">
            <a:avLst/>
          </a:prstGeom>
          <a:ln>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96" name="Metin kutusu 95">
            <a:extLst>
              <a:ext uri="{FF2B5EF4-FFF2-40B4-BE49-F238E27FC236}">
                <a16:creationId xmlns:a16="http://schemas.microsoft.com/office/drawing/2014/main" id="{E0A869A8-EE0D-41AC-A085-A983A0123525}"/>
              </a:ext>
            </a:extLst>
          </p:cNvPr>
          <p:cNvSpPr txBox="1"/>
          <p:nvPr/>
        </p:nvSpPr>
        <p:spPr>
          <a:xfrm>
            <a:off x="3961057" y="1808705"/>
            <a:ext cx="332040" cy="246221"/>
          </a:xfrm>
          <a:prstGeom prst="rect">
            <a:avLst/>
          </a:prstGeom>
          <a:noFill/>
        </p:spPr>
        <p:txBody>
          <a:bodyPr wrap="square" rtlCol="0">
            <a:spAutoFit/>
          </a:bodyPr>
          <a:lstStyle/>
          <a:p>
            <a:r>
              <a:rPr lang="tr-TR" sz="1000" noProof="1">
                <a:cs typeface="Arial" panose="020B0604020202020204" pitchFamily="34" charset="0"/>
              </a:rPr>
              <a:t>16</a:t>
            </a:r>
          </a:p>
        </p:txBody>
      </p:sp>
      <p:sp>
        <p:nvSpPr>
          <p:cNvPr id="97" name="Dikdörtgen 96">
            <a:extLst>
              <a:ext uri="{FF2B5EF4-FFF2-40B4-BE49-F238E27FC236}">
                <a16:creationId xmlns:a16="http://schemas.microsoft.com/office/drawing/2014/main" id="{BE6ACAF3-AD52-445C-B077-D463E822CA2E}"/>
              </a:ext>
            </a:extLst>
          </p:cNvPr>
          <p:cNvSpPr/>
          <p:nvPr/>
        </p:nvSpPr>
        <p:spPr>
          <a:xfrm>
            <a:off x="3491444" y="3258991"/>
            <a:ext cx="3366555"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                          C) Yalnız III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cxnSp>
        <p:nvCxnSpPr>
          <p:cNvPr id="98" name="Düz Ok Bağlayıcısı 97">
            <a:extLst>
              <a:ext uri="{FF2B5EF4-FFF2-40B4-BE49-F238E27FC236}">
                <a16:creationId xmlns:a16="http://schemas.microsoft.com/office/drawing/2014/main" id="{8E1F5F2C-B534-4413-9012-E08BD87105D5}"/>
              </a:ext>
            </a:extLst>
          </p:cNvPr>
          <p:cNvCxnSpPr>
            <a:cxnSpLocks/>
          </p:cNvCxnSpPr>
          <p:nvPr/>
        </p:nvCxnSpPr>
        <p:spPr>
          <a:xfrm flipV="1">
            <a:off x="3714327" y="4887770"/>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9" name="Düz Ok Bağlayıcısı 98">
            <a:extLst>
              <a:ext uri="{FF2B5EF4-FFF2-40B4-BE49-F238E27FC236}">
                <a16:creationId xmlns:a16="http://schemas.microsoft.com/office/drawing/2014/main" id="{A68FA500-FD22-44D4-A419-DF9409922A79}"/>
              </a:ext>
            </a:extLst>
          </p:cNvPr>
          <p:cNvCxnSpPr>
            <a:cxnSpLocks/>
          </p:cNvCxnSpPr>
          <p:nvPr/>
        </p:nvCxnSpPr>
        <p:spPr>
          <a:xfrm>
            <a:off x="3565486" y="5856478"/>
            <a:ext cx="11278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0" name="Metin kutusu 99">
            <a:extLst>
              <a:ext uri="{FF2B5EF4-FFF2-40B4-BE49-F238E27FC236}">
                <a16:creationId xmlns:a16="http://schemas.microsoft.com/office/drawing/2014/main" id="{E8AFE581-B2EA-404C-BE95-DD013E766541}"/>
              </a:ext>
            </a:extLst>
          </p:cNvPr>
          <p:cNvSpPr txBox="1"/>
          <p:nvPr/>
        </p:nvSpPr>
        <p:spPr>
          <a:xfrm>
            <a:off x="4663002" y="5721823"/>
            <a:ext cx="1147745" cy="246221"/>
          </a:xfrm>
          <a:prstGeom prst="rect">
            <a:avLst/>
          </a:prstGeom>
          <a:noFill/>
        </p:spPr>
        <p:txBody>
          <a:bodyPr wrap="square" rtlCol="0">
            <a:spAutoFit/>
          </a:bodyPr>
          <a:lstStyle/>
          <a:p>
            <a:r>
              <a:rPr lang="tr-TR" sz="1000" noProof="1">
                <a:cs typeface="Arial" panose="020B0604020202020204" pitchFamily="34" charset="0"/>
              </a:rPr>
              <a:t>Zaman (saniye)</a:t>
            </a:r>
          </a:p>
        </p:txBody>
      </p:sp>
      <p:sp>
        <p:nvSpPr>
          <p:cNvPr id="101" name="Metin kutusu 100">
            <a:extLst>
              <a:ext uri="{FF2B5EF4-FFF2-40B4-BE49-F238E27FC236}">
                <a16:creationId xmlns:a16="http://schemas.microsoft.com/office/drawing/2014/main" id="{A3D95F41-2B65-4465-ADED-CB53FD4C7A10}"/>
              </a:ext>
            </a:extLst>
          </p:cNvPr>
          <p:cNvSpPr txBox="1"/>
          <p:nvPr/>
        </p:nvSpPr>
        <p:spPr>
          <a:xfrm>
            <a:off x="3583451" y="4678263"/>
            <a:ext cx="2015038" cy="246221"/>
          </a:xfrm>
          <a:prstGeom prst="rect">
            <a:avLst/>
          </a:prstGeom>
          <a:noFill/>
        </p:spPr>
        <p:txBody>
          <a:bodyPr wrap="square" rtlCol="0">
            <a:spAutoFit/>
          </a:bodyPr>
          <a:lstStyle/>
          <a:p>
            <a:r>
              <a:rPr lang="tr-TR" sz="1000" noProof="1">
                <a:cs typeface="Arial" panose="020B0604020202020204" pitchFamily="34" charset="0"/>
              </a:rPr>
              <a:t>Tepkime Hızı (katsayı)</a:t>
            </a:r>
          </a:p>
        </p:txBody>
      </p:sp>
      <p:sp>
        <p:nvSpPr>
          <p:cNvPr id="102" name="Serbest Form: Şekil 101">
            <a:extLst>
              <a:ext uri="{FF2B5EF4-FFF2-40B4-BE49-F238E27FC236}">
                <a16:creationId xmlns:a16="http://schemas.microsoft.com/office/drawing/2014/main" id="{E61C01D6-38A4-4F86-A542-17D095A8D98E}"/>
              </a:ext>
            </a:extLst>
          </p:cNvPr>
          <p:cNvSpPr/>
          <p:nvPr/>
        </p:nvSpPr>
        <p:spPr>
          <a:xfrm rot="5400000">
            <a:off x="3761123" y="5206042"/>
            <a:ext cx="595832" cy="689422"/>
          </a:xfrm>
          <a:custGeom>
            <a:avLst/>
            <a:gdLst>
              <a:gd name="connsiteX0" fmla="*/ 0 w 783432"/>
              <a:gd name="connsiteY0" fmla="*/ 776288 h 776288"/>
              <a:gd name="connsiteX1" fmla="*/ 252413 w 783432"/>
              <a:gd name="connsiteY1" fmla="*/ 164307 h 776288"/>
              <a:gd name="connsiteX2" fmla="*/ 783432 w 783432"/>
              <a:gd name="connsiteY2" fmla="*/ 0 h 776288"/>
            </a:gdLst>
            <a:ahLst/>
            <a:cxnLst>
              <a:cxn ang="0">
                <a:pos x="connsiteX0" y="connsiteY0"/>
              </a:cxn>
              <a:cxn ang="0">
                <a:pos x="connsiteX1" y="connsiteY1"/>
              </a:cxn>
              <a:cxn ang="0">
                <a:pos x="connsiteX2" y="connsiteY2"/>
              </a:cxn>
            </a:cxnLst>
            <a:rect l="l" t="t" r="r" b="b"/>
            <a:pathLst>
              <a:path w="783432" h="776288">
                <a:moveTo>
                  <a:pt x="0" y="776288"/>
                </a:moveTo>
                <a:cubicBezTo>
                  <a:pt x="60920" y="534988"/>
                  <a:pt x="121841" y="293688"/>
                  <a:pt x="252413" y="164307"/>
                </a:cubicBezTo>
                <a:cubicBezTo>
                  <a:pt x="382985" y="34926"/>
                  <a:pt x="583208" y="17463"/>
                  <a:pt x="783432" y="0"/>
                </a:cubicBezTo>
              </a:path>
            </a:pathLst>
          </a:custGeom>
          <a:noFill/>
          <a:ln w="952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103" name="Düz Bağlayıcı 102">
            <a:extLst>
              <a:ext uri="{FF2B5EF4-FFF2-40B4-BE49-F238E27FC236}">
                <a16:creationId xmlns:a16="http://schemas.microsoft.com/office/drawing/2014/main" id="{DA1108AB-4E69-4ED5-9EFF-2BD343B7B6EF}"/>
              </a:ext>
            </a:extLst>
          </p:cNvPr>
          <p:cNvCxnSpPr>
            <a:cxnSpLocks/>
          </p:cNvCxnSpPr>
          <p:nvPr/>
        </p:nvCxnSpPr>
        <p:spPr>
          <a:xfrm>
            <a:off x="4293096" y="5508104"/>
            <a:ext cx="0" cy="348374"/>
          </a:xfrm>
          <a:prstGeom prst="line">
            <a:avLst/>
          </a:prstGeom>
          <a:ln>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104" name="Metin kutusu 103">
            <a:extLst>
              <a:ext uri="{FF2B5EF4-FFF2-40B4-BE49-F238E27FC236}">
                <a16:creationId xmlns:a16="http://schemas.microsoft.com/office/drawing/2014/main" id="{61E6165F-1604-46EE-B62F-F93490B6DB24}"/>
              </a:ext>
            </a:extLst>
          </p:cNvPr>
          <p:cNvSpPr txBox="1"/>
          <p:nvPr/>
        </p:nvSpPr>
        <p:spPr>
          <a:xfrm>
            <a:off x="4127076" y="5828678"/>
            <a:ext cx="332040" cy="246221"/>
          </a:xfrm>
          <a:prstGeom prst="rect">
            <a:avLst/>
          </a:prstGeom>
          <a:noFill/>
        </p:spPr>
        <p:txBody>
          <a:bodyPr wrap="square" rtlCol="0">
            <a:spAutoFit/>
          </a:bodyPr>
          <a:lstStyle/>
          <a:p>
            <a:r>
              <a:rPr lang="tr-TR" sz="1000" noProof="1">
                <a:cs typeface="Arial" panose="020B0604020202020204" pitchFamily="34" charset="0"/>
              </a:rPr>
              <a:t>10</a:t>
            </a:r>
          </a:p>
        </p:txBody>
      </p:sp>
      <p:sp>
        <p:nvSpPr>
          <p:cNvPr id="105" name="Metin kutusu 104">
            <a:extLst>
              <a:ext uri="{FF2B5EF4-FFF2-40B4-BE49-F238E27FC236}">
                <a16:creationId xmlns:a16="http://schemas.microsoft.com/office/drawing/2014/main" id="{4327C539-D010-4DAE-864A-489EA444196C}"/>
              </a:ext>
            </a:extLst>
          </p:cNvPr>
          <p:cNvSpPr txBox="1"/>
          <p:nvPr/>
        </p:nvSpPr>
        <p:spPr>
          <a:xfrm>
            <a:off x="3538545" y="6008134"/>
            <a:ext cx="3302841" cy="1323439"/>
          </a:xfrm>
          <a:prstGeom prst="rect">
            <a:avLst/>
          </a:prstGeom>
          <a:noFill/>
        </p:spPr>
        <p:txBody>
          <a:bodyPr wrap="square" rtlCol="0">
            <a:spAutoFit/>
          </a:bodyPr>
          <a:lstStyle/>
          <a:p>
            <a:r>
              <a:rPr lang="tr-TR" sz="1000" b="1" noProof="1">
                <a:cs typeface="Arial" panose="020B0604020202020204" pitchFamily="34" charset="0"/>
              </a:rPr>
              <a:t>Sadece yukarıdaki grafikten </a:t>
            </a:r>
          </a:p>
          <a:p>
            <a:endParaRPr lang="tr-TR" sz="1000" noProof="1">
              <a:cs typeface="Arial" panose="020B0604020202020204" pitchFamily="34" charset="0"/>
            </a:endParaRPr>
          </a:p>
          <a:p>
            <a:r>
              <a:rPr lang="tr-TR" sz="1000" noProof="1">
                <a:cs typeface="Arial" panose="020B0604020202020204" pitchFamily="34" charset="0"/>
              </a:rPr>
              <a:t>  I. Tepkime hızının düşüşünün sebebi sıcaklığın düşmesidir.</a:t>
            </a:r>
          </a:p>
          <a:p>
            <a:r>
              <a:rPr lang="tr-TR" sz="1000" noProof="1">
                <a:cs typeface="Arial" panose="020B0604020202020204" pitchFamily="34" charset="0"/>
              </a:rPr>
              <a:t>  II. 10.saniyeden sonra tepkimenin katsayısının azalma miktarı öncesine göre daha da azalmıştır.</a:t>
            </a:r>
          </a:p>
          <a:p>
            <a:r>
              <a:rPr lang="tr-TR" sz="1000" noProof="1">
                <a:cs typeface="Arial" panose="020B0604020202020204" pitchFamily="34" charset="0"/>
              </a:rPr>
              <a:t> III. 10.saniyeden sonra tepkime hızındaki azalma sabittir.</a:t>
            </a:r>
          </a:p>
          <a:p>
            <a:endParaRPr lang="tr-TR" sz="1000" noProof="1">
              <a:cs typeface="Arial" panose="020B0604020202020204" pitchFamily="34" charset="0"/>
            </a:endParaRPr>
          </a:p>
          <a:p>
            <a:r>
              <a:rPr lang="tr-TR" sz="1000" b="1" noProof="1">
                <a:cs typeface="Arial" panose="020B0604020202020204" pitchFamily="34" charset="0"/>
              </a:rPr>
              <a:t>yargılarından hangileri çıkarılabilir?</a:t>
            </a:r>
          </a:p>
        </p:txBody>
      </p:sp>
      <p:sp>
        <p:nvSpPr>
          <p:cNvPr id="106" name="Dikdörtgen 105">
            <a:extLst>
              <a:ext uri="{FF2B5EF4-FFF2-40B4-BE49-F238E27FC236}">
                <a16:creationId xmlns:a16="http://schemas.microsoft.com/office/drawing/2014/main" id="{6AACC3AE-90BA-496A-8554-5C4CA5F2804C}"/>
              </a:ext>
            </a:extLst>
          </p:cNvPr>
          <p:cNvSpPr/>
          <p:nvPr/>
        </p:nvSpPr>
        <p:spPr>
          <a:xfrm>
            <a:off x="3544846" y="7280494"/>
            <a:ext cx="3366555"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                          C) Yalnız III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spTree>
    <p:extLst>
      <p:ext uri="{BB962C8B-B14F-4D97-AF65-F5344CB8AC3E}">
        <p14:creationId xmlns:p14="http://schemas.microsoft.com/office/powerpoint/2010/main" val="31712125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Grafik Problemleri</a:t>
            </a:r>
          </a:p>
          <a:p>
            <a:r>
              <a:rPr lang="tr-TR" sz="1000" b="1" noProof="1">
                <a:latin typeface="+mj-lt"/>
                <a:cs typeface="Arial" panose="020B0604020202020204" pitchFamily="34" charset="0"/>
              </a:rPr>
              <a:t>      Doğrusal ve Parabolik Grafikler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400362"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16.</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18.</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69310" y="3332052"/>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17.</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422516" y="2985659"/>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19.</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161482" y="481111"/>
            <a:ext cx="3359093" cy="1477328"/>
          </a:xfrm>
          <a:prstGeom prst="rect">
            <a:avLst/>
          </a:prstGeom>
          <a:noFill/>
        </p:spPr>
        <p:txBody>
          <a:bodyPr wrap="square" rtlCol="0">
            <a:spAutoFit/>
          </a:bodyPr>
          <a:lstStyle/>
          <a:p>
            <a:r>
              <a:rPr lang="tr-TR" sz="1000" b="1" noProof="1">
                <a:cs typeface="Arial" panose="020B0604020202020204" pitchFamily="34" charset="0"/>
              </a:rPr>
              <a:t>Doğrusal grafiklerle ilgili,</a:t>
            </a:r>
          </a:p>
          <a:p>
            <a:endParaRPr lang="tr-TR" sz="1000" noProof="1">
              <a:cs typeface="Arial" panose="020B0604020202020204" pitchFamily="34" charset="0"/>
            </a:endParaRPr>
          </a:p>
          <a:p>
            <a:r>
              <a:rPr lang="tr-TR" sz="1000" noProof="1">
                <a:cs typeface="Arial" panose="020B0604020202020204" pitchFamily="34" charset="0"/>
              </a:rPr>
              <a:t>I. Düşey ve yatay eksende gösterilenler doğru orantılıdır.</a:t>
            </a:r>
          </a:p>
          <a:p>
            <a:r>
              <a:rPr lang="tr-TR" sz="1000" noProof="1">
                <a:cs typeface="Arial" panose="020B0604020202020204" pitchFamily="34" charset="0"/>
              </a:rPr>
              <a:t>II. Her noktadaki eğimleri sabittir.</a:t>
            </a:r>
          </a:p>
          <a:p>
            <a:r>
              <a:rPr lang="tr-TR" sz="1000" noProof="1">
                <a:cs typeface="Arial" panose="020B0604020202020204" pitchFamily="34" charset="0"/>
              </a:rPr>
              <a:t>III. Eğimi sıfır olan doğruların düşey eksendeki ifade ettiği değer sabittir.</a:t>
            </a:r>
          </a:p>
          <a:p>
            <a:endParaRPr lang="tr-TR" sz="1000" noProof="1">
              <a:cs typeface="Arial" panose="020B0604020202020204" pitchFamily="34" charset="0"/>
            </a:endParaRPr>
          </a:p>
          <a:p>
            <a:r>
              <a:rPr lang="tr-TR" sz="1000" b="1" noProof="1">
                <a:cs typeface="Arial" panose="020B0604020202020204" pitchFamily="34" charset="0"/>
              </a:rPr>
              <a:t>önermelerinden hangileri </a:t>
            </a:r>
            <a:r>
              <a:rPr lang="tr-TR" sz="1000" b="1" u="sng" noProof="1">
                <a:cs typeface="Arial" panose="020B0604020202020204" pitchFamily="34" charset="0"/>
              </a:rPr>
              <a:t>kesinlikle</a:t>
            </a:r>
            <a:r>
              <a:rPr lang="tr-TR" sz="1000" b="1" noProof="1">
                <a:cs typeface="Arial" panose="020B0604020202020204" pitchFamily="34" charset="0"/>
              </a:rPr>
              <a:t> doğrudur?</a:t>
            </a:r>
          </a:p>
          <a:p>
            <a:endParaRPr lang="tr-TR" sz="1000" noProof="1">
              <a:cs typeface="Arial" panose="020B0604020202020204" pitchFamily="34" charset="0"/>
            </a:endParaRP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1059" y="8826145"/>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16.A  17.E  18.E  19.C</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149898" y="3364014"/>
            <a:ext cx="3359093" cy="246221"/>
          </a:xfrm>
          <a:prstGeom prst="rect">
            <a:avLst/>
          </a:prstGeom>
          <a:noFill/>
        </p:spPr>
        <p:txBody>
          <a:bodyPr wrap="square" rtlCol="0">
            <a:spAutoFit/>
          </a:bodyPr>
          <a:lstStyle/>
          <a:p>
            <a:r>
              <a:rPr lang="tr-TR" sz="1000" noProof="1">
                <a:cs typeface="Arial" panose="020B0604020202020204" pitchFamily="34" charset="0"/>
              </a:rPr>
              <a:t>Grafikte Nuran`ın parasının zamana göre değişimi verilmiştir.</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58" name="Dikdörtgen 57">
            <a:extLst>
              <a:ext uri="{FF2B5EF4-FFF2-40B4-BE49-F238E27FC236}">
                <a16:creationId xmlns:a16="http://schemas.microsoft.com/office/drawing/2014/main" id="{38D0066D-CD82-485B-8307-E1DC1DB8F2DD}"/>
              </a:ext>
            </a:extLst>
          </p:cNvPr>
          <p:cNvSpPr/>
          <p:nvPr/>
        </p:nvSpPr>
        <p:spPr>
          <a:xfrm>
            <a:off x="148773" y="1742293"/>
            <a:ext cx="3266886"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II ve III                           B) Yalnız I                          C) I ve 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Yalnız II                          E) Yalnız III</a:t>
            </a:r>
          </a:p>
        </p:txBody>
      </p:sp>
      <p:cxnSp>
        <p:nvCxnSpPr>
          <p:cNvPr id="59" name="Düz Ok Bağlayıcısı 58">
            <a:extLst>
              <a:ext uri="{FF2B5EF4-FFF2-40B4-BE49-F238E27FC236}">
                <a16:creationId xmlns:a16="http://schemas.microsoft.com/office/drawing/2014/main" id="{66574B90-1CF9-4CBD-97FE-7A57DFC87519}"/>
              </a:ext>
            </a:extLst>
          </p:cNvPr>
          <p:cNvCxnSpPr>
            <a:cxnSpLocks/>
          </p:cNvCxnSpPr>
          <p:nvPr/>
        </p:nvCxnSpPr>
        <p:spPr>
          <a:xfrm flipV="1">
            <a:off x="252405" y="3825179"/>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Düz Ok Bağlayıcısı 59">
            <a:extLst>
              <a:ext uri="{FF2B5EF4-FFF2-40B4-BE49-F238E27FC236}">
                <a16:creationId xmlns:a16="http://schemas.microsoft.com/office/drawing/2014/main" id="{7D7D4C85-3517-4282-831A-6F1B87B6226C}"/>
              </a:ext>
            </a:extLst>
          </p:cNvPr>
          <p:cNvCxnSpPr>
            <a:cxnSpLocks/>
          </p:cNvCxnSpPr>
          <p:nvPr/>
        </p:nvCxnSpPr>
        <p:spPr>
          <a:xfrm>
            <a:off x="103564" y="4793887"/>
            <a:ext cx="11278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Metin kutusu 60">
            <a:extLst>
              <a:ext uri="{FF2B5EF4-FFF2-40B4-BE49-F238E27FC236}">
                <a16:creationId xmlns:a16="http://schemas.microsoft.com/office/drawing/2014/main" id="{18F0ECB1-7F68-46E4-A76F-05FA31D9EA6A}"/>
              </a:ext>
            </a:extLst>
          </p:cNvPr>
          <p:cNvSpPr txBox="1"/>
          <p:nvPr/>
        </p:nvSpPr>
        <p:spPr>
          <a:xfrm>
            <a:off x="1201080" y="4659232"/>
            <a:ext cx="1007495" cy="246221"/>
          </a:xfrm>
          <a:prstGeom prst="rect">
            <a:avLst/>
          </a:prstGeom>
          <a:noFill/>
        </p:spPr>
        <p:txBody>
          <a:bodyPr wrap="square" rtlCol="0">
            <a:spAutoFit/>
          </a:bodyPr>
          <a:lstStyle/>
          <a:p>
            <a:r>
              <a:rPr lang="tr-TR" sz="1000" noProof="1">
                <a:cs typeface="Arial" panose="020B0604020202020204" pitchFamily="34" charset="0"/>
              </a:rPr>
              <a:t>Zaman (Gün)</a:t>
            </a:r>
          </a:p>
        </p:txBody>
      </p:sp>
      <p:sp>
        <p:nvSpPr>
          <p:cNvPr id="63" name="Metin kutusu 62">
            <a:extLst>
              <a:ext uri="{FF2B5EF4-FFF2-40B4-BE49-F238E27FC236}">
                <a16:creationId xmlns:a16="http://schemas.microsoft.com/office/drawing/2014/main" id="{B0E73204-BA8B-477A-B518-3D9A013F90CA}"/>
              </a:ext>
            </a:extLst>
          </p:cNvPr>
          <p:cNvSpPr txBox="1"/>
          <p:nvPr/>
        </p:nvSpPr>
        <p:spPr>
          <a:xfrm>
            <a:off x="121529" y="3615672"/>
            <a:ext cx="2015038" cy="246221"/>
          </a:xfrm>
          <a:prstGeom prst="rect">
            <a:avLst/>
          </a:prstGeom>
          <a:noFill/>
        </p:spPr>
        <p:txBody>
          <a:bodyPr wrap="square" rtlCol="0">
            <a:spAutoFit/>
          </a:bodyPr>
          <a:lstStyle/>
          <a:p>
            <a:r>
              <a:rPr lang="tr-TR" sz="1000" noProof="1">
                <a:cs typeface="Arial" panose="020B0604020202020204" pitchFamily="34" charset="0"/>
              </a:rPr>
              <a:t>Nuran`ın Parası</a:t>
            </a:r>
          </a:p>
        </p:txBody>
      </p:sp>
      <p:cxnSp>
        <p:nvCxnSpPr>
          <p:cNvPr id="7" name="Düz Bağlayıcı 6">
            <a:extLst>
              <a:ext uri="{FF2B5EF4-FFF2-40B4-BE49-F238E27FC236}">
                <a16:creationId xmlns:a16="http://schemas.microsoft.com/office/drawing/2014/main" id="{F438CAA0-E9A4-4572-A6AA-8E62E6B115C7}"/>
              </a:ext>
            </a:extLst>
          </p:cNvPr>
          <p:cNvCxnSpPr>
            <a:cxnSpLocks/>
          </p:cNvCxnSpPr>
          <p:nvPr/>
        </p:nvCxnSpPr>
        <p:spPr>
          <a:xfrm>
            <a:off x="252405" y="4283968"/>
            <a:ext cx="872339"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64" name="Metin kutusu 63">
            <a:extLst>
              <a:ext uri="{FF2B5EF4-FFF2-40B4-BE49-F238E27FC236}">
                <a16:creationId xmlns:a16="http://schemas.microsoft.com/office/drawing/2014/main" id="{ADA8C2FF-FF43-4A4C-8003-1FA99A5EC8B5}"/>
              </a:ext>
            </a:extLst>
          </p:cNvPr>
          <p:cNvSpPr txBox="1"/>
          <p:nvPr/>
        </p:nvSpPr>
        <p:spPr>
          <a:xfrm>
            <a:off x="38640" y="4905299"/>
            <a:ext cx="3359093" cy="1323439"/>
          </a:xfrm>
          <a:prstGeom prst="rect">
            <a:avLst/>
          </a:prstGeom>
          <a:noFill/>
        </p:spPr>
        <p:txBody>
          <a:bodyPr wrap="square" rtlCol="0">
            <a:spAutoFit/>
          </a:bodyPr>
          <a:lstStyle/>
          <a:p>
            <a:r>
              <a:rPr lang="tr-TR" sz="1000" b="1" noProof="1">
                <a:cs typeface="Arial" panose="020B0604020202020204" pitchFamily="34" charset="0"/>
              </a:rPr>
              <a:t>Doğrusal grafiklerle ilgili,</a:t>
            </a:r>
          </a:p>
          <a:p>
            <a:endParaRPr lang="tr-TR" sz="1000" noProof="1">
              <a:cs typeface="Arial" panose="020B0604020202020204" pitchFamily="34" charset="0"/>
            </a:endParaRPr>
          </a:p>
          <a:p>
            <a:r>
              <a:rPr lang="tr-TR" sz="1000" noProof="1">
                <a:cs typeface="Arial" panose="020B0604020202020204" pitchFamily="34" charset="0"/>
              </a:rPr>
              <a:t>I. Nuran`ın parası azalmamıştır.</a:t>
            </a:r>
          </a:p>
          <a:p>
            <a:r>
              <a:rPr lang="tr-TR" sz="1000" noProof="1">
                <a:cs typeface="Arial" panose="020B0604020202020204" pitchFamily="34" charset="0"/>
              </a:rPr>
              <a:t>II. Grafiğin eğimi 0 dır.</a:t>
            </a:r>
          </a:p>
          <a:p>
            <a:r>
              <a:rPr lang="tr-TR" sz="1000" noProof="1">
                <a:cs typeface="Arial" panose="020B0604020202020204" pitchFamily="34" charset="0"/>
              </a:rPr>
              <a:t>III. Nuran`ın parası her gün aynıdır.</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a:p>
            <a:endParaRPr lang="tr-TR" sz="1000" noProof="1">
              <a:cs typeface="Arial" panose="020B0604020202020204" pitchFamily="34" charset="0"/>
            </a:endParaRPr>
          </a:p>
        </p:txBody>
      </p:sp>
      <p:sp>
        <p:nvSpPr>
          <p:cNvPr id="66" name="Dikdörtgen 65">
            <a:extLst>
              <a:ext uri="{FF2B5EF4-FFF2-40B4-BE49-F238E27FC236}">
                <a16:creationId xmlns:a16="http://schemas.microsoft.com/office/drawing/2014/main" id="{227E7E0D-AF86-425D-92B4-E25712E04E7E}"/>
              </a:ext>
            </a:extLst>
          </p:cNvPr>
          <p:cNvSpPr/>
          <p:nvPr/>
        </p:nvSpPr>
        <p:spPr>
          <a:xfrm>
            <a:off x="22908" y="5999359"/>
            <a:ext cx="3366555"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                        C) Yalnız III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II, III</a:t>
            </a:r>
          </a:p>
        </p:txBody>
      </p:sp>
      <p:sp>
        <p:nvSpPr>
          <p:cNvPr id="68" name="Metin kutusu 67">
            <a:extLst>
              <a:ext uri="{FF2B5EF4-FFF2-40B4-BE49-F238E27FC236}">
                <a16:creationId xmlns:a16="http://schemas.microsoft.com/office/drawing/2014/main" id="{B86AF9C5-2884-4915-9D02-D07140A568D7}"/>
              </a:ext>
            </a:extLst>
          </p:cNvPr>
          <p:cNvSpPr txBox="1"/>
          <p:nvPr/>
        </p:nvSpPr>
        <p:spPr>
          <a:xfrm>
            <a:off x="3535153" y="473704"/>
            <a:ext cx="3422237" cy="1323439"/>
          </a:xfrm>
          <a:prstGeom prst="rect">
            <a:avLst/>
          </a:prstGeom>
          <a:noFill/>
        </p:spPr>
        <p:txBody>
          <a:bodyPr wrap="square" rtlCol="0">
            <a:spAutoFit/>
          </a:bodyPr>
          <a:lstStyle/>
          <a:p>
            <a:r>
              <a:rPr lang="tr-TR" sz="1000" b="1" noProof="1">
                <a:cs typeface="Arial" panose="020B0604020202020204" pitchFamily="34" charset="0"/>
              </a:rPr>
              <a:t>Doğrusal ve parabolik grafiklerle ilgili,</a:t>
            </a:r>
          </a:p>
          <a:p>
            <a:endParaRPr lang="tr-TR" sz="1000" noProof="1">
              <a:cs typeface="Arial" panose="020B0604020202020204" pitchFamily="34" charset="0"/>
            </a:endParaRPr>
          </a:p>
          <a:p>
            <a:r>
              <a:rPr lang="tr-TR" sz="1000" noProof="1">
                <a:cs typeface="Arial" panose="020B0604020202020204" pitchFamily="34" charset="0"/>
              </a:rPr>
              <a:t>I. Parabolik grafiklerin her noktadaki eğimleri aynı değildir.</a:t>
            </a:r>
          </a:p>
          <a:p>
            <a:r>
              <a:rPr lang="tr-TR" sz="1000" noProof="1">
                <a:cs typeface="Arial" panose="020B0604020202020204" pitchFamily="34" charset="0"/>
              </a:rPr>
              <a:t>II. Doğrusal grafiklerde doğru sola yatıksa eğim negatiftir.</a:t>
            </a:r>
          </a:p>
          <a:p>
            <a:r>
              <a:rPr lang="tr-TR" sz="1000" noProof="1">
                <a:cs typeface="Arial" panose="020B0604020202020204" pitchFamily="34" charset="0"/>
              </a:rPr>
              <a:t>III. Doğrusal grafiklerde doğru sağa yatıksa eğim pozitiftir.</a:t>
            </a:r>
          </a:p>
          <a:p>
            <a:endParaRPr lang="tr-TR" sz="1000" noProof="1">
              <a:cs typeface="Arial" panose="020B0604020202020204" pitchFamily="34" charset="0"/>
            </a:endParaRPr>
          </a:p>
          <a:p>
            <a:r>
              <a:rPr lang="tr-TR" sz="1000" b="1" noProof="1">
                <a:cs typeface="Arial" panose="020B0604020202020204" pitchFamily="34" charset="0"/>
              </a:rPr>
              <a:t>önermelerinden hangileri </a:t>
            </a:r>
            <a:r>
              <a:rPr lang="tr-TR" sz="1000" b="1" u="sng" noProof="1">
                <a:cs typeface="Arial" panose="020B0604020202020204" pitchFamily="34" charset="0"/>
              </a:rPr>
              <a:t>kesinlikle</a:t>
            </a:r>
            <a:r>
              <a:rPr lang="tr-TR" sz="1000" b="1" noProof="1">
                <a:cs typeface="Arial" panose="020B0604020202020204" pitchFamily="34" charset="0"/>
              </a:rPr>
              <a:t> doğrudur?</a:t>
            </a:r>
          </a:p>
          <a:p>
            <a:endParaRPr lang="tr-TR" sz="1000" noProof="1">
              <a:cs typeface="Arial" panose="020B0604020202020204" pitchFamily="34" charset="0"/>
            </a:endParaRPr>
          </a:p>
        </p:txBody>
      </p:sp>
      <p:sp>
        <p:nvSpPr>
          <p:cNvPr id="70" name="Dikdörtgen 69">
            <a:extLst>
              <a:ext uri="{FF2B5EF4-FFF2-40B4-BE49-F238E27FC236}">
                <a16:creationId xmlns:a16="http://schemas.microsoft.com/office/drawing/2014/main" id="{01876932-7CBE-47D5-9C8F-4FA81CC63A57}"/>
              </a:ext>
            </a:extLst>
          </p:cNvPr>
          <p:cNvSpPr/>
          <p:nvPr/>
        </p:nvSpPr>
        <p:spPr>
          <a:xfrm>
            <a:off x="3532366" y="1547796"/>
            <a:ext cx="3366555"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                        C) Yalnız III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II, III</a:t>
            </a:r>
          </a:p>
        </p:txBody>
      </p:sp>
      <p:cxnSp>
        <p:nvCxnSpPr>
          <p:cNvPr id="71" name="Düz Ok Bağlayıcısı 70">
            <a:extLst>
              <a:ext uri="{FF2B5EF4-FFF2-40B4-BE49-F238E27FC236}">
                <a16:creationId xmlns:a16="http://schemas.microsoft.com/office/drawing/2014/main" id="{0A4D6894-7AD1-4623-994F-8010C3900FE1}"/>
              </a:ext>
            </a:extLst>
          </p:cNvPr>
          <p:cNvCxnSpPr>
            <a:cxnSpLocks/>
          </p:cNvCxnSpPr>
          <p:nvPr/>
        </p:nvCxnSpPr>
        <p:spPr>
          <a:xfrm flipV="1">
            <a:off x="3825124" y="3220824"/>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Düz Ok Bağlayıcısı 71">
            <a:extLst>
              <a:ext uri="{FF2B5EF4-FFF2-40B4-BE49-F238E27FC236}">
                <a16:creationId xmlns:a16="http://schemas.microsoft.com/office/drawing/2014/main" id="{A850DBDE-FBC5-4CA8-AF94-6044BA60386C}"/>
              </a:ext>
            </a:extLst>
          </p:cNvPr>
          <p:cNvCxnSpPr>
            <a:cxnSpLocks/>
          </p:cNvCxnSpPr>
          <p:nvPr/>
        </p:nvCxnSpPr>
        <p:spPr>
          <a:xfrm>
            <a:off x="3676283" y="4189532"/>
            <a:ext cx="11278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Metin kutusu 73">
            <a:extLst>
              <a:ext uri="{FF2B5EF4-FFF2-40B4-BE49-F238E27FC236}">
                <a16:creationId xmlns:a16="http://schemas.microsoft.com/office/drawing/2014/main" id="{8356557C-03E5-4506-96AA-3D2A4642C4AF}"/>
              </a:ext>
            </a:extLst>
          </p:cNvPr>
          <p:cNvSpPr txBox="1"/>
          <p:nvPr/>
        </p:nvSpPr>
        <p:spPr>
          <a:xfrm>
            <a:off x="3694248" y="3011317"/>
            <a:ext cx="2015038" cy="246221"/>
          </a:xfrm>
          <a:prstGeom prst="rect">
            <a:avLst/>
          </a:prstGeom>
          <a:noFill/>
        </p:spPr>
        <p:txBody>
          <a:bodyPr wrap="square" rtlCol="0">
            <a:spAutoFit/>
          </a:bodyPr>
          <a:lstStyle/>
          <a:p>
            <a:r>
              <a:rPr lang="tr-TR" sz="1000" noProof="1">
                <a:cs typeface="Arial" panose="020B0604020202020204" pitchFamily="34" charset="0"/>
              </a:rPr>
              <a:t>Melis`in not ortalaması</a:t>
            </a:r>
          </a:p>
        </p:txBody>
      </p:sp>
      <p:cxnSp>
        <p:nvCxnSpPr>
          <p:cNvPr id="75" name="Düz Bağlayıcı 74">
            <a:extLst>
              <a:ext uri="{FF2B5EF4-FFF2-40B4-BE49-F238E27FC236}">
                <a16:creationId xmlns:a16="http://schemas.microsoft.com/office/drawing/2014/main" id="{FEE48F7C-8A20-4DA1-BF6A-25FFD646EE84}"/>
              </a:ext>
            </a:extLst>
          </p:cNvPr>
          <p:cNvCxnSpPr>
            <a:cxnSpLocks/>
          </p:cNvCxnSpPr>
          <p:nvPr/>
        </p:nvCxnSpPr>
        <p:spPr>
          <a:xfrm>
            <a:off x="3898607" y="3408014"/>
            <a:ext cx="743809"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Düz Ok Bağlayıcısı 75">
            <a:extLst>
              <a:ext uri="{FF2B5EF4-FFF2-40B4-BE49-F238E27FC236}">
                <a16:creationId xmlns:a16="http://schemas.microsoft.com/office/drawing/2014/main" id="{08DB5846-DE56-405E-9420-CC791ABF2FA0}"/>
              </a:ext>
            </a:extLst>
          </p:cNvPr>
          <p:cNvCxnSpPr>
            <a:cxnSpLocks/>
          </p:cNvCxnSpPr>
          <p:nvPr/>
        </p:nvCxnSpPr>
        <p:spPr>
          <a:xfrm flipV="1">
            <a:off x="5482342" y="3229425"/>
            <a:ext cx="0" cy="1080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Düz Ok Bağlayıcısı 76">
            <a:extLst>
              <a:ext uri="{FF2B5EF4-FFF2-40B4-BE49-F238E27FC236}">
                <a16:creationId xmlns:a16="http://schemas.microsoft.com/office/drawing/2014/main" id="{39EE4E5D-A1FB-4A50-A6FC-5C664E6CE7A9}"/>
              </a:ext>
            </a:extLst>
          </p:cNvPr>
          <p:cNvCxnSpPr>
            <a:cxnSpLocks/>
          </p:cNvCxnSpPr>
          <p:nvPr/>
        </p:nvCxnSpPr>
        <p:spPr>
          <a:xfrm>
            <a:off x="5333501" y="4198133"/>
            <a:ext cx="13256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9" name="Metin kutusu 78">
            <a:extLst>
              <a:ext uri="{FF2B5EF4-FFF2-40B4-BE49-F238E27FC236}">
                <a16:creationId xmlns:a16="http://schemas.microsoft.com/office/drawing/2014/main" id="{0C2E1F14-FDD7-4FE7-B58B-B0CE27F2DDA4}"/>
              </a:ext>
            </a:extLst>
          </p:cNvPr>
          <p:cNvSpPr txBox="1"/>
          <p:nvPr/>
        </p:nvSpPr>
        <p:spPr>
          <a:xfrm>
            <a:off x="5351466" y="3019918"/>
            <a:ext cx="2015038" cy="246221"/>
          </a:xfrm>
          <a:prstGeom prst="rect">
            <a:avLst/>
          </a:prstGeom>
          <a:noFill/>
        </p:spPr>
        <p:txBody>
          <a:bodyPr wrap="square" rtlCol="0">
            <a:spAutoFit/>
          </a:bodyPr>
          <a:lstStyle/>
          <a:p>
            <a:r>
              <a:rPr lang="tr-TR" sz="1000" noProof="1">
                <a:cs typeface="Arial" panose="020B0604020202020204" pitchFamily="34" charset="0"/>
              </a:rPr>
              <a:t>Aslı`nın not ortalaması</a:t>
            </a:r>
          </a:p>
        </p:txBody>
      </p:sp>
      <p:sp>
        <p:nvSpPr>
          <p:cNvPr id="81" name="Metin kutusu 80">
            <a:extLst>
              <a:ext uri="{FF2B5EF4-FFF2-40B4-BE49-F238E27FC236}">
                <a16:creationId xmlns:a16="http://schemas.microsoft.com/office/drawing/2014/main" id="{FC48856C-E617-4331-B9EB-C4A4C42A1E9C}"/>
              </a:ext>
            </a:extLst>
          </p:cNvPr>
          <p:cNvSpPr txBox="1"/>
          <p:nvPr/>
        </p:nvSpPr>
        <p:spPr>
          <a:xfrm rot="16200000">
            <a:off x="3604185" y="4241370"/>
            <a:ext cx="628112" cy="246221"/>
          </a:xfrm>
          <a:prstGeom prst="rect">
            <a:avLst/>
          </a:prstGeom>
          <a:noFill/>
        </p:spPr>
        <p:txBody>
          <a:bodyPr wrap="square" rtlCol="0">
            <a:spAutoFit/>
          </a:bodyPr>
          <a:lstStyle/>
          <a:p>
            <a:r>
              <a:rPr lang="tr-TR" sz="1000" noProof="1">
                <a:cs typeface="Arial" panose="020B0604020202020204" pitchFamily="34" charset="0"/>
              </a:rPr>
              <a:t>Ders 1</a:t>
            </a:r>
          </a:p>
        </p:txBody>
      </p:sp>
      <p:sp>
        <p:nvSpPr>
          <p:cNvPr id="82" name="Metin kutusu 81">
            <a:extLst>
              <a:ext uri="{FF2B5EF4-FFF2-40B4-BE49-F238E27FC236}">
                <a16:creationId xmlns:a16="http://schemas.microsoft.com/office/drawing/2014/main" id="{DCBC645A-BEE3-45B3-8A60-377E6EBF5EF5}"/>
              </a:ext>
            </a:extLst>
          </p:cNvPr>
          <p:cNvSpPr txBox="1"/>
          <p:nvPr/>
        </p:nvSpPr>
        <p:spPr>
          <a:xfrm rot="16200000">
            <a:off x="3820442" y="4236249"/>
            <a:ext cx="628112" cy="246221"/>
          </a:xfrm>
          <a:prstGeom prst="rect">
            <a:avLst/>
          </a:prstGeom>
          <a:noFill/>
        </p:spPr>
        <p:txBody>
          <a:bodyPr wrap="square" rtlCol="0">
            <a:spAutoFit/>
          </a:bodyPr>
          <a:lstStyle/>
          <a:p>
            <a:r>
              <a:rPr lang="tr-TR" sz="1000" noProof="1">
                <a:cs typeface="Arial" panose="020B0604020202020204" pitchFamily="34" charset="0"/>
              </a:rPr>
              <a:t>Ders 2</a:t>
            </a:r>
          </a:p>
        </p:txBody>
      </p:sp>
      <p:sp>
        <p:nvSpPr>
          <p:cNvPr id="83" name="Metin kutusu 82">
            <a:extLst>
              <a:ext uri="{FF2B5EF4-FFF2-40B4-BE49-F238E27FC236}">
                <a16:creationId xmlns:a16="http://schemas.microsoft.com/office/drawing/2014/main" id="{A65E6377-2399-42FE-9A45-C0D1C0D3AEAF}"/>
              </a:ext>
            </a:extLst>
          </p:cNvPr>
          <p:cNvSpPr txBox="1"/>
          <p:nvPr/>
        </p:nvSpPr>
        <p:spPr>
          <a:xfrm rot="16200000">
            <a:off x="4022934" y="4235122"/>
            <a:ext cx="628112" cy="246221"/>
          </a:xfrm>
          <a:prstGeom prst="rect">
            <a:avLst/>
          </a:prstGeom>
          <a:noFill/>
        </p:spPr>
        <p:txBody>
          <a:bodyPr wrap="square" rtlCol="0">
            <a:spAutoFit/>
          </a:bodyPr>
          <a:lstStyle/>
          <a:p>
            <a:r>
              <a:rPr lang="tr-TR" sz="1000" noProof="1">
                <a:cs typeface="Arial" panose="020B0604020202020204" pitchFamily="34" charset="0"/>
              </a:rPr>
              <a:t>Ders 3</a:t>
            </a:r>
          </a:p>
        </p:txBody>
      </p:sp>
      <p:sp>
        <p:nvSpPr>
          <p:cNvPr id="84" name="Metin kutusu 83">
            <a:extLst>
              <a:ext uri="{FF2B5EF4-FFF2-40B4-BE49-F238E27FC236}">
                <a16:creationId xmlns:a16="http://schemas.microsoft.com/office/drawing/2014/main" id="{3874D5AF-FB73-44B0-A814-F1B14FCB31BE}"/>
              </a:ext>
            </a:extLst>
          </p:cNvPr>
          <p:cNvSpPr txBox="1"/>
          <p:nvPr/>
        </p:nvSpPr>
        <p:spPr>
          <a:xfrm rot="16200000">
            <a:off x="4212662" y="4233994"/>
            <a:ext cx="628112" cy="246221"/>
          </a:xfrm>
          <a:prstGeom prst="rect">
            <a:avLst/>
          </a:prstGeom>
          <a:noFill/>
        </p:spPr>
        <p:txBody>
          <a:bodyPr wrap="square" rtlCol="0">
            <a:spAutoFit/>
          </a:bodyPr>
          <a:lstStyle/>
          <a:p>
            <a:r>
              <a:rPr lang="tr-TR" sz="1000" noProof="1">
                <a:cs typeface="Arial" panose="020B0604020202020204" pitchFamily="34" charset="0"/>
              </a:rPr>
              <a:t>Ders 4</a:t>
            </a:r>
          </a:p>
        </p:txBody>
      </p:sp>
      <p:sp>
        <p:nvSpPr>
          <p:cNvPr id="85" name="Metin kutusu 84">
            <a:extLst>
              <a:ext uri="{FF2B5EF4-FFF2-40B4-BE49-F238E27FC236}">
                <a16:creationId xmlns:a16="http://schemas.microsoft.com/office/drawing/2014/main" id="{EAAB79A5-EEE6-451E-965C-DE2A626C38AE}"/>
              </a:ext>
            </a:extLst>
          </p:cNvPr>
          <p:cNvSpPr txBox="1"/>
          <p:nvPr/>
        </p:nvSpPr>
        <p:spPr>
          <a:xfrm>
            <a:off x="4735802" y="4075022"/>
            <a:ext cx="628112" cy="246221"/>
          </a:xfrm>
          <a:prstGeom prst="rect">
            <a:avLst/>
          </a:prstGeom>
          <a:noFill/>
        </p:spPr>
        <p:txBody>
          <a:bodyPr wrap="square" rtlCol="0">
            <a:spAutoFit/>
          </a:bodyPr>
          <a:lstStyle/>
          <a:p>
            <a:r>
              <a:rPr lang="tr-TR" sz="1000" noProof="1">
                <a:cs typeface="Arial" panose="020B0604020202020204" pitchFamily="34" charset="0"/>
              </a:rPr>
              <a:t>dersler</a:t>
            </a:r>
          </a:p>
        </p:txBody>
      </p:sp>
      <p:sp>
        <p:nvSpPr>
          <p:cNvPr id="87" name="Metin kutusu 86">
            <a:extLst>
              <a:ext uri="{FF2B5EF4-FFF2-40B4-BE49-F238E27FC236}">
                <a16:creationId xmlns:a16="http://schemas.microsoft.com/office/drawing/2014/main" id="{EFBF96C9-B590-42B1-9B62-E5CF7A5B9C94}"/>
              </a:ext>
            </a:extLst>
          </p:cNvPr>
          <p:cNvSpPr txBox="1"/>
          <p:nvPr/>
        </p:nvSpPr>
        <p:spPr>
          <a:xfrm rot="16200000">
            <a:off x="5300904" y="4214217"/>
            <a:ext cx="628112" cy="246221"/>
          </a:xfrm>
          <a:prstGeom prst="rect">
            <a:avLst/>
          </a:prstGeom>
          <a:noFill/>
        </p:spPr>
        <p:txBody>
          <a:bodyPr wrap="square" rtlCol="0">
            <a:spAutoFit/>
          </a:bodyPr>
          <a:lstStyle/>
          <a:p>
            <a:r>
              <a:rPr lang="tr-TR" sz="1000" noProof="1">
                <a:cs typeface="Arial" panose="020B0604020202020204" pitchFamily="34" charset="0"/>
              </a:rPr>
              <a:t>Ders 1</a:t>
            </a:r>
          </a:p>
        </p:txBody>
      </p:sp>
      <p:sp>
        <p:nvSpPr>
          <p:cNvPr id="88" name="Metin kutusu 87">
            <a:extLst>
              <a:ext uri="{FF2B5EF4-FFF2-40B4-BE49-F238E27FC236}">
                <a16:creationId xmlns:a16="http://schemas.microsoft.com/office/drawing/2014/main" id="{17CC7798-A1CF-4882-BCBD-21C98EB99192}"/>
              </a:ext>
            </a:extLst>
          </p:cNvPr>
          <p:cNvSpPr txBox="1"/>
          <p:nvPr/>
        </p:nvSpPr>
        <p:spPr>
          <a:xfrm rot="16200000">
            <a:off x="5524447" y="4210805"/>
            <a:ext cx="628112" cy="246221"/>
          </a:xfrm>
          <a:prstGeom prst="rect">
            <a:avLst/>
          </a:prstGeom>
          <a:noFill/>
        </p:spPr>
        <p:txBody>
          <a:bodyPr wrap="square" rtlCol="0">
            <a:spAutoFit/>
          </a:bodyPr>
          <a:lstStyle/>
          <a:p>
            <a:r>
              <a:rPr lang="tr-TR" sz="1000" noProof="1">
                <a:cs typeface="Arial" panose="020B0604020202020204" pitchFamily="34" charset="0"/>
              </a:rPr>
              <a:t>Ders 2</a:t>
            </a:r>
          </a:p>
        </p:txBody>
      </p:sp>
      <p:sp>
        <p:nvSpPr>
          <p:cNvPr id="89" name="Metin kutusu 88">
            <a:extLst>
              <a:ext uri="{FF2B5EF4-FFF2-40B4-BE49-F238E27FC236}">
                <a16:creationId xmlns:a16="http://schemas.microsoft.com/office/drawing/2014/main" id="{37A4C1AB-4CE4-4D35-8DE1-C0DFE9C0E7CE}"/>
              </a:ext>
            </a:extLst>
          </p:cNvPr>
          <p:cNvSpPr txBox="1"/>
          <p:nvPr/>
        </p:nvSpPr>
        <p:spPr>
          <a:xfrm rot="16200000">
            <a:off x="5761257" y="4219547"/>
            <a:ext cx="628112" cy="246221"/>
          </a:xfrm>
          <a:prstGeom prst="rect">
            <a:avLst/>
          </a:prstGeom>
          <a:noFill/>
        </p:spPr>
        <p:txBody>
          <a:bodyPr wrap="square" rtlCol="0">
            <a:spAutoFit/>
          </a:bodyPr>
          <a:lstStyle/>
          <a:p>
            <a:r>
              <a:rPr lang="tr-TR" sz="1000" noProof="1">
                <a:cs typeface="Arial" panose="020B0604020202020204" pitchFamily="34" charset="0"/>
              </a:rPr>
              <a:t>Ders 3</a:t>
            </a:r>
          </a:p>
        </p:txBody>
      </p:sp>
      <p:sp>
        <p:nvSpPr>
          <p:cNvPr id="90" name="Metin kutusu 89">
            <a:extLst>
              <a:ext uri="{FF2B5EF4-FFF2-40B4-BE49-F238E27FC236}">
                <a16:creationId xmlns:a16="http://schemas.microsoft.com/office/drawing/2014/main" id="{BE89F68D-3F9A-43F6-94D8-B2FD19E96788}"/>
              </a:ext>
            </a:extLst>
          </p:cNvPr>
          <p:cNvSpPr txBox="1"/>
          <p:nvPr/>
        </p:nvSpPr>
        <p:spPr>
          <a:xfrm rot="16200000">
            <a:off x="6044929" y="4206841"/>
            <a:ext cx="628112" cy="246221"/>
          </a:xfrm>
          <a:prstGeom prst="rect">
            <a:avLst/>
          </a:prstGeom>
          <a:noFill/>
        </p:spPr>
        <p:txBody>
          <a:bodyPr wrap="square" rtlCol="0">
            <a:spAutoFit/>
          </a:bodyPr>
          <a:lstStyle/>
          <a:p>
            <a:r>
              <a:rPr lang="tr-TR" sz="1000" noProof="1">
                <a:cs typeface="Arial" panose="020B0604020202020204" pitchFamily="34" charset="0"/>
              </a:rPr>
              <a:t>Ders 4</a:t>
            </a:r>
          </a:p>
        </p:txBody>
      </p:sp>
      <p:sp>
        <p:nvSpPr>
          <p:cNvPr id="91" name="Metin kutusu 90">
            <a:extLst>
              <a:ext uri="{FF2B5EF4-FFF2-40B4-BE49-F238E27FC236}">
                <a16:creationId xmlns:a16="http://schemas.microsoft.com/office/drawing/2014/main" id="{A12C269E-8FE7-44BB-8DE9-0CE643CC7F07}"/>
              </a:ext>
            </a:extLst>
          </p:cNvPr>
          <p:cNvSpPr txBox="1"/>
          <p:nvPr/>
        </p:nvSpPr>
        <p:spPr>
          <a:xfrm>
            <a:off x="3431382" y="4614708"/>
            <a:ext cx="3519597" cy="1785104"/>
          </a:xfrm>
          <a:prstGeom prst="rect">
            <a:avLst/>
          </a:prstGeom>
          <a:noFill/>
        </p:spPr>
        <p:txBody>
          <a:bodyPr wrap="square" rtlCol="0">
            <a:spAutoFit/>
          </a:bodyPr>
          <a:lstStyle/>
          <a:p>
            <a:r>
              <a:rPr lang="tr-TR" sz="1000" b="1" u="sng" noProof="1">
                <a:cs typeface="Arial" panose="020B0604020202020204" pitchFamily="34" charset="0"/>
              </a:rPr>
              <a:t>Aynı hizzada bulunan </a:t>
            </a:r>
            <a:r>
              <a:rPr lang="tr-TR" sz="1000" b="1" noProof="1">
                <a:cs typeface="Arial" panose="020B0604020202020204" pitchFamily="34" charset="0"/>
              </a:rPr>
              <a:t>iki grafikte iki arkadaşın not ortalamasını derslerin sınavlarından aldıkları notlardan sonraki öğrencilerin ortalamalarındaki değişimini göstermektedir. Buna göre;</a:t>
            </a:r>
          </a:p>
          <a:p>
            <a:endParaRPr lang="tr-TR" sz="1000" noProof="1">
              <a:cs typeface="Arial" panose="020B0604020202020204" pitchFamily="34" charset="0"/>
            </a:endParaRPr>
          </a:p>
          <a:p>
            <a:r>
              <a:rPr lang="tr-TR" sz="1000" noProof="1">
                <a:cs typeface="Arial" panose="020B0604020202020204" pitchFamily="34" charset="0"/>
              </a:rPr>
              <a:t>I. Melis`in 4 dersten aldığı notlar toplamı 320 dir.</a:t>
            </a:r>
          </a:p>
          <a:p>
            <a:r>
              <a:rPr lang="tr-TR" sz="1000" noProof="1">
                <a:cs typeface="Arial" panose="020B0604020202020204" pitchFamily="34" charset="0"/>
              </a:rPr>
              <a:t>II. Aslı ile Melis bir dersten aynı notu almışlardır.</a:t>
            </a:r>
          </a:p>
          <a:p>
            <a:r>
              <a:rPr lang="tr-TR" sz="1000" noProof="1">
                <a:cs typeface="Arial" panose="020B0604020202020204" pitchFamily="34" charset="0"/>
              </a:rPr>
              <a:t>III. Aslı`nın ders4 den alabileceği en büyük ve en küçük notun sayısal değerlerinin toplamı 50 dir.</a:t>
            </a:r>
          </a:p>
          <a:p>
            <a:endParaRPr lang="tr-TR" sz="1000" noProof="1">
              <a:cs typeface="Arial" panose="020B0604020202020204" pitchFamily="34" charset="0"/>
            </a:endParaRPr>
          </a:p>
          <a:p>
            <a:r>
              <a:rPr lang="tr-TR" sz="1000" b="1" noProof="1">
                <a:cs typeface="Arial" panose="020B0604020202020204" pitchFamily="34" charset="0"/>
              </a:rPr>
              <a:t>hangileri doğrudur? </a:t>
            </a:r>
            <a:r>
              <a:rPr lang="tr-TR" sz="1000" noProof="1">
                <a:cs typeface="Arial" panose="020B0604020202020204" pitchFamily="34" charset="0"/>
              </a:rPr>
              <a:t>(Sadece 4 dersin sınavına girmişlerdir.)</a:t>
            </a:r>
          </a:p>
          <a:p>
            <a:endParaRPr lang="tr-TR" sz="1000" noProof="1">
              <a:cs typeface="Arial" panose="020B0604020202020204" pitchFamily="34" charset="0"/>
            </a:endParaRPr>
          </a:p>
        </p:txBody>
      </p:sp>
      <p:sp>
        <p:nvSpPr>
          <p:cNvPr id="92" name="Metin kutusu 91">
            <a:extLst>
              <a:ext uri="{FF2B5EF4-FFF2-40B4-BE49-F238E27FC236}">
                <a16:creationId xmlns:a16="http://schemas.microsoft.com/office/drawing/2014/main" id="{8AB64613-F029-4807-B3CA-9DF60CE5436F}"/>
              </a:ext>
            </a:extLst>
          </p:cNvPr>
          <p:cNvSpPr txBox="1"/>
          <p:nvPr/>
        </p:nvSpPr>
        <p:spPr>
          <a:xfrm>
            <a:off x="3542948" y="3284904"/>
            <a:ext cx="334544" cy="246221"/>
          </a:xfrm>
          <a:prstGeom prst="rect">
            <a:avLst/>
          </a:prstGeom>
          <a:noFill/>
        </p:spPr>
        <p:txBody>
          <a:bodyPr wrap="square" rtlCol="0">
            <a:spAutoFit/>
          </a:bodyPr>
          <a:lstStyle/>
          <a:p>
            <a:r>
              <a:rPr lang="tr-TR" sz="1000" noProof="1">
                <a:cs typeface="Arial" panose="020B0604020202020204" pitchFamily="34" charset="0"/>
              </a:rPr>
              <a:t>80</a:t>
            </a:r>
          </a:p>
        </p:txBody>
      </p:sp>
      <p:sp>
        <p:nvSpPr>
          <p:cNvPr id="93" name="Metin kutusu 92">
            <a:extLst>
              <a:ext uri="{FF2B5EF4-FFF2-40B4-BE49-F238E27FC236}">
                <a16:creationId xmlns:a16="http://schemas.microsoft.com/office/drawing/2014/main" id="{5FE7EF21-8AE0-4DF6-9738-8380E3245B10}"/>
              </a:ext>
            </a:extLst>
          </p:cNvPr>
          <p:cNvSpPr txBox="1"/>
          <p:nvPr/>
        </p:nvSpPr>
        <p:spPr>
          <a:xfrm>
            <a:off x="6389715" y="3970792"/>
            <a:ext cx="628112" cy="246221"/>
          </a:xfrm>
          <a:prstGeom prst="rect">
            <a:avLst/>
          </a:prstGeom>
          <a:noFill/>
        </p:spPr>
        <p:txBody>
          <a:bodyPr wrap="square" rtlCol="0">
            <a:spAutoFit/>
          </a:bodyPr>
          <a:lstStyle/>
          <a:p>
            <a:r>
              <a:rPr lang="tr-TR" sz="1000" noProof="1">
                <a:cs typeface="Arial" panose="020B0604020202020204" pitchFamily="34" charset="0"/>
              </a:rPr>
              <a:t>dersler</a:t>
            </a:r>
          </a:p>
        </p:txBody>
      </p:sp>
      <p:sp>
        <p:nvSpPr>
          <p:cNvPr id="26" name="Oval 25">
            <a:extLst>
              <a:ext uri="{FF2B5EF4-FFF2-40B4-BE49-F238E27FC236}">
                <a16:creationId xmlns:a16="http://schemas.microsoft.com/office/drawing/2014/main" id="{5A85EC65-46A3-404D-8627-FDFFF3B088E0}"/>
              </a:ext>
            </a:extLst>
          </p:cNvPr>
          <p:cNvSpPr/>
          <p:nvPr/>
        </p:nvSpPr>
        <p:spPr>
          <a:xfrm>
            <a:off x="5596613" y="3968951"/>
            <a:ext cx="45719" cy="45719"/>
          </a:xfrm>
          <a:prstGeom prst="ellipse">
            <a:avLst/>
          </a:prstGeom>
          <a:solidFill>
            <a:schemeClr val="tx1"/>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5" name="Oval 94">
            <a:extLst>
              <a:ext uri="{FF2B5EF4-FFF2-40B4-BE49-F238E27FC236}">
                <a16:creationId xmlns:a16="http://schemas.microsoft.com/office/drawing/2014/main" id="{8F191C3E-76E3-4D3F-B741-FF2E85083E4F}"/>
              </a:ext>
            </a:extLst>
          </p:cNvPr>
          <p:cNvSpPr/>
          <p:nvPr/>
        </p:nvSpPr>
        <p:spPr>
          <a:xfrm>
            <a:off x="5806291" y="3663556"/>
            <a:ext cx="45719" cy="45719"/>
          </a:xfrm>
          <a:prstGeom prst="ellipse">
            <a:avLst/>
          </a:prstGeom>
          <a:solidFill>
            <a:schemeClr val="tx1"/>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97" name="Oval 96">
            <a:extLst>
              <a:ext uri="{FF2B5EF4-FFF2-40B4-BE49-F238E27FC236}">
                <a16:creationId xmlns:a16="http://schemas.microsoft.com/office/drawing/2014/main" id="{C60F8762-5988-43FB-A8C2-3A0841790FD9}"/>
              </a:ext>
            </a:extLst>
          </p:cNvPr>
          <p:cNvSpPr/>
          <p:nvPr/>
        </p:nvSpPr>
        <p:spPr>
          <a:xfrm>
            <a:off x="6302594" y="3892884"/>
            <a:ext cx="45719" cy="45719"/>
          </a:xfrm>
          <a:prstGeom prst="ellipse">
            <a:avLst/>
          </a:prstGeom>
          <a:solidFill>
            <a:schemeClr val="tx1"/>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2" name="Metin kutusu 101">
            <a:extLst>
              <a:ext uri="{FF2B5EF4-FFF2-40B4-BE49-F238E27FC236}">
                <a16:creationId xmlns:a16="http://schemas.microsoft.com/office/drawing/2014/main" id="{009C1233-A7B1-41CF-8722-9D41CAD33044}"/>
              </a:ext>
            </a:extLst>
          </p:cNvPr>
          <p:cNvSpPr txBox="1"/>
          <p:nvPr/>
        </p:nvSpPr>
        <p:spPr>
          <a:xfrm>
            <a:off x="5230219" y="3859746"/>
            <a:ext cx="334544" cy="246221"/>
          </a:xfrm>
          <a:prstGeom prst="rect">
            <a:avLst/>
          </a:prstGeom>
          <a:noFill/>
        </p:spPr>
        <p:txBody>
          <a:bodyPr wrap="square" rtlCol="0">
            <a:spAutoFit/>
          </a:bodyPr>
          <a:lstStyle/>
          <a:p>
            <a:r>
              <a:rPr lang="tr-TR" sz="1000" noProof="1">
                <a:cs typeface="Arial" panose="020B0604020202020204" pitchFamily="34" charset="0"/>
              </a:rPr>
              <a:t>40</a:t>
            </a:r>
          </a:p>
        </p:txBody>
      </p:sp>
      <p:sp>
        <p:nvSpPr>
          <p:cNvPr id="103" name="Metin kutusu 102">
            <a:extLst>
              <a:ext uri="{FF2B5EF4-FFF2-40B4-BE49-F238E27FC236}">
                <a16:creationId xmlns:a16="http://schemas.microsoft.com/office/drawing/2014/main" id="{E9208D6C-A35D-4F19-9793-D7ADFB2EF114}"/>
              </a:ext>
            </a:extLst>
          </p:cNvPr>
          <p:cNvSpPr txBox="1"/>
          <p:nvPr/>
        </p:nvSpPr>
        <p:spPr>
          <a:xfrm>
            <a:off x="5222759" y="3553109"/>
            <a:ext cx="334544" cy="246221"/>
          </a:xfrm>
          <a:prstGeom prst="rect">
            <a:avLst/>
          </a:prstGeom>
          <a:noFill/>
        </p:spPr>
        <p:txBody>
          <a:bodyPr wrap="square" rtlCol="0">
            <a:spAutoFit/>
          </a:bodyPr>
          <a:lstStyle/>
          <a:p>
            <a:r>
              <a:rPr lang="tr-TR" sz="1000" noProof="1">
                <a:cs typeface="Arial" panose="020B0604020202020204" pitchFamily="34" charset="0"/>
              </a:rPr>
              <a:t>60</a:t>
            </a:r>
          </a:p>
        </p:txBody>
      </p:sp>
      <p:sp>
        <p:nvSpPr>
          <p:cNvPr id="104" name="Metin kutusu 103">
            <a:extLst>
              <a:ext uri="{FF2B5EF4-FFF2-40B4-BE49-F238E27FC236}">
                <a16:creationId xmlns:a16="http://schemas.microsoft.com/office/drawing/2014/main" id="{6E9ED283-6F50-4AB5-AE9E-2A09C0010A59}"/>
              </a:ext>
            </a:extLst>
          </p:cNvPr>
          <p:cNvSpPr txBox="1"/>
          <p:nvPr/>
        </p:nvSpPr>
        <p:spPr>
          <a:xfrm>
            <a:off x="5222759" y="3690553"/>
            <a:ext cx="334544" cy="246221"/>
          </a:xfrm>
          <a:prstGeom prst="rect">
            <a:avLst/>
          </a:prstGeom>
          <a:noFill/>
        </p:spPr>
        <p:txBody>
          <a:bodyPr wrap="square" rtlCol="0">
            <a:spAutoFit/>
          </a:bodyPr>
          <a:lstStyle/>
          <a:p>
            <a:r>
              <a:rPr lang="tr-TR" sz="1000" noProof="1">
                <a:cs typeface="Arial" panose="020B0604020202020204" pitchFamily="34" charset="0"/>
              </a:rPr>
              <a:t>50</a:t>
            </a:r>
          </a:p>
        </p:txBody>
      </p:sp>
      <p:cxnSp>
        <p:nvCxnSpPr>
          <p:cNvPr id="28" name="Düz Bağlayıcı 27">
            <a:extLst>
              <a:ext uri="{FF2B5EF4-FFF2-40B4-BE49-F238E27FC236}">
                <a16:creationId xmlns:a16="http://schemas.microsoft.com/office/drawing/2014/main" id="{92FDD092-71CC-4A84-B56A-4096BE6AE804}"/>
              </a:ext>
            </a:extLst>
          </p:cNvPr>
          <p:cNvCxnSpPr>
            <a:cxnSpLocks/>
            <a:endCxn id="95" idx="6"/>
          </p:cNvCxnSpPr>
          <p:nvPr/>
        </p:nvCxnSpPr>
        <p:spPr>
          <a:xfrm flipV="1">
            <a:off x="5482004" y="3686416"/>
            <a:ext cx="370006" cy="1366"/>
          </a:xfrm>
          <a:prstGeom prst="line">
            <a:avLst/>
          </a:prstGeom>
          <a:ln>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07" name="Düz Bağlayıcı 106">
            <a:extLst>
              <a:ext uri="{FF2B5EF4-FFF2-40B4-BE49-F238E27FC236}">
                <a16:creationId xmlns:a16="http://schemas.microsoft.com/office/drawing/2014/main" id="{6C7D43D1-90F3-44E2-9833-EF4F5654EC66}"/>
              </a:ext>
            </a:extLst>
          </p:cNvPr>
          <p:cNvCxnSpPr>
            <a:cxnSpLocks/>
          </p:cNvCxnSpPr>
          <p:nvPr/>
        </p:nvCxnSpPr>
        <p:spPr>
          <a:xfrm flipV="1">
            <a:off x="5490943" y="3801391"/>
            <a:ext cx="602353" cy="1522"/>
          </a:xfrm>
          <a:prstGeom prst="line">
            <a:avLst/>
          </a:prstGeom>
          <a:ln>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2D4F38DF-B585-4865-97F0-F7D58F2BD6CF}"/>
              </a:ext>
            </a:extLst>
          </p:cNvPr>
          <p:cNvSpPr/>
          <p:nvPr/>
        </p:nvSpPr>
        <p:spPr>
          <a:xfrm>
            <a:off x="6047577" y="3778360"/>
            <a:ext cx="45719" cy="45719"/>
          </a:xfrm>
          <a:prstGeom prst="ellipse">
            <a:avLst/>
          </a:prstGeom>
          <a:solidFill>
            <a:schemeClr val="tx1"/>
          </a:solidFill>
          <a:ln w="317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cxnSp>
        <p:nvCxnSpPr>
          <p:cNvPr id="111" name="Düz Bağlayıcı 110">
            <a:extLst>
              <a:ext uri="{FF2B5EF4-FFF2-40B4-BE49-F238E27FC236}">
                <a16:creationId xmlns:a16="http://schemas.microsoft.com/office/drawing/2014/main" id="{9111EF2A-EE45-44E5-B6CD-194D07FDE4E7}"/>
              </a:ext>
            </a:extLst>
          </p:cNvPr>
          <p:cNvCxnSpPr>
            <a:cxnSpLocks/>
            <a:endCxn id="26" idx="6"/>
          </p:cNvCxnSpPr>
          <p:nvPr/>
        </p:nvCxnSpPr>
        <p:spPr>
          <a:xfrm flipV="1">
            <a:off x="5482036" y="3991811"/>
            <a:ext cx="160296" cy="1988"/>
          </a:xfrm>
          <a:prstGeom prst="line">
            <a:avLst/>
          </a:prstGeom>
          <a:ln>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115" name="Dikdörtgen 114">
            <a:extLst>
              <a:ext uri="{FF2B5EF4-FFF2-40B4-BE49-F238E27FC236}">
                <a16:creationId xmlns:a16="http://schemas.microsoft.com/office/drawing/2014/main" id="{F02E4C49-BDD7-4914-84F2-D9AC7C2ACFAF}"/>
              </a:ext>
            </a:extLst>
          </p:cNvPr>
          <p:cNvSpPr/>
          <p:nvPr/>
        </p:nvSpPr>
        <p:spPr>
          <a:xfrm>
            <a:off x="3426619" y="6173975"/>
            <a:ext cx="3266886"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II ve III                           B) Yalnız I                          C) I ve 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Yalnız II                          E) Yalnız III</a:t>
            </a:r>
          </a:p>
        </p:txBody>
      </p:sp>
    </p:spTree>
    <p:extLst>
      <p:ext uri="{BB962C8B-B14F-4D97-AF65-F5344CB8AC3E}">
        <p14:creationId xmlns:p14="http://schemas.microsoft.com/office/powerpoint/2010/main" val="42795887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Doğrusal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61038" y="5863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Doğrusal Grafikler</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59017" y="711941"/>
            <a:ext cx="3255555" cy="553998"/>
          </a:xfrm>
          <a:prstGeom prst="rect">
            <a:avLst/>
          </a:prstGeom>
          <a:noFill/>
        </p:spPr>
        <p:txBody>
          <a:bodyPr wrap="square" rtlCol="0">
            <a:spAutoFit/>
          </a:bodyPr>
          <a:lstStyle/>
          <a:p>
            <a:r>
              <a:rPr lang="tr-TR" sz="1000" noProof="1">
                <a:cs typeface="Arial" panose="020B0604020202020204" pitchFamily="34" charset="0"/>
              </a:rPr>
              <a:t>Doğrusal grafikler, maalesef mantığı yanlış düşünülen ve karıştırılan grafik türleridir. Yanılgıları çürüterek mantığını oturtmaya çalışacağız. </a:t>
            </a:r>
          </a:p>
        </p:txBody>
      </p:sp>
      <p:sp>
        <p:nvSpPr>
          <p:cNvPr id="10" name="Dikdörtgen 9">
            <a:extLst>
              <a:ext uri="{FF2B5EF4-FFF2-40B4-BE49-F238E27FC236}">
                <a16:creationId xmlns:a16="http://schemas.microsoft.com/office/drawing/2014/main" id="{A486474E-8B88-482A-9D98-99B67CB9AFBF}"/>
              </a:ext>
            </a:extLst>
          </p:cNvPr>
          <p:cNvSpPr/>
          <p:nvPr/>
        </p:nvSpPr>
        <p:spPr>
          <a:xfrm>
            <a:off x="125097" y="1310143"/>
            <a:ext cx="3118411" cy="7435664"/>
          </a:xfrm>
          <a:custGeom>
            <a:avLst/>
            <a:gdLst>
              <a:gd name="connsiteX0" fmla="*/ 0 w 2978385"/>
              <a:gd name="connsiteY0" fmla="*/ 0 h 7077712"/>
              <a:gd name="connsiteX1" fmla="*/ 2978385 w 2978385"/>
              <a:gd name="connsiteY1" fmla="*/ 0 h 7077712"/>
              <a:gd name="connsiteX2" fmla="*/ 2978385 w 2978385"/>
              <a:gd name="connsiteY2" fmla="*/ 7077712 h 7077712"/>
              <a:gd name="connsiteX3" fmla="*/ 0 w 2978385"/>
              <a:gd name="connsiteY3" fmla="*/ 7077712 h 7077712"/>
              <a:gd name="connsiteX4" fmla="*/ 0 w 2978385"/>
              <a:gd name="connsiteY4" fmla="*/ 0 h 7077712"/>
              <a:gd name="connsiteX0" fmla="*/ 0 w 2978385"/>
              <a:gd name="connsiteY0" fmla="*/ 0 h 7382512"/>
              <a:gd name="connsiteX1" fmla="*/ 2978385 w 2978385"/>
              <a:gd name="connsiteY1" fmla="*/ 0 h 7382512"/>
              <a:gd name="connsiteX2" fmla="*/ 2978385 w 2978385"/>
              <a:gd name="connsiteY2" fmla="*/ 7077712 h 7382512"/>
              <a:gd name="connsiteX3" fmla="*/ 0 w 2978385"/>
              <a:gd name="connsiteY3" fmla="*/ 7077712 h 7382512"/>
              <a:gd name="connsiteX4" fmla="*/ 0 w 2978385"/>
              <a:gd name="connsiteY4" fmla="*/ 0 h 7382512"/>
              <a:gd name="connsiteX0" fmla="*/ 0 w 2978385"/>
              <a:gd name="connsiteY0" fmla="*/ 0 h 7510541"/>
              <a:gd name="connsiteX1" fmla="*/ 2978385 w 2978385"/>
              <a:gd name="connsiteY1" fmla="*/ 0 h 7510541"/>
              <a:gd name="connsiteX2" fmla="*/ 2978385 w 2978385"/>
              <a:gd name="connsiteY2" fmla="*/ 7077712 h 7510541"/>
              <a:gd name="connsiteX3" fmla="*/ 0 w 2978385"/>
              <a:gd name="connsiteY3" fmla="*/ 7077712 h 7510541"/>
              <a:gd name="connsiteX4" fmla="*/ 0 w 2978385"/>
              <a:gd name="connsiteY4" fmla="*/ 0 h 7510541"/>
              <a:gd name="connsiteX0" fmla="*/ 0 w 2991085"/>
              <a:gd name="connsiteY0" fmla="*/ 0 h 7503317"/>
              <a:gd name="connsiteX1" fmla="*/ 2978385 w 2991085"/>
              <a:gd name="connsiteY1" fmla="*/ 0 h 7503317"/>
              <a:gd name="connsiteX2" fmla="*/ 2991085 w 2991085"/>
              <a:gd name="connsiteY2" fmla="*/ 7065012 h 7503317"/>
              <a:gd name="connsiteX3" fmla="*/ 0 w 2991085"/>
              <a:gd name="connsiteY3" fmla="*/ 7077712 h 7503317"/>
              <a:gd name="connsiteX4" fmla="*/ 0 w 2991085"/>
              <a:gd name="connsiteY4" fmla="*/ 0 h 750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085" h="7503317">
                <a:moveTo>
                  <a:pt x="0" y="0"/>
                </a:moveTo>
                <a:lnTo>
                  <a:pt x="2978385" y="0"/>
                </a:lnTo>
                <a:cubicBezTo>
                  <a:pt x="2982618" y="2355004"/>
                  <a:pt x="2986852" y="4710008"/>
                  <a:pt x="2991085" y="7065012"/>
                </a:cubicBezTo>
                <a:cubicBezTo>
                  <a:pt x="1490290" y="7750812"/>
                  <a:pt x="21245" y="7534912"/>
                  <a:pt x="0" y="7077712"/>
                </a:cubicBezTo>
                <a:lnTo>
                  <a:pt x="0" y="0"/>
                </a:lnTo>
                <a:close/>
              </a:path>
            </a:pathLst>
          </a:cu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42" name="Metin kutusu 41">
            <a:extLst>
              <a:ext uri="{FF2B5EF4-FFF2-40B4-BE49-F238E27FC236}">
                <a16:creationId xmlns:a16="http://schemas.microsoft.com/office/drawing/2014/main" id="{BCDF6D71-E7D1-4603-97F0-7681D036FE16}"/>
              </a:ext>
            </a:extLst>
          </p:cNvPr>
          <p:cNvSpPr txBox="1"/>
          <p:nvPr/>
        </p:nvSpPr>
        <p:spPr>
          <a:xfrm>
            <a:off x="109953" y="1302276"/>
            <a:ext cx="3163165" cy="707886"/>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Doğrusal grafikte iki eksen vardır. Birisi düşey eksen bu eksene analitik koordinat sisteminde y ekseni denilir. Yatay eksene ise x ekseni denilir. Tabi bu eksenlerden başka birde doğrusal şekilde grafik vardır. </a:t>
            </a:r>
          </a:p>
        </p:txBody>
      </p:sp>
      <p:cxnSp>
        <p:nvCxnSpPr>
          <p:cNvPr id="6" name="Düz Ok Bağlayıcısı 5">
            <a:extLst>
              <a:ext uri="{FF2B5EF4-FFF2-40B4-BE49-F238E27FC236}">
                <a16:creationId xmlns:a16="http://schemas.microsoft.com/office/drawing/2014/main" id="{53C44A77-3774-4D2C-99B2-DEEC4676911E}"/>
              </a:ext>
            </a:extLst>
          </p:cNvPr>
          <p:cNvCxnSpPr>
            <a:cxnSpLocks/>
          </p:cNvCxnSpPr>
          <p:nvPr/>
        </p:nvCxnSpPr>
        <p:spPr>
          <a:xfrm flipV="1">
            <a:off x="620688" y="2195737"/>
            <a:ext cx="0" cy="10081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Düz Ok Bağlayıcısı 7">
            <a:extLst>
              <a:ext uri="{FF2B5EF4-FFF2-40B4-BE49-F238E27FC236}">
                <a16:creationId xmlns:a16="http://schemas.microsoft.com/office/drawing/2014/main" id="{607B37AE-BF62-4FA2-82CF-AF6F0919A4AA}"/>
              </a:ext>
            </a:extLst>
          </p:cNvPr>
          <p:cNvCxnSpPr>
            <a:cxnSpLocks/>
          </p:cNvCxnSpPr>
          <p:nvPr/>
        </p:nvCxnSpPr>
        <p:spPr>
          <a:xfrm>
            <a:off x="332656" y="3059832"/>
            <a:ext cx="14401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Düz Bağlayıcı 20">
            <a:extLst>
              <a:ext uri="{FF2B5EF4-FFF2-40B4-BE49-F238E27FC236}">
                <a16:creationId xmlns:a16="http://schemas.microsoft.com/office/drawing/2014/main" id="{FF4CB307-6F0B-4BA1-B803-B77B32AAFD96}"/>
              </a:ext>
            </a:extLst>
          </p:cNvPr>
          <p:cNvCxnSpPr>
            <a:cxnSpLocks/>
            <a:endCxn id="70" idx="0"/>
          </p:cNvCxnSpPr>
          <p:nvPr/>
        </p:nvCxnSpPr>
        <p:spPr>
          <a:xfrm flipH="1">
            <a:off x="917536" y="2293561"/>
            <a:ext cx="595010" cy="75014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9" name="Metin kutusu 48">
            <a:extLst>
              <a:ext uri="{FF2B5EF4-FFF2-40B4-BE49-F238E27FC236}">
                <a16:creationId xmlns:a16="http://schemas.microsoft.com/office/drawing/2014/main" id="{820D8D54-7697-4906-8C6F-3A99DD84F454}"/>
              </a:ext>
            </a:extLst>
          </p:cNvPr>
          <p:cNvSpPr txBox="1"/>
          <p:nvPr/>
        </p:nvSpPr>
        <p:spPr>
          <a:xfrm>
            <a:off x="109953" y="2019307"/>
            <a:ext cx="1696318" cy="215444"/>
          </a:xfrm>
          <a:prstGeom prst="rect">
            <a:avLst/>
          </a:prstGeom>
          <a:noFill/>
        </p:spPr>
        <p:txBody>
          <a:bodyPr wrap="square" rtlCol="0">
            <a:spAutoFit/>
          </a:bodyPr>
          <a:lstStyle/>
          <a:p>
            <a:r>
              <a:rPr lang="tr-TR" sz="800" b="1" noProof="1">
                <a:cs typeface="Arial" panose="020B0604020202020204" pitchFamily="34" charset="0"/>
              </a:rPr>
              <a:t>Ödenecek Faturalarınız (Adet)</a:t>
            </a:r>
          </a:p>
        </p:txBody>
      </p:sp>
      <p:sp>
        <p:nvSpPr>
          <p:cNvPr id="55" name="Metin kutusu 54">
            <a:extLst>
              <a:ext uri="{FF2B5EF4-FFF2-40B4-BE49-F238E27FC236}">
                <a16:creationId xmlns:a16="http://schemas.microsoft.com/office/drawing/2014/main" id="{F6BD3CB7-EF02-404A-8DBF-7ED32BFDBA4C}"/>
              </a:ext>
            </a:extLst>
          </p:cNvPr>
          <p:cNvSpPr txBox="1"/>
          <p:nvPr/>
        </p:nvSpPr>
        <p:spPr>
          <a:xfrm>
            <a:off x="1749194" y="2958078"/>
            <a:ext cx="1696318" cy="215444"/>
          </a:xfrm>
          <a:prstGeom prst="rect">
            <a:avLst/>
          </a:prstGeom>
          <a:noFill/>
        </p:spPr>
        <p:txBody>
          <a:bodyPr wrap="square" rtlCol="0">
            <a:spAutoFit/>
          </a:bodyPr>
          <a:lstStyle/>
          <a:p>
            <a:r>
              <a:rPr lang="tr-TR" sz="800" b="1" noProof="1">
                <a:cs typeface="Arial" panose="020B0604020202020204" pitchFamily="34" charset="0"/>
              </a:rPr>
              <a:t>Birikimde olan paranız (TL)</a:t>
            </a:r>
          </a:p>
        </p:txBody>
      </p:sp>
      <p:sp>
        <p:nvSpPr>
          <p:cNvPr id="60" name="Metin kutusu 59">
            <a:extLst>
              <a:ext uri="{FF2B5EF4-FFF2-40B4-BE49-F238E27FC236}">
                <a16:creationId xmlns:a16="http://schemas.microsoft.com/office/drawing/2014/main" id="{6CDD6FEC-2B58-4EF4-9539-E1716660A6A7}"/>
              </a:ext>
            </a:extLst>
          </p:cNvPr>
          <p:cNvSpPr txBox="1"/>
          <p:nvPr/>
        </p:nvSpPr>
        <p:spPr>
          <a:xfrm>
            <a:off x="109953" y="3179488"/>
            <a:ext cx="3163165" cy="5401479"/>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Eksenler problemlerde y ve x olarak karşınıza çıkmayacaktır. Dolayısıyla isimlerinden neyi ifade ettiğini görebiliriz. Yatay eksenimiz birikimde olan paranızı, düşey eksen ise ödenecek faturalarınızın sayısını ifade ediyor bu grafikte.</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A,B ve C noktalarını sırasıyla grafikte yorumlamayı öğrenelim. Unutmayın A noktasını örnek olarak baz aldığımızda düşey eksende tekabül ettiği veri sadece düşey eksendeki durumu belirtir, </a:t>
            </a:r>
            <a:r>
              <a:rPr lang="tr-TR" sz="1000" b="1" noProof="1">
                <a:cs typeface="Arial" panose="020B0604020202020204" pitchFamily="34" charset="0"/>
              </a:rPr>
              <a:t>doğrusal grafikte düşey eksendeki veriye bakarak yatay eksen yorumlanamaz. </a:t>
            </a:r>
            <a:r>
              <a:rPr lang="tr-TR" sz="1000" noProof="1">
                <a:cs typeface="Arial" panose="020B0604020202020204" pitchFamily="34" charset="0"/>
              </a:rPr>
              <a:t>Yatay eksendeki durumunu öğrenmek için sadece yatay eksendeki incelemek istediğimiz andaki konumuna bakılır. Aynı şekilde yatay eksendeki veriyi sadece yatay eksenden inceleyebilir. Yani özet olarak doğrusal grafiklerde incelemek istediğimiz hangi eksendeyse o eksendeki konumuna bakılır.</a:t>
            </a:r>
          </a:p>
          <a:p>
            <a:pPr marL="171450" indent="-171450">
              <a:buFont typeface="Wingdings" panose="05000000000000000000" pitchFamily="2" charset="2"/>
              <a:buChar char="q"/>
            </a:pPr>
            <a:endParaRPr lang="tr-TR" sz="1000" noProof="1">
              <a:cs typeface="Arial" panose="020B0604020202020204" pitchFamily="34" charset="0"/>
            </a:endParaRPr>
          </a:p>
          <a:p>
            <a:r>
              <a:rPr lang="tr-TR" sz="1500" noProof="1">
                <a:cs typeface="Arial" panose="020B0604020202020204" pitchFamily="34" charset="0"/>
              </a:rPr>
              <a:t>Eksenleri ve Anlamlarını Öğrenelim</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Düşey eksen ödenecek faturalarımızın adetini belirtiyor. Yatay eksende ise mevcut maddi birikimizi TL cinsinden ifade etmiş. Bu tarz grafiklerde ölçümü veya sayımı yapılabilecek bir veri işlendiğinde birimi veya cinsi gerektiği mertebede belirtilmelidir. </a:t>
            </a:r>
          </a:p>
          <a:p>
            <a:pPr marL="171450" indent="-171450">
              <a:buFont typeface="Wingdings" panose="05000000000000000000" pitchFamily="2" charset="2"/>
              <a:buChar char="§"/>
            </a:pPr>
            <a:endParaRPr lang="tr-TR" sz="1000" noProof="1">
              <a:cs typeface="Arial" panose="020B0604020202020204" pitchFamily="34" charset="0"/>
            </a:endParaRPr>
          </a:p>
          <a:p>
            <a:r>
              <a:rPr lang="tr-TR" sz="1000" noProof="1">
                <a:cs typeface="Arial" panose="020B0604020202020204" pitchFamily="34" charset="0"/>
              </a:rPr>
              <a:t>Örneğin fatura sayımıza bakalım. Fatura sayımız 3 iken 2 ye düşmüş kırmızı ile çizilen doğrusal çizgiyi takip ettiğimizde git gide fatura sayımızın düştüğünü ve sıfırlandığını görebiliyoruz. Bu bağlamda faturalarımızın azaldığı gibi ödediğimiz ücretler yüzünden paralarımızda azalıyor. Başka 2900 TL iken paramız faturaların hepsini ödediğimiz durumda 2500 TL`ye kadar düştüğünü</a:t>
            </a:r>
          </a:p>
          <a:p>
            <a:r>
              <a:rPr lang="tr-TR" sz="1000" noProof="1">
                <a:cs typeface="Arial" panose="020B0604020202020204" pitchFamily="34" charset="0"/>
              </a:rPr>
              <a:t> görebilmekteyiz.</a:t>
            </a:r>
          </a:p>
        </p:txBody>
      </p:sp>
      <p:cxnSp>
        <p:nvCxnSpPr>
          <p:cNvPr id="35" name="Düz Bağlayıcı 34">
            <a:extLst>
              <a:ext uri="{FF2B5EF4-FFF2-40B4-BE49-F238E27FC236}">
                <a16:creationId xmlns:a16="http://schemas.microsoft.com/office/drawing/2014/main" id="{DBC9B4FD-0AD9-481C-B1CD-DECCCA11A007}"/>
              </a:ext>
            </a:extLst>
          </p:cNvPr>
          <p:cNvCxnSpPr>
            <a:cxnSpLocks/>
          </p:cNvCxnSpPr>
          <p:nvPr/>
        </p:nvCxnSpPr>
        <p:spPr>
          <a:xfrm>
            <a:off x="620688" y="2710677"/>
            <a:ext cx="56168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 name="Düz Bağlayıcı 37">
            <a:extLst>
              <a:ext uri="{FF2B5EF4-FFF2-40B4-BE49-F238E27FC236}">
                <a16:creationId xmlns:a16="http://schemas.microsoft.com/office/drawing/2014/main" id="{D640D34D-039B-4E66-A761-44DFD6FFA79B}"/>
              </a:ext>
            </a:extLst>
          </p:cNvPr>
          <p:cNvCxnSpPr>
            <a:cxnSpLocks/>
          </p:cNvCxnSpPr>
          <p:nvPr/>
        </p:nvCxnSpPr>
        <p:spPr>
          <a:xfrm>
            <a:off x="617702" y="2455113"/>
            <a:ext cx="779091"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Düz Bağlayıcı 39">
            <a:extLst>
              <a:ext uri="{FF2B5EF4-FFF2-40B4-BE49-F238E27FC236}">
                <a16:creationId xmlns:a16="http://schemas.microsoft.com/office/drawing/2014/main" id="{307737B9-E835-44DD-AC39-7980397D86FE}"/>
              </a:ext>
            </a:extLst>
          </p:cNvPr>
          <p:cNvCxnSpPr>
            <a:cxnSpLocks/>
          </p:cNvCxnSpPr>
          <p:nvPr/>
        </p:nvCxnSpPr>
        <p:spPr>
          <a:xfrm flipV="1">
            <a:off x="1182371" y="2707804"/>
            <a:ext cx="0" cy="352029"/>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1" name="Düz Bağlayıcı 80">
            <a:extLst>
              <a:ext uri="{FF2B5EF4-FFF2-40B4-BE49-F238E27FC236}">
                <a16:creationId xmlns:a16="http://schemas.microsoft.com/office/drawing/2014/main" id="{47961D87-11DA-47F4-84E1-8EE9010B8B72}"/>
              </a:ext>
            </a:extLst>
          </p:cNvPr>
          <p:cNvCxnSpPr>
            <a:cxnSpLocks/>
          </p:cNvCxnSpPr>
          <p:nvPr/>
        </p:nvCxnSpPr>
        <p:spPr>
          <a:xfrm flipV="1">
            <a:off x="1398058" y="2452881"/>
            <a:ext cx="0" cy="607997"/>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C5AC440E-E02A-4F9C-802C-B4A70901A65E}"/>
              </a:ext>
            </a:extLst>
          </p:cNvPr>
          <p:cNvSpPr/>
          <p:nvPr/>
        </p:nvSpPr>
        <p:spPr>
          <a:xfrm>
            <a:off x="1345671" y="2368627"/>
            <a:ext cx="72006" cy="104900"/>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600" b="1" dirty="0">
                <a:solidFill>
                  <a:schemeClr val="tx1"/>
                </a:solidFill>
              </a:rPr>
              <a:t>A</a:t>
            </a:r>
          </a:p>
        </p:txBody>
      </p:sp>
      <p:sp>
        <p:nvSpPr>
          <p:cNvPr id="61" name="Oval 60">
            <a:extLst>
              <a:ext uri="{FF2B5EF4-FFF2-40B4-BE49-F238E27FC236}">
                <a16:creationId xmlns:a16="http://schemas.microsoft.com/office/drawing/2014/main" id="{2D2B2B11-A54C-4F82-9429-CBD9DB151D27}"/>
              </a:ext>
            </a:extLst>
          </p:cNvPr>
          <p:cNvSpPr/>
          <p:nvPr/>
        </p:nvSpPr>
        <p:spPr>
          <a:xfrm>
            <a:off x="1143131" y="2655495"/>
            <a:ext cx="72006" cy="105977"/>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600" b="1" dirty="0">
                <a:solidFill>
                  <a:schemeClr val="tx1"/>
                </a:solidFill>
              </a:rPr>
              <a:t>B</a:t>
            </a:r>
          </a:p>
        </p:txBody>
      </p:sp>
      <p:sp>
        <p:nvSpPr>
          <p:cNvPr id="63" name="Oval 62">
            <a:extLst>
              <a:ext uri="{FF2B5EF4-FFF2-40B4-BE49-F238E27FC236}">
                <a16:creationId xmlns:a16="http://schemas.microsoft.com/office/drawing/2014/main" id="{E1316E76-8C8B-4B74-8E0D-D822EBE9B8F6}"/>
              </a:ext>
            </a:extLst>
          </p:cNvPr>
          <p:cNvSpPr/>
          <p:nvPr/>
        </p:nvSpPr>
        <p:spPr>
          <a:xfrm>
            <a:off x="878287" y="2984991"/>
            <a:ext cx="72006" cy="105977"/>
          </a:xfrm>
          <a:prstGeom prst="ellips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600" b="1" dirty="0">
                <a:solidFill>
                  <a:schemeClr val="tx1"/>
                </a:solidFill>
              </a:rPr>
              <a:t>C</a:t>
            </a:r>
          </a:p>
        </p:txBody>
      </p:sp>
      <p:sp>
        <p:nvSpPr>
          <p:cNvPr id="68" name="Metin kutusu 67">
            <a:extLst>
              <a:ext uri="{FF2B5EF4-FFF2-40B4-BE49-F238E27FC236}">
                <a16:creationId xmlns:a16="http://schemas.microsoft.com/office/drawing/2014/main" id="{38FF9120-597D-42A8-9204-13ED7D998B92}"/>
              </a:ext>
            </a:extLst>
          </p:cNvPr>
          <p:cNvSpPr txBox="1"/>
          <p:nvPr/>
        </p:nvSpPr>
        <p:spPr>
          <a:xfrm>
            <a:off x="421356" y="2613377"/>
            <a:ext cx="265095" cy="200055"/>
          </a:xfrm>
          <a:prstGeom prst="rect">
            <a:avLst/>
          </a:prstGeom>
          <a:noFill/>
        </p:spPr>
        <p:txBody>
          <a:bodyPr wrap="square" rtlCol="0">
            <a:spAutoFit/>
          </a:bodyPr>
          <a:lstStyle/>
          <a:p>
            <a:r>
              <a:rPr lang="tr-TR" sz="700" noProof="1">
                <a:cs typeface="Arial" panose="020B0604020202020204" pitchFamily="34" charset="0"/>
              </a:rPr>
              <a:t>2</a:t>
            </a:r>
          </a:p>
        </p:txBody>
      </p:sp>
      <p:sp>
        <p:nvSpPr>
          <p:cNvPr id="69" name="Metin kutusu 68">
            <a:extLst>
              <a:ext uri="{FF2B5EF4-FFF2-40B4-BE49-F238E27FC236}">
                <a16:creationId xmlns:a16="http://schemas.microsoft.com/office/drawing/2014/main" id="{188C6BE3-AE88-4F3B-843F-AC9FD122174A}"/>
              </a:ext>
            </a:extLst>
          </p:cNvPr>
          <p:cNvSpPr txBox="1"/>
          <p:nvPr/>
        </p:nvSpPr>
        <p:spPr>
          <a:xfrm>
            <a:off x="463605" y="3004609"/>
            <a:ext cx="265095" cy="200055"/>
          </a:xfrm>
          <a:prstGeom prst="rect">
            <a:avLst/>
          </a:prstGeom>
          <a:noFill/>
        </p:spPr>
        <p:txBody>
          <a:bodyPr wrap="square" rtlCol="0">
            <a:spAutoFit/>
          </a:bodyPr>
          <a:lstStyle/>
          <a:p>
            <a:r>
              <a:rPr lang="tr-TR" sz="700" noProof="1">
                <a:cs typeface="Arial" panose="020B0604020202020204" pitchFamily="34" charset="0"/>
              </a:rPr>
              <a:t>0</a:t>
            </a:r>
          </a:p>
        </p:txBody>
      </p:sp>
      <p:sp>
        <p:nvSpPr>
          <p:cNvPr id="70" name="Metin kutusu 69">
            <a:extLst>
              <a:ext uri="{FF2B5EF4-FFF2-40B4-BE49-F238E27FC236}">
                <a16:creationId xmlns:a16="http://schemas.microsoft.com/office/drawing/2014/main" id="{C537FFA6-357B-4E44-8337-DCDB949D86CE}"/>
              </a:ext>
            </a:extLst>
          </p:cNvPr>
          <p:cNvSpPr txBox="1"/>
          <p:nvPr/>
        </p:nvSpPr>
        <p:spPr>
          <a:xfrm>
            <a:off x="712142" y="3043706"/>
            <a:ext cx="410788" cy="200055"/>
          </a:xfrm>
          <a:prstGeom prst="rect">
            <a:avLst/>
          </a:prstGeom>
          <a:noFill/>
        </p:spPr>
        <p:txBody>
          <a:bodyPr wrap="square" rtlCol="0">
            <a:spAutoFit/>
          </a:bodyPr>
          <a:lstStyle/>
          <a:p>
            <a:r>
              <a:rPr lang="tr-TR" sz="700" noProof="1">
                <a:cs typeface="Arial" panose="020B0604020202020204" pitchFamily="34" charset="0"/>
              </a:rPr>
              <a:t>2500</a:t>
            </a:r>
          </a:p>
        </p:txBody>
      </p:sp>
      <p:sp>
        <p:nvSpPr>
          <p:cNvPr id="71" name="Metin kutusu 70">
            <a:extLst>
              <a:ext uri="{FF2B5EF4-FFF2-40B4-BE49-F238E27FC236}">
                <a16:creationId xmlns:a16="http://schemas.microsoft.com/office/drawing/2014/main" id="{725E9E29-46AB-4AE7-856D-115F6C5D9E53}"/>
              </a:ext>
            </a:extLst>
          </p:cNvPr>
          <p:cNvSpPr txBox="1"/>
          <p:nvPr/>
        </p:nvSpPr>
        <p:spPr>
          <a:xfrm>
            <a:off x="1001229" y="3041692"/>
            <a:ext cx="410788" cy="200055"/>
          </a:xfrm>
          <a:prstGeom prst="rect">
            <a:avLst/>
          </a:prstGeom>
          <a:noFill/>
        </p:spPr>
        <p:txBody>
          <a:bodyPr wrap="square" rtlCol="0">
            <a:spAutoFit/>
          </a:bodyPr>
          <a:lstStyle/>
          <a:p>
            <a:r>
              <a:rPr lang="tr-TR" sz="700" noProof="1">
                <a:cs typeface="Arial" panose="020B0604020202020204" pitchFamily="34" charset="0"/>
              </a:rPr>
              <a:t>2750</a:t>
            </a:r>
          </a:p>
        </p:txBody>
      </p:sp>
      <p:sp>
        <p:nvSpPr>
          <p:cNvPr id="72" name="Metin kutusu 71">
            <a:extLst>
              <a:ext uri="{FF2B5EF4-FFF2-40B4-BE49-F238E27FC236}">
                <a16:creationId xmlns:a16="http://schemas.microsoft.com/office/drawing/2014/main" id="{0358FA64-DB21-41D7-A469-00C0A65442C0}"/>
              </a:ext>
            </a:extLst>
          </p:cNvPr>
          <p:cNvSpPr txBox="1"/>
          <p:nvPr/>
        </p:nvSpPr>
        <p:spPr>
          <a:xfrm>
            <a:off x="1316840" y="3049140"/>
            <a:ext cx="410788" cy="200055"/>
          </a:xfrm>
          <a:prstGeom prst="rect">
            <a:avLst/>
          </a:prstGeom>
          <a:noFill/>
        </p:spPr>
        <p:txBody>
          <a:bodyPr wrap="square" rtlCol="0">
            <a:spAutoFit/>
          </a:bodyPr>
          <a:lstStyle/>
          <a:p>
            <a:r>
              <a:rPr lang="tr-TR" sz="700" noProof="1">
                <a:cs typeface="Arial" panose="020B0604020202020204" pitchFamily="34" charset="0"/>
              </a:rPr>
              <a:t>2900</a:t>
            </a:r>
          </a:p>
        </p:txBody>
      </p:sp>
      <p:sp>
        <p:nvSpPr>
          <p:cNvPr id="83" name="Metin kutusu 82">
            <a:extLst>
              <a:ext uri="{FF2B5EF4-FFF2-40B4-BE49-F238E27FC236}">
                <a16:creationId xmlns:a16="http://schemas.microsoft.com/office/drawing/2014/main" id="{6FBAE2A6-3E31-48B8-87D7-3D1436341FF2}"/>
              </a:ext>
            </a:extLst>
          </p:cNvPr>
          <p:cNvSpPr txBox="1"/>
          <p:nvPr/>
        </p:nvSpPr>
        <p:spPr>
          <a:xfrm>
            <a:off x="1610462" y="2057229"/>
            <a:ext cx="1565823" cy="900246"/>
          </a:xfrm>
          <a:prstGeom prst="rect">
            <a:avLst/>
          </a:prstGeom>
          <a:noFill/>
          <a:ln w="31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750" noProof="1">
                <a:cs typeface="Arial" panose="020B0604020202020204" pitchFamily="34" charset="0"/>
              </a:rPr>
              <a:t>Kesikli çizgiler verilerin neye tekabül ettiğini </a:t>
            </a:r>
            <a:r>
              <a:rPr lang="tr-TR" sz="750" b="1" noProof="1">
                <a:cs typeface="Arial" panose="020B0604020202020204" pitchFamily="34" charset="0"/>
              </a:rPr>
              <a:t>net</a:t>
            </a:r>
            <a:r>
              <a:rPr lang="tr-TR" sz="750" noProof="1">
                <a:cs typeface="Arial" panose="020B0604020202020204" pitchFamily="34" charset="0"/>
              </a:rPr>
              <a:t> olarak göstermek için verilir. </a:t>
            </a:r>
          </a:p>
          <a:p>
            <a:pPr algn="ctr"/>
            <a:r>
              <a:rPr lang="tr-TR" sz="750" noProof="1">
                <a:cs typeface="Arial" panose="020B0604020202020204" pitchFamily="34" charset="0"/>
              </a:rPr>
              <a:t>Herhangi bir nokta eksen üzerinde değilse kesikli çizgilerle düşey ve yataydaki karşılığı kesikli çizgilerle olabildiğince hizzalanmaya çalışılır.</a:t>
            </a:r>
          </a:p>
        </p:txBody>
      </p:sp>
      <p:sp>
        <p:nvSpPr>
          <p:cNvPr id="104" name="Metin kutusu 103">
            <a:extLst>
              <a:ext uri="{FF2B5EF4-FFF2-40B4-BE49-F238E27FC236}">
                <a16:creationId xmlns:a16="http://schemas.microsoft.com/office/drawing/2014/main" id="{AB9616B3-DCFC-476A-854E-682E29FFE502}"/>
              </a:ext>
            </a:extLst>
          </p:cNvPr>
          <p:cNvSpPr txBox="1"/>
          <p:nvPr/>
        </p:nvSpPr>
        <p:spPr>
          <a:xfrm>
            <a:off x="421356" y="2340746"/>
            <a:ext cx="265095" cy="200055"/>
          </a:xfrm>
          <a:prstGeom prst="rect">
            <a:avLst/>
          </a:prstGeom>
          <a:noFill/>
        </p:spPr>
        <p:txBody>
          <a:bodyPr wrap="square" rtlCol="0">
            <a:spAutoFit/>
          </a:bodyPr>
          <a:lstStyle/>
          <a:p>
            <a:r>
              <a:rPr lang="tr-TR" sz="700" noProof="1">
                <a:cs typeface="Arial" panose="020B0604020202020204" pitchFamily="34" charset="0"/>
              </a:rPr>
              <a:t>3</a:t>
            </a:r>
          </a:p>
        </p:txBody>
      </p:sp>
      <p:sp>
        <p:nvSpPr>
          <p:cNvPr id="106" name="Metin kutusu 105">
            <a:extLst>
              <a:ext uri="{FF2B5EF4-FFF2-40B4-BE49-F238E27FC236}">
                <a16:creationId xmlns:a16="http://schemas.microsoft.com/office/drawing/2014/main" id="{16F1DDB3-B202-4613-A40D-E7E310C13DE4}"/>
              </a:ext>
            </a:extLst>
          </p:cNvPr>
          <p:cNvSpPr txBox="1"/>
          <p:nvPr/>
        </p:nvSpPr>
        <p:spPr>
          <a:xfrm>
            <a:off x="3560675" y="440358"/>
            <a:ext cx="3265245" cy="2862322"/>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A noktasını yorumlayalım : A noktasının düşey eksendeki karşılığına baktığımızda fatura sayısının 3 olduğunu görüyoruz. Düşey eksene baktığımızda daha önceden belirttiğimiz gibi yatay eksendeki (paramızı gösteren) veriyi yorumlayamadığımızı belirtmiştik şimdi de görmüş olduk.</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B noktasını yorumlayalım : Fatura sayısının 2`ye düştüğünü ve birikimdeki paramızın 2750 TL olduğunu görüyoruz. Mantık çervesi içerisindeki bu grafik son derece güncel bir örnektir; faturaları ödedikten sonra fatura sayımız azalır ve aynı zamanda paramızda azalır.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C noktasını yorumlayalım : C noktasının düşey eksenine bakın ve hizzalayamayı öğrenin. Hizzaladığınızda 0 olduğunu göreceksiniz. Ödenecek hiçbir faturamız kalmadığı zaman elimizde kalan paranın 2500 TL olduğunu görebilmekteyiz. </a:t>
            </a:r>
          </a:p>
        </p:txBody>
      </p:sp>
      <p:sp>
        <p:nvSpPr>
          <p:cNvPr id="103" name="Dikdörtgen 102">
            <a:extLst>
              <a:ext uri="{FF2B5EF4-FFF2-40B4-BE49-F238E27FC236}">
                <a16:creationId xmlns:a16="http://schemas.microsoft.com/office/drawing/2014/main" id="{BB5AA7D2-0533-40D7-8161-E14A827F494F}"/>
              </a:ext>
            </a:extLst>
          </p:cNvPr>
          <p:cNvSpPr/>
          <p:nvPr/>
        </p:nvSpPr>
        <p:spPr>
          <a:xfrm>
            <a:off x="3613097" y="3302680"/>
            <a:ext cx="3165573" cy="1485344"/>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109" name="Metin kutusu 108">
            <a:extLst>
              <a:ext uri="{FF2B5EF4-FFF2-40B4-BE49-F238E27FC236}">
                <a16:creationId xmlns:a16="http://schemas.microsoft.com/office/drawing/2014/main" id="{B376BFF9-A59E-4235-9097-A86990A7F3AE}"/>
              </a:ext>
            </a:extLst>
          </p:cNvPr>
          <p:cNvSpPr txBox="1"/>
          <p:nvPr/>
        </p:nvSpPr>
        <p:spPr>
          <a:xfrm>
            <a:off x="3605667" y="3302680"/>
            <a:ext cx="3265245" cy="1477328"/>
          </a:xfrm>
          <a:prstGeom prst="rect">
            <a:avLst/>
          </a:prstGeom>
          <a:noFill/>
        </p:spPr>
        <p:txBody>
          <a:bodyPr wrap="square" rtlCol="0">
            <a:spAutoFit/>
          </a:bodyPr>
          <a:lstStyle/>
          <a:p>
            <a:r>
              <a:rPr lang="tr-TR" sz="1000" noProof="1">
                <a:cs typeface="Arial" panose="020B0604020202020204" pitchFamily="34" charset="0"/>
              </a:rPr>
              <a:t>Doğrusal grafikte incelediğimiz noktalar (örneğin A,B,C gibi) bir eksenin üzerinde ise </a:t>
            </a:r>
            <a:r>
              <a:rPr lang="tr-TR" sz="1000" b="1" noProof="1">
                <a:cs typeface="Arial" panose="020B0604020202020204" pitchFamily="34" charset="0"/>
              </a:rPr>
              <a:t>o hangi eksen ise diğer eksendeki tekabül ettiği değer 0 dır. </a:t>
            </a:r>
          </a:p>
          <a:p>
            <a:br>
              <a:rPr lang="tr-TR" sz="1000" b="1" noProof="1">
                <a:cs typeface="Arial" panose="020B0604020202020204" pitchFamily="34" charset="0"/>
              </a:rPr>
            </a:br>
            <a:r>
              <a:rPr lang="tr-TR" sz="1000" noProof="1">
                <a:cs typeface="Arial" panose="020B0604020202020204" pitchFamily="34" charset="0"/>
              </a:rPr>
              <a:t>Örneğin C noktasında olduğu gibi paramızı ifade eden eksenin üzerinde. Diğer eksenimizde o zaman tekabül ettiği veri 0 olur. Yani ödenecek faturayı belirten eksendeki değeri 0 dır. Bunu hizalayarak görebiliriz, kesik çizgileri de bu manada net bilgi için tercih ediyoruz.</a:t>
            </a:r>
          </a:p>
        </p:txBody>
      </p:sp>
      <p:sp>
        <p:nvSpPr>
          <p:cNvPr id="110" name="Dikdörtgen: Köşeleri Yuvarlatılmış 109">
            <a:extLst>
              <a:ext uri="{FF2B5EF4-FFF2-40B4-BE49-F238E27FC236}">
                <a16:creationId xmlns:a16="http://schemas.microsoft.com/office/drawing/2014/main" id="{77F96295-04B2-4B4C-B0A5-7FE7AF19C0BF}"/>
              </a:ext>
            </a:extLst>
          </p:cNvPr>
          <p:cNvSpPr/>
          <p:nvPr/>
        </p:nvSpPr>
        <p:spPr>
          <a:xfrm>
            <a:off x="3622098" y="4893423"/>
            <a:ext cx="3133488" cy="3883636"/>
          </a:xfrm>
          <a:prstGeom prst="roundRect">
            <a:avLst>
              <a:gd name="adj" fmla="val 3885"/>
            </a:avLst>
          </a:prstGeom>
          <a:solidFill>
            <a:srgbClr val="CCCCFF"/>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tr-TR" dirty="0"/>
          </a:p>
        </p:txBody>
      </p:sp>
      <p:sp>
        <p:nvSpPr>
          <p:cNvPr id="112" name="Metin kutusu 111">
            <a:extLst>
              <a:ext uri="{FF2B5EF4-FFF2-40B4-BE49-F238E27FC236}">
                <a16:creationId xmlns:a16="http://schemas.microsoft.com/office/drawing/2014/main" id="{DEDE29A1-EAEA-483C-92B8-94F82BB4724A}"/>
              </a:ext>
            </a:extLst>
          </p:cNvPr>
          <p:cNvSpPr txBox="1"/>
          <p:nvPr/>
        </p:nvSpPr>
        <p:spPr>
          <a:xfrm>
            <a:off x="3609327" y="4871935"/>
            <a:ext cx="3173112" cy="3862596"/>
          </a:xfrm>
          <a:prstGeom prst="rect">
            <a:avLst/>
          </a:prstGeom>
          <a:noFill/>
        </p:spPr>
        <p:txBody>
          <a:bodyPr wrap="square">
            <a:spAutoFit/>
          </a:bodyPr>
          <a:lstStyle/>
          <a:p>
            <a:pPr algn="ctr"/>
            <a:r>
              <a:rPr lang="tr-TR" sz="1500" b="1" noProof="1">
                <a:cs typeface="Arial" panose="020B0604020202020204" pitchFamily="34" charset="0"/>
              </a:rPr>
              <a:t>İki eksen arasında oran yorumu</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İki eksen arasında daima geçerli bir yorum yapılamaz.</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Grafik kesinlikle incelenmelidir. Bu grafikten örnek verdiğimizde faturamız azalırken, paramızda azalıyor.</a:t>
            </a:r>
            <a:br>
              <a:rPr lang="tr-TR" sz="1000" noProof="1">
                <a:cs typeface="Arial" panose="020B0604020202020204" pitchFamily="34" charset="0"/>
              </a:rPr>
            </a:br>
            <a:r>
              <a:rPr lang="tr-TR" sz="1000" noProof="1">
                <a:cs typeface="Arial" panose="020B0604020202020204" pitchFamily="34" charset="0"/>
              </a:rPr>
              <a:t> </a:t>
            </a:r>
          </a:p>
          <a:p>
            <a:pPr marL="171450" indent="-171450">
              <a:buFont typeface="Arial" panose="020B0604020202020204" pitchFamily="34" charset="0"/>
              <a:buChar char="•"/>
            </a:pPr>
            <a:r>
              <a:rPr lang="tr-TR" sz="1000" noProof="1">
                <a:cs typeface="Arial" panose="020B0604020202020204" pitchFamily="34" charset="0"/>
              </a:rPr>
              <a:t>Yani iki azalma durumu söz konusu fakat ödenecek faturamızın azalması olumlu etkendir, paramızın azalması ise çoğumuzun tercih etmeyeceği olumsuz yorumlayacağı bir etkendir. </a:t>
            </a:r>
            <a:br>
              <a:rPr lang="tr-TR" sz="1000" noProof="1">
                <a:cs typeface="Arial" panose="020B0604020202020204" pitchFamily="34" charset="0"/>
              </a:rPr>
            </a:b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 Grafikteki eksenleri temsil eden şeylerin nihai grafik sonuç yorumuna bakarsak ; ikiside artabilir, ikiside azalabilir, birisi azalırken birisi artabilir veya tam tersi olabilir. </a:t>
            </a:r>
            <a:br>
              <a:rPr lang="tr-TR" sz="1000" noProof="1">
                <a:cs typeface="Arial" panose="020B0604020202020204" pitchFamily="34" charset="0"/>
              </a:rPr>
            </a:b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Olumlu veya olumsuz yorumu, artıp azalmamayı grafiğin içeriği ve eğilimi belirler kesinlikle daime geçerli bir yorum belirttiğimiz manalarda yapılamaz.</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Grafiğin eğimini bulmayı, grafiğin eğimi başka bir niceliği ifade edip etmediğini gerektiği kadarıyla öğreteceğiz, detayı AYT sınavı içeriğine kaymaktadır.</a:t>
            </a:r>
          </a:p>
        </p:txBody>
      </p:sp>
    </p:spTree>
    <p:extLst>
      <p:ext uri="{BB962C8B-B14F-4D97-AF65-F5344CB8AC3E}">
        <p14:creationId xmlns:p14="http://schemas.microsoft.com/office/powerpoint/2010/main" val="16179163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Dikdörtgen 97">
            <a:extLst>
              <a:ext uri="{FF2B5EF4-FFF2-40B4-BE49-F238E27FC236}">
                <a16:creationId xmlns:a16="http://schemas.microsoft.com/office/drawing/2014/main" id="{3F8B32AE-2977-4382-873F-8B22680232ED}"/>
              </a:ext>
            </a:extLst>
          </p:cNvPr>
          <p:cNvSpPr/>
          <p:nvPr/>
        </p:nvSpPr>
        <p:spPr>
          <a:xfrm>
            <a:off x="110832" y="436063"/>
            <a:ext cx="3186493"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Doğrusal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61038" y="5863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106" name="Metin kutusu 105">
            <a:extLst>
              <a:ext uri="{FF2B5EF4-FFF2-40B4-BE49-F238E27FC236}">
                <a16:creationId xmlns:a16="http://schemas.microsoft.com/office/drawing/2014/main" id="{16F1DDB3-B202-4613-A40D-E7E310C13DE4}"/>
              </a:ext>
            </a:extLst>
          </p:cNvPr>
          <p:cNvSpPr txBox="1"/>
          <p:nvPr/>
        </p:nvSpPr>
        <p:spPr>
          <a:xfrm>
            <a:off x="3560675" y="440358"/>
            <a:ext cx="3265245" cy="246221"/>
          </a:xfrm>
          <a:prstGeom prst="rect">
            <a:avLst/>
          </a:prstGeom>
          <a:noFill/>
        </p:spPr>
        <p:txBody>
          <a:bodyPr wrap="square" rtlCol="0">
            <a:spAutoFit/>
          </a:bodyPr>
          <a:lstStyle/>
          <a:p>
            <a:r>
              <a:rPr lang="tr-TR" sz="1000" noProof="1">
                <a:cs typeface="Arial" panose="020B0604020202020204" pitchFamily="34" charset="0"/>
              </a:rPr>
              <a:t>O kadar artislik yaptık grafiği de çizelim demi </a:t>
            </a:r>
            <a:r>
              <a:rPr lang="tr-TR" sz="1000" noProof="1">
                <a:cs typeface="Arial" panose="020B0604020202020204" pitchFamily="34" charset="0"/>
                <a:sym typeface="Wingdings" panose="05000000000000000000" pitchFamily="2" charset="2"/>
              </a:rPr>
              <a:t></a:t>
            </a:r>
            <a:endParaRPr lang="tr-TR" sz="1000" noProof="1">
              <a:cs typeface="Arial" panose="020B0604020202020204" pitchFamily="34" charset="0"/>
            </a:endParaRPr>
          </a:p>
        </p:txBody>
      </p:sp>
      <p:sp>
        <p:nvSpPr>
          <p:cNvPr id="110" name="Dikdörtgen: Köşeleri Yuvarlatılmış 109">
            <a:extLst>
              <a:ext uri="{FF2B5EF4-FFF2-40B4-BE49-F238E27FC236}">
                <a16:creationId xmlns:a16="http://schemas.microsoft.com/office/drawing/2014/main" id="{77F96295-04B2-4B4C-B0A5-7FE7AF19C0BF}"/>
              </a:ext>
            </a:extLst>
          </p:cNvPr>
          <p:cNvSpPr/>
          <p:nvPr/>
        </p:nvSpPr>
        <p:spPr>
          <a:xfrm>
            <a:off x="153013" y="544348"/>
            <a:ext cx="3046882" cy="4171668"/>
          </a:xfrm>
          <a:prstGeom prst="roundRect">
            <a:avLst>
              <a:gd name="adj" fmla="val 3885"/>
            </a:avLst>
          </a:prstGeom>
          <a:solidFill>
            <a:srgbClr val="CCECFF"/>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tr-TR" dirty="0"/>
          </a:p>
        </p:txBody>
      </p:sp>
      <p:sp>
        <p:nvSpPr>
          <p:cNvPr id="56" name="Metin kutusu 55">
            <a:extLst>
              <a:ext uri="{FF2B5EF4-FFF2-40B4-BE49-F238E27FC236}">
                <a16:creationId xmlns:a16="http://schemas.microsoft.com/office/drawing/2014/main" id="{8A321C75-FADE-42D8-B241-270719BF12FD}"/>
              </a:ext>
            </a:extLst>
          </p:cNvPr>
          <p:cNvSpPr txBox="1"/>
          <p:nvPr/>
        </p:nvSpPr>
        <p:spPr>
          <a:xfrm>
            <a:off x="153013" y="544348"/>
            <a:ext cx="3193027" cy="1138773"/>
          </a:xfrm>
          <a:prstGeom prst="rect">
            <a:avLst/>
          </a:prstGeom>
          <a:noFill/>
        </p:spPr>
        <p:txBody>
          <a:bodyPr wrap="square">
            <a:spAutoFit/>
          </a:bodyPr>
          <a:lstStyle/>
          <a:p>
            <a:pPr algn="ctr"/>
            <a:r>
              <a:rPr lang="tr-TR" sz="1400" noProof="1">
                <a:cs typeface="Arial" panose="020B0604020202020204" pitchFamily="34" charset="0"/>
              </a:rPr>
              <a:t>Olaki bir gün grafik çizmeniz istenirse</a:t>
            </a:r>
            <a:br>
              <a:rPr lang="tr-TR" sz="1400" noProof="1">
                <a:cs typeface="Arial" panose="020B0604020202020204" pitchFamily="34" charset="0"/>
              </a:rPr>
            </a:br>
            <a:r>
              <a:rPr lang="tr-TR" sz="1400" noProof="1">
                <a:cs typeface="Arial" panose="020B0604020202020204" pitchFamily="34" charset="0"/>
              </a:rPr>
              <a:t>mantık çerveçesine dikkat edin!</a:t>
            </a:r>
          </a:p>
          <a:p>
            <a:endParaRPr lang="tr-TR" sz="1000" noProof="1">
              <a:cs typeface="Arial" panose="020B0604020202020204" pitchFamily="34" charset="0"/>
            </a:endParaRPr>
          </a:p>
          <a:p>
            <a:r>
              <a:rPr lang="tr-TR" sz="1000" b="1" noProof="1">
                <a:cs typeface="Arial" panose="020B0604020202020204" pitchFamily="34" charset="0"/>
              </a:rPr>
              <a:t>Soru 1 : </a:t>
            </a:r>
            <a:r>
              <a:rPr lang="tr-TR" sz="1000" noProof="1">
                <a:cs typeface="Arial" panose="020B0604020202020204" pitchFamily="34" charset="0"/>
              </a:rPr>
              <a:t>Çevresi 20 cm olan bir dikdörtgenin uzun </a:t>
            </a:r>
          </a:p>
          <a:p>
            <a:r>
              <a:rPr lang="tr-TR" sz="1000" noProof="1">
                <a:cs typeface="Arial" panose="020B0604020202020204" pitchFamily="34" charset="0"/>
              </a:rPr>
              <a:t>kenarı kısa kenarı uzunluğu b olsun. Kenar uzunluk-</a:t>
            </a:r>
          </a:p>
          <a:p>
            <a:r>
              <a:rPr lang="tr-TR" sz="1000" noProof="1">
                <a:cs typeface="Arial" panose="020B0604020202020204" pitchFamily="34" charset="0"/>
              </a:rPr>
              <a:t>larını belirten doğrusal grafikle gösteriniz. </a:t>
            </a:r>
          </a:p>
        </p:txBody>
      </p:sp>
      <p:cxnSp>
        <p:nvCxnSpPr>
          <p:cNvPr id="9" name="Düz Ok Bağlayıcısı 8">
            <a:extLst>
              <a:ext uri="{FF2B5EF4-FFF2-40B4-BE49-F238E27FC236}">
                <a16:creationId xmlns:a16="http://schemas.microsoft.com/office/drawing/2014/main" id="{917A32AA-6E91-4ADF-BAD6-C226DA478140}"/>
              </a:ext>
            </a:extLst>
          </p:cNvPr>
          <p:cNvCxnSpPr>
            <a:cxnSpLocks/>
          </p:cNvCxnSpPr>
          <p:nvPr/>
        </p:nvCxnSpPr>
        <p:spPr>
          <a:xfrm flipV="1">
            <a:off x="980728" y="1691680"/>
            <a:ext cx="0" cy="14941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Düz Ok Bağlayıcısı 16">
            <a:extLst>
              <a:ext uri="{FF2B5EF4-FFF2-40B4-BE49-F238E27FC236}">
                <a16:creationId xmlns:a16="http://schemas.microsoft.com/office/drawing/2014/main" id="{B70DE93D-5250-4187-8B2A-9A25F3A23FE3}"/>
              </a:ext>
            </a:extLst>
          </p:cNvPr>
          <p:cNvCxnSpPr>
            <a:cxnSpLocks/>
          </p:cNvCxnSpPr>
          <p:nvPr/>
        </p:nvCxnSpPr>
        <p:spPr>
          <a:xfrm>
            <a:off x="285056" y="2616978"/>
            <a:ext cx="1825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Metin kutusu 72">
            <a:extLst>
              <a:ext uri="{FF2B5EF4-FFF2-40B4-BE49-F238E27FC236}">
                <a16:creationId xmlns:a16="http://schemas.microsoft.com/office/drawing/2014/main" id="{BFCD3E93-4BB9-48BC-BC7E-96714E870C61}"/>
              </a:ext>
            </a:extLst>
          </p:cNvPr>
          <p:cNvSpPr txBox="1"/>
          <p:nvPr/>
        </p:nvSpPr>
        <p:spPr>
          <a:xfrm>
            <a:off x="741461" y="1750012"/>
            <a:ext cx="328813" cy="230832"/>
          </a:xfrm>
          <a:prstGeom prst="rect">
            <a:avLst/>
          </a:prstGeom>
          <a:noFill/>
        </p:spPr>
        <p:txBody>
          <a:bodyPr wrap="square">
            <a:spAutoFit/>
          </a:bodyPr>
          <a:lstStyle/>
          <a:p>
            <a:pPr algn="ctr"/>
            <a:r>
              <a:rPr lang="tr-TR" sz="900" noProof="1">
                <a:cs typeface="Arial" panose="020B0604020202020204" pitchFamily="34" charset="0"/>
              </a:rPr>
              <a:t>10</a:t>
            </a:r>
          </a:p>
        </p:txBody>
      </p:sp>
      <p:sp>
        <p:nvSpPr>
          <p:cNvPr id="75" name="Metin kutusu 74">
            <a:extLst>
              <a:ext uri="{FF2B5EF4-FFF2-40B4-BE49-F238E27FC236}">
                <a16:creationId xmlns:a16="http://schemas.microsoft.com/office/drawing/2014/main" id="{FECC91A6-9D4C-430F-A160-CF307DB1C1D0}"/>
              </a:ext>
            </a:extLst>
          </p:cNvPr>
          <p:cNvSpPr txBox="1"/>
          <p:nvPr/>
        </p:nvSpPr>
        <p:spPr>
          <a:xfrm>
            <a:off x="1569138" y="2445590"/>
            <a:ext cx="328813" cy="230832"/>
          </a:xfrm>
          <a:prstGeom prst="rect">
            <a:avLst/>
          </a:prstGeom>
          <a:noFill/>
        </p:spPr>
        <p:txBody>
          <a:bodyPr wrap="square">
            <a:spAutoFit/>
          </a:bodyPr>
          <a:lstStyle/>
          <a:p>
            <a:pPr algn="ctr"/>
            <a:r>
              <a:rPr lang="tr-TR" sz="900" noProof="1">
                <a:cs typeface="Arial" panose="020B0604020202020204" pitchFamily="34" charset="0"/>
              </a:rPr>
              <a:t>10</a:t>
            </a:r>
          </a:p>
        </p:txBody>
      </p:sp>
      <p:cxnSp>
        <p:nvCxnSpPr>
          <p:cNvPr id="37" name="Düz Bağlayıcı 36">
            <a:extLst>
              <a:ext uri="{FF2B5EF4-FFF2-40B4-BE49-F238E27FC236}">
                <a16:creationId xmlns:a16="http://schemas.microsoft.com/office/drawing/2014/main" id="{1D98BE4D-73FE-4E2D-8569-3748D4123863}"/>
              </a:ext>
            </a:extLst>
          </p:cNvPr>
          <p:cNvCxnSpPr>
            <a:cxnSpLocks/>
          </p:cNvCxnSpPr>
          <p:nvPr/>
        </p:nvCxnSpPr>
        <p:spPr>
          <a:xfrm>
            <a:off x="620688" y="1714682"/>
            <a:ext cx="1405985" cy="127314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6" name="Metin kutusu 75">
            <a:extLst>
              <a:ext uri="{FF2B5EF4-FFF2-40B4-BE49-F238E27FC236}">
                <a16:creationId xmlns:a16="http://schemas.microsoft.com/office/drawing/2014/main" id="{52727E8B-5E4E-4E66-8C69-FC554F2468EE}"/>
              </a:ext>
            </a:extLst>
          </p:cNvPr>
          <p:cNvSpPr txBox="1"/>
          <p:nvPr/>
        </p:nvSpPr>
        <p:spPr>
          <a:xfrm>
            <a:off x="947416" y="1618816"/>
            <a:ext cx="1034257" cy="230832"/>
          </a:xfrm>
          <a:prstGeom prst="rect">
            <a:avLst/>
          </a:prstGeom>
          <a:noFill/>
        </p:spPr>
        <p:txBody>
          <a:bodyPr wrap="square">
            <a:spAutoFit/>
          </a:bodyPr>
          <a:lstStyle/>
          <a:p>
            <a:r>
              <a:rPr lang="tr-TR" sz="900" noProof="1">
                <a:cs typeface="Arial" panose="020B0604020202020204" pitchFamily="34" charset="0"/>
              </a:rPr>
              <a:t>a için Uzunluk</a:t>
            </a:r>
          </a:p>
        </p:txBody>
      </p:sp>
      <p:sp>
        <p:nvSpPr>
          <p:cNvPr id="77" name="Metin kutusu 76">
            <a:extLst>
              <a:ext uri="{FF2B5EF4-FFF2-40B4-BE49-F238E27FC236}">
                <a16:creationId xmlns:a16="http://schemas.microsoft.com/office/drawing/2014/main" id="{795C06DA-AACE-4CB3-8BFC-E4AB7C0F3636}"/>
              </a:ext>
            </a:extLst>
          </p:cNvPr>
          <p:cNvSpPr txBox="1"/>
          <p:nvPr/>
        </p:nvSpPr>
        <p:spPr>
          <a:xfrm>
            <a:off x="1972484" y="2496004"/>
            <a:ext cx="1034257" cy="230832"/>
          </a:xfrm>
          <a:prstGeom prst="rect">
            <a:avLst/>
          </a:prstGeom>
          <a:noFill/>
        </p:spPr>
        <p:txBody>
          <a:bodyPr wrap="square">
            <a:spAutoFit/>
          </a:bodyPr>
          <a:lstStyle/>
          <a:p>
            <a:pPr algn="ctr"/>
            <a:r>
              <a:rPr lang="tr-TR" sz="900" noProof="1">
                <a:cs typeface="Arial" panose="020B0604020202020204" pitchFamily="34" charset="0"/>
              </a:rPr>
              <a:t>b için Uzunluk</a:t>
            </a:r>
          </a:p>
        </p:txBody>
      </p:sp>
      <p:sp>
        <p:nvSpPr>
          <p:cNvPr id="82" name="Metin kutusu 81">
            <a:extLst>
              <a:ext uri="{FF2B5EF4-FFF2-40B4-BE49-F238E27FC236}">
                <a16:creationId xmlns:a16="http://schemas.microsoft.com/office/drawing/2014/main" id="{A80C0DEE-9870-4185-B13A-48A5D08B579F}"/>
              </a:ext>
            </a:extLst>
          </p:cNvPr>
          <p:cNvSpPr txBox="1"/>
          <p:nvPr/>
        </p:nvSpPr>
        <p:spPr>
          <a:xfrm>
            <a:off x="683763" y="2867856"/>
            <a:ext cx="399067" cy="230832"/>
          </a:xfrm>
          <a:prstGeom prst="rect">
            <a:avLst/>
          </a:prstGeom>
          <a:noFill/>
        </p:spPr>
        <p:txBody>
          <a:bodyPr wrap="square">
            <a:spAutoFit/>
          </a:bodyPr>
          <a:lstStyle/>
          <a:p>
            <a:pPr algn="ctr"/>
            <a:r>
              <a:rPr lang="tr-TR" sz="900" noProof="1">
                <a:cs typeface="Arial" panose="020B0604020202020204" pitchFamily="34" charset="0"/>
              </a:rPr>
              <a:t>-3</a:t>
            </a:r>
          </a:p>
        </p:txBody>
      </p:sp>
      <p:cxnSp>
        <p:nvCxnSpPr>
          <p:cNvPr id="48" name="Düz Bağlayıcı 47">
            <a:extLst>
              <a:ext uri="{FF2B5EF4-FFF2-40B4-BE49-F238E27FC236}">
                <a16:creationId xmlns:a16="http://schemas.microsoft.com/office/drawing/2014/main" id="{74196CE2-5C26-44DE-A488-AF90AF2D6E08}"/>
              </a:ext>
            </a:extLst>
          </p:cNvPr>
          <p:cNvCxnSpPr>
            <a:cxnSpLocks/>
          </p:cNvCxnSpPr>
          <p:nvPr/>
        </p:nvCxnSpPr>
        <p:spPr>
          <a:xfrm flipV="1">
            <a:off x="626298" y="1715044"/>
            <a:ext cx="0" cy="90056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8" name="Düz Bağlayıcı 87">
            <a:extLst>
              <a:ext uri="{FF2B5EF4-FFF2-40B4-BE49-F238E27FC236}">
                <a16:creationId xmlns:a16="http://schemas.microsoft.com/office/drawing/2014/main" id="{AC60DEED-922F-45C9-BAE1-57522BD8DC34}"/>
              </a:ext>
            </a:extLst>
          </p:cNvPr>
          <p:cNvCxnSpPr>
            <a:cxnSpLocks/>
          </p:cNvCxnSpPr>
          <p:nvPr/>
        </p:nvCxnSpPr>
        <p:spPr>
          <a:xfrm>
            <a:off x="980727" y="2987518"/>
            <a:ext cx="1049692"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92" name="Metin kutusu 91">
            <a:extLst>
              <a:ext uri="{FF2B5EF4-FFF2-40B4-BE49-F238E27FC236}">
                <a16:creationId xmlns:a16="http://schemas.microsoft.com/office/drawing/2014/main" id="{394AE3F7-454E-4370-BA14-4F47DB71DB56}"/>
              </a:ext>
            </a:extLst>
          </p:cNvPr>
          <p:cNvSpPr txBox="1"/>
          <p:nvPr/>
        </p:nvSpPr>
        <p:spPr>
          <a:xfrm>
            <a:off x="409951" y="2588562"/>
            <a:ext cx="369414" cy="230832"/>
          </a:xfrm>
          <a:prstGeom prst="rect">
            <a:avLst/>
          </a:prstGeom>
          <a:noFill/>
        </p:spPr>
        <p:txBody>
          <a:bodyPr wrap="square">
            <a:spAutoFit/>
          </a:bodyPr>
          <a:lstStyle/>
          <a:p>
            <a:pPr algn="ctr"/>
            <a:r>
              <a:rPr lang="tr-TR" sz="900" noProof="1">
                <a:cs typeface="Arial" panose="020B0604020202020204" pitchFamily="34" charset="0"/>
              </a:rPr>
              <a:t>-5</a:t>
            </a:r>
          </a:p>
        </p:txBody>
      </p:sp>
      <mc:AlternateContent xmlns:mc="http://schemas.openxmlformats.org/markup-compatibility/2006" xmlns:a14="http://schemas.microsoft.com/office/drawing/2010/main">
        <mc:Choice Requires="a14">
          <p:sp>
            <p:nvSpPr>
              <p:cNvPr id="78" name="Metin kutusu 77">
                <a:extLst>
                  <a:ext uri="{FF2B5EF4-FFF2-40B4-BE49-F238E27FC236}">
                    <a16:creationId xmlns:a16="http://schemas.microsoft.com/office/drawing/2014/main" id="{44E829D1-63D0-4BD8-B5EA-C5255DAC46E1}"/>
                  </a:ext>
                </a:extLst>
              </p:cNvPr>
              <p:cNvSpPr txBox="1"/>
              <p:nvPr/>
            </p:nvSpPr>
            <p:spPr>
              <a:xfrm>
                <a:off x="2192937" y="1727578"/>
                <a:ext cx="774646" cy="24622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1000" dirty="0"/>
                  <a:t>a ve b </a:t>
                </a:r>
                <a14:m>
                  <m:oMath xmlns:m="http://schemas.openxmlformats.org/officeDocument/2006/math">
                    <m:r>
                      <a:rPr lang="tr-TR" sz="1000" i="1" smtClean="0">
                        <a:latin typeface="Cambria Math" panose="02040503050406030204" pitchFamily="18" charset="0"/>
                        <a:ea typeface="Cambria Math" panose="02040503050406030204" pitchFamily="18" charset="0"/>
                      </a:rPr>
                      <m:t>∈</m:t>
                    </m:r>
                  </m:oMath>
                </a14:m>
                <a:r>
                  <a:rPr lang="tr-TR" sz="1000" dirty="0"/>
                  <a:t> </a:t>
                </a:r>
                <a14:m>
                  <m:oMath xmlns:m="http://schemas.openxmlformats.org/officeDocument/2006/math">
                    <m:r>
                      <a:rPr lang="tr-TR" sz="1000" i="1" dirty="0" smtClean="0">
                        <a:latin typeface="Cambria Math" panose="02040503050406030204" pitchFamily="18" charset="0"/>
                      </a:rPr>
                      <m:t>ℝ</m:t>
                    </m:r>
                  </m:oMath>
                </a14:m>
                <a:endParaRPr lang="tr-TR" sz="1000" dirty="0"/>
              </a:p>
            </p:txBody>
          </p:sp>
        </mc:Choice>
        <mc:Fallback xmlns="">
          <p:sp>
            <p:nvSpPr>
              <p:cNvPr id="78" name="Metin kutusu 77">
                <a:extLst>
                  <a:ext uri="{FF2B5EF4-FFF2-40B4-BE49-F238E27FC236}">
                    <a16:creationId xmlns:a16="http://schemas.microsoft.com/office/drawing/2014/main" id="{44E829D1-63D0-4BD8-B5EA-C5255DAC46E1}"/>
                  </a:ext>
                </a:extLst>
              </p:cNvPr>
              <p:cNvSpPr txBox="1">
                <a:spLocks noRot="1" noChangeAspect="1" noMove="1" noResize="1" noEditPoints="1" noAdjustHandles="1" noChangeArrowheads="1" noChangeShapeType="1" noTextEdit="1"/>
              </p:cNvSpPr>
              <p:nvPr/>
            </p:nvSpPr>
            <p:spPr>
              <a:xfrm>
                <a:off x="2192937" y="1727578"/>
                <a:ext cx="774646" cy="246221"/>
              </a:xfrm>
              <a:prstGeom prst="rect">
                <a:avLst/>
              </a:prstGeom>
              <a:blipFill>
                <a:blip r:embed="rId7"/>
                <a:stretch>
                  <a:fillRect b="-11628"/>
                </a:stretch>
              </a:blipFill>
              <a:ln w="9525" cap="flat" cmpd="sng" algn="ctr">
                <a:solidFill>
                  <a:schemeClr val="dk1"/>
                </a:solidFill>
                <a:prstDash val="solid"/>
                <a:round/>
                <a:headEnd type="none" w="med" len="med"/>
                <a:tailEnd type="none" w="med" len="med"/>
              </a:ln>
            </p:spPr>
            <p:txBody>
              <a:bodyPr/>
              <a:lstStyle/>
              <a:p>
                <a:r>
                  <a:rPr lang="tr-TR">
                    <a:noFill/>
                  </a:rPr>
                  <a:t> </a:t>
                </a:r>
              </a:p>
            </p:txBody>
          </p:sp>
        </mc:Fallback>
      </mc:AlternateContent>
      <p:sp>
        <p:nvSpPr>
          <p:cNvPr id="94" name="Metin kutusu 93">
            <a:extLst>
              <a:ext uri="{FF2B5EF4-FFF2-40B4-BE49-F238E27FC236}">
                <a16:creationId xmlns:a16="http://schemas.microsoft.com/office/drawing/2014/main" id="{163B0A8C-431C-43E0-A874-F30CE0D24CC5}"/>
              </a:ext>
            </a:extLst>
          </p:cNvPr>
          <p:cNvSpPr txBox="1"/>
          <p:nvPr/>
        </p:nvSpPr>
        <p:spPr>
          <a:xfrm>
            <a:off x="163391" y="3186614"/>
            <a:ext cx="3068937" cy="553998"/>
          </a:xfrm>
          <a:prstGeom prst="rect">
            <a:avLst/>
          </a:prstGeom>
          <a:noFill/>
        </p:spPr>
        <p:txBody>
          <a:bodyPr wrap="square">
            <a:spAutoFit/>
          </a:bodyPr>
          <a:lstStyle/>
          <a:p>
            <a:r>
              <a:rPr lang="tr-TR" sz="1000" noProof="1">
                <a:cs typeface="Arial" panose="020B0604020202020204" pitchFamily="34" charset="0"/>
              </a:rPr>
              <a:t>Çevresi 20 ise iki kenar uzunluğu toplamı a+b = 10 olmalıdır. Geometri de eksiğiniz varsa mühim değil </a:t>
            </a:r>
          </a:p>
          <a:p>
            <a:r>
              <a:rPr lang="tr-TR" sz="1000" noProof="1">
                <a:cs typeface="Arial" panose="020B0604020202020204" pitchFamily="34" charset="0"/>
              </a:rPr>
              <a:t>a+b = 10 denklemini biz size şimdi verdik. </a:t>
            </a:r>
          </a:p>
        </p:txBody>
      </p:sp>
      <p:sp>
        <p:nvSpPr>
          <p:cNvPr id="95" name="Akış Çizelgesi: Depolanmış Veri 94">
            <a:extLst>
              <a:ext uri="{FF2B5EF4-FFF2-40B4-BE49-F238E27FC236}">
                <a16:creationId xmlns:a16="http://schemas.microsoft.com/office/drawing/2014/main" id="{26280AE7-8C00-412B-A9A4-82C3278E5D9D}"/>
              </a:ext>
            </a:extLst>
          </p:cNvPr>
          <p:cNvSpPr/>
          <p:nvPr/>
        </p:nvSpPr>
        <p:spPr>
          <a:xfrm rot="10800000">
            <a:off x="354066" y="3797767"/>
            <a:ext cx="2714894" cy="851127"/>
          </a:xfrm>
          <a:prstGeom prst="flowChartOnlineStorage">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96" name="Metin kutusu 95">
            <a:extLst>
              <a:ext uri="{FF2B5EF4-FFF2-40B4-BE49-F238E27FC236}">
                <a16:creationId xmlns:a16="http://schemas.microsoft.com/office/drawing/2014/main" id="{993029C7-04DA-40E7-BF0D-BFBE7BD95D85}"/>
              </a:ext>
            </a:extLst>
          </p:cNvPr>
          <p:cNvSpPr txBox="1"/>
          <p:nvPr/>
        </p:nvSpPr>
        <p:spPr>
          <a:xfrm>
            <a:off x="786113" y="3797769"/>
            <a:ext cx="2181469" cy="851127"/>
          </a:xfrm>
          <a:prstGeom prst="rect">
            <a:avLst/>
          </a:prstGeom>
          <a:noFill/>
        </p:spPr>
        <p:txBody>
          <a:bodyPr wrap="square" lIns="80897" tIns="40448" rIns="80897" bIns="40448" rtlCol="0">
            <a:spAutoFit/>
          </a:bodyPr>
          <a:lstStyle/>
          <a:p>
            <a:pPr algn="ctr"/>
            <a:r>
              <a:rPr lang="tr-TR" sz="1000" dirty="0"/>
              <a:t>Grafikteki  hataları bulman için kendine en az 5 dakika ayır. Her bulduğun hata için kendine 5 dakika süre daha ilave edebilirsin.  Unutma üstüne düşüp kurcalarsan kendini geliştirirsin.</a:t>
            </a:r>
          </a:p>
        </p:txBody>
      </p:sp>
      <p:pic>
        <p:nvPicPr>
          <p:cNvPr id="97" name="Picture 4" descr="C:\Users\Pc\AppData\Local\Microsoft\Windows\Temporary Internet Files\Content.IE5\GRK5B6ZB\Alert-PNG-HD[1].png">
            <a:extLst>
              <a:ext uri="{FF2B5EF4-FFF2-40B4-BE49-F238E27FC236}">
                <a16:creationId xmlns:a16="http://schemas.microsoft.com/office/drawing/2014/main" id="{8B53C1CD-0501-4D5F-981B-3219366E64A2}"/>
              </a:ext>
            </a:extLst>
          </p:cNvPr>
          <p:cNvPicPr>
            <a:picLocks noChangeAspect="1" noChangeArrowheads="1"/>
          </p:cNvPicPr>
          <p:nvPr/>
        </p:nvPicPr>
        <p:blipFill>
          <a:blip r:embed="rId8"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7845" y="3908030"/>
            <a:ext cx="504056" cy="504056"/>
          </a:xfrm>
          <a:prstGeom prst="rect">
            <a:avLst/>
          </a:prstGeom>
          <a:noFill/>
          <a:extLst>
            <a:ext uri="{909E8E84-426E-40DD-AFC4-6F175D3DCCD1}">
              <a14:hiddenFill xmlns:a14="http://schemas.microsoft.com/office/drawing/2010/main">
                <a:solidFill>
                  <a:srgbClr val="FFFFFF"/>
                </a:solidFill>
              </a14:hiddenFill>
            </a:ext>
          </a:extLst>
        </p:spPr>
      </p:pic>
      <p:sp>
        <p:nvSpPr>
          <p:cNvPr id="99" name="Metin kutusu 98">
            <a:extLst>
              <a:ext uri="{FF2B5EF4-FFF2-40B4-BE49-F238E27FC236}">
                <a16:creationId xmlns:a16="http://schemas.microsoft.com/office/drawing/2014/main" id="{F97747B2-4B94-409F-A772-DA7ACEEB4716}"/>
              </a:ext>
            </a:extLst>
          </p:cNvPr>
          <p:cNvSpPr txBox="1"/>
          <p:nvPr/>
        </p:nvSpPr>
        <p:spPr>
          <a:xfrm>
            <a:off x="99709" y="4769065"/>
            <a:ext cx="3265245" cy="2246769"/>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İlk hatamız –4 , -3 gibi uzunlukların olmayacağıdır. Uzunluk pozitiftir, bir tam sayı olmak zorunda değildir fakat kesinlikle pozitif olmalıdır. Yani uzunluk grafiği olduğu için sadece pozitif değerlerden oluşmalıdır.</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İkinci hatamız uzunluk grafiği olduğu için birimleri belirtilmesi gerekirdi. Soruda santimetre belirtildiği için parantez olarak açıklamada birimi belirtilmeliydi.</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Üçüncü hatamız K noktasını incelediğimizde a ve b uzunluklarının eşit olduklarını görüyoruz. Soruda belirttiği üzere uzun kenar uzunluğu gibi ibareler söz konusu. Dikdörtgen bilgimiz gereği bu durumda a ve b nin eşit olması söz konusu değildir. </a:t>
            </a:r>
          </a:p>
        </p:txBody>
      </p:sp>
      <p:cxnSp>
        <p:nvCxnSpPr>
          <p:cNvPr id="100" name="Düz Bağlayıcı 99">
            <a:extLst>
              <a:ext uri="{FF2B5EF4-FFF2-40B4-BE49-F238E27FC236}">
                <a16:creationId xmlns:a16="http://schemas.microsoft.com/office/drawing/2014/main" id="{262CD1F1-34AC-4188-8243-892197A7AA4E}"/>
              </a:ext>
            </a:extLst>
          </p:cNvPr>
          <p:cNvCxnSpPr>
            <a:cxnSpLocks/>
          </p:cNvCxnSpPr>
          <p:nvPr/>
        </p:nvCxnSpPr>
        <p:spPr>
          <a:xfrm flipV="1">
            <a:off x="1268760" y="2312704"/>
            <a:ext cx="0" cy="30290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07" name="Düz Bağlayıcı 106">
            <a:extLst>
              <a:ext uri="{FF2B5EF4-FFF2-40B4-BE49-F238E27FC236}">
                <a16:creationId xmlns:a16="http://schemas.microsoft.com/office/drawing/2014/main" id="{9642F20F-6415-4B8A-AC6E-84B87CEF27E3}"/>
              </a:ext>
            </a:extLst>
          </p:cNvPr>
          <p:cNvCxnSpPr>
            <a:cxnSpLocks/>
          </p:cNvCxnSpPr>
          <p:nvPr/>
        </p:nvCxnSpPr>
        <p:spPr>
          <a:xfrm>
            <a:off x="986339" y="2309003"/>
            <a:ext cx="296416" cy="94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08" name="Metin kutusu 107">
            <a:extLst>
              <a:ext uri="{FF2B5EF4-FFF2-40B4-BE49-F238E27FC236}">
                <a16:creationId xmlns:a16="http://schemas.microsoft.com/office/drawing/2014/main" id="{8F241D59-4A27-4209-B42E-557AC5902880}"/>
              </a:ext>
            </a:extLst>
          </p:cNvPr>
          <p:cNvSpPr txBox="1"/>
          <p:nvPr/>
        </p:nvSpPr>
        <p:spPr>
          <a:xfrm>
            <a:off x="1133554" y="2571457"/>
            <a:ext cx="270412" cy="230832"/>
          </a:xfrm>
          <a:prstGeom prst="rect">
            <a:avLst/>
          </a:prstGeom>
          <a:noFill/>
        </p:spPr>
        <p:txBody>
          <a:bodyPr wrap="square">
            <a:spAutoFit/>
          </a:bodyPr>
          <a:lstStyle/>
          <a:p>
            <a:pPr algn="ctr"/>
            <a:r>
              <a:rPr lang="tr-TR" sz="900" noProof="1">
                <a:cs typeface="Arial" panose="020B0604020202020204" pitchFamily="34" charset="0"/>
              </a:rPr>
              <a:t>5</a:t>
            </a:r>
          </a:p>
        </p:txBody>
      </p:sp>
      <p:sp>
        <p:nvSpPr>
          <p:cNvPr id="111" name="Metin kutusu 110">
            <a:extLst>
              <a:ext uri="{FF2B5EF4-FFF2-40B4-BE49-F238E27FC236}">
                <a16:creationId xmlns:a16="http://schemas.microsoft.com/office/drawing/2014/main" id="{84FD9BC5-A87F-4D4E-9825-CC57E2E6E991}"/>
              </a:ext>
            </a:extLst>
          </p:cNvPr>
          <p:cNvSpPr txBox="1"/>
          <p:nvPr/>
        </p:nvSpPr>
        <p:spPr>
          <a:xfrm>
            <a:off x="781686" y="2195759"/>
            <a:ext cx="270412" cy="230832"/>
          </a:xfrm>
          <a:prstGeom prst="rect">
            <a:avLst/>
          </a:prstGeom>
          <a:noFill/>
        </p:spPr>
        <p:txBody>
          <a:bodyPr wrap="square">
            <a:spAutoFit/>
          </a:bodyPr>
          <a:lstStyle/>
          <a:p>
            <a:pPr algn="ctr"/>
            <a:r>
              <a:rPr lang="tr-TR" sz="900" noProof="1">
                <a:cs typeface="Arial" panose="020B0604020202020204" pitchFamily="34" charset="0"/>
              </a:rPr>
              <a:t>5</a:t>
            </a:r>
          </a:p>
        </p:txBody>
      </p:sp>
      <p:sp>
        <p:nvSpPr>
          <p:cNvPr id="114" name="Metin kutusu 113">
            <a:extLst>
              <a:ext uri="{FF2B5EF4-FFF2-40B4-BE49-F238E27FC236}">
                <a16:creationId xmlns:a16="http://schemas.microsoft.com/office/drawing/2014/main" id="{93DA34B9-DA31-43C3-A58F-326831C31647}"/>
              </a:ext>
            </a:extLst>
          </p:cNvPr>
          <p:cNvSpPr txBox="1"/>
          <p:nvPr/>
        </p:nvSpPr>
        <p:spPr>
          <a:xfrm>
            <a:off x="1166222" y="2136484"/>
            <a:ext cx="270412" cy="230832"/>
          </a:xfrm>
          <a:prstGeom prst="rect">
            <a:avLst/>
          </a:prstGeom>
          <a:noFill/>
        </p:spPr>
        <p:txBody>
          <a:bodyPr wrap="square">
            <a:spAutoFit/>
          </a:bodyPr>
          <a:lstStyle/>
          <a:p>
            <a:pPr algn="ctr"/>
            <a:r>
              <a:rPr lang="tr-TR" sz="900" b="1" noProof="1">
                <a:cs typeface="Arial" panose="020B0604020202020204" pitchFamily="34" charset="0"/>
              </a:rPr>
              <a:t>K</a:t>
            </a:r>
          </a:p>
        </p:txBody>
      </p:sp>
      <p:sp>
        <p:nvSpPr>
          <p:cNvPr id="116" name="Dikdörtgen: Köşeleri Yuvarlatılmış 115">
            <a:extLst>
              <a:ext uri="{FF2B5EF4-FFF2-40B4-BE49-F238E27FC236}">
                <a16:creationId xmlns:a16="http://schemas.microsoft.com/office/drawing/2014/main" id="{50DDD7B9-6347-4293-958B-83575791CEBB}"/>
              </a:ext>
            </a:extLst>
          </p:cNvPr>
          <p:cNvSpPr/>
          <p:nvPr/>
        </p:nvSpPr>
        <p:spPr>
          <a:xfrm>
            <a:off x="169380" y="6980633"/>
            <a:ext cx="3062947" cy="1658099"/>
          </a:xfrm>
          <a:prstGeom prst="roundRect">
            <a:avLst>
              <a:gd name="adj" fmla="val 3885"/>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endParaRPr lang="tr-TR" dirty="0"/>
          </a:p>
        </p:txBody>
      </p:sp>
      <p:sp>
        <p:nvSpPr>
          <p:cNvPr id="118" name="Metin kutusu 117">
            <a:extLst>
              <a:ext uri="{FF2B5EF4-FFF2-40B4-BE49-F238E27FC236}">
                <a16:creationId xmlns:a16="http://schemas.microsoft.com/office/drawing/2014/main" id="{BFEDE02C-E861-4B5B-8361-8B363B2F3BBC}"/>
              </a:ext>
            </a:extLst>
          </p:cNvPr>
          <p:cNvSpPr txBox="1"/>
          <p:nvPr/>
        </p:nvSpPr>
        <p:spPr>
          <a:xfrm>
            <a:off x="158720" y="7007516"/>
            <a:ext cx="3023264" cy="1631216"/>
          </a:xfrm>
          <a:prstGeom prst="rect">
            <a:avLst/>
          </a:prstGeom>
          <a:noFill/>
        </p:spPr>
        <p:txBody>
          <a:bodyPr wrap="square" rtlCol="0">
            <a:spAutoFit/>
          </a:bodyPr>
          <a:lstStyle/>
          <a:p>
            <a:pPr marL="171450" indent="-171450">
              <a:buFont typeface="Arial" panose="020B0604020202020204" pitchFamily="34" charset="0"/>
              <a:buChar char="•"/>
            </a:pPr>
            <a:r>
              <a:rPr lang="tr-TR" sz="1000" b="1" noProof="1">
                <a:cs typeface="Arial" panose="020B0604020202020204" pitchFamily="34" charset="0"/>
              </a:rPr>
              <a:t>İlk hatamızı bulduysan : </a:t>
            </a:r>
            <a:r>
              <a:rPr lang="tr-TR" sz="1000" noProof="1">
                <a:cs typeface="Arial" panose="020B0604020202020204" pitchFamily="34" charset="0"/>
              </a:rPr>
              <a:t>Verilerin mantığa uygun olup olmadığını iyi analiz eden birisin.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b="1" noProof="1">
                <a:cs typeface="Arial" panose="020B0604020202020204" pitchFamily="34" charset="0"/>
              </a:rPr>
              <a:t>İkinci hatamızı bulduysan </a:t>
            </a:r>
            <a:r>
              <a:rPr lang="tr-TR" sz="1000" noProof="1">
                <a:cs typeface="Arial" panose="020B0604020202020204" pitchFamily="34" charset="0"/>
              </a:rPr>
              <a:t>: İşini sağlama almayı seviyorsun, farklı bir dikkat mekanizman var.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b="1" noProof="1">
                <a:cs typeface="Arial" panose="020B0604020202020204" pitchFamily="34" charset="0"/>
              </a:rPr>
              <a:t>Üçüncü hatamızı bulduysan : </a:t>
            </a:r>
            <a:r>
              <a:rPr lang="tr-TR" sz="1000" noProof="1">
                <a:cs typeface="Arial" panose="020B0604020202020204" pitchFamily="34" charset="0"/>
              </a:rPr>
              <a:t>Aşırı dikkatlisin.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b="1" noProof="1">
                <a:cs typeface="Arial" panose="020B0604020202020204" pitchFamily="34" charset="0"/>
              </a:rPr>
              <a:t>Hiçbirini bulamadıysan : </a:t>
            </a:r>
            <a:r>
              <a:rPr lang="tr-TR" sz="1000" noProof="1">
                <a:cs typeface="Arial" panose="020B0604020202020204" pitchFamily="34" charset="0"/>
              </a:rPr>
              <a:t>Bu soru sayesinde çok şey öğrendiğine sevinebilirsin, birdaha kaçmaz </a:t>
            </a:r>
            <a:r>
              <a:rPr lang="tr-TR" sz="1000" noProof="1">
                <a:cs typeface="Arial" panose="020B0604020202020204" pitchFamily="34" charset="0"/>
                <a:sym typeface="Wingdings" panose="05000000000000000000" pitchFamily="2" charset="2"/>
              </a:rPr>
              <a:t></a:t>
            </a:r>
            <a:r>
              <a:rPr lang="tr-TR" sz="1000" noProof="1">
                <a:cs typeface="Arial" panose="020B0604020202020204" pitchFamily="34" charset="0"/>
              </a:rPr>
              <a:t> </a:t>
            </a:r>
          </a:p>
        </p:txBody>
      </p:sp>
      <p:cxnSp>
        <p:nvCxnSpPr>
          <p:cNvPr id="49" name="Düz Ok Bağlayıcısı 48">
            <a:extLst>
              <a:ext uri="{FF2B5EF4-FFF2-40B4-BE49-F238E27FC236}">
                <a16:creationId xmlns:a16="http://schemas.microsoft.com/office/drawing/2014/main" id="{B925A0FF-B68C-49E2-81F9-E9FDA81801F8}"/>
              </a:ext>
            </a:extLst>
          </p:cNvPr>
          <p:cNvCxnSpPr>
            <a:cxnSpLocks/>
          </p:cNvCxnSpPr>
          <p:nvPr/>
        </p:nvCxnSpPr>
        <p:spPr>
          <a:xfrm flipH="1" flipV="1">
            <a:off x="4357782" y="794942"/>
            <a:ext cx="3256" cy="1054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Düz Ok Bağlayıcısı 50">
            <a:extLst>
              <a:ext uri="{FF2B5EF4-FFF2-40B4-BE49-F238E27FC236}">
                <a16:creationId xmlns:a16="http://schemas.microsoft.com/office/drawing/2014/main" id="{901B1F1A-BA06-4C75-BFAB-8ABA0AAB23B5}"/>
              </a:ext>
            </a:extLst>
          </p:cNvPr>
          <p:cNvCxnSpPr>
            <a:cxnSpLocks/>
          </p:cNvCxnSpPr>
          <p:nvPr/>
        </p:nvCxnSpPr>
        <p:spPr>
          <a:xfrm>
            <a:off x="4158740" y="1720240"/>
            <a:ext cx="1328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Metin kutusu 51">
            <a:extLst>
              <a:ext uri="{FF2B5EF4-FFF2-40B4-BE49-F238E27FC236}">
                <a16:creationId xmlns:a16="http://schemas.microsoft.com/office/drawing/2014/main" id="{D4BAFBD7-B71A-447E-8582-43A56DD7176A}"/>
              </a:ext>
            </a:extLst>
          </p:cNvPr>
          <p:cNvSpPr txBox="1"/>
          <p:nvPr/>
        </p:nvSpPr>
        <p:spPr>
          <a:xfrm>
            <a:off x="4124186" y="860496"/>
            <a:ext cx="328813" cy="230832"/>
          </a:xfrm>
          <a:prstGeom prst="rect">
            <a:avLst/>
          </a:prstGeom>
          <a:noFill/>
        </p:spPr>
        <p:txBody>
          <a:bodyPr wrap="square">
            <a:spAutoFit/>
          </a:bodyPr>
          <a:lstStyle/>
          <a:p>
            <a:pPr algn="ctr"/>
            <a:r>
              <a:rPr lang="tr-TR" sz="900" noProof="1">
                <a:cs typeface="Arial" panose="020B0604020202020204" pitchFamily="34" charset="0"/>
              </a:rPr>
              <a:t>10</a:t>
            </a:r>
          </a:p>
        </p:txBody>
      </p:sp>
      <p:cxnSp>
        <p:nvCxnSpPr>
          <p:cNvPr id="53" name="Düz Bağlayıcı 52">
            <a:extLst>
              <a:ext uri="{FF2B5EF4-FFF2-40B4-BE49-F238E27FC236}">
                <a16:creationId xmlns:a16="http://schemas.microsoft.com/office/drawing/2014/main" id="{6A47F156-7CCF-42F2-83E5-99F6E9482417}"/>
              </a:ext>
            </a:extLst>
          </p:cNvPr>
          <p:cNvCxnSpPr>
            <a:cxnSpLocks/>
          </p:cNvCxnSpPr>
          <p:nvPr/>
        </p:nvCxnSpPr>
        <p:spPr>
          <a:xfrm>
            <a:off x="4362844" y="1066004"/>
            <a:ext cx="628947" cy="65423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54" name="Metin kutusu 53">
            <a:extLst>
              <a:ext uri="{FF2B5EF4-FFF2-40B4-BE49-F238E27FC236}">
                <a16:creationId xmlns:a16="http://schemas.microsoft.com/office/drawing/2014/main" id="{68976E08-767B-45FF-BD5C-EE13B9447786}"/>
              </a:ext>
            </a:extLst>
          </p:cNvPr>
          <p:cNvSpPr txBox="1"/>
          <p:nvPr/>
        </p:nvSpPr>
        <p:spPr>
          <a:xfrm>
            <a:off x="4329314" y="725157"/>
            <a:ext cx="1079257" cy="230832"/>
          </a:xfrm>
          <a:prstGeom prst="rect">
            <a:avLst/>
          </a:prstGeom>
          <a:noFill/>
        </p:spPr>
        <p:txBody>
          <a:bodyPr wrap="square">
            <a:spAutoFit/>
          </a:bodyPr>
          <a:lstStyle/>
          <a:p>
            <a:r>
              <a:rPr lang="tr-TR" sz="900" noProof="1">
                <a:cs typeface="Arial" panose="020B0604020202020204" pitchFamily="34" charset="0"/>
              </a:rPr>
              <a:t>a için uzunluk (cm)</a:t>
            </a:r>
          </a:p>
        </p:txBody>
      </p:sp>
      <p:sp>
        <p:nvSpPr>
          <p:cNvPr id="55" name="Metin kutusu 54">
            <a:extLst>
              <a:ext uri="{FF2B5EF4-FFF2-40B4-BE49-F238E27FC236}">
                <a16:creationId xmlns:a16="http://schemas.microsoft.com/office/drawing/2014/main" id="{A0864FA2-E6B6-4407-BA3E-D18791BCF926}"/>
              </a:ext>
            </a:extLst>
          </p:cNvPr>
          <p:cNvSpPr txBox="1"/>
          <p:nvPr/>
        </p:nvSpPr>
        <p:spPr>
          <a:xfrm>
            <a:off x="5387709" y="1599412"/>
            <a:ext cx="1175805" cy="230832"/>
          </a:xfrm>
          <a:prstGeom prst="rect">
            <a:avLst/>
          </a:prstGeom>
          <a:noFill/>
        </p:spPr>
        <p:txBody>
          <a:bodyPr wrap="square">
            <a:spAutoFit/>
          </a:bodyPr>
          <a:lstStyle/>
          <a:p>
            <a:pPr algn="ctr"/>
            <a:r>
              <a:rPr lang="tr-TR" sz="900" noProof="1">
                <a:cs typeface="Arial" panose="020B0604020202020204" pitchFamily="34" charset="0"/>
              </a:rPr>
              <a:t>b için uzunluk (cm)</a:t>
            </a:r>
          </a:p>
        </p:txBody>
      </p:sp>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6D081F45-06DE-42FA-BFCC-964420D25371}"/>
                  </a:ext>
                </a:extLst>
              </p:cNvPr>
              <p:cNvSpPr txBox="1"/>
              <p:nvPr/>
            </p:nvSpPr>
            <p:spPr>
              <a:xfrm>
                <a:off x="5569991" y="830840"/>
                <a:ext cx="1210364" cy="40011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1000" dirty="0"/>
                  <a:t>a ve b </a:t>
                </a:r>
                <a14:m>
                  <m:oMath xmlns:m="http://schemas.openxmlformats.org/officeDocument/2006/math">
                    <m:r>
                      <a:rPr lang="tr-TR" sz="1000" i="1" smtClean="0">
                        <a:latin typeface="Cambria Math" panose="02040503050406030204" pitchFamily="18" charset="0"/>
                        <a:ea typeface="Cambria Math" panose="02040503050406030204" pitchFamily="18" charset="0"/>
                      </a:rPr>
                      <m:t>∈</m:t>
                    </m:r>
                  </m:oMath>
                </a14:m>
                <a:r>
                  <a:rPr lang="tr-TR" sz="1000" dirty="0"/>
                  <a:t> 10`dan küçük </a:t>
                </a:r>
                <a14:m>
                  <m:oMath xmlns:m="http://schemas.openxmlformats.org/officeDocument/2006/math">
                    <m:r>
                      <a:rPr lang="tr-TR" sz="1000" i="1" dirty="0" smtClean="0">
                        <a:latin typeface="Cambria Math" panose="02040503050406030204" pitchFamily="18" charset="0"/>
                      </a:rPr>
                      <m:t>ℝ</m:t>
                    </m:r>
                  </m:oMath>
                </a14:m>
                <a:r>
                  <a:rPr lang="tr-TR" sz="1000" dirty="0"/>
                  <a:t> sayılardır.</a:t>
                </a:r>
              </a:p>
            </p:txBody>
          </p:sp>
        </mc:Choice>
        <mc:Fallback xmlns="">
          <p:sp>
            <p:nvSpPr>
              <p:cNvPr id="57" name="Metin kutusu 56">
                <a:extLst>
                  <a:ext uri="{FF2B5EF4-FFF2-40B4-BE49-F238E27FC236}">
                    <a16:creationId xmlns:a16="http://schemas.microsoft.com/office/drawing/2014/main" id="{6D081F45-06DE-42FA-BFCC-964420D25371}"/>
                  </a:ext>
                </a:extLst>
              </p:cNvPr>
              <p:cNvSpPr txBox="1">
                <a:spLocks noRot="1" noChangeAspect="1" noMove="1" noResize="1" noEditPoints="1" noAdjustHandles="1" noChangeArrowheads="1" noChangeShapeType="1" noTextEdit="1"/>
              </p:cNvSpPr>
              <p:nvPr/>
            </p:nvSpPr>
            <p:spPr>
              <a:xfrm>
                <a:off x="5569991" y="830840"/>
                <a:ext cx="1210364" cy="400110"/>
              </a:xfrm>
              <a:prstGeom prst="rect">
                <a:avLst/>
              </a:prstGeom>
              <a:blipFill>
                <a:blip r:embed="rId9"/>
                <a:stretch>
                  <a:fillRect b="-7353"/>
                </a:stretch>
              </a:blipFill>
              <a:ln w="9525" cap="flat" cmpd="sng" algn="ctr">
                <a:solidFill>
                  <a:schemeClr val="dk1"/>
                </a:solidFill>
                <a:prstDash val="solid"/>
                <a:round/>
                <a:headEnd type="none" w="med" len="med"/>
                <a:tailEnd type="none" w="med" len="med"/>
              </a:ln>
            </p:spPr>
            <p:txBody>
              <a:bodyPr/>
              <a:lstStyle/>
              <a:p>
                <a:r>
                  <a:rPr lang="tr-TR">
                    <a:noFill/>
                  </a:rPr>
                  <a:t> </a:t>
                </a:r>
              </a:p>
            </p:txBody>
          </p:sp>
        </mc:Fallback>
      </mc:AlternateContent>
      <p:sp>
        <p:nvSpPr>
          <p:cNvPr id="58" name="Metin kutusu 57">
            <a:extLst>
              <a:ext uri="{FF2B5EF4-FFF2-40B4-BE49-F238E27FC236}">
                <a16:creationId xmlns:a16="http://schemas.microsoft.com/office/drawing/2014/main" id="{31465A7E-CFCB-4B71-95D1-4805C1DAD19A}"/>
              </a:ext>
            </a:extLst>
          </p:cNvPr>
          <p:cNvSpPr txBox="1"/>
          <p:nvPr/>
        </p:nvSpPr>
        <p:spPr>
          <a:xfrm>
            <a:off x="4158740" y="1299021"/>
            <a:ext cx="270412" cy="230832"/>
          </a:xfrm>
          <a:prstGeom prst="rect">
            <a:avLst/>
          </a:prstGeom>
          <a:noFill/>
        </p:spPr>
        <p:txBody>
          <a:bodyPr wrap="square">
            <a:spAutoFit/>
          </a:bodyPr>
          <a:lstStyle/>
          <a:p>
            <a:pPr algn="ctr"/>
            <a:r>
              <a:rPr lang="tr-TR" sz="900" noProof="1">
                <a:cs typeface="Arial" panose="020B0604020202020204" pitchFamily="34" charset="0"/>
              </a:rPr>
              <a:t>5</a:t>
            </a:r>
          </a:p>
        </p:txBody>
      </p:sp>
      <p:cxnSp>
        <p:nvCxnSpPr>
          <p:cNvPr id="65" name="Düz Bağlayıcı 64">
            <a:extLst>
              <a:ext uri="{FF2B5EF4-FFF2-40B4-BE49-F238E27FC236}">
                <a16:creationId xmlns:a16="http://schemas.microsoft.com/office/drawing/2014/main" id="{EC3A7F34-38D3-422F-A19E-9F8D3F70E309}"/>
              </a:ext>
            </a:extLst>
          </p:cNvPr>
          <p:cNvCxnSpPr>
            <a:cxnSpLocks/>
          </p:cNvCxnSpPr>
          <p:nvPr/>
        </p:nvCxnSpPr>
        <p:spPr>
          <a:xfrm flipV="1">
            <a:off x="4645022" y="1426207"/>
            <a:ext cx="0" cy="30290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6" name="Düz Bağlayıcı 65">
            <a:extLst>
              <a:ext uri="{FF2B5EF4-FFF2-40B4-BE49-F238E27FC236}">
                <a16:creationId xmlns:a16="http://schemas.microsoft.com/office/drawing/2014/main" id="{2A890F7B-31D7-4717-882B-4BDA4C737730}"/>
              </a:ext>
            </a:extLst>
          </p:cNvPr>
          <p:cNvCxnSpPr>
            <a:cxnSpLocks/>
          </p:cNvCxnSpPr>
          <p:nvPr/>
        </p:nvCxnSpPr>
        <p:spPr>
          <a:xfrm>
            <a:off x="4362601" y="1422506"/>
            <a:ext cx="296416" cy="94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7" name="Metin kutusu 66">
            <a:extLst>
              <a:ext uri="{FF2B5EF4-FFF2-40B4-BE49-F238E27FC236}">
                <a16:creationId xmlns:a16="http://schemas.microsoft.com/office/drawing/2014/main" id="{ADEBA59C-D2CB-4B11-8C29-8D919E56DF72}"/>
              </a:ext>
            </a:extLst>
          </p:cNvPr>
          <p:cNvSpPr txBox="1"/>
          <p:nvPr/>
        </p:nvSpPr>
        <p:spPr>
          <a:xfrm>
            <a:off x="4509816" y="1684960"/>
            <a:ext cx="270412" cy="230832"/>
          </a:xfrm>
          <a:prstGeom prst="rect">
            <a:avLst/>
          </a:prstGeom>
          <a:noFill/>
        </p:spPr>
        <p:txBody>
          <a:bodyPr wrap="square">
            <a:spAutoFit/>
          </a:bodyPr>
          <a:lstStyle/>
          <a:p>
            <a:pPr algn="ctr"/>
            <a:r>
              <a:rPr lang="tr-TR" sz="900" noProof="1">
                <a:cs typeface="Arial" panose="020B0604020202020204" pitchFamily="34" charset="0"/>
              </a:rPr>
              <a:t>5</a:t>
            </a:r>
          </a:p>
        </p:txBody>
      </p:sp>
      <p:sp>
        <p:nvSpPr>
          <p:cNvPr id="68" name="Metin kutusu 67">
            <a:extLst>
              <a:ext uri="{FF2B5EF4-FFF2-40B4-BE49-F238E27FC236}">
                <a16:creationId xmlns:a16="http://schemas.microsoft.com/office/drawing/2014/main" id="{6C00CF30-E6BE-4492-BCF1-D6B0E1F1070C}"/>
              </a:ext>
            </a:extLst>
          </p:cNvPr>
          <p:cNvSpPr txBox="1"/>
          <p:nvPr/>
        </p:nvSpPr>
        <p:spPr>
          <a:xfrm>
            <a:off x="4608903" y="1201749"/>
            <a:ext cx="270412" cy="230832"/>
          </a:xfrm>
          <a:prstGeom prst="rect">
            <a:avLst/>
          </a:prstGeom>
          <a:noFill/>
        </p:spPr>
        <p:txBody>
          <a:bodyPr wrap="square">
            <a:spAutoFit/>
          </a:bodyPr>
          <a:lstStyle/>
          <a:p>
            <a:pPr algn="ctr"/>
            <a:r>
              <a:rPr lang="tr-TR" sz="900" b="1" noProof="1">
                <a:cs typeface="Arial" panose="020B0604020202020204" pitchFamily="34" charset="0"/>
              </a:rPr>
              <a:t>K</a:t>
            </a:r>
          </a:p>
        </p:txBody>
      </p:sp>
      <p:sp>
        <p:nvSpPr>
          <p:cNvPr id="3" name="Oval 2">
            <a:extLst>
              <a:ext uri="{FF2B5EF4-FFF2-40B4-BE49-F238E27FC236}">
                <a16:creationId xmlns:a16="http://schemas.microsoft.com/office/drawing/2014/main" id="{540A4C8F-E974-44E0-8979-3983B8D3B8BD}"/>
              </a:ext>
            </a:extLst>
          </p:cNvPr>
          <p:cNvSpPr/>
          <p:nvPr/>
        </p:nvSpPr>
        <p:spPr>
          <a:xfrm>
            <a:off x="4614846" y="1363251"/>
            <a:ext cx="88330" cy="86954"/>
          </a:xfrm>
          <a:prstGeom prst="ellipse">
            <a:avLst/>
          </a:prstGeom>
          <a:solidFill>
            <a:schemeClr val="bg1"/>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9" name="Metin kutusu 68">
            <a:extLst>
              <a:ext uri="{FF2B5EF4-FFF2-40B4-BE49-F238E27FC236}">
                <a16:creationId xmlns:a16="http://schemas.microsoft.com/office/drawing/2014/main" id="{543BDFD6-5E9B-47B4-A589-FD0D2B969BFB}"/>
              </a:ext>
            </a:extLst>
          </p:cNvPr>
          <p:cNvSpPr txBox="1"/>
          <p:nvPr/>
        </p:nvSpPr>
        <p:spPr>
          <a:xfrm>
            <a:off x="4920542" y="1651058"/>
            <a:ext cx="339329" cy="230832"/>
          </a:xfrm>
          <a:prstGeom prst="rect">
            <a:avLst/>
          </a:prstGeom>
          <a:noFill/>
        </p:spPr>
        <p:txBody>
          <a:bodyPr wrap="square">
            <a:spAutoFit/>
          </a:bodyPr>
          <a:lstStyle/>
          <a:p>
            <a:pPr algn="ctr"/>
            <a:r>
              <a:rPr lang="tr-TR" sz="900" noProof="1">
                <a:cs typeface="Arial" panose="020B0604020202020204" pitchFamily="34" charset="0"/>
              </a:rPr>
              <a:t>10</a:t>
            </a:r>
          </a:p>
        </p:txBody>
      </p:sp>
      <p:sp>
        <p:nvSpPr>
          <p:cNvPr id="80" name="Metin kutusu 79">
            <a:extLst>
              <a:ext uri="{FF2B5EF4-FFF2-40B4-BE49-F238E27FC236}">
                <a16:creationId xmlns:a16="http://schemas.microsoft.com/office/drawing/2014/main" id="{657B5BF4-C91F-48F4-998B-4DCA81E21672}"/>
              </a:ext>
            </a:extLst>
          </p:cNvPr>
          <p:cNvSpPr txBox="1"/>
          <p:nvPr/>
        </p:nvSpPr>
        <p:spPr>
          <a:xfrm>
            <a:off x="3508062" y="1862270"/>
            <a:ext cx="3360912" cy="3785652"/>
          </a:xfrm>
          <a:prstGeom prst="rect">
            <a:avLst/>
          </a:prstGeom>
          <a:noFill/>
        </p:spPr>
        <p:txBody>
          <a:bodyPr wrap="square">
            <a:spAutoFit/>
          </a:bodyPr>
          <a:lstStyle/>
          <a:p>
            <a:r>
              <a:rPr lang="tr-TR" sz="1000" b="1" noProof="1">
                <a:cs typeface="Arial" panose="020B0604020202020204" pitchFamily="34" charset="0"/>
              </a:rPr>
              <a:t>Hata olarak söylemediğimiz bir kısımda grafiğin kırmızı çubuğu negatif değer alan bölgelerde yer almamalıdır. </a:t>
            </a:r>
          </a:p>
          <a:p>
            <a:endParaRPr lang="tr-TR" sz="1000" noProof="1">
              <a:cs typeface="Arial" panose="020B0604020202020204" pitchFamily="34" charset="0"/>
            </a:endParaRPr>
          </a:p>
          <a:p>
            <a:r>
              <a:rPr lang="tr-TR" sz="1000" noProof="1">
                <a:cs typeface="Arial" panose="020B0604020202020204" pitchFamily="34" charset="0"/>
              </a:rPr>
              <a:t>Bu grafikten birkaç yorum yapmamız gerekirse ; </a:t>
            </a:r>
          </a:p>
          <a:p>
            <a:endParaRPr lang="tr-TR" sz="1000" noProof="1">
              <a:cs typeface="Arial" panose="020B0604020202020204" pitchFamily="34" charset="0"/>
            </a:endParaRPr>
          </a:p>
          <a:p>
            <a:r>
              <a:rPr lang="tr-TR" sz="1000" b="1" noProof="1">
                <a:cs typeface="Arial" panose="020B0604020202020204" pitchFamily="34" charset="0"/>
              </a:rPr>
              <a:t>1. </a:t>
            </a:r>
            <a:r>
              <a:rPr lang="tr-TR" sz="1000" noProof="1">
                <a:cs typeface="Arial" panose="020B0604020202020204" pitchFamily="34" charset="0"/>
              </a:rPr>
              <a:t>M noktasını baz aldığımızda a için uzunluğun 5`den daha küçük, b için uzunluğun 5`den büyük olduğunu görüyoruz. </a:t>
            </a:r>
          </a:p>
          <a:p>
            <a:pPr marL="228600" indent="-228600">
              <a:buAutoNum type="arabicPeriod"/>
            </a:pPr>
            <a:endParaRPr lang="tr-TR" sz="1000" noProof="1">
              <a:cs typeface="Arial" panose="020B0604020202020204" pitchFamily="34" charset="0"/>
            </a:endParaRPr>
          </a:p>
          <a:p>
            <a:r>
              <a:rPr lang="tr-TR" sz="1000" b="1" noProof="1">
                <a:cs typeface="Arial" panose="020B0604020202020204" pitchFamily="34" charset="0"/>
              </a:rPr>
              <a:t>2. </a:t>
            </a:r>
            <a:r>
              <a:rPr lang="tr-TR" sz="1000" noProof="1">
                <a:cs typeface="Arial" panose="020B0604020202020204" pitchFamily="34" charset="0"/>
              </a:rPr>
              <a:t>L noktasını baz aldığımızda a için uzunluğun 5`den daha büyük, b için uzunluğun 5`den küçük olduğunu görüyoruz. </a:t>
            </a:r>
          </a:p>
          <a:p>
            <a:pPr marL="228600" indent="-228600">
              <a:buFontTx/>
              <a:buAutoNum type="arabicPeriod"/>
            </a:pPr>
            <a:endParaRPr lang="tr-TR" sz="1000" noProof="1">
              <a:cs typeface="Arial" panose="020B0604020202020204" pitchFamily="34" charset="0"/>
            </a:endParaRPr>
          </a:p>
          <a:p>
            <a:r>
              <a:rPr lang="tr-TR" sz="1000" b="1" noProof="1">
                <a:cs typeface="Arial" panose="020B0604020202020204" pitchFamily="34" charset="0"/>
              </a:rPr>
              <a:t>3. </a:t>
            </a:r>
            <a:r>
              <a:rPr lang="tr-TR" sz="1000" noProof="1">
                <a:cs typeface="Arial" panose="020B0604020202020204" pitchFamily="34" charset="0"/>
              </a:rPr>
              <a:t>K noktasına baktığımızda grafiğin boş olduğunu orda kırmızı çizginin devam etmediğini görüyoruz. Normalde fonksiyon grafiklerinde bu tarz şekilleri daha çok görürüz. Fonksiyonun orada tanımsız olduğu anlamına gelir. Bu grafikte ise de benzer anlamda ikisinin tam 5 değerini aldığı kısımda tanımsız olduklarını simgelendiriyoruz. Çünkü hata olarak açıkladığımız üzere uzun ve kısa kenar dediği için eşitliği kabul edemeyiz.</a:t>
            </a:r>
          </a:p>
          <a:p>
            <a:pPr marL="228600" indent="-228600">
              <a:buFontTx/>
              <a:buAutoNum type="arabicPeriod"/>
            </a:pPr>
            <a:endParaRPr lang="tr-TR" sz="1000" noProof="1">
              <a:cs typeface="Arial" panose="020B0604020202020204" pitchFamily="34" charset="0"/>
            </a:endParaRPr>
          </a:p>
          <a:p>
            <a:r>
              <a:rPr lang="tr-TR" sz="1000" b="1" noProof="1">
                <a:cs typeface="Arial" panose="020B0604020202020204" pitchFamily="34" charset="0"/>
              </a:rPr>
              <a:t> 4. </a:t>
            </a:r>
            <a:r>
              <a:rPr lang="tr-TR" sz="1000" noProof="1">
                <a:cs typeface="Arial" panose="020B0604020202020204" pitchFamily="34" charset="0"/>
              </a:rPr>
              <a:t>a ve b için 10 dan küçük değerde kırmızı çizginin sonlandığını görebilmekteyiz. İnsanlık hali başka bir hata bu grafik çizerken göremedik. Varsa bildirebilirsiniz.</a:t>
            </a:r>
          </a:p>
          <a:p>
            <a:pPr marL="228600" indent="-228600">
              <a:buAutoNum type="arabicPeriod"/>
            </a:pPr>
            <a:endParaRPr lang="tr-TR" sz="1000" noProof="1">
              <a:cs typeface="Arial" panose="020B0604020202020204" pitchFamily="34" charset="0"/>
            </a:endParaRPr>
          </a:p>
        </p:txBody>
      </p:sp>
      <p:sp>
        <p:nvSpPr>
          <p:cNvPr id="81" name="Metin kutusu 80">
            <a:extLst>
              <a:ext uri="{FF2B5EF4-FFF2-40B4-BE49-F238E27FC236}">
                <a16:creationId xmlns:a16="http://schemas.microsoft.com/office/drawing/2014/main" id="{02245BE6-63B7-413D-AEB7-F418DB068FC9}"/>
              </a:ext>
            </a:extLst>
          </p:cNvPr>
          <p:cNvSpPr txBox="1"/>
          <p:nvPr/>
        </p:nvSpPr>
        <p:spPr>
          <a:xfrm>
            <a:off x="4785336" y="1390693"/>
            <a:ext cx="270412" cy="230832"/>
          </a:xfrm>
          <a:prstGeom prst="rect">
            <a:avLst/>
          </a:prstGeom>
          <a:noFill/>
        </p:spPr>
        <p:txBody>
          <a:bodyPr wrap="square">
            <a:spAutoFit/>
          </a:bodyPr>
          <a:lstStyle/>
          <a:p>
            <a:pPr algn="ctr"/>
            <a:r>
              <a:rPr lang="tr-TR" sz="900" b="1" noProof="1">
                <a:cs typeface="Arial" panose="020B0604020202020204" pitchFamily="34" charset="0"/>
              </a:rPr>
              <a:t>M</a:t>
            </a:r>
          </a:p>
        </p:txBody>
      </p:sp>
      <p:sp>
        <p:nvSpPr>
          <p:cNvPr id="83" name="Metin kutusu 82">
            <a:extLst>
              <a:ext uri="{FF2B5EF4-FFF2-40B4-BE49-F238E27FC236}">
                <a16:creationId xmlns:a16="http://schemas.microsoft.com/office/drawing/2014/main" id="{8A0FCAA2-5604-4E08-961E-E51030C74746}"/>
              </a:ext>
            </a:extLst>
          </p:cNvPr>
          <p:cNvSpPr txBox="1"/>
          <p:nvPr/>
        </p:nvSpPr>
        <p:spPr>
          <a:xfrm>
            <a:off x="4399253" y="1020373"/>
            <a:ext cx="270412" cy="230832"/>
          </a:xfrm>
          <a:prstGeom prst="rect">
            <a:avLst/>
          </a:prstGeom>
          <a:noFill/>
        </p:spPr>
        <p:txBody>
          <a:bodyPr wrap="square">
            <a:spAutoFit/>
          </a:bodyPr>
          <a:lstStyle/>
          <a:p>
            <a:pPr algn="ctr"/>
            <a:r>
              <a:rPr lang="tr-TR" sz="900" b="1" noProof="1">
                <a:cs typeface="Arial" panose="020B0604020202020204" pitchFamily="34" charset="0"/>
              </a:rPr>
              <a:t>L</a:t>
            </a:r>
          </a:p>
        </p:txBody>
      </p:sp>
      <p:sp>
        <p:nvSpPr>
          <p:cNvPr id="30" name="Kaydırma: Yatay 29">
            <a:extLst>
              <a:ext uri="{FF2B5EF4-FFF2-40B4-BE49-F238E27FC236}">
                <a16:creationId xmlns:a16="http://schemas.microsoft.com/office/drawing/2014/main" id="{4E4CA09E-A18E-4459-A28B-F8D9D2ADCBFF}"/>
              </a:ext>
            </a:extLst>
          </p:cNvPr>
          <p:cNvSpPr/>
          <p:nvPr/>
        </p:nvSpPr>
        <p:spPr>
          <a:xfrm>
            <a:off x="3620031" y="5422584"/>
            <a:ext cx="3136845" cy="734734"/>
          </a:xfrm>
          <a:prstGeom prst="horizontalScroll">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Doğrusal Grafiklerde</a:t>
            </a:r>
            <a:br>
              <a:rPr lang="tr-TR" sz="1500" dirty="0">
                <a:solidFill>
                  <a:schemeClr val="tx1"/>
                </a:solidFill>
              </a:rPr>
            </a:br>
            <a:r>
              <a:rPr lang="tr-TR" sz="1500" dirty="0">
                <a:solidFill>
                  <a:schemeClr val="tx1"/>
                </a:solidFill>
              </a:rPr>
              <a:t> Dikkat Edilecekler </a:t>
            </a:r>
          </a:p>
        </p:txBody>
      </p:sp>
      <p:sp>
        <p:nvSpPr>
          <p:cNvPr id="84" name="Dikdörtgen: Köşeleri Yuvarlatılmış 83">
            <a:extLst>
              <a:ext uri="{FF2B5EF4-FFF2-40B4-BE49-F238E27FC236}">
                <a16:creationId xmlns:a16="http://schemas.microsoft.com/office/drawing/2014/main" id="{04874C15-71E9-48C9-B48F-145B490A77D9}"/>
              </a:ext>
            </a:extLst>
          </p:cNvPr>
          <p:cNvSpPr/>
          <p:nvPr/>
        </p:nvSpPr>
        <p:spPr>
          <a:xfrm>
            <a:off x="3609117" y="6230828"/>
            <a:ext cx="3171238" cy="2407904"/>
          </a:xfrm>
          <a:prstGeom prst="roundRect">
            <a:avLst>
              <a:gd name="adj" fmla="val 3885"/>
            </a:avLst>
          </a:prstGeom>
          <a:ln w="9525">
            <a:solidFill>
              <a:srgbClr val="66CCFF"/>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tr-TR" dirty="0"/>
          </a:p>
        </p:txBody>
      </p:sp>
      <p:sp>
        <p:nvSpPr>
          <p:cNvPr id="85" name="Metin kutusu 84">
            <a:extLst>
              <a:ext uri="{FF2B5EF4-FFF2-40B4-BE49-F238E27FC236}">
                <a16:creationId xmlns:a16="http://schemas.microsoft.com/office/drawing/2014/main" id="{262620E8-A261-4D21-A27A-964B1904D31C}"/>
              </a:ext>
            </a:extLst>
          </p:cNvPr>
          <p:cNvSpPr txBox="1"/>
          <p:nvPr/>
        </p:nvSpPr>
        <p:spPr>
          <a:xfrm>
            <a:off x="3620031" y="6254209"/>
            <a:ext cx="3160324" cy="2400657"/>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Grafiğin tamamını yorumlamak zorunda değilsiniz, sorudan sizden istediğini vermeniz yeterlidir.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Yorum kısmını ezbere bırakmayın, belirttiğimiz üzere daima geçerli bir yorum sunamıyoruz.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İncelediğiniz kısımlarda mutlaka eksenlerin ne ifade ettiğine bakarak araştırdığınız veriyi ifade eden eksen üzerinden yorum yapın. </a:t>
            </a:r>
          </a:p>
          <a:p>
            <a:pPr marL="171450" indent="-171450">
              <a:buFont typeface="Arial" panose="020B0604020202020204" pitchFamily="34" charset="0"/>
              <a:buChar char="•"/>
            </a:pPr>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Bir çok kez söyledik ki ; bir veriyi sadece bir eksenden elde edebilirsiniz, satış – kar gibi grafiklerde ise harmanlanarak daha iddialı veriler elde etmeniz istenebilir, grafiğin eğimi gibi unsurlara da dikkat etmelisiniz. </a:t>
            </a:r>
          </a:p>
        </p:txBody>
      </p:sp>
    </p:spTree>
    <p:extLst>
      <p:ext uri="{BB962C8B-B14F-4D97-AF65-F5344CB8AC3E}">
        <p14:creationId xmlns:p14="http://schemas.microsoft.com/office/powerpoint/2010/main" val="27419148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06697" y="5011245"/>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6" name="Ok: Beşgen 55">
            <a:extLst>
              <a:ext uri="{FF2B5EF4-FFF2-40B4-BE49-F238E27FC236}">
                <a16:creationId xmlns:a16="http://schemas.microsoft.com/office/drawing/2014/main" id="{D327283C-46A4-4C86-A990-995946C89AA1}"/>
              </a:ext>
            </a:extLst>
          </p:cNvPr>
          <p:cNvSpPr/>
          <p:nvPr/>
        </p:nvSpPr>
        <p:spPr>
          <a:xfrm>
            <a:off x="3682189" y="5011245"/>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57" name="Düz Ok Bağlayıcısı 56">
            <a:extLst>
              <a:ext uri="{FF2B5EF4-FFF2-40B4-BE49-F238E27FC236}">
                <a16:creationId xmlns:a16="http://schemas.microsoft.com/office/drawing/2014/main" id="{D1D166DA-C5D9-4988-9E3C-EE498C487B8B}"/>
              </a:ext>
            </a:extLst>
          </p:cNvPr>
          <p:cNvCxnSpPr>
            <a:cxnSpLocks/>
          </p:cNvCxnSpPr>
          <p:nvPr/>
        </p:nvCxnSpPr>
        <p:spPr>
          <a:xfrm flipH="1" flipV="1">
            <a:off x="305739" y="915657"/>
            <a:ext cx="3256" cy="1054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Düz Ok Bağlayıcısı 57">
            <a:extLst>
              <a:ext uri="{FF2B5EF4-FFF2-40B4-BE49-F238E27FC236}">
                <a16:creationId xmlns:a16="http://schemas.microsoft.com/office/drawing/2014/main" id="{6482F03C-1927-45CC-AD9F-AEA4DD7F2DC2}"/>
              </a:ext>
            </a:extLst>
          </p:cNvPr>
          <p:cNvCxnSpPr>
            <a:cxnSpLocks/>
          </p:cNvCxnSpPr>
          <p:nvPr/>
        </p:nvCxnSpPr>
        <p:spPr>
          <a:xfrm>
            <a:off x="106697" y="1840955"/>
            <a:ext cx="1328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Metin kutusu 59">
            <a:extLst>
              <a:ext uri="{FF2B5EF4-FFF2-40B4-BE49-F238E27FC236}">
                <a16:creationId xmlns:a16="http://schemas.microsoft.com/office/drawing/2014/main" id="{3C5FA8CB-2ABC-49E9-A720-C9C0F40BE8A4}"/>
              </a:ext>
            </a:extLst>
          </p:cNvPr>
          <p:cNvSpPr txBox="1"/>
          <p:nvPr/>
        </p:nvSpPr>
        <p:spPr>
          <a:xfrm>
            <a:off x="277271" y="845872"/>
            <a:ext cx="1079257" cy="230832"/>
          </a:xfrm>
          <a:prstGeom prst="rect">
            <a:avLst/>
          </a:prstGeom>
          <a:noFill/>
        </p:spPr>
        <p:txBody>
          <a:bodyPr wrap="square">
            <a:spAutoFit/>
          </a:bodyPr>
          <a:lstStyle/>
          <a:p>
            <a:r>
              <a:rPr lang="tr-TR" sz="900" noProof="1">
                <a:cs typeface="Arial" panose="020B0604020202020204" pitchFamily="34" charset="0"/>
              </a:rPr>
              <a:t>Patates Fiyatı (kg)</a:t>
            </a:r>
          </a:p>
        </p:txBody>
      </p:sp>
      <p:sp>
        <p:nvSpPr>
          <p:cNvPr id="62" name="Metin kutusu 61">
            <a:extLst>
              <a:ext uri="{FF2B5EF4-FFF2-40B4-BE49-F238E27FC236}">
                <a16:creationId xmlns:a16="http://schemas.microsoft.com/office/drawing/2014/main" id="{AA8AB025-76B0-441C-9FB7-4400859EC09D}"/>
              </a:ext>
            </a:extLst>
          </p:cNvPr>
          <p:cNvSpPr txBox="1"/>
          <p:nvPr/>
        </p:nvSpPr>
        <p:spPr>
          <a:xfrm>
            <a:off x="1372095" y="1726240"/>
            <a:ext cx="1175805" cy="230832"/>
          </a:xfrm>
          <a:prstGeom prst="rect">
            <a:avLst/>
          </a:prstGeom>
          <a:noFill/>
        </p:spPr>
        <p:txBody>
          <a:bodyPr wrap="square">
            <a:spAutoFit/>
          </a:bodyPr>
          <a:lstStyle/>
          <a:p>
            <a:pPr algn="ctr"/>
            <a:r>
              <a:rPr lang="tr-TR" sz="900" noProof="1">
                <a:cs typeface="Arial" panose="020B0604020202020204" pitchFamily="34" charset="0"/>
              </a:rPr>
              <a:t>Domates Fiyatı (2 kg)</a:t>
            </a:r>
          </a:p>
        </p:txBody>
      </p:sp>
      <p:cxnSp>
        <p:nvCxnSpPr>
          <p:cNvPr id="6" name="Düz Bağlayıcı 5">
            <a:extLst>
              <a:ext uri="{FF2B5EF4-FFF2-40B4-BE49-F238E27FC236}">
                <a16:creationId xmlns:a16="http://schemas.microsoft.com/office/drawing/2014/main" id="{714BBA3A-8E15-496F-A6DF-F181D39E71D2}"/>
              </a:ext>
            </a:extLst>
          </p:cNvPr>
          <p:cNvCxnSpPr>
            <a:cxnSpLocks/>
          </p:cNvCxnSpPr>
          <p:nvPr/>
        </p:nvCxnSpPr>
        <p:spPr>
          <a:xfrm>
            <a:off x="307531" y="1166656"/>
            <a:ext cx="635504" cy="662072"/>
          </a:xfrm>
          <a:prstGeom prst="line">
            <a:avLst/>
          </a:prstGeom>
          <a:ln>
            <a:solidFill>
              <a:srgbClr val="C00000"/>
            </a:solidFill>
          </a:ln>
        </p:spPr>
        <p:style>
          <a:lnRef idx="1">
            <a:schemeClr val="dk1"/>
          </a:lnRef>
          <a:fillRef idx="0">
            <a:schemeClr val="dk1"/>
          </a:fillRef>
          <a:effectRef idx="0">
            <a:schemeClr val="dk1"/>
          </a:effectRef>
          <a:fontRef idx="minor">
            <a:schemeClr val="tx1"/>
          </a:fontRef>
        </p:style>
      </p:cxnSp>
      <p:sp>
        <p:nvSpPr>
          <p:cNvPr id="66" name="Metin kutusu 65">
            <a:extLst>
              <a:ext uri="{FF2B5EF4-FFF2-40B4-BE49-F238E27FC236}">
                <a16:creationId xmlns:a16="http://schemas.microsoft.com/office/drawing/2014/main" id="{D8808F10-156A-4C6E-98A3-2004B55F234F}"/>
              </a:ext>
            </a:extLst>
          </p:cNvPr>
          <p:cNvSpPr txBox="1"/>
          <p:nvPr/>
        </p:nvSpPr>
        <p:spPr>
          <a:xfrm>
            <a:off x="109671" y="1096709"/>
            <a:ext cx="242797" cy="230832"/>
          </a:xfrm>
          <a:prstGeom prst="rect">
            <a:avLst/>
          </a:prstGeom>
          <a:noFill/>
        </p:spPr>
        <p:txBody>
          <a:bodyPr wrap="square">
            <a:spAutoFit/>
          </a:bodyPr>
          <a:lstStyle/>
          <a:p>
            <a:r>
              <a:rPr lang="tr-TR" sz="900" noProof="1">
                <a:cs typeface="Arial" panose="020B0604020202020204" pitchFamily="34" charset="0"/>
              </a:rPr>
              <a:t>8</a:t>
            </a:r>
          </a:p>
        </p:txBody>
      </p:sp>
      <p:sp>
        <p:nvSpPr>
          <p:cNvPr id="67" name="Metin kutusu 66">
            <a:extLst>
              <a:ext uri="{FF2B5EF4-FFF2-40B4-BE49-F238E27FC236}">
                <a16:creationId xmlns:a16="http://schemas.microsoft.com/office/drawing/2014/main" id="{6D536393-125D-4A9D-B676-84ECB1F3B2FD}"/>
              </a:ext>
            </a:extLst>
          </p:cNvPr>
          <p:cNvSpPr txBox="1"/>
          <p:nvPr/>
        </p:nvSpPr>
        <p:spPr>
          <a:xfrm>
            <a:off x="896038" y="1814412"/>
            <a:ext cx="1079257" cy="230832"/>
          </a:xfrm>
          <a:prstGeom prst="rect">
            <a:avLst/>
          </a:prstGeom>
          <a:noFill/>
        </p:spPr>
        <p:txBody>
          <a:bodyPr wrap="square">
            <a:spAutoFit/>
          </a:bodyPr>
          <a:lstStyle/>
          <a:p>
            <a:r>
              <a:rPr lang="tr-TR" sz="900" noProof="1">
                <a:cs typeface="Arial" panose="020B0604020202020204" pitchFamily="34" charset="0"/>
              </a:rPr>
              <a:t>4</a:t>
            </a:r>
          </a:p>
        </p:txBody>
      </p:sp>
      <p:cxnSp>
        <p:nvCxnSpPr>
          <p:cNvPr id="10" name="Düz Bağlayıcı 9">
            <a:extLst>
              <a:ext uri="{FF2B5EF4-FFF2-40B4-BE49-F238E27FC236}">
                <a16:creationId xmlns:a16="http://schemas.microsoft.com/office/drawing/2014/main" id="{31855614-3132-427E-80F2-7AA0E052E96E}"/>
              </a:ext>
            </a:extLst>
          </p:cNvPr>
          <p:cNvCxnSpPr/>
          <p:nvPr/>
        </p:nvCxnSpPr>
        <p:spPr>
          <a:xfrm>
            <a:off x="305739" y="1475656"/>
            <a:ext cx="31494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 name="Düz Bağlayıcı 12">
            <a:extLst>
              <a:ext uri="{FF2B5EF4-FFF2-40B4-BE49-F238E27FC236}">
                <a16:creationId xmlns:a16="http://schemas.microsoft.com/office/drawing/2014/main" id="{0F644273-EB50-432B-88AC-4F2D4A7C940C}"/>
              </a:ext>
            </a:extLst>
          </p:cNvPr>
          <p:cNvCxnSpPr/>
          <p:nvPr/>
        </p:nvCxnSpPr>
        <p:spPr>
          <a:xfrm>
            <a:off x="620688" y="1475656"/>
            <a:ext cx="0" cy="36529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8" name="Metin kutusu 67">
            <a:extLst>
              <a:ext uri="{FF2B5EF4-FFF2-40B4-BE49-F238E27FC236}">
                <a16:creationId xmlns:a16="http://schemas.microsoft.com/office/drawing/2014/main" id="{3FDCEB3C-4F0C-448B-8CC2-35E166A833F9}"/>
              </a:ext>
            </a:extLst>
          </p:cNvPr>
          <p:cNvSpPr txBox="1"/>
          <p:nvPr/>
        </p:nvSpPr>
        <p:spPr>
          <a:xfrm>
            <a:off x="109671" y="1359286"/>
            <a:ext cx="242797" cy="230832"/>
          </a:xfrm>
          <a:prstGeom prst="rect">
            <a:avLst/>
          </a:prstGeom>
          <a:noFill/>
        </p:spPr>
        <p:txBody>
          <a:bodyPr wrap="square">
            <a:spAutoFit/>
          </a:bodyPr>
          <a:lstStyle/>
          <a:p>
            <a:r>
              <a:rPr lang="tr-TR" sz="900" noProof="1">
                <a:cs typeface="Arial" panose="020B0604020202020204" pitchFamily="34" charset="0"/>
              </a:rPr>
              <a:t>6</a:t>
            </a:r>
          </a:p>
        </p:txBody>
      </p:sp>
      <p:sp>
        <p:nvSpPr>
          <p:cNvPr id="69" name="Metin kutusu 68">
            <a:extLst>
              <a:ext uri="{FF2B5EF4-FFF2-40B4-BE49-F238E27FC236}">
                <a16:creationId xmlns:a16="http://schemas.microsoft.com/office/drawing/2014/main" id="{0A11380F-2A30-42B3-8D16-A22A57EEAEDF}"/>
              </a:ext>
            </a:extLst>
          </p:cNvPr>
          <p:cNvSpPr txBox="1"/>
          <p:nvPr/>
        </p:nvSpPr>
        <p:spPr>
          <a:xfrm>
            <a:off x="6896" y="2016662"/>
            <a:ext cx="3307677" cy="369332"/>
          </a:xfrm>
          <a:prstGeom prst="rect">
            <a:avLst/>
          </a:prstGeom>
          <a:noFill/>
        </p:spPr>
        <p:txBody>
          <a:bodyPr wrap="square">
            <a:spAutoFit/>
          </a:bodyPr>
          <a:lstStyle/>
          <a:p>
            <a:r>
              <a:rPr lang="tr-TR" sz="900" b="1" noProof="1">
                <a:cs typeface="Arial" panose="020B0604020202020204" pitchFamily="34" charset="0"/>
              </a:rPr>
              <a:t>Yukarıdaki grafikte 56 TL`nin tamamıyla yapılabilecekler doğrusal grafikle ifade edilmiştir. Buna göre a kaçtır?</a:t>
            </a:r>
          </a:p>
        </p:txBody>
      </p:sp>
      <p:sp>
        <p:nvSpPr>
          <p:cNvPr id="70" name="Metin kutusu 69">
            <a:extLst>
              <a:ext uri="{FF2B5EF4-FFF2-40B4-BE49-F238E27FC236}">
                <a16:creationId xmlns:a16="http://schemas.microsoft.com/office/drawing/2014/main" id="{D7386135-5E0B-4ADB-96F8-0318AE5A27D1}"/>
              </a:ext>
            </a:extLst>
          </p:cNvPr>
          <p:cNvSpPr txBox="1"/>
          <p:nvPr/>
        </p:nvSpPr>
        <p:spPr>
          <a:xfrm>
            <a:off x="500831" y="1791842"/>
            <a:ext cx="1079257" cy="230832"/>
          </a:xfrm>
          <a:prstGeom prst="rect">
            <a:avLst/>
          </a:prstGeom>
          <a:noFill/>
        </p:spPr>
        <p:txBody>
          <a:bodyPr wrap="square">
            <a:spAutoFit/>
          </a:bodyPr>
          <a:lstStyle/>
          <a:p>
            <a:r>
              <a:rPr lang="tr-TR" sz="900" noProof="1">
                <a:cs typeface="Arial" panose="020B0604020202020204" pitchFamily="34" charset="0"/>
              </a:rPr>
              <a:t>a</a:t>
            </a:r>
          </a:p>
        </p:txBody>
      </p:sp>
      <mc:AlternateContent xmlns:mc="http://schemas.openxmlformats.org/markup-compatibility/2006" xmlns:a14="http://schemas.microsoft.com/office/drawing/2010/main">
        <mc:Choice Requires="a14">
          <p:sp>
            <p:nvSpPr>
              <p:cNvPr id="72" name="Metin kutusu 71">
                <a:extLst>
                  <a:ext uri="{FF2B5EF4-FFF2-40B4-BE49-F238E27FC236}">
                    <a16:creationId xmlns:a16="http://schemas.microsoft.com/office/drawing/2014/main" id="{23B24E16-B846-406F-BE36-4D6B8FDD5550}"/>
                  </a:ext>
                </a:extLst>
              </p:cNvPr>
              <p:cNvSpPr txBox="1"/>
              <p:nvPr/>
            </p:nvSpPr>
            <p:spPr>
              <a:xfrm>
                <a:off x="44624" y="5277880"/>
                <a:ext cx="3307677" cy="3416320"/>
              </a:xfrm>
              <a:prstGeom prst="rect">
                <a:avLst/>
              </a:prstGeom>
              <a:noFill/>
            </p:spPr>
            <p:txBody>
              <a:bodyPr wrap="square">
                <a:spAutoFit/>
              </a:bodyPr>
              <a:lstStyle/>
              <a:p>
                <a:r>
                  <a:rPr lang="tr-TR" sz="900" noProof="1">
                    <a:cs typeface="Arial" panose="020B0604020202020204" pitchFamily="34" charset="0"/>
                  </a:rPr>
                  <a:t>Soruyu çözmek yerine grafikten neler çıkarabileceklerimize bakalım. Patates fiyatı eksenine baktığımızda 8 olduğu noktada yatay eksendeki karşılığı 0 dır. </a:t>
                </a:r>
                <a:br>
                  <a:rPr lang="tr-TR" sz="900" noProof="1">
                    <a:cs typeface="Arial" panose="020B0604020202020204" pitchFamily="34" charset="0"/>
                  </a:rPr>
                </a:br>
                <a:br>
                  <a:rPr lang="tr-TR" sz="900" noProof="1">
                    <a:cs typeface="Arial" panose="020B0604020202020204" pitchFamily="34" charset="0"/>
                  </a:rPr>
                </a:br>
                <a:r>
                  <a:rPr lang="tr-TR" sz="900" noProof="1">
                    <a:cs typeface="Arial" panose="020B0604020202020204" pitchFamily="34" charset="0"/>
                  </a:rPr>
                  <a:t>8 KG patates  + hiç domates almadığımızda 56 TL`ye tekabül ediyor.</a:t>
                </a:r>
              </a:p>
              <a:p>
                <a:r>
                  <a:rPr lang="tr-TR" sz="900" noProof="1">
                    <a:cs typeface="Arial" panose="020B0604020202020204" pitchFamily="34" charset="0"/>
                  </a:rPr>
                  <a:t>Patatesin kilgoramı 7 TL dir.  4 kısmı karışık gözükebilir tane tane gidelim.</a:t>
                </a:r>
                <a:br>
                  <a:rPr lang="tr-TR" sz="900" noProof="1">
                    <a:cs typeface="Arial" panose="020B0604020202020204" pitchFamily="34" charset="0"/>
                  </a:rPr>
                </a:br>
                <a:br>
                  <a:rPr lang="tr-TR" sz="900" noProof="1">
                    <a:cs typeface="Arial" panose="020B0604020202020204" pitchFamily="34" charset="0"/>
                  </a:rPr>
                </a:br>
                <a:r>
                  <a:rPr lang="tr-TR" sz="900" noProof="1">
                    <a:cs typeface="Arial" panose="020B0604020202020204" pitchFamily="34" charset="0"/>
                  </a:rPr>
                  <a:t>4 Olduğunda domates 56 TL tekabül ediyor yani 1`de 14 olur. Fakat grafikte eksende belirtildiği üzere 2 kg fiyatı belirtiliyor. </a:t>
                </a:r>
                <a:br>
                  <a:rPr lang="tr-TR" sz="900" noProof="1">
                    <a:cs typeface="Arial" panose="020B0604020202020204" pitchFamily="34" charset="0"/>
                  </a:rPr>
                </a:br>
                <a:br>
                  <a:rPr lang="tr-TR" sz="900" noProof="1">
                    <a:cs typeface="Arial" panose="020B0604020202020204" pitchFamily="34" charset="0"/>
                  </a:rPr>
                </a:br>
                <a:r>
                  <a:rPr lang="tr-TR" sz="900" noProof="1">
                    <a:cs typeface="Arial" panose="020B0604020202020204" pitchFamily="34" charset="0"/>
                  </a:rPr>
                  <a:t>1`i 14 bulduk fakat o grafikteki sayısıydı. Anlamı ise 1 adet 2 KG domatestir. Dolayısıyla 2 KG Domates 14 TL , Kilogramı ise 7 TL dir.</a:t>
                </a:r>
              </a:p>
              <a:p>
                <a:endParaRPr lang="tr-TR" sz="900" noProof="1">
                  <a:cs typeface="Arial" panose="020B0604020202020204" pitchFamily="34" charset="0"/>
                </a:endParaRPr>
              </a:p>
              <a:p>
                <a:r>
                  <a:rPr lang="tr-TR" sz="900" noProof="1">
                    <a:cs typeface="Arial" panose="020B0604020202020204" pitchFamily="34" charset="0"/>
                  </a:rPr>
                  <a:t>Şimdi T noktasını değerlendirelim.  T noktasının anlamı : </a:t>
                </a:r>
              </a:p>
              <a:p>
                <a:endParaRPr lang="tr-TR" sz="900" noProof="1">
                  <a:cs typeface="Arial" panose="020B0604020202020204" pitchFamily="34" charset="0"/>
                </a:endParaRPr>
              </a:p>
              <a:p>
                <a:r>
                  <a:rPr lang="tr-TR" sz="900" noProof="1">
                    <a:cs typeface="Arial" panose="020B0604020202020204" pitchFamily="34" charset="0"/>
                  </a:rPr>
                  <a:t>6 KG Patates +  a </a:t>
                </a:r>
                <a14:m>
                  <m:oMath xmlns:m="http://schemas.openxmlformats.org/officeDocument/2006/math">
                    <m:r>
                      <a:rPr lang="tr-TR" sz="9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900" noProof="1">
                    <a:cs typeface="Arial" panose="020B0604020202020204" pitchFamily="34" charset="0"/>
                  </a:rPr>
                  <a:t> 2 KG Domatestir.  Patatesin ve kilogramın fiyatlarının eş bulduk ve 7 dir. </a:t>
                </a:r>
              </a:p>
              <a:p>
                <a:endParaRPr lang="tr-TR" sz="900" noProof="1">
                  <a:cs typeface="Arial" panose="020B0604020202020204" pitchFamily="34" charset="0"/>
                </a:endParaRPr>
              </a:p>
              <a:p>
                <a:r>
                  <a:rPr lang="tr-TR" sz="900" noProof="1">
                    <a:cs typeface="Arial" panose="020B0604020202020204" pitchFamily="34" charset="0"/>
                  </a:rPr>
                  <a:t>6</a:t>
                </a:r>
                <a:r>
                  <a:rPr lang="tr-TR" sz="900" noProof="1">
                    <a:ea typeface="Cambria Math" panose="02040503050406030204" pitchFamily="18" charset="0"/>
                    <a:cs typeface="Arial" panose="020B0604020202020204" pitchFamily="34" charset="0"/>
                  </a:rPr>
                  <a:t> </a:t>
                </a:r>
                <a14:m>
                  <m:oMath xmlns:m="http://schemas.openxmlformats.org/officeDocument/2006/math">
                    <m:r>
                      <a:rPr lang="tr-TR" sz="9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900" noProof="1">
                    <a:cs typeface="Arial" panose="020B0604020202020204" pitchFamily="34" charset="0"/>
                  </a:rPr>
                  <a:t> 7 + (2a) </a:t>
                </a:r>
                <a14:m>
                  <m:oMath xmlns:m="http://schemas.openxmlformats.org/officeDocument/2006/math">
                    <m:r>
                      <a:rPr lang="tr-TR" sz="900" i="1" noProof="1">
                        <a:latin typeface="Cambria Math" panose="02040503050406030204" pitchFamily="18" charset="0"/>
                        <a:ea typeface="Cambria Math" panose="02040503050406030204" pitchFamily="18" charset="0"/>
                        <a:cs typeface="Arial" panose="020B0604020202020204" pitchFamily="34" charset="0"/>
                      </a:rPr>
                      <m:t>∙</m:t>
                    </m:r>
                  </m:oMath>
                </a14:m>
                <a:r>
                  <a:rPr lang="tr-TR" sz="900" noProof="1">
                    <a:cs typeface="Arial" panose="020B0604020202020204" pitchFamily="34" charset="0"/>
                  </a:rPr>
                  <a:t> 7 = </a:t>
                </a:r>
                <a:r>
                  <a:rPr lang="tr-TR" sz="900" b="1" noProof="1">
                    <a:cs typeface="Arial" panose="020B0604020202020204" pitchFamily="34" charset="0"/>
                  </a:rPr>
                  <a:t>56     a=1 olarak bulunur. </a:t>
                </a:r>
              </a:p>
              <a:p>
                <a:endParaRPr lang="tr-TR" sz="900" noProof="1">
                  <a:cs typeface="Arial" panose="020B0604020202020204" pitchFamily="34" charset="0"/>
                </a:endParaRPr>
              </a:p>
              <a:p>
                <a:r>
                  <a:rPr lang="tr-TR" sz="900" noProof="1">
                    <a:cs typeface="Arial" panose="020B0604020202020204" pitchFamily="34" charset="0"/>
                  </a:rPr>
                  <a:t>Unutmayın birimler önemlidir grafik eğer 2 kg fiyatını belirtiyorsa sayı adedini 2 ile çarparız bu katları içinde geçerlidir. Patates için böyle bir işlem yapmadık çünkü kg başı fiyatı verilmişti.  </a:t>
                </a:r>
              </a:p>
            </p:txBody>
          </p:sp>
        </mc:Choice>
        <mc:Fallback xmlns="">
          <p:sp>
            <p:nvSpPr>
              <p:cNvPr id="72" name="Metin kutusu 71">
                <a:extLst>
                  <a:ext uri="{FF2B5EF4-FFF2-40B4-BE49-F238E27FC236}">
                    <a16:creationId xmlns:a16="http://schemas.microsoft.com/office/drawing/2014/main" id="{23B24E16-B846-406F-BE36-4D6B8FDD5550}"/>
                  </a:ext>
                </a:extLst>
              </p:cNvPr>
              <p:cNvSpPr txBox="1">
                <a:spLocks noRot="1" noChangeAspect="1" noMove="1" noResize="1" noEditPoints="1" noAdjustHandles="1" noChangeArrowheads="1" noChangeShapeType="1" noTextEdit="1"/>
              </p:cNvSpPr>
              <p:nvPr/>
            </p:nvSpPr>
            <p:spPr>
              <a:xfrm>
                <a:off x="44624" y="5277880"/>
                <a:ext cx="3307677" cy="3416320"/>
              </a:xfrm>
              <a:prstGeom prst="rect">
                <a:avLst/>
              </a:prstGeom>
              <a:blipFill>
                <a:blip r:embed="rId6"/>
                <a:stretch>
                  <a:fillRect/>
                </a:stretch>
              </a:blipFill>
            </p:spPr>
            <p:txBody>
              <a:bodyPr/>
              <a:lstStyle/>
              <a:p>
                <a:r>
                  <a:rPr lang="tr-TR">
                    <a:noFill/>
                  </a:rPr>
                  <a:t> </a:t>
                </a:r>
              </a:p>
            </p:txBody>
          </p:sp>
        </mc:Fallback>
      </mc:AlternateContent>
      <p:sp>
        <p:nvSpPr>
          <p:cNvPr id="73" name="Oval 72">
            <a:extLst>
              <a:ext uri="{FF2B5EF4-FFF2-40B4-BE49-F238E27FC236}">
                <a16:creationId xmlns:a16="http://schemas.microsoft.com/office/drawing/2014/main" id="{B00B879C-1D40-4BD1-B94C-D4576F0AC053}"/>
              </a:ext>
            </a:extLst>
          </p:cNvPr>
          <p:cNvSpPr/>
          <p:nvPr/>
        </p:nvSpPr>
        <p:spPr>
          <a:xfrm>
            <a:off x="570074" y="1387480"/>
            <a:ext cx="122621" cy="126737"/>
          </a:xfrm>
          <a:prstGeom prst="ellipse">
            <a:avLst/>
          </a:prstGeom>
          <a:solidFill>
            <a:schemeClr val="bg2">
              <a:lumMod val="1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1" name="Metin kutusu 70">
            <a:extLst>
              <a:ext uri="{FF2B5EF4-FFF2-40B4-BE49-F238E27FC236}">
                <a16:creationId xmlns:a16="http://schemas.microsoft.com/office/drawing/2014/main" id="{EF38E68C-7CA1-4EBA-94D7-8674B67C00A1}"/>
              </a:ext>
            </a:extLst>
          </p:cNvPr>
          <p:cNvSpPr txBox="1"/>
          <p:nvPr/>
        </p:nvSpPr>
        <p:spPr>
          <a:xfrm>
            <a:off x="514380" y="1338348"/>
            <a:ext cx="1079257" cy="230832"/>
          </a:xfrm>
          <a:prstGeom prst="rect">
            <a:avLst/>
          </a:prstGeom>
          <a:noFill/>
        </p:spPr>
        <p:txBody>
          <a:bodyPr wrap="square">
            <a:spAutoFit/>
          </a:bodyPr>
          <a:lstStyle/>
          <a:p>
            <a:r>
              <a:rPr lang="tr-TR" sz="900" noProof="1">
                <a:solidFill>
                  <a:schemeClr val="bg1"/>
                </a:solidFill>
                <a:cs typeface="Arial" panose="020B0604020202020204" pitchFamily="34" charset="0"/>
              </a:rPr>
              <a:t>T</a:t>
            </a:r>
          </a:p>
        </p:txBody>
      </p:sp>
      <p:cxnSp>
        <p:nvCxnSpPr>
          <p:cNvPr id="63" name="Düz Ok Bağlayıcısı 62">
            <a:extLst>
              <a:ext uri="{FF2B5EF4-FFF2-40B4-BE49-F238E27FC236}">
                <a16:creationId xmlns:a16="http://schemas.microsoft.com/office/drawing/2014/main" id="{58FA7413-0FB9-4487-B860-6C17CD391C41}"/>
              </a:ext>
            </a:extLst>
          </p:cNvPr>
          <p:cNvCxnSpPr>
            <a:cxnSpLocks/>
          </p:cNvCxnSpPr>
          <p:nvPr/>
        </p:nvCxnSpPr>
        <p:spPr>
          <a:xfrm flipH="1" flipV="1">
            <a:off x="3799315" y="891751"/>
            <a:ext cx="3256" cy="1054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Düz Ok Bağlayıcısı 73">
            <a:extLst>
              <a:ext uri="{FF2B5EF4-FFF2-40B4-BE49-F238E27FC236}">
                <a16:creationId xmlns:a16="http://schemas.microsoft.com/office/drawing/2014/main" id="{B03C50D8-6076-43C8-A36E-B246F667403B}"/>
              </a:ext>
            </a:extLst>
          </p:cNvPr>
          <p:cNvCxnSpPr>
            <a:cxnSpLocks/>
          </p:cNvCxnSpPr>
          <p:nvPr/>
        </p:nvCxnSpPr>
        <p:spPr>
          <a:xfrm>
            <a:off x="3600273" y="1817049"/>
            <a:ext cx="1328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5" name="Metin kutusu 74">
            <a:extLst>
              <a:ext uri="{FF2B5EF4-FFF2-40B4-BE49-F238E27FC236}">
                <a16:creationId xmlns:a16="http://schemas.microsoft.com/office/drawing/2014/main" id="{C41F225B-529F-4F11-900F-C504FC810841}"/>
              </a:ext>
            </a:extLst>
          </p:cNvPr>
          <p:cNvSpPr txBox="1"/>
          <p:nvPr/>
        </p:nvSpPr>
        <p:spPr>
          <a:xfrm>
            <a:off x="3761292" y="799282"/>
            <a:ext cx="1127155" cy="230832"/>
          </a:xfrm>
          <a:prstGeom prst="rect">
            <a:avLst/>
          </a:prstGeom>
          <a:noFill/>
        </p:spPr>
        <p:txBody>
          <a:bodyPr wrap="square">
            <a:spAutoFit/>
          </a:bodyPr>
          <a:lstStyle/>
          <a:p>
            <a:r>
              <a:rPr lang="tr-TR" sz="900" noProof="1">
                <a:cs typeface="Arial" panose="020B0604020202020204" pitchFamily="34" charset="0"/>
              </a:rPr>
              <a:t>Ali`nin Parası (TL)</a:t>
            </a:r>
          </a:p>
        </p:txBody>
      </p:sp>
      <p:sp>
        <p:nvSpPr>
          <p:cNvPr id="76" name="Metin kutusu 75">
            <a:extLst>
              <a:ext uri="{FF2B5EF4-FFF2-40B4-BE49-F238E27FC236}">
                <a16:creationId xmlns:a16="http://schemas.microsoft.com/office/drawing/2014/main" id="{9143B992-90F0-4ED5-A85F-A4D7805F3C63}"/>
              </a:ext>
            </a:extLst>
          </p:cNvPr>
          <p:cNvSpPr txBox="1"/>
          <p:nvPr/>
        </p:nvSpPr>
        <p:spPr>
          <a:xfrm>
            <a:off x="4898002" y="1698755"/>
            <a:ext cx="1175805" cy="230832"/>
          </a:xfrm>
          <a:prstGeom prst="rect">
            <a:avLst/>
          </a:prstGeom>
          <a:noFill/>
        </p:spPr>
        <p:txBody>
          <a:bodyPr wrap="square">
            <a:spAutoFit/>
          </a:bodyPr>
          <a:lstStyle/>
          <a:p>
            <a:r>
              <a:rPr lang="tr-TR" sz="900" noProof="1">
                <a:cs typeface="Arial" panose="020B0604020202020204" pitchFamily="34" charset="0"/>
              </a:rPr>
              <a:t>Zaman (Hafta)</a:t>
            </a:r>
          </a:p>
        </p:txBody>
      </p:sp>
      <p:cxnSp>
        <p:nvCxnSpPr>
          <p:cNvPr id="77" name="Düz Bağlayıcı 76">
            <a:extLst>
              <a:ext uri="{FF2B5EF4-FFF2-40B4-BE49-F238E27FC236}">
                <a16:creationId xmlns:a16="http://schemas.microsoft.com/office/drawing/2014/main" id="{92A98A22-F892-405F-A5E3-114AE9355B96}"/>
              </a:ext>
            </a:extLst>
          </p:cNvPr>
          <p:cNvCxnSpPr>
            <a:cxnSpLocks/>
          </p:cNvCxnSpPr>
          <p:nvPr/>
        </p:nvCxnSpPr>
        <p:spPr>
          <a:xfrm flipV="1">
            <a:off x="3809472" y="1072330"/>
            <a:ext cx="627640" cy="512957"/>
          </a:xfrm>
          <a:prstGeom prst="line">
            <a:avLst/>
          </a:prstGeom>
          <a:ln>
            <a:solidFill>
              <a:srgbClr val="C00000"/>
            </a:solidFill>
          </a:ln>
        </p:spPr>
        <p:style>
          <a:lnRef idx="1">
            <a:schemeClr val="dk1"/>
          </a:lnRef>
          <a:fillRef idx="0">
            <a:schemeClr val="dk1"/>
          </a:fillRef>
          <a:effectRef idx="0">
            <a:schemeClr val="dk1"/>
          </a:effectRef>
          <a:fontRef idx="minor">
            <a:schemeClr val="tx1"/>
          </a:fontRef>
        </p:style>
      </p:cxnSp>
      <p:sp>
        <p:nvSpPr>
          <p:cNvPr id="78" name="Metin kutusu 77">
            <a:extLst>
              <a:ext uri="{FF2B5EF4-FFF2-40B4-BE49-F238E27FC236}">
                <a16:creationId xmlns:a16="http://schemas.microsoft.com/office/drawing/2014/main" id="{F6FF9AE2-6A41-498E-9781-67EADD871CD4}"/>
              </a:ext>
            </a:extLst>
          </p:cNvPr>
          <p:cNvSpPr txBox="1"/>
          <p:nvPr/>
        </p:nvSpPr>
        <p:spPr>
          <a:xfrm>
            <a:off x="3517908" y="1184277"/>
            <a:ext cx="375784" cy="230832"/>
          </a:xfrm>
          <a:prstGeom prst="rect">
            <a:avLst/>
          </a:prstGeom>
          <a:noFill/>
        </p:spPr>
        <p:txBody>
          <a:bodyPr wrap="square">
            <a:spAutoFit/>
          </a:bodyPr>
          <a:lstStyle/>
          <a:p>
            <a:r>
              <a:rPr lang="tr-TR" sz="900" noProof="1">
                <a:cs typeface="Arial" panose="020B0604020202020204" pitchFamily="34" charset="0"/>
              </a:rPr>
              <a:t>120</a:t>
            </a:r>
          </a:p>
        </p:txBody>
      </p:sp>
      <p:sp>
        <p:nvSpPr>
          <p:cNvPr id="79" name="Metin kutusu 78">
            <a:extLst>
              <a:ext uri="{FF2B5EF4-FFF2-40B4-BE49-F238E27FC236}">
                <a16:creationId xmlns:a16="http://schemas.microsoft.com/office/drawing/2014/main" id="{C0143FC6-749C-484A-957E-6E533D59DB3F}"/>
              </a:ext>
            </a:extLst>
          </p:cNvPr>
          <p:cNvSpPr txBox="1"/>
          <p:nvPr/>
        </p:nvSpPr>
        <p:spPr>
          <a:xfrm>
            <a:off x="4373520" y="1774841"/>
            <a:ext cx="270545" cy="230832"/>
          </a:xfrm>
          <a:prstGeom prst="rect">
            <a:avLst/>
          </a:prstGeom>
          <a:noFill/>
        </p:spPr>
        <p:txBody>
          <a:bodyPr wrap="square">
            <a:spAutoFit/>
          </a:bodyPr>
          <a:lstStyle/>
          <a:p>
            <a:r>
              <a:rPr lang="tr-TR" sz="900" noProof="1">
                <a:cs typeface="Arial" panose="020B0604020202020204" pitchFamily="34" charset="0"/>
              </a:rPr>
              <a:t>4</a:t>
            </a:r>
          </a:p>
        </p:txBody>
      </p:sp>
      <p:cxnSp>
        <p:nvCxnSpPr>
          <p:cNvPr id="80" name="Düz Bağlayıcı 79">
            <a:extLst>
              <a:ext uri="{FF2B5EF4-FFF2-40B4-BE49-F238E27FC236}">
                <a16:creationId xmlns:a16="http://schemas.microsoft.com/office/drawing/2014/main" id="{D01E9CCC-99EC-4D0F-9142-ED61FC279489}"/>
              </a:ext>
            </a:extLst>
          </p:cNvPr>
          <p:cNvCxnSpPr/>
          <p:nvPr/>
        </p:nvCxnSpPr>
        <p:spPr>
          <a:xfrm>
            <a:off x="3809472" y="1324347"/>
            <a:ext cx="31494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1" name="Düz Bağlayıcı 80">
            <a:extLst>
              <a:ext uri="{FF2B5EF4-FFF2-40B4-BE49-F238E27FC236}">
                <a16:creationId xmlns:a16="http://schemas.microsoft.com/office/drawing/2014/main" id="{099EEDEE-B658-4A8A-B140-E7D947BDCE20}"/>
              </a:ext>
            </a:extLst>
          </p:cNvPr>
          <p:cNvCxnSpPr>
            <a:cxnSpLocks/>
          </p:cNvCxnSpPr>
          <p:nvPr/>
        </p:nvCxnSpPr>
        <p:spPr>
          <a:xfrm>
            <a:off x="4123292" y="1332743"/>
            <a:ext cx="0" cy="48166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82" name="Metin kutusu 81">
            <a:extLst>
              <a:ext uri="{FF2B5EF4-FFF2-40B4-BE49-F238E27FC236}">
                <a16:creationId xmlns:a16="http://schemas.microsoft.com/office/drawing/2014/main" id="{0D7ADDB7-EE95-4B2A-A1CA-0B884A8B918A}"/>
              </a:ext>
            </a:extLst>
          </p:cNvPr>
          <p:cNvSpPr txBox="1"/>
          <p:nvPr/>
        </p:nvSpPr>
        <p:spPr>
          <a:xfrm>
            <a:off x="3550500" y="1460949"/>
            <a:ext cx="314948" cy="230832"/>
          </a:xfrm>
          <a:prstGeom prst="rect">
            <a:avLst/>
          </a:prstGeom>
          <a:noFill/>
        </p:spPr>
        <p:txBody>
          <a:bodyPr wrap="square">
            <a:spAutoFit/>
          </a:bodyPr>
          <a:lstStyle/>
          <a:p>
            <a:r>
              <a:rPr lang="tr-TR" sz="900" noProof="1">
                <a:cs typeface="Arial" panose="020B0604020202020204" pitchFamily="34" charset="0"/>
              </a:rPr>
              <a:t>60</a:t>
            </a:r>
          </a:p>
        </p:txBody>
      </p:sp>
      <p:sp>
        <p:nvSpPr>
          <p:cNvPr id="83" name="Metin kutusu 82">
            <a:extLst>
              <a:ext uri="{FF2B5EF4-FFF2-40B4-BE49-F238E27FC236}">
                <a16:creationId xmlns:a16="http://schemas.microsoft.com/office/drawing/2014/main" id="{08250636-1B6F-446C-A571-DA1EE4B27A85}"/>
              </a:ext>
            </a:extLst>
          </p:cNvPr>
          <p:cNvSpPr txBox="1"/>
          <p:nvPr/>
        </p:nvSpPr>
        <p:spPr>
          <a:xfrm>
            <a:off x="3994408" y="1767936"/>
            <a:ext cx="239520" cy="230832"/>
          </a:xfrm>
          <a:prstGeom prst="rect">
            <a:avLst/>
          </a:prstGeom>
          <a:noFill/>
        </p:spPr>
        <p:txBody>
          <a:bodyPr wrap="square">
            <a:spAutoFit/>
          </a:bodyPr>
          <a:lstStyle/>
          <a:p>
            <a:r>
              <a:rPr lang="tr-TR" sz="900" noProof="1">
                <a:cs typeface="Arial" panose="020B0604020202020204" pitchFamily="34" charset="0"/>
              </a:rPr>
              <a:t>3</a:t>
            </a:r>
          </a:p>
        </p:txBody>
      </p:sp>
      <p:sp>
        <p:nvSpPr>
          <p:cNvPr id="84" name="Metin kutusu 83">
            <a:extLst>
              <a:ext uri="{FF2B5EF4-FFF2-40B4-BE49-F238E27FC236}">
                <a16:creationId xmlns:a16="http://schemas.microsoft.com/office/drawing/2014/main" id="{601FC6D6-C43A-43FB-9438-22F3BAAADA5E}"/>
              </a:ext>
            </a:extLst>
          </p:cNvPr>
          <p:cNvSpPr txBox="1"/>
          <p:nvPr/>
        </p:nvSpPr>
        <p:spPr>
          <a:xfrm>
            <a:off x="3542099" y="1944267"/>
            <a:ext cx="3293353" cy="1631216"/>
          </a:xfrm>
          <a:prstGeom prst="rect">
            <a:avLst/>
          </a:prstGeom>
          <a:noFill/>
        </p:spPr>
        <p:txBody>
          <a:bodyPr wrap="square">
            <a:spAutoFit/>
          </a:bodyPr>
          <a:lstStyle/>
          <a:p>
            <a:r>
              <a:rPr lang="tr-TR" sz="1000" noProof="1">
                <a:cs typeface="Arial" panose="020B0604020202020204" pitchFamily="34" charset="0"/>
              </a:rPr>
              <a:t>Yukardaki doğrusal grafik Ali`nin parasının zamana göre değişimini göstermektedir.  </a:t>
            </a:r>
          </a:p>
          <a:p>
            <a:endParaRPr lang="tr-TR" sz="1000" noProof="1">
              <a:cs typeface="Arial" panose="020B0604020202020204" pitchFamily="34" charset="0"/>
            </a:endParaRPr>
          </a:p>
          <a:p>
            <a:r>
              <a:rPr lang="tr-TR" sz="1000" b="1" noProof="1">
                <a:cs typeface="Arial" panose="020B0604020202020204" pitchFamily="34" charset="0"/>
              </a:rPr>
              <a:t>Buna göre ; </a:t>
            </a:r>
          </a:p>
          <a:p>
            <a:endParaRPr lang="tr-TR" sz="1000" noProof="1">
              <a:cs typeface="Arial" panose="020B0604020202020204" pitchFamily="34" charset="0"/>
            </a:endParaRPr>
          </a:p>
          <a:p>
            <a:r>
              <a:rPr lang="tr-TR" sz="1000" noProof="1">
                <a:cs typeface="Arial" panose="020B0604020202020204" pitchFamily="34" charset="0"/>
              </a:rPr>
              <a:t>I.  Ali`nin başlangıçta 60 TL`si vardır. </a:t>
            </a:r>
          </a:p>
          <a:p>
            <a:r>
              <a:rPr lang="tr-TR" sz="1000" noProof="1">
                <a:cs typeface="Arial" panose="020B0604020202020204" pitchFamily="34" charset="0"/>
              </a:rPr>
              <a:t>II. Ali`nin 4.hafta 140 TL parası olmuş olur.</a:t>
            </a:r>
          </a:p>
          <a:p>
            <a:r>
              <a:rPr lang="tr-TR" sz="1000" noProof="1">
                <a:cs typeface="Arial" panose="020B0604020202020204" pitchFamily="34" charset="0"/>
              </a:rPr>
              <a:t>III. Ali`nin parası zaman geçtikçe artmaktadır. </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p:txBody>
      </p:sp>
      <p:sp>
        <p:nvSpPr>
          <p:cNvPr id="85" name="Metin kutusu 84">
            <a:extLst>
              <a:ext uri="{FF2B5EF4-FFF2-40B4-BE49-F238E27FC236}">
                <a16:creationId xmlns:a16="http://schemas.microsoft.com/office/drawing/2014/main" id="{89997F7D-DC67-498B-B334-D48419B0DE3F}"/>
              </a:ext>
            </a:extLst>
          </p:cNvPr>
          <p:cNvSpPr txBox="1"/>
          <p:nvPr/>
        </p:nvSpPr>
        <p:spPr>
          <a:xfrm>
            <a:off x="3568177" y="5277880"/>
            <a:ext cx="3307677" cy="3477875"/>
          </a:xfrm>
          <a:prstGeom prst="rect">
            <a:avLst/>
          </a:prstGeom>
          <a:noFill/>
        </p:spPr>
        <p:txBody>
          <a:bodyPr wrap="square">
            <a:spAutoFit/>
          </a:bodyPr>
          <a:lstStyle/>
          <a:p>
            <a:r>
              <a:rPr lang="tr-TR" sz="1000" b="1" noProof="1">
                <a:cs typeface="Arial" panose="020B0604020202020204" pitchFamily="34" charset="0"/>
              </a:rPr>
              <a:t>I : </a:t>
            </a:r>
            <a:r>
              <a:rPr lang="tr-TR" sz="1000" noProof="1">
                <a:cs typeface="Arial" panose="020B0604020202020204" pitchFamily="34" charset="0"/>
              </a:rPr>
              <a:t>Başlangıç için zamanın 0 olduğu kısma bakmalıyız. Zamanın 0 olduğu kısımda düşey eksen yani para miktarını gösteren eksenin 60 TL olduğunu görebiliyoruz. Doğrudur.</a:t>
            </a:r>
          </a:p>
          <a:p>
            <a:endParaRPr lang="tr-TR" sz="1000" noProof="1">
              <a:cs typeface="Arial" panose="020B0604020202020204" pitchFamily="34" charset="0"/>
            </a:endParaRPr>
          </a:p>
          <a:p>
            <a:r>
              <a:rPr lang="tr-TR" sz="1000" b="1" noProof="1">
                <a:cs typeface="Arial" panose="020B0604020202020204" pitchFamily="34" charset="0"/>
              </a:rPr>
              <a:t>II : </a:t>
            </a:r>
            <a:r>
              <a:rPr lang="tr-TR" sz="1000" noProof="1">
                <a:cs typeface="Arial" panose="020B0604020202020204" pitchFamily="34" charset="0"/>
              </a:rPr>
              <a:t>Doğrusal grafiklerin eğimleri her noktada aynıdır. Eğimlerinin aynı olması bu grafikten yorumlamak gerekirse her hafta eşit miktarda paranın artması demektir.</a:t>
            </a:r>
          </a:p>
          <a:p>
            <a:endParaRPr lang="tr-TR" sz="1000" noProof="1">
              <a:cs typeface="Arial" panose="020B0604020202020204" pitchFamily="34" charset="0"/>
            </a:endParaRPr>
          </a:p>
          <a:p>
            <a:r>
              <a:rPr lang="tr-TR" sz="1000" noProof="1">
                <a:cs typeface="Arial" panose="020B0604020202020204" pitchFamily="34" charset="0"/>
              </a:rPr>
              <a:t>Başlangıçta parası 60 TL  3 hafta sonra 120 TL oluyor. Yani 3 haftada 60 TL birikim söz konusu, her hafta eşit miktarda artacaktır, çünkü belirttiğimiz üzere doğrusal fonksiyonun eğimi her noktada sabittir. O halde haftalık 20 TL birikim yapılmaktadır.  4.hafta olduğunda 3.hafta ile 1 hafta fark vardır. Yani 1 hafta geçmiş dolayısıyla 20 TL daha para artacaktır 120 + 20 = 140 TL olur. </a:t>
            </a:r>
          </a:p>
          <a:p>
            <a:endParaRPr lang="tr-TR" sz="1000" noProof="1">
              <a:cs typeface="Arial" panose="020B0604020202020204" pitchFamily="34" charset="0"/>
            </a:endParaRPr>
          </a:p>
          <a:p>
            <a:r>
              <a:rPr lang="tr-TR" sz="1000" b="1" noProof="1">
                <a:cs typeface="Arial" panose="020B0604020202020204" pitchFamily="34" charset="0"/>
              </a:rPr>
              <a:t>III : </a:t>
            </a:r>
            <a:r>
              <a:rPr lang="tr-TR" sz="1000" noProof="1">
                <a:cs typeface="Arial" panose="020B0604020202020204" pitchFamily="34" charset="0"/>
              </a:rPr>
              <a:t>Ali`nin parası her hafta 20 TL artmaktadır. </a:t>
            </a:r>
          </a:p>
          <a:p>
            <a:endParaRPr lang="tr-TR" sz="1000" noProof="1">
              <a:cs typeface="Arial" panose="020B0604020202020204" pitchFamily="34" charset="0"/>
            </a:endParaRPr>
          </a:p>
          <a:p>
            <a:r>
              <a:rPr lang="tr-TR" sz="1000" noProof="1">
                <a:cs typeface="Arial" panose="020B0604020202020204" pitchFamily="34" charset="0"/>
              </a:rPr>
              <a:t>Eğim : Eğim bu sorudan bilgi vermek gerekirse her hafta başı paranın sabit azalıp veya arttığı miktardır. Örneğin bu grafiğin eğimi 20 dir çünkü her hafta 20 TL artmaktadır arttığı içinde eğim pozitiftir. Bir sonraki sayfadan devam.</a:t>
            </a:r>
          </a:p>
        </p:txBody>
      </p:sp>
      <p:sp>
        <p:nvSpPr>
          <p:cNvPr id="86" name="Metin kutusu 85">
            <a:extLst>
              <a:ext uri="{FF2B5EF4-FFF2-40B4-BE49-F238E27FC236}">
                <a16:creationId xmlns:a16="http://schemas.microsoft.com/office/drawing/2014/main" id="{4FFD4D90-133E-4843-836B-AD9AE00CB78C}"/>
              </a:ext>
            </a:extLst>
          </p:cNvPr>
          <p:cNvSpPr txBox="1"/>
          <p:nvPr/>
        </p:nvSpPr>
        <p:spPr>
          <a:xfrm>
            <a:off x="3607694" y="1772214"/>
            <a:ext cx="239520" cy="230832"/>
          </a:xfrm>
          <a:prstGeom prst="rect">
            <a:avLst/>
          </a:prstGeom>
          <a:noFill/>
        </p:spPr>
        <p:txBody>
          <a:bodyPr wrap="square">
            <a:spAutoFit/>
          </a:bodyPr>
          <a:lstStyle/>
          <a:p>
            <a:r>
              <a:rPr lang="tr-TR" sz="900" noProof="1">
                <a:cs typeface="Arial" panose="020B0604020202020204" pitchFamily="34" charset="0"/>
              </a:rPr>
              <a:t>0</a:t>
            </a:r>
          </a:p>
        </p:txBody>
      </p:sp>
      <p:sp>
        <p:nvSpPr>
          <p:cNvPr id="65" name="Metin kutusu 64">
            <a:extLst>
              <a:ext uri="{FF2B5EF4-FFF2-40B4-BE49-F238E27FC236}">
                <a16:creationId xmlns:a16="http://schemas.microsoft.com/office/drawing/2014/main" id="{27ACD3DF-CC21-4F24-B9F8-EEF286FA01C6}"/>
              </a:ext>
            </a:extLst>
          </p:cNvPr>
          <p:cNvSpPr txBox="1"/>
          <p:nvPr/>
        </p:nvSpPr>
        <p:spPr>
          <a:xfrm>
            <a:off x="897714" y="478993"/>
            <a:ext cx="2429980" cy="307777"/>
          </a:xfrm>
          <a:prstGeom prst="rect">
            <a:avLst/>
          </a:prstGeom>
          <a:noFill/>
        </p:spPr>
        <p:txBody>
          <a:bodyPr wrap="square">
            <a:spAutoFit/>
          </a:bodyPr>
          <a:lstStyle/>
          <a:p>
            <a:r>
              <a:rPr lang="tr-TR" sz="700" i="0" noProof="1">
                <a:solidFill>
                  <a:schemeClr val="bg1"/>
                </a:solidFill>
                <a:effectLst/>
                <a:latin typeface="Arial Narrow" panose="020B0606020202030204" pitchFamily="34" charset="0"/>
              </a:rPr>
              <a:t>“Hayatta kalabilen en güçlü olan tür değildir, en zeki olandır. Değişime en çok adapte olabilendir.”  - Charles Robert Darwin</a:t>
            </a:r>
            <a:endParaRPr lang="tr-TR" sz="700" noProof="1">
              <a:solidFill>
                <a:schemeClr val="bg1"/>
              </a:solidFill>
              <a:latin typeface="Arial Narrow" panose="020B0606020202030204" pitchFamily="34" charset="0"/>
            </a:endParaRPr>
          </a:p>
        </p:txBody>
      </p:sp>
      <p:sp>
        <p:nvSpPr>
          <p:cNvPr id="87" name="Kaydırma: Yatay 86">
            <a:extLst>
              <a:ext uri="{FF2B5EF4-FFF2-40B4-BE49-F238E27FC236}">
                <a16:creationId xmlns:a16="http://schemas.microsoft.com/office/drawing/2014/main" id="{E56FD4BE-F869-40C2-84CE-8D5386F69B32}"/>
              </a:ext>
            </a:extLst>
          </p:cNvPr>
          <p:cNvSpPr/>
          <p:nvPr/>
        </p:nvSpPr>
        <p:spPr>
          <a:xfrm>
            <a:off x="4414072" y="451466"/>
            <a:ext cx="2384911"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8" name="Metin kutusu 87">
            <a:extLst>
              <a:ext uri="{FF2B5EF4-FFF2-40B4-BE49-F238E27FC236}">
                <a16:creationId xmlns:a16="http://schemas.microsoft.com/office/drawing/2014/main" id="{9B13B7B4-E02A-4861-8E58-5D8DB7F6AE34}"/>
              </a:ext>
            </a:extLst>
          </p:cNvPr>
          <p:cNvSpPr txBox="1"/>
          <p:nvPr/>
        </p:nvSpPr>
        <p:spPr>
          <a:xfrm>
            <a:off x="4414072" y="460773"/>
            <a:ext cx="2560259" cy="338554"/>
          </a:xfrm>
          <a:prstGeom prst="rect">
            <a:avLst/>
          </a:prstGeom>
          <a:noFill/>
        </p:spPr>
        <p:txBody>
          <a:bodyPr wrap="square">
            <a:spAutoFit/>
          </a:bodyPr>
          <a:lstStyle/>
          <a:p>
            <a:pPr algn="ctr"/>
            <a:r>
              <a:rPr lang="tr-TR" sz="800" i="0" noProof="1">
                <a:solidFill>
                  <a:schemeClr val="bg1"/>
                </a:solidFill>
                <a:effectLst/>
                <a:latin typeface="Arial Narrow" panose="020B0606020202030204" pitchFamily="34" charset="0"/>
              </a:rPr>
              <a:t>“Matematik ve geometride göz kararı yoktur, dizgi hatası vardır.”  - Ahmet ÇELEN</a:t>
            </a:r>
            <a:endParaRPr lang="tr-TR" sz="800" noProof="1">
              <a:solidFill>
                <a:schemeClr val="bg1"/>
              </a:solidFill>
              <a:latin typeface="Arial Narrow" panose="020B0606020202030204" pitchFamily="34" charset="0"/>
            </a:endParaRPr>
          </a:p>
        </p:txBody>
      </p:sp>
    </p:spTree>
    <p:extLst>
      <p:ext uri="{BB962C8B-B14F-4D97-AF65-F5344CB8AC3E}">
        <p14:creationId xmlns:p14="http://schemas.microsoft.com/office/powerpoint/2010/main" val="22065711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Dikdörtgen 70">
            <a:extLst>
              <a:ext uri="{FF2B5EF4-FFF2-40B4-BE49-F238E27FC236}">
                <a16:creationId xmlns:a16="http://schemas.microsoft.com/office/drawing/2014/main" id="{E16203AD-98C6-419A-A67F-F7AD95ACF9BC}"/>
              </a:ext>
            </a:extLst>
          </p:cNvPr>
          <p:cNvSpPr/>
          <p:nvPr/>
        </p:nvSpPr>
        <p:spPr>
          <a:xfrm>
            <a:off x="110832" y="436063"/>
            <a:ext cx="3186493"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0" name="Dikdörtgen 69">
            <a:extLst>
              <a:ext uri="{FF2B5EF4-FFF2-40B4-BE49-F238E27FC236}">
                <a16:creationId xmlns:a16="http://schemas.microsoft.com/office/drawing/2014/main" id="{49817897-A5C2-49EF-8EB4-DD34A4C66CB0}"/>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Doğrusal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61038" y="58634"/>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86" name="Dikdörtgen: Köşeleri Yuvarlatılmış 85">
            <a:extLst>
              <a:ext uri="{FF2B5EF4-FFF2-40B4-BE49-F238E27FC236}">
                <a16:creationId xmlns:a16="http://schemas.microsoft.com/office/drawing/2014/main" id="{E8896C10-72AA-408A-9E85-E972E7BC1D13}"/>
              </a:ext>
            </a:extLst>
          </p:cNvPr>
          <p:cNvSpPr/>
          <p:nvPr/>
        </p:nvSpPr>
        <p:spPr>
          <a:xfrm>
            <a:off x="3604110" y="469300"/>
            <a:ext cx="3171238" cy="8210584"/>
          </a:xfrm>
          <a:prstGeom prst="roundRect">
            <a:avLst>
              <a:gd name="adj" fmla="val 3885"/>
            </a:avLst>
          </a:prstGeom>
          <a:ln w="9525">
            <a:solidFill>
              <a:srgbClr val="66CCFF"/>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tr-TR" dirty="0"/>
          </a:p>
        </p:txBody>
      </p:sp>
      <p:sp>
        <p:nvSpPr>
          <p:cNvPr id="25" name="Ok: Beşgen 24">
            <a:extLst>
              <a:ext uri="{FF2B5EF4-FFF2-40B4-BE49-F238E27FC236}">
                <a16:creationId xmlns:a16="http://schemas.microsoft.com/office/drawing/2014/main" id="{63795081-0ABE-4A68-9B0C-179C0C3D32CA}"/>
              </a:ext>
            </a:extLst>
          </p:cNvPr>
          <p:cNvSpPr/>
          <p:nvPr/>
        </p:nvSpPr>
        <p:spPr>
          <a:xfrm>
            <a:off x="166572" y="482769"/>
            <a:ext cx="3075012"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Eğim nedir ve nasıl bulunur?</a:t>
            </a:r>
          </a:p>
        </p:txBody>
      </p:sp>
      <p:sp>
        <p:nvSpPr>
          <p:cNvPr id="30" name="Metin kutusu 29">
            <a:extLst>
              <a:ext uri="{FF2B5EF4-FFF2-40B4-BE49-F238E27FC236}">
                <a16:creationId xmlns:a16="http://schemas.microsoft.com/office/drawing/2014/main" id="{5DBE273A-60D6-4BC8-8727-25937F4C3351}"/>
              </a:ext>
            </a:extLst>
          </p:cNvPr>
          <p:cNvSpPr txBox="1"/>
          <p:nvPr/>
        </p:nvSpPr>
        <p:spPr>
          <a:xfrm>
            <a:off x="104812" y="772351"/>
            <a:ext cx="3307677" cy="1323439"/>
          </a:xfrm>
          <a:prstGeom prst="rect">
            <a:avLst/>
          </a:prstGeom>
          <a:noFill/>
        </p:spPr>
        <p:txBody>
          <a:bodyPr wrap="square">
            <a:spAutoFit/>
          </a:bodyPr>
          <a:lstStyle/>
          <a:p>
            <a:r>
              <a:rPr lang="tr-TR" sz="1000" noProof="1">
                <a:cs typeface="Arial" panose="020B0604020202020204" pitchFamily="34" charset="0"/>
              </a:rPr>
              <a:t>Pozitif eğim sorudan örnek vermek gerekirse haftanın arttığı müddetçe paranında artacağı anlamına gelir. Doğrusal olduğu için eğimi sabittir ve soruda bulduğumuz üzere +20 </a:t>
            </a:r>
          </a:p>
          <a:p>
            <a:r>
              <a:rPr lang="tr-TR" sz="1000" noProof="1">
                <a:cs typeface="Arial" panose="020B0604020202020204" pitchFamily="34" charset="0"/>
              </a:rPr>
              <a:t>TL değerindedir. Eğimi bulduğumuzda her hafta sabit artacak değeri bulabiliriz, eğimi 20 olan bu sorudaki grafikte her hafta sabit 20 TL parası artacaktır.</a:t>
            </a:r>
          </a:p>
          <a:p>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 Eğimi pozitif olan doğrular sağa yatık izlenim gösterir. </a:t>
            </a:r>
          </a:p>
        </p:txBody>
      </p:sp>
      <p:cxnSp>
        <p:nvCxnSpPr>
          <p:cNvPr id="31" name="Düz Ok Bağlayıcısı 30">
            <a:extLst>
              <a:ext uri="{FF2B5EF4-FFF2-40B4-BE49-F238E27FC236}">
                <a16:creationId xmlns:a16="http://schemas.microsoft.com/office/drawing/2014/main" id="{F3032E40-BC1A-4734-A919-9DF4F36373CE}"/>
              </a:ext>
            </a:extLst>
          </p:cNvPr>
          <p:cNvCxnSpPr>
            <a:cxnSpLocks/>
          </p:cNvCxnSpPr>
          <p:nvPr/>
        </p:nvCxnSpPr>
        <p:spPr>
          <a:xfrm flipH="1" flipV="1">
            <a:off x="397639" y="2219820"/>
            <a:ext cx="3256" cy="1054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Düz Ok Bağlayıcısı 31">
            <a:extLst>
              <a:ext uri="{FF2B5EF4-FFF2-40B4-BE49-F238E27FC236}">
                <a16:creationId xmlns:a16="http://schemas.microsoft.com/office/drawing/2014/main" id="{9F33CBDC-AD49-42E2-9D2F-82A1CC4543DF}"/>
              </a:ext>
            </a:extLst>
          </p:cNvPr>
          <p:cNvCxnSpPr>
            <a:cxnSpLocks/>
          </p:cNvCxnSpPr>
          <p:nvPr/>
        </p:nvCxnSpPr>
        <p:spPr>
          <a:xfrm>
            <a:off x="198597" y="3145118"/>
            <a:ext cx="1328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Metin kutusu 33">
            <a:extLst>
              <a:ext uri="{FF2B5EF4-FFF2-40B4-BE49-F238E27FC236}">
                <a16:creationId xmlns:a16="http://schemas.microsoft.com/office/drawing/2014/main" id="{13655AA4-5529-4A0C-84E4-CA2B259F40B8}"/>
              </a:ext>
            </a:extLst>
          </p:cNvPr>
          <p:cNvSpPr txBox="1"/>
          <p:nvPr/>
        </p:nvSpPr>
        <p:spPr>
          <a:xfrm>
            <a:off x="359616" y="2127351"/>
            <a:ext cx="1127155" cy="230832"/>
          </a:xfrm>
          <a:prstGeom prst="rect">
            <a:avLst/>
          </a:prstGeom>
          <a:noFill/>
        </p:spPr>
        <p:txBody>
          <a:bodyPr wrap="square">
            <a:spAutoFit/>
          </a:bodyPr>
          <a:lstStyle/>
          <a:p>
            <a:r>
              <a:rPr lang="tr-TR" sz="900" noProof="1">
                <a:cs typeface="Arial" panose="020B0604020202020204" pitchFamily="34" charset="0"/>
              </a:rPr>
              <a:t>Ali`nin Parası (TL)</a:t>
            </a:r>
          </a:p>
        </p:txBody>
      </p:sp>
      <p:sp>
        <p:nvSpPr>
          <p:cNvPr id="35" name="Metin kutusu 34">
            <a:extLst>
              <a:ext uri="{FF2B5EF4-FFF2-40B4-BE49-F238E27FC236}">
                <a16:creationId xmlns:a16="http://schemas.microsoft.com/office/drawing/2014/main" id="{6D2B3A27-8B87-4E63-987D-EC0916CD2EB2}"/>
              </a:ext>
            </a:extLst>
          </p:cNvPr>
          <p:cNvSpPr txBox="1"/>
          <p:nvPr/>
        </p:nvSpPr>
        <p:spPr>
          <a:xfrm>
            <a:off x="1496326" y="3026824"/>
            <a:ext cx="1175805" cy="230832"/>
          </a:xfrm>
          <a:prstGeom prst="rect">
            <a:avLst/>
          </a:prstGeom>
          <a:noFill/>
        </p:spPr>
        <p:txBody>
          <a:bodyPr wrap="square">
            <a:spAutoFit/>
          </a:bodyPr>
          <a:lstStyle/>
          <a:p>
            <a:r>
              <a:rPr lang="tr-TR" sz="900" noProof="1">
                <a:cs typeface="Arial" panose="020B0604020202020204" pitchFamily="34" charset="0"/>
              </a:rPr>
              <a:t>Zaman (Hafta)</a:t>
            </a:r>
          </a:p>
        </p:txBody>
      </p:sp>
      <p:cxnSp>
        <p:nvCxnSpPr>
          <p:cNvPr id="36" name="Düz Bağlayıcı 35">
            <a:extLst>
              <a:ext uri="{FF2B5EF4-FFF2-40B4-BE49-F238E27FC236}">
                <a16:creationId xmlns:a16="http://schemas.microsoft.com/office/drawing/2014/main" id="{7720FA8B-2888-4E4A-89B7-E99FE4CCDC3F}"/>
              </a:ext>
            </a:extLst>
          </p:cNvPr>
          <p:cNvCxnSpPr>
            <a:cxnSpLocks/>
          </p:cNvCxnSpPr>
          <p:nvPr/>
        </p:nvCxnSpPr>
        <p:spPr>
          <a:xfrm flipV="1">
            <a:off x="407796" y="2400399"/>
            <a:ext cx="627640" cy="512957"/>
          </a:xfrm>
          <a:prstGeom prst="line">
            <a:avLst/>
          </a:prstGeom>
          <a:ln>
            <a:solidFill>
              <a:srgbClr val="C00000"/>
            </a:solidFill>
          </a:ln>
        </p:spPr>
        <p:style>
          <a:lnRef idx="1">
            <a:schemeClr val="dk1"/>
          </a:lnRef>
          <a:fillRef idx="0">
            <a:schemeClr val="dk1"/>
          </a:fillRef>
          <a:effectRef idx="0">
            <a:schemeClr val="dk1"/>
          </a:effectRef>
          <a:fontRef idx="minor">
            <a:schemeClr val="tx1"/>
          </a:fontRef>
        </p:style>
      </p:cxnSp>
      <p:sp>
        <p:nvSpPr>
          <p:cNvPr id="37" name="Metin kutusu 36">
            <a:extLst>
              <a:ext uri="{FF2B5EF4-FFF2-40B4-BE49-F238E27FC236}">
                <a16:creationId xmlns:a16="http://schemas.microsoft.com/office/drawing/2014/main" id="{48FE372E-26BA-4D49-A10D-E4CA4F4CA36A}"/>
              </a:ext>
            </a:extLst>
          </p:cNvPr>
          <p:cNvSpPr txBox="1"/>
          <p:nvPr/>
        </p:nvSpPr>
        <p:spPr>
          <a:xfrm>
            <a:off x="116232" y="2512346"/>
            <a:ext cx="375784" cy="230832"/>
          </a:xfrm>
          <a:prstGeom prst="rect">
            <a:avLst/>
          </a:prstGeom>
          <a:noFill/>
        </p:spPr>
        <p:txBody>
          <a:bodyPr wrap="square">
            <a:spAutoFit/>
          </a:bodyPr>
          <a:lstStyle/>
          <a:p>
            <a:r>
              <a:rPr lang="tr-TR" sz="900" noProof="1">
                <a:cs typeface="Arial" panose="020B0604020202020204" pitchFamily="34" charset="0"/>
              </a:rPr>
              <a:t>120</a:t>
            </a:r>
          </a:p>
        </p:txBody>
      </p:sp>
      <p:sp>
        <p:nvSpPr>
          <p:cNvPr id="38" name="Metin kutusu 37">
            <a:extLst>
              <a:ext uri="{FF2B5EF4-FFF2-40B4-BE49-F238E27FC236}">
                <a16:creationId xmlns:a16="http://schemas.microsoft.com/office/drawing/2014/main" id="{DB31A3AB-62B5-4114-BEB8-7D9D6F8F58AC}"/>
              </a:ext>
            </a:extLst>
          </p:cNvPr>
          <p:cNvSpPr txBox="1"/>
          <p:nvPr/>
        </p:nvSpPr>
        <p:spPr>
          <a:xfrm>
            <a:off x="971844" y="3102910"/>
            <a:ext cx="270545" cy="230832"/>
          </a:xfrm>
          <a:prstGeom prst="rect">
            <a:avLst/>
          </a:prstGeom>
          <a:noFill/>
        </p:spPr>
        <p:txBody>
          <a:bodyPr wrap="square">
            <a:spAutoFit/>
          </a:bodyPr>
          <a:lstStyle/>
          <a:p>
            <a:r>
              <a:rPr lang="tr-TR" sz="900" noProof="1">
                <a:cs typeface="Arial" panose="020B0604020202020204" pitchFamily="34" charset="0"/>
              </a:rPr>
              <a:t>4</a:t>
            </a:r>
          </a:p>
        </p:txBody>
      </p:sp>
      <p:cxnSp>
        <p:nvCxnSpPr>
          <p:cNvPr id="39" name="Düz Bağlayıcı 38">
            <a:extLst>
              <a:ext uri="{FF2B5EF4-FFF2-40B4-BE49-F238E27FC236}">
                <a16:creationId xmlns:a16="http://schemas.microsoft.com/office/drawing/2014/main" id="{FEE3D527-1516-4972-821A-978339E2EBC3}"/>
              </a:ext>
            </a:extLst>
          </p:cNvPr>
          <p:cNvCxnSpPr/>
          <p:nvPr/>
        </p:nvCxnSpPr>
        <p:spPr>
          <a:xfrm>
            <a:off x="407796" y="2652416"/>
            <a:ext cx="31494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0" name="Düz Bağlayıcı 39">
            <a:extLst>
              <a:ext uri="{FF2B5EF4-FFF2-40B4-BE49-F238E27FC236}">
                <a16:creationId xmlns:a16="http://schemas.microsoft.com/office/drawing/2014/main" id="{B0EFB6A3-1930-4994-A226-468B8A6E5502}"/>
              </a:ext>
            </a:extLst>
          </p:cNvPr>
          <p:cNvCxnSpPr>
            <a:cxnSpLocks/>
          </p:cNvCxnSpPr>
          <p:nvPr/>
        </p:nvCxnSpPr>
        <p:spPr>
          <a:xfrm>
            <a:off x="721616" y="2660812"/>
            <a:ext cx="0" cy="48166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1" name="Metin kutusu 40">
            <a:extLst>
              <a:ext uri="{FF2B5EF4-FFF2-40B4-BE49-F238E27FC236}">
                <a16:creationId xmlns:a16="http://schemas.microsoft.com/office/drawing/2014/main" id="{6B9A5620-5ECF-4195-9F0D-D8A752498AEA}"/>
              </a:ext>
            </a:extLst>
          </p:cNvPr>
          <p:cNvSpPr txBox="1"/>
          <p:nvPr/>
        </p:nvSpPr>
        <p:spPr>
          <a:xfrm>
            <a:off x="148824" y="2789018"/>
            <a:ext cx="314948" cy="230832"/>
          </a:xfrm>
          <a:prstGeom prst="rect">
            <a:avLst/>
          </a:prstGeom>
          <a:noFill/>
        </p:spPr>
        <p:txBody>
          <a:bodyPr wrap="square">
            <a:spAutoFit/>
          </a:bodyPr>
          <a:lstStyle/>
          <a:p>
            <a:r>
              <a:rPr lang="tr-TR" sz="900" noProof="1">
                <a:cs typeface="Arial" panose="020B0604020202020204" pitchFamily="34" charset="0"/>
              </a:rPr>
              <a:t>60</a:t>
            </a:r>
          </a:p>
        </p:txBody>
      </p:sp>
      <p:sp>
        <p:nvSpPr>
          <p:cNvPr id="42" name="Metin kutusu 41">
            <a:extLst>
              <a:ext uri="{FF2B5EF4-FFF2-40B4-BE49-F238E27FC236}">
                <a16:creationId xmlns:a16="http://schemas.microsoft.com/office/drawing/2014/main" id="{852365D8-EA28-4659-ABD5-87CB29C14B94}"/>
              </a:ext>
            </a:extLst>
          </p:cNvPr>
          <p:cNvSpPr txBox="1"/>
          <p:nvPr/>
        </p:nvSpPr>
        <p:spPr>
          <a:xfrm>
            <a:off x="592732" y="3096005"/>
            <a:ext cx="239520" cy="230832"/>
          </a:xfrm>
          <a:prstGeom prst="rect">
            <a:avLst/>
          </a:prstGeom>
          <a:noFill/>
        </p:spPr>
        <p:txBody>
          <a:bodyPr wrap="square">
            <a:spAutoFit/>
          </a:bodyPr>
          <a:lstStyle/>
          <a:p>
            <a:r>
              <a:rPr lang="tr-TR" sz="900" noProof="1">
                <a:cs typeface="Arial" panose="020B0604020202020204" pitchFamily="34" charset="0"/>
              </a:rPr>
              <a:t>3</a:t>
            </a:r>
          </a:p>
        </p:txBody>
      </p:sp>
      <p:sp>
        <p:nvSpPr>
          <p:cNvPr id="43" name="Metin kutusu 42">
            <a:extLst>
              <a:ext uri="{FF2B5EF4-FFF2-40B4-BE49-F238E27FC236}">
                <a16:creationId xmlns:a16="http://schemas.microsoft.com/office/drawing/2014/main" id="{50EC0354-F745-4969-9637-0CE795A9F94D}"/>
              </a:ext>
            </a:extLst>
          </p:cNvPr>
          <p:cNvSpPr txBox="1"/>
          <p:nvPr/>
        </p:nvSpPr>
        <p:spPr>
          <a:xfrm>
            <a:off x="206018" y="3100283"/>
            <a:ext cx="239520" cy="230832"/>
          </a:xfrm>
          <a:prstGeom prst="rect">
            <a:avLst/>
          </a:prstGeom>
          <a:noFill/>
        </p:spPr>
        <p:txBody>
          <a:bodyPr wrap="square">
            <a:spAutoFit/>
          </a:bodyPr>
          <a:lstStyle/>
          <a:p>
            <a:r>
              <a:rPr lang="tr-TR" sz="900" noProof="1">
                <a:cs typeface="Arial" panose="020B0604020202020204" pitchFamily="34" charset="0"/>
              </a:rPr>
              <a:t>0</a:t>
            </a:r>
          </a:p>
        </p:txBody>
      </p:sp>
      <p:cxnSp>
        <p:nvCxnSpPr>
          <p:cNvPr id="4" name="Düz Ok Bağlayıcısı 3">
            <a:extLst>
              <a:ext uri="{FF2B5EF4-FFF2-40B4-BE49-F238E27FC236}">
                <a16:creationId xmlns:a16="http://schemas.microsoft.com/office/drawing/2014/main" id="{3706A77E-A5B4-41E8-A404-872617337885}"/>
              </a:ext>
            </a:extLst>
          </p:cNvPr>
          <p:cNvCxnSpPr>
            <a:cxnSpLocks/>
          </p:cNvCxnSpPr>
          <p:nvPr/>
        </p:nvCxnSpPr>
        <p:spPr>
          <a:xfrm flipH="1">
            <a:off x="919771" y="2555668"/>
            <a:ext cx="1275609" cy="2257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4" name="Metin kutusu 43">
            <a:extLst>
              <a:ext uri="{FF2B5EF4-FFF2-40B4-BE49-F238E27FC236}">
                <a16:creationId xmlns:a16="http://schemas.microsoft.com/office/drawing/2014/main" id="{E476C62D-02CC-4429-86A8-6A1E0883ED62}"/>
              </a:ext>
            </a:extLst>
          </p:cNvPr>
          <p:cNvSpPr txBox="1"/>
          <p:nvPr/>
        </p:nvSpPr>
        <p:spPr>
          <a:xfrm>
            <a:off x="1607477" y="2300230"/>
            <a:ext cx="1175805" cy="230832"/>
          </a:xfrm>
          <a:prstGeom prst="rect">
            <a:avLst/>
          </a:prstGeom>
          <a:noFill/>
        </p:spPr>
        <p:txBody>
          <a:bodyPr wrap="square">
            <a:spAutoFit/>
          </a:bodyPr>
          <a:lstStyle/>
          <a:p>
            <a:r>
              <a:rPr lang="tr-TR" sz="900" noProof="1">
                <a:cs typeface="Arial" panose="020B0604020202020204" pitchFamily="34" charset="0"/>
              </a:rPr>
              <a:t>Sağa yatık izlenim</a:t>
            </a:r>
          </a:p>
        </p:txBody>
      </p:sp>
      <p:sp>
        <p:nvSpPr>
          <p:cNvPr id="45" name="Metin kutusu 44">
            <a:extLst>
              <a:ext uri="{FF2B5EF4-FFF2-40B4-BE49-F238E27FC236}">
                <a16:creationId xmlns:a16="http://schemas.microsoft.com/office/drawing/2014/main" id="{BF0F3375-038A-455D-BB53-09F93A2E01B2}"/>
              </a:ext>
            </a:extLst>
          </p:cNvPr>
          <p:cNvSpPr txBox="1"/>
          <p:nvPr/>
        </p:nvSpPr>
        <p:spPr>
          <a:xfrm>
            <a:off x="104812" y="3598748"/>
            <a:ext cx="3307677" cy="707886"/>
          </a:xfrm>
          <a:prstGeom prst="rect">
            <a:avLst/>
          </a:prstGeom>
          <a:noFill/>
        </p:spPr>
        <p:txBody>
          <a:bodyPr wrap="square">
            <a:spAutoFit/>
          </a:bodyPr>
          <a:lstStyle/>
          <a:p>
            <a:pPr marL="171450" indent="-171450">
              <a:buFont typeface="Wingdings" panose="05000000000000000000" pitchFamily="2" charset="2"/>
              <a:buChar char="§"/>
            </a:pPr>
            <a:r>
              <a:rPr lang="tr-TR" sz="1000" noProof="1">
                <a:cs typeface="Arial" panose="020B0604020202020204" pitchFamily="34" charset="0"/>
              </a:rPr>
              <a:t>Eğimi negatif olan doğrular sağa yatık izlenim gösterir. Sorumuz üzerinden açıklamak gerekirse ; bu doğrularda, eğim negatif olduğundan hafta arttıkça para ; grafiğin eğimi kadar azalır. Örn : eğim 20 ise her hafta 20 azalır.</a:t>
            </a:r>
          </a:p>
        </p:txBody>
      </p:sp>
      <p:cxnSp>
        <p:nvCxnSpPr>
          <p:cNvPr id="61" name="Düz Ok Bağlayıcısı 60">
            <a:extLst>
              <a:ext uri="{FF2B5EF4-FFF2-40B4-BE49-F238E27FC236}">
                <a16:creationId xmlns:a16="http://schemas.microsoft.com/office/drawing/2014/main" id="{DD2C5FD5-71D7-493C-B4DD-EB29AA3A8857}"/>
              </a:ext>
            </a:extLst>
          </p:cNvPr>
          <p:cNvCxnSpPr>
            <a:cxnSpLocks/>
          </p:cNvCxnSpPr>
          <p:nvPr/>
        </p:nvCxnSpPr>
        <p:spPr>
          <a:xfrm flipH="1" flipV="1">
            <a:off x="433599" y="4393367"/>
            <a:ext cx="3256" cy="1054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Düz Ok Bağlayıcısı 61">
            <a:extLst>
              <a:ext uri="{FF2B5EF4-FFF2-40B4-BE49-F238E27FC236}">
                <a16:creationId xmlns:a16="http://schemas.microsoft.com/office/drawing/2014/main" id="{CE70956C-F547-493E-B63F-110F222026CE}"/>
              </a:ext>
            </a:extLst>
          </p:cNvPr>
          <p:cNvCxnSpPr>
            <a:cxnSpLocks/>
          </p:cNvCxnSpPr>
          <p:nvPr/>
        </p:nvCxnSpPr>
        <p:spPr>
          <a:xfrm>
            <a:off x="234557" y="5318665"/>
            <a:ext cx="1328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Metin kutusu 62">
            <a:extLst>
              <a:ext uri="{FF2B5EF4-FFF2-40B4-BE49-F238E27FC236}">
                <a16:creationId xmlns:a16="http://schemas.microsoft.com/office/drawing/2014/main" id="{2F6B5EF1-B30B-49DA-A962-3A01FB09596C}"/>
              </a:ext>
            </a:extLst>
          </p:cNvPr>
          <p:cNvSpPr txBox="1"/>
          <p:nvPr/>
        </p:nvSpPr>
        <p:spPr>
          <a:xfrm>
            <a:off x="395576" y="4300898"/>
            <a:ext cx="1127155" cy="230832"/>
          </a:xfrm>
          <a:prstGeom prst="rect">
            <a:avLst/>
          </a:prstGeom>
          <a:noFill/>
        </p:spPr>
        <p:txBody>
          <a:bodyPr wrap="square">
            <a:spAutoFit/>
          </a:bodyPr>
          <a:lstStyle/>
          <a:p>
            <a:r>
              <a:rPr lang="tr-TR" sz="900" noProof="1">
                <a:cs typeface="Arial" panose="020B0604020202020204" pitchFamily="34" charset="0"/>
              </a:rPr>
              <a:t>Ali`nin Parası (TL)</a:t>
            </a:r>
          </a:p>
        </p:txBody>
      </p:sp>
      <p:sp>
        <p:nvSpPr>
          <p:cNvPr id="64" name="Metin kutusu 63">
            <a:extLst>
              <a:ext uri="{FF2B5EF4-FFF2-40B4-BE49-F238E27FC236}">
                <a16:creationId xmlns:a16="http://schemas.microsoft.com/office/drawing/2014/main" id="{BC59385F-57BC-4EF7-A9FF-65A8010A40C0}"/>
              </a:ext>
            </a:extLst>
          </p:cNvPr>
          <p:cNvSpPr txBox="1"/>
          <p:nvPr/>
        </p:nvSpPr>
        <p:spPr>
          <a:xfrm>
            <a:off x="1532286" y="5200371"/>
            <a:ext cx="1175805" cy="230832"/>
          </a:xfrm>
          <a:prstGeom prst="rect">
            <a:avLst/>
          </a:prstGeom>
          <a:noFill/>
        </p:spPr>
        <p:txBody>
          <a:bodyPr wrap="square">
            <a:spAutoFit/>
          </a:bodyPr>
          <a:lstStyle/>
          <a:p>
            <a:r>
              <a:rPr lang="tr-TR" sz="900" noProof="1">
                <a:cs typeface="Arial" panose="020B0604020202020204" pitchFamily="34" charset="0"/>
              </a:rPr>
              <a:t>Zaman (Hafta)</a:t>
            </a:r>
          </a:p>
        </p:txBody>
      </p:sp>
      <p:cxnSp>
        <p:nvCxnSpPr>
          <p:cNvPr id="65" name="Düz Bağlayıcı 64">
            <a:extLst>
              <a:ext uri="{FF2B5EF4-FFF2-40B4-BE49-F238E27FC236}">
                <a16:creationId xmlns:a16="http://schemas.microsoft.com/office/drawing/2014/main" id="{50FA1513-3AAC-4C2D-83D6-A507AD2120A1}"/>
              </a:ext>
            </a:extLst>
          </p:cNvPr>
          <p:cNvCxnSpPr>
            <a:cxnSpLocks/>
          </p:cNvCxnSpPr>
          <p:nvPr/>
        </p:nvCxnSpPr>
        <p:spPr>
          <a:xfrm>
            <a:off x="325778" y="4473777"/>
            <a:ext cx="874965" cy="731119"/>
          </a:xfrm>
          <a:prstGeom prst="line">
            <a:avLst/>
          </a:prstGeom>
          <a:ln>
            <a:solidFill>
              <a:srgbClr val="C00000"/>
            </a:solidFill>
          </a:ln>
        </p:spPr>
        <p:style>
          <a:lnRef idx="1">
            <a:schemeClr val="dk1"/>
          </a:lnRef>
          <a:fillRef idx="0">
            <a:schemeClr val="dk1"/>
          </a:fillRef>
          <a:effectRef idx="0">
            <a:schemeClr val="dk1"/>
          </a:effectRef>
          <a:fontRef idx="minor">
            <a:schemeClr val="tx1"/>
          </a:fontRef>
        </p:style>
      </p:cxnSp>
      <p:sp>
        <p:nvSpPr>
          <p:cNvPr id="66" name="Metin kutusu 65">
            <a:extLst>
              <a:ext uri="{FF2B5EF4-FFF2-40B4-BE49-F238E27FC236}">
                <a16:creationId xmlns:a16="http://schemas.microsoft.com/office/drawing/2014/main" id="{4722DFC9-0CBC-4EA8-AB76-2D4A8D234705}"/>
              </a:ext>
            </a:extLst>
          </p:cNvPr>
          <p:cNvSpPr txBox="1"/>
          <p:nvPr/>
        </p:nvSpPr>
        <p:spPr>
          <a:xfrm>
            <a:off x="152192" y="4685893"/>
            <a:ext cx="375784" cy="230832"/>
          </a:xfrm>
          <a:prstGeom prst="rect">
            <a:avLst/>
          </a:prstGeom>
          <a:noFill/>
        </p:spPr>
        <p:txBody>
          <a:bodyPr wrap="square">
            <a:spAutoFit/>
          </a:bodyPr>
          <a:lstStyle/>
          <a:p>
            <a:r>
              <a:rPr lang="tr-TR" sz="900" noProof="1">
                <a:cs typeface="Arial" panose="020B0604020202020204" pitchFamily="34" charset="0"/>
              </a:rPr>
              <a:t>120</a:t>
            </a:r>
          </a:p>
        </p:txBody>
      </p:sp>
      <p:cxnSp>
        <p:nvCxnSpPr>
          <p:cNvPr id="68" name="Düz Bağlayıcı 67">
            <a:extLst>
              <a:ext uri="{FF2B5EF4-FFF2-40B4-BE49-F238E27FC236}">
                <a16:creationId xmlns:a16="http://schemas.microsoft.com/office/drawing/2014/main" id="{0C8352E6-1D02-44F2-A80E-E9D26783D09A}"/>
              </a:ext>
            </a:extLst>
          </p:cNvPr>
          <p:cNvCxnSpPr/>
          <p:nvPr/>
        </p:nvCxnSpPr>
        <p:spPr>
          <a:xfrm>
            <a:off x="443756" y="4825963"/>
            <a:ext cx="31494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9" name="Düz Bağlayıcı 68">
            <a:extLst>
              <a:ext uri="{FF2B5EF4-FFF2-40B4-BE49-F238E27FC236}">
                <a16:creationId xmlns:a16="http://schemas.microsoft.com/office/drawing/2014/main" id="{01B9F125-386E-4DF2-ACD6-E6C87D25CB86}"/>
              </a:ext>
            </a:extLst>
          </p:cNvPr>
          <p:cNvCxnSpPr>
            <a:cxnSpLocks/>
          </p:cNvCxnSpPr>
          <p:nvPr/>
        </p:nvCxnSpPr>
        <p:spPr>
          <a:xfrm>
            <a:off x="757576" y="4834359"/>
            <a:ext cx="0" cy="48166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72" name="Metin kutusu 71">
            <a:extLst>
              <a:ext uri="{FF2B5EF4-FFF2-40B4-BE49-F238E27FC236}">
                <a16:creationId xmlns:a16="http://schemas.microsoft.com/office/drawing/2014/main" id="{1317F757-C6E1-4D4D-B418-B064D1FB9B62}"/>
              </a:ext>
            </a:extLst>
          </p:cNvPr>
          <p:cNvSpPr txBox="1"/>
          <p:nvPr/>
        </p:nvSpPr>
        <p:spPr>
          <a:xfrm>
            <a:off x="184784" y="4962565"/>
            <a:ext cx="314948" cy="230832"/>
          </a:xfrm>
          <a:prstGeom prst="rect">
            <a:avLst/>
          </a:prstGeom>
          <a:noFill/>
        </p:spPr>
        <p:txBody>
          <a:bodyPr wrap="square">
            <a:spAutoFit/>
          </a:bodyPr>
          <a:lstStyle/>
          <a:p>
            <a:r>
              <a:rPr lang="tr-TR" sz="900" noProof="1">
                <a:cs typeface="Arial" panose="020B0604020202020204" pitchFamily="34" charset="0"/>
              </a:rPr>
              <a:t>60</a:t>
            </a:r>
          </a:p>
        </p:txBody>
      </p:sp>
      <p:sp>
        <p:nvSpPr>
          <p:cNvPr id="73" name="Metin kutusu 72">
            <a:extLst>
              <a:ext uri="{FF2B5EF4-FFF2-40B4-BE49-F238E27FC236}">
                <a16:creationId xmlns:a16="http://schemas.microsoft.com/office/drawing/2014/main" id="{BF4454A2-B1EA-44D4-854B-189213CA40EC}"/>
              </a:ext>
            </a:extLst>
          </p:cNvPr>
          <p:cNvSpPr txBox="1"/>
          <p:nvPr/>
        </p:nvSpPr>
        <p:spPr>
          <a:xfrm>
            <a:off x="628692" y="5269552"/>
            <a:ext cx="239520" cy="230832"/>
          </a:xfrm>
          <a:prstGeom prst="rect">
            <a:avLst/>
          </a:prstGeom>
          <a:noFill/>
        </p:spPr>
        <p:txBody>
          <a:bodyPr wrap="square">
            <a:spAutoFit/>
          </a:bodyPr>
          <a:lstStyle/>
          <a:p>
            <a:r>
              <a:rPr lang="tr-TR" sz="900" noProof="1">
                <a:cs typeface="Arial" panose="020B0604020202020204" pitchFamily="34" charset="0"/>
              </a:rPr>
              <a:t>3</a:t>
            </a:r>
          </a:p>
        </p:txBody>
      </p:sp>
      <p:sp>
        <p:nvSpPr>
          <p:cNvPr id="74" name="Metin kutusu 73">
            <a:extLst>
              <a:ext uri="{FF2B5EF4-FFF2-40B4-BE49-F238E27FC236}">
                <a16:creationId xmlns:a16="http://schemas.microsoft.com/office/drawing/2014/main" id="{3C5F834F-B5AB-478E-9077-F5283985F6A6}"/>
              </a:ext>
            </a:extLst>
          </p:cNvPr>
          <p:cNvSpPr txBox="1"/>
          <p:nvPr/>
        </p:nvSpPr>
        <p:spPr>
          <a:xfrm>
            <a:off x="241978" y="5273830"/>
            <a:ext cx="239520" cy="230832"/>
          </a:xfrm>
          <a:prstGeom prst="rect">
            <a:avLst/>
          </a:prstGeom>
          <a:noFill/>
        </p:spPr>
        <p:txBody>
          <a:bodyPr wrap="square">
            <a:spAutoFit/>
          </a:bodyPr>
          <a:lstStyle/>
          <a:p>
            <a:r>
              <a:rPr lang="tr-TR" sz="900" noProof="1">
                <a:cs typeface="Arial" panose="020B0604020202020204" pitchFamily="34" charset="0"/>
              </a:rPr>
              <a:t>0</a:t>
            </a:r>
          </a:p>
        </p:txBody>
      </p:sp>
      <p:cxnSp>
        <p:nvCxnSpPr>
          <p:cNvPr id="75" name="Düz Ok Bağlayıcısı 74">
            <a:extLst>
              <a:ext uri="{FF2B5EF4-FFF2-40B4-BE49-F238E27FC236}">
                <a16:creationId xmlns:a16="http://schemas.microsoft.com/office/drawing/2014/main" id="{EC2674CB-798C-49F8-BC56-A36514BFC4B0}"/>
              </a:ext>
            </a:extLst>
          </p:cNvPr>
          <p:cNvCxnSpPr>
            <a:cxnSpLocks/>
          </p:cNvCxnSpPr>
          <p:nvPr/>
        </p:nvCxnSpPr>
        <p:spPr>
          <a:xfrm flipH="1">
            <a:off x="1030424" y="4729215"/>
            <a:ext cx="1200917" cy="23335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76" name="Metin kutusu 75">
            <a:extLst>
              <a:ext uri="{FF2B5EF4-FFF2-40B4-BE49-F238E27FC236}">
                <a16:creationId xmlns:a16="http://schemas.microsoft.com/office/drawing/2014/main" id="{5260D6EB-A2B2-421D-B0F1-228633E3D62F}"/>
              </a:ext>
            </a:extLst>
          </p:cNvPr>
          <p:cNvSpPr txBox="1"/>
          <p:nvPr/>
        </p:nvSpPr>
        <p:spPr>
          <a:xfrm>
            <a:off x="1643437" y="4473777"/>
            <a:ext cx="1175805" cy="230832"/>
          </a:xfrm>
          <a:prstGeom prst="rect">
            <a:avLst/>
          </a:prstGeom>
          <a:noFill/>
        </p:spPr>
        <p:txBody>
          <a:bodyPr wrap="square">
            <a:spAutoFit/>
          </a:bodyPr>
          <a:lstStyle/>
          <a:p>
            <a:r>
              <a:rPr lang="tr-TR" sz="900" noProof="1">
                <a:cs typeface="Arial" panose="020B0604020202020204" pitchFamily="34" charset="0"/>
              </a:rPr>
              <a:t>Sola yatık izlenim</a:t>
            </a:r>
          </a:p>
        </p:txBody>
      </p:sp>
      <p:sp>
        <p:nvSpPr>
          <p:cNvPr id="80" name="Metin kutusu 79">
            <a:extLst>
              <a:ext uri="{FF2B5EF4-FFF2-40B4-BE49-F238E27FC236}">
                <a16:creationId xmlns:a16="http://schemas.microsoft.com/office/drawing/2014/main" id="{575043BE-FDFD-48D6-B2AA-89CE1DDFDD52}"/>
              </a:ext>
            </a:extLst>
          </p:cNvPr>
          <p:cNvSpPr txBox="1"/>
          <p:nvPr/>
        </p:nvSpPr>
        <p:spPr>
          <a:xfrm>
            <a:off x="90866" y="5492592"/>
            <a:ext cx="3307677" cy="400110"/>
          </a:xfrm>
          <a:prstGeom prst="rect">
            <a:avLst/>
          </a:prstGeom>
          <a:noFill/>
        </p:spPr>
        <p:txBody>
          <a:bodyPr wrap="square">
            <a:spAutoFit/>
          </a:bodyPr>
          <a:lstStyle/>
          <a:p>
            <a:pPr marL="171450" indent="-171450">
              <a:buFont typeface="Wingdings" panose="05000000000000000000" pitchFamily="2" charset="2"/>
              <a:buChar char="§"/>
            </a:pPr>
            <a:r>
              <a:rPr lang="tr-TR" sz="1000" noProof="1">
                <a:cs typeface="Arial" panose="020B0604020202020204" pitchFamily="34" charset="0"/>
              </a:rPr>
              <a:t>Görüldüğü üzere doğru sola yatmaya meyilli durumda. </a:t>
            </a:r>
          </a:p>
          <a:p>
            <a:pPr marL="171450" indent="-171450">
              <a:buFont typeface="Wingdings" panose="05000000000000000000" pitchFamily="2" charset="2"/>
              <a:buChar char="§"/>
            </a:pPr>
            <a:r>
              <a:rPr lang="tr-TR" sz="1000" noProof="1">
                <a:cs typeface="Arial" panose="020B0604020202020204" pitchFamily="34" charset="0"/>
              </a:rPr>
              <a:t>Şimdi eğim nasıl bulunur onu öğretelim. </a:t>
            </a:r>
          </a:p>
        </p:txBody>
      </p:sp>
      <p:cxnSp>
        <p:nvCxnSpPr>
          <p:cNvPr id="82" name="Düz Ok Bağlayıcısı 81">
            <a:extLst>
              <a:ext uri="{FF2B5EF4-FFF2-40B4-BE49-F238E27FC236}">
                <a16:creationId xmlns:a16="http://schemas.microsoft.com/office/drawing/2014/main" id="{73B583AF-7E3A-4187-9C25-E17E4C18F638}"/>
              </a:ext>
            </a:extLst>
          </p:cNvPr>
          <p:cNvCxnSpPr>
            <a:cxnSpLocks/>
          </p:cNvCxnSpPr>
          <p:nvPr/>
        </p:nvCxnSpPr>
        <p:spPr>
          <a:xfrm flipH="1" flipV="1">
            <a:off x="375139" y="5963123"/>
            <a:ext cx="3256" cy="1054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3" name="Düz Ok Bağlayıcısı 82">
            <a:extLst>
              <a:ext uri="{FF2B5EF4-FFF2-40B4-BE49-F238E27FC236}">
                <a16:creationId xmlns:a16="http://schemas.microsoft.com/office/drawing/2014/main" id="{9F64E367-CE64-4C9D-AC69-930AB7B262FF}"/>
              </a:ext>
            </a:extLst>
          </p:cNvPr>
          <p:cNvCxnSpPr>
            <a:cxnSpLocks/>
          </p:cNvCxnSpPr>
          <p:nvPr/>
        </p:nvCxnSpPr>
        <p:spPr>
          <a:xfrm>
            <a:off x="176097" y="6888421"/>
            <a:ext cx="1328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Metin kutusu 83">
            <a:extLst>
              <a:ext uri="{FF2B5EF4-FFF2-40B4-BE49-F238E27FC236}">
                <a16:creationId xmlns:a16="http://schemas.microsoft.com/office/drawing/2014/main" id="{CD1BD6EA-0186-400F-A7DF-3B78E780F443}"/>
              </a:ext>
            </a:extLst>
          </p:cNvPr>
          <p:cNvSpPr txBox="1"/>
          <p:nvPr/>
        </p:nvSpPr>
        <p:spPr>
          <a:xfrm>
            <a:off x="337116" y="5870654"/>
            <a:ext cx="1127155" cy="230832"/>
          </a:xfrm>
          <a:prstGeom prst="rect">
            <a:avLst/>
          </a:prstGeom>
          <a:noFill/>
        </p:spPr>
        <p:txBody>
          <a:bodyPr wrap="square">
            <a:spAutoFit/>
          </a:bodyPr>
          <a:lstStyle/>
          <a:p>
            <a:r>
              <a:rPr lang="tr-TR" sz="900" noProof="1">
                <a:cs typeface="Arial" panose="020B0604020202020204" pitchFamily="34" charset="0"/>
              </a:rPr>
              <a:t>Ali`nin Parası (TL)</a:t>
            </a:r>
          </a:p>
        </p:txBody>
      </p:sp>
      <p:sp>
        <p:nvSpPr>
          <p:cNvPr id="85" name="Metin kutusu 84">
            <a:extLst>
              <a:ext uri="{FF2B5EF4-FFF2-40B4-BE49-F238E27FC236}">
                <a16:creationId xmlns:a16="http://schemas.microsoft.com/office/drawing/2014/main" id="{061D3661-66F9-4C9B-A115-83E5A3A24177}"/>
              </a:ext>
            </a:extLst>
          </p:cNvPr>
          <p:cNvSpPr txBox="1"/>
          <p:nvPr/>
        </p:nvSpPr>
        <p:spPr>
          <a:xfrm>
            <a:off x="1473826" y="6770127"/>
            <a:ext cx="1175805" cy="230832"/>
          </a:xfrm>
          <a:prstGeom prst="rect">
            <a:avLst/>
          </a:prstGeom>
          <a:noFill/>
        </p:spPr>
        <p:txBody>
          <a:bodyPr wrap="square">
            <a:spAutoFit/>
          </a:bodyPr>
          <a:lstStyle/>
          <a:p>
            <a:r>
              <a:rPr lang="tr-TR" sz="900" noProof="1">
                <a:cs typeface="Arial" panose="020B0604020202020204" pitchFamily="34" charset="0"/>
              </a:rPr>
              <a:t>Zaman (Hafta)</a:t>
            </a:r>
          </a:p>
        </p:txBody>
      </p:sp>
      <p:cxnSp>
        <p:nvCxnSpPr>
          <p:cNvPr id="88" name="Düz Bağlayıcı 87">
            <a:extLst>
              <a:ext uri="{FF2B5EF4-FFF2-40B4-BE49-F238E27FC236}">
                <a16:creationId xmlns:a16="http://schemas.microsoft.com/office/drawing/2014/main" id="{D5B26192-3599-4783-84B1-22269730606B}"/>
              </a:ext>
            </a:extLst>
          </p:cNvPr>
          <p:cNvCxnSpPr>
            <a:cxnSpLocks/>
          </p:cNvCxnSpPr>
          <p:nvPr/>
        </p:nvCxnSpPr>
        <p:spPr>
          <a:xfrm flipV="1">
            <a:off x="376767" y="6132739"/>
            <a:ext cx="693109" cy="517639"/>
          </a:xfrm>
          <a:prstGeom prst="line">
            <a:avLst/>
          </a:prstGeom>
          <a:ln>
            <a:solidFill>
              <a:srgbClr val="C00000"/>
            </a:solidFill>
          </a:ln>
        </p:spPr>
        <p:style>
          <a:lnRef idx="1">
            <a:schemeClr val="dk1"/>
          </a:lnRef>
          <a:fillRef idx="0">
            <a:schemeClr val="dk1"/>
          </a:fillRef>
          <a:effectRef idx="0">
            <a:schemeClr val="dk1"/>
          </a:effectRef>
          <a:fontRef idx="minor">
            <a:schemeClr val="tx1"/>
          </a:fontRef>
        </p:style>
      </p:cxnSp>
      <p:sp>
        <p:nvSpPr>
          <p:cNvPr id="89" name="Metin kutusu 88">
            <a:extLst>
              <a:ext uri="{FF2B5EF4-FFF2-40B4-BE49-F238E27FC236}">
                <a16:creationId xmlns:a16="http://schemas.microsoft.com/office/drawing/2014/main" id="{9FB87B1E-4061-4B06-B87E-651C39BBE103}"/>
              </a:ext>
            </a:extLst>
          </p:cNvPr>
          <p:cNvSpPr txBox="1"/>
          <p:nvPr/>
        </p:nvSpPr>
        <p:spPr>
          <a:xfrm>
            <a:off x="93732" y="6255649"/>
            <a:ext cx="375784" cy="230832"/>
          </a:xfrm>
          <a:prstGeom prst="rect">
            <a:avLst/>
          </a:prstGeom>
          <a:noFill/>
        </p:spPr>
        <p:txBody>
          <a:bodyPr wrap="square">
            <a:spAutoFit/>
          </a:bodyPr>
          <a:lstStyle/>
          <a:p>
            <a:r>
              <a:rPr lang="tr-TR" sz="900" noProof="1">
                <a:cs typeface="Arial" panose="020B0604020202020204" pitchFamily="34" charset="0"/>
              </a:rPr>
              <a:t>120</a:t>
            </a:r>
          </a:p>
        </p:txBody>
      </p:sp>
      <p:cxnSp>
        <p:nvCxnSpPr>
          <p:cNvPr id="90" name="Düz Bağlayıcı 89">
            <a:extLst>
              <a:ext uri="{FF2B5EF4-FFF2-40B4-BE49-F238E27FC236}">
                <a16:creationId xmlns:a16="http://schemas.microsoft.com/office/drawing/2014/main" id="{B071D05D-9A09-4888-BDFD-566C1DE6C87A}"/>
              </a:ext>
            </a:extLst>
          </p:cNvPr>
          <p:cNvCxnSpPr>
            <a:cxnSpLocks/>
          </p:cNvCxnSpPr>
          <p:nvPr/>
        </p:nvCxnSpPr>
        <p:spPr>
          <a:xfrm>
            <a:off x="699116" y="6404115"/>
            <a:ext cx="0" cy="48166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91" name="Metin kutusu 90">
            <a:extLst>
              <a:ext uri="{FF2B5EF4-FFF2-40B4-BE49-F238E27FC236}">
                <a16:creationId xmlns:a16="http://schemas.microsoft.com/office/drawing/2014/main" id="{F923AAA2-762E-40ED-B953-23D1795C5E6E}"/>
              </a:ext>
            </a:extLst>
          </p:cNvPr>
          <p:cNvSpPr txBox="1"/>
          <p:nvPr/>
        </p:nvSpPr>
        <p:spPr>
          <a:xfrm>
            <a:off x="126324" y="6532321"/>
            <a:ext cx="314948" cy="230832"/>
          </a:xfrm>
          <a:prstGeom prst="rect">
            <a:avLst/>
          </a:prstGeom>
          <a:noFill/>
        </p:spPr>
        <p:txBody>
          <a:bodyPr wrap="square">
            <a:spAutoFit/>
          </a:bodyPr>
          <a:lstStyle/>
          <a:p>
            <a:r>
              <a:rPr lang="tr-TR" sz="900" noProof="1">
                <a:cs typeface="Arial" panose="020B0604020202020204" pitchFamily="34" charset="0"/>
              </a:rPr>
              <a:t>60</a:t>
            </a:r>
          </a:p>
        </p:txBody>
      </p:sp>
      <p:sp>
        <p:nvSpPr>
          <p:cNvPr id="92" name="Metin kutusu 91">
            <a:extLst>
              <a:ext uri="{FF2B5EF4-FFF2-40B4-BE49-F238E27FC236}">
                <a16:creationId xmlns:a16="http://schemas.microsoft.com/office/drawing/2014/main" id="{A829889D-7722-45C6-BD45-6AD8C3A7C65A}"/>
              </a:ext>
            </a:extLst>
          </p:cNvPr>
          <p:cNvSpPr txBox="1"/>
          <p:nvPr/>
        </p:nvSpPr>
        <p:spPr>
          <a:xfrm>
            <a:off x="570232" y="6839308"/>
            <a:ext cx="239520" cy="230832"/>
          </a:xfrm>
          <a:prstGeom prst="rect">
            <a:avLst/>
          </a:prstGeom>
          <a:noFill/>
        </p:spPr>
        <p:txBody>
          <a:bodyPr wrap="square">
            <a:spAutoFit/>
          </a:bodyPr>
          <a:lstStyle/>
          <a:p>
            <a:r>
              <a:rPr lang="tr-TR" sz="900" noProof="1">
                <a:cs typeface="Arial" panose="020B0604020202020204" pitchFamily="34" charset="0"/>
              </a:rPr>
              <a:t>3</a:t>
            </a:r>
          </a:p>
        </p:txBody>
      </p:sp>
      <p:sp>
        <p:nvSpPr>
          <p:cNvPr id="93" name="Metin kutusu 92">
            <a:extLst>
              <a:ext uri="{FF2B5EF4-FFF2-40B4-BE49-F238E27FC236}">
                <a16:creationId xmlns:a16="http://schemas.microsoft.com/office/drawing/2014/main" id="{C34A2262-B0E0-41B9-93FD-EDE31FB2D52E}"/>
              </a:ext>
            </a:extLst>
          </p:cNvPr>
          <p:cNvSpPr txBox="1"/>
          <p:nvPr/>
        </p:nvSpPr>
        <p:spPr>
          <a:xfrm>
            <a:off x="183518" y="6843586"/>
            <a:ext cx="239520" cy="230832"/>
          </a:xfrm>
          <a:prstGeom prst="rect">
            <a:avLst/>
          </a:prstGeom>
          <a:noFill/>
        </p:spPr>
        <p:txBody>
          <a:bodyPr wrap="square">
            <a:spAutoFit/>
          </a:bodyPr>
          <a:lstStyle/>
          <a:p>
            <a:r>
              <a:rPr lang="tr-TR" sz="900" noProof="1">
                <a:cs typeface="Arial" panose="020B0604020202020204" pitchFamily="34" charset="0"/>
              </a:rPr>
              <a:t>0</a:t>
            </a:r>
          </a:p>
        </p:txBody>
      </p:sp>
      <p:cxnSp>
        <p:nvCxnSpPr>
          <p:cNvPr id="94" name="Düz Bağlayıcı 93">
            <a:extLst>
              <a:ext uri="{FF2B5EF4-FFF2-40B4-BE49-F238E27FC236}">
                <a16:creationId xmlns:a16="http://schemas.microsoft.com/office/drawing/2014/main" id="{B610E576-34F7-4124-BF86-7D7A760D9D47}"/>
              </a:ext>
            </a:extLst>
          </p:cNvPr>
          <p:cNvCxnSpPr/>
          <p:nvPr/>
        </p:nvCxnSpPr>
        <p:spPr>
          <a:xfrm>
            <a:off x="384167" y="6416778"/>
            <a:ext cx="31494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95" name="Metin kutusu 94">
            <a:extLst>
              <a:ext uri="{FF2B5EF4-FFF2-40B4-BE49-F238E27FC236}">
                <a16:creationId xmlns:a16="http://schemas.microsoft.com/office/drawing/2014/main" id="{4E727103-94BD-4A4D-B06D-BA4152A322B5}"/>
              </a:ext>
            </a:extLst>
          </p:cNvPr>
          <p:cNvSpPr txBox="1"/>
          <p:nvPr/>
        </p:nvSpPr>
        <p:spPr>
          <a:xfrm>
            <a:off x="74763" y="7126782"/>
            <a:ext cx="3216147" cy="1477328"/>
          </a:xfrm>
          <a:prstGeom prst="rect">
            <a:avLst/>
          </a:prstGeom>
          <a:noFill/>
        </p:spPr>
        <p:txBody>
          <a:bodyPr wrap="square">
            <a:spAutoFit/>
          </a:bodyPr>
          <a:lstStyle/>
          <a:p>
            <a:pPr marL="171450" indent="-171450">
              <a:buFont typeface="Wingdings" panose="05000000000000000000" pitchFamily="2" charset="2"/>
              <a:buChar char="Ø"/>
            </a:pPr>
            <a:r>
              <a:rPr lang="tr-TR" sz="1000" noProof="1">
                <a:cs typeface="Arial" panose="020B0604020202020204" pitchFamily="34" charset="0"/>
              </a:rPr>
              <a:t>Doğruyu kenar kabul edecek bir üçgen şekildeki gibi seçiyoruz. Yukardaki gibi hizalayarak bir üçgen elde ettik ve bu üçgenin uzunluklarını bulalım. Ok ile gösterdiğimiz kısımda 60 ı bulmak için tepe değerinden dip değerini çıkarırız. Yani 120 – 60 = 60 olarak bulunur.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3 ü bulmak içinde 3 – 0 olarak yaparız bu her zaman böyle olmak zorunda değil ordaki uzunluğu bulmamız gerekir. </a:t>
            </a:r>
          </a:p>
        </p:txBody>
      </p:sp>
      <p:sp>
        <p:nvSpPr>
          <p:cNvPr id="97" name="Metin kutusu 96">
            <a:extLst>
              <a:ext uri="{FF2B5EF4-FFF2-40B4-BE49-F238E27FC236}">
                <a16:creationId xmlns:a16="http://schemas.microsoft.com/office/drawing/2014/main" id="{5304AE11-5934-4D74-9277-062B938C9728}"/>
              </a:ext>
            </a:extLst>
          </p:cNvPr>
          <p:cNvSpPr txBox="1"/>
          <p:nvPr/>
        </p:nvSpPr>
        <p:spPr>
          <a:xfrm>
            <a:off x="1974160" y="5975048"/>
            <a:ext cx="1175805" cy="230832"/>
          </a:xfrm>
          <a:prstGeom prst="rect">
            <a:avLst/>
          </a:prstGeom>
          <a:noFill/>
        </p:spPr>
        <p:txBody>
          <a:bodyPr wrap="square">
            <a:spAutoFit/>
          </a:bodyPr>
          <a:lstStyle/>
          <a:p>
            <a:r>
              <a:rPr lang="tr-TR" sz="900" noProof="1">
                <a:cs typeface="Arial" panose="020B0604020202020204" pitchFamily="34" charset="0"/>
              </a:rPr>
              <a:t>Yakaladığımız üçgen</a:t>
            </a:r>
          </a:p>
        </p:txBody>
      </p:sp>
      <p:cxnSp>
        <p:nvCxnSpPr>
          <p:cNvPr id="103" name="Düz Bağlayıcı 102">
            <a:extLst>
              <a:ext uri="{FF2B5EF4-FFF2-40B4-BE49-F238E27FC236}">
                <a16:creationId xmlns:a16="http://schemas.microsoft.com/office/drawing/2014/main" id="{79E5D3A7-7D71-4CB1-BF66-EF21A4009235}"/>
              </a:ext>
            </a:extLst>
          </p:cNvPr>
          <p:cNvCxnSpPr/>
          <p:nvPr/>
        </p:nvCxnSpPr>
        <p:spPr>
          <a:xfrm>
            <a:off x="384167" y="6651402"/>
            <a:ext cx="31494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04" name="Düz Ok Bağlayıcısı 103">
            <a:extLst>
              <a:ext uri="{FF2B5EF4-FFF2-40B4-BE49-F238E27FC236}">
                <a16:creationId xmlns:a16="http://schemas.microsoft.com/office/drawing/2014/main" id="{554FBDAF-1CC7-4E53-B402-C5D2310B8524}"/>
              </a:ext>
            </a:extLst>
          </p:cNvPr>
          <p:cNvCxnSpPr>
            <a:cxnSpLocks/>
          </p:cNvCxnSpPr>
          <p:nvPr/>
        </p:nvCxnSpPr>
        <p:spPr>
          <a:xfrm flipH="1">
            <a:off x="863082" y="6108287"/>
            <a:ext cx="1144340" cy="41778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6" name="Metin kutusu 105">
            <a:extLst>
              <a:ext uri="{FF2B5EF4-FFF2-40B4-BE49-F238E27FC236}">
                <a16:creationId xmlns:a16="http://schemas.microsoft.com/office/drawing/2014/main" id="{F2D5E2F6-0145-4153-B9CD-6DE602CB6208}"/>
              </a:ext>
            </a:extLst>
          </p:cNvPr>
          <p:cNvSpPr txBox="1"/>
          <p:nvPr/>
        </p:nvSpPr>
        <p:spPr>
          <a:xfrm>
            <a:off x="639255" y="6438670"/>
            <a:ext cx="314948" cy="200055"/>
          </a:xfrm>
          <a:prstGeom prst="rect">
            <a:avLst/>
          </a:prstGeom>
          <a:noFill/>
        </p:spPr>
        <p:txBody>
          <a:bodyPr wrap="square">
            <a:spAutoFit/>
          </a:bodyPr>
          <a:lstStyle/>
          <a:p>
            <a:r>
              <a:rPr lang="tr-TR" sz="700" noProof="1">
                <a:cs typeface="Arial" panose="020B0604020202020204" pitchFamily="34" charset="0"/>
              </a:rPr>
              <a:t>60</a:t>
            </a:r>
          </a:p>
        </p:txBody>
      </p:sp>
      <p:sp>
        <p:nvSpPr>
          <p:cNvPr id="107" name="Metin kutusu 106">
            <a:extLst>
              <a:ext uri="{FF2B5EF4-FFF2-40B4-BE49-F238E27FC236}">
                <a16:creationId xmlns:a16="http://schemas.microsoft.com/office/drawing/2014/main" id="{92F06B70-DD97-466D-985E-FC4BDFCDAB80}"/>
              </a:ext>
            </a:extLst>
          </p:cNvPr>
          <p:cNvSpPr txBox="1"/>
          <p:nvPr/>
        </p:nvSpPr>
        <p:spPr>
          <a:xfrm>
            <a:off x="418497" y="6600127"/>
            <a:ext cx="314948" cy="200055"/>
          </a:xfrm>
          <a:prstGeom prst="rect">
            <a:avLst/>
          </a:prstGeom>
          <a:noFill/>
        </p:spPr>
        <p:txBody>
          <a:bodyPr wrap="square">
            <a:spAutoFit/>
          </a:bodyPr>
          <a:lstStyle/>
          <a:p>
            <a:r>
              <a:rPr lang="tr-TR" sz="700" noProof="1">
                <a:cs typeface="Arial" panose="020B0604020202020204" pitchFamily="34" charset="0"/>
              </a:rPr>
              <a:t>3</a:t>
            </a:r>
          </a:p>
        </p:txBody>
      </p:sp>
      <mc:AlternateContent xmlns:mc="http://schemas.openxmlformats.org/markup-compatibility/2006" xmlns:a14="http://schemas.microsoft.com/office/drawing/2010/main">
        <mc:Choice Requires="a14">
          <p:sp>
            <p:nvSpPr>
              <p:cNvPr id="105" name="Metin kutusu 104">
                <a:extLst>
                  <a:ext uri="{FF2B5EF4-FFF2-40B4-BE49-F238E27FC236}">
                    <a16:creationId xmlns:a16="http://schemas.microsoft.com/office/drawing/2014/main" id="{EF529D77-0FA3-4577-9FAB-2A0C74E16CC1}"/>
                  </a:ext>
                </a:extLst>
              </p:cNvPr>
              <p:cNvSpPr txBox="1"/>
              <p:nvPr/>
            </p:nvSpPr>
            <p:spPr>
              <a:xfrm>
                <a:off x="473526" y="6557665"/>
                <a:ext cx="72136" cy="92333"/>
              </a:xfrm>
              <a:prstGeom prst="rect">
                <a:avLst/>
              </a:prstGeom>
              <a:noFill/>
            </p:spPr>
            <p:txBody>
              <a:bodyPr wrap="none" lIns="0" tIns="0" rIns="0" bIns="0" rtlCol="0">
                <a:spAutoFit/>
              </a:bodyPr>
              <a:lstStyle/>
              <a:p>
                <a:r>
                  <a:rPr lang="tr-TR" sz="600" i="0" dirty="0">
                    <a:latin typeface="+mj-lt"/>
                  </a:rPr>
                  <a:t>α</a:t>
                </a:r>
                <a14:m>
                  <m:oMath xmlns:m="http://schemas.openxmlformats.org/officeDocument/2006/math">
                    <m:r>
                      <a:rPr lang="tr-TR" sz="600" i="1" dirty="0" smtClean="0">
                        <a:latin typeface="Cambria Math" panose="02040503050406030204" pitchFamily="18" charset="0"/>
                        <a:ea typeface="Cambria Math" panose="02040503050406030204" pitchFamily="18" charset="0"/>
                      </a:rPr>
                      <m:t>°</m:t>
                    </m:r>
                  </m:oMath>
                </a14:m>
                <a:endParaRPr lang="tr-TR" sz="600" dirty="0"/>
              </a:p>
            </p:txBody>
          </p:sp>
        </mc:Choice>
        <mc:Fallback xmlns="">
          <p:sp>
            <p:nvSpPr>
              <p:cNvPr id="105" name="Metin kutusu 104">
                <a:extLst>
                  <a:ext uri="{FF2B5EF4-FFF2-40B4-BE49-F238E27FC236}">
                    <a16:creationId xmlns:a16="http://schemas.microsoft.com/office/drawing/2014/main" id="{EF529D77-0FA3-4577-9FAB-2A0C74E16CC1}"/>
                  </a:ext>
                </a:extLst>
              </p:cNvPr>
              <p:cNvSpPr txBox="1">
                <a:spLocks noRot="1" noChangeAspect="1" noMove="1" noResize="1" noEditPoints="1" noAdjustHandles="1" noChangeArrowheads="1" noChangeShapeType="1" noTextEdit="1"/>
              </p:cNvSpPr>
              <p:nvPr/>
            </p:nvSpPr>
            <p:spPr>
              <a:xfrm>
                <a:off x="473526" y="6557665"/>
                <a:ext cx="72136" cy="92333"/>
              </a:xfrm>
              <a:prstGeom prst="rect">
                <a:avLst/>
              </a:prstGeom>
              <a:blipFill>
                <a:blip r:embed="rId7"/>
                <a:stretch>
                  <a:fillRect l="-75000" t="-40000" r="-41667" b="-53333"/>
                </a:stretch>
              </a:blipFill>
            </p:spPr>
            <p:txBody>
              <a:bodyPr/>
              <a:lstStyle/>
              <a:p>
                <a:r>
                  <a:rPr lang="tr-TR">
                    <a:noFill/>
                  </a:rPr>
                  <a:t> </a:t>
                </a:r>
              </a:p>
            </p:txBody>
          </p:sp>
        </mc:Fallback>
      </mc:AlternateContent>
      <p:sp>
        <p:nvSpPr>
          <p:cNvPr id="109" name="Serbest Form: Şekil 108">
            <a:extLst>
              <a:ext uri="{FF2B5EF4-FFF2-40B4-BE49-F238E27FC236}">
                <a16:creationId xmlns:a16="http://schemas.microsoft.com/office/drawing/2014/main" id="{E0F4D903-4BCD-4BE6-A08D-3800D25689D0}"/>
              </a:ext>
            </a:extLst>
          </p:cNvPr>
          <p:cNvSpPr/>
          <p:nvPr/>
        </p:nvSpPr>
        <p:spPr>
          <a:xfrm>
            <a:off x="445294" y="6598444"/>
            <a:ext cx="19050" cy="52387"/>
          </a:xfrm>
          <a:custGeom>
            <a:avLst/>
            <a:gdLst>
              <a:gd name="connsiteX0" fmla="*/ 0 w 19050"/>
              <a:gd name="connsiteY0" fmla="*/ 0 h 52387"/>
              <a:gd name="connsiteX1" fmla="*/ 19050 w 19050"/>
              <a:gd name="connsiteY1" fmla="*/ 52387 h 52387"/>
            </a:gdLst>
            <a:ahLst/>
            <a:cxnLst>
              <a:cxn ang="0">
                <a:pos x="connsiteX0" y="connsiteY0"/>
              </a:cxn>
              <a:cxn ang="0">
                <a:pos x="connsiteX1" y="connsiteY1"/>
              </a:cxn>
            </a:cxnLst>
            <a:rect l="l" t="t" r="r" b="b"/>
            <a:pathLst>
              <a:path w="19050" h="52387">
                <a:moveTo>
                  <a:pt x="0" y="0"/>
                </a:moveTo>
                <a:cubicBezTo>
                  <a:pt x="7342" y="17859"/>
                  <a:pt x="14684" y="35718"/>
                  <a:pt x="19050" y="52387"/>
                </a:cubicBezTo>
              </a:path>
            </a:pathLst>
          </a:custGeom>
          <a:no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14" name="Metin kutusu 113">
                <a:extLst>
                  <a:ext uri="{FF2B5EF4-FFF2-40B4-BE49-F238E27FC236}">
                    <a16:creationId xmlns:a16="http://schemas.microsoft.com/office/drawing/2014/main" id="{97E4B23A-A29B-4A8A-9426-E786F02134D7}"/>
                  </a:ext>
                </a:extLst>
              </p:cNvPr>
              <p:cNvSpPr txBox="1"/>
              <p:nvPr/>
            </p:nvSpPr>
            <p:spPr>
              <a:xfrm>
                <a:off x="3609773" y="464116"/>
                <a:ext cx="3216147" cy="7325082"/>
              </a:xfrm>
              <a:prstGeom prst="rect">
                <a:avLst/>
              </a:prstGeom>
              <a:noFill/>
            </p:spPr>
            <p:txBody>
              <a:bodyPr wrap="square">
                <a:spAutoFit/>
              </a:bodyPr>
              <a:lstStyle/>
              <a:p>
                <a:pPr marL="171450" indent="-171450">
                  <a:buFont typeface="Wingdings" panose="05000000000000000000" pitchFamily="2" charset="2"/>
                  <a:buChar char="Ø"/>
                </a:pPr>
                <a:r>
                  <a:rPr lang="tr-TR" sz="1000" noProof="1">
                    <a:cs typeface="Arial" panose="020B0604020202020204" pitchFamily="34" charset="0"/>
                  </a:rPr>
                  <a:t>Doğrunun eğimini bulmak için üçgen oluşturduktan sonra doğrunun yatay eksen ile yaptığı açı üçgen içinde belirtilir. Bu açının karşı kenarını komşu kenarına oranladığımızda eğimi bulmuş oluruz.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Bu açı </a:t>
                </a:r>
                <a:r>
                  <a:rPr lang="tr-TR" sz="800" b="1" dirty="0">
                    <a:latin typeface="+mj-lt"/>
                  </a:rPr>
                  <a:t>α</a:t>
                </a:r>
                <a14:m>
                  <m:oMath xmlns:m="http://schemas.openxmlformats.org/officeDocument/2006/math">
                    <m:r>
                      <a:rPr lang="tr-TR" sz="800" b="1" i="0" dirty="0" smtClean="0">
                        <a:latin typeface="Cambria Math" panose="02040503050406030204" pitchFamily="18" charset="0"/>
                        <a:ea typeface="Cambria Math" panose="02040503050406030204" pitchFamily="18" charset="0"/>
                      </a:rPr>
                      <m:t>°</m:t>
                    </m:r>
                  </m:oMath>
                </a14:m>
                <a:r>
                  <a:rPr lang="tr-TR" sz="1000" noProof="1">
                    <a:cs typeface="Arial" panose="020B0604020202020204" pitchFamily="34" charset="0"/>
                  </a:rPr>
                  <a:t> olmak üzere karşı kenarında 60 komşu kenarında 3 olduğu görülmektedir. 60/3 = 20 eğim olarak bulunur. Eğim genelde m harfliyle gösterilir.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Eğimin pozitif veya negatif olduğunu anlamak için doğrunun sağa mı sola mı yatık olduğuna bakılır.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Sağa yatık doğruların eğimi pozitif yani artandır.</a:t>
                </a:r>
              </a:p>
              <a:p>
                <a:pPr marL="171450" indent="-171450">
                  <a:buFont typeface="Wingdings" panose="05000000000000000000" pitchFamily="2" charset="2"/>
                  <a:buChar char="Ø"/>
                </a:pPr>
                <a:r>
                  <a:rPr lang="tr-TR" sz="1000" noProof="1">
                    <a:cs typeface="Arial" panose="020B0604020202020204" pitchFamily="34" charset="0"/>
                  </a:rPr>
                  <a:t>Sola yatık doğruların eğimi negatif yani azalandır.</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Doğrusal fonksiyonların her yerde eğimi sabit olduğundan bizim soruda seçtiğimiz üçgen yerine başka bir üçgende de aynı oranlamayı yaptığımızda eğimin değerini yine doğru bulabiliriz.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Başka üçgen seçimi için dikkat etmemiz gereken husus grafikteki doğrunun bir kısmı seçeceğimiz üçgenin en büyük kenarı yani hipotenüs konumunda olmasıdır.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Bu kısımda biraz zorlanabilirsiniz fakat öğrendiğinizde doğrusal grafikler kısmını tamamen çözmüş olacaksınız.</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Gönül isterdiki bunların size mantığıyla anlatalım fakat müfredat buna izin vermiyor; türev ile eğim doğrusunun sağa yatık olduğunda arttığını, sola yatık olduğunda azaldığını ve daha bir çok detayın ispatını</a:t>
                </a:r>
              </a:p>
              <a:p>
                <a:r>
                  <a:rPr lang="tr-TR" sz="1000" noProof="1">
                    <a:cs typeface="Arial" panose="020B0604020202020204" pitchFamily="34" charset="0"/>
                  </a:rPr>
                  <a:t>     A-Z`ye ispatlamak mümkündür. Fakat müfredatınızda</a:t>
                </a:r>
                <a:br>
                  <a:rPr lang="tr-TR" sz="1000" noProof="1">
                    <a:cs typeface="Arial" panose="020B0604020202020204" pitchFamily="34" charset="0"/>
                  </a:rPr>
                </a:br>
                <a:r>
                  <a:rPr lang="tr-TR" sz="1000" noProof="1">
                    <a:cs typeface="Arial" panose="020B0604020202020204" pitchFamily="34" charset="0"/>
                  </a:rPr>
                  <a:t>     olmadığından ve matematikte teknik bilgiler gerektirdiği  </a:t>
                </a:r>
                <a:br>
                  <a:rPr lang="tr-TR" sz="1000" noProof="1">
                    <a:cs typeface="Arial" panose="020B0604020202020204" pitchFamily="34" charset="0"/>
                  </a:rPr>
                </a:br>
                <a:r>
                  <a:rPr lang="tr-TR" sz="1000" noProof="1">
                    <a:cs typeface="Arial" panose="020B0604020202020204" pitchFamily="34" charset="0"/>
                  </a:rPr>
                  <a:t>     için bu kitabımızda anlatmayacağız.</a:t>
                </a:r>
              </a:p>
              <a:p>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Anlamakta zorlandıysanız video anlatımlarına kesinlikle izlemenizi tavsiye ederiz .</a:t>
                </a:r>
              </a:p>
              <a:p>
                <a:pPr marL="171450" indent="-171450">
                  <a:buFont typeface="Wingdings" panose="05000000000000000000" pitchFamily="2" charset="2"/>
                  <a:buChar char="Ø"/>
                </a:pPr>
                <a:endParaRPr lang="tr-TR" sz="1000"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Kitabımız geliştirmeye yönelik bir kitap olduğu için her defasında söylediğimiz gibi daha fazla soru çeşidi ve mantığı görmeniz için kitap üstü çözümlü örneklerden ziyade daha çok testlerdeki soru kalıplarını öğrenmeye çalışın. Onlarda video çözümlüdür ; eğer video çözümü sevmiyorsanız alışmaya çalışın çünkü video da kitapta anlatamadığımız, üstünde çizerek gösteremediğimiz ve daha pratik işlem yapabildiğimiz sizlere sunacağımız bakış açıları, çözüm yolları vardır. </a:t>
                </a:r>
              </a:p>
            </p:txBody>
          </p:sp>
        </mc:Choice>
        <mc:Fallback xmlns="">
          <p:sp>
            <p:nvSpPr>
              <p:cNvPr id="114" name="Metin kutusu 113">
                <a:extLst>
                  <a:ext uri="{FF2B5EF4-FFF2-40B4-BE49-F238E27FC236}">
                    <a16:creationId xmlns:a16="http://schemas.microsoft.com/office/drawing/2014/main" id="{97E4B23A-A29B-4A8A-9426-E786F02134D7}"/>
                  </a:ext>
                </a:extLst>
              </p:cNvPr>
              <p:cNvSpPr txBox="1">
                <a:spLocks noRot="1" noChangeAspect="1" noMove="1" noResize="1" noEditPoints="1" noAdjustHandles="1" noChangeArrowheads="1" noChangeShapeType="1" noTextEdit="1"/>
              </p:cNvSpPr>
              <p:nvPr/>
            </p:nvSpPr>
            <p:spPr>
              <a:xfrm>
                <a:off x="3609773" y="464116"/>
                <a:ext cx="3216147" cy="7325082"/>
              </a:xfrm>
              <a:prstGeom prst="rect">
                <a:avLst/>
              </a:prstGeom>
              <a:blipFill>
                <a:blip r:embed="rId8"/>
                <a:stretch>
                  <a:fillRect r="-1136"/>
                </a:stretch>
              </a:blipFill>
            </p:spPr>
            <p:txBody>
              <a:bodyPr/>
              <a:lstStyle/>
              <a:p>
                <a:r>
                  <a:rPr lang="tr-TR">
                    <a:noFill/>
                  </a:rPr>
                  <a:t> </a:t>
                </a:r>
              </a:p>
            </p:txBody>
          </p:sp>
        </mc:Fallback>
      </mc:AlternateContent>
    </p:spTree>
    <p:extLst>
      <p:ext uri="{BB962C8B-B14F-4D97-AF65-F5344CB8AC3E}">
        <p14:creationId xmlns:p14="http://schemas.microsoft.com/office/powerpoint/2010/main" val="39706447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488655" y="470977"/>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Parabolik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Parabolik Grafikler</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59017" y="711941"/>
            <a:ext cx="3255555" cy="1631216"/>
          </a:xfrm>
          <a:prstGeom prst="rect">
            <a:avLst/>
          </a:prstGeom>
          <a:noFill/>
        </p:spPr>
        <p:txBody>
          <a:bodyPr wrap="square" rtlCol="0">
            <a:spAutoFit/>
          </a:bodyPr>
          <a:lstStyle/>
          <a:p>
            <a:r>
              <a:rPr lang="tr-TR" sz="1000" noProof="1">
                <a:cs typeface="Arial" panose="020B0604020202020204" pitchFamily="34" charset="0"/>
              </a:rPr>
              <a:t>Daha önceden gördüğümüz grafikler sütun, dairesel ve doğrusaldı. Şimdi ki durağımız ise parabolik grafikler. Parabolik grafikler şimdiki hiçbir grafik türüne benzemeyen birazcık yorumlanması zor grafiklerdir. Parabolik grafikler; bir çok yerde karşımıza çıkacak grafik türü olabilir. Fizik, kimya, biyoloji ve daha bir çok verinin gösterilmesinde parabolik grafikler kullanılmaktadır. Burada öğreneceğiz bilgiler bir sayısal öğrencisiyseniz size AYT sınavına yönelik güzel bir yorum stratejisi başta olmak üzere  çok şey katacaktır.</a:t>
            </a: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p:sp>
        <p:nvSpPr>
          <p:cNvPr id="42" name="Metin kutusu 41">
            <a:extLst>
              <a:ext uri="{FF2B5EF4-FFF2-40B4-BE49-F238E27FC236}">
                <a16:creationId xmlns:a16="http://schemas.microsoft.com/office/drawing/2014/main" id="{BCDF6D71-E7D1-4603-97F0-7681D036FE16}"/>
              </a:ext>
            </a:extLst>
          </p:cNvPr>
          <p:cNvSpPr txBox="1"/>
          <p:nvPr/>
        </p:nvSpPr>
        <p:spPr>
          <a:xfrm>
            <a:off x="92220" y="2341387"/>
            <a:ext cx="3109210" cy="246221"/>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Parabol grafikleri bir eğri belirtir.</a:t>
            </a:r>
          </a:p>
        </p:txBody>
      </p:sp>
      <p:sp>
        <p:nvSpPr>
          <p:cNvPr id="6" name="Yay 5">
            <a:extLst>
              <a:ext uri="{FF2B5EF4-FFF2-40B4-BE49-F238E27FC236}">
                <a16:creationId xmlns:a16="http://schemas.microsoft.com/office/drawing/2014/main" id="{CE0D5D33-94B5-48C3-9535-41A4810F0DD3}"/>
              </a:ext>
            </a:extLst>
          </p:cNvPr>
          <p:cNvSpPr/>
          <p:nvPr/>
        </p:nvSpPr>
        <p:spPr>
          <a:xfrm rot="16651413">
            <a:off x="292217" y="2690605"/>
            <a:ext cx="792088" cy="728951"/>
          </a:xfrm>
          <a:prstGeom prst="arc">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43" name="Yay 42">
            <a:extLst>
              <a:ext uri="{FF2B5EF4-FFF2-40B4-BE49-F238E27FC236}">
                <a16:creationId xmlns:a16="http://schemas.microsoft.com/office/drawing/2014/main" id="{35B5EFA6-42B2-46F4-8AC8-FD32A1F54227}"/>
              </a:ext>
            </a:extLst>
          </p:cNvPr>
          <p:cNvSpPr/>
          <p:nvPr/>
        </p:nvSpPr>
        <p:spPr>
          <a:xfrm>
            <a:off x="1412776" y="2651499"/>
            <a:ext cx="792088" cy="728951"/>
          </a:xfrm>
          <a:prstGeom prst="arc">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44" name="Metin kutusu 43">
            <a:extLst>
              <a:ext uri="{FF2B5EF4-FFF2-40B4-BE49-F238E27FC236}">
                <a16:creationId xmlns:a16="http://schemas.microsoft.com/office/drawing/2014/main" id="{713CC551-FA03-4C96-ADDC-B83E1C75D46C}"/>
              </a:ext>
            </a:extLst>
          </p:cNvPr>
          <p:cNvSpPr txBox="1"/>
          <p:nvPr/>
        </p:nvSpPr>
        <p:spPr>
          <a:xfrm>
            <a:off x="46135" y="3026961"/>
            <a:ext cx="3177584" cy="861774"/>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cs typeface="Arial" panose="020B0604020202020204" pitchFamily="34" charset="0"/>
              </a:rPr>
              <a:t>Yukarıdaki grafikler parabolik bir izlenim göstermişlerdir. Parabol aslında ikinci dereceden fonksiyonların grafiklerinin özelleştirilmiş ismidir fakat bu kitapta müfredata göre o kısımları değil daha çok yorum yeteneğimiz üzerine yoğunlaşacağız.</a:t>
            </a:r>
          </a:p>
        </p:txBody>
      </p:sp>
      <p:cxnSp>
        <p:nvCxnSpPr>
          <p:cNvPr id="8" name="Düz Ok Bağlayıcısı 7">
            <a:extLst>
              <a:ext uri="{FF2B5EF4-FFF2-40B4-BE49-F238E27FC236}">
                <a16:creationId xmlns:a16="http://schemas.microsoft.com/office/drawing/2014/main" id="{29806BF0-0089-4BB5-A231-94F34F1D4799}"/>
              </a:ext>
            </a:extLst>
          </p:cNvPr>
          <p:cNvCxnSpPr/>
          <p:nvPr/>
        </p:nvCxnSpPr>
        <p:spPr>
          <a:xfrm flipV="1">
            <a:off x="325602" y="4230788"/>
            <a:ext cx="0" cy="936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Düz Ok Bağlayıcısı 12">
            <a:extLst>
              <a:ext uri="{FF2B5EF4-FFF2-40B4-BE49-F238E27FC236}">
                <a16:creationId xmlns:a16="http://schemas.microsoft.com/office/drawing/2014/main" id="{5653AC5A-8FDB-4A86-9A67-C7A7F8AD7981}"/>
              </a:ext>
            </a:extLst>
          </p:cNvPr>
          <p:cNvCxnSpPr/>
          <p:nvPr/>
        </p:nvCxnSpPr>
        <p:spPr>
          <a:xfrm>
            <a:off x="157583" y="5055026"/>
            <a:ext cx="11761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Yay 21">
            <a:extLst>
              <a:ext uri="{FF2B5EF4-FFF2-40B4-BE49-F238E27FC236}">
                <a16:creationId xmlns:a16="http://schemas.microsoft.com/office/drawing/2014/main" id="{5DD20B21-BB6D-4E41-A297-5318D51A5470}"/>
              </a:ext>
            </a:extLst>
          </p:cNvPr>
          <p:cNvSpPr/>
          <p:nvPr/>
        </p:nvSpPr>
        <p:spPr>
          <a:xfrm>
            <a:off x="-487397" y="4515082"/>
            <a:ext cx="1599295" cy="861775"/>
          </a:xfrm>
          <a:prstGeom prst="arc">
            <a:avLst>
              <a:gd name="adj1" fmla="val 16812084"/>
              <a:gd name="adj2" fmla="val 0"/>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cxnSp>
        <p:nvCxnSpPr>
          <p:cNvPr id="60" name="Düz Ok Bağlayıcısı 59">
            <a:extLst>
              <a:ext uri="{FF2B5EF4-FFF2-40B4-BE49-F238E27FC236}">
                <a16:creationId xmlns:a16="http://schemas.microsoft.com/office/drawing/2014/main" id="{1EF0EC62-0C86-46D8-BE93-90AF46C300E4}"/>
              </a:ext>
            </a:extLst>
          </p:cNvPr>
          <p:cNvCxnSpPr/>
          <p:nvPr/>
        </p:nvCxnSpPr>
        <p:spPr>
          <a:xfrm flipV="1">
            <a:off x="367482" y="6580338"/>
            <a:ext cx="0" cy="936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Düz Ok Bağlayıcısı 60">
            <a:extLst>
              <a:ext uri="{FF2B5EF4-FFF2-40B4-BE49-F238E27FC236}">
                <a16:creationId xmlns:a16="http://schemas.microsoft.com/office/drawing/2014/main" id="{17A0703F-5ED7-4291-8194-FF77C2C03AEA}"/>
              </a:ext>
            </a:extLst>
          </p:cNvPr>
          <p:cNvCxnSpPr/>
          <p:nvPr/>
        </p:nvCxnSpPr>
        <p:spPr>
          <a:xfrm>
            <a:off x="199463" y="7404576"/>
            <a:ext cx="11761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Metin kutusu 67">
            <a:extLst>
              <a:ext uri="{FF2B5EF4-FFF2-40B4-BE49-F238E27FC236}">
                <a16:creationId xmlns:a16="http://schemas.microsoft.com/office/drawing/2014/main" id="{DAF630C0-77DA-4834-96A2-CFB65E030A0D}"/>
              </a:ext>
            </a:extLst>
          </p:cNvPr>
          <p:cNvSpPr txBox="1"/>
          <p:nvPr/>
        </p:nvSpPr>
        <p:spPr>
          <a:xfrm>
            <a:off x="81582" y="3841529"/>
            <a:ext cx="2879503" cy="323165"/>
          </a:xfrm>
          <a:prstGeom prst="rect">
            <a:avLst/>
          </a:prstGeom>
          <a:noFill/>
        </p:spPr>
        <p:txBody>
          <a:bodyPr wrap="square" rtlCol="0">
            <a:spAutoFit/>
          </a:bodyPr>
          <a:lstStyle/>
          <a:p>
            <a:r>
              <a:rPr lang="tr-TR" sz="1500" b="1" dirty="0">
                <a:solidFill>
                  <a:srgbClr val="7030A0"/>
                </a:solidFill>
                <a:latin typeface="+mj-lt"/>
                <a:cs typeface="Arial" panose="020B0604020202020204" pitchFamily="34" charset="0"/>
              </a:rPr>
              <a:t>Negatif eğimli azalan paraboller</a:t>
            </a:r>
          </a:p>
        </p:txBody>
      </p:sp>
      <p:sp>
        <p:nvSpPr>
          <p:cNvPr id="69" name="Metin kutusu 68">
            <a:extLst>
              <a:ext uri="{FF2B5EF4-FFF2-40B4-BE49-F238E27FC236}">
                <a16:creationId xmlns:a16="http://schemas.microsoft.com/office/drawing/2014/main" id="{BE32D167-6532-440B-9F1D-B52597A6FD22}"/>
              </a:ext>
            </a:extLst>
          </p:cNvPr>
          <p:cNvSpPr txBox="1"/>
          <p:nvPr/>
        </p:nvSpPr>
        <p:spPr>
          <a:xfrm>
            <a:off x="70430" y="6145212"/>
            <a:ext cx="2879503" cy="323165"/>
          </a:xfrm>
          <a:prstGeom prst="rect">
            <a:avLst/>
          </a:prstGeom>
          <a:noFill/>
        </p:spPr>
        <p:txBody>
          <a:bodyPr wrap="square" rtlCol="0">
            <a:spAutoFit/>
          </a:bodyPr>
          <a:lstStyle/>
          <a:p>
            <a:r>
              <a:rPr lang="tr-TR" sz="1500" b="1" dirty="0">
                <a:solidFill>
                  <a:srgbClr val="7030A0"/>
                </a:solidFill>
                <a:latin typeface="+mj-lt"/>
                <a:cs typeface="Arial" panose="020B0604020202020204" pitchFamily="34" charset="0"/>
              </a:rPr>
              <a:t>Pozitif eğimli artan paraboller</a:t>
            </a:r>
          </a:p>
        </p:txBody>
      </p:sp>
      <p:sp>
        <p:nvSpPr>
          <p:cNvPr id="70" name="Metin kutusu 69">
            <a:extLst>
              <a:ext uri="{FF2B5EF4-FFF2-40B4-BE49-F238E27FC236}">
                <a16:creationId xmlns:a16="http://schemas.microsoft.com/office/drawing/2014/main" id="{8DDCC923-DB0F-4706-984E-3DAEF1188BA3}"/>
              </a:ext>
            </a:extLst>
          </p:cNvPr>
          <p:cNvSpPr txBox="1"/>
          <p:nvPr/>
        </p:nvSpPr>
        <p:spPr>
          <a:xfrm>
            <a:off x="92220" y="5158485"/>
            <a:ext cx="3177584" cy="1015663"/>
          </a:xfrm>
          <a:prstGeom prst="rect">
            <a:avLst/>
          </a:prstGeom>
          <a:noFill/>
        </p:spPr>
        <p:txBody>
          <a:bodyPr wrap="square" rtlCol="0">
            <a:spAutoFit/>
          </a:bodyPr>
          <a:lstStyle/>
          <a:p>
            <a:pPr marL="171450" indent="-171450">
              <a:buFont typeface="Wingdings" panose="05000000000000000000" pitchFamily="2" charset="2"/>
              <a:buChar char="Ø"/>
            </a:pPr>
            <a:r>
              <a:rPr lang="tr-TR" sz="1000" noProof="1">
                <a:cs typeface="Arial" panose="020B0604020202020204" pitchFamily="34" charset="0"/>
              </a:rPr>
              <a:t>Y için yorumladığımızda grafikteki değerin eğim negatif olduğu için giderek azaldığını görüyoruz. X için baktığımızda giderek arttığını görüyoruz. Giderekten kastımız grafiğin sağa doğru kısmıdır ve grafiklerin sağa doğru gittikleri istikamet yorumlanır. Bu parabolik grafikte X ve Y ters orantılıdır. X azalırken Y artıyor.</a:t>
            </a:r>
          </a:p>
        </p:txBody>
      </p:sp>
      <p:sp>
        <p:nvSpPr>
          <p:cNvPr id="24" name="Serbest Form: Şekil 23">
            <a:extLst>
              <a:ext uri="{FF2B5EF4-FFF2-40B4-BE49-F238E27FC236}">
                <a16:creationId xmlns:a16="http://schemas.microsoft.com/office/drawing/2014/main" id="{D1DE399A-271F-40A0-BA59-59C6967022E3}"/>
              </a:ext>
            </a:extLst>
          </p:cNvPr>
          <p:cNvSpPr/>
          <p:nvPr/>
        </p:nvSpPr>
        <p:spPr>
          <a:xfrm>
            <a:off x="367482" y="6818445"/>
            <a:ext cx="901278" cy="589907"/>
          </a:xfrm>
          <a:custGeom>
            <a:avLst/>
            <a:gdLst>
              <a:gd name="connsiteX0" fmla="*/ 0 w 784860"/>
              <a:gd name="connsiteY0" fmla="*/ 884154 h 884154"/>
              <a:gd name="connsiteX1" fmla="*/ 312420 w 784860"/>
              <a:gd name="connsiteY1" fmla="*/ 145014 h 884154"/>
              <a:gd name="connsiteX2" fmla="*/ 784860 w 784860"/>
              <a:gd name="connsiteY2" fmla="*/ 234 h 884154"/>
            </a:gdLst>
            <a:ahLst/>
            <a:cxnLst>
              <a:cxn ang="0">
                <a:pos x="connsiteX0" y="connsiteY0"/>
              </a:cxn>
              <a:cxn ang="0">
                <a:pos x="connsiteX1" y="connsiteY1"/>
              </a:cxn>
              <a:cxn ang="0">
                <a:pos x="connsiteX2" y="connsiteY2"/>
              </a:cxn>
            </a:cxnLst>
            <a:rect l="l" t="t" r="r" b="b"/>
            <a:pathLst>
              <a:path w="784860" h="884154">
                <a:moveTo>
                  <a:pt x="0" y="884154"/>
                </a:moveTo>
                <a:cubicBezTo>
                  <a:pt x="90805" y="588244"/>
                  <a:pt x="181610" y="292334"/>
                  <a:pt x="312420" y="145014"/>
                </a:cubicBezTo>
                <a:cubicBezTo>
                  <a:pt x="443230" y="-2306"/>
                  <a:pt x="614045" y="-1036"/>
                  <a:pt x="784860" y="234"/>
                </a:cubicBezTo>
              </a:path>
            </a:pathLst>
          </a:custGeom>
          <a:noFill/>
          <a:ln w="952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2" name="Metin kutusu 71">
            <a:extLst>
              <a:ext uri="{FF2B5EF4-FFF2-40B4-BE49-F238E27FC236}">
                <a16:creationId xmlns:a16="http://schemas.microsoft.com/office/drawing/2014/main" id="{E7363FBF-5244-4010-B258-F009F24610D0}"/>
              </a:ext>
            </a:extLst>
          </p:cNvPr>
          <p:cNvSpPr txBox="1"/>
          <p:nvPr/>
        </p:nvSpPr>
        <p:spPr>
          <a:xfrm>
            <a:off x="-70517" y="4128884"/>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y</a:t>
            </a:r>
          </a:p>
        </p:txBody>
      </p:sp>
      <p:sp>
        <p:nvSpPr>
          <p:cNvPr id="73" name="Metin kutusu 72">
            <a:extLst>
              <a:ext uri="{FF2B5EF4-FFF2-40B4-BE49-F238E27FC236}">
                <a16:creationId xmlns:a16="http://schemas.microsoft.com/office/drawing/2014/main" id="{7D5AA026-0217-445B-B5D8-6AFE6D8F7D4E}"/>
              </a:ext>
            </a:extLst>
          </p:cNvPr>
          <p:cNvSpPr txBox="1"/>
          <p:nvPr/>
        </p:nvSpPr>
        <p:spPr>
          <a:xfrm>
            <a:off x="1101455" y="4920877"/>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x</a:t>
            </a:r>
          </a:p>
        </p:txBody>
      </p:sp>
      <p:sp>
        <p:nvSpPr>
          <p:cNvPr id="75" name="Metin kutusu 74">
            <a:extLst>
              <a:ext uri="{FF2B5EF4-FFF2-40B4-BE49-F238E27FC236}">
                <a16:creationId xmlns:a16="http://schemas.microsoft.com/office/drawing/2014/main" id="{156FE60C-42AE-40E8-B978-CD7B3B6DC601}"/>
              </a:ext>
            </a:extLst>
          </p:cNvPr>
          <p:cNvSpPr txBox="1"/>
          <p:nvPr/>
        </p:nvSpPr>
        <p:spPr>
          <a:xfrm>
            <a:off x="-10457" y="6491166"/>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y</a:t>
            </a:r>
          </a:p>
        </p:txBody>
      </p:sp>
      <p:sp>
        <p:nvSpPr>
          <p:cNvPr id="76" name="Metin kutusu 75">
            <a:extLst>
              <a:ext uri="{FF2B5EF4-FFF2-40B4-BE49-F238E27FC236}">
                <a16:creationId xmlns:a16="http://schemas.microsoft.com/office/drawing/2014/main" id="{8DA35E4A-4148-4112-AE0C-DA7D988B0FE8}"/>
              </a:ext>
            </a:extLst>
          </p:cNvPr>
          <p:cNvSpPr txBox="1"/>
          <p:nvPr/>
        </p:nvSpPr>
        <p:spPr>
          <a:xfrm>
            <a:off x="1190171" y="7250090"/>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x</a:t>
            </a:r>
          </a:p>
        </p:txBody>
      </p:sp>
      <p:cxnSp>
        <p:nvCxnSpPr>
          <p:cNvPr id="30" name="Düz Bağlayıcı 29">
            <a:extLst>
              <a:ext uri="{FF2B5EF4-FFF2-40B4-BE49-F238E27FC236}">
                <a16:creationId xmlns:a16="http://schemas.microsoft.com/office/drawing/2014/main" id="{C977DB77-55F2-4394-8EB7-B994571BD07E}"/>
              </a:ext>
            </a:extLst>
          </p:cNvPr>
          <p:cNvCxnSpPr>
            <a:cxnSpLocks/>
          </p:cNvCxnSpPr>
          <p:nvPr/>
        </p:nvCxnSpPr>
        <p:spPr>
          <a:xfrm>
            <a:off x="548680" y="4402997"/>
            <a:ext cx="1008112" cy="688090"/>
          </a:xfrm>
          <a:prstGeom prst="line">
            <a:avLst/>
          </a:prstGeom>
        </p:spPr>
        <p:style>
          <a:lnRef idx="1">
            <a:schemeClr val="accent1"/>
          </a:lnRef>
          <a:fillRef idx="0">
            <a:schemeClr val="accent1"/>
          </a:fillRef>
          <a:effectRef idx="0">
            <a:schemeClr val="accent1"/>
          </a:effectRef>
          <a:fontRef idx="minor">
            <a:schemeClr val="tx1"/>
          </a:fontRef>
        </p:style>
      </p:cxnSp>
      <p:sp>
        <p:nvSpPr>
          <p:cNvPr id="32" name="Metin kutusu 31">
            <a:extLst>
              <a:ext uri="{FF2B5EF4-FFF2-40B4-BE49-F238E27FC236}">
                <a16:creationId xmlns:a16="http://schemas.microsoft.com/office/drawing/2014/main" id="{9BFD139F-58AE-454C-AA6A-27623994F647}"/>
              </a:ext>
            </a:extLst>
          </p:cNvPr>
          <p:cNvSpPr txBox="1"/>
          <p:nvPr/>
        </p:nvSpPr>
        <p:spPr>
          <a:xfrm>
            <a:off x="1626999" y="4184027"/>
            <a:ext cx="1550469" cy="784830"/>
          </a:xfrm>
          <a:prstGeom prst="rect">
            <a:avLst/>
          </a:prstGeom>
          <a:noFill/>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900" dirty="0"/>
              <a:t>Çizdiğimiz </a:t>
            </a:r>
            <a:r>
              <a:rPr lang="tr-TR" sz="900" b="1" dirty="0"/>
              <a:t>teğet doğrusu</a:t>
            </a:r>
            <a:r>
              <a:rPr lang="tr-TR" sz="900" dirty="0"/>
              <a:t> sola yatıksa eğim negatiftir. Teğet doğrusunun eğimi negatif olanların düşey eksendeki (y) değeri azalıştadır.</a:t>
            </a:r>
          </a:p>
        </p:txBody>
      </p:sp>
      <p:cxnSp>
        <p:nvCxnSpPr>
          <p:cNvPr id="35" name="Düz Ok Bağlayıcısı 34">
            <a:extLst>
              <a:ext uri="{FF2B5EF4-FFF2-40B4-BE49-F238E27FC236}">
                <a16:creationId xmlns:a16="http://schemas.microsoft.com/office/drawing/2014/main" id="{0539591D-7950-4436-9698-D40162A55FEC}"/>
              </a:ext>
            </a:extLst>
          </p:cNvPr>
          <p:cNvCxnSpPr>
            <a:cxnSpLocks/>
          </p:cNvCxnSpPr>
          <p:nvPr/>
        </p:nvCxnSpPr>
        <p:spPr>
          <a:xfrm flipH="1">
            <a:off x="1012740" y="4457797"/>
            <a:ext cx="171077" cy="225384"/>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77" name="Metin kutusu 76">
            <a:extLst>
              <a:ext uri="{FF2B5EF4-FFF2-40B4-BE49-F238E27FC236}">
                <a16:creationId xmlns:a16="http://schemas.microsoft.com/office/drawing/2014/main" id="{3B01211D-1F50-4750-BF92-D076F832CDAF}"/>
              </a:ext>
            </a:extLst>
          </p:cNvPr>
          <p:cNvSpPr txBox="1"/>
          <p:nvPr/>
        </p:nvSpPr>
        <p:spPr>
          <a:xfrm>
            <a:off x="873989" y="4254021"/>
            <a:ext cx="1337917" cy="220185"/>
          </a:xfrm>
          <a:prstGeom prst="rect">
            <a:avLst/>
          </a:prstGeom>
          <a:noFill/>
        </p:spPr>
        <p:txBody>
          <a:bodyPr wrap="square" lIns="80897" tIns="40448" rIns="80897" bIns="40448" rtlCol="0">
            <a:spAutoFit/>
          </a:bodyPr>
          <a:lstStyle/>
          <a:p>
            <a:r>
              <a:rPr lang="tr-TR" sz="900" dirty="0">
                <a:latin typeface="Arial Narrow" panose="020B0606020202030204" pitchFamily="34" charset="0"/>
              </a:rPr>
              <a:t>Teğet Doğrusu</a:t>
            </a:r>
          </a:p>
        </p:txBody>
      </p:sp>
      <p:cxnSp>
        <p:nvCxnSpPr>
          <p:cNvPr id="78" name="Düz Bağlayıcı 77">
            <a:extLst>
              <a:ext uri="{FF2B5EF4-FFF2-40B4-BE49-F238E27FC236}">
                <a16:creationId xmlns:a16="http://schemas.microsoft.com/office/drawing/2014/main" id="{EA974342-4BB0-41B8-B3F5-BAF4FE4ADE12}"/>
              </a:ext>
            </a:extLst>
          </p:cNvPr>
          <p:cNvCxnSpPr>
            <a:cxnSpLocks/>
          </p:cNvCxnSpPr>
          <p:nvPr/>
        </p:nvCxnSpPr>
        <p:spPr>
          <a:xfrm flipH="1">
            <a:off x="226465" y="6706637"/>
            <a:ext cx="865141" cy="462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Düz Ok Bağlayıcısı 78">
            <a:extLst>
              <a:ext uri="{FF2B5EF4-FFF2-40B4-BE49-F238E27FC236}">
                <a16:creationId xmlns:a16="http://schemas.microsoft.com/office/drawing/2014/main" id="{C5AA37EB-A74A-4F5C-BE51-1A930C21E210}"/>
              </a:ext>
            </a:extLst>
          </p:cNvPr>
          <p:cNvCxnSpPr>
            <a:cxnSpLocks/>
          </p:cNvCxnSpPr>
          <p:nvPr/>
        </p:nvCxnSpPr>
        <p:spPr>
          <a:xfrm flipH="1">
            <a:off x="759413" y="6633583"/>
            <a:ext cx="171077" cy="225384"/>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80" name="Metin kutusu 79">
            <a:extLst>
              <a:ext uri="{FF2B5EF4-FFF2-40B4-BE49-F238E27FC236}">
                <a16:creationId xmlns:a16="http://schemas.microsoft.com/office/drawing/2014/main" id="{A3597DA0-279D-4113-856D-EB23C7F66D3E}"/>
              </a:ext>
            </a:extLst>
          </p:cNvPr>
          <p:cNvSpPr txBox="1"/>
          <p:nvPr/>
        </p:nvSpPr>
        <p:spPr>
          <a:xfrm>
            <a:off x="486080" y="6389845"/>
            <a:ext cx="1337917" cy="220185"/>
          </a:xfrm>
          <a:prstGeom prst="rect">
            <a:avLst/>
          </a:prstGeom>
          <a:noFill/>
        </p:spPr>
        <p:txBody>
          <a:bodyPr wrap="square" lIns="80897" tIns="40448" rIns="80897" bIns="40448" rtlCol="0">
            <a:spAutoFit/>
          </a:bodyPr>
          <a:lstStyle/>
          <a:p>
            <a:r>
              <a:rPr lang="tr-TR" sz="900" dirty="0">
                <a:latin typeface="Arial Narrow" panose="020B0606020202030204" pitchFamily="34" charset="0"/>
              </a:rPr>
              <a:t>Teğet Doğrusu</a:t>
            </a:r>
          </a:p>
        </p:txBody>
      </p:sp>
      <p:sp>
        <p:nvSpPr>
          <p:cNvPr id="81" name="Metin kutusu 80">
            <a:extLst>
              <a:ext uri="{FF2B5EF4-FFF2-40B4-BE49-F238E27FC236}">
                <a16:creationId xmlns:a16="http://schemas.microsoft.com/office/drawing/2014/main" id="{75605DF5-23E5-4B7E-B65D-7C9BCE9A29FF}"/>
              </a:ext>
            </a:extLst>
          </p:cNvPr>
          <p:cNvSpPr txBox="1"/>
          <p:nvPr/>
        </p:nvSpPr>
        <p:spPr>
          <a:xfrm>
            <a:off x="1461226" y="6485624"/>
            <a:ext cx="1679742" cy="784830"/>
          </a:xfrm>
          <a:prstGeom prst="rect">
            <a:avLst/>
          </a:prstGeom>
          <a:noFill/>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900" noProof="1"/>
              <a:t>Çizdiğimiz </a:t>
            </a:r>
            <a:r>
              <a:rPr lang="tr-TR" sz="900" b="1" noProof="1"/>
              <a:t>teğet doğrusu </a:t>
            </a:r>
            <a:r>
              <a:rPr lang="tr-TR" sz="900" noProof="1"/>
              <a:t>sağa yatıksa eğim poziftir. Teğet doğrusunun eğimi pozitif olanların düşey eksendeki (y) değeri artıştadır.</a:t>
            </a:r>
          </a:p>
        </p:txBody>
      </p:sp>
      <p:sp>
        <p:nvSpPr>
          <p:cNvPr id="82" name="Metin kutusu 81">
            <a:extLst>
              <a:ext uri="{FF2B5EF4-FFF2-40B4-BE49-F238E27FC236}">
                <a16:creationId xmlns:a16="http://schemas.microsoft.com/office/drawing/2014/main" id="{65DE1702-7F09-400C-8F7A-4494906D06B7}"/>
              </a:ext>
            </a:extLst>
          </p:cNvPr>
          <p:cNvSpPr txBox="1"/>
          <p:nvPr/>
        </p:nvSpPr>
        <p:spPr>
          <a:xfrm>
            <a:off x="55993" y="7478869"/>
            <a:ext cx="3164702" cy="1323439"/>
          </a:xfrm>
          <a:prstGeom prst="rect">
            <a:avLst/>
          </a:prstGeom>
          <a:noFill/>
        </p:spPr>
        <p:txBody>
          <a:bodyPr wrap="square" rtlCol="0">
            <a:spAutoFit/>
          </a:bodyPr>
          <a:lstStyle/>
          <a:p>
            <a:pPr marL="171450" indent="-171450">
              <a:buFont typeface="Wingdings" panose="05000000000000000000" pitchFamily="2" charset="2"/>
              <a:buChar char="Ø"/>
            </a:pPr>
            <a:r>
              <a:rPr lang="tr-TR" sz="1000" noProof="1">
                <a:cs typeface="Arial" panose="020B0604020202020204" pitchFamily="34" charset="0"/>
              </a:rPr>
              <a:t>Burada eğim pozitif olduğundan ötürü grafik düşey eksende sürekli artıştadır. Yatay eksen yani x deki değeri de gördüğümüz üzere artıştadır. Yani parabolik grafiklerde ille de ters orantı olmak zorunda değildir.</a:t>
            </a:r>
          </a:p>
          <a:p>
            <a:pPr marL="171450" indent="-171450">
              <a:buFont typeface="Wingdings" panose="05000000000000000000" pitchFamily="2" charset="2"/>
              <a:buChar char="Ø"/>
            </a:pPr>
            <a:r>
              <a:rPr lang="tr-TR" sz="1000" noProof="1">
                <a:cs typeface="Arial" panose="020B0604020202020204" pitchFamily="34" charset="0"/>
              </a:rPr>
              <a:t>Grafikte ok yönüne bakarsanız tam o noktadan sonra hafif düz devam etmiş peki bu ne anlama geliyor?</a:t>
            </a:r>
          </a:p>
          <a:p>
            <a:pPr marL="171450" indent="-171450">
              <a:buFont typeface="Wingdings" panose="05000000000000000000" pitchFamily="2" charset="2"/>
              <a:buChar char="Ø"/>
            </a:pPr>
            <a:r>
              <a:rPr lang="tr-TR" sz="1000" noProof="1">
                <a:cs typeface="Arial" panose="020B0604020202020204" pitchFamily="34" charset="0"/>
              </a:rPr>
              <a:t>Azalıyor mu artıyor mu sabit mi kendinize düşünmeniz için minimum 2 dakika tanıyın sonra yana geçin.</a:t>
            </a:r>
          </a:p>
        </p:txBody>
      </p:sp>
      <p:sp>
        <p:nvSpPr>
          <p:cNvPr id="83" name="Metin kutusu 82">
            <a:extLst>
              <a:ext uri="{FF2B5EF4-FFF2-40B4-BE49-F238E27FC236}">
                <a16:creationId xmlns:a16="http://schemas.microsoft.com/office/drawing/2014/main" id="{190A0435-4A3A-40A8-B027-89A0C90BAFEA}"/>
              </a:ext>
            </a:extLst>
          </p:cNvPr>
          <p:cNvSpPr txBox="1"/>
          <p:nvPr/>
        </p:nvSpPr>
        <p:spPr>
          <a:xfrm>
            <a:off x="3560677" y="704749"/>
            <a:ext cx="3326294" cy="3016210"/>
          </a:xfrm>
          <a:prstGeom prst="rect">
            <a:avLst/>
          </a:prstGeom>
          <a:noFill/>
        </p:spPr>
        <p:txBody>
          <a:bodyPr wrap="square" rtlCol="0">
            <a:spAutoFit/>
          </a:bodyPr>
          <a:lstStyle/>
          <a:p>
            <a:r>
              <a:rPr lang="tr-TR" sz="1000" noProof="1">
                <a:cs typeface="Arial" panose="020B0604020202020204" pitchFamily="34" charset="0"/>
              </a:rPr>
              <a:t>Ok çizdiğimiz noktadan sonra ki bu ok sadece tesadüf bir çizimdir teğet doğrusunu göstermek içindir fakat grafiğin sabite benzer gibi ilerlemiş durumunu değerlendirelim. </a:t>
            </a:r>
          </a:p>
          <a:p>
            <a:endParaRPr lang="tr-TR" sz="1000" noProof="1">
              <a:cs typeface="Arial" panose="020B0604020202020204" pitchFamily="34" charset="0"/>
            </a:endParaRPr>
          </a:p>
          <a:p>
            <a:r>
              <a:rPr lang="tr-TR" sz="1000" noProof="1">
                <a:cs typeface="Arial" panose="020B0604020202020204" pitchFamily="34" charset="0"/>
              </a:rPr>
              <a:t>Grafiğin eğiminin pozitif olması düşey eksendeki değerin daima artacağı anlamına gelir. Yani grafikteki değer sürekli artacaktır fakat eğimi daha da azaldığı ve pozitif kaldığından ötürü artış miktarı başlangıca göre daha az olacaktır. Örneğin ilk başta 5 sonra 4 sonra 3 şeklinde düşey eksendeki değer artıyorsa dikkat ederseniz sürekli artış var. Fakat bu </a:t>
            </a:r>
            <a:br>
              <a:rPr lang="tr-TR" sz="1000" noProof="1">
                <a:cs typeface="Arial" panose="020B0604020202020204" pitchFamily="34" charset="0"/>
              </a:rPr>
            </a:br>
            <a:r>
              <a:rPr lang="tr-TR" sz="1000" b="1" u="sng" noProof="1">
                <a:cs typeface="Arial" panose="020B0604020202020204" pitchFamily="34" charset="0"/>
              </a:rPr>
              <a:t>artış miktarı </a:t>
            </a:r>
            <a:r>
              <a:rPr lang="tr-TR" sz="1000" noProof="1">
                <a:cs typeface="Arial" panose="020B0604020202020204" pitchFamily="34" charset="0"/>
              </a:rPr>
              <a:t>azalmaktadır. Eğimin pozitif kalıp azalması bu anlama gelmektedir. </a:t>
            </a:r>
            <a:br>
              <a:rPr lang="tr-TR" sz="1000" noProof="1">
                <a:cs typeface="Arial" panose="020B0604020202020204" pitchFamily="34" charset="0"/>
              </a:rPr>
            </a:br>
            <a:endParaRPr lang="tr-TR" sz="1000" noProof="1">
              <a:cs typeface="Arial" panose="020B0604020202020204" pitchFamily="34" charset="0"/>
            </a:endParaRPr>
          </a:p>
          <a:p>
            <a:r>
              <a:rPr lang="tr-TR" sz="1000" noProof="1">
                <a:cs typeface="Arial" panose="020B0604020202020204" pitchFamily="34" charset="0"/>
              </a:rPr>
              <a:t>Bu artış miktarı eğime göre değişir. Teğet doğrusunun yatay eksen ile yaptığı izdüşümüne bakıp açısını kontrol edebiliriz. Bu açı dik açıdan (90 dereceden) küçük olup ne kadar fazla olursa eğim o kadar fazla olacaktır. Mükemmele oynamak istiyorsanız aşağıdakileri de öğrenebilirsiniz fakat yukarıdaki bilgiler bu grafikleri temel düzey yorumlamak için </a:t>
            </a:r>
            <a:r>
              <a:rPr lang="tr-TR" sz="1000" u="sng" noProof="1">
                <a:cs typeface="Arial" panose="020B0604020202020204" pitchFamily="34" charset="0"/>
              </a:rPr>
              <a:t>yeterlidir</a:t>
            </a:r>
            <a:r>
              <a:rPr lang="tr-TR" sz="1000" noProof="1">
                <a:cs typeface="Arial" panose="020B0604020202020204" pitchFamily="34" charset="0"/>
              </a:rPr>
              <a:t>.</a:t>
            </a:r>
          </a:p>
        </p:txBody>
      </p:sp>
      <p:sp>
        <p:nvSpPr>
          <p:cNvPr id="84" name="Metin kutusu 83">
            <a:extLst>
              <a:ext uri="{FF2B5EF4-FFF2-40B4-BE49-F238E27FC236}">
                <a16:creationId xmlns:a16="http://schemas.microsoft.com/office/drawing/2014/main" id="{EA7E8439-33EA-4F5E-9459-AD5DBED98C1F}"/>
              </a:ext>
            </a:extLst>
          </p:cNvPr>
          <p:cNvSpPr txBox="1"/>
          <p:nvPr/>
        </p:nvSpPr>
        <p:spPr>
          <a:xfrm>
            <a:off x="3582474" y="447832"/>
            <a:ext cx="323375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Ezberleme hayat boyu unutma </a:t>
            </a:r>
            <a:r>
              <a:rPr lang="tr-TR" sz="1500" b="1" dirty="0">
                <a:solidFill>
                  <a:srgbClr val="7030A0"/>
                </a:solidFill>
                <a:latin typeface="+mj-lt"/>
                <a:cs typeface="Arial" panose="020B0604020202020204" pitchFamily="34" charset="0"/>
                <a:sym typeface="Wingdings" panose="05000000000000000000" pitchFamily="2" charset="2"/>
              </a:rPr>
              <a:t></a:t>
            </a:r>
            <a:endParaRPr lang="tr-TR" sz="1500" b="1" dirty="0">
              <a:solidFill>
                <a:srgbClr val="7030A0"/>
              </a:solidFill>
              <a:latin typeface="+mj-lt"/>
              <a:cs typeface="Arial" panose="020B0604020202020204" pitchFamily="34" charset="0"/>
            </a:endParaRPr>
          </a:p>
        </p:txBody>
      </p:sp>
      <p:cxnSp>
        <p:nvCxnSpPr>
          <p:cNvPr id="103" name="Düz Ok Bağlayıcısı 102">
            <a:extLst>
              <a:ext uri="{FF2B5EF4-FFF2-40B4-BE49-F238E27FC236}">
                <a16:creationId xmlns:a16="http://schemas.microsoft.com/office/drawing/2014/main" id="{4E3CBB59-1806-4580-B602-B7A5C6B7741B}"/>
              </a:ext>
            </a:extLst>
          </p:cNvPr>
          <p:cNvCxnSpPr/>
          <p:nvPr/>
        </p:nvCxnSpPr>
        <p:spPr>
          <a:xfrm flipV="1">
            <a:off x="3953571" y="3668678"/>
            <a:ext cx="0" cy="936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Düz Ok Bağlayıcısı 103">
            <a:extLst>
              <a:ext uri="{FF2B5EF4-FFF2-40B4-BE49-F238E27FC236}">
                <a16:creationId xmlns:a16="http://schemas.microsoft.com/office/drawing/2014/main" id="{3E441BE1-E248-443B-95FE-3B53C15CD769}"/>
              </a:ext>
            </a:extLst>
          </p:cNvPr>
          <p:cNvCxnSpPr>
            <a:cxnSpLocks/>
          </p:cNvCxnSpPr>
          <p:nvPr/>
        </p:nvCxnSpPr>
        <p:spPr>
          <a:xfrm>
            <a:off x="3659664" y="4492916"/>
            <a:ext cx="13020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Serbest Form: Şekil 104">
            <a:extLst>
              <a:ext uri="{FF2B5EF4-FFF2-40B4-BE49-F238E27FC236}">
                <a16:creationId xmlns:a16="http://schemas.microsoft.com/office/drawing/2014/main" id="{96731A24-1847-47EC-8720-4904411D8035}"/>
              </a:ext>
            </a:extLst>
          </p:cNvPr>
          <p:cNvSpPr/>
          <p:nvPr/>
        </p:nvSpPr>
        <p:spPr>
          <a:xfrm>
            <a:off x="4217116" y="4114909"/>
            <a:ext cx="313120" cy="389128"/>
          </a:xfrm>
          <a:custGeom>
            <a:avLst/>
            <a:gdLst>
              <a:gd name="connsiteX0" fmla="*/ 0 w 784860"/>
              <a:gd name="connsiteY0" fmla="*/ 884154 h 884154"/>
              <a:gd name="connsiteX1" fmla="*/ 312420 w 784860"/>
              <a:gd name="connsiteY1" fmla="*/ 145014 h 884154"/>
              <a:gd name="connsiteX2" fmla="*/ 784860 w 784860"/>
              <a:gd name="connsiteY2" fmla="*/ 234 h 884154"/>
            </a:gdLst>
            <a:ahLst/>
            <a:cxnLst>
              <a:cxn ang="0">
                <a:pos x="connsiteX0" y="connsiteY0"/>
              </a:cxn>
              <a:cxn ang="0">
                <a:pos x="connsiteX1" y="connsiteY1"/>
              </a:cxn>
              <a:cxn ang="0">
                <a:pos x="connsiteX2" y="connsiteY2"/>
              </a:cxn>
            </a:cxnLst>
            <a:rect l="l" t="t" r="r" b="b"/>
            <a:pathLst>
              <a:path w="784860" h="884154">
                <a:moveTo>
                  <a:pt x="0" y="884154"/>
                </a:moveTo>
                <a:cubicBezTo>
                  <a:pt x="90805" y="588244"/>
                  <a:pt x="181610" y="292334"/>
                  <a:pt x="312420" y="145014"/>
                </a:cubicBezTo>
                <a:cubicBezTo>
                  <a:pt x="443230" y="-2306"/>
                  <a:pt x="614045" y="-1036"/>
                  <a:pt x="784860" y="234"/>
                </a:cubicBezTo>
              </a:path>
            </a:pathLst>
          </a:custGeom>
          <a:noFill/>
          <a:ln w="952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06" name="Metin kutusu 105">
            <a:extLst>
              <a:ext uri="{FF2B5EF4-FFF2-40B4-BE49-F238E27FC236}">
                <a16:creationId xmlns:a16="http://schemas.microsoft.com/office/drawing/2014/main" id="{994E495B-AF6B-4DA8-8001-A2FBEE2857A3}"/>
              </a:ext>
            </a:extLst>
          </p:cNvPr>
          <p:cNvSpPr txBox="1"/>
          <p:nvPr/>
        </p:nvSpPr>
        <p:spPr>
          <a:xfrm>
            <a:off x="3575632" y="3579506"/>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y</a:t>
            </a:r>
          </a:p>
        </p:txBody>
      </p:sp>
      <p:sp>
        <p:nvSpPr>
          <p:cNvPr id="107" name="Metin kutusu 106">
            <a:extLst>
              <a:ext uri="{FF2B5EF4-FFF2-40B4-BE49-F238E27FC236}">
                <a16:creationId xmlns:a16="http://schemas.microsoft.com/office/drawing/2014/main" id="{F0E012BB-98C8-43A7-BEB9-22E4654B0898}"/>
              </a:ext>
            </a:extLst>
          </p:cNvPr>
          <p:cNvSpPr txBox="1"/>
          <p:nvPr/>
        </p:nvSpPr>
        <p:spPr>
          <a:xfrm>
            <a:off x="4776260" y="4338430"/>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x</a:t>
            </a:r>
          </a:p>
        </p:txBody>
      </p:sp>
      <p:cxnSp>
        <p:nvCxnSpPr>
          <p:cNvPr id="108" name="Düz Bağlayıcı 107">
            <a:extLst>
              <a:ext uri="{FF2B5EF4-FFF2-40B4-BE49-F238E27FC236}">
                <a16:creationId xmlns:a16="http://schemas.microsoft.com/office/drawing/2014/main" id="{6F4852C7-8CF4-42D0-B1D8-4662910CB6DB}"/>
              </a:ext>
            </a:extLst>
          </p:cNvPr>
          <p:cNvCxnSpPr>
            <a:cxnSpLocks/>
          </p:cNvCxnSpPr>
          <p:nvPr/>
        </p:nvCxnSpPr>
        <p:spPr>
          <a:xfrm flipH="1">
            <a:off x="3666663" y="3968583"/>
            <a:ext cx="1043552" cy="51425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Metin kutusu 108">
                <a:extLst>
                  <a:ext uri="{FF2B5EF4-FFF2-40B4-BE49-F238E27FC236}">
                    <a16:creationId xmlns:a16="http://schemas.microsoft.com/office/drawing/2014/main" id="{9886F158-E416-405C-A785-481B4184C725}"/>
                  </a:ext>
                </a:extLst>
              </p:cNvPr>
              <p:cNvSpPr txBox="1"/>
              <p:nvPr/>
            </p:nvSpPr>
            <p:spPr>
              <a:xfrm>
                <a:off x="3606418" y="4343916"/>
                <a:ext cx="539959" cy="204797"/>
              </a:xfrm>
              <a:prstGeom prst="rect">
                <a:avLst/>
              </a:prstGeom>
              <a:noFill/>
            </p:spPr>
            <p:txBody>
              <a:bodyPr wrap="square" lIns="80897" tIns="40448" rIns="80897" bIns="40448" rtlCol="0">
                <a:spAutoFit/>
              </a:bodyPr>
              <a:lstStyle/>
              <a:p>
                <a:pPr algn="ctr"/>
                <a:r>
                  <a:rPr lang="tr-TR" sz="800" dirty="0">
                    <a:latin typeface="Arial Narrow" panose="020B0606020202030204" pitchFamily="34" charset="0"/>
                  </a:rPr>
                  <a:t>20</a:t>
                </a:r>
                <a14:m>
                  <m:oMath xmlns:m="http://schemas.openxmlformats.org/officeDocument/2006/math">
                    <m:r>
                      <a:rPr lang="tr-TR" sz="800" i="1" smtClean="0">
                        <a:latin typeface="Cambria Math" panose="02040503050406030204" pitchFamily="18" charset="0"/>
                        <a:ea typeface="Cambria Math" panose="02040503050406030204" pitchFamily="18" charset="0"/>
                      </a:rPr>
                      <m:t>°</m:t>
                    </m:r>
                  </m:oMath>
                </a14:m>
                <a:endParaRPr lang="tr-TR" sz="800" dirty="0">
                  <a:latin typeface="Arial Narrow" panose="020B0606020202030204" pitchFamily="34" charset="0"/>
                </a:endParaRPr>
              </a:p>
            </p:txBody>
          </p:sp>
        </mc:Choice>
        <mc:Fallback xmlns="">
          <p:sp>
            <p:nvSpPr>
              <p:cNvPr id="109" name="Metin kutusu 108">
                <a:extLst>
                  <a:ext uri="{FF2B5EF4-FFF2-40B4-BE49-F238E27FC236}">
                    <a16:creationId xmlns:a16="http://schemas.microsoft.com/office/drawing/2014/main" id="{9886F158-E416-405C-A785-481B4184C725}"/>
                  </a:ext>
                </a:extLst>
              </p:cNvPr>
              <p:cNvSpPr txBox="1">
                <a:spLocks noRot="1" noChangeAspect="1" noMove="1" noResize="1" noEditPoints="1" noAdjustHandles="1" noChangeArrowheads="1" noChangeShapeType="1" noTextEdit="1"/>
              </p:cNvSpPr>
              <p:nvPr/>
            </p:nvSpPr>
            <p:spPr>
              <a:xfrm>
                <a:off x="3606418" y="4343916"/>
                <a:ext cx="539959" cy="204797"/>
              </a:xfrm>
              <a:prstGeom prst="rect">
                <a:avLst/>
              </a:prstGeom>
              <a:blipFill>
                <a:blip r:embed="rId7"/>
                <a:stretch>
                  <a:fillRect b="-12121"/>
                </a:stretch>
              </a:blipFill>
            </p:spPr>
            <p:txBody>
              <a:bodyPr/>
              <a:lstStyle/>
              <a:p>
                <a:r>
                  <a:rPr lang="tr-TR">
                    <a:noFill/>
                  </a:rPr>
                  <a:t> </a:t>
                </a:r>
              </a:p>
            </p:txBody>
          </p:sp>
        </mc:Fallback>
      </mc:AlternateContent>
      <p:sp>
        <p:nvSpPr>
          <p:cNvPr id="115" name="Yay 114">
            <a:extLst>
              <a:ext uri="{FF2B5EF4-FFF2-40B4-BE49-F238E27FC236}">
                <a16:creationId xmlns:a16="http://schemas.microsoft.com/office/drawing/2014/main" id="{51A7C9BB-26F0-4CFD-B2D9-C43E08AF74C6}"/>
              </a:ext>
            </a:extLst>
          </p:cNvPr>
          <p:cNvSpPr/>
          <p:nvPr/>
        </p:nvSpPr>
        <p:spPr>
          <a:xfrm>
            <a:off x="3691452" y="4458426"/>
            <a:ext cx="80334" cy="7200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116" name="Metin kutusu 115">
            <a:extLst>
              <a:ext uri="{FF2B5EF4-FFF2-40B4-BE49-F238E27FC236}">
                <a16:creationId xmlns:a16="http://schemas.microsoft.com/office/drawing/2014/main" id="{19722D2F-FDC5-4D54-8243-300335E2288D}"/>
              </a:ext>
            </a:extLst>
          </p:cNvPr>
          <p:cNvSpPr txBox="1"/>
          <p:nvPr/>
        </p:nvSpPr>
        <p:spPr>
          <a:xfrm>
            <a:off x="5003313" y="3738661"/>
            <a:ext cx="1668721" cy="646331"/>
          </a:xfrm>
          <a:prstGeom prst="rect">
            <a:avLst/>
          </a:prstGeom>
          <a:noFill/>
          <a:ln w="9525" cap="flat" cmpd="sng" algn="ctr">
            <a:solidFill>
              <a:srgbClr val="0070C0"/>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900" dirty="0">
                <a:solidFill>
                  <a:schemeClr val="tx1"/>
                </a:solidFill>
              </a:rPr>
              <a:t>İki noktamız var c&lt;a olduğunu biliyoruz. a noktasında artış miktarı daha az, c noktasındaki artış miktarı daha fazladır. </a:t>
            </a:r>
          </a:p>
        </p:txBody>
      </p:sp>
      <p:cxnSp>
        <p:nvCxnSpPr>
          <p:cNvPr id="114" name="Düz Bağlayıcı 113">
            <a:extLst>
              <a:ext uri="{FF2B5EF4-FFF2-40B4-BE49-F238E27FC236}">
                <a16:creationId xmlns:a16="http://schemas.microsoft.com/office/drawing/2014/main" id="{4757223D-DBD1-4AB8-89D7-F8DBC877D251}"/>
              </a:ext>
            </a:extLst>
          </p:cNvPr>
          <p:cNvCxnSpPr>
            <a:cxnSpLocks/>
          </p:cNvCxnSpPr>
          <p:nvPr/>
        </p:nvCxnSpPr>
        <p:spPr>
          <a:xfrm>
            <a:off x="4406915" y="4130036"/>
            <a:ext cx="3006" cy="366658"/>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2" name="Metin kutusu 121">
            <a:extLst>
              <a:ext uri="{FF2B5EF4-FFF2-40B4-BE49-F238E27FC236}">
                <a16:creationId xmlns:a16="http://schemas.microsoft.com/office/drawing/2014/main" id="{F6860837-A122-48B5-BD46-D8F8CCB08858}"/>
              </a:ext>
            </a:extLst>
          </p:cNvPr>
          <p:cNvSpPr txBox="1"/>
          <p:nvPr/>
        </p:nvSpPr>
        <p:spPr>
          <a:xfrm>
            <a:off x="4138438" y="4421172"/>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a</a:t>
            </a:r>
          </a:p>
        </p:txBody>
      </p:sp>
      <p:sp>
        <p:nvSpPr>
          <p:cNvPr id="124" name="Metin kutusu 123">
            <a:extLst>
              <a:ext uri="{FF2B5EF4-FFF2-40B4-BE49-F238E27FC236}">
                <a16:creationId xmlns:a16="http://schemas.microsoft.com/office/drawing/2014/main" id="{80BC7A21-9C8A-4E0B-A5C2-3B57E8AB4E1A}"/>
              </a:ext>
            </a:extLst>
          </p:cNvPr>
          <p:cNvSpPr txBox="1"/>
          <p:nvPr/>
        </p:nvSpPr>
        <p:spPr>
          <a:xfrm>
            <a:off x="4013642" y="4421048"/>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c</a:t>
            </a:r>
          </a:p>
        </p:txBody>
      </p:sp>
      <p:sp>
        <p:nvSpPr>
          <p:cNvPr id="125" name="Metin kutusu 124">
            <a:extLst>
              <a:ext uri="{FF2B5EF4-FFF2-40B4-BE49-F238E27FC236}">
                <a16:creationId xmlns:a16="http://schemas.microsoft.com/office/drawing/2014/main" id="{5A5B5A97-B790-4BD9-BC28-A33372A262C1}"/>
              </a:ext>
            </a:extLst>
          </p:cNvPr>
          <p:cNvSpPr txBox="1"/>
          <p:nvPr/>
        </p:nvSpPr>
        <p:spPr>
          <a:xfrm>
            <a:off x="3544484" y="5830379"/>
            <a:ext cx="3154907" cy="86177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000" b="1" noProof="1">
                <a:solidFill>
                  <a:schemeClr val="tx1"/>
                </a:solidFill>
                <a:cs typeface="Arial" panose="020B0604020202020204" pitchFamily="34" charset="0"/>
              </a:rPr>
              <a:t>Dikkat ettiyseniz parabolün her noktadan çizilen teğet doğrusunun x ekseniyle yaptığı pozitif yönlü (saat yönü tersi) açı farklıdır. Yani eğim sabit değildir. Eğim yalnızda doğrusal fonksiyonlarda her noktada sabittir. O yüzden doğru orantılı olarak artış yorumları yapabilmekteyiz. </a:t>
            </a:r>
          </a:p>
        </p:txBody>
      </p:sp>
      <p:sp>
        <p:nvSpPr>
          <p:cNvPr id="126" name="Metin kutusu 125">
            <a:extLst>
              <a:ext uri="{FF2B5EF4-FFF2-40B4-BE49-F238E27FC236}">
                <a16:creationId xmlns:a16="http://schemas.microsoft.com/office/drawing/2014/main" id="{EDEF4BA5-4726-4DA1-BD68-34851589DD7B}"/>
              </a:ext>
            </a:extLst>
          </p:cNvPr>
          <p:cNvSpPr txBox="1"/>
          <p:nvPr/>
        </p:nvSpPr>
        <p:spPr>
          <a:xfrm>
            <a:off x="3435334" y="4688918"/>
            <a:ext cx="3429000" cy="1169551"/>
          </a:xfrm>
          <a:prstGeom prst="rect">
            <a:avLst/>
          </a:prstGeom>
          <a:noFill/>
        </p:spPr>
        <p:txBody>
          <a:bodyPr wrap="square" rtlCol="0">
            <a:spAutoFit/>
          </a:bodyPr>
          <a:lstStyle/>
          <a:p>
            <a:r>
              <a:rPr lang="tr-TR" sz="1000" noProof="1">
                <a:cs typeface="Arial" panose="020B0604020202020204" pitchFamily="34" charset="0"/>
              </a:rPr>
              <a:t>a noktasındaki çizilen teğet doğrusunun yatay eksen ile yaptığı izdüşüme baktığımızda açının 20 olduğunu gördük. Açı ne kadar fazlaysa 90 dan küçük olmak koşuluyla o kadar artış olacaktır çünkü eğimimiz pozitif doğrumuz sağa yatık. C noktasına bakarsak daha fazla artış olduğunu görüyoruz o kısımda yani c noktasından bir teğet çizersek onun x ekseni ile yaptığı pozitif yönlü açı 20 den daha büyük olduğunu anlarız.</a:t>
            </a:r>
          </a:p>
        </p:txBody>
      </p:sp>
      <p:cxnSp>
        <p:nvCxnSpPr>
          <p:cNvPr id="127" name="Düz Ok Bağlayıcısı 126">
            <a:extLst>
              <a:ext uri="{FF2B5EF4-FFF2-40B4-BE49-F238E27FC236}">
                <a16:creationId xmlns:a16="http://schemas.microsoft.com/office/drawing/2014/main" id="{BE2722EF-BB34-49A5-92D8-CBE73FA0E4CE}"/>
              </a:ext>
            </a:extLst>
          </p:cNvPr>
          <p:cNvCxnSpPr/>
          <p:nvPr/>
        </p:nvCxnSpPr>
        <p:spPr>
          <a:xfrm flipV="1">
            <a:off x="3807225" y="6804770"/>
            <a:ext cx="0" cy="936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Düz Ok Bağlayıcısı 127">
            <a:extLst>
              <a:ext uri="{FF2B5EF4-FFF2-40B4-BE49-F238E27FC236}">
                <a16:creationId xmlns:a16="http://schemas.microsoft.com/office/drawing/2014/main" id="{0F709FF6-BBE6-4E52-950D-D912A8BDAA8D}"/>
              </a:ext>
            </a:extLst>
          </p:cNvPr>
          <p:cNvCxnSpPr>
            <a:cxnSpLocks/>
          </p:cNvCxnSpPr>
          <p:nvPr/>
        </p:nvCxnSpPr>
        <p:spPr>
          <a:xfrm>
            <a:off x="3513318" y="7629008"/>
            <a:ext cx="13020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9" name="Serbest Form: Şekil 128">
            <a:extLst>
              <a:ext uri="{FF2B5EF4-FFF2-40B4-BE49-F238E27FC236}">
                <a16:creationId xmlns:a16="http://schemas.microsoft.com/office/drawing/2014/main" id="{37C0603F-B7B1-4885-947F-4CCFD7F45806}"/>
              </a:ext>
            </a:extLst>
          </p:cNvPr>
          <p:cNvSpPr/>
          <p:nvPr/>
        </p:nvSpPr>
        <p:spPr>
          <a:xfrm>
            <a:off x="4070770" y="7251001"/>
            <a:ext cx="313120" cy="389128"/>
          </a:xfrm>
          <a:custGeom>
            <a:avLst/>
            <a:gdLst>
              <a:gd name="connsiteX0" fmla="*/ 0 w 784860"/>
              <a:gd name="connsiteY0" fmla="*/ 884154 h 884154"/>
              <a:gd name="connsiteX1" fmla="*/ 312420 w 784860"/>
              <a:gd name="connsiteY1" fmla="*/ 145014 h 884154"/>
              <a:gd name="connsiteX2" fmla="*/ 784860 w 784860"/>
              <a:gd name="connsiteY2" fmla="*/ 234 h 884154"/>
            </a:gdLst>
            <a:ahLst/>
            <a:cxnLst>
              <a:cxn ang="0">
                <a:pos x="connsiteX0" y="connsiteY0"/>
              </a:cxn>
              <a:cxn ang="0">
                <a:pos x="connsiteX1" y="connsiteY1"/>
              </a:cxn>
              <a:cxn ang="0">
                <a:pos x="connsiteX2" y="connsiteY2"/>
              </a:cxn>
            </a:cxnLst>
            <a:rect l="l" t="t" r="r" b="b"/>
            <a:pathLst>
              <a:path w="784860" h="884154">
                <a:moveTo>
                  <a:pt x="0" y="884154"/>
                </a:moveTo>
                <a:cubicBezTo>
                  <a:pt x="90805" y="588244"/>
                  <a:pt x="181610" y="292334"/>
                  <a:pt x="312420" y="145014"/>
                </a:cubicBezTo>
                <a:cubicBezTo>
                  <a:pt x="443230" y="-2306"/>
                  <a:pt x="614045" y="-1036"/>
                  <a:pt x="784860" y="234"/>
                </a:cubicBezTo>
              </a:path>
            </a:pathLst>
          </a:custGeom>
          <a:noFill/>
          <a:ln w="9525">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30" name="Metin kutusu 129">
            <a:extLst>
              <a:ext uri="{FF2B5EF4-FFF2-40B4-BE49-F238E27FC236}">
                <a16:creationId xmlns:a16="http://schemas.microsoft.com/office/drawing/2014/main" id="{F23A46CC-90E8-4090-B0BC-92D6DB1435A1}"/>
              </a:ext>
            </a:extLst>
          </p:cNvPr>
          <p:cNvSpPr txBox="1"/>
          <p:nvPr/>
        </p:nvSpPr>
        <p:spPr>
          <a:xfrm>
            <a:off x="3429286" y="6715598"/>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y</a:t>
            </a:r>
          </a:p>
        </p:txBody>
      </p:sp>
      <p:sp>
        <p:nvSpPr>
          <p:cNvPr id="131" name="Metin kutusu 130">
            <a:extLst>
              <a:ext uri="{FF2B5EF4-FFF2-40B4-BE49-F238E27FC236}">
                <a16:creationId xmlns:a16="http://schemas.microsoft.com/office/drawing/2014/main" id="{F2DD24E3-7BCF-489E-A4C3-0F8D7D723A61}"/>
              </a:ext>
            </a:extLst>
          </p:cNvPr>
          <p:cNvSpPr txBox="1"/>
          <p:nvPr/>
        </p:nvSpPr>
        <p:spPr>
          <a:xfrm>
            <a:off x="4629914" y="7474522"/>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x</a:t>
            </a:r>
          </a:p>
        </p:txBody>
      </p:sp>
      <p:cxnSp>
        <p:nvCxnSpPr>
          <p:cNvPr id="132" name="Düz Bağlayıcı 131">
            <a:extLst>
              <a:ext uri="{FF2B5EF4-FFF2-40B4-BE49-F238E27FC236}">
                <a16:creationId xmlns:a16="http://schemas.microsoft.com/office/drawing/2014/main" id="{4E25B0DC-F8B0-48AA-B760-82FBF8E2DBC8}"/>
              </a:ext>
            </a:extLst>
          </p:cNvPr>
          <p:cNvCxnSpPr>
            <a:cxnSpLocks/>
          </p:cNvCxnSpPr>
          <p:nvPr/>
        </p:nvCxnSpPr>
        <p:spPr>
          <a:xfrm flipH="1">
            <a:off x="3918783" y="6937990"/>
            <a:ext cx="580085" cy="70284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 name="Metin kutusu 132">
                <a:extLst>
                  <a:ext uri="{FF2B5EF4-FFF2-40B4-BE49-F238E27FC236}">
                    <a16:creationId xmlns:a16="http://schemas.microsoft.com/office/drawing/2014/main" id="{4427A7CE-6F40-4688-804F-37606FD1FE5B}"/>
                  </a:ext>
                </a:extLst>
              </p:cNvPr>
              <p:cNvSpPr txBox="1"/>
              <p:nvPr/>
            </p:nvSpPr>
            <p:spPr>
              <a:xfrm>
                <a:off x="3636053" y="7447455"/>
                <a:ext cx="539959" cy="204797"/>
              </a:xfrm>
              <a:prstGeom prst="rect">
                <a:avLst/>
              </a:prstGeom>
              <a:noFill/>
            </p:spPr>
            <p:txBody>
              <a:bodyPr wrap="square" lIns="80897" tIns="40448" rIns="80897" bIns="40448" rtlCol="0">
                <a:spAutoFit/>
              </a:bodyPr>
              <a:lstStyle/>
              <a:p>
                <a:pPr algn="ctr"/>
                <a:r>
                  <a:rPr lang="tr-TR" sz="800" dirty="0">
                    <a:latin typeface="Arial Narrow" panose="020B0606020202030204" pitchFamily="34" charset="0"/>
                  </a:rPr>
                  <a:t>30</a:t>
                </a:r>
                <a14:m>
                  <m:oMath xmlns:m="http://schemas.openxmlformats.org/officeDocument/2006/math">
                    <m:r>
                      <a:rPr lang="tr-TR" sz="800" i="1" smtClean="0">
                        <a:latin typeface="Cambria Math" panose="02040503050406030204" pitchFamily="18" charset="0"/>
                        <a:ea typeface="Cambria Math" panose="02040503050406030204" pitchFamily="18" charset="0"/>
                      </a:rPr>
                      <m:t>°</m:t>
                    </m:r>
                  </m:oMath>
                </a14:m>
                <a:endParaRPr lang="tr-TR" sz="800" dirty="0">
                  <a:latin typeface="Arial Narrow" panose="020B0606020202030204" pitchFamily="34" charset="0"/>
                </a:endParaRPr>
              </a:p>
            </p:txBody>
          </p:sp>
        </mc:Choice>
        <mc:Fallback xmlns="">
          <p:sp>
            <p:nvSpPr>
              <p:cNvPr id="133" name="Metin kutusu 132">
                <a:extLst>
                  <a:ext uri="{FF2B5EF4-FFF2-40B4-BE49-F238E27FC236}">
                    <a16:creationId xmlns:a16="http://schemas.microsoft.com/office/drawing/2014/main" id="{4427A7CE-6F40-4688-804F-37606FD1FE5B}"/>
                  </a:ext>
                </a:extLst>
              </p:cNvPr>
              <p:cNvSpPr txBox="1">
                <a:spLocks noRot="1" noChangeAspect="1" noMove="1" noResize="1" noEditPoints="1" noAdjustHandles="1" noChangeArrowheads="1" noChangeShapeType="1" noTextEdit="1"/>
              </p:cNvSpPr>
              <p:nvPr/>
            </p:nvSpPr>
            <p:spPr>
              <a:xfrm>
                <a:off x="3636053" y="7447455"/>
                <a:ext cx="539959" cy="204797"/>
              </a:xfrm>
              <a:prstGeom prst="rect">
                <a:avLst/>
              </a:prstGeom>
              <a:blipFill>
                <a:blip r:embed="rId8"/>
                <a:stretch>
                  <a:fillRect b="-12121"/>
                </a:stretch>
              </a:blipFill>
            </p:spPr>
            <p:txBody>
              <a:bodyPr/>
              <a:lstStyle/>
              <a:p>
                <a:r>
                  <a:rPr lang="tr-TR">
                    <a:noFill/>
                  </a:rPr>
                  <a:t> </a:t>
                </a:r>
              </a:p>
            </p:txBody>
          </p:sp>
        </mc:Fallback>
      </mc:AlternateContent>
      <p:sp>
        <p:nvSpPr>
          <p:cNvPr id="134" name="Yay 133">
            <a:extLst>
              <a:ext uri="{FF2B5EF4-FFF2-40B4-BE49-F238E27FC236}">
                <a16:creationId xmlns:a16="http://schemas.microsoft.com/office/drawing/2014/main" id="{561CFA28-38FA-4AA8-B63A-B23923C27EFB}"/>
              </a:ext>
            </a:extLst>
          </p:cNvPr>
          <p:cNvSpPr/>
          <p:nvPr/>
        </p:nvSpPr>
        <p:spPr>
          <a:xfrm>
            <a:off x="3916187" y="7590368"/>
            <a:ext cx="80334" cy="7200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cxnSp>
        <p:nvCxnSpPr>
          <p:cNvPr id="135" name="Düz Bağlayıcı 134">
            <a:extLst>
              <a:ext uri="{FF2B5EF4-FFF2-40B4-BE49-F238E27FC236}">
                <a16:creationId xmlns:a16="http://schemas.microsoft.com/office/drawing/2014/main" id="{36C2601E-7163-446B-9369-601676AF4C96}"/>
              </a:ext>
            </a:extLst>
          </p:cNvPr>
          <p:cNvCxnSpPr>
            <a:cxnSpLocks/>
          </p:cNvCxnSpPr>
          <p:nvPr/>
        </p:nvCxnSpPr>
        <p:spPr>
          <a:xfrm flipH="1">
            <a:off x="4164327" y="7349692"/>
            <a:ext cx="1274" cy="27409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36" name="Metin kutusu 135">
            <a:extLst>
              <a:ext uri="{FF2B5EF4-FFF2-40B4-BE49-F238E27FC236}">
                <a16:creationId xmlns:a16="http://schemas.microsoft.com/office/drawing/2014/main" id="{FB29D275-E4D4-49EC-8118-6CB1872B17AE}"/>
              </a:ext>
            </a:extLst>
          </p:cNvPr>
          <p:cNvSpPr txBox="1"/>
          <p:nvPr/>
        </p:nvSpPr>
        <p:spPr>
          <a:xfrm>
            <a:off x="4043263" y="7553893"/>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a</a:t>
            </a:r>
          </a:p>
        </p:txBody>
      </p:sp>
      <p:sp>
        <p:nvSpPr>
          <p:cNvPr id="137" name="Metin kutusu 136">
            <a:extLst>
              <a:ext uri="{FF2B5EF4-FFF2-40B4-BE49-F238E27FC236}">
                <a16:creationId xmlns:a16="http://schemas.microsoft.com/office/drawing/2014/main" id="{BDD41ABB-D41B-451C-AA78-EFA219D9B881}"/>
              </a:ext>
            </a:extLst>
          </p:cNvPr>
          <p:cNvSpPr txBox="1"/>
          <p:nvPr/>
        </p:nvSpPr>
        <p:spPr>
          <a:xfrm>
            <a:off x="3875610" y="7553893"/>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c</a:t>
            </a:r>
          </a:p>
        </p:txBody>
      </p:sp>
      <p:sp>
        <p:nvSpPr>
          <p:cNvPr id="142" name="Metin kutusu 141">
            <a:extLst>
              <a:ext uri="{FF2B5EF4-FFF2-40B4-BE49-F238E27FC236}">
                <a16:creationId xmlns:a16="http://schemas.microsoft.com/office/drawing/2014/main" id="{75BF7279-75F4-4196-A05B-302404853C80}"/>
              </a:ext>
            </a:extLst>
          </p:cNvPr>
          <p:cNvSpPr txBox="1"/>
          <p:nvPr/>
        </p:nvSpPr>
        <p:spPr>
          <a:xfrm>
            <a:off x="4999589" y="6776928"/>
            <a:ext cx="1668721" cy="784830"/>
          </a:xfrm>
          <a:prstGeom prst="rect">
            <a:avLst/>
          </a:prstGeom>
          <a:noFill/>
          <a:ln w="9525" cap="flat" cmpd="sng" algn="ctr">
            <a:solidFill>
              <a:srgbClr val="0070C0"/>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tr-TR" sz="900" noProof="1">
                <a:solidFill>
                  <a:schemeClr val="tx1"/>
                </a:solidFill>
              </a:rPr>
              <a:t>C noktasının çizim biraz kötü olsa da daha a noktasına göre daha fazla attığını yaptığı açının daha fazla olduğuna bakarakta yorumlayabiliriz.</a:t>
            </a:r>
          </a:p>
        </p:txBody>
      </p:sp>
      <p:sp>
        <p:nvSpPr>
          <p:cNvPr id="143" name="Metin kutusu 142">
            <a:extLst>
              <a:ext uri="{FF2B5EF4-FFF2-40B4-BE49-F238E27FC236}">
                <a16:creationId xmlns:a16="http://schemas.microsoft.com/office/drawing/2014/main" id="{C2E484FF-8BAA-4ADD-8B95-C3D375178ECE}"/>
              </a:ext>
            </a:extLst>
          </p:cNvPr>
          <p:cNvSpPr txBox="1"/>
          <p:nvPr/>
        </p:nvSpPr>
        <p:spPr>
          <a:xfrm>
            <a:off x="3534517" y="7800879"/>
            <a:ext cx="3154908" cy="86177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000" b="1" noProof="1">
                <a:solidFill>
                  <a:schemeClr val="tx1"/>
                </a:solidFill>
                <a:cs typeface="Arial" panose="020B0604020202020204" pitchFamily="34" charset="0"/>
              </a:rPr>
              <a:t>Pozitif eğimlerde olduğu gibi negatif eğimlerde de sabit gibi davranan kısımlarda </a:t>
            </a:r>
            <a:r>
              <a:rPr lang="tr-TR" sz="1000" b="1" u="sng" noProof="1">
                <a:solidFill>
                  <a:schemeClr val="tx1"/>
                </a:solidFill>
                <a:cs typeface="Arial" panose="020B0604020202020204" pitchFamily="34" charset="0"/>
              </a:rPr>
              <a:t>azalış miktarı</a:t>
            </a:r>
            <a:r>
              <a:rPr lang="tr-TR" sz="1000" b="1" noProof="1">
                <a:solidFill>
                  <a:schemeClr val="tx1"/>
                </a:solidFill>
                <a:cs typeface="Arial" panose="020B0604020202020204" pitchFamily="34" charset="0"/>
              </a:rPr>
              <a:t> sağa gittikçe daha azalır fakat bu düşey eksendeki değerin azalmadığı anlamına kesinlikle gelmez. Azalış miktarı örneğin 2 iken 1 e düşer ama azaltmaya devam eder negatif eğimliyse.  </a:t>
            </a:r>
            <a:endParaRPr lang="tr-TR" sz="1000" b="1" u="sng" noProof="1">
              <a:solidFill>
                <a:schemeClr val="tx1"/>
              </a:solidFill>
              <a:cs typeface="Arial" panose="020B0604020202020204" pitchFamily="34" charset="0"/>
            </a:endParaRPr>
          </a:p>
        </p:txBody>
      </p:sp>
    </p:spTree>
    <p:extLst>
      <p:ext uri="{BB962C8B-B14F-4D97-AF65-F5344CB8AC3E}">
        <p14:creationId xmlns:p14="http://schemas.microsoft.com/office/powerpoint/2010/main" val="33047995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Parabolik Grafikler</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Grafik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63172" y="430664"/>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108044" y="602201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9" name="Ok: Beşgen 58">
            <a:extLst>
              <a:ext uri="{FF2B5EF4-FFF2-40B4-BE49-F238E27FC236}">
                <a16:creationId xmlns:a16="http://schemas.microsoft.com/office/drawing/2014/main" id="{A129DA11-0AC2-45F3-8B23-433A1D371D79}"/>
              </a:ext>
            </a:extLst>
          </p:cNvPr>
          <p:cNvSpPr/>
          <p:nvPr/>
        </p:nvSpPr>
        <p:spPr>
          <a:xfrm>
            <a:off x="3619908" y="624067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36281" y="401989"/>
            <a:ext cx="2460024" cy="430943"/>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40154" y="409711"/>
            <a:ext cx="2554111" cy="415498"/>
          </a:xfrm>
          <a:prstGeom prst="rect">
            <a:avLst/>
          </a:prstGeom>
          <a:noFill/>
        </p:spPr>
        <p:txBody>
          <a:bodyPr wrap="square">
            <a:spAutoFit/>
          </a:bodyPr>
          <a:lstStyle/>
          <a:p>
            <a:r>
              <a:rPr lang="tr-TR" sz="700" i="0" dirty="0">
                <a:effectLst/>
                <a:latin typeface="Arial Narrow" panose="020B0606020202030204" pitchFamily="34" charset="0"/>
              </a:rPr>
              <a:t>“Beni görmek demek mutlaka yüzümü görmek demek değildir. Benim fikirlerimi, benim duygularımı anlıyorsanız ve hissediyorsanız bu yeterlidir. ”  - Mustafa Kemal Atatürk</a:t>
            </a:r>
            <a:endParaRPr lang="tr-TR" sz="700" dirty="0">
              <a:latin typeface="Arial Narrow" panose="020B0606020202030204" pitchFamily="34" charset="0"/>
            </a:endParaRPr>
          </a:p>
        </p:txBody>
      </p:sp>
      <p:sp>
        <p:nvSpPr>
          <p:cNvPr id="57" name="Kaydırma: Yatay 56">
            <a:extLst>
              <a:ext uri="{FF2B5EF4-FFF2-40B4-BE49-F238E27FC236}">
                <a16:creationId xmlns:a16="http://schemas.microsoft.com/office/drawing/2014/main" id="{13F86CB2-FBD3-4ADA-B718-62426D0A9CB0}"/>
              </a:ext>
            </a:extLst>
          </p:cNvPr>
          <p:cNvSpPr/>
          <p:nvPr/>
        </p:nvSpPr>
        <p:spPr>
          <a:xfrm>
            <a:off x="4391373" y="425670"/>
            <a:ext cx="2381631" cy="378586"/>
          </a:xfrm>
          <a:prstGeom prst="horizontalScroll">
            <a:avLst/>
          </a:prstGeom>
          <a:solidFill>
            <a:schemeClr val="accent5">
              <a:lumMod val="40000"/>
              <a:lumOff val="60000"/>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F257C0B-BCB1-4B18-849D-D295CFBD17CA}"/>
              </a:ext>
            </a:extLst>
          </p:cNvPr>
          <p:cNvSpPr txBox="1"/>
          <p:nvPr/>
        </p:nvSpPr>
        <p:spPr>
          <a:xfrm>
            <a:off x="4397468" y="461022"/>
            <a:ext cx="2375535" cy="307777"/>
          </a:xfrm>
          <a:prstGeom prst="rect">
            <a:avLst/>
          </a:prstGeom>
          <a:noFill/>
        </p:spPr>
        <p:txBody>
          <a:bodyPr wrap="square">
            <a:spAutoFit/>
          </a:bodyPr>
          <a:lstStyle/>
          <a:p>
            <a:pPr algn="ctr"/>
            <a:r>
              <a:rPr lang="tr-TR" sz="700" i="0" dirty="0">
                <a:effectLst/>
                <a:latin typeface="Arial Narrow" panose="020B0606020202030204" pitchFamily="34" charset="0"/>
              </a:rPr>
              <a:t>“Eğer bir gün benim sözlerim bilimle ters düşerse bilimi seçin. ”  </a:t>
            </a:r>
            <a:br>
              <a:rPr lang="tr-TR" sz="700" i="0" dirty="0">
                <a:effectLst/>
                <a:latin typeface="Arial Narrow" panose="020B0606020202030204" pitchFamily="34" charset="0"/>
              </a:rPr>
            </a:br>
            <a:r>
              <a:rPr lang="tr-TR" sz="700" i="0" dirty="0">
                <a:effectLst/>
                <a:latin typeface="Arial Narrow" panose="020B0606020202030204" pitchFamily="34" charset="0"/>
              </a:rPr>
              <a:t>- Mustafa Kemal Atatürk</a:t>
            </a:r>
            <a:endParaRPr lang="tr-TR" sz="700" dirty="0">
              <a:latin typeface="Arial Narrow" panose="020B0606020202030204" pitchFamily="34" charset="0"/>
            </a:endParaRPr>
          </a:p>
        </p:txBody>
      </p:sp>
      <p:cxnSp>
        <p:nvCxnSpPr>
          <p:cNvPr id="62" name="Düz Ok Bağlayıcısı 61">
            <a:extLst>
              <a:ext uri="{FF2B5EF4-FFF2-40B4-BE49-F238E27FC236}">
                <a16:creationId xmlns:a16="http://schemas.microsoft.com/office/drawing/2014/main" id="{F023F45C-66F2-46F2-91A3-785D49B4F56D}"/>
              </a:ext>
            </a:extLst>
          </p:cNvPr>
          <p:cNvCxnSpPr/>
          <p:nvPr/>
        </p:nvCxnSpPr>
        <p:spPr>
          <a:xfrm flipV="1">
            <a:off x="414439" y="940148"/>
            <a:ext cx="0" cy="936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Düz Ok Bağlayıcısı 65">
            <a:extLst>
              <a:ext uri="{FF2B5EF4-FFF2-40B4-BE49-F238E27FC236}">
                <a16:creationId xmlns:a16="http://schemas.microsoft.com/office/drawing/2014/main" id="{4B8B14F0-A83C-43BC-A356-EB522F72B705}"/>
              </a:ext>
            </a:extLst>
          </p:cNvPr>
          <p:cNvCxnSpPr>
            <a:cxnSpLocks/>
          </p:cNvCxnSpPr>
          <p:nvPr/>
        </p:nvCxnSpPr>
        <p:spPr>
          <a:xfrm>
            <a:off x="120532" y="1764386"/>
            <a:ext cx="13020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Metin kutusu 66">
            <a:extLst>
              <a:ext uri="{FF2B5EF4-FFF2-40B4-BE49-F238E27FC236}">
                <a16:creationId xmlns:a16="http://schemas.microsoft.com/office/drawing/2014/main" id="{4341A299-88A3-4DF0-8372-19BA6F653667}"/>
              </a:ext>
            </a:extLst>
          </p:cNvPr>
          <p:cNvSpPr txBox="1"/>
          <p:nvPr/>
        </p:nvSpPr>
        <p:spPr>
          <a:xfrm>
            <a:off x="282542" y="762563"/>
            <a:ext cx="1015735" cy="235574"/>
          </a:xfrm>
          <a:prstGeom prst="rect">
            <a:avLst/>
          </a:prstGeom>
          <a:noFill/>
        </p:spPr>
        <p:txBody>
          <a:bodyPr wrap="square" lIns="80897" tIns="40448" rIns="80897" bIns="40448" rtlCol="0">
            <a:spAutoFit/>
          </a:bodyPr>
          <a:lstStyle/>
          <a:p>
            <a:r>
              <a:rPr lang="tr-TR" sz="1000" dirty="0">
                <a:latin typeface="Arial Narrow" panose="020B0606020202030204" pitchFamily="34" charset="0"/>
              </a:rPr>
              <a:t>Y (sayısal değer)</a:t>
            </a:r>
          </a:p>
        </p:txBody>
      </p:sp>
      <p:sp>
        <p:nvSpPr>
          <p:cNvPr id="4" name="Yay 3">
            <a:extLst>
              <a:ext uri="{FF2B5EF4-FFF2-40B4-BE49-F238E27FC236}">
                <a16:creationId xmlns:a16="http://schemas.microsoft.com/office/drawing/2014/main" id="{1922C859-ADEE-4782-A9F0-D72A73C8801D}"/>
              </a:ext>
            </a:extLst>
          </p:cNvPr>
          <p:cNvSpPr/>
          <p:nvPr/>
        </p:nvSpPr>
        <p:spPr>
          <a:xfrm rot="16900900">
            <a:off x="407325" y="1059662"/>
            <a:ext cx="914400" cy="914400"/>
          </a:xfrm>
          <a:prstGeom prst="arc">
            <a:avLst>
              <a:gd name="adj1" fmla="val 16200000"/>
              <a:gd name="adj2" fmla="val 555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69" name="Metin kutusu 68">
            <a:extLst>
              <a:ext uri="{FF2B5EF4-FFF2-40B4-BE49-F238E27FC236}">
                <a16:creationId xmlns:a16="http://schemas.microsoft.com/office/drawing/2014/main" id="{E885AF32-C910-40B1-92E2-2E531CE3EF02}"/>
              </a:ext>
            </a:extLst>
          </p:cNvPr>
          <p:cNvSpPr txBox="1"/>
          <p:nvPr/>
        </p:nvSpPr>
        <p:spPr>
          <a:xfrm>
            <a:off x="67082" y="1907092"/>
            <a:ext cx="3242617" cy="1466681"/>
          </a:xfrm>
          <a:prstGeom prst="rect">
            <a:avLst/>
          </a:prstGeom>
          <a:noFill/>
        </p:spPr>
        <p:txBody>
          <a:bodyPr wrap="square" lIns="80897" tIns="40448" rIns="80897" bIns="40448" rtlCol="0">
            <a:spAutoFit/>
          </a:bodyPr>
          <a:lstStyle/>
          <a:p>
            <a:r>
              <a:rPr lang="tr-TR" sz="1000" dirty="0"/>
              <a:t>I. Y ile sıcaklık ters orantılıdır.</a:t>
            </a:r>
          </a:p>
          <a:p>
            <a:r>
              <a:rPr lang="tr-TR" sz="1000" dirty="0"/>
              <a:t>II. Y değeri A da en büyük C de en küçüktür.</a:t>
            </a:r>
          </a:p>
          <a:p>
            <a:r>
              <a:rPr lang="tr-TR" sz="1000" dirty="0"/>
              <a:t>III. Y ve sıcaklık değeri sürekli artmaktadır. </a:t>
            </a:r>
          </a:p>
          <a:p>
            <a:r>
              <a:rPr lang="tr-TR" sz="1000" dirty="0"/>
              <a:t>IV. Sıcaklık değeri başlangıçta Y değerinin başlangıcının sayısal değerinden küçüktür.</a:t>
            </a:r>
          </a:p>
          <a:p>
            <a:r>
              <a:rPr lang="tr-TR" sz="1000" dirty="0"/>
              <a:t>V. Yıldız sembolünün olduğu kısmın sağında Y ve Sıcaklık değerinin sayısal değeri sabit kalmıştır. </a:t>
            </a:r>
          </a:p>
          <a:p>
            <a:endParaRPr lang="tr-TR" sz="1000" dirty="0"/>
          </a:p>
          <a:p>
            <a:r>
              <a:rPr lang="tr-TR" sz="1000" b="1" dirty="0"/>
              <a:t>Önermelerinden hangileri doğrudur?</a:t>
            </a:r>
          </a:p>
        </p:txBody>
      </p:sp>
      <p:sp>
        <p:nvSpPr>
          <p:cNvPr id="70" name="Metin kutusu 69">
            <a:extLst>
              <a:ext uri="{FF2B5EF4-FFF2-40B4-BE49-F238E27FC236}">
                <a16:creationId xmlns:a16="http://schemas.microsoft.com/office/drawing/2014/main" id="{09EBBD40-7A15-4F4B-B04A-98A98B2C0CD0}"/>
              </a:ext>
            </a:extLst>
          </p:cNvPr>
          <p:cNvSpPr txBox="1"/>
          <p:nvPr/>
        </p:nvSpPr>
        <p:spPr>
          <a:xfrm>
            <a:off x="1385140" y="1620652"/>
            <a:ext cx="1916394" cy="235574"/>
          </a:xfrm>
          <a:prstGeom prst="rect">
            <a:avLst/>
          </a:prstGeom>
          <a:noFill/>
        </p:spPr>
        <p:txBody>
          <a:bodyPr wrap="square" lIns="80897" tIns="40448" rIns="80897" bIns="40448" rtlCol="0">
            <a:spAutoFit/>
          </a:bodyPr>
          <a:lstStyle/>
          <a:p>
            <a:r>
              <a:rPr lang="tr-TR" sz="1000" dirty="0">
                <a:latin typeface="Arial Narrow" panose="020B0606020202030204" pitchFamily="34" charset="0"/>
              </a:rPr>
              <a:t>Sıcaklık (Kelvin sayısal değer ölçüsü) </a:t>
            </a:r>
          </a:p>
        </p:txBody>
      </p:sp>
      <p:sp>
        <p:nvSpPr>
          <p:cNvPr id="71" name="Metin kutusu 70">
            <a:extLst>
              <a:ext uri="{FF2B5EF4-FFF2-40B4-BE49-F238E27FC236}">
                <a16:creationId xmlns:a16="http://schemas.microsoft.com/office/drawing/2014/main" id="{2021D95D-67E5-4DF1-97D8-778D19025D0A}"/>
              </a:ext>
            </a:extLst>
          </p:cNvPr>
          <p:cNvSpPr txBox="1"/>
          <p:nvPr/>
        </p:nvSpPr>
        <p:spPr>
          <a:xfrm>
            <a:off x="378315" y="1723180"/>
            <a:ext cx="895728" cy="235574"/>
          </a:xfrm>
          <a:prstGeom prst="rect">
            <a:avLst/>
          </a:prstGeom>
          <a:noFill/>
        </p:spPr>
        <p:txBody>
          <a:bodyPr wrap="square" lIns="80897" tIns="40448" rIns="80897" bIns="40448" rtlCol="0">
            <a:spAutoFit/>
          </a:bodyPr>
          <a:lstStyle/>
          <a:p>
            <a:r>
              <a:rPr lang="tr-TR" sz="1000" dirty="0">
                <a:latin typeface="Arial Narrow" panose="020B0606020202030204" pitchFamily="34" charset="0"/>
              </a:rPr>
              <a:t>A   B    C </a:t>
            </a:r>
          </a:p>
        </p:txBody>
      </p:sp>
      <p:cxnSp>
        <p:nvCxnSpPr>
          <p:cNvPr id="7" name="Düz Bağlayıcı 6">
            <a:extLst>
              <a:ext uri="{FF2B5EF4-FFF2-40B4-BE49-F238E27FC236}">
                <a16:creationId xmlns:a16="http://schemas.microsoft.com/office/drawing/2014/main" id="{877DE6A2-4721-4A7A-8AC3-3F220FF52D5A}"/>
              </a:ext>
            </a:extLst>
          </p:cNvPr>
          <p:cNvCxnSpPr>
            <a:cxnSpLocks/>
          </p:cNvCxnSpPr>
          <p:nvPr/>
        </p:nvCxnSpPr>
        <p:spPr>
          <a:xfrm flipH="1">
            <a:off x="492283" y="1258260"/>
            <a:ext cx="2954" cy="504387"/>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 name="Düz Bağlayıcı 71">
            <a:extLst>
              <a:ext uri="{FF2B5EF4-FFF2-40B4-BE49-F238E27FC236}">
                <a16:creationId xmlns:a16="http://schemas.microsoft.com/office/drawing/2014/main" id="{41DC5662-482F-4D2E-A8B0-D239BFE4F06B}"/>
              </a:ext>
            </a:extLst>
          </p:cNvPr>
          <p:cNvCxnSpPr>
            <a:cxnSpLocks/>
          </p:cNvCxnSpPr>
          <p:nvPr/>
        </p:nvCxnSpPr>
        <p:spPr>
          <a:xfrm>
            <a:off x="650924" y="1115616"/>
            <a:ext cx="0" cy="64703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3" name="Düz Bağlayıcı 72">
            <a:extLst>
              <a:ext uri="{FF2B5EF4-FFF2-40B4-BE49-F238E27FC236}">
                <a16:creationId xmlns:a16="http://schemas.microsoft.com/office/drawing/2014/main" id="{1DDB69E7-856C-40CD-B19C-B2ECE55D2B30}"/>
              </a:ext>
            </a:extLst>
          </p:cNvPr>
          <p:cNvCxnSpPr>
            <a:cxnSpLocks/>
          </p:cNvCxnSpPr>
          <p:nvPr/>
        </p:nvCxnSpPr>
        <p:spPr>
          <a:xfrm flipH="1">
            <a:off x="804078" y="1067903"/>
            <a:ext cx="2534" cy="69474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4" name="Yıldız: 5 Nokta 73">
            <a:extLst>
              <a:ext uri="{FF2B5EF4-FFF2-40B4-BE49-F238E27FC236}">
                <a16:creationId xmlns:a16="http://schemas.microsoft.com/office/drawing/2014/main" id="{D13AB3D3-315F-4D6D-A28F-DAC90F8DC5B5}"/>
              </a:ext>
            </a:extLst>
          </p:cNvPr>
          <p:cNvSpPr/>
          <p:nvPr/>
        </p:nvSpPr>
        <p:spPr>
          <a:xfrm>
            <a:off x="773115" y="1013870"/>
            <a:ext cx="71634" cy="80398"/>
          </a:xfrm>
          <a:prstGeom prst="star5">
            <a:avLst>
              <a:gd name="adj" fmla="val 27135"/>
              <a:gd name="hf" fmla="val 105146"/>
              <a:gd name="vf" fmla="val 110557"/>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77" name="Metin kutusu 76">
            <a:extLst>
              <a:ext uri="{FF2B5EF4-FFF2-40B4-BE49-F238E27FC236}">
                <a16:creationId xmlns:a16="http://schemas.microsoft.com/office/drawing/2014/main" id="{88430652-956A-4939-BFB4-1A11F6C2C00C}"/>
              </a:ext>
            </a:extLst>
          </p:cNvPr>
          <p:cNvSpPr txBox="1"/>
          <p:nvPr/>
        </p:nvSpPr>
        <p:spPr>
          <a:xfrm>
            <a:off x="67082" y="6327588"/>
            <a:ext cx="3242617" cy="2390010"/>
          </a:xfrm>
          <a:prstGeom prst="rect">
            <a:avLst/>
          </a:prstGeom>
          <a:noFill/>
        </p:spPr>
        <p:txBody>
          <a:bodyPr wrap="square" lIns="80897" tIns="40448" rIns="80897" bIns="40448" rtlCol="0">
            <a:spAutoFit/>
          </a:bodyPr>
          <a:lstStyle/>
          <a:p>
            <a:r>
              <a:rPr lang="tr-TR" sz="1000" b="1" noProof="1"/>
              <a:t>I. </a:t>
            </a:r>
            <a:r>
              <a:rPr lang="tr-TR" sz="1000" noProof="1"/>
              <a:t>Y artarken sıcaklıkta artmaktadır. Yani doğru orantılıdır.</a:t>
            </a:r>
          </a:p>
          <a:p>
            <a:endParaRPr lang="tr-TR" sz="1000" b="1" noProof="1"/>
          </a:p>
          <a:p>
            <a:r>
              <a:rPr lang="tr-TR" sz="1000" b="1" noProof="1"/>
              <a:t>II. </a:t>
            </a:r>
            <a:r>
              <a:rPr lang="tr-TR" sz="1000" noProof="1"/>
              <a:t>A da en küçük B de orta C de en büyük Y değeri alınmıştır.</a:t>
            </a:r>
          </a:p>
          <a:p>
            <a:endParaRPr lang="tr-TR" sz="1000" b="1" noProof="1"/>
          </a:p>
          <a:p>
            <a:r>
              <a:rPr lang="tr-TR" sz="1000" b="1" noProof="1"/>
              <a:t>III. </a:t>
            </a:r>
            <a:r>
              <a:rPr lang="tr-TR" sz="1000" noProof="1"/>
              <a:t>Y ve sıcaklık değeri sürekli yani sağa doğru izlendiğinde sürekli sayısal değerleri artmaktadır. </a:t>
            </a:r>
          </a:p>
          <a:p>
            <a:endParaRPr lang="tr-TR" sz="1000" noProof="1"/>
          </a:p>
          <a:p>
            <a:r>
              <a:rPr lang="tr-TR" sz="1000" b="1" noProof="1"/>
              <a:t>IV. </a:t>
            </a:r>
            <a:r>
              <a:rPr lang="tr-TR" sz="1000" noProof="1"/>
              <a:t>Y nin sayısal değeri 0 dan büyüktür. Fakat sıcaklık değeri 0 dan başlamıştır. Yani Y değeri daha büyüktür.</a:t>
            </a:r>
          </a:p>
          <a:p>
            <a:endParaRPr lang="tr-TR" sz="1000" noProof="1"/>
          </a:p>
          <a:p>
            <a:r>
              <a:rPr lang="tr-TR" sz="1000" b="1" noProof="1"/>
              <a:t>V. </a:t>
            </a:r>
            <a:r>
              <a:rPr lang="tr-TR" sz="1000" noProof="1"/>
              <a:t>Yıldız sembolünün sağını incelediğimizde eğimin pozitif olduğunu görüyoruz. Eğim pozitifse artış vardır fakat artış miktarı diğerlerine nazaran daha azdır. Sabit ilerlemez sürekli üstüne az da olsa koyarak artmaya devam edecektir.</a:t>
            </a:r>
          </a:p>
        </p:txBody>
      </p:sp>
      <p:sp>
        <p:nvSpPr>
          <p:cNvPr id="78" name="Metin kutusu 77">
            <a:extLst>
              <a:ext uri="{FF2B5EF4-FFF2-40B4-BE49-F238E27FC236}">
                <a16:creationId xmlns:a16="http://schemas.microsoft.com/office/drawing/2014/main" id="{7E7F3AD9-487F-459E-98DA-9A7350CD0B93}"/>
              </a:ext>
            </a:extLst>
          </p:cNvPr>
          <p:cNvSpPr txBox="1"/>
          <p:nvPr/>
        </p:nvSpPr>
        <p:spPr>
          <a:xfrm>
            <a:off x="248013" y="1713496"/>
            <a:ext cx="895728" cy="235574"/>
          </a:xfrm>
          <a:prstGeom prst="rect">
            <a:avLst/>
          </a:prstGeom>
          <a:noFill/>
        </p:spPr>
        <p:txBody>
          <a:bodyPr wrap="square" lIns="80897" tIns="40448" rIns="80897" bIns="40448" rtlCol="0">
            <a:spAutoFit/>
          </a:bodyPr>
          <a:lstStyle/>
          <a:p>
            <a:r>
              <a:rPr lang="tr-TR" sz="1000" dirty="0">
                <a:latin typeface="Arial Narrow" panose="020B0606020202030204" pitchFamily="34" charset="0"/>
              </a:rPr>
              <a:t>0</a:t>
            </a:r>
          </a:p>
        </p:txBody>
      </p:sp>
      <p:cxnSp>
        <p:nvCxnSpPr>
          <p:cNvPr id="79" name="Düz Ok Bağlayıcısı 78">
            <a:extLst>
              <a:ext uri="{FF2B5EF4-FFF2-40B4-BE49-F238E27FC236}">
                <a16:creationId xmlns:a16="http://schemas.microsoft.com/office/drawing/2014/main" id="{B9719495-6399-4A57-88CA-F4E12AB44C32}"/>
              </a:ext>
            </a:extLst>
          </p:cNvPr>
          <p:cNvCxnSpPr/>
          <p:nvPr/>
        </p:nvCxnSpPr>
        <p:spPr>
          <a:xfrm flipV="1">
            <a:off x="4007079" y="1077140"/>
            <a:ext cx="0" cy="936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Düz Ok Bağlayıcısı 79">
            <a:extLst>
              <a:ext uri="{FF2B5EF4-FFF2-40B4-BE49-F238E27FC236}">
                <a16:creationId xmlns:a16="http://schemas.microsoft.com/office/drawing/2014/main" id="{F197E980-3865-4DC2-A7F1-E4F7EE976070}"/>
              </a:ext>
            </a:extLst>
          </p:cNvPr>
          <p:cNvCxnSpPr>
            <a:cxnSpLocks/>
          </p:cNvCxnSpPr>
          <p:nvPr/>
        </p:nvCxnSpPr>
        <p:spPr>
          <a:xfrm>
            <a:off x="3713172" y="1901378"/>
            <a:ext cx="13020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Metin kutusu 80">
            <a:extLst>
              <a:ext uri="{FF2B5EF4-FFF2-40B4-BE49-F238E27FC236}">
                <a16:creationId xmlns:a16="http://schemas.microsoft.com/office/drawing/2014/main" id="{18FC2586-0CC0-4A25-9448-0BFF4FE07624}"/>
              </a:ext>
            </a:extLst>
          </p:cNvPr>
          <p:cNvSpPr txBox="1"/>
          <p:nvPr/>
        </p:nvSpPr>
        <p:spPr>
          <a:xfrm>
            <a:off x="3550471" y="816295"/>
            <a:ext cx="1550317"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Topun Yüksekliği (metre) </a:t>
            </a:r>
          </a:p>
        </p:txBody>
      </p:sp>
      <p:sp>
        <p:nvSpPr>
          <p:cNvPr id="82" name="Metin kutusu 81">
            <a:extLst>
              <a:ext uri="{FF2B5EF4-FFF2-40B4-BE49-F238E27FC236}">
                <a16:creationId xmlns:a16="http://schemas.microsoft.com/office/drawing/2014/main" id="{EC3E94E7-38AB-43AF-98F2-B3B19FB6CC7C}"/>
              </a:ext>
            </a:extLst>
          </p:cNvPr>
          <p:cNvSpPr txBox="1"/>
          <p:nvPr/>
        </p:nvSpPr>
        <p:spPr>
          <a:xfrm>
            <a:off x="4976453" y="1730754"/>
            <a:ext cx="1194395" cy="266352"/>
          </a:xfrm>
          <a:prstGeom prst="rect">
            <a:avLst/>
          </a:prstGeom>
          <a:noFill/>
        </p:spPr>
        <p:txBody>
          <a:bodyPr wrap="square" lIns="80897" tIns="40448" rIns="80897" bIns="40448" rtlCol="0">
            <a:spAutoFit/>
          </a:bodyPr>
          <a:lstStyle/>
          <a:p>
            <a:r>
              <a:rPr lang="tr-TR" sz="1200" dirty="0">
                <a:latin typeface="Arial Narrow" panose="020B0606020202030204" pitchFamily="34" charset="0"/>
              </a:rPr>
              <a:t>Zaman (saniye)</a:t>
            </a:r>
          </a:p>
        </p:txBody>
      </p:sp>
      <p:sp>
        <p:nvSpPr>
          <p:cNvPr id="75" name="Serbest Form: Şekil 74">
            <a:extLst>
              <a:ext uri="{FF2B5EF4-FFF2-40B4-BE49-F238E27FC236}">
                <a16:creationId xmlns:a16="http://schemas.microsoft.com/office/drawing/2014/main" id="{2570C7F6-2B3A-4DD3-AB0F-D41B115802AA}"/>
              </a:ext>
            </a:extLst>
          </p:cNvPr>
          <p:cNvSpPr/>
          <p:nvPr/>
        </p:nvSpPr>
        <p:spPr>
          <a:xfrm>
            <a:off x="4004392" y="1340414"/>
            <a:ext cx="546178" cy="558800"/>
          </a:xfrm>
          <a:custGeom>
            <a:avLst/>
            <a:gdLst>
              <a:gd name="connsiteX0" fmla="*/ 0 w 546178"/>
              <a:gd name="connsiteY0" fmla="*/ 558800 h 558800"/>
              <a:gd name="connsiteX1" fmla="*/ 292100 w 546178"/>
              <a:gd name="connsiteY1" fmla="*/ 0 h 558800"/>
              <a:gd name="connsiteX2" fmla="*/ 546100 w 546178"/>
              <a:gd name="connsiteY2" fmla="*/ 558800 h 558800"/>
            </a:gdLst>
            <a:ahLst/>
            <a:cxnLst>
              <a:cxn ang="0">
                <a:pos x="connsiteX0" y="connsiteY0"/>
              </a:cxn>
              <a:cxn ang="0">
                <a:pos x="connsiteX1" y="connsiteY1"/>
              </a:cxn>
              <a:cxn ang="0">
                <a:pos x="connsiteX2" y="connsiteY2"/>
              </a:cxn>
            </a:cxnLst>
            <a:rect l="l" t="t" r="r" b="b"/>
            <a:pathLst>
              <a:path w="546178" h="558800">
                <a:moveTo>
                  <a:pt x="0" y="558800"/>
                </a:moveTo>
                <a:cubicBezTo>
                  <a:pt x="100541" y="279400"/>
                  <a:pt x="201083" y="0"/>
                  <a:pt x="292100" y="0"/>
                </a:cubicBezTo>
                <a:cubicBezTo>
                  <a:pt x="383117" y="0"/>
                  <a:pt x="550333" y="461963"/>
                  <a:pt x="546100" y="558800"/>
                </a:cubicBezTo>
              </a:path>
            </a:pathLst>
          </a:custGeom>
          <a:no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83" name="Düz Bağlayıcı 82">
            <a:extLst>
              <a:ext uri="{FF2B5EF4-FFF2-40B4-BE49-F238E27FC236}">
                <a16:creationId xmlns:a16="http://schemas.microsoft.com/office/drawing/2014/main" id="{B2738FBF-A781-4140-9B84-0C6E79851A16}"/>
              </a:ext>
            </a:extLst>
          </p:cNvPr>
          <p:cNvCxnSpPr>
            <a:cxnSpLocks/>
          </p:cNvCxnSpPr>
          <p:nvPr/>
        </p:nvCxnSpPr>
        <p:spPr>
          <a:xfrm>
            <a:off x="4083860" y="1344600"/>
            <a:ext cx="391569" cy="0"/>
          </a:xfrm>
          <a:prstGeom prst="line">
            <a:avLst/>
          </a:prstGeom>
        </p:spPr>
        <p:style>
          <a:lnRef idx="1">
            <a:schemeClr val="accent1"/>
          </a:lnRef>
          <a:fillRef idx="0">
            <a:schemeClr val="accent1"/>
          </a:fillRef>
          <a:effectRef idx="0">
            <a:schemeClr val="accent1"/>
          </a:effectRef>
          <a:fontRef idx="minor">
            <a:schemeClr val="tx1"/>
          </a:fontRef>
        </p:style>
      </p:cxnSp>
      <p:sp>
        <p:nvSpPr>
          <p:cNvPr id="87" name="Metin kutusu 86">
            <a:extLst>
              <a:ext uri="{FF2B5EF4-FFF2-40B4-BE49-F238E27FC236}">
                <a16:creationId xmlns:a16="http://schemas.microsoft.com/office/drawing/2014/main" id="{76B4C36D-B110-4D90-86A2-610E998F63C1}"/>
              </a:ext>
            </a:extLst>
          </p:cNvPr>
          <p:cNvSpPr txBox="1"/>
          <p:nvPr/>
        </p:nvSpPr>
        <p:spPr>
          <a:xfrm>
            <a:off x="4013974" y="1835667"/>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4</a:t>
            </a:r>
          </a:p>
        </p:txBody>
      </p:sp>
      <p:sp>
        <p:nvSpPr>
          <p:cNvPr id="88" name="Metin kutusu 87">
            <a:extLst>
              <a:ext uri="{FF2B5EF4-FFF2-40B4-BE49-F238E27FC236}">
                <a16:creationId xmlns:a16="http://schemas.microsoft.com/office/drawing/2014/main" id="{95DDC948-693B-4394-A58D-B82C88E5439B}"/>
              </a:ext>
            </a:extLst>
          </p:cNvPr>
          <p:cNvSpPr txBox="1"/>
          <p:nvPr/>
        </p:nvSpPr>
        <p:spPr>
          <a:xfrm>
            <a:off x="3566442" y="2051810"/>
            <a:ext cx="3242617" cy="1005016"/>
          </a:xfrm>
          <a:prstGeom prst="rect">
            <a:avLst/>
          </a:prstGeom>
          <a:noFill/>
        </p:spPr>
        <p:txBody>
          <a:bodyPr wrap="square" lIns="80897" tIns="40448" rIns="80897" bIns="40448" rtlCol="0">
            <a:spAutoFit/>
          </a:bodyPr>
          <a:lstStyle/>
          <a:p>
            <a:r>
              <a:rPr lang="tr-TR" sz="1000" dirty="0"/>
              <a:t>I. Topun yüksekliği en fazla 4.cü saniyede olmuştur.</a:t>
            </a:r>
          </a:p>
          <a:p>
            <a:r>
              <a:rPr lang="tr-TR" sz="1000" dirty="0"/>
              <a:t>II. Topun yüksekliği en az olduğu iki durum vardır. </a:t>
            </a:r>
          </a:p>
          <a:p>
            <a:r>
              <a:rPr lang="tr-TR" sz="1000" dirty="0"/>
              <a:t>III. Topun yüksekliği iki kere 50 metre olabilir.</a:t>
            </a:r>
          </a:p>
          <a:p>
            <a:endParaRPr lang="tr-TR" sz="1000" dirty="0"/>
          </a:p>
          <a:p>
            <a:r>
              <a:rPr lang="tr-TR" sz="1000" b="1" dirty="0"/>
              <a:t>Önermelerinden hangileri doğrudur?</a:t>
            </a:r>
          </a:p>
          <a:p>
            <a:endParaRPr lang="tr-TR" sz="1000" dirty="0"/>
          </a:p>
        </p:txBody>
      </p:sp>
      <p:sp>
        <p:nvSpPr>
          <p:cNvPr id="89" name="Metin kutusu 88">
            <a:extLst>
              <a:ext uri="{FF2B5EF4-FFF2-40B4-BE49-F238E27FC236}">
                <a16:creationId xmlns:a16="http://schemas.microsoft.com/office/drawing/2014/main" id="{5A38CD9E-AA65-41ED-8BCC-804DAB3F1C75}"/>
              </a:ext>
            </a:extLst>
          </p:cNvPr>
          <p:cNvSpPr txBox="1"/>
          <p:nvPr/>
        </p:nvSpPr>
        <p:spPr>
          <a:xfrm>
            <a:off x="4283953" y="1846674"/>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8</a:t>
            </a:r>
          </a:p>
        </p:txBody>
      </p:sp>
      <p:sp>
        <p:nvSpPr>
          <p:cNvPr id="90" name="Metin kutusu 89">
            <a:extLst>
              <a:ext uri="{FF2B5EF4-FFF2-40B4-BE49-F238E27FC236}">
                <a16:creationId xmlns:a16="http://schemas.microsoft.com/office/drawing/2014/main" id="{EAADF6DF-C45D-409E-9082-C47422DF35A4}"/>
              </a:ext>
            </a:extLst>
          </p:cNvPr>
          <p:cNvSpPr txBox="1"/>
          <p:nvPr/>
        </p:nvSpPr>
        <p:spPr>
          <a:xfrm>
            <a:off x="3674198" y="1835667"/>
            <a:ext cx="539959" cy="266352"/>
          </a:xfrm>
          <a:prstGeom prst="rect">
            <a:avLst/>
          </a:prstGeom>
          <a:noFill/>
        </p:spPr>
        <p:txBody>
          <a:bodyPr wrap="square" lIns="80897" tIns="40448" rIns="80897" bIns="40448" rtlCol="0">
            <a:spAutoFit/>
          </a:bodyPr>
          <a:lstStyle/>
          <a:p>
            <a:pPr algn="ctr"/>
            <a:r>
              <a:rPr lang="tr-TR" sz="1200">
                <a:latin typeface="Arial Narrow" panose="020B0606020202030204" pitchFamily="34" charset="0"/>
              </a:rPr>
              <a:t>0</a:t>
            </a:r>
            <a:endParaRPr lang="tr-TR" sz="1200" dirty="0">
              <a:latin typeface="Arial Narrow" panose="020B0606020202030204" pitchFamily="34" charset="0"/>
            </a:endParaRPr>
          </a:p>
        </p:txBody>
      </p:sp>
      <p:cxnSp>
        <p:nvCxnSpPr>
          <p:cNvPr id="86" name="Düz Bağlayıcı 85">
            <a:extLst>
              <a:ext uri="{FF2B5EF4-FFF2-40B4-BE49-F238E27FC236}">
                <a16:creationId xmlns:a16="http://schemas.microsoft.com/office/drawing/2014/main" id="{6DE6E8EF-BBB3-43F2-B778-FDC6104011F3}"/>
              </a:ext>
            </a:extLst>
          </p:cNvPr>
          <p:cNvCxnSpPr>
            <a:cxnSpLocks/>
          </p:cNvCxnSpPr>
          <p:nvPr/>
        </p:nvCxnSpPr>
        <p:spPr>
          <a:xfrm>
            <a:off x="4292379" y="1350208"/>
            <a:ext cx="1510" cy="541768"/>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5" name="Metin kutusu 94">
            <a:extLst>
              <a:ext uri="{FF2B5EF4-FFF2-40B4-BE49-F238E27FC236}">
                <a16:creationId xmlns:a16="http://schemas.microsoft.com/office/drawing/2014/main" id="{F1DEE017-080E-46F8-B433-5A1F4232C1DF}"/>
              </a:ext>
            </a:extLst>
          </p:cNvPr>
          <p:cNvSpPr txBox="1"/>
          <p:nvPr/>
        </p:nvSpPr>
        <p:spPr>
          <a:xfrm>
            <a:off x="3631952" y="1180131"/>
            <a:ext cx="539959" cy="266352"/>
          </a:xfrm>
          <a:prstGeom prst="rect">
            <a:avLst/>
          </a:prstGeom>
          <a:noFill/>
        </p:spPr>
        <p:txBody>
          <a:bodyPr wrap="square" lIns="80897" tIns="40448" rIns="80897" bIns="40448" rtlCol="0">
            <a:spAutoFit/>
          </a:bodyPr>
          <a:lstStyle/>
          <a:p>
            <a:pPr algn="ctr"/>
            <a:r>
              <a:rPr lang="tr-TR" sz="1200" dirty="0">
                <a:latin typeface="Arial Narrow" panose="020B0606020202030204" pitchFamily="34" charset="0"/>
              </a:rPr>
              <a:t>61</a:t>
            </a:r>
          </a:p>
        </p:txBody>
      </p:sp>
      <p:sp>
        <p:nvSpPr>
          <p:cNvPr id="96" name="Metin kutusu 95">
            <a:extLst>
              <a:ext uri="{FF2B5EF4-FFF2-40B4-BE49-F238E27FC236}">
                <a16:creationId xmlns:a16="http://schemas.microsoft.com/office/drawing/2014/main" id="{B4CEBB59-A1B3-4375-A36C-0573D874FE5F}"/>
              </a:ext>
            </a:extLst>
          </p:cNvPr>
          <p:cNvSpPr txBox="1"/>
          <p:nvPr/>
        </p:nvSpPr>
        <p:spPr>
          <a:xfrm>
            <a:off x="3551499" y="6528291"/>
            <a:ext cx="3291558" cy="2236122"/>
          </a:xfrm>
          <a:prstGeom prst="rect">
            <a:avLst/>
          </a:prstGeom>
          <a:noFill/>
        </p:spPr>
        <p:txBody>
          <a:bodyPr wrap="square" lIns="80897" tIns="40448" rIns="80897" bIns="40448" rtlCol="0">
            <a:spAutoFit/>
          </a:bodyPr>
          <a:lstStyle/>
          <a:p>
            <a:r>
              <a:rPr lang="tr-TR" sz="1000" b="1" noProof="1"/>
              <a:t>I. </a:t>
            </a:r>
            <a:r>
              <a:rPr lang="tr-TR" sz="1000" noProof="1"/>
              <a:t>Doğrudur top 4.cü saniyede en fazla yüksekliğe ulaşmış ve ulaştıktan sonra topun bulunduğu yükseklik azalmaktadır.</a:t>
            </a:r>
          </a:p>
          <a:p>
            <a:endParaRPr lang="tr-TR" sz="1000" noProof="1"/>
          </a:p>
          <a:p>
            <a:r>
              <a:rPr lang="tr-TR" sz="1000" noProof="1"/>
              <a:t>II. Topun yüksekliği başlangıç yani 0.saniye ve 8.saniyede 0 metre olmaktadır.</a:t>
            </a:r>
          </a:p>
          <a:p>
            <a:endParaRPr lang="tr-TR" sz="1000" noProof="1"/>
          </a:p>
          <a:p>
            <a:r>
              <a:rPr lang="tr-TR" sz="1000" noProof="1"/>
              <a:t>III. Topun yüksekliği 61 yani tüm uzunluklar hariç tüm uzunluklar iki kere olacaktır. Top yükselirken her uzunluğa sahipken düşerkende aynı uzunluğa tekabül edecektir. Yani yerden uzunluğa iki döngüde sahip olacaktır. Simetri ekseni diyebiliriz bu kısma. Simetri ekseni tam orta kısım saniye 4 olduğu kısımdır. Sol ve sağ simetrik eşlerdir ve nihai olarak tekrar belirtelim her uzunluğa iki farklı saniyede eşit olunabilir.</a:t>
            </a:r>
          </a:p>
        </p:txBody>
      </p:sp>
    </p:spTree>
    <p:extLst>
      <p:ext uri="{BB962C8B-B14F-4D97-AF65-F5344CB8AC3E}">
        <p14:creationId xmlns:p14="http://schemas.microsoft.com/office/powerpoint/2010/main" val="10579095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Yaş Problemleri</a:t>
            </a:r>
          </a:p>
          <a:p>
            <a:r>
              <a:rPr lang="tr-TR" sz="1000" b="1" noProof="1">
                <a:latin typeface="+mj-lt"/>
                <a:cs typeface="Arial" panose="020B0604020202020204" pitchFamily="34" charset="0"/>
              </a:rPr>
              <a:t>…</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49236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59787" y="285799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82106" y="476740"/>
            <a:ext cx="3322534" cy="1015663"/>
          </a:xfrm>
          <a:prstGeom prst="rect">
            <a:avLst/>
          </a:prstGeom>
          <a:noFill/>
        </p:spPr>
        <p:txBody>
          <a:bodyPr wrap="square" rtlCol="0">
            <a:spAutoFit/>
          </a:bodyPr>
          <a:lstStyle/>
          <a:p>
            <a:r>
              <a:rPr lang="tr-TR" sz="1000" noProof="1">
                <a:cs typeface="Arial" panose="020B0604020202020204" pitchFamily="34" charset="0"/>
              </a:rPr>
              <a:t>Melis`in 6 yıl sonraki yaşı, Sinem`in 2 yıl sonraki yaşına eşittir. Sinem`in 3 yıl önceki yaşı Mevlüt`ün 4 yıl sonraki yaşına eşittir. </a:t>
            </a:r>
          </a:p>
          <a:p>
            <a:endParaRPr lang="tr-TR" sz="1000" noProof="1">
              <a:cs typeface="Arial" panose="020B0604020202020204" pitchFamily="34" charset="0"/>
            </a:endParaRPr>
          </a:p>
          <a:p>
            <a:r>
              <a:rPr lang="tr-TR" sz="1000" b="1" noProof="1">
                <a:cs typeface="Arial" panose="020B0604020202020204" pitchFamily="34" charset="0"/>
              </a:rPr>
              <a:t>Sinem`in yaşı Mevlüt`ün yaşının 2 katının 8 eksiği olduğuna göre, Melis`in bugünkü yaşı kaçtır? </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3679" y="1439934"/>
            <a:ext cx="3372612" cy="553998"/>
          </a:xfrm>
          <a:prstGeom prst="rect">
            <a:avLst/>
          </a:prstGeom>
          <a:noFill/>
        </p:spPr>
        <p:txBody>
          <a:bodyPr wrap="square" rtlCol="0">
            <a:spAutoFit/>
          </a:bodyPr>
          <a:lstStyle/>
          <a:p>
            <a:r>
              <a:rPr lang="tr-TR" sz="1000" noProof="1"/>
              <a:t>A) 8                                           B) 10                                        C) 12</a:t>
            </a:r>
          </a:p>
          <a:p>
            <a:pPr marL="228600" indent="-228600">
              <a:buAutoNum type="alphaUcParenR"/>
            </a:pPr>
            <a:endParaRPr lang="tr-TR" sz="1000" noProof="1"/>
          </a:p>
          <a:p>
            <a:r>
              <a:rPr lang="tr-TR" sz="1000" noProof="1"/>
              <a:t>                        D) 15                                        E) 18</a:t>
            </a:r>
          </a:p>
        </p:txBody>
      </p:sp>
      <p:sp>
        <p:nvSpPr>
          <p:cNvPr id="55" name="Dikdörtgen 54">
            <a:extLst>
              <a:ext uri="{FF2B5EF4-FFF2-40B4-BE49-F238E27FC236}">
                <a16:creationId xmlns:a16="http://schemas.microsoft.com/office/drawing/2014/main" id="{60057654-B723-41D9-BB6B-053ABEC224DE}"/>
              </a:ext>
            </a:extLst>
          </p:cNvPr>
          <p:cNvSpPr/>
          <p:nvPr/>
        </p:nvSpPr>
        <p:spPr>
          <a:xfrm>
            <a:off x="54446" y="5833536"/>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sp>
        <p:nvSpPr>
          <p:cNvPr id="56" name="Metin kutusu 55">
            <a:extLst>
              <a:ext uri="{FF2B5EF4-FFF2-40B4-BE49-F238E27FC236}">
                <a16:creationId xmlns:a16="http://schemas.microsoft.com/office/drawing/2014/main" id="{FE808314-3229-48D7-98E6-513795AE49C4}"/>
              </a:ext>
            </a:extLst>
          </p:cNvPr>
          <p:cNvSpPr txBox="1"/>
          <p:nvPr/>
        </p:nvSpPr>
        <p:spPr>
          <a:xfrm>
            <a:off x="88641" y="4729188"/>
            <a:ext cx="3286993" cy="1169551"/>
          </a:xfrm>
          <a:prstGeom prst="rect">
            <a:avLst/>
          </a:prstGeom>
          <a:noFill/>
        </p:spPr>
        <p:txBody>
          <a:bodyPr wrap="square" rtlCol="0">
            <a:spAutoFit/>
          </a:bodyPr>
          <a:lstStyle/>
          <a:p>
            <a:r>
              <a:rPr lang="tr-TR" sz="1000" b="1" noProof="1">
                <a:cs typeface="Arial" panose="020B0604020202020204" pitchFamily="34" charset="0"/>
              </a:rPr>
              <a:t>Tolga bugün 14 yaşındadır.  </a:t>
            </a:r>
          </a:p>
          <a:p>
            <a:endParaRPr lang="tr-TR" sz="1000" noProof="1">
              <a:cs typeface="Arial" panose="020B0604020202020204" pitchFamily="34" charset="0"/>
            </a:endParaRPr>
          </a:p>
          <a:p>
            <a:r>
              <a:rPr lang="tr-TR" sz="1000" noProof="1">
                <a:cs typeface="Arial" panose="020B0604020202020204" pitchFamily="34" charset="0"/>
              </a:rPr>
              <a:t>I.   4 yıl önce doğsaydı yaşı daha küçük olurdu.</a:t>
            </a:r>
          </a:p>
          <a:p>
            <a:r>
              <a:rPr lang="tr-TR" sz="1000" noProof="1">
                <a:cs typeface="Arial" panose="020B0604020202020204" pitchFamily="34" charset="0"/>
              </a:rPr>
              <a:t>II.  Her geçen çift yıl için yaşı da çift tam sayı olur. </a:t>
            </a:r>
          </a:p>
          <a:p>
            <a:r>
              <a:rPr lang="tr-TR" sz="1000" noProof="1">
                <a:cs typeface="Arial" panose="020B0604020202020204" pitchFamily="34" charset="0"/>
              </a:rPr>
              <a:t>III. 3 yıl sonra doğsaydı 11 yaşında olurdu. </a:t>
            </a:r>
          </a:p>
          <a:p>
            <a:endParaRPr lang="tr-TR" sz="1000" noProof="1">
              <a:cs typeface="Arial" panose="020B0604020202020204" pitchFamily="34" charset="0"/>
            </a:endParaRPr>
          </a:p>
          <a:p>
            <a:r>
              <a:rPr lang="tr-TR" sz="1000" b="1" noProof="1">
                <a:cs typeface="Arial" panose="020B0604020202020204" pitchFamily="34" charset="0"/>
              </a:rPr>
              <a:t>Önermelerinden hangileri doğrudur?</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540314" y="2878336"/>
            <a:ext cx="3283605" cy="861774"/>
          </a:xfrm>
          <a:prstGeom prst="rect">
            <a:avLst/>
          </a:prstGeom>
          <a:noFill/>
        </p:spPr>
        <p:txBody>
          <a:bodyPr wrap="square" rtlCol="0">
            <a:spAutoFit/>
          </a:bodyPr>
          <a:lstStyle/>
          <a:p>
            <a:r>
              <a:rPr lang="tr-TR" sz="1000" noProof="1">
                <a:cs typeface="Arial" panose="020B0604020202020204" pitchFamily="34" charset="0"/>
              </a:rPr>
              <a:t>19mn dört basamaklı doğal sayı olmak üzere, 19mn yılında doğan bir kişi 2023 senesindeki yaşı doğum yılının rakam-ları toplamına eşittir. </a:t>
            </a:r>
          </a:p>
          <a:p>
            <a:endParaRPr lang="tr-TR" sz="1000" noProof="1">
              <a:cs typeface="Arial" panose="020B0604020202020204" pitchFamily="34" charset="0"/>
            </a:endParaRPr>
          </a:p>
          <a:p>
            <a:r>
              <a:rPr lang="tr-TR" sz="1000" b="1" noProof="1">
                <a:cs typeface="Arial" panose="020B0604020202020204" pitchFamily="34" charset="0"/>
              </a:rPr>
              <a:t>Bu kişi, 24 yaşında hangi yılda olur?</a:t>
            </a:r>
          </a:p>
        </p:txBody>
      </p:sp>
      <p:sp>
        <p:nvSpPr>
          <p:cNvPr id="58" name="Metin kutusu 57">
            <a:extLst>
              <a:ext uri="{FF2B5EF4-FFF2-40B4-BE49-F238E27FC236}">
                <a16:creationId xmlns:a16="http://schemas.microsoft.com/office/drawing/2014/main" id="{46E0D5C7-D2D0-4E7E-8674-66466154E98B}"/>
              </a:ext>
            </a:extLst>
          </p:cNvPr>
          <p:cNvSpPr txBox="1"/>
          <p:nvPr/>
        </p:nvSpPr>
        <p:spPr>
          <a:xfrm>
            <a:off x="3486971" y="469912"/>
            <a:ext cx="3355474" cy="707886"/>
          </a:xfrm>
          <a:prstGeom prst="rect">
            <a:avLst/>
          </a:prstGeom>
          <a:noFill/>
        </p:spPr>
        <p:txBody>
          <a:bodyPr wrap="square" rtlCol="0">
            <a:spAutoFit/>
          </a:bodyPr>
          <a:lstStyle/>
          <a:p>
            <a:r>
              <a:rPr lang="tr-TR" sz="1000" noProof="1">
                <a:cs typeface="Arial" panose="020B0604020202020204" pitchFamily="34" charset="0"/>
              </a:rPr>
              <a:t>2b iki basamaklı doğal sayı olmak üzere, yaşlar toplamı 144 ve yaşların aritmetik ortalaması 2b olan bir grupta x kişi vardır.</a:t>
            </a:r>
          </a:p>
          <a:p>
            <a:endParaRPr lang="tr-TR" sz="1000" noProof="1">
              <a:cs typeface="Arial" panose="020B0604020202020204" pitchFamily="34" charset="0"/>
            </a:endParaRPr>
          </a:p>
          <a:p>
            <a:r>
              <a:rPr lang="tr-TR" sz="1000" b="1" noProof="1">
                <a:cs typeface="Arial" panose="020B0604020202020204" pitchFamily="34" charset="0"/>
              </a:rPr>
              <a:t>Buna göre, x aşağıdakilerden hangisi olabilir?</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7744"/>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64" name="Metin kutusu 63">
            <a:extLst>
              <a:ext uri="{FF2B5EF4-FFF2-40B4-BE49-F238E27FC236}">
                <a16:creationId xmlns:a16="http://schemas.microsoft.com/office/drawing/2014/main" id="{7C4561F8-75D4-4E00-B313-2160EFBACE4A}"/>
              </a:ext>
            </a:extLst>
          </p:cNvPr>
          <p:cNvSpPr txBox="1"/>
          <p:nvPr/>
        </p:nvSpPr>
        <p:spPr>
          <a:xfrm>
            <a:off x="-21756" y="8826383"/>
            <a:ext cx="163401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1.E     2.D    3.B    4.D    5.D</a:t>
            </a:r>
          </a:p>
        </p:txBody>
      </p:sp>
      <p:sp>
        <p:nvSpPr>
          <p:cNvPr id="67" name="Metin kutusu 66">
            <a:extLst>
              <a:ext uri="{FF2B5EF4-FFF2-40B4-BE49-F238E27FC236}">
                <a16:creationId xmlns:a16="http://schemas.microsoft.com/office/drawing/2014/main" id="{F67051C3-71F7-4CC9-936A-C75DCA0AC91F}"/>
              </a:ext>
            </a:extLst>
          </p:cNvPr>
          <p:cNvSpPr txBox="1"/>
          <p:nvPr/>
        </p:nvSpPr>
        <p:spPr>
          <a:xfrm>
            <a:off x="3496016" y="1144977"/>
            <a:ext cx="3482974" cy="553998"/>
          </a:xfrm>
          <a:prstGeom prst="rect">
            <a:avLst/>
          </a:prstGeom>
          <a:noFill/>
        </p:spPr>
        <p:txBody>
          <a:bodyPr wrap="square">
            <a:spAutoFit/>
          </a:bodyPr>
          <a:lstStyle/>
          <a:p>
            <a:r>
              <a:rPr lang="tr-TR" sz="1000" noProof="1"/>
              <a:t>A) 5                                          B) 6                                        C) 7</a:t>
            </a:r>
          </a:p>
          <a:p>
            <a:pPr marL="228600" indent="-228600">
              <a:buAutoNum type="alphaUcParenR"/>
            </a:pPr>
            <a:endParaRPr lang="tr-TR" sz="1000" noProof="1"/>
          </a:p>
          <a:p>
            <a:r>
              <a:rPr lang="tr-TR" sz="1000" noProof="1"/>
              <a:t>                      D) 8                                        E) 9</a:t>
            </a:r>
          </a:p>
        </p:txBody>
      </p:sp>
      <p:sp>
        <p:nvSpPr>
          <p:cNvPr id="68" name="Metin kutusu 67">
            <a:extLst>
              <a:ext uri="{FF2B5EF4-FFF2-40B4-BE49-F238E27FC236}">
                <a16:creationId xmlns:a16="http://schemas.microsoft.com/office/drawing/2014/main" id="{C0A315FF-BE8C-4297-BEC0-3788FAC1D4A3}"/>
              </a:ext>
            </a:extLst>
          </p:cNvPr>
          <p:cNvSpPr txBox="1"/>
          <p:nvPr/>
        </p:nvSpPr>
        <p:spPr>
          <a:xfrm>
            <a:off x="3553416" y="3685477"/>
            <a:ext cx="3257403" cy="553998"/>
          </a:xfrm>
          <a:prstGeom prst="rect">
            <a:avLst/>
          </a:prstGeom>
          <a:noFill/>
        </p:spPr>
        <p:txBody>
          <a:bodyPr wrap="square">
            <a:spAutoFit/>
          </a:bodyPr>
          <a:lstStyle/>
          <a:p>
            <a:r>
              <a:rPr lang="tr-TR" sz="1000" noProof="1"/>
              <a:t>A) 2015                              B) 2017                                 C) 2019</a:t>
            </a:r>
            <a:br>
              <a:rPr lang="tr-TR" sz="1000" noProof="1"/>
            </a:br>
            <a:endParaRPr lang="tr-TR" sz="1000" noProof="1"/>
          </a:p>
          <a:p>
            <a:r>
              <a:rPr lang="tr-TR" sz="1000" noProof="1"/>
              <a:t>                      D) 2021                               E) 2023</a:t>
            </a:r>
          </a:p>
        </p:txBody>
      </p:sp>
      <p:sp>
        <p:nvSpPr>
          <p:cNvPr id="69" name="Metin kutusu 68">
            <a:extLst>
              <a:ext uri="{FF2B5EF4-FFF2-40B4-BE49-F238E27FC236}">
                <a16:creationId xmlns:a16="http://schemas.microsoft.com/office/drawing/2014/main" id="{AB20E482-7658-4CE6-8971-62474C6CC441}"/>
              </a:ext>
            </a:extLst>
          </p:cNvPr>
          <p:cNvSpPr txBox="1"/>
          <p:nvPr/>
        </p:nvSpPr>
        <p:spPr>
          <a:xfrm>
            <a:off x="3402033" y="596870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70" name="Metin kutusu 69">
            <a:extLst>
              <a:ext uri="{FF2B5EF4-FFF2-40B4-BE49-F238E27FC236}">
                <a16:creationId xmlns:a16="http://schemas.microsoft.com/office/drawing/2014/main" id="{66D767D0-2ADF-4030-9F4D-A575300AC0A8}"/>
              </a:ext>
            </a:extLst>
          </p:cNvPr>
          <p:cNvSpPr txBox="1"/>
          <p:nvPr/>
        </p:nvSpPr>
        <p:spPr>
          <a:xfrm>
            <a:off x="3579451" y="5999487"/>
            <a:ext cx="3393126" cy="1015663"/>
          </a:xfrm>
          <a:prstGeom prst="rect">
            <a:avLst/>
          </a:prstGeom>
          <a:noFill/>
        </p:spPr>
        <p:txBody>
          <a:bodyPr wrap="square" rtlCol="0">
            <a:spAutoFit/>
          </a:bodyPr>
          <a:lstStyle/>
          <a:p>
            <a:r>
              <a:rPr lang="tr-TR" sz="1000" noProof="1">
                <a:cs typeface="Arial" panose="020B0604020202020204" pitchFamily="34" charset="0"/>
              </a:rPr>
              <a:t>Selim`in iki tane çocuğu vardır. Selim Bey küçük çocuğu doğduğunda 37 yaşındaydı. Çocuklarının yaşları toplamı Selim Bey`in bugünkü yaşının yarısından 6 fazladır.  </a:t>
            </a:r>
          </a:p>
          <a:p>
            <a:endParaRPr lang="tr-TR" sz="1000" noProof="1">
              <a:cs typeface="Arial" panose="020B0604020202020204" pitchFamily="34" charset="0"/>
            </a:endParaRPr>
          </a:p>
          <a:p>
            <a:r>
              <a:rPr lang="tr-TR" sz="1000" b="1" noProof="1">
                <a:cs typeface="Arial" panose="020B0604020202020204" pitchFamily="34" charset="0"/>
              </a:rPr>
              <a:t>Çocukları ardışık yıllarda doğduğuna göre, Selim Bey bugün kaç yaşındadır?</a:t>
            </a:r>
          </a:p>
        </p:txBody>
      </p:sp>
      <p:sp>
        <p:nvSpPr>
          <p:cNvPr id="72" name="Metin kutusu 71">
            <a:extLst>
              <a:ext uri="{FF2B5EF4-FFF2-40B4-BE49-F238E27FC236}">
                <a16:creationId xmlns:a16="http://schemas.microsoft.com/office/drawing/2014/main" id="{284D5FC8-18E9-4A94-B2CD-65BCF344286F}"/>
              </a:ext>
            </a:extLst>
          </p:cNvPr>
          <p:cNvSpPr txBox="1"/>
          <p:nvPr/>
        </p:nvSpPr>
        <p:spPr>
          <a:xfrm>
            <a:off x="3575481" y="6968422"/>
            <a:ext cx="3372612" cy="553998"/>
          </a:xfrm>
          <a:prstGeom prst="rect">
            <a:avLst/>
          </a:prstGeom>
          <a:noFill/>
        </p:spPr>
        <p:txBody>
          <a:bodyPr wrap="square" rtlCol="0">
            <a:spAutoFit/>
          </a:bodyPr>
          <a:lstStyle/>
          <a:p>
            <a:r>
              <a:rPr lang="tr-TR" sz="1000" noProof="1"/>
              <a:t>A) 41                                           B) 46                                    C) 49</a:t>
            </a:r>
          </a:p>
          <a:p>
            <a:pPr marL="228600" indent="-228600">
              <a:buAutoNum type="alphaUcParenR"/>
            </a:pPr>
            <a:endParaRPr lang="tr-TR" sz="1000" noProof="1"/>
          </a:p>
          <a:p>
            <a:r>
              <a:rPr lang="tr-TR" sz="1000" noProof="1"/>
              <a:t>                        D) 53                                        E) 59</a:t>
            </a:r>
          </a:p>
        </p:txBody>
      </p:sp>
    </p:spTree>
    <p:extLst>
      <p:ext uri="{BB962C8B-B14F-4D97-AF65-F5344CB8AC3E}">
        <p14:creationId xmlns:p14="http://schemas.microsoft.com/office/powerpoint/2010/main" val="8860860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Yaş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55</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4192" y="436434"/>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100053" y="477434"/>
            <a:ext cx="3328947" cy="400110"/>
          </a:xfrm>
          <a:prstGeom prst="rect">
            <a:avLst/>
          </a:prstGeom>
          <a:noFill/>
        </p:spPr>
        <p:txBody>
          <a:bodyPr wrap="square" rtlCol="0">
            <a:spAutoFit/>
          </a:bodyPr>
          <a:lstStyle/>
          <a:p>
            <a:r>
              <a:rPr lang="tr-TR" sz="1000" noProof="1">
                <a:cs typeface="Arial" panose="020B0604020202020204" pitchFamily="34" charset="0"/>
              </a:rPr>
              <a:t>a ve m birer pozitif tam sayı olmak üzere, yıllara göre kişilerin isimleri ve yaşları aşağıdaki tabloda gösterilmektedir.</a:t>
            </a:r>
          </a:p>
        </p:txBody>
      </p:sp>
      <p:sp>
        <p:nvSpPr>
          <p:cNvPr id="55" name="Dikdörtgen 54">
            <a:extLst>
              <a:ext uri="{FF2B5EF4-FFF2-40B4-BE49-F238E27FC236}">
                <a16:creationId xmlns:a16="http://schemas.microsoft.com/office/drawing/2014/main" id="{60057654-B723-41D9-BB6B-053ABEC224DE}"/>
              </a:ext>
            </a:extLst>
          </p:cNvPr>
          <p:cNvSpPr/>
          <p:nvPr/>
        </p:nvSpPr>
        <p:spPr>
          <a:xfrm>
            <a:off x="10477" y="3108457"/>
            <a:ext cx="3412109"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                          C) Yalnız III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p:sp>
        <p:nvSpPr>
          <p:cNvPr id="56" name="Metin kutusu 55">
            <a:extLst>
              <a:ext uri="{FF2B5EF4-FFF2-40B4-BE49-F238E27FC236}">
                <a16:creationId xmlns:a16="http://schemas.microsoft.com/office/drawing/2014/main" id="{FE808314-3229-48D7-98E6-513795AE49C4}"/>
              </a:ext>
            </a:extLst>
          </p:cNvPr>
          <p:cNvSpPr txBox="1"/>
          <p:nvPr/>
        </p:nvSpPr>
        <p:spPr>
          <a:xfrm>
            <a:off x="174606" y="4790369"/>
            <a:ext cx="3219727" cy="707886"/>
          </a:xfrm>
          <a:prstGeom prst="rect">
            <a:avLst/>
          </a:prstGeom>
          <a:solidFill>
            <a:schemeClr val="accent4">
              <a:lumMod val="40000"/>
              <a:lumOff val="60000"/>
              <a:alpha val="50000"/>
            </a:schemeClr>
          </a:solidFill>
          <a:ln>
            <a:solidFill>
              <a:srgbClr val="0070C0"/>
            </a:solidFill>
            <a:prstDash val="sysDash"/>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000" noProof="1">
                <a:solidFill>
                  <a:schemeClr val="tx1"/>
                </a:solidFill>
                <a:cs typeface="Arial" panose="020B0604020202020204" pitchFamily="34" charset="0"/>
              </a:rPr>
              <a:t>Dede : Torunumla yaş farkım 6x kadar. </a:t>
            </a:r>
          </a:p>
          <a:p>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Baba : Fethi x+5 yaşındayken babamla benim yaşlarımın farkı, benim yaşımın 2 katının </a:t>
            </a:r>
            <a:r>
              <a:rPr lang="tr-TR" sz="950" noProof="1">
                <a:solidFill>
                  <a:schemeClr val="tx1"/>
                </a:solidFill>
                <a:cs typeface="Arial" panose="020B0604020202020204" pitchFamily="34" charset="0"/>
              </a:rPr>
              <a:t>23 eksiği kadar.</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522906" y="4729188"/>
            <a:ext cx="3283605" cy="861774"/>
          </a:xfrm>
          <a:prstGeom prst="rect">
            <a:avLst/>
          </a:prstGeom>
          <a:noFill/>
        </p:spPr>
        <p:txBody>
          <a:bodyPr wrap="square" rtlCol="0">
            <a:spAutoFit/>
          </a:bodyPr>
          <a:lstStyle/>
          <a:p>
            <a:r>
              <a:rPr lang="tr-TR" sz="1000" noProof="1">
                <a:cs typeface="Arial" panose="020B0604020202020204" pitchFamily="34" charset="0"/>
              </a:rPr>
              <a:t>Ahmet 4 çocuk babasıdır. Ahmet`in bugünkü yaşı 4 çocuğunun bugünkü yaşları toplamından A kadar fazladır.</a:t>
            </a:r>
          </a:p>
          <a:p>
            <a:endParaRPr lang="tr-TR" sz="1000" noProof="1">
              <a:cs typeface="Arial" panose="020B0604020202020204" pitchFamily="34" charset="0"/>
            </a:endParaRPr>
          </a:p>
          <a:p>
            <a:r>
              <a:rPr lang="tr-TR" sz="1000" b="1" noProof="1">
                <a:cs typeface="Arial" panose="020B0604020202020204" pitchFamily="34" charset="0"/>
              </a:rPr>
              <a:t>Kaç yıl sonra, çocukların yaşları toplamı Ahmet`in yaşları toplamından A kadar fazla olur?</a:t>
            </a:r>
          </a:p>
        </p:txBody>
      </p:sp>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494080" y="678426"/>
                <a:ext cx="3352889" cy="1169551"/>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3x-5 yaşındayım.</a:t>
                </a:r>
              </a:p>
              <a:p>
                <a:pPr marL="171450" indent="-171450">
                  <a:buFont typeface="Arial" panose="020B0604020202020204" pitchFamily="34" charset="0"/>
                  <a:buChar char="•"/>
                </a:pPr>
                <a:r>
                  <a:rPr lang="tr-TR" sz="1000" noProof="1">
                    <a:cs typeface="Arial" panose="020B0604020202020204" pitchFamily="34" charset="0"/>
                  </a:rPr>
                  <a:t>Babam a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x yaşındadır.</a:t>
                </a:r>
              </a:p>
              <a:p>
                <a:pPr marL="171450" indent="-171450">
                  <a:buFont typeface="Arial" panose="020B0604020202020204" pitchFamily="34" charset="0"/>
                  <a:buChar char="•"/>
                </a:pPr>
                <a:r>
                  <a:rPr lang="tr-TR" sz="1000" noProof="1">
                    <a:cs typeface="Arial" panose="020B0604020202020204" pitchFamily="34" charset="0"/>
                  </a:rPr>
                  <a:t>Babam b</a:t>
                </a:r>
                <a:r>
                  <a:rPr lang="tr-TR" sz="1000" noProof="1">
                    <a:ea typeface="Cambria Math" panose="02040503050406030204" pitchFamily="18" charset="0"/>
                    <a:cs typeface="Arial" panose="020B0604020202020204" pitchFamily="34" charset="0"/>
                  </a:rPr>
                  <a:t>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x yaşındayken ben x+4 yaşındaydım</a:t>
                </a:r>
              </a:p>
              <a:p>
                <a:pPr marL="171450" indent="-171450">
                  <a:buFont typeface="Arial" panose="020B0604020202020204" pitchFamily="34" charset="0"/>
                  <a:buChar char="•"/>
                </a:pPr>
                <a:r>
                  <a:rPr lang="tr-TR" sz="1000" noProof="1">
                    <a:cs typeface="Arial" panose="020B0604020202020204" pitchFamily="34" charset="0"/>
                  </a:rPr>
                  <a:t>a ve b pozitif doğal sayı olmak üzere aralarında a&gt;b dir.</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Bilgilere göre x için aşağıdakilerden hangisi </a:t>
                </a:r>
                <a:r>
                  <a:rPr lang="tr-TR" sz="1000" b="1" u="sng" noProof="1">
                    <a:cs typeface="Arial" panose="020B0604020202020204" pitchFamily="34" charset="0"/>
                  </a:rPr>
                  <a:t>en</a:t>
                </a:r>
                <a:r>
                  <a:rPr lang="tr-TR" sz="1000" b="1" noProof="1">
                    <a:cs typeface="Arial" panose="020B0604020202020204" pitchFamily="34" charset="0"/>
                  </a:rPr>
                  <a:t> doğrusudur?</a:t>
                </a:r>
              </a:p>
              <a:p>
                <a:pPr marL="171450" indent="-171450">
                  <a:buFont typeface="Arial" panose="020B0604020202020204" pitchFamily="34" charset="0"/>
                  <a:buChar char="•"/>
                </a:pPr>
                <a:endParaRPr lang="tr-TR" sz="1000" noProof="1">
                  <a:cs typeface="Arial" panose="020B0604020202020204" pitchFamily="34" charset="0"/>
                </a:endParaRP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494080" y="678426"/>
                <a:ext cx="3352889" cy="1169551"/>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516407" y="5590962"/>
                <a:ext cx="3362533" cy="652551"/>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1−3</m:t>
                        </m:r>
                        <m:r>
                          <m:rPr>
                            <m:nor/>
                          </m:rPr>
                          <a:rPr lang="tr-TR" sz="800" i="0" noProof="1">
                            <a:latin typeface="Helvetica" panose="020B0604020202020204" pitchFamily="34" charset="0"/>
                            <a:cs typeface="Helvetica" panose="020B0604020202020204" pitchFamily="34" charset="0"/>
                          </a:rPr>
                          <m:t>A</m:t>
                        </m:r>
                        <m:r>
                          <m:rPr>
                            <m:nor/>
                          </m:rPr>
                          <a:rPr lang="tr-TR" sz="800" i="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m:rPr>
                            <m:nor/>
                          </m:rPr>
                          <a:rPr lang="tr-TR" sz="800" b="0" i="0" noProof="1" smtClean="0">
                            <a:solidFill>
                              <a:schemeClr val="tx1"/>
                            </a:solidFill>
                            <a:latin typeface="Helvetica" panose="020B0604020202020204" pitchFamily="34"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2A</a:t>
                </a:r>
                <a:endParaRPr lang="tr-TR" sz="800" noProof="1"/>
              </a:p>
              <a:p>
                <a:br>
                  <a:rPr lang="tr-TR" sz="10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m:rPr>
                            <m:nor/>
                          </m:rPr>
                          <a:rPr lang="tr-TR" sz="800" b="0" i="0" noProof="1" smtClean="0">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516407" y="5590962"/>
                <a:ext cx="3362533" cy="652551"/>
              </a:xfrm>
              <a:prstGeom prst="rect">
                <a:avLst/>
              </a:prstGeom>
              <a:blipFill>
                <a:blip r:embed="rId6"/>
                <a:stretch>
                  <a:fillRect b="-186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380CFD8B-A448-4F49-ACCE-E2A9557B7206}"/>
                  </a:ext>
                </a:extLst>
              </p:cNvPr>
              <p:cNvSpPr txBox="1"/>
              <p:nvPr/>
            </p:nvSpPr>
            <p:spPr>
              <a:xfrm>
                <a:off x="3509763" y="1651563"/>
                <a:ext cx="3284216" cy="553998"/>
              </a:xfrm>
              <a:prstGeom prst="rect">
                <a:avLst/>
              </a:prstGeom>
              <a:noFill/>
            </p:spPr>
            <p:txBody>
              <a:bodyPr wrap="square" rtlCol="0">
                <a:spAutoFit/>
              </a:bodyPr>
              <a:lstStyle/>
              <a:p>
                <a:r>
                  <a:rPr lang="tr-TR" sz="1000" dirty="0"/>
                  <a:t>A) x&gt;5                                      B) x&gt;4                               C) x</a:t>
                </a:r>
                <a14:m>
                  <m:oMath xmlns:m="http://schemas.openxmlformats.org/officeDocument/2006/math">
                    <m:r>
                      <a:rPr lang="tr-TR" sz="1000" i="1" smtClean="0">
                        <a:latin typeface="Cambria Math" panose="02040503050406030204" pitchFamily="18" charset="0"/>
                      </a:rPr>
                      <m:t>≥</m:t>
                    </m:r>
                  </m:oMath>
                </a14:m>
                <a:r>
                  <a:rPr lang="tr-TR" sz="1000" dirty="0"/>
                  <a:t>4</a:t>
                </a:r>
              </a:p>
              <a:p>
                <a:pPr marL="228600" indent="-228600">
                  <a:buAutoNum type="alphaUcParenR"/>
                </a:pPr>
                <a:endParaRPr lang="tr-TR" sz="1000" dirty="0"/>
              </a:p>
              <a:p>
                <a:r>
                  <a:rPr lang="tr-TR" sz="1000" dirty="0"/>
                  <a:t>                      D) x</a:t>
                </a:r>
                <a14:m>
                  <m:oMath xmlns:m="http://schemas.openxmlformats.org/officeDocument/2006/math">
                    <m:r>
                      <a:rPr lang="tr-TR" sz="1000" i="1" smtClean="0">
                        <a:latin typeface="Cambria Math" panose="02040503050406030204" pitchFamily="18" charset="0"/>
                      </a:rPr>
                      <m:t>≥</m:t>
                    </m:r>
                  </m:oMath>
                </a14:m>
                <a:r>
                  <a:rPr lang="tr-TR" sz="1000" dirty="0"/>
                  <a:t>5                                        E) x=9</a:t>
                </a:r>
              </a:p>
            </p:txBody>
          </p:sp>
        </mc:Choice>
        <mc:Fallback xmlns="">
          <p:sp>
            <p:nvSpPr>
              <p:cNvPr id="60" name="Metin kutusu 59">
                <a:extLst>
                  <a:ext uri="{FF2B5EF4-FFF2-40B4-BE49-F238E27FC236}">
                    <a16:creationId xmlns:a16="http://schemas.microsoft.com/office/drawing/2014/main" id="{380CFD8B-A448-4F49-ACCE-E2A9557B7206}"/>
                  </a:ext>
                </a:extLst>
              </p:cNvPr>
              <p:cNvSpPr txBox="1">
                <a:spLocks noRot="1" noChangeAspect="1" noMove="1" noResize="1" noEditPoints="1" noAdjustHandles="1" noChangeArrowheads="1" noChangeShapeType="1" noTextEdit="1"/>
              </p:cNvSpPr>
              <p:nvPr/>
            </p:nvSpPr>
            <p:spPr>
              <a:xfrm>
                <a:off x="3509763" y="1651563"/>
                <a:ext cx="3284216" cy="553998"/>
              </a:xfrm>
              <a:prstGeom prst="rect">
                <a:avLst/>
              </a:prstGeom>
              <a:blipFill>
                <a:blip r:embed="rId7"/>
                <a:stretch>
                  <a:fillRect b="-5495"/>
                </a:stretch>
              </a:blipFill>
            </p:spPr>
            <p:txBody>
              <a:bodyPr/>
              <a:lstStyle/>
              <a:p>
                <a:r>
                  <a:rPr lang="tr-TR">
                    <a:noFill/>
                  </a:rPr>
                  <a:t> </a:t>
                </a:r>
              </a:p>
            </p:txBody>
          </p:sp>
        </mc:Fallback>
      </mc:AlternateContent>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Oval 68">
            <a:extLst>
              <a:ext uri="{FF2B5EF4-FFF2-40B4-BE49-F238E27FC236}">
                <a16:creationId xmlns:a16="http://schemas.microsoft.com/office/drawing/2014/main" id="{070D0FEF-7C49-406F-8F1F-ADEEB226DD59}"/>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0" name="Metin kutusu 69">
            <a:extLst>
              <a:ext uri="{FF2B5EF4-FFF2-40B4-BE49-F238E27FC236}">
                <a16:creationId xmlns:a16="http://schemas.microsoft.com/office/drawing/2014/main" id="{C88E303A-F80C-4BF0-A2C1-5BB18F40767E}"/>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71" name="Metin kutusu 70">
            <a:extLst>
              <a:ext uri="{FF2B5EF4-FFF2-40B4-BE49-F238E27FC236}">
                <a16:creationId xmlns:a16="http://schemas.microsoft.com/office/drawing/2014/main" id="{E0BCDE85-8264-473C-B3D7-C52612842750}"/>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72" name="Oval 71">
            <a:extLst>
              <a:ext uri="{FF2B5EF4-FFF2-40B4-BE49-F238E27FC236}">
                <a16:creationId xmlns:a16="http://schemas.microsoft.com/office/drawing/2014/main" id="{93F8C1F1-67BD-4B97-9F0F-D3C81F8CC6EC}"/>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3" name="Düz Bağlayıcı 72">
            <a:extLst>
              <a:ext uri="{FF2B5EF4-FFF2-40B4-BE49-F238E27FC236}">
                <a16:creationId xmlns:a16="http://schemas.microsoft.com/office/drawing/2014/main" id="{36D3044A-CFE7-47C0-BA1F-2F2D1CC2FE81}"/>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4" name="Metin kutusu 73">
            <a:extLst>
              <a:ext uri="{FF2B5EF4-FFF2-40B4-BE49-F238E27FC236}">
                <a16:creationId xmlns:a16="http://schemas.microsoft.com/office/drawing/2014/main" id="{7238CCFF-6818-4CEC-901A-58095A6D46E1}"/>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75" name="Oval 74">
            <a:extLst>
              <a:ext uri="{FF2B5EF4-FFF2-40B4-BE49-F238E27FC236}">
                <a16:creationId xmlns:a16="http://schemas.microsoft.com/office/drawing/2014/main" id="{87530A8D-D432-4184-85F2-D41FC4687F1A}"/>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6" name="Metin kutusu 75">
            <a:extLst>
              <a:ext uri="{FF2B5EF4-FFF2-40B4-BE49-F238E27FC236}">
                <a16:creationId xmlns:a16="http://schemas.microsoft.com/office/drawing/2014/main" id="{C67325AA-7A45-4048-930D-46812DA66CB3}"/>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77" name="Oval 76">
            <a:extLst>
              <a:ext uri="{FF2B5EF4-FFF2-40B4-BE49-F238E27FC236}">
                <a16:creationId xmlns:a16="http://schemas.microsoft.com/office/drawing/2014/main" id="{A4B6902B-D8A8-4FA8-87A7-C59BC2D93F9E}"/>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8" name="Düz Bağlayıcı 77">
            <a:extLst>
              <a:ext uri="{FF2B5EF4-FFF2-40B4-BE49-F238E27FC236}">
                <a16:creationId xmlns:a16="http://schemas.microsoft.com/office/drawing/2014/main" id="{223A4C6F-A45B-40EA-B3BC-8DE6567410C9}"/>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Düz Bağlayıcı 78">
            <a:extLst>
              <a:ext uri="{FF2B5EF4-FFF2-40B4-BE49-F238E27FC236}">
                <a16:creationId xmlns:a16="http://schemas.microsoft.com/office/drawing/2014/main" id="{EDBDA7AE-0041-4637-9430-8F4D30D8BE9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 name="Tablo 6">
            <a:extLst>
              <a:ext uri="{FF2B5EF4-FFF2-40B4-BE49-F238E27FC236}">
                <a16:creationId xmlns:a16="http://schemas.microsoft.com/office/drawing/2014/main" id="{C1C0FFFB-0525-41EA-AAAF-2ECF58C753EA}"/>
              </a:ext>
            </a:extLst>
          </p:cNvPr>
          <p:cNvGraphicFramePr>
            <a:graphicFrameLocks noGrp="1"/>
          </p:cNvGraphicFramePr>
          <p:nvPr/>
        </p:nvGraphicFramePr>
        <p:xfrm>
          <a:off x="192658" y="868574"/>
          <a:ext cx="2941336" cy="1104739"/>
        </p:xfrm>
        <a:graphic>
          <a:graphicData uri="http://schemas.openxmlformats.org/drawingml/2006/table">
            <a:tbl>
              <a:tblPr firstRow="1" bandRow="1">
                <a:tableStyleId>{EB9631B5-78F2-41C9-869B-9F39066F8104}</a:tableStyleId>
              </a:tblPr>
              <a:tblGrid>
                <a:gridCol w="735334">
                  <a:extLst>
                    <a:ext uri="{9D8B030D-6E8A-4147-A177-3AD203B41FA5}">
                      <a16:colId xmlns:a16="http://schemas.microsoft.com/office/drawing/2014/main" val="2584816515"/>
                    </a:ext>
                  </a:extLst>
                </a:gridCol>
                <a:gridCol w="735334">
                  <a:extLst>
                    <a:ext uri="{9D8B030D-6E8A-4147-A177-3AD203B41FA5}">
                      <a16:colId xmlns:a16="http://schemas.microsoft.com/office/drawing/2014/main" val="1802236721"/>
                    </a:ext>
                  </a:extLst>
                </a:gridCol>
                <a:gridCol w="735334">
                  <a:extLst>
                    <a:ext uri="{9D8B030D-6E8A-4147-A177-3AD203B41FA5}">
                      <a16:colId xmlns:a16="http://schemas.microsoft.com/office/drawing/2014/main" val="2645038354"/>
                    </a:ext>
                  </a:extLst>
                </a:gridCol>
                <a:gridCol w="735334">
                  <a:extLst>
                    <a:ext uri="{9D8B030D-6E8A-4147-A177-3AD203B41FA5}">
                      <a16:colId xmlns:a16="http://schemas.microsoft.com/office/drawing/2014/main" val="708555595"/>
                    </a:ext>
                  </a:extLst>
                </a:gridCol>
              </a:tblGrid>
              <a:tr h="210624">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820" b="0" dirty="0">
                          <a:solidFill>
                            <a:schemeClr val="tx1"/>
                          </a:solidFill>
                        </a:rPr>
                        <a:t>Ömer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tr-TR" sz="820" b="0" dirty="0">
                          <a:solidFill>
                            <a:schemeClr val="tx1"/>
                          </a:solidFill>
                        </a:rPr>
                        <a:t>Halis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tr-TR" sz="820" b="0" dirty="0">
                          <a:solidFill>
                            <a:schemeClr val="tx1"/>
                          </a:solidFill>
                        </a:rPr>
                        <a:t>Demir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192622742"/>
                  </a:ext>
                </a:extLst>
              </a:tr>
              <a:tr h="210624">
                <a:tc>
                  <a:txBody>
                    <a:bodyPr/>
                    <a:lstStyle/>
                    <a:p>
                      <a:pPr algn="ctr"/>
                      <a:r>
                        <a:rPr lang="tr-TR" sz="820" b="0" dirty="0">
                          <a:solidFill>
                            <a:schemeClr val="tx1"/>
                          </a:solidFill>
                        </a:rPr>
                        <a:t>Bugün -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820" b="0" dirty="0">
                          <a:solidFill>
                            <a:schemeClr val="tx1"/>
                          </a:solidFill>
                        </a:rPr>
                        <a:t>m + 2a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952805"/>
                  </a:ext>
                </a:extLst>
              </a:tr>
              <a:tr h="210624">
                <a:tc>
                  <a:txBody>
                    <a:bodyPr/>
                    <a:lstStyle/>
                    <a:p>
                      <a:pPr algn="ctr"/>
                      <a:r>
                        <a:rPr lang="tr-TR" sz="820" b="0" dirty="0">
                          <a:solidFill>
                            <a:schemeClr val="tx1"/>
                          </a:solidFill>
                        </a:rPr>
                        <a:t>Bugün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820" b="0" dirty="0">
                          <a:solidFill>
                            <a:schemeClr val="tx1"/>
                          </a:solidFill>
                        </a:rPr>
                        <a:t>2a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575216"/>
                  </a:ext>
                </a:extLst>
              </a:tr>
              <a:tr h="210624">
                <a:tc>
                  <a:txBody>
                    <a:bodyPr/>
                    <a:lstStyle/>
                    <a:p>
                      <a:pPr algn="ctr"/>
                      <a:r>
                        <a:rPr lang="tr-TR" sz="820" b="0" dirty="0">
                          <a:solidFill>
                            <a:schemeClr val="tx1"/>
                          </a:solidFill>
                        </a:rPr>
                        <a:t>Bugün +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820" b="0" dirty="0">
                          <a:solidFill>
                            <a:schemeClr val="tx1"/>
                          </a:solidFill>
                        </a:rPr>
                        <a:t>m + 5a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8181720"/>
                  </a:ext>
                </a:extLst>
              </a:tr>
              <a:tr h="239107">
                <a:tc>
                  <a:txBody>
                    <a:bodyPr/>
                    <a:lstStyle/>
                    <a:p>
                      <a:pPr algn="ctr"/>
                      <a:r>
                        <a:rPr lang="tr-TR" sz="820" b="0" dirty="0">
                          <a:solidFill>
                            <a:schemeClr val="tx1"/>
                          </a:solidFill>
                        </a:rPr>
                        <a:t>Bugün + 2a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tr-TR" sz="82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9095524"/>
                  </a:ext>
                </a:extLst>
              </a:tr>
            </a:tbl>
          </a:graphicData>
        </a:graphic>
      </p:graphicFrame>
      <p:cxnSp>
        <p:nvCxnSpPr>
          <p:cNvPr id="8" name="Düz Bağlayıcı 7">
            <a:extLst>
              <a:ext uri="{FF2B5EF4-FFF2-40B4-BE49-F238E27FC236}">
                <a16:creationId xmlns:a16="http://schemas.microsoft.com/office/drawing/2014/main" id="{5390CA08-648D-4879-9286-B62459E9CE9C}"/>
              </a:ext>
            </a:extLst>
          </p:cNvPr>
          <p:cNvCxnSpPr>
            <a:cxnSpLocks/>
          </p:cNvCxnSpPr>
          <p:nvPr/>
        </p:nvCxnSpPr>
        <p:spPr>
          <a:xfrm flipV="1">
            <a:off x="192658" y="874954"/>
            <a:ext cx="716062" cy="203486"/>
          </a:xfrm>
          <a:prstGeom prst="line">
            <a:avLst/>
          </a:prstGeom>
        </p:spPr>
        <p:style>
          <a:lnRef idx="1">
            <a:schemeClr val="dk1"/>
          </a:lnRef>
          <a:fillRef idx="0">
            <a:schemeClr val="dk1"/>
          </a:fillRef>
          <a:effectRef idx="0">
            <a:schemeClr val="dk1"/>
          </a:effectRef>
          <a:fontRef idx="minor">
            <a:schemeClr val="tx1"/>
          </a:fontRef>
        </p:style>
      </p:cxnSp>
      <p:sp>
        <p:nvSpPr>
          <p:cNvPr id="61" name="Metin kutusu 60">
            <a:extLst>
              <a:ext uri="{FF2B5EF4-FFF2-40B4-BE49-F238E27FC236}">
                <a16:creationId xmlns:a16="http://schemas.microsoft.com/office/drawing/2014/main" id="{FF6F595A-D4AA-4EB8-BE65-C99A27F26B68}"/>
              </a:ext>
            </a:extLst>
          </p:cNvPr>
          <p:cNvSpPr txBox="1"/>
          <p:nvPr/>
        </p:nvSpPr>
        <p:spPr>
          <a:xfrm>
            <a:off x="156791" y="823723"/>
            <a:ext cx="326058" cy="246221"/>
          </a:xfrm>
          <a:prstGeom prst="rect">
            <a:avLst/>
          </a:prstGeom>
          <a:noFill/>
        </p:spPr>
        <p:txBody>
          <a:bodyPr wrap="square" rtlCol="0">
            <a:spAutoFit/>
          </a:bodyPr>
          <a:lstStyle/>
          <a:p>
            <a:r>
              <a:rPr lang="tr-TR" sz="1000" noProof="1">
                <a:cs typeface="Arial" panose="020B0604020202020204" pitchFamily="34" charset="0"/>
              </a:rPr>
              <a:t>Yıl</a:t>
            </a:r>
          </a:p>
        </p:txBody>
      </p:sp>
      <p:sp>
        <p:nvSpPr>
          <p:cNvPr id="63" name="Metin kutusu 62">
            <a:extLst>
              <a:ext uri="{FF2B5EF4-FFF2-40B4-BE49-F238E27FC236}">
                <a16:creationId xmlns:a16="http://schemas.microsoft.com/office/drawing/2014/main" id="{7EE3F7F6-56C8-4F39-80B2-D6B0D5FF4AE2}"/>
              </a:ext>
            </a:extLst>
          </p:cNvPr>
          <p:cNvSpPr txBox="1"/>
          <p:nvPr/>
        </p:nvSpPr>
        <p:spPr>
          <a:xfrm>
            <a:off x="595288" y="884237"/>
            <a:ext cx="410687" cy="246221"/>
          </a:xfrm>
          <a:prstGeom prst="rect">
            <a:avLst/>
          </a:prstGeom>
          <a:noFill/>
        </p:spPr>
        <p:txBody>
          <a:bodyPr wrap="square" rtlCol="0">
            <a:spAutoFit/>
          </a:bodyPr>
          <a:lstStyle/>
          <a:p>
            <a:r>
              <a:rPr lang="tr-TR" sz="1000" noProof="1">
                <a:cs typeface="Arial" panose="020B0604020202020204" pitchFamily="34" charset="0"/>
              </a:rPr>
              <a:t>İsim</a:t>
            </a:r>
          </a:p>
        </p:txBody>
      </p:sp>
      <p:sp>
        <p:nvSpPr>
          <p:cNvPr id="64" name="Metin kutusu 63">
            <a:extLst>
              <a:ext uri="{FF2B5EF4-FFF2-40B4-BE49-F238E27FC236}">
                <a16:creationId xmlns:a16="http://schemas.microsoft.com/office/drawing/2014/main" id="{9580F69C-77E5-40A3-992A-7AADE8204773}"/>
              </a:ext>
            </a:extLst>
          </p:cNvPr>
          <p:cNvSpPr txBox="1"/>
          <p:nvPr/>
        </p:nvSpPr>
        <p:spPr>
          <a:xfrm>
            <a:off x="17746" y="1978074"/>
            <a:ext cx="3582835" cy="1169551"/>
          </a:xfrm>
          <a:prstGeom prst="rect">
            <a:avLst/>
          </a:prstGeom>
          <a:noFill/>
        </p:spPr>
        <p:txBody>
          <a:bodyPr wrap="square" rtlCol="0">
            <a:spAutoFit/>
          </a:bodyPr>
          <a:lstStyle/>
          <a:p>
            <a:r>
              <a:rPr lang="tr-TR" sz="1000" b="1" noProof="1">
                <a:cs typeface="Arial" panose="020B0604020202020204" pitchFamily="34" charset="0"/>
              </a:rPr>
              <a:t>Bunlara göre ; </a:t>
            </a:r>
          </a:p>
          <a:p>
            <a:endParaRPr lang="tr-TR" sz="1000" noProof="1">
              <a:cs typeface="Arial" panose="020B0604020202020204" pitchFamily="34" charset="0"/>
            </a:endParaRPr>
          </a:p>
          <a:p>
            <a:r>
              <a:rPr lang="tr-TR" sz="1000" noProof="1">
                <a:cs typeface="Arial" panose="020B0604020202020204" pitchFamily="34" charset="0"/>
              </a:rPr>
              <a:t>I. Halis`in 2a yıl sonraki yaşı, Demir`in a yıl sonraki yaşına eşittir. </a:t>
            </a:r>
          </a:p>
          <a:p>
            <a:r>
              <a:rPr lang="tr-TR" sz="1000" noProof="1">
                <a:cs typeface="Arial" panose="020B0604020202020204" pitchFamily="34" charset="0"/>
              </a:rPr>
              <a:t>II. Ömer`in bugünkü yaşı Halis`in bugünkü yaşının tam bir katıdır.</a:t>
            </a:r>
          </a:p>
          <a:p>
            <a:r>
              <a:rPr lang="tr-TR" sz="1000" noProof="1">
                <a:cs typeface="Arial" panose="020B0604020202020204" pitchFamily="34" charset="0"/>
              </a:rPr>
              <a:t>III. Halis ile Demir arasındaki yaş farkı 10a yıl sonra a kadardır. </a:t>
            </a:r>
          </a:p>
          <a:p>
            <a:endParaRPr lang="tr-TR" sz="1000" noProof="1">
              <a:cs typeface="Arial" panose="020B0604020202020204" pitchFamily="34" charset="0"/>
            </a:endParaRPr>
          </a:p>
          <a:p>
            <a:r>
              <a:rPr lang="tr-TR" sz="1000" b="1" noProof="1">
                <a:cs typeface="Arial" panose="020B0604020202020204" pitchFamily="34" charset="0"/>
              </a:rPr>
              <a:t>önermelerinden hangileri </a:t>
            </a:r>
            <a:r>
              <a:rPr lang="tr-TR" sz="1000" b="1" u="sng" noProof="1">
                <a:cs typeface="Arial" panose="020B0604020202020204" pitchFamily="34" charset="0"/>
              </a:rPr>
              <a:t>daima</a:t>
            </a:r>
            <a:r>
              <a:rPr lang="tr-TR" sz="1000" b="1" noProof="1">
                <a:cs typeface="Arial" panose="020B0604020202020204" pitchFamily="34" charset="0"/>
              </a:rPr>
              <a:t> doğrudur?</a:t>
            </a:r>
          </a:p>
        </p:txBody>
      </p:sp>
      <p:sp>
        <p:nvSpPr>
          <p:cNvPr id="65" name="Dikdörtgen 64">
            <a:extLst>
              <a:ext uri="{FF2B5EF4-FFF2-40B4-BE49-F238E27FC236}">
                <a16:creationId xmlns:a16="http://schemas.microsoft.com/office/drawing/2014/main" id="{982C3C9F-FF1D-4174-875C-C5F9D36580CF}"/>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66" name="Dikdörtgen 65">
            <a:extLst>
              <a:ext uri="{FF2B5EF4-FFF2-40B4-BE49-F238E27FC236}">
                <a16:creationId xmlns:a16="http://schemas.microsoft.com/office/drawing/2014/main" id="{22C84FD5-9BCC-40A2-B3CC-E22732A3D38E}"/>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67" name="Dikdörtgen 66">
            <a:extLst>
              <a:ext uri="{FF2B5EF4-FFF2-40B4-BE49-F238E27FC236}">
                <a16:creationId xmlns:a16="http://schemas.microsoft.com/office/drawing/2014/main" id="{B52847F8-0277-4387-86FE-44F059CEDD0B}"/>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68" name="Dikdörtgen 67">
            <a:extLst>
              <a:ext uri="{FF2B5EF4-FFF2-40B4-BE49-F238E27FC236}">
                <a16:creationId xmlns:a16="http://schemas.microsoft.com/office/drawing/2014/main" id="{BB654100-63D5-40DD-B7BC-D86F673689F8}"/>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80" name="Dikdörtgen 79">
            <a:extLst>
              <a:ext uri="{FF2B5EF4-FFF2-40B4-BE49-F238E27FC236}">
                <a16:creationId xmlns:a16="http://schemas.microsoft.com/office/drawing/2014/main" id="{876FA91E-5C36-49EF-ACD8-79A078A1DAC0}"/>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81" name="Metin kutusu 80">
            <a:extLst>
              <a:ext uri="{FF2B5EF4-FFF2-40B4-BE49-F238E27FC236}">
                <a16:creationId xmlns:a16="http://schemas.microsoft.com/office/drawing/2014/main" id="{B1BF6F19-EBDC-4917-975F-2557FAA641D1}"/>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5.E    6.E    7.E   8.-X</a:t>
            </a:r>
          </a:p>
        </p:txBody>
      </p:sp>
      <p:sp>
        <p:nvSpPr>
          <p:cNvPr id="82" name="Metin kutusu 81">
            <a:extLst>
              <a:ext uri="{FF2B5EF4-FFF2-40B4-BE49-F238E27FC236}">
                <a16:creationId xmlns:a16="http://schemas.microsoft.com/office/drawing/2014/main" id="{ABBCDC8A-68A4-4BA7-B358-2FC63723EF20}"/>
              </a:ext>
            </a:extLst>
          </p:cNvPr>
          <p:cNvSpPr txBox="1"/>
          <p:nvPr/>
        </p:nvSpPr>
        <p:spPr>
          <a:xfrm>
            <a:off x="102398" y="5505690"/>
            <a:ext cx="3439366" cy="1169551"/>
          </a:xfrm>
          <a:prstGeom prst="rect">
            <a:avLst/>
          </a:prstGeom>
          <a:noFill/>
        </p:spPr>
        <p:txBody>
          <a:bodyPr wrap="square" rtlCol="0">
            <a:spAutoFit/>
          </a:bodyPr>
          <a:lstStyle/>
          <a:p>
            <a:r>
              <a:rPr lang="tr-TR" sz="1000" noProof="1">
                <a:cs typeface="Arial" panose="020B0604020202020204" pitchFamily="34" charset="0"/>
              </a:rPr>
              <a:t>Yukarıdaki konuşmada ebeveynlerini dinleyen Fethi Sekkin`in aşağıdaki bilgileri veriyor.</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 Yaşım 2x-10.</a:t>
            </a:r>
          </a:p>
          <a:p>
            <a:pPr marL="171450" indent="-171450">
              <a:buFont typeface="Arial" panose="020B0604020202020204" pitchFamily="34" charset="0"/>
              <a:buChar char="•"/>
            </a:pPr>
            <a:r>
              <a:rPr lang="tr-TR" sz="1000" noProof="1">
                <a:cs typeface="Arial" panose="020B0604020202020204" pitchFamily="34" charset="0"/>
              </a:rPr>
              <a:t> Babam 35 yaşındayken ben x+5 yaşındaydım.</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Buna göre, x doğal sayısı kaçtır?</a:t>
            </a:r>
          </a:p>
        </p:txBody>
      </p:sp>
      <p:sp>
        <p:nvSpPr>
          <p:cNvPr id="83" name="Metin kutusu 82">
            <a:extLst>
              <a:ext uri="{FF2B5EF4-FFF2-40B4-BE49-F238E27FC236}">
                <a16:creationId xmlns:a16="http://schemas.microsoft.com/office/drawing/2014/main" id="{D22BA3AE-951C-4C06-8AAF-4A9B031B7256}"/>
              </a:ext>
            </a:extLst>
          </p:cNvPr>
          <p:cNvSpPr txBox="1"/>
          <p:nvPr/>
        </p:nvSpPr>
        <p:spPr>
          <a:xfrm>
            <a:off x="100052" y="6604344"/>
            <a:ext cx="3322533"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4" name="Metin kutusu 53">
            <a:extLst>
              <a:ext uri="{FF2B5EF4-FFF2-40B4-BE49-F238E27FC236}">
                <a16:creationId xmlns:a16="http://schemas.microsoft.com/office/drawing/2014/main" id="{48E8CAC5-7299-4C83-A4A8-589108E2BA8E}"/>
              </a:ext>
            </a:extLst>
          </p:cNvPr>
          <p:cNvSpPr txBox="1"/>
          <p:nvPr/>
        </p:nvSpPr>
        <p:spPr>
          <a:xfrm>
            <a:off x="3492531" y="463666"/>
            <a:ext cx="3328947" cy="246221"/>
          </a:xfrm>
          <a:prstGeom prst="rect">
            <a:avLst/>
          </a:prstGeom>
          <a:noFill/>
        </p:spPr>
        <p:txBody>
          <a:bodyPr wrap="square" rtlCol="0">
            <a:spAutoFit/>
          </a:bodyPr>
          <a:lstStyle/>
          <a:p>
            <a:r>
              <a:rPr lang="tr-TR" sz="1000" noProof="1">
                <a:cs typeface="Arial" panose="020B0604020202020204" pitchFamily="34" charset="0"/>
              </a:rPr>
              <a:t>Aybüke Öğretmen`in verdiği bilgiler aşağıdaki gibidir.</a:t>
            </a:r>
          </a:p>
        </p:txBody>
      </p:sp>
    </p:spTree>
    <p:extLst>
      <p:ext uri="{BB962C8B-B14F-4D97-AF65-F5344CB8AC3E}">
        <p14:creationId xmlns:p14="http://schemas.microsoft.com/office/powerpoint/2010/main" val="41415439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Yaş Problemleri</a:t>
            </a:r>
          </a:p>
          <a:p>
            <a:r>
              <a:rPr lang="tr-TR" sz="1000" b="1" noProof="1">
                <a:latin typeface="+mj-lt"/>
                <a:cs typeface="Arial" panose="020B0604020202020204" pitchFamily="34" charset="0"/>
              </a:rPr>
              <a:t>..</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22358" y="3901585"/>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49236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B82E1891-E19B-4792-8D6A-9E3A416C2186}"/>
                  </a:ext>
                </a:extLst>
              </p:cNvPr>
              <p:cNvSpPr txBox="1"/>
              <p:nvPr/>
            </p:nvSpPr>
            <p:spPr>
              <a:xfrm>
                <a:off x="100053" y="466976"/>
                <a:ext cx="3312398"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dirty="0" smtClean="0">
                            <a:latin typeface="Cambria Math" panose="02040503050406030204" pitchFamily="18" charset="0"/>
                          </a:rPr>
                        </m:ctrlPr>
                      </m:fPr>
                      <m:num>
                        <m:r>
                          <m:rPr>
                            <m:nor/>
                          </m:rPr>
                          <a:rPr lang="tr-TR" sz="800" noProof="1" dirty="0">
                            <a:latin typeface="Helvetica" panose="020B0604020202020204" pitchFamily="34" charset="0"/>
                            <a:cs typeface="Helvetica" panose="020B0604020202020204" pitchFamily="34" charset="0"/>
                          </a:rPr>
                          <m:t>x</m:t>
                        </m:r>
                      </m:num>
                      <m:den>
                        <m:r>
                          <m:rPr>
                            <m:nor/>
                          </m:rPr>
                          <a:rPr lang="tr-TR" sz="800" noProof="1" dirty="0">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3" name="Metin kutusu 52">
                <a:extLst>
                  <a:ext uri="{FF2B5EF4-FFF2-40B4-BE49-F238E27FC236}">
                    <a16:creationId xmlns:a16="http://schemas.microsoft.com/office/drawing/2014/main" id="{B82E1891-E19B-4792-8D6A-9E3A416C2186}"/>
                  </a:ext>
                </a:extLst>
              </p:cNvPr>
              <p:cNvSpPr txBox="1">
                <a:spLocks noRot="1" noChangeAspect="1" noMove="1" noResize="1" noEditPoints="1" noAdjustHandles="1" noChangeArrowheads="1" noChangeShapeType="1" noTextEdit="1"/>
              </p:cNvSpPr>
              <p:nvPr/>
            </p:nvSpPr>
            <p:spPr>
              <a:xfrm>
                <a:off x="100053" y="466976"/>
                <a:ext cx="3312398" cy="276422"/>
              </a:xfrm>
              <a:prstGeom prst="rect">
                <a:avLst/>
              </a:prstGeom>
              <a:blipFill>
                <a:blip r:embed="rId5"/>
                <a:stretch>
                  <a:fillRect b="-4444"/>
                </a:stretch>
              </a:blipFill>
            </p:spPr>
            <p:txBody>
              <a:bodyPr/>
              <a:lstStyle/>
              <a:p>
                <a:r>
                  <a:rPr lang="tr-TR">
                    <a:noFill/>
                  </a:rPr>
                  <a:t> </a:t>
                </a:r>
              </a:p>
            </p:txBody>
          </p:sp>
        </mc:Fallback>
      </mc:AlternateContent>
      <p:sp>
        <p:nvSpPr>
          <p:cNvPr id="54" name="Metin kutusu 53">
            <a:extLst>
              <a:ext uri="{FF2B5EF4-FFF2-40B4-BE49-F238E27FC236}">
                <a16:creationId xmlns:a16="http://schemas.microsoft.com/office/drawing/2014/main" id="{6F571631-C11B-45EE-8A46-C84A1F97ADD2}"/>
              </a:ext>
            </a:extLst>
          </p:cNvPr>
          <p:cNvSpPr txBox="1"/>
          <p:nvPr/>
        </p:nvSpPr>
        <p:spPr>
          <a:xfrm>
            <a:off x="130290" y="1182425"/>
            <a:ext cx="3242609"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5" name="Dikdörtgen 54">
            <a:extLst>
              <a:ext uri="{FF2B5EF4-FFF2-40B4-BE49-F238E27FC236}">
                <a16:creationId xmlns:a16="http://schemas.microsoft.com/office/drawing/2014/main" id="{60057654-B723-41D9-BB6B-053ABEC224DE}"/>
              </a:ext>
            </a:extLst>
          </p:cNvPr>
          <p:cNvSpPr/>
          <p:nvPr/>
        </p:nvSpPr>
        <p:spPr>
          <a:xfrm>
            <a:off x="207340" y="5446562"/>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6" name="Metin kutusu 55">
                <a:extLst>
                  <a:ext uri="{FF2B5EF4-FFF2-40B4-BE49-F238E27FC236}">
                    <a16:creationId xmlns:a16="http://schemas.microsoft.com/office/drawing/2014/main" id="{FE808314-3229-48D7-98E6-513795AE49C4}"/>
                  </a:ext>
                </a:extLst>
              </p:cNvPr>
              <p:cNvSpPr txBox="1"/>
              <p:nvPr/>
            </p:nvSpPr>
            <p:spPr>
              <a:xfrm>
                <a:off x="91742" y="4736045"/>
                <a:ext cx="3337258"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dirty="0" smtClean="0">
                            <a:latin typeface="Cambria Math" panose="02040503050406030204" pitchFamily="18" charset="0"/>
                          </a:rPr>
                        </m:ctrlPr>
                      </m:fPr>
                      <m:num>
                        <m:r>
                          <m:rPr>
                            <m:nor/>
                          </m:rPr>
                          <a:rPr lang="tr-TR" sz="800" noProof="1" dirty="0">
                            <a:latin typeface="Helvetica" panose="020B0604020202020204" pitchFamily="34" charset="0"/>
                            <a:cs typeface="Helvetica" panose="020B0604020202020204" pitchFamily="34" charset="0"/>
                          </a:rPr>
                          <m:t>x</m:t>
                        </m:r>
                      </m:num>
                      <m:den>
                        <m:r>
                          <m:rPr>
                            <m:nor/>
                          </m:rPr>
                          <a:rPr lang="tr-TR" sz="800" noProof="1" dirty="0">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6" name="Metin kutusu 55">
                <a:extLst>
                  <a:ext uri="{FF2B5EF4-FFF2-40B4-BE49-F238E27FC236}">
                    <a16:creationId xmlns:a16="http://schemas.microsoft.com/office/drawing/2014/main" id="{FE808314-3229-48D7-98E6-513795AE49C4}"/>
                  </a:ext>
                </a:extLst>
              </p:cNvPr>
              <p:cNvSpPr txBox="1">
                <a:spLocks noRot="1" noChangeAspect="1" noMove="1" noResize="1" noEditPoints="1" noAdjustHandles="1" noChangeArrowheads="1" noChangeShapeType="1" noTextEdit="1"/>
              </p:cNvSpPr>
              <p:nvPr/>
            </p:nvSpPr>
            <p:spPr>
              <a:xfrm>
                <a:off x="91742" y="4736045"/>
                <a:ext cx="3337258"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BC1E34C2-F2E4-4462-A599-B05FDF8A9639}"/>
                  </a:ext>
                </a:extLst>
              </p:cNvPr>
              <p:cNvSpPr txBox="1"/>
              <p:nvPr/>
            </p:nvSpPr>
            <p:spPr>
              <a:xfrm>
                <a:off x="3522906" y="4729188"/>
                <a:ext cx="3348651"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dirty="0" smtClean="0">
                            <a:latin typeface="Cambria Math" panose="02040503050406030204" pitchFamily="18" charset="0"/>
                          </a:rPr>
                        </m:ctrlPr>
                      </m:fPr>
                      <m:num>
                        <m:r>
                          <m:rPr>
                            <m:nor/>
                          </m:rPr>
                          <a:rPr lang="tr-TR" sz="800" noProof="1" dirty="0">
                            <a:latin typeface="Helvetica" panose="020B0604020202020204" pitchFamily="34" charset="0"/>
                            <a:cs typeface="Helvetica" panose="020B0604020202020204" pitchFamily="34" charset="0"/>
                          </a:rPr>
                          <m:t>x</m:t>
                        </m:r>
                      </m:num>
                      <m:den>
                        <m:r>
                          <m:rPr>
                            <m:nor/>
                          </m:rPr>
                          <a:rPr lang="tr-TR" sz="800" noProof="1" dirty="0">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7" name="Metin kutusu 56">
                <a:extLst>
                  <a:ext uri="{FF2B5EF4-FFF2-40B4-BE49-F238E27FC236}">
                    <a16:creationId xmlns:a16="http://schemas.microsoft.com/office/drawing/2014/main" id="{BC1E34C2-F2E4-4462-A599-B05FDF8A9639}"/>
                  </a:ext>
                </a:extLst>
              </p:cNvPr>
              <p:cNvSpPr txBox="1">
                <a:spLocks noRot="1" noChangeAspect="1" noMove="1" noResize="1" noEditPoints="1" noAdjustHandles="1" noChangeArrowheads="1" noChangeShapeType="1" noTextEdit="1"/>
              </p:cNvSpPr>
              <p:nvPr/>
            </p:nvSpPr>
            <p:spPr>
              <a:xfrm>
                <a:off x="3522906" y="4729188"/>
                <a:ext cx="3348651" cy="276422"/>
              </a:xfrm>
              <a:prstGeom prst="rect">
                <a:avLst/>
              </a:prstGeom>
              <a:blipFill>
                <a:blip r:embed="rId7"/>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502526" y="462949"/>
                <a:ext cx="3355474"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dirty="0" smtClean="0">
                            <a:latin typeface="Cambria Math" panose="02040503050406030204" pitchFamily="18" charset="0"/>
                          </a:rPr>
                        </m:ctrlPr>
                      </m:fPr>
                      <m:num>
                        <m:r>
                          <m:rPr>
                            <m:nor/>
                          </m:rPr>
                          <a:rPr lang="tr-TR" sz="800" noProof="1" dirty="0">
                            <a:latin typeface="Helvetica" panose="020B0604020202020204" pitchFamily="34" charset="0"/>
                            <a:cs typeface="Helvetica" panose="020B0604020202020204" pitchFamily="34" charset="0"/>
                          </a:rPr>
                          <m:t>x</m:t>
                        </m:r>
                      </m:num>
                      <m:den>
                        <m:r>
                          <m:rPr>
                            <m:nor/>
                          </m:rPr>
                          <a:rPr lang="tr-TR" sz="800" noProof="1" dirty="0">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502526" y="462949"/>
                <a:ext cx="3355474" cy="276422"/>
              </a:xfrm>
              <a:prstGeom prst="rect">
                <a:avLst/>
              </a:prstGeom>
              <a:blipFill>
                <a:blip r:embed="rId8"/>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483443" y="5309409"/>
                <a:ext cx="3362533" cy="653512"/>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dirty="0">
                            <a:latin typeface="Cambria Math" panose="02040503050406030204" pitchFamily="18" charset="0"/>
                          </a:rPr>
                        </m:ctrlPr>
                      </m:fPr>
                      <m:num>
                        <m:r>
                          <a:rPr lang="tr-TR" sz="800" noProof="1" dirty="0">
                            <a:latin typeface="Cambria Math" panose="02040503050406030204" pitchFamily="18" charset="0"/>
                          </a:rPr>
                          <m:t> </m:t>
                        </m:r>
                        <m:r>
                          <m:rPr>
                            <m:nor/>
                          </m:rPr>
                          <a:rPr lang="tr-TR" sz="800" b="0" i="0" noProof="1" dirty="0" smtClean="0">
                            <a:latin typeface="Helvetica" panose="020B0604020202020204" pitchFamily="34" charset="0"/>
                            <a:cs typeface="Helvetica" panose="020B0604020202020204" pitchFamily="34" charset="0"/>
                          </a:rPr>
                          <m:t>1−3</m:t>
                        </m:r>
                        <m:r>
                          <m:rPr>
                            <m:nor/>
                          </m:rPr>
                          <a:rPr lang="tr-TR" sz="800" i="0" noProof="1" dirty="0">
                            <a:latin typeface="Helvetica" panose="020B0604020202020204" pitchFamily="34" charset="0"/>
                            <a:cs typeface="Helvetica" panose="020B0604020202020204" pitchFamily="34" charset="0"/>
                          </a:rPr>
                          <m:t>A</m:t>
                        </m:r>
                        <m:r>
                          <m:rPr>
                            <m:nor/>
                          </m:rPr>
                          <a:rPr lang="tr-TR" sz="800" i="0" noProof="1" dirty="0">
                            <a:latin typeface="Cambria Math" panose="02040503050406030204" pitchFamily="18" charset="0"/>
                          </a:rPr>
                          <m:t> </m:t>
                        </m:r>
                      </m:num>
                      <m:den>
                        <m:r>
                          <m:rPr>
                            <m:nor/>
                          </m:rPr>
                          <a:rPr lang="tr-TR" sz="800" i="0" noProof="1" dirty="0">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dirty="0" smtClean="0">
                            <a:solidFill>
                              <a:schemeClr val="tx1"/>
                            </a:solidFill>
                            <a:latin typeface="Cambria Math" panose="02040503050406030204" pitchFamily="18" charset="0"/>
                          </a:rPr>
                        </m:ctrlPr>
                      </m:fPr>
                      <m:num>
                        <m:r>
                          <a:rPr lang="tr-TR" sz="800" b="0" i="0" noProof="1" dirty="0" smtClean="0">
                            <a:solidFill>
                              <a:schemeClr val="tx1"/>
                            </a:solidFill>
                            <a:latin typeface="Cambria Math" panose="02040503050406030204" pitchFamily="18" charset="0"/>
                          </a:rPr>
                          <m:t> </m:t>
                        </m:r>
                        <m:r>
                          <m:rPr>
                            <m:nor/>
                          </m:rPr>
                          <a:rPr lang="tr-TR" sz="800" b="0" i="0" noProof="1" dirty="0" smtClean="0">
                            <a:solidFill>
                              <a:schemeClr val="tx1"/>
                            </a:solidFill>
                            <a:latin typeface="Cambria Math" panose="02040503050406030204" pitchFamily="18" charset="0"/>
                          </a:rPr>
                          <m:t> </m:t>
                        </m:r>
                        <m:r>
                          <m:rPr>
                            <m:nor/>
                          </m:rPr>
                          <a:rPr lang="tr-TR" sz="800" i="0" noProof="1" dirty="0" smtClean="0">
                            <a:solidFill>
                              <a:schemeClr val="tx1"/>
                            </a:solidFill>
                            <a:latin typeface="Helvetica" panose="020B0604020202020204" pitchFamily="34" charset="0"/>
                            <a:cs typeface="Helvetica" panose="020B0604020202020204" pitchFamily="34" charset="0"/>
                          </a:rPr>
                          <m:t>A</m:t>
                        </m:r>
                        <m:r>
                          <m:rPr>
                            <m:nor/>
                          </m:rPr>
                          <a:rPr lang="tr-TR" sz="800" b="0" i="0" noProof="1" dirty="0" smtClean="0">
                            <a:solidFill>
                              <a:schemeClr val="tx1"/>
                            </a:solidFill>
                            <a:latin typeface="Helvetica" panose="020B0604020202020204" pitchFamily="34" charset="0"/>
                            <a:cs typeface="Helvetica" panose="020B0604020202020204" pitchFamily="34" charset="0"/>
                          </a:rPr>
                          <m:t> </m:t>
                        </m:r>
                        <m:r>
                          <a:rPr lang="tr-TR" sz="800" b="0" i="0" noProof="1" dirty="0" smtClean="0">
                            <a:solidFill>
                              <a:schemeClr val="tx1"/>
                            </a:solidFill>
                            <a:latin typeface="Cambria Math" panose="02040503050406030204" pitchFamily="18" charset="0"/>
                          </a:rPr>
                          <m:t> </m:t>
                        </m:r>
                      </m:num>
                      <m:den>
                        <m:r>
                          <m:rPr>
                            <m:nor/>
                          </m:rPr>
                          <a:rPr lang="tr-TR" sz="800" i="0" noProof="1" dirty="0"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a:t>
                </a:r>
                <a14:m>
                  <m:oMath xmlns:m="http://schemas.openxmlformats.org/officeDocument/2006/math">
                    <m:f>
                      <m:fPr>
                        <m:ctrlPr>
                          <a:rPr lang="tr-TR" sz="800" i="1" noProof="1" dirty="0">
                            <a:latin typeface="Cambria Math" panose="02040503050406030204" pitchFamily="18" charset="0"/>
                          </a:rPr>
                        </m:ctrlPr>
                      </m:fPr>
                      <m:num>
                        <m:r>
                          <a:rPr lang="tr-TR" sz="800" b="0" i="0" noProof="1" dirty="0" smtClean="0">
                            <a:latin typeface="Cambria Math" panose="02040503050406030204" pitchFamily="18" charset="0"/>
                          </a:rPr>
                          <m:t> </m:t>
                        </m:r>
                        <m:r>
                          <a:rPr lang="tr-TR" sz="800" noProof="1" dirty="0">
                            <a:latin typeface="Cambria Math" panose="02040503050406030204" pitchFamily="18" charset="0"/>
                          </a:rPr>
                          <m:t> </m:t>
                        </m:r>
                        <m:r>
                          <m:rPr>
                            <m:nor/>
                          </m:rPr>
                          <a:rPr lang="tr-TR" sz="800" i="0" noProof="1" dirty="0">
                            <a:latin typeface="Helvetica" panose="020B0604020202020204" pitchFamily="34" charset="0"/>
                            <a:cs typeface="Helvetica" panose="020B0604020202020204" pitchFamily="34" charset="0"/>
                          </a:rPr>
                          <m:t>A</m:t>
                        </m:r>
                        <m:r>
                          <a:rPr lang="tr-TR" sz="800" b="0" i="0" noProof="1" dirty="0" smtClean="0">
                            <a:latin typeface="Cambria Math" panose="02040503050406030204" pitchFamily="18" charset="0"/>
                            <a:cs typeface="Helvetica" panose="020B0604020202020204" pitchFamily="34" charset="0"/>
                          </a:rPr>
                          <m:t> </m:t>
                        </m:r>
                        <m:r>
                          <a:rPr lang="tr-TR" sz="800" noProof="1" dirty="0">
                            <a:latin typeface="Cambria Math" panose="02040503050406030204" pitchFamily="18" charset="0"/>
                          </a:rPr>
                          <m:t> </m:t>
                        </m:r>
                      </m:num>
                      <m:den>
                        <m:r>
                          <m:rPr>
                            <m:nor/>
                          </m:rPr>
                          <a:rPr lang="tr-TR" sz="800" b="0" i="0" noProof="1" dirty="0" smtClean="0">
                            <a:latin typeface="Helvetica" panose="020B0604020202020204" pitchFamily="34" charset="0"/>
                            <a:cs typeface="Helvetica" panose="020B0604020202020204" pitchFamily="34" charset="0"/>
                          </a:rPr>
                          <m:t>3</m:t>
                        </m:r>
                      </m:den>
                    </m:f>
                  </m:oMath>
                </a14:m>
                <a:endParaRPr lang="tr-TR" sz="800" noProof="1"/>
              </a:p>
              <a:p>
                <a:br>
                  <a:rPr lang="tr-TR" sz="1000" noProof="1"/>
                </a:br>
                <a:r>
                  <a:rPr lang="tr-TR" sz="1000" noProof="1"/>
                  <a:t>                         D) </a:t>
                </a:r>
                <a14:m>
                  <m:oMath xmlns:m="http://schemas.openxmlformats.org/officeDocument/2006/math">
                    <m:f>
                      <m:fPr>
                        <m:ctrlPr>
                          <a:rPr lang="tr-TR" sz="800" i="1" noProof="1" dirty="0">
                            <a:latin typeface="Cambria Math" panose="02040503050406030204" pitchFamily="18" charset="0"/>
                          </a:rPr>
                        </m:ctrlPr>
                      </m:fPr>
                      <m:num>
                        <m:r>
                          <a:rPr lang="tr-TR" sz="800" b="0" i="0" noProof="1" dirty="0" smtClean="0">
                            <a:latin typeface="Cambria Math" panose="02040503050406030204" pitchFamily="18" charset="0"/>
                          </a:rPr>
                          <m:t> </m:t>
                        </m:r>
                        <m:r>
                          <a:rPr lang="tr-TR" sz="800" noProof="1" dirty="0">
                            <a:latin typeface="Cambria Math" panose="02040503050406030204" pitchFamily="18" charset="0"/>
                          </a:rPr>
                          <m:t> </m:t>
                        </m:r>
                        <m:r>
                          <m:rPr>
                            <m:nor/>
                          </m:rPr>
                          <a:rPr lang="tr-TR" sz="800" b="0" i="0" noProof="1" dirty="0" smtClean="0">
                            <a:latin typeface="Cambria Math" panose="02040503050406030204" pitchFamily="18" charset="0"/>
                          </a:rPr>
                          <m:t> </m:t>
                        </m:r>
                        <m:r>
                          <m:rPr>
                            <m:nor/>
                          </m:rPr>
                          <a:rPr lang="tr-TR" sz="800" i="0" noProof="1" dirty="0">
                            <a:latin typeface="Helvetica" panose="020B0604020202020204" pitchFamily="34" charset="0"/>
                            <a:cs typeface="Helvetica" panose="020B0604020202020204" pitchFamily="34" charset="0"/>
                          </a:rPr>
                          <m:t>A</m:t>
                        </m:r>
                        <m:r>
                          <m:rPr>
                            <m:nor/>
                          </m:rPr>
                          <a:rPr lang="tr-TR" sz="800" b="0" i="0" noProof="1" dirty="0" smtClean="0">
                            <a:latin typeface="Helvetica" panose="020B0604020202020204" pitchFamily="34" charset="0"/>
                            <a:cs typeface="Helvetica" panose="020B0604020202020204" pitchFamily="34" charset="0"/>
                          </a:rPr>
                          <m:t> </m:t>
                        </m:r>
                        <m:r>
                          <a:rPr lang="tr-TR" sz="800" noProof="1" dirty="0">
                            <a:latin typeface="Cambria Math" panose="02040503050406030204" pitchFamily="18" charset="0"/>
                          </a:rPr>
                          <m:t> </m:t>
                        </m:r>
                      </m:num>
                      <m:den>
                        <m:r>
                          <m:rPr>
                            <m:nor/>
                          </m:rPr>
                          <a:rPr lang="tr-TR" sz="800" b="0" i="0" noProof="1" dirty="0"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dirty="0" smtClean="0">
                            <a:solidFill>
                              <a:schemeClr val="tx1"/>
                            </a:solidFill>
                            <a:latin typeface="Cambria Math" panose="02040503050406030204" pitchFamily="18" charset="0"/>
                          </a:rPr>
                        </m:ctrlPr>
                      </m:fPr>
                      <m:num>
                        <m:r>
                          <a:rPr lang="tr-TR" sz="800" b="0" i="0" noProof="1" dirty="0" smtClean="0">
                            <a:solidFill>
                              <a:schemeClr val="tx1"/>
                            </a:solidFill>
                            <a:latin typeface="Cambria Math" panose="02040503050406030204" pitchFamily="18" charset="0"/>
                          </a:rPr>
                          <m:t> </m:t>
                        </m:r>
                        <m:r>
                          <m:rPr>
                            <m:nor/>
                          </m:rPr>
                          <a:rPr lang="tr-TR" sz="800" b="0" i="0" noProof="1" dirty="0" smtClean="0">
                            <a:solidFill>
                              <a:schemeClr val="tx1"/>
                            </a:solidFill>
                            <a:latin typeface="Cambria Math" panose="02040503050406030204" pitchFamily="18" charset="0"/>
                          </a:rPr>
                          <m:t> </m:t>
                        </m:r>
                        <m:r>
                          <m:rPr>
                            <m:nor/>
                          </m:rPr>
                          <a:rPr lang="tr-TR" sz="800" i="0" noProof="1" dirty="0" smtClean="0">
                            <a:solidFill>
                              <a:schemeClr val="tx1"/>
                            </a:solidFill>
                            <a:latin typeface="Helvetica" panose="020B0604020202020204" pitchFamily="34" charset="0"/>
                            <a:cs typeface="Helvetica" panose="020B0604020202020204" pitchFamily="34" charset="0"/>
                          </a:rPr>
                          <m:t>A</m:t>
                        </m:r>
                        <m:r>
                          <a:rPr lang="tr-TR" sz="800" b="0" i="0" noProof="1" dirty="0" smtClean="0">
                            <a:solidFill>
                              <a:schemeClr val="tx1"/>
                            </a:solidFill>
                            <a:latin typeface="Cambria Math" panose="02040503050406030204" pitchFamily="18" charset="0"/>
                            <a:cs typeface="Helvetica" panose="020B0604020202020204" pitchFamily="34" charset="0"/>
                          </a:rPr>
                          <m:t> </m:t>
                        </m:r>
                        <m:r>
                          <a:rPr lang="tr-TR" sz="800" b="0" i="0" noProof="1" dirty="0" smtClean="0">
                            <a:solidFill>
                              <a:schemeClr val="tx1"/>
                            </a:solidFill>
                            <a:latin typeface="Cambria Math" panose="02040503050406030204" pitchFamily="18" charset="0"/>
                          </a:rPr>
                          <m:t> </m:t>
                        </m:r>
                      </m:num>
                      <m:den>
                        <m:r>
                          <m:rPr>
                            <m:nor/>
                          </m:rPr>
                          <a:rPr lang="tr-TR" sz="800" b="0" i="0" noProof="1" dirty="0" smtClean="0">
                            <a:solidFill>
                              <a:schemeClr val="tx1"/>
                            </a:solidFill>
                            <a:latin typeface="Helvetica" panose="020B0604020202020204" pitchFamily="34" charset="0"/>
                            <a:cs typeface="Helvetica" panose="020B0604020202020204" pitchFamily="34" charset="0"/>
                          </a:rPr>
                          <m:t>1</m:t>
                        </m:r>
                        <m:r>
                          <m:rPr>
                            <m:nor/>
                          </m:rPr>
                          <a:rPr lang="tr-TR" sz="800" i="0" noProof="1" dirty="0"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483443" y="5309409"/>
                <a:ext cx="3362533" cy="653512"/>
              </a:xfrm>
              <a:prstGeom prst="rect">
                <a:avLst/>
              </a:prstGeom>
              <a:blipFill>
                <a:blip r:embed="rId9"/>
                <a:stretch>
                  <a:fillRect b="-93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380CFD8B-A448-4F49-ACCE-E2A9557B7206}"/>
              </a:ext>
            </a:extLst>
          </p:cNvPr>
          <p:cNvSpPr txBox="1"/>
          <p:nvPr/>
        </p:nvSpPr>
        <p:spPr>
          <a:xfrm>
            <a:off x="3529147" y="1182425"/>
            <a:ext cx="3284216" cy="553998"/>
          </a:xfrm>
          <a:prstGeom prst="rect">
            <a:avLst/>
          </a:prstGeom>
          <a:noFill/>
        </p:spPr>
        <p:txBody>
          <a:bodyPr wrap="square" rtlCol="0">
            <a:spAutoFit/>
          </a:bodyPr>
          <a:lstStyle/>
          <a:p>
            <a:r>
              <a:rPr lang="tr-TR" sz="1000" noProof="1"/>
              <a:t>A) 7                                          B) 8                                        C) 9</a:t>
            </a:r>
          </a:p>
          <a:p>
            <a:pPr marL="228600" indent="-228600">
              <a:buAutoNum type="alphaUcParenR"/>
            </a:pPr>
            <a:endParaRPr lang="tr-TR" sz="1000" noProof="1"/>
          </a:p>
          <a:p>
            <a:r>
              <a:rPr lang="tr-TR" sz="1000" noProof="1"/>
              <a:t>                      D) 10                                        E) 11</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64" name="Metin kutusu 63">
            <a:extLst>
              <a:ext uri="{FF2B5EF4-FFF2-40B4-BE49-F238E27FC236}">
                <a16:creationId xmlns:a16="http://schemas.microsoft.com/office/drawing/2014/main" id="{7C4561F8-75D4-4E00-B313-2160EFBACE4A}"/>
              </a:ext>
            </a:extLst>
          </p:cNvPr>
          <p:cNvSpPr txBox="1"/>
          <p:nvPr/>
        </p:nvSpPr>
        <p:spPr>
          <a:xfrm>
            <a:off x="-21756" y="8826383"/>
            <a:ext cx="163401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    9.X</a:t>
            </a:r>
          </a:p>
        </p:txBody>
      </p:sp>
    </p:spTree>
    <p:extLst>
      <p:ext uri="{BB962C8B-B14F-4D97-AF65-F5344CB8AC3E}">
        <p14:creationId xmlns:p14="http://schemas.microsoft.com/office/powerpoint/2010/main" val="3619862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endParaRPr lang="tr-TR" sz="900" b="1" dirty="0">
              <a:latin typeface="Arial Narrow" panose="020B0606020202030204" pitchFamily="34" charset="0"/>
              <a:cs typeface="Arial" panose="020B0604020202020204" pitchFamily="34" charset="0"/>
            </a:endParaRP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89869" y="454209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831550" y="456064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40275" y="454209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32633" y="270246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18833" y="744183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519888" y="4553822"/>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 name="Dikdörtgen: Köşeleri Yuvarlatılmış 5">
            <a:extLst>
              <a:ext uri="{FF2B5EF4-FFF2-40B4-BE49-F238E27FC236}">
                <a16:creationId xmlns:a16="http://schemas.microsoft.com/office/drawing/2014/main" id="{1D1E4F25-BC99-496A-9048-FC55BA2A1248}"/>
              </a:ext>
            </a:extLst>
          </p:cNvPr>
          <p:cNvSpPr/>
          <p:nvPr/>
        </p:nvSpPr>
        <p:spPr>
          <a:xfrm>
            <a:off x="121831" y="521655"/>
            <a:ext cx="3116280" cy="7578737"/>
          </a:xfrm>
          <a:prstGeom prst="roundRect">
            <a:avLst/>
          </a:prstGeom>
          <a:solidFill>
            <a:schemeClr val="accent4">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261465" y="507495"/>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Yeni Nesil Sorular</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121831" y="756145"/>
            <a:ext cx="3096345" cy="1938992"/>
          </a:xfrm>
          <a:prstGeom prst="rect">
            <a:avLst/>
          </a:prstGeom>
          <a:noFill/>
        </p:spPr>
        <p:txBody>
          <a:bodyPr wrap="square" rtlCol="0">
            <a:spAutoFit/>
          </a:bodyPr>
          <a:lstStyle/>
          <a:p>
            <a:r>
              <a:rPr lang="tr-TR" sz="1000" noProof="1">
                <a:cs typeface="Arial" panose="020B0604020202020204" pitchFamily="34" charset="0"/>
              </a:rPr>
              <a:t>Son yıllarda sınav sorularının çoğu yeni nesil diye nitelendirdiğimiz sorulardan oluşmaya başladığı ve artık sadece denklem gibi içeriğin bulunduğu sorular sadece konuyu öğrenme amaçlı çözülmektedir.  </a:t>
            </a:r>
          </a:p>
          <a:p>
            <a:endParaRPr lang="tr-TR" sz="1000" noProof="1">
              <a:cs typeface="Arial" panose="020B0604020202020204" pitchFamily="34" charset="0"/>
            </a:endParaRPr>
          </a:p>
          <a:p>
            <a:r>
              <a:rPr lang="tr-TR" sz="1500" noProof="1">
                <a:cs typeface="Arial" panose="020B0604020202020204" pitchFamily="34" charset="0"/>
              </a:rPr>
              <a:t>Yeni nesil sorular nedir?</a:t>
            </a:r>
          </a:p>
          <a:p>
            <a:endParaRPr lang="tr-TR" sz="1500" noProof="1">
              <a:cs typeface="Arial" panose="020B0604020202020204" pitchFamily="34" charset="0"/>
            </a:endParaRPr>
          </a:p>
          <a:p>
            <a:r>
              <a:rPr lang="tr-TR" sz="1000" noProof="1">
                <a:cs typeface="Arial" panose="020B0604020202020204" pitchFamily="34" charset="0"/>
              </a:rPr>
              <a:t>Yeni nesil sorular; analitik düşünme yeteneğini ölçen, anlamaya ve daha çok öğrencinin zamanını nasıl değerlendirip nasıl tutumlar izleyeceğini ölçen soru vasfıdır. </a:t>
            </a:r>
          </a:p>
        </p:txBody>
      </p:sp>
      <p:sp>
        <p:nvSpPr>
          <p:cNvPr id="58" name="Metin kutusu 57">
            <a:extLst>
              <a:ext uri="{FF2B5EF4-FFF2-40B4-BE49-F238E27FC236}">
                <a16:creationId xmlns:a16="http://schemas.microsoft.com/office/drawing/2014/main" id="{68DE1E1F-54F3-428C-A2CB-30EBB711C765}"/>
              </a:ext>
            </a:extLst>
          </p:cNvPr>
          <p:cNvSpPr txBox="1"/>
          <p:nvPr/>
        </p:nvSpPr>
        <p:spPr>
          <a:xfrm>
            <a:off x="3565429" y="746115"/>
            <a:ext cx="3292397" cy="861774"/>
          </a:xfrm>
          <a:prstGeom prst="rect">
            <a:avLst/>
          </a:prstGeom>
          <a:noFill/>
        </p:spPr>
        <p:txBody>
          <a:bodyPr wrap="square" rtlCol="0">
            <a:spAutoFit/>
          </a:bodyPr>
          <a:lstStyle/>
          <a:p>
            <a:r>
              <a:rPr lang="tr-TR" sz="1000" noProof="1">
                <a:cs typeface="Arial" panose="020B0604020202020204" pitchFamily="34" charset="0"/>
              </a:rPr>
              <a:t>Ahmet 2009 yılında 36 yaşındadır. 2023 yılında Berke ile aralarında 6 yaş farkı vardır.</a:t>
            </a:r>
          </a:p>
          <a:p>
            <a:endParaRPr lang="tr-TR" sz="1000" b="1" noProof="1">
              <a:cs typeface="Arial" panose="020B0604020202020204" pitchFamily="34" charset="0"/>
            </a:endParaRPr>
          </a:p>
          <a:p>
            <a:r>
              <a:rPr lang="tr-TR" sz="1000" b="1" noProof="1">
                <a:cs typeface="Arial" panose="020B0604020202020204" pitchFamily="34" charset="0"/>
              </a:rPr>
              <a:t>Ahmet Berke`den büyük olduğuna göre Berke 2009 yılında kaç yaşındadır?</a:t>
            </a:r>
          </a:p>
        </p:txBody>
      </p:sp>
      <p:sp>
        <p:nvSpPr>
          <p:cNvPr id="62" name="Metin kutusu 61">
            <a:extLst>
              <a:ext uri="{FF2B5EF4-FFF2-40B4-BE49-F238E27FC236}">
                <a16:creationId xmlns:a16="http://schemas.microsoft.com/office/drawing/2014/main" id="{759B6CB9-9D92-4946-A587-61FDABEEE24B}"/>
              </a:ext>
            </a:extLst>
          </p:cNvPr>
          <p:cNvSpPr txBox="1"/>
          <p:nvPr/>
        </p:nvSpPr>
        <p:spPr>
          <a:xfrm>
            <a:off x="3607086" y="4826999"/>
            <a:ext cx="3239626" cy="400110"/>
          </a:xfrm>
          <a:prstGeom prst="rect">
            <a:avLst/>
          </a:prstGeom>
          <a:noFill/>
        </p:spPr>
        <p:txBody>
          <a:bodyPr wrap="square" rtlCol="0">
            <a:spAutoFit/>
          </a:bodyPr>
          <a:lstStyle/>
          <a:p>
            <a:r>
              <a:rPr lang="tr-TR" sz="1000" b="1" noProof="1">
                <a:cs typeface="Arial" panose="020B0604020202020204" pitchFamily="34" charset="0"/>
              </a:rPr>
              <a:t>Levent, Sinan`dan 4 yaş büyüktür. Levent 2 yıl önce 18 yaşında ise Sinan bugün kaç yaşındadır?</a:t>
            </a:r>
            <a:endParaRPr lang="tr-TR" sz="1000" b="1" noProof="1">
              <a:latin typeface="Calibri (Gövde)"/>
              <a:cs typeface="Arial" panose="020B0604020202020204" pitchFamily="34" charset="0"/>
            </a:endParaRPr>
          </a:p>
        </p:txBody>
      </p:sp>
      <p:sp>
        <p:nvSpPr>
          <p:cNvPr id="66" name="Metin kutusu 65">
            <a:extLst>
              <a:ext uri="{FF2B5EF4-FFF2-40B4-BE49-F238E27FC236}">
                <a16:creationId xmlns:a16="http://schemas.microsoft.com/office/drawing/2014/main" id="{750034EE-15F3-4ABA-A1F5-5B9E9C2A5881}"/>
              </a:ext>
            </a:extLst>
          </p:cNvPr>
          <p:cNvSpPr txBox="1"/>
          <p:nvPr/>
        </p:nvSpPr>
        <p:spPr>
          <a:xfrm>
            <a:off x="3555448" y="7713183"/>
            <a:ext cx="3342903" cy="1015663"/>
          </a:xfrm>
          <a:prstGeom prst="rect">
            <a:avLst/>
          </a:prstGeom>
          <a:noFill/>
        </p:spPr>
        <p:txBody>
          <a:bodyPr wrap="square">
            <a:spAutoFit/>
          </a:bodyPr>
          <a:lstStyle/>
          <a:p>
            <a:r>
              <a:rPr lang="tr-TR" sz="1000" noProof="1">
                <a:cs typeface="Arial" panose="020B0604020202020204" pitchFamily="34" charset="0"/>
              </a:rPr>
              <a:t>Yaş farkı korunacaktır. Soruda ki 2 yıl önce ibaresi bugünden önce 2 yıl anlamına gelmektedir. Levent 2 yıl önce 18 yaşındaysa 2 yıl sonra yani bugün 20 yaşındadır. </a:t>
            </a:r>
          </a:p>
          <a:p>
            <a:endParaRPr lang="tr-TR" sz="1000" noProof="1">
              <a:cs typeface="Arial" panose="020B0604020202020204" pitchFamily="34" charset="0"/>
            </a:endParaRPr>
          </a:p>
          <a:p>
            <a:r>
              <a:rPr lang="tr-TR" sz="1000" noProof="1">
                <a:cs typeface="Arial" panose="020B0604020202020204" pitchFamily="34" charset="0"/>
              </a:rPr>
              <a:t>Sindan`dan 4 yaş büyük olduğu için Sinan bugün 16 yaşında olacaktır.</a:t>
            </a:r>
          </a:p>
        </p:txBody>
      </p:sp>
      <p:sp>
        <p:nvSpPr>
          <p:cNvPr id="48" name="Metin kutusu 47">
            <a:extLst>
              <a:ext uri="{FF2B5EF4-FFF2-40B4-BE49-F238E27FC236}">
                <a16:creationId xmlns:a16="http://schemas.microsoft.com/office/drawing/2014/main" id="{1AE75C75-F6D2-4500-B42E-77F746084937}"/>
              </a:ext>
            </a:extLst>
          </p:cNvPr>
          <p:cNvSpPr txBox="1"/>
          <p:nvPr/>
        </p:nvSpPr>
        <p:spPr>
          <a:xfrm>
            <a:off x="3551860" y="2957288"/>
            <a:ext cx="3292395" cy="1323439"/>
          </a:xfrm>
          <a:prstGeom prst="rect">
            <a:avLst/>
          </a:prstGeom>
          <a:noFill/>
        </p:spPr>
        <p:txBody>
          <a:bodyPr wrap="square" rtlCol="0">
            <a:spAutoFit/>
          </a:bodyPr>
          <a:lstStyle/>
          <a:p>
            <a:r>
              <a:rPr lang="tr-TR" sz="1000" noProof="1">
                <a:cs typeface="Arial" panose="020B0604020202020204" pitchFamily="34" charset="0"/>
              </a:rPr>
              <a:t>İki kişi arasındaki yaş farkı her zaman aynıdır. Çünkü herkes 1 yıl geçince 1 yaş büyümüş olur ve fark korunur. Dolayısıyla 2009 yılında da aralarında 6 yaş fark olacaktır.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Ahmet 2009 yılında 36 yaşında ise Berke Ahmet`den küçük olduğu bilgisine göre 30 yaşındadır. </a:t>
            </a:r>
            <a:r>
              <a:rPr lang="tr-TR" sz="1000" noProof="1">
                <a:cs typeface="Arial" panose="020B0604020202020204" pitchFamily="34" charset="0"/>
              </a:rPr>
              <a:t>Eğer soruda aralarında sadece 6 yaş fark vardır deseydi büyüklük bilgisi olmadığından Berke 42 veya 30 yaşında olabilirdi.</a:t>
            </a:r>
            <a:endParaRPr lang="tr-TR" sz="1000" b="1" noProof="1">
              <a:cs typeface="Arial" panose="020B0604020202020204" pitchFamily="34" charset="0"/>
            </a:endParaRPr>
          </a:p>
        </p:txBody>
      </p:sp>
    </p:spTree>
    <p:extLst>
      <p:ext uri="{BB962C8B-B14F-4D97-AF65-F5344CB8AC3E}">
        <p14:creationId xmlns:p14="http://schemas.microsoft.com/office/powerpoint/2010/main" val="1214735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ikdörtgen 73">
            <a:extLst>
              <a:ext uri="{FF2B5EF4-FFF2-40B4-BE49-F238E27FC236}">
                <a16:creationId xmlns:a16="http://schemas.microsoft.com/office/drawing/2014/main" id="{D4A6E881-C3C6-49A5-8178-A7C657E038CF}"/>
              </a:ext>
            </a:extLst>
          </p:cNvPr>
          <p:cNvSpPr/>
          <p:nvPr/>
        </p:nvSpPr>
        <p:spPr>
          <a:xfrm>
            <a:off x="3560676" y="431771"/>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89869" y="454209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831550" y="456064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40275" y="454209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32633" y="270246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18833" y="744183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519888" y="4553822"/>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12" name="Dikdörtgen 11">
            <a:extLst>
              <a:ext uri="{FF2B5EF4-FFF2-40B4-BE49-F238E27FC236}">
                <a16:creationId xmlns:a16="http://schemas.microsoft.com/office/drawing/2014/main" id="{22223916-FB5C-4E59-89BC-781052619A35}"/>
              </a:ext>
            </a:extLst>
          </p:cNvPr>
          <p:cNvSpPr/>
          <p:nvPr/>
        </p:nvSpPr>
        <p:spPr>
          <a:xfrm>
            <a:off x="59017" y="428302"/>
            <a:ext cx="3255556" cy="8357206"/>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132192" y="441820"/>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59017" y="711941"/>
            <a:ext cx="3255555" cy="553998"/>
          </a:xfrm>
          <a:prstGeom prst="rect">
            <a:avLst/>
          </a:prstGeom>
          <a:noFill/>
        </p:spPr>
        <p:txBody>
          <a:bodyPr wrap="square" rtlCol="0">
            <a:spAutoFit/>
          </a:bodyPr>
          <a:lstStyle/>
          <a:p>
            <a:r>
              <a:rPr lang="tr-TR" sz="1000" noProof="1">
                <a:cs typeface="Arial" panose="020B0604020202020204" pitchFamily="34" charset="0"/>
              </a:rPr>
              <a:t>Yaş problemleri, hemen hemen her sınavda hatta yarışmalarda bile oldukça sorulan işleme, anlamaya dayalı, diyaloglu problemlerden oluşmaktadır. Konu Anlatımımız : </a:t>
            </a:r>
          </a:p>
        </p:txBody>
      </p:sp>
      <p:sp>
        <p:nvSpPr>
          <p:cNvPr id="58" name="Metin kutusu 57">
            <a:extLst>
              <a:ext uri="{FF2B5EF4-FFF2-40B4-BE49-F238E27FC236}">
                <a16:creationId xmlns:a16="http://schemas.microsoft.com/office/drawing/2014/main" id="{68DE1E1F-54F3-428C-A2CB-30EBB711C765}"/>
              </a:ext>
            </a:extLst>
          </p:cNvPr>
          <p:cNvSpPr txBox="1"/>
          <p:nvPr/>
        </p:nvSpPr>
        <p:spPr>
          <a:xfrm>
            <a:off x="3565603" y="731692"/>
            <a:ext cx="3292397" cy="861774"/>
          </a:xfrm>
          <a:prstGeom prst="rect">
            <a:avLst/>
          </a:prstGeom>
          <a:noFill/>
        </p:spPr>
        <p:txBody>
          <a:bodyPr wrap="square" rtlCol="0">
            <a:spAutoFit/>
          </a:bodyPr>
          <a:lstStyle/>
          <a:p>
            <a:r>
              <a:rPr lang="tr-TR" sz="1000" noProof="1">
                <a:cs typeface="Arial" panose="020B0604020202020204" pitchFamily="34" charset="0"/>
              </a:rPr>
              <a:t>Ahmet 2009 yılında 36 yaşındadır. 2023 yılında Berke ile aralarında 6 yaş farkı vardır.</a:t>
            </a:r>
          </a:p>
          <a:p>
            <a:endParaRPr lang="tr-TR" sz="1000" b="1" noProof="1">
              <a:cs typeface="Arial" panose="020B0604020202020204" pitchFamily="34" charset="0"/>
            </a:endParaRPr>
          </a:p>
          <a:p>
            <a:r>
              <a:rPr lang="tr-TR" sz="1000" b="1" noProof="1">
                <a:cs typeface="Arial" panose="020B0604020202020204" pitchFamily="34" charset="0"/>
              </a:rPr>
              <a:t>Ahmet Berke`den büyük olduğuna göre Berke 2009 yılında kaç yaşındadır?</a:t>
            </a:r>
          </a:p>
        </p:txBody>
      </p:sp>
      <p:sp>
        <p:nvSpPr>
          <p:cNvPr id="62" name="Metin kutusu 61">
            <a:extLst>
              <a:ext uri="{FF2B5EF4-FFF2-40B4-BE49-F238E27FC236}">
                <a16:creationId xmlns:a16="http://schemas.microsoft.com/office/drawing/2014/main" id="{759B6CB9-9D92-4946-A587-61FDABEEE24B}"/>
              </a:ext>
            </a:extLst>
          </p:cNvPr>
          <p:cNvSpPr txBox="1"/>
          <p:nvPr/>
        </p:nvSpPr>
        <p:spPr>
          <a:xfrm>
            <a:off x="3593990" y="4790942"/>
            <a:ext cx="3239626" cy="707886"/>
          </a:xfrm>
          <a:prstGeom prst="rect">
            <a:avLst/>
          </a:prstGeom>
          <a:noFill/>
        </p:spPr>
        <p:txBody>
          <a:bodyPr wrap="square" rtlCol="0">
            <a:spAutoFit/>
          </a:bodyPr>
          <a:lstStyle/>
          <a:p>
            <a:r>
              <a:rPr lang="tr-TR" sz="1000" b="1" noProof="1">
                <a:cs typeface="Arial" panose="020B0604020202020204" pitchFamily="34" charset="0"/>
              </a:rPr>
              <a:t>Levent, Sinan`dan 4 yaş büyüktür. Levent 2 yıl önce 18 yaşında ise Sinan bugün kaç yaşındadır?</a:t>
            </a:r>
          </a:p>
          <a:p>
            <a:endParaRPr lang="tr-TR" sz="1000" b="1" noProof="1">
              <a:latin typeface="Calibri (Gövde)"/>
              <a:cs typeface="Arial" panose="020B0604020202020204" pitchFamily="34" charset="0"/>
            </a:endParaRPr>
          </a:p>
          <a:p>
            <a:endParaRPr lang="tr-TR" sz="1000" b="1" noProof="1">
              <a:latin typeface="Calibri (Gövde)"/>
              <a:cs typeface="Arial" panose="020B0604020202020204" pitchFamily="34" charset="0"/>
            </a:endParaRPr>
          </a:p>
        </p:txBody>
      </p:sp>
      <p:sp>
        <p:nvSpPr>
          <p:cNvPr id="66" name="Metin kutusu 65">
            <a:extLst>
              <a:ext uri="{FF2B5EF4-FFF2-40B4-BE49-F238E27FC236}">
                <a16:creationId xmlns:a16="http://schemas.microsoft.com/office/drawing/2014/main" id="{750034EE-15F3-4ABA-A1F5-5B9E9C2A5881}"/>
              </a:ext>
            </a:extLst>
          </p:cNvPr>
          <p:cNvSpPr txBox="1"/>
          <p:nvPr/>
        </p:nvSpPr>
        <p:spPr>
          <a:xfrm>
            <a:off x="3555449" y="7713183"/>
            <a:ext cx="3278168" cy="1015663"/>
          </a:xfrm>
          <a:prstGeom prst="rect">
            <a:avLst/>
          </a:prstGeom>
          <a:noFill/>
        </p:spPr>
        <p:txBody>
          <a:bodyPr wrap="square">
            <a:spAutoFit/>
          </a:bodyPr>
          <a:lstStyle/>
          <a:p>
            <a:r>
              <a:rPr lang="tr-TR" sz="1000" noProof="1">
                <a:cs typeface="Arial" panose="020B0604020202020204" pitchFamily="34" charset="0"/>
              </a:rPr>
              <a:t>Yaş farkı korunacaktır. Soruda ki 2 yıl önce ibaresi bugünden önce 2 yıl anlamına gelmektedir. Levent 2 yıl önce 18 yaşındaysa 2 yıl sonra yani bugün 20 yaşındadır. </a:t>
            </a:r>
          </a:p>
          <a:p>
            <a:endParaRPr lang="tr-TR" sz="1000" noProof="1">
              <a:cs typeface="Arial" panose="020B0604020202020204" pitchFamily="34" charset="0"/>
            </a:endParaRPr>
          </a:p>
          <a:p>
            <a:r>
              <a:rPr lang="tr-TR" sz="1000" b="1" noProof="1">
                <a:cs typeface="Arial" panose="020B0604020202020204" pitchFamily="34" charset="0"/>
              </a:rPr>
              <a:t>Levent Sinandan`dan 4 yaş büyük olduğu için Sinan bugün 16 yaşında olacaktır.</a:t>
            </a:r>
          </a:p>
        </p:txBody>
      </p:sp>
      <p:sp>
        <p:nvSpPr>
          <p:cNvPr id="48" name="Metin kutusu 47">
            <a:extLst>
              <a:ext uri="{FF2B5EF4-FFF2-40B4-BE49-F238E27FC236}">
                <a16:creationId xmlns:a16="http://schemas.microsoft.com/office/drawing/2014/main" id="{1AE75C75-F6D2-4500-B42E-77F746084937}"/>
              </a:ext>
            </a:extLst>
          </p:cNvPr>
          <p:cNvSpPr txBox="1"/>
          <p:nvPr/>
        </p:nvSpPr>
        <p:spPr>
          <a:xfrm>
            <a:off x="3551860" y="2957288"/>
            <a:ext cx="3292395" cy="1323439"/>
          </a:xfrm>
          <a:prstGeom prst="rect">
            <a:avLst/>
          </a:prstGeom>
          <a:noFill/>
        </p:spPr>
        <p:txBody>
          <a:bodyPr wrap="square" rtlCol="0">
            <a:spAutoFit/>
          </a:bodyPr>
          <a:lstStyle/>
          <a:p>
            <a:r>
              <a:rPr lang="tr-TR" sz="1000" noProof="1">
                <a:cs typeface="Arial" panose="020B0604020202020204" pitchFamily="34" charset="0"/>
              </a:rPr>
              <a:t>İki kişi arasındaki yaş farkı her zaman aynıdır. Çünkü herkes 1 yıl geçince 1 yaş büyümüş olur ve fark korunur. Dolayısıyla 2009 yılında da aralarında 6 yaş fark olacaktır.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Ahmet 2009 yılında 36 yaşında ise Berke Ahmet`den küçük olduğu bilgisine göre 30 yaşındadır. </a:t>
            </a:r>
            <a:r>
              <a:rPr lang="tr-TR" sz="1000" noProof="1">
                <a:cs typeface="Arial" panose="020B0604020202020204" pitchFamily="34" charset="0"/>
              </a:rPr>
              <a:t>Eğer soruda aralarında sadece 6 yaş fark vardır deseydi büyüklük bilgisi olmadığından Berke 42 veya 30 yaşında olabilirdi.</a:t>
            </a:r>
            <a:endParaRPr lang="tr-TR" sz="1000" b="1" noProof="1">
              <a:cs typeface="Arial" panose="020B0604020202020204" pitchFamily="34" charset="0"/>
            </a:endParaRPr>
          </a:p>
        </p:txBody>
      </p:sp>
      <p:sp>
        <p:nvSpPr>
          <p:cNvPr id="10" name="Dikdörtgen 9">
            <a:extLst>
              <a:ext uri="{FF2B5EF4-FFF2-40B4-BE49-F238E27FC236}">
                <a16:creationId xmlns:a16="http://schemas.microsoft.com/office/drawing/2014/main" id="{A486474E-8B88-482A-9D98-99B67CB9AFBF}"/>
              </a:ext>
            </a:extLst>
          </p:cNvPr>
          <p:cNvSpPr/>
          <p:nvPr/>
        </p:nvSpPr>
        <p:spPr>
          <a:xfrm>
            <a:off x="125097" y="1310143"/>
            <a:ext cx="3118411" cy="7392038"/>
          </a:xfrm>
          <a:custGeom>
            <a:avLst/>
            <a:gdLst>
              <a:gd name="connsiteX0" fmla="*/ 0 w 2978385"/>
              <a:gd name="connsiteY0" fmla="*/ 0 h 7077712"/>
              <a:gd name="connsiteX1" fmla="*/ 2978385 w 2978385"/>
              <a:gd name="connsiteY1" fmla="*/ 0 h 7077712"/>
              <a:gd name="connsiteX2" fmla="*/ 2978385 w 2978385"/>
              <a:gd name="connsiteY2" fmla="*/ 7077712 h 7077712"/>
              <a:gd name="connsiteX3" fmla="*/ 0 w 2978385"/>
              <a:gd name="connsiteY3" fmla="*/ 7077712 h 7077712"/>
              <a:gd name="connsiteX4" fmla="*/ 0 w 2978385"/>
              <a:gd name="connsiteY4" fmla="*/ 0 h 7077712"/>
              <a:gd name="connsiteX0" fmla="*/ 0 w 2978385"/>
              <a:gd name="connsiteY0" fmla="*/ 0 h 7382512"/>
              <a:gd name="connsiteX1" fmla="*/ 2978385 w 2978385"/>
              <a:gd name="connsiteY1" fmla="*/ 0 h 7382512"/>
              <a:gd name="connsiteX2" fmla="*/ 2978385 w 2978385"/>
              <a:gd name="connsiteY2" fmla="*/ 7077712 h 7382512"/>
              <a:gd name="connsiteX3" fmla="*/ 0 w 2978385"/>
              <a:gd name="connsiteY3" fmla="*/ 7077712 h 7382512"/>
              <a:gd name="connsiteX4" fmla="*/ 0 w 2978385"/>
              <a:gd name="connsiteY4" fmla="*/ 0 h 7382512"/>
              <a:gd name="connsiteX0" fmla="*/ 0 w 2978385"/>
              <a:gd name="connsiteY0" fmla="*/ 0 h 7510541"/>
              <a:gd name="connsiteX1" fmla="*/ 2978385 w 2978385"/>
              <a:gd name="connsiteY1" fmla="*/ 0 h 7510541"/>
              <a:gd name="connsiteX2" fmla="*/ 2978385 w 2978385"/>
              <a:gd name="connsiteY2" fmla="*/ 7077712 h 7510541"/>
              <a:gd name="connsiteX3" fmla="*/ 0 w 2978385"/>
              <a:gd name="connsiteY3" fmla="*/ 7077712 h 7510541"/>
              <a:gd name="connsiteX4" fmla="*/ 0 w 2978385"/>
              <a:gd name="connsiteY4" fmla="*/ 0 h 7510541"/>
              <a:gd name="connsiteX0" fmla="*/ 0 w 2991085"/>
              <a:gd name="connsiteY0" fmla="*/ 0 h 7503317"/>
              <a:gd name="connsiteX1" fmla="*/ 2978385 w 2991085"/>
              <a:gd name="connsiteY1" fmla="*/ 0 h 7503317"/>
              <a:gd name="connsiteX2" fmla="*/ 2991085 w 2991085"/>
              <a:gd name="connsiteY2" fmla="*/ 7065012 h 7503317"/>
              <a:gd name="connsiteX3" fmla="*/ 0 w 2991085"/>
              <a:gd name="connsiteY3" fmla="*/ 7077712 h 7503317"/>
              <a:gd name="connsiteX4" fmla="*/ 0 w 2991085"/>
              <a:gd name="connsiteY4" fmla="*/ 0 h 750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085" h="7503317">
                <a:moveTo>
                  <a:pt x="0" y="0"/>
                </a:moveTo>
                <a:lnTo>
                  <a:pt x="2978385" y="0"/>
                </a:lnTo>
                <a:cubicBezTo>
                  <a:pt x="2982618" y="2355004"/>
                  <a:pt x="2986852" y="4710008"/>
                  <a:pt x="2991085" y="7065012"/>
                </a:cubicBezTo>
                <a:cubicBezTo>
                  <a:pt x="1490290" y="7750812"/>
                  <a:pt x="21245" y="7534912"/>
                  <a:pt x="0" y="7077712"/>
                </a:cubicBezTo>
                <a:lnTo>
                  <a:pt x="0" y="0"/>
                </a:lnTo>
                <a:close/>
              </a:path>
            </a:pathLst>
          </a:cu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15" name="Rectangle 1">
            <a:extLst>
              <a:ext uri="{FF2B5EF4-FFF2-40B4-BE49-F238E27FC236}">
                <a16:creationId xmlns:a16="http://schemas.microsoft.com/office/drawing/2014/main" id="{A88D2AA8-059B-45CA-A44E-B4EFAAE5B4C3}"/>
              </a:ext>
            </a:extLst>
          </p:cNvPr>
          <p:cNvSpPr>
            <a:spLocks noChangeArrowheads="1"/>
          </p:cNvSpPr>
          <p:nvPr/>
        </p:nvSpPr>
        <p:spPr bwMode="auto">
          <a:xfrm>
            <a:off x="3929458" y="5597772"/>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tr-TR" altLang="tr-TR" sz="1800" b="0" i="0" u="none" strike="noStrike" cap="none" normalizeH="0" baseline="0">
                <a:ln>
                  <a:noFill/>
                </a:ln>
                <a:solidFill>
                  <a:schemeClr val="tx1"/>
                </a:solidFill>
                <a:effectLst/>
                <a:latin typeface="Arial" panose="020B0604020202020204" pitchFamily="34" charset="0"/>
              </a:rPr>
            </a:br>
            <a:endParaRPr kumimoji="0" lang="tr-TR" altLang="tr-TR"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42" name="Metin kutusu 41">
                <a:extLst>
                  <a:ext uri="{FF2B5EF4-FFF2-40B4-BE49-F238E27FC236}">
                    <a16:creationId xmlns:a16="http://schemas.microsoft.com/office/drawing/2014/main" id="{BCDF6D71-E7D1-4603-97F0-7681D036FE16}"/>
                  </a:ext>
                </a:extLst>
              </p:cNvPr>
              <p:cNvSpPr txBox="1"/>
              <p:nvPr/>
            </p:nvSpPr>
            <p:spPr>
              <a:xfrm>
                <a:off x="109954" y="1302276"/>
                <a:ext cx="3109210" cy="7290265"/>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chemeClr val="tx1"/>
                    </a:solidFill>
                    <a:cs typeface="Arial" panose="020B0604020202020204" pitchFamily="34" charset="0"/>
                  </a:rPr>
                  <a:t>Bir kişinin yaşı doğal sayıdır. </a:t>
                </a:r>
              </a:p>
              <a:p>
                <a:pPr marL="171450" indent="-171450">
                  <a:buFont typeface="Wingdings" panose="05000000000000000000" pitchFamily="2" charset="2"/>
                  <a:buChar char="q"/>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q"/>
                </a:pPr>
                <a:r>
                  <a:rPr lang="tr-TR" sz="1000" noProof="1">
                    <a:solidFill>
                      <a:schemeClr val="tx1"/>
                    </a:solidFill>
                    <a:cs typeface="Arial" panose="020B0604020202020204" pitchFamily="34" charset="0"/>
                  </a:rPr>
                  <a:t>Problemlerde gün gibi detaylara yer verilmez. Doğal sayılar 0 da dahil olmak üzere pozitif tam sayılardır. Yaşlar negatif olamaz.</a:t>
                </a:r>
              </a:p>
              <a:p>
                <a:pPr marL="171450" indent="-171450">
                  <a:buFont typeface="Wingdings" panose="05000000000000000000" pitchFamily="2" charset="2"/>
                  <a:buChar char="q"/>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q"/>
                </a:pPr>
                <a:r>
                  <a:rPr lang="tr-TR" sz="1000" noProof="1">
                    <a:solidFill>
                      <a:schemeClr val="tx1"/>
                    </a:solidFill>
                    <a:cs typeface="Arial" panose="020B0604020202020204" pitchFamily="34" charset="0"/>
                  </a:rPr>
                  <a:t>Bir kimse doğduğunda 0 yaşında kabul edilir. </a:t>
                </a:r>
              </a:p>
              <a:p>
                <a:pPr marL="171450" indent="-171450">
                  <a:buFont typeface="Wingdings" panose="05000000000000000000" pitchFamily="2" charset="2"/>
                  <a:buChar char="q"/>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q"/>
                </a:pPr>
                <a:r>
                  <a:rPr lang="tr-TR" sz="1000" noProof="1">
                    <a:solidFill>
                      <a:schemeClr val="tx1"/>
                    </a:solidFill>
                    <a:cs typeface="Arial" panose="020B0604020202020204" pitchFamily="34" charset="0"/>
                  </a:rPr>
                  <a:t>Yaşlar farkı iki kişi arasında daima sabittir. Seneden seneye değişmez. Çünkü iki kişide 1 yılda 1 yaş büyürler ve arada bir fark oluşmaz.</a:t>
                </a:r>
              </a:p>
              <a:p>
                <a:pPr marL="171450" indent="-171450">
                  <a:buFont typeface="Wingdings" panose="05000000000000000000" pitchFamily="2" charset="2"/>
                  <a:buChar char="q"/>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q"/>
                </a:pPr>
                <a:r>
                  <a:rPr lang="tr-TR" sz="1000" noProof="1">
                    <a:solidFill>
                      <a:schemeClr val="tx1"/>
                    </a:solidFill>
                    <a:cs typeface="Arial" panose="020B0604020202020204" pitchFamily="34" charset="0"/>
                  </a:rPr>
                  <a:t>Günümüzde genellikle insanların yaşları iki basamaklı olduğundan sorular sayı basamaklarıyla ilişkili olabilir.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solidFill>
                      <a:schemeClr val="tx1"/>
                    </a:solidFill>
                    <a:cs typeface="Arial" panose="020B0604020202020204" pitchFamily="34" charset="0"/>
                  </a:rPr>
                  <a:t>Problemlerdeki kişilerin aksi ifade edilmedikçe hayatlarının devam edeceği kabul edilir.</a:t>
                </a:r>
              </a:p>
              <a:p>
                <a:pPr marL="171450" indent="-171450">
                  <a:buFont typeface="Wingdings" panose="05000000000000000000" pitchFamily="2" charset="2"/>
                  <a:buChar char="q"/>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Ø"/>
                </a:pPr>
                <a:r>
                  <a:rPr lang="tr-TR" sz="1000" b="1" noProof="1">
                    <a:solidFill>
                      <a:schemeClr val="tx1"/>
                    </a:solidFill>
                    <a:cs typeface="Arial" panose="020B0604020202020204" pitchFamily="34" charset="0"/>
                  </a:rPr>
                  <a:t>a,b,x </a:t>
                </a:r>
                <a14:m>
                  <m:oMath xmlns:m="http://schemas.openxmlformats.org/officeDocument/2006/math">
                    <m:r>
                      <a:rPr lang="tr-TR" sz="1000" b="1" i="1" noProof="1" smtClean="0">
                        <a:solidFill>
                          <a:schemeClr val="tx1"/>
                        </a:solidFill>
                        <a:latin typeface="Cambria Math" panose="02040503050406030204" pitchFamily="18" charset="0"/>
                        <a:ea typeface="Cambria Math" panose="02040503050406030204" pitchFamily="18" charset="0"/>
                      </a:rPr>
                      <m:t>∈</m:t>
                    </m:r>
                    <m:r>
                      <a:rPr lang="tr-TR" sz="1000" b="1" i="1" noProof="1" smtClean="0">
                        <a:solidFill>
                          <a:schemeClr val="tx1"/>
                        </a:solidFill>
                        <a:latin typeface="Cambria Math" panose="02040503050406030204" pitchFamily="18" charset="0"/>
                      </a:rPr>
                      <m:t>ℕ</m:t>
                    </m:r>
                  </m:oMath>
                </a14:m>
                <a:r>
                  <a:rPr lang="tr-TR" sz="1000" b="1" noProof="1">
                    <a:solidFill>
                      <a:schemeClr val="tx1"/>
                    </a:solidFill>
                    <a:cs typeface="Arial" panose="020B0604020202020204" pitchFamily="34" charset="0"/>
                  </a:rPr>
                  <a:t> olmak üzere uygun koşullarda ;</a:t>
                </a:r>
              </a:p>
              <a:p>
                <a:pPr marL="171450" indent="-171450">
                  <a:buFont typeface="Wingdings" panose="05000000000000000000" pitchFamily="2" charset="2"/>
                  <a:buChar char="v"/>
                </a:pPr>
                <a:endParaRPr lang="tr-TR" sz="1000" b="1" noProof="1">
                  <a:solidFill>
                    <a:schemeClr val="tx1"/>
                  </a:solidFill>
                  <a:cs typeface="Arial" panose="020B0604020202020204" pitchFamily="34" charset="0"/>
                </a:endParaRPr>
              </a:p>
              <a:p>
                <a:pPr marL="171450" indent="-171450">
                  <a:buFont typeface="Wingdings" panose="05000000000000000000" pitchFamily="2" charset="2"/>
                  <a:buChar char="v"/>
                </a:pPr>
                <a:r>
                  <a:rPr lang="tr-TR" sz="1000" b="1" noProof="1">
                    <a:solidFill>
                      <a:schemeClr val="tx1"/>
                    </a:solidFill>
                    <a:cs typeface="Arial" panose="020B0604020202020204" pitchFamily="34" charset="0"/>
                  </a:rPr>
                  <a:t>Bir kişi a yaşında ise </a:t>
                </a:r>
              </a:p>
              <a:p>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x yıl önceki yaşı a-x olur.</a:t>
                </a:r>
              </a:p>
              <a:p>
                <a:r>
                  <a:rPr lang="tr-TR" sz="1000" noProof="1">
                    <a:solidFill>
                      <a:schemeClr val="tx1"/>
                    </a:solidFill>
                    <a:cs typeface="Arial" panose="020B0604020202020204" pitchFamily="34" charset="0"/>
                  </a:rPr>
                  <a:t>x yıl sonraki yaşı a+x olur.</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v"/>
                </a:pPr>
                <a:r>
                  <a:rPr lang="tr-TR" sz="1000" b="1" noProof="1">
                    <a:solidFill>
                      <a:schemeClr val="tx1"/>
                    </a:solidFill>
                    <a:cs typeface="Arial" panose="020B0604020202020204" pitchFamily="34" charset="0"/>
                  </a:rPr>
                  <a:t>Yaşlar toplamı a olan x kişinin </a:t>
                </a:r>
              </a:p>
              <a:p>
                <a:endParaRPr lang="tr-TR" sz="1000" b="1"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b yıl önceki yaşlar toplamı a –  (x </a:t>
                </a:r>
                <a14:m>
                  <m:oMath xmlns:m="http://schemas.openxmlformats.org/officeDocument/2006/math">
                    <m:r>
                      <a:rPr lang="tr-TR" sz="1000" b="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solidFill>
                      <a:schemeClr val="tx1"/>
                    </a:solidFill>
                    <a:cs typeface="Arial" panose="020B0604020202020204" pitchFamily="34" charset="0"/>
                  </a:rPr>
                  <a:t> b)</a:t>
                </a:r>
              </a:p>
              <a:p>
                <a:r>
                  <a:rPr lang="tr-TR" sz="1000" noProof="1">
                    <a:solidFill>
                      <a:schemeClr val="tx1"/>
                    </a:solidFill>
                    <a:cs typeface="Arial" panose="020B0604020202020204" pitchFamily="34" charset="0"/>
                  </a:rPr>
                  <a:t>b yıl sonraki yaşlar toplamı a +  (x </a:t>
                </a:r>
                <a14:m>
                  <m:oMath xmlns:m="http://schemas.openxmlformats.org/officeDocument/2006/math">
                    <m:r>
                      <a:rPr lang="tr-TR" sz="1000" b="0" i="1" noProof="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oMath>
                </a14:m>
                <a:r>
                  <a:rPr lang="tr-TR" sz="1000" noProof="1">
                    <a:solidFill>
                      <a:schemeClr val="tx1"/>
                    </a:solidFill>
                    <a:cs typeface="Arial" panose="020B0604020202020204" pitchFamily="34" charset="0"/>
                  </a:rPr>
                  <a:t>b)</a:t>
                </a:r>
              </a:p>
              <a:p>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v"/>
                </a:pPr>
                <a:r>
                  <a:rPr lang="tr-TR" sz="1000" noProof="1">
                    <a:solidFill>
                      <a:schemeClr val="tx1"/>
                    </a:solidFill>
                    <a:cs typeface="Arial" panose="020B0604020202020204" pitchFamily="34" charset="0"/>
                  </a:rPr>
                  <a:t> </a:t>
                </a:r>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rPr>
                          <m:t>ya</m:t>
                        </m:r>
                        <m:r>
                          <m:rPr>
                            <m:nor/>
                          </m:rPr>
                          <a:rPr lang="tr-TR" sz="1000" b="0" i="0" noProof="1" smtClean="0">
                            <a:solidFill>
                              <a:schemeClr val="tx1"/>
                            </a:solidFill>
                          </a:rPr>
                          <m:t>ş</m:t>
                        </m:r>
                        <m:r>
                          <m:rPr>
                            <m:nor/>
                          </m:rPr>
                          <a:rPr lang="tr-TR" sz="1000" b="0" i="0" noProof="1" smtClean="0">
                            <a:solidFill>
                              <a:schemeClr val="tx1"/>
                            </a:solidFill>
                          </a:rPr>
                          <m:t>lar</m:t>
                        </m:r>
                        <m:r>
                          <m:rPr>
                            <m:nor/>
                          </m:rPr>
                          <a:rPr lang="tr-TR" sz="1000" b="0" i="0" noProof="1" smtClean="0">
                            <a:solidFill>
                              <a:schemeClr val="tx1"/>
                            </a:solidFill>
                          </a:rPr>
                          <m:t> </m:t>
                        </m:r>
                        <m:r>
                          <m:rPr>
                            <m:nor/>
                          </m:rPr>
                          <a:rPr lang="tr-TR" sz="1000" b="0" i="0" noProof="1" smtClean="0">
                            <a:solidFill>
                              <a:schemeClr val="tx1"/>
                            </a:solidFill>
                          </a:rPr>
                          <m:t>toplam</m:t>
                        </m:r>
                        <m:r>
                          <m:rPr>
                            <m:nor/>
                          </m:rPr>
                          <a:rPr lang="tr-TR" sz="1000" b="0" i="0" noProof="1" smtClean="0">
                            <a:solidFill>
                              <a:schemeClr val="tx1"/>
                            </a:solidFill>
                          </a:rPr>
                          <m:t>ı</m:t>
                        </m:r>
                      </m:num>
                      <m:den>
                        <m:r>
                          <m:rPr>
                            <m:nor/>
                          </m:rPr>
                          <a:rPr lang="tr-TR" sz="1000" b="0" i="0" noProof="1" smtClean="0">
                            <a:solidFill>
                              <a:schemeClr val="tx1"/>
                            </a:solidFill>
                          </a:rPr>
                          <m:t>ki</m:t>
                        </m:r>
                        <m:r>
                          <m:rPr>
                            <m:nor/>
                          </m:rPr>
                          <a:rPr lang="tr-TR" sz="1000" b="0" i="0" noProof="1" smtClean="0">
                            <a:solidFill>
                              <a:schemeClr val="tx1"/>
                            </a:solidFill>
                          </a:rPr>
                          <m:t>ş</m:t>
                        </m:r>
                        <m:r>
                          <m:rPr>
                            <m:nor/>
                          </m:rPr>
                          <a:rPr lang="tr-TR" sz="1000" b="0" i="0" noProof="1" smtClean="0">
                            <a:solidFill>
                              <a:schemeClr val="tx1"/>
                            </a:solidFill>
                          </a:rPr>
                          <m:t>i</m:t>
                        </m:r>
                        <m:r>
                          <m:rPr>
                            <m:nor/>
                          </m:rPr>
                          <a:rPr lang="tr-TR" sz="1000" b="0" i="0" noProof="1" smtClean="0">
                            <a:solidFill>
                              <a:schemeClr val="tx1"/>
                            </a:solidFill>
                          </a:rPr>
                          <m:t> </m:t>
                        </m:r>
                        <m:r>
                          <m:rPr>
                            <m:nor/>
                          </m:rPr>
                          <a:rPr lang="tr-TR" sz="1000" b="0" i="0" noProof="1" smtClean="0">
                            <a:solidFill>
                              <a:schemeClr val="tx1"/>
                            </a:solidFill>
                          </a:rPr>
                          <m:t>say</m:t>
                        </m:r>
                        <m:r>
                          <m:rPr>
                            <m:nor/>
                          </m:rPr>
                          <a:rPr lang="tr-TR" sz="1000" b="0" i="0" noProof="1" smtClean="0">
                            <a:solidFill>
                              <a:schemeClr val="tx1"/>
                            </a:solidFill>
                          </a:rPr>
                          <m:t>ı</m:t>
                        </m:r>
                        <m:r>
                          <m:rPr>
                            <m:nor/>
                          </m:rPr>
                          <a:rPr lang="tr-TR" sz="1000" b="0" i="0" noProof="1" smtClean="0">
                            <a:solidFill>
                              <a:schemeClr val="tx1"/>
                            </a:solidFill>
                          </a:rPr>
                          <m:t>s</m:t>
                        </m:r>
                        <m:r>
                          <m:rPr>
                            <m:nor/>
                          </m:rPr>
                          <a:rPr lang="tr-TR" sz="1000" b="0" i="0" noProof="1" smtClean="0">
                            <a:solidFill>
                              <a:schemeClr val="tx1"/>
                            </a:solidFill>
                          </a:rPr>
                          <m:t>ı</m:t>
                        </m:r>
                      </m:den>
                    </m:f>
                  </m:oMath>
                </a14:m>
                <a:r>
                  <a:rPr lang="tr-TR" sz="1000" noProof="1">
                    <a:solidFill>
                      <a:schemeClr val="tx1"/>
                    </a:solidFill>
                    <a:cs typeface="Arial" panose="020B0604020202020204" pitchFamily="34" charset="0"/>
                  </a:rPr>
                  <a:t> = yaşların aritmetik ortalaması</a:t>
                </a:r>
              </a:p>
              <a:p>
                <a:pPr marL="171450" indent="-171450">
                  <a:buFont typeface="Wingdings" panose="05000000000000000000" pitchFamily="2" charset="2"/>
                  <a:buChar char="v"/>
                </a:pPr>
                <a:endParaRPr lang="tr-TR" sz="1000" noProof="1">
                  <a:cs typeface="Arial" panose="020B0604020202020204" pitchFamily="34" charset="0"/>
                </a:endParaRPr>
              </a:p>
              <a:p>
                <a:pPr marL="171450" indent="-171450">
                  <a:buFont typeface="Wingdings" panose="05000000000000000000" pitchFamily="2" charset="2"/>
                  <a:buChar char="v"/>
                </a:pPr>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rPr>
                          <m:t>ya</m:t>
                        </m:r>
                        <m:r>
                          <m:rPr>
                            <m:nor/>
                          </m:rPr>
                          <a:rPr lang="tr-TR" sz="1000" b="0" i="0" noProof="1" smtClean="0">
                            <a:solidFill>
                              <a:schemeClr val="tx1"/>
                            </a:solidFill>
                          </a:rPr>
                          <m:t>ş</m:t>
                        </m:r>
                        <m:r>
                          <m:rPr>
                            <m:nor/>
                          </m:rPr>
                          <a:rPr lang="tr-TR" sz="1000" b="0" i="0" noProof="1" smtClean="0">
                            <a:solidFill>
                              <a:schemeClr val="tx1"/>
                            </a:solidFill>
                          </a:rPr>
                          <m:t>lar</m:t>
                        </m:r>
                        <m:r>
                          <m:rPr>
                            <m:nor/>
                          </m:rPr>
                          <a:rPr lang="tr-TR" sz="1000" b="0" i="0" noProof="1" smtClean="0">
                            <a:solidFill>
                              <a:schemeClr val="tx1"/>
                            </a:solidFill>
                          </a:rPr>
                          <m:t> </m:t>
                        </m:r>
                        <m:r>
                          <m:rPr>
                            <m:nor/>
                          </m:rPr>
                          <a:rPr lang="tr-TR" sz="1000" b="0" i="0" noProof="1" smtClean="0">
                            <a:solidFill>
                              <a:schemeClr val="tx1"/>
                            </a:solidFill>
                          </a:rPr>
                          <m:t>toplam</m:t>
                        </m:r>
                        <m:r>
                          <m:rPr>
                            <m:nor/>
                          </m:rPr>
                          <a:rPr lang="tr-TR" sz="1000" b="0" i="0" noProof="1" smtClean="0">
                            <a:solidFill>
                              <a:schemeClr val="tx1"/>
                            </a:solidFill>
                          </a:rPr>
                          <m:t>ı</m:t>
                        </m:r>
                      </m:num>
                      <m:den>
                        <m:r>
                          <m:rPr>
                            <m:nor/>
                          </m:rPr>
                          <a:rPr lang="tr-TR" sz="1000" noProof="1">
                            <a:cs typeface="Arial" panose="020B0604020202020204" pitchFamily="34" charset="0"/>
                          </a:rPr>
                          <m:t>ya</m:t>
                        </m:r>
                        <m:r>
                          <m:rPr>
                            <m:nor/>
                          </m:rPr>
                          <a:rPr lang="tr-TR" sz="1000" noProof="1">
                            <a:cs typeface="Arial" panose="020B0604020202020204" pitchFamily="34" charset="0"/>
                          </a:rPr>
                          <m:t>ş</m:t>
                        </m:r>
                        <m:r>
                          <m:rPr>
                            <m:nor/>
                          </m:rPr>
                          <a:rPr lang="tr-TR" sz="1000" noProof="1">
                            <a:cs typeface="Arial" panose="020B0604020202020204" pitchFamily="34" charset="0"/>
                          </a:rPr>
                          <m:t>lar</m:t>
                        </m:r>
                        <m:r>
                          <m:rPr>
                            <m:nor/>
                          </m:rPr>
                          <a:rPr lang="tr-TR" sz="1000" noProof="1">
                            <a:cs typeface="Arial" panose="020B0604020202020204" pitchFamily="34" charset="0"/>
                          </a:rPr>
                          <m:t>ı</m:t>
                        </m:r>
                        <m:r>
                          <m:rPr>
                            <m:nor/>
                          </m:rPr>
                          <a:rPr lang="tr-TR" sz="1000" noProof="1">
                            <a:cs typeface="Arial" panose="020B0604020202020204" pitchFamily="34" charset="0"/>
                          </a:rPr>
                          <m:t>n</m:t>
                        </m:r>
                        <m:r>
                          <m:rPr>
                            <m:nor/>
                          </m:rPr>
                          <a:rPr lang="tr-TR" sz="1000" noProof="1">
                            <a:cs typeface="Arial" panose="020B0604020202020204" pitchFamily="34" charset="0"/>
                          </a:rPr>
                          <m:t> </m:t>
                        </m:r>
                        <m:r>
                          <m:rPr>
                            <m:nor/>
                          </m:rPr>
                          <a:rPr lang="tr-TR" sz="1000" noProof="1">
                            <a:cs typeface="Arial" panose="020B0604020202020204" pitchFamily="34" charset="0"/>
                          </a:rPr>
                          <m:t>aritmetik</m:t>
                        </m:r>
                        <m:r>
                          <m:rPr>
                            <m:nor/>
                          </m:rPr>
                          <a:rPr lang="tr-TR" sz="1000" noProof="1">
                            <a:cs typeface="Arial" panose="020B0604020202020204" pitchFamily="34" charset="0"/>
                          </a:rPr>
                          <m:t> </m:t>
                        </m:r>
                        <m:r>
                          <m:rPr>
                            <m:nor/>
                          </m:rPr>
                          <a:rPr lang="tr-TR" sz="1000" noProof="1">
                            <a:cs typeface="Arial" panose="020B0604020202020204" pitchFamily="34" charset="0"/>
                          </a:rPr>
                          <m:t>ortalamas</m:t>
                        </m:r>
                        <m:r>
                          <m:rPr>
                            <m:nor/>
                          </m:rPr>
                          <a:rPr lang="tr-TR" sz="1000" noProof="1">
                            <a:cs typeface="Arial" panose="020B0604020202020204" pitchFamily="34" charset="0"/>
                          </a:rPr>
                          <m:t>ı</m:t>
                        </m:r>
                      </m:den>
                    </m:f>
                  </m:oMath>
                </a14:m>
                <a:r>
                  <a:rPr lang="tr-TR" sz="1000" noProof="1">
                    <a:solidFill>
                      <a:schemeClr val="tx1"/>
                    </a:solidFill>
                    <a:cs typeface="Arial" panose="020B0604020202020204" pitchFamily="34" charset="0"/>
                  </a:rPr>
                  <a:t> = kişi sayısı</a:t>
                </a:r>
                <a:br>
                  <a:rPr lang="tr-TR" sz="1000" noProof="1">
                    <a:solidFill>
                      <a:schemeClr val="tx1"/>
                    </a:solidFill>
                    <a:cs typeface="Arial" panose="020B0604020202020204" pitchFamily="34" charset="0"/>
                  </a:rPr>
                </a:br>
                <a:br>
                  <a:rPr lang="tr-TR" sz="1000" noProof="1">
                    <a:solidFill>
                      <a:schemeClr val="tx1"/>
                    </a:solidFill>
                    <a:cs typeface="Arial" panose="020B0604020202020204" pitchFamily="34" charset="0"/>
                  </a:rPr>
                </a:br>
                <a:r>
                  <a:rPr lang="tr-TR" sz="1000" noProof="1">
                    <a:solidFill>
                      <a:schemeClr val="tx1"/>
                    </a:solidFill>
                    <a:cs typeface="Arial" panose="020B0604020202020204" pitchFamily="34" charset="0"/>
                  </a:rPr>
                  <a:t>İçler dışlar yapılarak elde edilebilir aritmetik ortalama formülünü bilmeniz yeterlidir.</a:t>
                </a:r>
              </a:p>
              <a:p>
                <a:pPr marL="171450" indent="-171450">
                  <a:buFont typeface="Wingdings" panose="05000000000000000000" pitchFamily="2" charset="2"/>
                  <a:buChar char="v"/>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solidFill>
                      <a:schemeClr val="tx1"/>
                    </a:solidFill>
                    <a:cs typeface="Arial" panose="020B0604020202020204" pitchFamily="34" charset="0"/>
                  </a:rPr>
                  <a:t>Yaşlar toplamı x olan b kişininin yaşlarının aritmetik ortalaması </a:t>
                </a:r>
                <a14:m>
                  <m:oMath xmlns:m="http://schemas.openxmlformats.org/officeDocument/2006/math">
                    <m:f>
                      <m:fPr>
                        <m:ctrlPr>
                          <a:rPr lang="tr-TR" sz="900" i="1" noProof="1" smtClean="0">
                            <a:solidFill>
                              <a:schemeClr val="tx1"/>
                            </a:solidFill>
                            <a:latin typeface="Cambria Math" panose="02040503050406030204" pitchFamily="18" charset="0"/>
                          </a:rPr>
                        </m:ctrlPr>
                      </m:fPr>
                      <m:num>
                        <m:r>
                          <m:rPr>
                            <m:nor/>
                          </m:rPr>
                          <a:rPr lang="tr-TR" sz="900" i="0" noProof="1" smtClean="0">
                            <a:solidFill>
                              <a:schemeClr val="tx1"/>
                            </a:solidFill>
                          </a:rPr>
                          <m:t>x</m:t>
                        </m:r>
                      </m:num>
                      <m:den>
                        <m:r>
                          <m:rPr>
                            <m:nor/>
                          </m:rPr>
                          <a:rPr lang="tr-TR" sz="900" i="0" noProof="1" smtClean="0">
                            <a:solidFill>
                              <a:schemeClr val="tx1"/>
                            </a:solidFill>
                          </a:rPr>
                          <m:t>b</m:t>
                        </m:r>
                      </m:den>
                    </m:f>
                  </m:oMath>
                </a14:m>
                <a:r>
                  <a:rPr lang="tr-TR" sz="900" noProof="1">
                    <a:solidFill>
                      <a:schemeClr val="tx1"/>
                    </a:solidFill>
                    <a:cs typeface="Arial" panose="020B0604020202020204" pitchFamily="34" charset="0"/>
                  </a:rPr>
                  <a:t>  dır. </a:t>
                </a:r>
                <a:r>
                  <a:rPr lang="tr-TR" sz="1000" noProof="1">
                    <a:solidFill>
                      <a:schemeClr val="tx1"/>
                    </a:solidFill>
                    <a:cs typeface="Arial" panose="020B0604020202020204" pitchFamily="34" charset="0"/>
                  </a:rPr>
                  <a:t>Aritmetik ortalama bir doğal sayı olmak zorunda değildir. Küsüratlı olabilir fakat problemlerde genelde küsüratli tercih edilmez.</a:t>
                </a:r>
              </a:p>
              <a:p>
                <a:pPr marL="171450" indent="-171450">
                  <a:buFont typeface="Wingdings" panose="05000000000000000000" pitchFamily="2" charset="2"/>
                  <a:buChar char="v"/>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Uygun koşuldan kastımız kişinin yaşının doğal sayı olmasıdır. Çıkarma işlemlerinde bu şart </a:t>
                </a:r>
              </a:p>
              <a:p>
                <a:r>
                  <a:rPr lang="tr-TR" sz="1000" noProof="1">
                    <a:cs typeface="Arial" panose="020B0604020202020204" pitchFamily="34" charset="0"/>
                  </a:rPr>
                  <a:t>         sağlanmalıdır.</a:t>
                </a:r>
              </a:p>
            </p:txBody>
          </p:sp>
        </mc:Choice>
        <mc:Fallback xmlns="">
          <p:sp>
            <p:nvSpPr>
              <p:cNvPr id="42" name="Metin kutusu 41">
                <a:extLst>
                  <a:ext uri="{FF2B5EF4-FFF2-40B4-BE49-F238E27FC236}">
                    <a16:creationId xmlns:a16="http://schemas.microsoft.com/office/drawing/2014/main" id="{BCDF6D71-E7D1-4603-97F0-7681D036FE16}"/>
                  </a:ext>
                </a:extLst>
              </p:cNvPr>
              <p:cNvSpPr txBox="1">
                <a:spLocks noRot="1" noChangeAspect="1" noMove="1" noResize="1" noEditPoints="1" noAdjustHandles="1" noChangeArrowheads="1" noChangeShapeType="1" noTextEdit="1"/>
              </p:cNvSpPr>
              <p:nvPr/>
            </p:nvSpPr>
            <p:spPr>
              <a:xfrm>
                <a:off x="109954" y="1302276"/>
                <a:ext cx="3109210" cy="7290265"/>
              </a:xfrm>
              <a:prstGeom prst="rect">
                <a:avLst/>
              </a:prstGeom>
              <a:blipFill>
                <a:blip r:embed="rId7"/>
                <a:stretch>
                  <a:fillRect r="-196"/>
                </a:stretch>
              </a:blipFill>
            </p:spPr>
            <p:txBody>
              <a:bodyPr/>
              <a:lstStyle/>
              <a:p>
                <a:r>
                  <a:rPr lang="tr-TR">
                    <a:noFill/>
                  </a:rPr>
                  <a:t> </a:t>
                </a:r>
              </a:p>
            </p:txBody>
          </p:sp>
        </mc:Fallback>
      </mc:AlternateContent>
    </p:spTree>
    <p:extLst>
      <p:ext uri="{BB962C8B-B14F-4D97-AF65-F5344CB8AC3E}">
        <p14:creationId xmlns:p14="http://schemas.microsoft.com/office/powerpoint/2010/main" val="41867533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Yaş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310450"/>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329001"/>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310450"/>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61810" y="797387"/>
            <a:ext cx="3212178" cy="400110"/>
          </a:xfrm>
          <a:prstGeom prst="rect">
            <a:avLst/>
          </a:prstGeom>
          <a:noFill/>
        </p:spPr>
        <p:txBody>
          <a:bodyPr wrap="square" rtlCol="0">
            <a:spAutoFit/>
          </a:bodyPr>
          <a:lstStyle/>
          <a:p>
            <a:r>
              <a:rPr lang="tr-TR" sz="1000" b="1" noProof="1">
                <a:cs typeface="Arial" panose="020B0604020202020204" pitchFamily="34" charset="0"/>
              </a:rPr>
              <a:t>Tuana 4, babası 32 yaşındadır. Kaç yıl sonra Tuana`nın yaşı babasının yaşının yarısı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11054" y="7009782"/>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32084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6.</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55612" y="452973"/>
            <a:ext cx="241558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2C94DB50-0C8C-43ED-B219-9CB65A25FD02}"/>
                  </a:ext>
                </a:extLst>
              </p:cNvPr>
              <p:cNvSpPr txBox="1"/>
              <p:nvPr/>
            </p:nvSpPr>
            <p:spPr>
              <a:xfrm>
                <a:off x="44623" y="2537313"/>
                <a:ext cx="3269949" cy="1785104"/>
              </a:xfrm>
              <a:prstGeom prst="rect">
                <a:avLst/>
              </a:prstGeom>
              <a:noFill/>
            </p:spPr>
            <p:txBody>
              <a:bodyPr wrap="square" rtlCol="0">
                <a:spAutoFit/>
              </a:bodyPr>
              <a:lstStyle/>
              <a:p>
                <a:r>
                  <a:rPr lang="tr-TR" sz="1000" noProof="1">
                    <a:cs typeface="Arial" panose="020B0604020202020204" pitchFamily="34" charset="0"/>
                  </a:rPr>
                  <a:t>Bu yıl sayısına x dersek hepsi her yıl 1 yaş büyüdüğünden x yılda x</a:t>
                </a:r>
                <a:r>
                  <a:rPr lang="tr-TR" sz="1000" noProof="1">
                    <a:ea typeface="Cambria Math" panose="02040503050406030204" pitchFamily="18" charset="0"/>
                    <a:cs typeface="Arial" panose="020B0604020202020204" pitchFamily="34" charset="0"/>
                  </a:rPr>
                  <a:t>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 </m:t>
                    </m:r>
                  </m:oMath>
                </a14:m>
                <a:r>
                  <a:rPr lang="tr-TR" sz="1000" noProof="1">
                    <a:cs typeface="Arial" panose="020B0604020202020204" pitchFamily="34" charset="0"/>
                  </a:rPr>
                  <a:t>1 yaş büyürler. Tuana`nın yaşının babasının yarısı olmasını istiyoruz, yani aradığımız durumda Tuana`nın yaşını </a:t>
                </a:r>
                <a:r>
                  <a:rPr lang="tr-TR" sz="1000" b="1" noProof="1">
                    <a:cs typeface="Arial" panose="020B0604020202020204" pitchFamily="34" charset="0"/>
                  </a:rPr>
                  <a:t>2</a:t>
                </a:r>
                <a:r>
                  <a:rPr lang="tr-TR" sz="1000" noProof="1">
                    <a:cs typeface="Arial" panose="020B0604020202020204" pitchFamily="34" charset="0"/>
                  </a:rPr>
                  <a:t> ile çarparsak babasının yaşına eşit olur denklemde ifade edelim. </a:t>
                </a:r>
              </a:p>
              <a:p>
                <a:endParaRPr lang="tr-TR" sz="1000" noProof="1">
                  <a:cs typeface="Arial" panose="020B0604020202020204" pitchFamily="34" charset="0"/>
                </a:endParaRPr>
              </a:p>
              <a:p>
                <a:r>
                  <a:rPr lang="tr-TR" sz="1000" noProof="1">
                    <a:cs typeface="Arial" panose="020B0604020202020204" pitchFamily="34" charset="0"/>
                  </a:rPr>
                  <a:t>32 + x =  </a:t>
                </a:r>
                <a:r>
                  <a:rPr lang="tr-TR" sz="1000" b="1" noProof="1">
                    <a:cs typeface="Arial" panose="020B0604020202020204" pitchFamily="34" charset="0"/>
                  </a:rPr>
                  <a:t>2</a:t>
                </a:r>
                <a:r>
                  <a:rPr lang="tr-TR" sz="1000" noProof="1">
                    <a:cs typeface="Arial" panose="020B0604020202020204" pitchFamily="34" charset="0"/>
                  </a:rPr>
                  <a:t>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( 4 + x )   </a:t>
                </a:r>
                <a14:m>
                  <m:oMath xmlns:m="http://schemas.openxmlformats.org/officeDocument/2006/math">
                    <m:r>
                      <a:rPr lang="tr-TR" sz="1000" i="1" noProof="1" smtClean="0">
                        <a:latin typeface="Cambria Math" panose="02040503050406030204" pitchFamily="18" charset="0"/>
                      </a:rPr>
                      <m:t>⇒</m:t>
                    </m:r>
                  </m:oMath>
                </a14:m>
                <a:r>
                  <a:rPr lang="tr-TR" sz="1000" noProof="1">
                    <a:cs typeface="Arial" panose="020B0604020202020204" pitchFamily="34" charset="0"/>
                  </a:rPr>
                  <a:t>  </a:t>
                </a:r>
                <a:r>
                  <a:rPr lang="tr-TR" sz="1000" b="1" noProof="1">
                    <a:cs typeface="Arial" panose="020B0604020202020204" pitchFamily="34" charset="0"/>
                  </a:rPr>
                  <a:t>x=24 olarak bulunur. </a:t>
                </a:r>
              </a:p>
              <a:p>
                <a:endParaRPr lang="tr-TR" sz="1000" noProof="1">
                  <a:cs typeface="Arial" panose="020B0604020202020204" pitchFamily="34" charset="0"/>
                </a:endParaRPr>
              </a:p>
              <a:p>
                <a:r>
                  <a:rPr lang="tr-TR" sz="1000" noProof="1">
                    <a:cs typeface="Arial" panose="020B0604020202020204" pitchFamily="34" charset="0"/>
                  </a:rPr>
                  <a:t>24 yıl sonra Tuana`nın yaşı babasının yaşının yarısı olur. 24 yıl sonra Tuana 24+4 = </a:t>
                </a:r>
                <a:r>
                  <a:rPr lang="tr-TR" sz="1000" b="1" noProof="1">
                    <a:cs typeface="Arial" panose="020B0604020202020204" pitchFamily="34" charset="0"/>
                  </a:rPr>
                  <a:t>28</a:t>
                </a:r>
                <a:r>
                  <a:rPr lang="tr-TR" sz="1000" noProof="1">
                    <a:cs typeface="Arial" panose="020B0604020202020204" pitchFamily="34" charset="0"/>
                  </a:rPr>
                  <a:t> yaşında, babası ise 32 + 24 = </a:t>
                </a:r>
                <a:r>
                  <a:rPr lang="tr-TR" sz="1000" b="1" noProof="1">
                    <a:cs typeface="Arial" panose="020B0604020202020204" pitchFamily="34" charset="0"/>
                  </a:rPr>
                  <a:t>56</a:t>
                </a:r>
                <a:r>
                  <a:rPr lang="tr-TR" sz="1000" noProof="1">
                    <a:cs typeface="Arial" panose="020B0604020202020204" pitchFamily="34" charset="0"/>
                  </a:rPr>
                  <a:t> olur bu şekilde de teyit etmiş olduk.</a:t>
                </a:r>
              </a:p>
            </p:txBody>
          </p:sp>
        </mc:Choice>
        <mc:Fallback xmlns="">
          <p:sp>
            <p:nvSpPr>
              <p:cNvPr id="57" name="Metin kutusu 56">
                <a:extLst>
                  <a:ext uri="{FF2B5EF4-FFF2-40B4-BE49-F238E27FC236}">
                    <a16:creationId xmlns:a16="http://schemas.microsoft.com/office/drawing/2014/main" id="{2C94DB50-0C8C-43ED-B219-9CB65A25FD02}"/>
                  </a:ext>
                </a:extLst>
              </p:cNvPr>
              <p:cNvSpPr txBox="1">
                <a:spLocks noRot="1" noChangeAspect="1" noMove="1" noResize="1" noEditPoints="1" noAdjustHandles="1" noChangeArrowheads="1" noChangeShapeType="1" noTextEdit="1"/>
              </p:cNvSpPr>
              <p:nvPr/>
            </p:nvSpPr>
            <p:spPr>
              <a:xfrm>
                <a:off x="44623" y="2537313"/>
                <a:ext cx="3269949" cy="1785104"/>
              </a:xfrm>
              <a:prstGeom prst="rect">
                <a:avLst/>
              </a:prstGeom>
              <a:blipFill>
                <a:blip r:embed="rId6"/>
                <a:stretch>
                  <a:fillRect b="-136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69B01AC9-74C1-4ACE-B2F9-0F6F796DF09D}"/>
              </a:ext>
            </a:extLst>
          </p:cNvPr>
          <p:cNvSpPr txBox="1"/>
          <p:nvPr/>
        </p:nvSpPr>
        <p:spPr>
          <a:xfrm>
            <a:off x="59017" y="4600579"/>
            <a:ext cx="3212178" cy="400110"/>
          </a:xfrm>
          <a:prstGeom prst="rect">
            <a:avLst/>
          </a:prstGeom>
          <a:noFill/>
        </p:spPr>
        <p:txBody>
          <a:bodyPr wrap="square" rtlCol="0">
            <a:spAutoFit/>
          </a:bodyPr>
          <a:lstStyle/>
          <a:p>
            <a:r>
              <a:rPr lang="tr-TR" sz="1000" b="1" noProof="1">
                <a:cs typeface="Arial" panose="020B0604020202020204" pitchFamily="34" charset="0"/>
              </a:rPr>
              <a:t>Tolga`nın 6 yıl önceki yaşının 4 katı şuanki yaşının 2 katına eşittir. Buna göre Tolga bugün kaç yaşındadır?</a:t>
            </a:r>
          </a:p>
        </p:txBody>
      </p:sp>
      <p:sp>
        <p:nvSpPr>
          <p:cNvPr id="62" name="Metin kutusu 61">
            <a:extLst>
              <a:ext uri="{FF2B5EF4-FFF2-40B4-BE49-F238E27FC236}">
                <a16:creationId xmlns:a16="http://schemas.microsoft.com/office/drawing/2014/main" id="{7D8AFDB4-3B32-4B58-96AC-722F2C859EF2}"/>
              </a:ext>
            </a:extLst>
          </p:cNvPr>
          <p:cNvSpPr txBox="1"/>
          <p:nvPr/>
        </p:nvSpPr>
        <p:spPr>
          <a:xfrm>
            <a:off x="25835" y="6747409"/>
            <a:ext cx="3269949" cy="1477328"/>
          </a:xfrm>
          <a:prstGeom prst="rect">
            <a:avLst/>
          </a:prstGeom>
          <a:noFill/>
        </p:spPr>
        <p:txBody>
          <a:bodyPr wrap="square" rtlCol="0">
            <a:spAutoFit/>
          </a:bodyPr>
          <a:lstStyle/>
          <a:p>
            <a:r>
              <a:rPr lang="tr-TR" sz="1000" noProof="1">
                <a:cs typeface="Arial" panose="020B0604020202020204" pitchFamily="34" charset="0"/>
              </a:rPr>
              <a:t>Tolga`nın yaşına x diyelim. 6 eksiği x-6 olacaktır ve 4 katını alalım. Şimdiki yaşı x ve 2 katına eşitliği söyleniyor. O halde </a:t>
            </a:r>
          </a:p>
          <a:p>
            <a:endParaRPr lang="tr-TR" sz="1000" noProof="1">
              <a:cs typeface="Arial" panose="020B0604020202020204" pitchFamily="34" charset="0"/>
            </a:endParaRPr>
          </a:p>
          <a:p>
            <a:r>
              <a:rPr lang="tr-TR" sz="1000" noProof="1">
                <a:cs typeface="Arial" panose="020B0604020202020204" pitchFamily="34" charset="0"/>
              </a:rPr>
              <a:t>4 (x-6) = 2 x     x=12 olarak bulunur.</a:t>
            </a:r>
          </a:p>
          <a:p>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cs typeface="Arial" panose="020B0604020202020204" pitchFamily="34" charset="0"/>
              </a:rPr>
              <a:t>Sorularda bazen direkt olarak Tolga kaç yaşındadır diye sorabilir bu ibareden sorudaki bilgiler incelenerek Tolga`yı ilgilendiren genelde en son durum baz alınarak çözülür. Bazen bugün diye yazmadan sorarlar.</a:t>
            </a:r>
          </a:p>
        </p:txBody>
      </p:sp>
      <p:sp>
        <p:nvSpPr>
          <p:cNvPr id="66" name="Metin kutusu 65">
            <a:extLst>
              <a:ext uri="{FF2B5EF4-FFF2-40B4-BE49-F238E27FC236}">
                <a16:creationId xmlns:a16="http://schemas.microsoft.com/office/drawing/2014/main" id="{5F9B6582-03B7-4BB6-82BA-C3D26FDEEC6D}"/>
              </a:ext>
            </a:extLst>
          </p:cNvPr>
          <p:cNvSpPr txBox="1"/>
          <p:nvPr/>
        </p:nvSpPr>
        <p:spPr>
          <a:xfrm>
            <a:off x="3568176" y="739840"/>
            <a:ext cx="3230805" cy="400110"/>
          </a:xfrm>
          <a:prstGeom prst="rect">
            <a:avLst/>
          </a:prstGeom>
          <a:noFill/>
        </p:spPr>
        <p:txBody>
          <a:bodyPr wrap="square" rtlCol="0">
            <a:spAutoFit/>
          </a:bodyPr>
          <a:lstStyle/>
          <a:p>
            <a:r>
              <a:rPr lang="tr-TR" sz="1000" b="1" noProof="1">
                <a:cs typeface="Arial" panose="020B0604020202020204" pitchFamily="34" charset="0"/>
              </a:rPr>
              <a:t>Yaşları toplamı 140 olan bir grubun, 5 yıl önceki yaş ortalamaları 15 dir. Buna göre, grupta kaç kişi vardır?</a:t>
            </a:r>
          </a:p>
        </p:txBody>
      </p:sp>
      <mc:AlternateContent xmlns:mc="http://schemas.openxmlformats.org/markup-compatibility/2006" xmlns:a14="http://schemas.microsoft.com/office/drawing/2010/main">
        <mc:Choice Requires="a14">
          <p:sp>
            <p:nvSpPr>
              <p:cNvPr id="67" name="Metin kutusu 66">
                <a:extLst>
                  <a:ext uri="{FF2B5EF4-FFF2-40B4-BE49-F238E27FC236}">
                    <a16:creationId xmlns:a16="http://schemas.microsoft.com/office/drawing/2014/main" id="{9162F9DF-415E-482B-A48C-80EBC8601AEB}"/>
                  </a:ext>
                </a:extLst>
              </p:cNvPr>
              <p:cNvSpPr txBox="1"/>
              <p:nvPr/>
            </p:nvSpPr>
            <p:spPr>
              <a:xfrm>
                <a:off x="3600016" y="2497206"/>
                <a:ext cx="3269949" cy="1639423"/>
              </a:xfrm>
              <a:prstGeom prst="rect">
                <a:avLst/>
              </a:prstGeom>
              <a:noFill/>
            </p:spPr>
            <p:txBody>
              <a:bodyPr wrap="square" rtlCol="0">
                <a:spAutoFit/>
              </a:bodyPr>
              <a:lstStyle/>
              <a:p>
                <a:r>
                  <a:rPr lang="tr-TR" sz="1000" noProof="1">
                    <a:cs typeface="Arial" panose="020B0604020202020204" pitchFamily="34" charset="0"/>
                  </a:rPr>
                  <a:t>Grupta x kişi varsa yaşlar toplamı / kişi sayısı aritmetik ortalamayı verir. Yani 140/x den aritmetik ortalama bulunur.</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Herkes 1 yılda 1 yaş büyüdüğünden, 1 yıl önceki halleri de 1 yaş eksik olacaktır.  5 yıl önceki yaş toplamını arıyoruz fakat x kişi olduğundan bugünkü toplamdan 5 ile çarparak x i çıkarmalıyız.  </a:t>
                </a:r>
                <a14:m>
                  <m:oMath xmlns:m="http://schemas.openxmlformats.org/officeDocument/2006/math">
                    <m:f>
                      <m:fPr>
                        <m:ctrlPr>
                          <a:rPr lang="tr-TR" sz="800" i="1" noProof="1" smtClean="0">
                            <a:solidFill>
                              <a:schemeClr val="tx1"/>
                            </a:solidFill>
                            <a:latin typeface="Cambria Math" panose="02040503050406030204" pitchFamily="18" charset="0"/>
                          </a:rPr>
                        </m:ctrlPr>
                      </m:fPr>
                      <m:num>
                        <m:r>
                          <m:rPr>
                            <m:nor/>
                          </m:rPr>
                          <a:rPr lang="tr-TR" sz="800" i="0" noProof="1" smtClean="0">
                            <a:solidFill>
                              <a:schemeClr val="tx1"/>
                            </a:solidFill>
                          </a:rPr>
                          <m:t>140−5</m:t>
                        </m:r>
                        <m:r>
                          <m:rPr>
                            <m:nor/>
                          </m:rPr>
                          <a:rPr lang="tr-TR" sz="800" i="0" noProof="1" smtClean="0">
                            <a:solidFill>
                              <a:schemeClr val="tx1"/>
                            </a:solidFill>
                          </a:rPr>
                          <m:t>x</m:t>
                        </m:r>
                      </m:num>
                      <m:den>
                        <m:r>
                          <m:rPr>
                            <m:nor/>
                          </m:rPr>
                          <a:rPr lang="tr-TR" sz="800" i="0" noProof="1" smtClean="0">
                            <a:solidFill>
                              <a:schemeClr val="tx1"/>
                            </a:solidFill>
                          </a:rPr>
                          <m:t>x</m:t>
                        </m:r>
                      </m:den>
                    </m:f>
                  </m:oMath>
                </a14:m>
                <a:r>
                  <a:rPr lang="tr-TR" sz="800" noProof="1">
                    <a:cs typeface="Arial" panose="020B0604020202020204" pitchFamily="34" charset="0"/>
                  </a:rPr>
                  <a:t>  = 15   </a:t>
                </a:r>
              </a:p>
              <a:p>
                <a:endParaRPr lang="tr-TR" sz="800" noProof="1">
                  <a:cs typeface="Arial" panose="020B0604020202020204" pitchFamily="34" charset="0"/>
                </a:endParaRPr>
              </a:p>
              <a:p>
                <a:r>
                  <a:rPr lang="tr-TR" sz="1000" b="1" noProof="1">
                    <a:cs typeface="Arial" panose="020B0604020202020204" pitchFamily="34" charset="0"/>
                  </a:rPr>
                  <a:t>Sonuç olarak x=20 bulunur.  Grupta 20 kişi vardır</a:t>
                </a:r>
                <a:r>
                  <a:rPr lang="tr-TR" sz="800" b="1" noProof="1">
                    <a:cs typeface="Arial" panose="020B0604020202020204" pitchFamily="34" charset="0"/>
                  </a:rPr>
                  <a:t> </a:t>
                </a:r>
              </a:p>
            </p:txBody>
          </p:sp>
        </mc:Choice>
        <mc:Fallback xmlns="">
          <p:sp>
            <p:nvSpPr>
              <p:cNvPr id="67" name="Metin kutusu 66">
                <a:extLst>
                  <a:ext uri="{FF2B5EF4-FFF2-40B4-BE49-F238E27FC236}">
                    <a16:creationId xmlns:a16="http://schemas.microsoft.com/office/drawing/2014/main" id="{9162F9DF-415E-482B-A48C-80EBC8601AEB}"/>
                  </a:ext>
                </a:extLst>
              </p:cNvPr>
              <p:cNvSpPr txBox="1">
                <a:spLocks noRot="1" noChangeAspect="1" noMove="1" noResize="1" noEditPoints="1" noAdjustHandles="1" noChangeArrowheads="1" noChangeShapeType="1" noTextEdit="1"/>
              </p:cNvSpPr>
              <p:nvPr/>
            </p:nvSpPr>
            <p:spPr>
              <a:xfrm>
                <a:off x="3600016" y="2497206"/>
                <a:ext cx="3269949" cy="1639423"/>
              </a:xfrm>
              <a:prstGeom prst="rect">
                <a:avLst/>
              </a:prstGeom>
              <a:blipFill>
                <a:blip r:embed="rId7"/>
                <a:stretch>
                  <a:fillRect b="-1115"/>
                </a:stretch>
              </a:blipFill>
            </p:spPr>
            <p:txBody>
              <a:bodyPr/>
              <a:lstStyle/>
              <a:p>
                <a:r>
                  <a:rPr lang="tr-TR">
                    <a:noFill/>
                  </a:rPr>
                  <a:t> </a:t>
                </a:r>
              </a:p>
            </p:txBody>
          </p:sp>
        </mc:Fallback>
      </mc:AlternateContent>
      <p:sp>
        <p:nvSpPr>
          <p:cNvPr id="68" name="Metin kutusu 67">
            <a:extLst>
              <a:ext uri="{FF2B5EF4-FFF2-40B4-BE49-F238E27FC236}">
                <a16:creationId xmlns:a16="http://schemas.microsoft.com/office/drawing/2014/main" id="{D1099E1C-B5AA-434B-A524-8F2B35349813}"/>
              </a:ext>
            </a:extLst>
          </p:cNvPr>
          <p:cNvSpPr txBox="1"/>
          <p:nvPr/>
        </p:nvSpPr>
        <p:spPr>
          <a:xfrm>
            <a:off x="3569707" y="4776442"/>
            <a:ext cx="3254026" cy="553998"/>
          </a:xfrm>
          <a:prstGeom prst="rect">
            <a:avLst/>
          </a:prstGeom>
          <a:noFill/>
        </p:spPr>
        <p:txBody>
          <a:bodyPr wrap="square" rtlCol="0">
            <a:spAutoFit/>
          </a:bodyPr>
          <a:lstStyle/>
          <a:p>
            <a:r>
              <a:rPr lang="tr-TR" sz="1000" b="1" noProof="1">
                <a:cs typeface="Arial" panose="020B0604020202020204" pitchFamily="34" charset="0"/>
              </a:rPr>
              <a:t>Sanem`in bugünkü yaşı x;  y yıl sonra Bilal`in yaşı z olmaktadır.  Buna göre, y yıl sonraki Sanem`in yaşının, Bilal`in y yıl önceki yaşına oranını cebirsel olarak bulunuz.</a:t>
            </a:r>
          </a:p>
        </p:txBody>
      </p:sp>
      <mc:AlternateContent xmlns:mc="http://schemas.openxmlformats.org/markup-compatibility/2006" xmlns:a14="http://schemas.microsoft.com/office/drawing/2010/main">
        <mc:Choice Requires="a14">
          <p:sp>
            <p:nvSpPr>
              <p:cNvPr id="69" name="Metin kutusu 68">
                <a:extLst>
                  <a:ext uri="{FF2B5EF4-FFF2-40B4-BE49-F238E27FC236}">
                    <a16:creationId xmlns:a16="http://schemas.microsoft.com/office/drawing/2014/main" id="{48092B23-25B3-4C14-922C-F2E646658359}"/>
                  </a:ext>
                </a:extLst>
              </p:cNvPr>
              <p:cNvSpPr txBox="1"/>
              <p:nvPr/>
            </p:nvSpPr>
            <p:spPr>
              <a:xfrm>
                <a:off x="3578139" y="7303552"/>
                <a:ext cx="3254026" cy="1321516"/>
              </a:xfrm>
              <a:prstGeom prst="rect">
                <a:avLst/>
              </a:prstGeom>
              <a:noFill/>
            </p:spPr>
            <p:txBody>
              <a:bodyPr wrap="square" rtlCol="0">
                <a:spAutoFit/>
              </a:bodyPr>
              <a:lstStyle/>
              <a:p>
                <a:r>
                  <a:rPr lang="tr-TR" sz="1000" noProof="1">
                    <a:cs typeface="Arial" panose="020B0604020202020204" pitchFamily="34" charset="0"/>
                  </a:rPr>
                  <a:t>Sanem x yaşındaysa y yıl sonra y yıl kadar büyümüş olacaktır. Yani son durumdaki yaşı x+y olacaktır. </a:t>
                </a:r>
              </a:p>
              <a:p>
                <a:endParaRPr lang="tr-TR" sz="1000" noProof="1">
                  <a:cs typeface="Arial" panose="020B0604020202020204" pitchFamily="34" charset="0"/>
                </a:endParaRPr>
              </a:p>
              <a:p>
                <a:r>
                  <a:rPr lang="tr-TR" sz="1000" noProof="1">
                    <a:cs typeface="Arial" panose="020B0604020202020204" pitchFamily="34" charset="0"/>
                  </a:rPr>
                  <a:t>Bilal y yıl sonra yaşı z olmaktadır. y yıl geriye gittiğimizde z-y yaşında olduğunu buluruz. Oranlarsak </a:t>
                </a:r>
              </a:p>
              <a:p>
                <a:endParaRPr lang="tr-TR" sz="1000" noProof="1">
                  <a:cs typeface="Arial" panose="020B0604020202020204" pitchFamily="34" charset="0"/>
                </a:endParaRPr>
              </a:p>
              <a:p>
                <a:pPr/>
                <a14:m>
                  <m:oMathPara xmlns:m="http://schemas.openxmlformats.org/officeDocument/2006/math">
                    <m:oMathParaPr>
                      <m:jc m:val="left"/>
                    </m:oMathParaPr>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i="0" noProof="1" smtClean="0">
                              <a:solidFill>
                                <a:schemeClr val="tx1"/>
                              </a:solidFill>
                              <a:latin typeface="Helvetica" panose="020B0604020202020204" pitchFamily="34" charset="0"/>
                              <a:cs typeface="Helvetica" panose="020B0604020202020204" pitchFamily="34" charset="0"/>
                            </a:rPr>
                            <m:t>x</m:t>
                          </m:r>
                          <m:r>
                            <m:rPr>
                              <m:nor/>
                            </m:rPr>
                            <a:rPr lang="tr-TR" sz="1000" i="0" noProof="1" smtClean="0">
                              <a:solidFill>
                                <a:schemeClr val="tx1"/>
                              </a:solidFill>
                              <a:latin typeface="Helvetica" panose="020B0604020202020204" pitchFamily="34" charset="0"/>
                              <a:cs typeface="Helvetica" panose="020B0604020202020204" pitchFamily="34" charset="0"/>
                            </a:rPr>
                            <m:t>+</m:t>
                          </m:r>
                          <m:r>
                            <m:rPr>
                              <m:nor/>
                            </m:rPr>
                            <a:rPr lang="tr-TR" sz="1000" i="0" noProof="1" smtClean="0">
                              <a:solidFill>
                                <a:schemeClr val="tx1"/>
                              </a:solidFill>
                              <a:latin typeface="Helvetica" panose="020B0604020202020204" pitchFamily="34" charset="0"/>
                              <a:cs typeface="Helvetica" panose="020B0604020202020204" pitchFamily="34" charset="0"/>
                            </a:rPr>
                            <m:t>y</m:t>
                          </m:r>
                        </m:num>
                        <m:den>
                          <m:r>
                            <m:rPr>
                              <m:nor/>
                            </m:rPr>
                            <a:rPr lang="tr-TR" sz="1000" i="0" noProof="1" smtClean="0">
                              <a:solidFill>
                                <a:schemeClr val="tx1"/>
                              </a:solidFill>
                              <a:latin typeface="Helvetica" panose="020B0604020202020204" pitchFamily="34" charset="0"/>
                              <a:cs typeface="Helvetica" panose="020B0604020202020204" pitchFamily="34" charset="0"/>
                            </a:rPr>
                            <m:t>z</m:t>
                          </m:r>
                          <m:r>
                            <m:rPr>
                              <m:nor/>
                            </m:rPr>
                            <a:rPr lang="tr-TR" sz="1000" b="0" i="0" noProof="1" smtClean="0">
                              <a:solidFill>
                                <a:schemeClr val="tx1"/>
                              </a:solidFill>
                              <a:latin typeface="Helvetica" panose="020B0604020202020204" pitchFamily="34" charset="0"/>
                              <a:cs typeface="Helvetica" panose="020B0604020202020204" pitchFamily="34" charset="0"/>
                            </a:rPr>
                            <m:t>−</m:t>
                          </m:r>
                          <m:r>
                            <m:rPr>
                              <m:nor/>
                            </m:rPr>
                            <a:rPr lang="tr-TR" sz="1000" b="0" i="0" noProof="1" smtClean="0">
                              <a:solidFill>
                                <a:schemeClr val="tx1"/>
                              </a:solidFill>
                              <a:latin typeface="Helvetica" panose="020B0604020202020204" pitchFamily="34" charset="0"/>
                              <a:cs typeface="Helvetica" panose="020B0604020202020204" pitchFamily="34" charset="0"/>
                            </a:rPr>
                            <m:t>y</m:t>
                          </m:r>
                        </m:den>
                      </m:f>
                    </m:oMath>
                  </m:oMathPara>
                </a14:m>
                <a:endParaRPr lang="tr-TR" sz="1000" noProof="1">
                  <a:cs typeface="Arial" panose="020B0604020202020204" pitchFamily="34" charset="0"/>
                </a:endParaRPr>
              </a:p>
            </p:txBody>
          </p:sp>
        </mc:Choice>
        <mc:Fallback xmlns="">
          <p:sp>
            <p:nvSpPr>
              <p:cNvPr id="69" name="Metin kutusu 68">
                <a:extLst>
                  <a:ext uri="{FF2B5EF4-FFF2-40B4-BE49-F238E27FC236}">
                    <a16:creationId xmlns:a16="http://schemas.microsoft.com/office/drawing/2014/main" id="{48092B23-25B3-4C14-922C-F2E646658359}"/>
                  </a:ext>
                </a:extLst>
              </p:cNvPr>
              <p:cNvSpPr txBox="1">
                <a:spLocks noRot="1" noChangeAspect="1" noMove="1" noResize="1" noEditPoints="1" noAdjustHandles="1" noChangeArrowheads="1" noChangeShapeType="1" noTextEdit="1"/>
              </p:cNvSpPr>
              <p:nvPr/>
            </p:nvSpPr>
            <p:spPr>
              <a:xfrm>
                <a:off x="3578139" y="7303552"/>
                <a:ext cx="3254026" cy="1321516"/>
              </a:xfrm>
              <a:prstGeom prst="rect">
                <a:avLst/>
              </a:prstGeom>
              <a:blipFill>
                <a:blip r:embed="rId8"/>
                <a:stretch>
                  <a:fillRect r="-187"/>
                </a:stretch>
              </a:blipFill>
            </p:spPr>
            <p:txBody>
              <a:bodyPr/>
              <a:lstStyle/>
              <a:p>
                <a:r>
                  <a:rPr lang="tr-TR">
                    <a:noFill/>
                  </a:rPr>
                  <a:t> </a:t>
                </a:r>
              </a:p>
            </p:txBody>
          </p:sp>
        </mc:Fallback>
      </mc:AlternateContent>
      <p:sp>
        <p:nvSpPr>
          <p:cNvPr id="58" name="Metin kutusu 57">
            <a:extLst>
              <a:ext uri="{FF2B5EF4-FFF2-40B4-BE49-F238E27FC236}">
                <a16:creationId xmlns:a16="http://schemas.microsoft.com/office/drawing/2014/main" id="{62DAC2BA-7395-4562-9D93-C53D4D6E616A}"/>
              </a:ext>
            </a:extLst>
          </p:cNvPr>
          <p:cNvSpPr txBox="1"/>
          <p:nvPr/>
        </p:nvSpPr>
        <p:spPr>
          <a:xfrm>
            <a:off x="933699" y="476011"/>
            <a:ext cx="2345717" cy="307777"/>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“Bir kul başka bir kulun kusurunu örterse Allah da  onun bir kusurunu kıyamet günü örter.”  - Peygamber Efendimiz (SAV)</a:t>
            </a:r>
            <a:endParaRPr lang="tr-TR" sz="7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287574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Yaş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45976" y="67682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60413" y="859199"/>
            <a:ext cx="3252763" cy="553998"/>
          </a:xfrm>
          <a:prstGeom prst="rect">
            <a:avLst/>
          </a:prstGeom>
          <a:noFill/>
        </p:spPr>
        <p:txBody>
          <a:bodyPr wrap="square" rtlCol="0">
            <a:spAutoFit/>
          </a:bodyPr>
          <a:lstStyle/>
          <a:p>
            <a:r>
              <a:rPr lang="tr-TR" sz="1000" b="1" noProof="1">
                <a:cs typeface="Arial" panose="020B0604020202020204" pitchFamily="34" charset="0"/>
              </a:rPr>
              <a:t>Tunç ve Fikret bugünkü yaşları toplamı 48`dir. Tunç 5 yıl sonra, Fikret 3 yıl önce doğmuş olsaydı yaşları toplamı kaç olurdu? </a:t>
            </a:r>
          </a:p>
        </p:txBody>
      </p:sp>
      <p:sp>
        <p:nvSpPr>
          <p:cNvPr id="56" name="Ok: Beşgen 55">
            <a:extLst>
              <a:ext uri="{FF2B5EF4-FFF2-40B4-BE49-F238E27FC236}">
                <a16:creationId xmlns:a16="http://schemas.microsoft.com/office/drawing/2014/main" id="{D327283C-46A4-4C86-A990-995946C89AA1}"/>
              </a:ext>
            </a:extLst>
          </p:cNvPr>
          <p:cNvSpPr/>
          <p:nvPr/>
        </p:nvSpPr>
        <p:spPr>
          <a:xfrm>
            <a:off x="3631135" y="298794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7.</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8.</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9.</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1852" y="398146"/>
            <a:ext cx="2348082" cy="513908"/>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20990" y="447351"/>
            <a:ext cx="2191914" cy="415498"/>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a:t>
            </a:r>
            <a:r>
              <a:rPr lang="tr-TR" sz="700" b="1" dirty="0">
                <a:solidFill>
                  <a:schemeClr val="bg1"/>
                </a:solidFill>
                <a:latin typeface="Arial Narrow" panose="020B0606020202030204" pitchFamily="34" charset="0"/>
              </a:rPr>
              <a:t>Ailenizin, eşinizin görüşlerini önemseyin fakat onların istediği, sizin istemediğiniz bir kararı onaylamayın. Hayat sizin hayatınız, istediğiniz şeyi yapın.</a:t>
            </a:r>
            <a:r>
              <a:rPr lang="tr-TR" sz="700" b="1" i="0" dirty="0">
                <a:solidFill>
                  <a:schemeClr val="bg1"/>
                </a:solidFill>
                <a:effectLst/>
                <a:latin typeface="Arial Narrow" panose="020B0606020202030204" pitchFamily="34" charset="0"/>
              </a:rPr>
              <a:t>”  - Ahmet Çelen</a:t>
            </a:r>
            <a:endParaRPr lang="tr-TR" sz="700" dirty="0">
              <a:solidFill>
                <a:schemeClr val="bg1"/>
              </a:solidFill>
              <a:latin typeface="Arial Narrow" panose="020B0606020202030204" pitchFamily="34" charset="0"/>
            </a:endParaRPr>
          </a:p>
        </p:txBody>
      </p:sp>
      <p:sp>
        <p:nvSpPr>
          <p:cNvPr id="57" name="Metin kutusu 56">
            <a:extLst>
              <a:ext uri="{FF2B5EF4-FFF2-40B4-BE49-F238E27FC236}">
                <a16:creationId xmlns:a16="http://schemas.microsoft.com/office/drawing/2014/main" id="{D4DEC87E-D022-4AD1-87E4-57FBC834E48B}"/>
              </a:ext>
            </a:extLst>
          </p:cNvPr>
          <p:cNvSpPr txBox="1"/>
          <p:nvPr/>
        </p:nvSpPr>
        <p:spPr>
          <a:xfrm>
            <a:off x="38871" y="2557050"/>
            <a:ext cx="3252763" cy="1785104"/>
          </a:xfrm>
          <a:prstGeom prst="rect">
            <a:avLst/>
          </a:prstGeom>
          <a:noFill/>
        </p:spPr>
        <p:txBody>
          <a:bodyPr wrap="square" rtlCol="0">
            <a:spAutoFit/>
          </a:bodyPr>
          <a:lstStyle/>
          <a:p>
            <a:r>
              <a:rPr lang="tr-TR" sz="1000" noProof="1">
                <a:cs typeface="Arial" panose="020B0604020202020204" pitchFamily="34" charset="0"/>
              </a:rPr>
              <a:t>Yaşlar toplamı 48 olarak verilmiş. </a:t>
            </a:r>
          </a:p>
          <a:p>
            <a:endParaRPr lang="tr-TR" sz="1000" b="1"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Tunç 5 yıl sonra doğsaydı geç doğduğundan yaşı az olacaktı yani toplam 5 eksilecekti.</a:t>
            </a:r>
          </a:p>
          <a:p>
            <a:pPr marL="171450" indent="-171450">
              <a:buFont typeface="Wingdings" panose="05000000000000000000" pitchFamily="2" charset="2"/>
              <a:buChar char="Ø"/>
            </a:pPr>
            <a:endParaRPr lang="tr-TR" sz="1000" b="1" noProof="1">
              <a:cs typeface="Arial" panose="020B0604020202020204" pitchFamily="34" charset="0"/>
            </a:endParaRPr>
          </a:p>
          <a:p>
            <a:pPr marL="171450" indent="-171450">
              <a:buFont typeface="Wingdings" panose="05000000000000000000" pitchFamily="2" charset="2"/>
              <a:buChar char="Ø"/>
            </a:pPr>
            <a:r>
              <a:rPr lang="tr-TR" sz="1000" noProof="1">
                <a:cs typeface="Arial" panose="020B0604020202020204" pitchFamily="34" charset="0"/>
              </a:rPr>
              <a:t>Fikret 3 yıl önce doğsaydı 3 yaş daha büyük olacaktı. </a:t>
            </a:r>
          </a:p>
          <a:p>
            <a:pPr marL="171450" indent="-171450">
              <a:buFont typeface="Wingdings" panose="05000000000000000000" pitchFamily="2" charset="2"/>
              <a:buChar char="Ø"/>
            </a:pPr>
            <a:endParaRPr lang="tr-TR" sz="1000" b="1" noProof="1">
              <a:cs typeface="Arial" panose="020B0604020202020204" pitchFamily="34" charset="0"/>
            </a:endParaRPr>
          </a:p>
          <a:p>
            <a:r>
              <a:rPr lang="tr-TR" sz="1000" b="1" noProof="1">
                <a:cs typeface="Arial" panose="020B0604020202020204" pitchFamily="34" charset="0"/>
              </a:rPr>
              <a:t>Bu değişiklikler yaş toplamlarına yansıyacağından ötürü toplamda -5 + 3 = -2 yaş toplamında azalma olacaktır. </a:t>
            </a:r>
          </a:p>
          <a:p>
            <a:endParaRPr lang="tr-TR" sz="1000" b="1" noProof="1">
              <a:cs typeface="Arial" panose="020B0604020202020204" pitchFamily="34" charset="0"/>
            </a:endParaRPr>
          </a:p>
          <a:p>
            <a:r>
              <a:rPr lang="tr-TR" sz="1000" b="1" noProof="1">
                <a:cs typeface="Arial" panose="020B0604020202020204" pitchFamily="34" charset="0"/>
              </a:rPr>
              <a:t>48-2= 46 olurdu.</a:t>
            </a:r>
          </a:p>
        </p:txBody>
      </p:sp>
      <p:sp>
        <p:nvSpPr>
          <p:cNvPr id="58" name="Metin kutusu 57">
            <a:extLst>
              <a:ext uri="{FF2B5EF4-FFF2-40B4-BE49-F238E27FC236}">
                <a16:creationId xmlns:a16="http://schemas.microsoft.com/office/drawing/2014/main" id="{2A09E88E-F886-4A68-BD3D-DE2AFEE4EA7B}"/>
              </a:ext>
            </a:extLst>
          </p:cNvPr>
          <p:cNvSpPr txBox="1"/>
          <p:nvPr/>
        </p:nvSpPr>
        <p:spPr>
          <a:xfrm>
            <a:off x="67239" y="4773899"/>
            <a:ext cx="3215755" cy="1169551"/>
          </a:xfrm>
          <a:prstGeom prst="rect">
            <a:avLst/>
          </a:prstGeom>
          <a:noFill/>
        </p:spPr>
        <p:txBody>
          <a:bodyPr wrap="square" rtlCol="0">
            <a:spAutoFit/>
          </a:bodyPr>
          <a:lstStyle/>
          <a:p>
            <a:r>
              <a:rPr lang="tr-TR" sz="1000" noProof="1">
                <a:cs typeface="Arial" panose="020B0604020202020204" pitchFamily="34" charset="0"/>
              </a:rPr>
              <a:t>Bir sınıfta kelebek sistemiyle sınav uygulanmaktadır.  Sınıfta 9. ve 11.sınıf öğrencileri ve 36 yaşında bir gözetmen öğretmen vardır. 9.sınıf öğrencileri 15 yaşında, 11.sınıf öğrencileri 17 yaşındadır. Sınıfta toplam 26 kişi vardır.</a:t>
            </a:r>
          </a:p>
          <a:p>
            <a:endParaRPr lang="tr-TR" sz="1000" noProof="1">
              <a:cs typeface="Arial" panose="020B0604020202020204" pitchFamily="34" charset="0"/>
            </a:endParaRPr>
          </a:p>
          <a:p>
            <a:r>
              <a:rPr lang="tr-TR" sz="1000" b="1" noProof="1">
                <a:cs typeface="Arial" panose="020B0604020202020204" pitchFamily="34" charset="0"/>
              </a:rPr>
              <a:t>Sınıftaki herkesin yaşları toplamı 437 olduğuna göre sınıfta kaç tane 9.sınıf öğrencisi vardır?   </a:t>
            </a:r>
          </a:p>
        </p:txBody>
      </p:sp>
      <p:sp>
        <p:nvSpPr>
          <p:cNvPr id="60" name="Metin kutusu 59">
            <a:extLst>
              <a:ext uri="{FF2B5EF4-FFF2-40B4-BE49-F238E27FC236}">
                <a16:creationId xmlns:a16="http://schemas.microsoft.com/office/drawing/2014/main" id="{A3398D87-36D6-4DA0-B371-D492B0A1C1C5}"/>
              </a:ext>
            </a:extLst>
          </p:cNvPr>
          <p:cNvSpPr txBox="1"/>
          <p:nvPr/>
        </p:nvSpPr>
        <p:spPr>
          <a:xfrm>
            <a:off x="64032" y="7062323"/>
            <a:ext cx="3215755" cy="1631216"/>
          </a:xfrm>
          <a:prstGeom prst="rect">
            <a:avLst/>
          </a:prstGeom>
          <a:noFill/>
        </p:spPr>
        <p:txBody>
          <a:bodyPr wrap="square" rtlCol="0">
            <a:spAutoFit/>
          </a:bodyPr>
          <a:lstStyle/>
          <a:p>
            <a:r>
              <a:rPr lang="tr-TR" sz="1000" noProof="1">
                <a:cs typeface="Arial" panose="020B0604020202020204" pitchFamily="34" charset="0"/>
              </a:rPr>
              <a:t>Yaşlar toplamından önce öğretmeni çıkaralım. 401 kalır. </a:t>
            </a:r>
          </a:p>
          <a:p>
            <a:endParaRPr lang="tr-TR" sz="1000" b="1" noProof="1">
              <a:cs typeface="Arial" panose="020B0604020202020204" pitchFamily="34" charset="0"/>
            </a:endParaRPr>
          </a:p>
          <a:p>
            <a:r>
              <a:rPr lang="tr-TR" sz="1000" noProof="1">
                <a:cs typeface="Arial" panose="020B0604020202020204" pitchFamily="34" charset="0"/>
              </a:rPr>
              <a:t>9.Sınıf öğrencilerine x dersek, 11.sınıf öğrencileri 25-x olacaktır. 26 değil çünkü 1 kişi öğretmendi. Yaş toplamına bakalım. Sırasıyla 9.sınıf ve 11.sınıfların yaşlarını bulalım.</a:t>
            </a:r>
          </a:p>
          <a:p>
            <a:endParaRPr lang="tr-TR" sz="1000" noProof="1">
              <a:cs typeface="Arial" panose="020B0604020202020204" pitchFamily="34" charset="0"/>
            </a:endParaRPr>
          </a:p>
          <a:p>
            <a:r>
              <a:rPr lang="tr-TR" sz="1000" noProof="1">
                <a:cs typeface="Arial" panose="020B0604020202020204" pitchFamily="34" charset="0"/>
              </a:rPr>
              <a:t>x . 15 + (25-x) . 17 = 401        x=12 olacaktır. </a:t>
            </a:r>
          </a:p>
          <a:p>
            <a:endParaRPr lang="tr-TR" sz="1000" noProof="1">
              <a:cs typeface="Arial" panose="020B0604020202020204" pitchFamily="34" charset="0"/>
            </a:endParaRPr>
          </a:p>
          <a:p>
            <a:r>
              <a:rPr lang="tr-TR" sz="1000" b="1" noProof="1">
                <a:cs typeface="Arial" panose="020B0604020202020204" pitchFamily="34" charset="0"/>
              </a:rPr>
              <a:t>9.Sınıf öğrencisi 12 adettir.</a:t>
            </a:r>
          </a:p>
          <a:p>
            <a:r>
              <a:rPr lang="tr-TR" sz="1000" noProof="1">
                <a:cs typeface="Arial" panose="020B0604020202020204" pitchFamily="34" charset="0"/>
              </a:rPr>
              <a:t>11.Sınıf öğrencisi 13 adettir. </a:t>
            </a:r>
          </a:p>
        </p:txBody>
      </p:sp>
      <p:sp>
        <p:nvSpPr>
          <p:cNvPr id="62" name="Metin kutusu 61">
            <a:extLst>
              <a:ext uri="{FF2B5EF4-FFF2-40B4-BE49-F238E27FC236}">
                <a16:creationId xmlns:a16="http://schemas.microsoft.com/office/drawing/2014/main" id="{610F63F0-BA83-4161-A96E-FE70E8643D85}"/>
              </a:ext>
            </a:extLst>
          </p:cNvPr>
          <p:cNvSpPr txBox="1"/>
          <p:nvPr/>
        </p:nvSpPr>
        <p:spPr>
          <a:xfrm>
            <a:off x="3597148" y="747956"/>
            <a:ext cx="3332003" cy="938719"/>
          </a:xfrm>
          <a:prstGeom prst="rect">
            <a:avLst/>
          </a:prstGeom>
          <a:noFill/>
        </p:spPr>
        <p:txBody>
          <a:bodyPr wrap="square" rtlCol="0">
            <a:spAutoFit/>
          </a:bodyPr>
          <a:lstStyle/>
          <a:p>
            <a:r>
              <a:rPr lang="tr-TR" sz="900" noProof="1">
                <a:cs typeface="Arial" panose="020B0604020202020204" pitchFamily="34" charset="0"/>
              </a:rPr>
              <a:t>I. Bir anne bir çocuğunun yaşının en fazla bir defa 2 katı olabilir.</a:t>
            </a:r>
          </a:p>
          <a:p>
            <a:r>
              <a:rPr lang="tr-TR" sz="900" noProof="1">
                <a:cs typeface="Arial" panose="020B0604020202020204" pitchFamily="34" charset="0"/>
              </a:rPr>
              <a:t>II. Bir anne ile çocuklarının yaşları arasındaki fark daima sabit kalır. </a:t>
            </a:r>
          </a:p>
          <a:p>
            <a:r>
              <a:rPr lang="tr-TR" sz="900" noProof="1">
                <a:cs typeface="Arial" panose="020B0604020202020204" pitchFamily="34" charset="0"/>
              </a:rPr>
              <a:t>III. 3 çocuğu olan babanın yaşı ile çocukların yaşlar toplamı arasındaki fark daima artar.</a:t>
            </a:r>
          </a:p>
          <a:p>
            <a:pPr marL="285750" indent="-285750">
              <a:buFont typeface="+mj-lt"/>
              <a:buAutoNum type="romanUcPeriod"/>
            </a:pPr>
            <a:endParaRPr lang="tr-TR" sz="900" noProof="1">
              <a:cs typeface="Arial" panose="020B0604020202020204" pitchFamily="34" charset="0"/>
            </a:endParaRPr>
          </a:p>
          <a:p>
            <a:r>
              <a:rPr lang="tr-TR" sz="1000" b="1" noProof="1">
                <a:cs typeface="Arial" panose="020B0604020202020204" pitchFamily="34" charset="0"/>
              </a:rPr>
              <a:t>Yukardaki yargılardan hangileri daima doğrudur?</a:t>
            </a:r>
          </a:p>
        </p:txBody>
      </p:sp>
      <p:sp>
        <p:nvSpPr>
          <p:cNvPr id="66" name="Metin kutusu 65">
            <a:extLst>
              <a:ext uri="{FF2B5EF4-FFF2-40B4-BE49-F238E27FC236}">
                <a16:creationId xmlns:a16="http://schemas.microsoft.com/office/drawing/2014/main" id="{D226B783-8A75-4B21-92CE-C9894FBD429B}"/>
              </a:ext>
            </a:extLst>
          </p:cNvPr>
          <p:cNvSpPr txBox="1"/>
          <p:nvPr/>
        </p:nvSpPr>
        <p:spPr>
          <a:xfrm>
            <a:off x="3582474" y="3262387"/>
            <a:ext cx="3252763" cy="5478423"/>
          </a:xfrm>
          <a:prstGeom prst="rect">
            <a:avLst/>
          </a:prstGeom>
          <a:noFill/>
        </p:spPr>
        <p:txBody>
          <a:bodyPr wrap="square" rtlCol="0">
            <a:spAutoFit/>
          </a:bodyPr>
          <a:lstStyle/>
          <a:p>
            <a:pPr marL="171450" indent="-171450">
              <a:buFont typeface="Wingdings" panose="05000000000000000000" pitchFamily="2" charset="2"/>
              <a:buChar char="§"/>
            </a:pPr>
            <a:r>
              <a:rPr lang="tr-TR" sz="1000" b="1" noProof="1">
                <a:cs typeface="Arial" panose="020B0604020202020204" pitchFamily="34" charset="0"/>
              </a:rPr>
              <a:t>Güzel bir yorum sorusu, detaylıca açıklayalım.</a:t>
            </a:r>
            <a:br>
              <a:rPr lang="tr-TR" sz="1000" b="1" noProof="1">
                <a:cs typeface="Arial" panose="020B0604020202020204" pitchFamily="34" charset="0"/>
              </a:rPr>
            </a:br>
            <a:br>
              <a:rPr lang="tr-TR" sz="1000" b="1" noProof="1">
                <a:cs typeface="Arial" panose="020B0604020202020204" pitchFamily="34" charset="0"/>
              </a:rPr>
            </a:br>
            <a:r>
              <a:rPr lang="tr-TR" sz="1000" b="1" noProof="1">
                <a:cs typeface="Arial" panose="020B0604020202020204" pitchFamily="34" charset="0"/>
              </a:rPr>
              <a:t>I</a:t>
            </a:r>
            <a:r>
              <a:rPr lang="tr-TR" sz="1000" noProof="1">
                <a:cs typeface="Arial" panose="020B0604020202020204" pitchFamily="34" charset="0"/>
              </a:rPr>
              <a:t> : Bu durum sadece </a:t>
            </a:r>
            <a:r>
              <a:rPr lang="tr-TR" sz="1000" b="1" noProof="1">
                <a:cs typeface="Arial" panose="020B0604020202020204" pitchFamily="34" charset="0"/>
              </a:rPr>
              <a:t>1 kere </a:t>
            </a:r>
            <a:r>
              <a:rPr lang="tr-TR" sz="1000" noProof="1">
                <a:cs typeface="Arial" panose="020B0604020202020204" pitchFamily="34" charset="0"/>
              </a:rPr>
              <a:t>gerçekleşebilir. Örneğin çocuk 14 yaşında Anne 28 yaşında olsun. 1 yıl sonra yaşları 15 ve 29 olacak ve aradaki fark sabit kalacak. </a:t>
            </a:r>
          </a:p>
          <a:p>
            <a:endParaRPr lang="tr-TR" sz="1000" noProof="1">
              <a:cs typeface="Arial" panose="020B0604020202020204" pitchFamily="34" charset="0"/>
            </a:endParaRPr>
          </a:p>
          <a:p>
            <a:r>
              <a:rPr lang="tr-TR" sz="1000" noProof="1">
                <a:cs typeface="Arial" panose="020B0604020202020204" pitchFamily="34" charset="0"/>
              </a:rPr>
              <a:t>Defalarca tekrarlanabilmesi için her yıl annenin 2 yaş çocuğun ise 1 yaş büyümesi gerekir. Böyle olsaydı anne 30 olurken çocuk 15 olurdu ve bu oran daima sağlanırdı fakat anne 1 yılda 2 yaş büyüyemez aradaki oran korunamadığı için daima doğru olamaz. I.öncül doğrudur.</a:t>
            </a:r>
          </a:p>
          <a:p>
            <a:endParaRPr lang="tr-TR" sz="1000" noProof="1">
              <a:cs typeface="Arial" panose="020B0604020202020204" pitchFamily="34" charset="0"/>
            </a:endParaRPr>
          </a:p>
          <a:p>
            <a:pPr marL="171450" indent="-171450">
              <a:buFont typeface="Wingdings" panose="05000000000000000000" pitchFamily="2" charset="2"/>
              <a:buChar char="§"/>
            </a:pPr>
            <a:r>
              <a:rPr lang="tr-TR" sz="1000" b="1" noProof="1">
                <a:cs typeface="Arial" panose="020B0604020202020204" pitchFamily="34" charset="0"/>
              </a:rPr>
              <a:t>II : </a:t>
            </a:r>
            <a:r>
              <a:rPr lang="tr-TR" sz="1000" noProof="1">
                <a:cs typeface="Arial" panose="020B0604020202020204" pitchFamily="34" charset="0"/>
              </a:rPr>
              <a:t>Yaşlar arasındaki fark daima sabittir. Bireysel olarak değerlendirdiğimizde herkes bir yılda 1 yaş büyümüş olur ve ekstra bir fark oluşmaz.</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b="1" noProof="1">
                <a:cs typeface="Arial" panose="020B0604020202020204" pitchFamily="34" charset="0"/>
              </a:rPr>
              <a:t>III :  </a:t>
            </a:r>
            <a:r>
              <a:rPr lang="tr-TR" sz="1000" noProof="1">
                <a:cs typeface="Arial" panose="020B0604020202020204" pitchFamily="34" charset="0"/>
              </a:rPr>
              <a:t>Bir baba ile 3 çocuğunun yaşları toplamı arasındaki fark hem artabilir hemde azalabilir. Bu iki farklı durumdan ötürü sağlanmaktadır. </a:t>
            </a:r>
          </a:p>
          <a:p>
            <a:pPr marL="171450" indent="-171450">
              <a:buFont typeface="Wingdings" panose="05000000000000000000" pitchFamily="2" charset="2"/>
              <a:buChar char="§"/>
            </a:pPr>
            <a:endParaRPr lang="tr-TR" sz="1000" noProof="1">
              <a:cs typeface="Arial" panose="020B0604020202020204" pitchFamily="34" charset="0"/>
            </a:endParaRPr>
          </a:p>
          <a:p>
            <a:r>
              <a:rPr lang="tr-TR" sz="1000" b="1" noProof="1">
                <a:cs typeface="Arial" panose="020B0604020202020204" pitchFamily="34" charset="0"/>
              </a:rPr>
              <a:t>İlk durum : Çocukların yaşları toplamı babadan büyükse</a:t>
            </a:r>
          </a:p>
          <a:p>
            <a:endParaRPr lang="tr-TR" sz="1000" noProof="1">
              <a:cs typeface="Arial" panose="020B0604020202020204" pitchFamily="34" charset="0"/>
            </a:endParaRPr>
          </a:p>
          <a:p>
            <a:r>
              <a:rPr lang="tr-TR" sz="1000" noProof="1">
                <a:cs typeface="Arial" panose="020B0604020202020204" pitchFamily="34" charset="0"/>
              </a:rPr>
              <a:t>Çocuklar yaşları toplamı babadan büyükse, çocuklar 3 tane olduğundan bu toplam her yıl 3 yaş büyürken baba tek kişi olduğundan babanın yaşını geçtiklerinden sonra bu fark daima artacaktır. Çünkü her yıl belirli bir fark oluşur.</a:t>
            </a:r>
          </a:p>
          <a:p>
            <a:endParaRPr lang="tr-TR" sz="1000" noProof="1">
              <a:cs typeface="Arial" panose="020B0604020202020204" pitchFamily="34" charset="0"/>
            </a:endParaRPr>
          </a:p>
          <a:p>
            <a:r>
              <a:rPr lang="tr-TR" sz="1000" b="1" noProof="1">
                <a:cs typeface="Arial" panose="020B0604020202020204" pitchFamily="34" charset="0"/>
              </a:rPr>
              <a:t>İkinci durum : Çocukların yaşları toplamı babadan küçükse</a:t>
            </a:r>
          </a:p>
          <a:p>
            <a:endParaRPr lang="tr-TR" sz="1000" noProof="1">
              <a:cs typeface="Arial" panose="020B0604020202020204" pitchFamily="34" charset="0"/>
            </a:endParaRPr>
          </a:p>
          <a:p>
            <a:r>
              <a:rPr lang="tr-TR" sz="1000" noProof="1">
                <a:cs typeface="Arial" panose="020B0604020202020204" pitchFamily="34" charset="0"/>
              </a:rPr>
              <a:t>Bu durumda çocukların yaşları toplamı daha fazla artacağı için her yıl babaya nazaran, babanın yaşını hızlıca yakalarlar. Yani bu fark azalmış olur. Görüldüğü üzere, daima sağlanamadı. İki durumda fark hem artabilirken, azalabilmektedir. Dikkat gerektirdiği için sınav ayarı bir yorum sorusudur.</a:t>
            </a:r>
          </a:p>
        </p:txBody>
      </p:sp>
    </p:spTree>
    <p:extLst>
      <p:ext uri="{BB962C8B-B14F-4D97-AF65-F5344CB8AC3E}">
        <p14:creationId xmlns:p14="http://schemas.microsoft.com/office/powerpoint/2010/main" val="1758275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Yaş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96417" y="432022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25" y="3881525"/>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306" y="3900076"/>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31" y="3881525"/>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mc:AlternateContent xmlns:mc="http://schemas.openxmlformats.org/markup-compatibility/2006" xmlns:a14="http://schemas.microsoft.com/office/drawing/2010/main">
        <mc:Choice Requires="a14">
          <p:sp>
            <p:nvSpPr>
              <p:cNvPr id="55" name="Metin kutusu 54">
                <a:extLst>
                  <a:ext uri="{FF2B5EF4-FFF2-40B4-BE49-F238E27FC236}">
                    <a16:creationId xmlns:a16="http://schemas.microsoft.com/office/drawing/2014/main" id="{03B28319-59E9-4BA9-A2EF-6A80AE8036A2}"/>
                  </a:ext>
                </a:extLst>
              </p:cNvPr>
              <p:cNvSpPr txBox="1"/>
              <p:nvPr/>
            </p:nvSpPr>
            <p:spPr>
              <a:xfrm>
                <a:off x="59017" y="870830"/>
                <a:ext cx="3255555" cy="1838837"/>
              </a:xfrm>
              <a:prstGeom prst="rect">
                <a:avLst/>
              </a:prstGeom>
              <a:noFill/>
            </p:spPr>
            <p:txBody>
              <a:bodyPr wrap="square" rtlCol="0">
                <a:spAutoFit/>
              </a:bodyPr>
              <a:lstStyle/>
              <a:p>
                <a:r>
                  <a:rPr lang="tr-TR" sz="1000" noProof="1">
                    <a:cs typeface="Arial" panose="020B0604020202020204" pitchFamily="34" charset="0"/>
                  </a:rPr>
                  <a:t>a,b,c birer doğal sayı olmak üzere, a kişilik bir grubun yaşları toplamı bugün b dir. 5 yıl sonra yaşları toplamı c olduğuna göre </a:t>
                </a:r>
                <a:r>
                  <a:rPr lang="tr-TR" sz="1000" b="1" noProof="1">
                    <a:cs typeface="Arial" panose="020B0604020202020204" pitchFamily="34" charset="0"/>
                  </a:rPr>
                  <a:t>aşağıdaki yargılardan hangileri doğrudur?</a:t>
                </a:r>
              </a:p>
              <a:p>
                <a:endParaRPr lang="tr-TR" sz="1000" noProof="1">
                  <a:cs typeface="Arial" panose="020B0604020202020204" pitchFamily="34" charset="0"/>
                </a:endParaRPr>
              </a:p>
              <a:p>
                <a:pPr marL="285750" indent="-285750">
                  <a:buFont typeface="+mj-lt"/>
                  <a:buAutoNum type="romanUcPeriod"/>
                </a:pPr>
                <a:r>
                  <a:rPr lang="tr-TR" sz="1000" noProof="1">
                    <a:cs typeface="Arial" panose="020B0604020202020204" pitchFamily="34" charset="0"/>
                  </a:rPr>
                  <a:t> </a:t>
                </a:r>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rPr>
                          <m:t>b</m:t>
                        </m:r>
                      </m:num>
                      <m:den>
                        <m:r>
                          <m:rPr>
                            <m:nor/>
                          </m:rPr>
                          <a:rPr lang="tr-TR" sz="1000" b="0" i="0" noProof="1" smtClean="0">
                            <a:solidFill>
                              <a:schemeClr val="tx1"/>
                            </a:solidFill>
                          </a:rPr>
                          <m:t>bug</m:t>
                        </m:r>
                        <m:r>
                          <m:rPr>
                            <m:nor/>
                          </m:rPr>
                          <a:rPr lang="tr-TR" sz="1000" b="0" i="0" noProof="1" smtClean="0">
                            <a:solidFill>
                              <a:schemeClr val="tx1"/>
                            </a:solidFill>
                          </a:rPr>
                          <m:t>ü</m:t>
                        </m:r>
                        <m:r>
                          <m:rPr>
                            <m:nor/>
                          </m:rPr>
                          <a:rPr lang="tr-TR" sz="1000" b="0" i="0" noProof="1" smtClean="0">
                            <a:solidFill>
                              <a:schemeClr val="tx1"/>
                            </a:solidFill>
                          </a:rPr>
                          <m:t>nk</m:t>
                        </m:r>
                        <m:r>
                          <m:rPr>
                            <m:nor/>
                          </m:rPr>
                          <a:rPr lang="tr-TR" sz="1000" b="0" i="0" noProof="1" smtClean="0">
                            <a:solidFill>
                              <a:schemeClr val="tx1"/>
                            </a:solidFill>
                          </a:rPr>
                          <m:t>ü </m:t>
                        </m:r>
                        <m:r>
                          <m:rPr>
                            <m:nor/>
                          </m:rPr>
                          <a:rPr lang="tr-TR" sz="1000" b="0" i="0" noProof="1" smtClean="0">
                            <a:solidFill>
                              <a:schemeClr val="tx1"/>
                            </a:solidFill>
                          </a:rPr>
                          <m:t>ya</m:t>
                        </m:r>
                        <m:r>
                          <m:rPr>
                            <m:nor/>
                          </m:rPr>
                          <a:rPr lang="tr-TR" sz="1000" b="0" i="0" noProof="1" smtClean="0">
                            <a:solidFill>
                              <a:schemeClr val="tx1"/>
                            </a:solidFill>
                          </a:rPr>
                          <m:t>ş</m:t>
                        </m:r>
                        <m:r>
                          <m:rPr>
                            <m:nor/>
                          </m:rPr>
                          <a:rPr lang="tr-TR" sz="1000" b="0" i="0" noProof="1" smtClean="0">
                            <a:solidFill>
                              <a:schemeClr val="tx1"/>
                            </a:solidFill>
                          </a:rPr>
                          <m:t>lar</m:t>
                        </m:r>
                        <m:r>
                          <m:rPr>
                            <m:nor/>
                          </m:rPr>
                          <a:rPr lang="tr-TR" sz="1000" b="0" i="0" noProof="1" smtClean="0">
                            <a:solidFill>
                              <a:schemeClr val="tx1"/>
                            </a:solidFill>
                          </a:rPr>
                          <m:t>ı</m:t>
                        </m:r>
                        <m:r>
                          <m:rPr>
                            <m:nor/>
                          </m:rPr>
                          <a:rPr lang="tr-TR" sz="1000" b="0" i="0" noProof="1" smtClean="0">
                            <a:solidFill>
                              <a:schemeClr val="tx1"/>
                            </a:solidFill>
                          </a:rPr>
                          <m:t>n</m:t>
                        </m:r>
                        <m:r>
                          <m:rPr>
                            <m:nor/>
                          </m:rPr>
                          <a:rPr lang="tr-TR" sz="1000" b="0" i="0" noProof="1" smtClean="0">
                            <a:solidFill>
                              <a:schemeClr val="tx1"/>
                            </a:solidFill>
                          </a:rPr>
                          <m:t> </m:t>
                        </m:r>
                        <m:r>
                          <m:rPr>
                            <m:nor/>
                          </m:rPr>
                          <a:rPr lang="tr-TR" sz="1000" b="0" i="0" noProof="1" smtClean="0">
                            <a:solidFill>
                              <a:schemeClr val="tx1"/>
                            </a:solidFill>
                          </a:rPr>
                          <m:t>aritmetik</m:t>
                        </m:r>
                        <m:r>
                          <m:rPr>
                            <m:nor/>
                          </m:rPr>
                          <a:rPr lang="tr-TR" sz="1000" b="0" i="0" noProof="1" smtClean="0">
                            <a:solidFill>
                              <a:schemeClr val="tx1"/>
                            </a:solidFill>
                          </a:rPr>
                          <m:t> </m:t>
                        </m:r>
                        <m:r>
                          <m:rPr>
                            <m:nor/>
                          </m:rPr>
                          <a:rPr lang="tr-TR" sz="1000" b="0" i="0" noProof="1" smtClean="0">
                            <a:solidFill>
                              <a:schemeClr val="tx1"/>
                            </a:solidFill>
                          </a:rPr>
                          <m:t>ortalamas</m:t>
                        </m:r>
                        <m:r>
                          <m:rPr>
                            <m:nor/>
                          </m:rPr>
                          <a:rPr lang="tr-TR" sz="1000" b="0" i="0" noProof="1" smtClean="0">
                            <a:solidFill>
                              <a:schemeClr val="tx1"/>
                            </a:solidFill>
                          </a:rPr>
                          <m:t>ı</m:t>
                        </m:r>
                      </m:den>
                    </m:f>
                  </m:oMath>
                </a14:m>
                <a:r>
                  <a:rPr lang="tr-TR" sz="1000" noProof="1">
                    <a:cs typeface="Arial" panose="020B0604020202020204" pitchFamily="34" charset="0"/>
                  </a:rPr>
                  <a:t> = a </a:t>
                </a:r>
                <a:br>
                  <a:rPr lang="tr-TR" sz="1000" noProof="1">
                    <a:cs typeface="Arial" panose="020B0604020202020204" pitchFamily="34" charset="0"/>
                  </a:rPr>
                </a:br>
                <a:endParaRPr lang="tr-TR" sz="1000" noProof="1">
                  <a:cs typeface="Arial" panose="020B0604020202020204" pitchFamily="34" charset="0"/>
                </a:endParaRPr>
              </a:p>
              <a:p>
                <a:pPr marL="285750" indent="-285750">
                  <a:buFont typeface="+mj-lt"/>
                  <a:buAutoNum type="romanUcPeriod"/>
                </a:pPr>
                <a:r>
                  <a:rPr lang="tr-TR" sz="1000" noProof="1">
                    <a:solidFill>
                      <a:schemeClr val="tx1"/>
                    </a:solidFill>
                  </a:rPr>
                  <a:t> </a:t>
                </a:r>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rPr>
                          <m:t>b</m:t>
                        </m:r>
                        <m:r>
                          <m:rPr>
                            <m:nor/>
                          </m:rPr>
                          <a:rPr lang="tr-TR" sz="1000" b="0" i="0" noProof="1" smtClean="0">
                            <a:solidFill>
                              <a:schemeClr val="tx1"/>
                            </a:solidFill>
                          </a:rPr>
                          <m:t> + 4</m:t>
                        </m:r>
                        <m:r>
                          <m:rPr>
                            <m:nor/>
                          </m:rPr>
                          <a:rPr lang="tr-TR" sz="1000" b="0" i="0" noProof="1" smtClean="0">
                            <a:solidFill>
                              <a:schemeClr val="tx1"/>
                            </a:solidFill>
                          </a:rPr>
                          <m:t>a</m:t>
                        </m:r>
                      </m:num>
                      <m:den>
                        <m:r>
                          <m:rPr>
                            <m:nor/>
                          </m:rPr>
                          <a:rPr lang="tr-TR" sz="1000" b="0" i="0" noProof="1" smtClean="0">
                            <a:solidFill>
                              <a:schemeClr val="tx1"/>
                            </a:solidFill>
                          </a:rPr>
                          <m:t>a</m:t>
                        </m:r>
                      </m:den>
                    </m:f>
                  </m:oMath>
                </a14:m>
                <a:r>
                  <a:rPr lang="tr-TR" sz="1000" noProof="1">
                    <a:cs typeface="Arial" panose="020B0604020202020204" pitchFamily="34" charset="0"/>
                  </a:rPr>
                  <a:t> = Dört yıl sonraki yaşların aritmetik ortalamasıdır.</a:t>
                </a:r>
              </a:p>
              <a:p>
                <a:pPr marL="285750" indent="-285750">
                  <a:buFont typeface="+mj-lt"/>
                  <a:buAutoNum type="romanUcPeriod"/>
                </a:pPr>
                <a:endParaRPr lang="tr-TR" sz="1000" noProof="1">
                  <a:cs typeface="Arial" panose="020B0604020202020204" pitchFamily="34" charset="0"/>
                </a:endParaRPr>
              </a:p>
              <a:p>
                <a:pPr marL="285750" indent="-285750">
                  <a:buFont typeface="+mj-lt"/>
                  <a:buAutoNum type="romanUcPeriod"/>
                </a:pPr>
                <a:r>
                  <a:rPr lang="tr-TR" sz="1000" noProof="1">
                    <a:cs typeface="Arial" panose="020B0604020202020204" pitchFamily="34" charset="0"/>
                  </a:rPr>
                  <a:t>b  + 5a = c</a:t>
                </a:r>
              </a:p>
            </p:txBody>
          </p:sp>
        </mc:Choice>
        <mc:Fallback xmlns="">
          <p:sp>
            <p:nvSpPr>
              <p:cNvPr id="55" name="Metin kutusu 54">
                <a:extLst>
                  <a:ext uri="{FF2B5EF4-FFF2-40B4-BE49-F238E27FC236}">
                    <a16:creationId xmlns:a16="http://schemas.microsoft.com/office/drawing/2014/main" id="{03B28319-59E9-4BA9-A2EF-6A80AE8036A2}"/>
                  </a:ext>
                </a:extLst>
              </p:cNvPr>
              <p:cNvSpPr txBox="1">
                <a:spLocks noRot="1" noChangeAspect="1" noMove="1" noResize="1" noEditPoints="1" noAdjustHandles="1" noChangeArrowheads="1" noChangeShapeType="1" noTextEdit="1"/>
              </p:cNvSpPr>
              <p:nvPr/>
            </p:nvSpPr>
            <p:spPr>
              <a:xfrm>
                <a:off x="59017" y="870830"/>
                <a:ext cx="3255555" cy="1838837"/>
              </a:xfrm>
              <a:prstGeom prst="rect">
                <a:avLst/>
              </a:prstGeom>
              <a:blipFill>
                <a:blip r:embed="rId6"/>
                <a:stretch>
                  <a:fillRect r="-375" b="-1329"/>
                </a:stretch>
              </a:blipFill>
            </p:spPr>
            <p:txBody>
              <a:bodyPr/>
              <a:lstStyle/>
              <a:p>
                <a:r>
                  <a:rPr lang="tr-TR">
                    <a:noFill/>
                  </a:rPr>
                  <a:t> </a:t>
                </a:r>
              </a:p>
            </p:txBody>
          </p:sp>
        </mc:Fallback>
      </mc:AlternateContent>
      <p:sp>
        <p:nvSpPr>
          <p:cNvPr id="56" name="Ok: Beşgen 55">
            <a:extLst>
              <a:ext uri="{FF2B5EF4-FFF2-40B4-BE49-F238E27FC236}">
                <a16:creationId xmlns:a16="http://schemas.microsoft.com/office/drawing/2014/main" id="{D327283C-46A4-4C86-A990-995946C89AA1}"/>
              </a:ext>
            </a:extLst>
          </p:cNvPr>
          <p:cNvSpPr/>
          <p:nvPr/>
        </p:nvSpPr>
        <p:spPr>
          <a:xfrm>
            <a:off x="3661359" y="231230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25" y="388967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p:sp>
        <p:nvSpPr>
          <p:cNvPr id="57" name="Kaydırma: Yatay 56">
            <a:extLst>
              <a:ext uri="{FF2B5EF4-FFF2-40B4-BE49-F238E27FC236}">
                <a16:creationId xmlns:a16="http://schemas.microsoft.com/office/drawing/2014/main" id="{D36B78FF-8BDB-481C-9943-3CEBD0A87102}"/>
              </a:ext>
            </a:extLst>
          </p:cNvPr>
          <p:cNvSpPr/>
          <p:nvPr/>
        </p:nvSpPr>
        <p:spPr>
          <a:xfrm>
            <a:off x="878111" y="398146"/>
            <a:ext cx="2348082" cy="513908"/>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A05B2A89-5250-427A-B90F-42AFE3644461}"/>
              </a:ext>
            </a:extLst>
          </p:cNvPr>
          <p:cNvSpPr txBox="1"/>
          <p:nvPr/>
        </p:nvSpPr>
        <p:spPr>
          <a:xfrm>
            <a:off x="897249" y="447351"/>
            <a:ext cx="2328944" cy="415498"/>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“İstemediğiniz bir bölümü başkalarını mutlu etmek için okumayın</a:t>
            </a:r>
            <a:r>
              <a:rPr lang="tr-TR" sz="700" b="1" dirty="0">
                <a:solidFill>
                  <a:schemeClr val="bg1"/>
                </a:solidFill>
                <a:latin typeface="Arial Narrow" panose="020B0606020202030204" pitchFamily="34" charset="0"/>
              </a:rPr>
              <a:t>. Hayat sizin hayatınız. Her gün severek uğraşacağınız işleri ve bölümleri seçin.</a:t>
            </a:r>
            <a:r>
              <a:rPr lang="tr-TR" sz="700" b="1" i="0" dirty="0">
                <a:solidFill>
                  <a:schemeClr val="bg1"/>
                </a:solidFill>
                <a:effectLst/>
                <a:latin typeface="Arial Narrow" panose="020B0606020202030204" pitchFamily="34" charset="0"/>
              </a:rPr>
              <a:t>”  - Ahmet Çelen</a:t>
            </a:r>
            <a:endParaRPr lang="tr-TR" sz="700" dirty="0">
              <a:solidFill>
                <a:schemeClr val="bg1"/>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0F3F962A-EB23-4808-8EF4-FDA4C1B285AA}"/>
                  </a:ext>
                </a:extLst>
              </p:cNvPr>
              <p:cNvSpPr txBox="1"/>
              <p:nvPr/>
            </p:nvSpPr>
            <p:spPr>
              <a:xfrm>
                <a:off x="57926" y="4584824"/>
                <a:ext cx="3255555" cy="4163640"/>
              </a:xfrm>
              <a:prstGeom prst="rect">
                <a:avLst/>
              </a:prstGeom>
              <a:noFill/>
            </p:spPr>
            <p:txBody>
              <a:bodyPr wrap="square" rtlCol="0">
                <a:spAutoFit/>
              </a:bodyPr>
              <a:lstStyle/>
              <a:p>
                <a:r>
                  <a:rPr lang="tr-TR" sz="1000" b="1" noProof="1">
                    <a:cs typeface="Arial" panose="020B0604020202020204" pitchFamily="34" charset="0"/>
                  </a:rPr>
                  <a:t>I : </a:t>
                </a:r>
                <a:r>
                  <a:rPr lang="tr-TR" sz="1000" noProof="1">
                    <a:solidFill>
                      <a:schemeClr val="tx1"/>
                    </a:solidFill>
                    <a:cs typeface="Arial" panose="020B0604020202020204" pitchFamily="34" charset="0"/>
                  </a:rPr>
                  <a:t> </a:t>
                </a:r>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rPr>
                          <m:t>ya</m:t>
                        </m:r>
                        <m:r>
                          <m:rPr>
                            <m:nor/>
                          </m:rPr>
                          <a:rPr lang="tr-TR" sz="1000" b="0" i="0" noProof="1" smtClean="0">
                            <a:solidFill>
                              <a:schemeClr val="tx1"/>
                            </a:solidFill>
                          </a:rPr>
                          <m:t>ş</m:t>
                        </m:r>
                        <m:r>
                          <m:rPr>
                            <m:nor/>
                          </m:rPr>
                          <a:rPr lang="tr-TR" sz="1000" b="0" i="0" noProof="1" smtClean="0">
                            <a:solidFill>
                              <a:schemeClr val="tx1"/>
                            </a:solidFill>
                          </a:rPr>
                          <m:t>lar</m:t>
                        </m:r>
                        <m:r>
                          <m:rPr>
                            <m:nor/>
                          </m:rPr>
                          <a:rPr lang="tr-TR" sz="1000" b="0" i="0" noProof="1" smtClean="0">
                            <a:solidFill>
                              <a:schemeClr val="tx1"/>
                            </a:solidFill>
                          </a:rPr>
                          <m:t> </m:t>
                        </m:r>
                        <m:r>
                          <m:rPr>
                            <m:nor/>
                          </m:rPr>
                          <a:rPr lang="tr-TR" sz="1000" b="0" i="0" noProof="1" smtClean="0">
                            <a:solidFill>
                              <a:schemeClr val="tx1"/>
                            </a:solidFill>
                          </a:rPr>
                          <m:t>toplam</m:t>
                        </m:r>
                        <m:r>
                          <m:rPr>
                            <m:nor/>
                          </m:rPr>
                          <a:rPr lang="tr-TR" sz="1000" b="0" i="0" noProof="1" smtClean="0">
                            <a:solidFill>
                              <a:schemeClr val="tx1"/>
                            </a:solidFill>
                          </a:rPr>
                          <m:t>ı</m:t>
                        </m:r>
                      </m:num>
                      <m:den>
                        <m:r>
                          <m:rPr>
                            <m:nor/>
                          </m:rPr>
                          <a:rPr lang="tr-TR" sz="1000" b="0" i="0" noProof="1" smtClean="0">
                            <a:solidFill>
                              <a:schemeClr val="tx1"/>
                            </a:solidFill>
                          </a:rPr>
                          <m:t>ki</m:t>
                        </m:r>
                        <m:r>
                          <m:rPr>
                            <m:nor/>
                          </m:rPr>
                          <a:rPr lang="tr-TR" sz="1000" b="0" i="0" noProof="1" smtClean="0">
                            <a:solidFill>
                              <a:schemeClr val="tx1"/>
                            </a:solidFill>
                          </a:rPr>
                          <m:t>ş</m:t>
                        </m:r>
                        <m:r>
                          <m:rPr>
                            <m:nor/>
                          </m:rPr>
                          <a:rPr lang="tr-TR" sz="1000" b="0" i="0" noProof="1" smtClean="0">
                            <a:solidFill>
                              <a:schemeClr val="tx1"/>
                            </a:solidFill>
                          </a:rPr>
                          <m:t>i</m:t>
                        </m:r>
                        <m:r>
                          <m:rPr>
                            <m:nor/>
                          </m:rPr>
                          <a:rPr lang="tr-TR" sz="1000" b="0" i="0" noProof="1" smtClean="0">
                            <a:solidFill>
                              <a:schemeClr val="tx1"/>
                            </a:solidFill>
                          </a:rPr>
                          <m:t> </m:t>
                        </m:r>
                        <m:r>
                          <m:rPr>
                            <m:nor/>
                          </m:rPr>
                          <a:rPr lang="tr-TR" sz="1000" b="0" i="0" noProof="1" smtClean="0">
                            <a:solidFill>
                              <a:schemeClr val="tx1"/>
                            </a:solidFill>
                          </a:rPr>
                          <m:t>say</m:t>
                        </m:r>
                        <m:r>
                          <m:rPr>
                            <m:nor/>
                          </m:rPr>
                          <a:rPr lang="tr-TR" sz="1000" b="0" i="0" noProof="1" smtClean="0">
                            <a:solidFill>
                              <a:schemeClr val="tx1"/>
                            </a:solidFill>
                          </a:rPr>
                          <m:t>ı</m:t>
                        </m:r>
                        <m:r>
                          <m:rPr>
                            <m:nor/>
                          </m:rPr>
                          <a:rPr lang="tr-TR" sz="1000" b="0" i="0" noProof="1" smtClean="0">
                            <a:solidFill>
                              <a:schemeClr val="tx1"/>
                            </a:solidFill>
                          </a:rPr>
                          <m:t>s</m:t>
                        </m:r>
                        <m:r>
                          <m:rPr>
                            <m:nor/>
                          </m:rPr>
                          <a:rPr lang="tr-TR" sz="1000" b="0" i="0" noProof="1" smtClean="0">
                            <a:solidFill>
                              <a:schemeClr val="tx1"/>
                            </a:solidFill>
                          </a:rPr>
                          <m:t>ı</m:t>
                        </m:r>
                      </m:den>
                    </m:f>
                  </m:oMath>
                </a14:m>
                <a:r>
                  <a:rPr lang="tr-TR" sz="1000" noProof="1">
                    <a:solidFill>
                      <a:schemeClr val="tx1"/>
                    </a:solidFill>
                    <a:cs typeface="Arial" panose="020B0604020202020204" pitchFamily="34" charset="0"/>
                  </a:rPr>
                  <a:t> = yaşların aritmetik ortalaması olduğu için içler dışlar yaptığımızda </a:t>
                </a:r>
                <a14:m>
                  <m:oMath xmlns:m="http://schemas.openxmlformats.org/officeDocument/2006/math">
                    <m:f>
                      <m:fPr>
                        <m:ctrlPr>
                          <a:rPr lang="tr-TR" sz="1000" i="1" noProof="1">
                            <a:latin typeface="Cambria Math" panose="02040503050406030204" pitchFamily="18" charset="0"/>
                          </a:rPr>
                        </m:ctrlPr>
                      </m:fPr>
                      <m:num>
                        <m:r>
                          <m:rPr>
                            <m:nor/>
                          </m:rPr>
                          <a:rPr lang="tr-TR" sz="1000" noProof="1"/>
                          <m:t>ya</m:t>
                        </m:r>
                        <m:r>
                          <m:rPr>
                            <m:nor/>
                          </m:rPr>
                          <a:rPr lang="tr-TR" sz="1000" noProof="1"/>
                          <m:t>ş</m:t>
                        </m:r>
                        <m:r>
                          <m:rPr>
                            <m:nor/>
                          </m:rPr>
                          <a:rPr lang="tr-TR" sz="1000" noProof="1"/>
                          <m:t>lar</m:t>
                        </m:r>
                        <m:r>
                          <m:rPr>
                            <m:nor/>
                          </m:rPr>
                          <a:rPr lang="tr-TR" sz="1000" noProof="1"/>
                          <m:t> </m:t>
                        </m:r>
                        <m:r>
                          <m:rPr>
                            <m:nor/>
                          </m:rPr>
                          <a:rPr lang="tr-TR" sz="1000" noProof="1"/>
                          <m:t>toplam</m:t>
                        </m:r>
                        <m:r>
                          <m:rPr>
                            <m:nor/>
                          </m:rPr>
                          <a:rPr lang="tr-TR" sz="1000" noProof="1"/>
                          <m:t>ı</m:t>
                        </m:r>
                      </m:num>
                      <m:den>
                        <m:r>
                          <m:rPr>
                            <m:nor/>
                          </m:rPr>
                          <a:rPr lang="tr-TR" sz="1000" b="0" i="0" noProof="1" smtClean="0"/>
                          <m:t>aritmetik</m:t>
                        </m:r>
                        <m:r>
                          <m:rPr>
                            <m:nor/>
                          </m:rPr>
                          <a:rPr lang="tr-TR" sz="1000" b="0" i="0" noProof="1" smtClean="0"/>
                          <m:t> </m:t>
                        </m:r>
                        <m:r>
                          <m:rPr>
                            <m:nor/>
                          </m:rPr>
                          <a:rPr lang="tr-TR" sz="1000" b="0" i="0" noProof="1" smtClean="0"/>
                          <m:t>ortalama</m:t>
                        </m:r>
                      </m:den>
                    </m:f>
                  </m:oMath>
                </a14:m>
                <a:r>
                  <a:rPr lang="tr-TR" sz="1000" noProof="1">
                    <a:solidFill>
                      <a:schemeClr val="tx1"/>
                    </a:solidFill>
                    <a:cs typeface="Arial" panose="020B0604020202020204" pitchFamily="34" charset="0"/>
                  </a:rPr>
                  <a:t> = kişi sayısı olur.</a:t>
                </a:r>
              </a:p>
              <a:p>
                <a:endParaRPr lang="tr-TR" sz="1000" noProof="1">
                  <a:cs typeface="Arial" panose="020B0604020202020204" pitchFamily="34" charset="0"/>
                </a:endParaRPr>
              </a:p>
              <a:p>
                <a:r>
                  <a:rPr lang="tr-TR" sz="1000" noProof="1">
                    <a:solidFill>
                      <a:schemeClr val="tx1"/>
                    </a:solidFill>
                    <a:cs typeface="Arial" panose="020B0604020202020204" pitchFamily="34" charset="0"/>
                  </a:rPr>
                  <a:t>Yaşlar toplamı / kişi sayısı = </a:t>
                </a:r>
                <a14:m>
                  <m:oMath xmlns:m="http://schemas.openxmlformats.org/officeDocument/2006/math">
                    <m:f>
                      <m:fPr>
                        <m:ctrlPr>
                          <a:rPr lang="tr-TR" sz="1000" i="1" noProof="1">
                            <a:latin typeface="Cambria Math" panose="02040503050406030204" pitchFamily="18" charset="0"/>
                          </a:rPr>
                        </m:ctrlPr>
                      </m:fPr>
                      <m:num>
                        <m:r>
                          <m:rPr>
                            <m:nor/>
                          </m:rPr>
                          <a:rPr lang="tr-TR" sz="1000" noProof="1">
                            <a:latin typeface="Cambria Math" panose="02040503050406030204" pitchFamily="18" charset="0"/>
                          </a:rPr>
                          <m:t>  </m:t>
                        </m:r>
                        <m:r>
                          <m:rPr>
                            <m:nor/>
                          </m:rPr>
                          <a:rPr lang="tr-TR" sz="1000" noProof="1"/>
                          <m:t>b</m:t>
                        </m:r>
                        <m:r>
                          <m:rPr>
                            <m:nor/>
                          </m:rPr>
                          <a:rPr lang="tr-TR" sz="1000" noProof="1"/>
                          <m:t>  </m:t>
                        </m:r>
                      </m:num>
                      <m:den>
                        <m:r>
                          <m:rPr>
                            <m:nor/>
                          </m:rPr>
                          <a:rPr lang="tr-TR" sz="1000" noProof="1"/>
                          <m:t>a</m:t>
                        </m:r>
                      </m:den>
                    </m:f>
                  </m:oMath>
                </a14:m>
                <a:r>
                  <a:rPr lang="tr-TR" sz="1000" noProof="1">
                    <a:solidFill>
                      <a:schemeClr val="tx1"/>
                    </a:solidFill>
                    <a:cs typeface="Arial" panose="020B0604020202020204" pitchFamily="34" charset="0"/>
                  </a:rPr>
                  <a:t> olacaktır.</a:t>
                </a:r>
                <a:br>
                  <a:rPr lang="tr-TR" sz="1000" noProof="1">
                    <a:solidFill>
                      <a:schemeClr val="tx1"/>
                    </a:solidFill>
                    <a:cs typeface="Arial" panose="020B0604020202020204" pitchFamily="34" charset="0"/>
                  </a:rPr>
                </a:br>
                <a:br>
                  <a:rPr lang="tr-TR" sz="1000" noProof="1">
                    <a:solidFill>
                      <a:schemeClr val="tx1"/>
                    </a:solidFill>
                    <a:cs typeface="Arial" panose="020B0604020202020204" pitchFamily="34" charset="0"/>
                  </a:rPr>
                </a:br>
                <a:r>
                  <a:rPr lang="tr-TR" sz="1000" noProof="1">
                    <a:solidFill>
                      <a:schemeClr val="tx1"/>
                    </a:solidFill>
                    <a:cs typeface="Arial" panose="020B0604020202020204" pitchFamily="34" charset="0"/>
                  </a:rPr>
                  <a:t> </a:t>
                </a:r>
                <a14:m>
                  <m:oMath xmlns:m="http://schemas.openxmlformats.org/officeDocument/2006/math">
                    <m:f>
                      <m:fPr>
                        <m:ctrlPr>
                          <a:rPr lang="tr-TR" sz="1000" i="1" noProof="1" smtClean="0">
                            <a:latin typeface="Cambria Math" panose="02040503050406030204" pitchFamily="18" charset="0"/>
                          </a:rPr>
                        </m:ctrlPr>
                      </m:fPr>
                      <m:num>
                        <m:r>
                          <m:rPr>
                            <m:nor/>
                          </m:rPr>
                          <a:rPr lang="tr-TR" sz="1000" noProof="1"/>
                          <m:t>ya</m:t>
                        </m:r>
                        <m:r>
                          <m:rPr>
                            <m:nor/>
                          </m:rPr>
                          <a:rPr lang="tr-TR" sz="1000" noProof="1"/>
                          <m:t>ş</m:t>
                        </m:r>
                        <m:r>
                          <m:rPr>
                            <m:nor/>
                          </m:rPr>
                          <a:rPr lang="tr-TR" sz="1000" noProof="1"/>
                          <m:t>lar</m:t>
                        </m:r>
                        <m:r>
                          <m:rPr>
                            <m:nor/>
                          </m:rPr>
                          <a:rPr lang="tr-TR" sz="1000" noProof="1"/>
                          <m:t> </m:t>
                        </m:r>
                        <m:r>
                          <m:rPr>
                            <m:nor/>
                          </m:rPr>
                          <a:rPr lang="tr-TR" sz="1000" noProof="1"/>
                          <m:t>toplam</m:t>
                        </m:r>
                        <m:r>
                          <m:rPr>
                            <m:nor/>
                          </m:rPr>
                          <a:rPr lang="tr-TR" sz="1000" noProof="1"/>
                          <m:t>ı</m:t>
                        </m:r>
                      </m:num>
                      <m:den>
                        <m:r>
                          <m:rPr>
                            <m:nor/>
                          </m:rPr>
                          <a:rPr lang="tr-TR" sz="1000" b="0" i="0" noProof="1" smtClean="0"/>
                          <m:t>aritmetik</m:t>
                        </m:r>
                        <m:r>
                          <m:rPr>
                            <m:nor/>
                          </m:rPr>
                          <a:rPr lang="tr-TR" sz="1000" b="0" i="0" noProof="1" smtClean="0"/>
                          <m:t> </m:t>
                        </m:r>
                        <m:r>
                          <m:rPr>
                            <m:nor/>
                          </m:rPr>
                          <a:rPr lang="tr-TR" sz="1000" b="0" i="0" noProof="1" smtClean="0"/>
                          <m:t>ortalama</m:t>
                        </m:r>
                      </m:den>
                    </m:f>
                  </m:oMath>
                </a14:m>
                <a:r>
                  <a:rPr lang="tr-TR" sz="1000" noProof="1">
                    <a:solidFill>
                      <a:schemeClr val="tx1"/>
                    </a:solidFill>
                    <a:cs typeface="Arial" panose="020B0604020202020204" pitchFamily="34" charset="0"/>
                  </a:rPr>
                  <a:t> = </a:t>
                </a:r>
                <a14:m>
                  <m:oMath xmlns:m="http://schemas.openxmlformats.org/officeDocument/2006/math">
                    <m:f>
                      <m:fPr>
                        <m:ctrlPr>
                          <a:rPr lang="tr-TR" sz="1000" i="1" noProof="1">
                            <a:latin typeface="Cambria Math" panose="02040503050406030204" pitchFamily="18" charset="0"/>
                          </a:rPr>
                        </m:ctrlPr>
                      </m:fPr>
                      <m:num>
                        <m:f>
                          <m:fPr>
                            <m:ctrlPr>
                              <a:rPr lang="tr-TR" sz="1000" i="1" noProof="1">
                                <a:latin typeface="Cambria Math" panose="02040503050406030204" pitchFamily="18" charset="0"/>
                              </a:rPr>
                            </m:ctrlPr>
                          </m:fPr>
                          <m:num>
                            <m:r>
                              <m:rPr>
                                <m:nor/>
                              </m:rPr>
                              <a:rPr lang="tr-TR" sz="1000" noProof="1">
                                <a:latin typeface="Cambria Math" panose="02040503050406030204" pitchFamily="18" charset="0"/>
                              </a:rPr>
                              <m:t>  </m:t>
                            </m:r>
                            <m:r>
                              <m:rPr>
                                <m:nor/>
                              </m:rPr>
                              <a:rPr lang="tr-TR" sz="1000" noProof="1"/>
                              <m:t>b</m:t>
                            </m:r>
                            <m:r>
                              <m:rPr>
                                <m:nor/>
                              </m:rPr>
                              <a:rPr lang="tr-TR" sz="1000" noProof="1"/>
                              <m:t>  </m:t>
                            </m:r>
                          </m:num>
                          <m:den>
                            <m:r>
                              <m:rPr>
                                <m:nor/>
                              </m:rPr>
                              <a:rPr lang="tr-TR" sz="1000" b="0" i="0" noProof="1" smtClean="0"/>
                              <m:t>1</m:t>
                            </m:r>
                          </m:den>
                        </m:f>
                      </m:num>
                      <m:den>
                        <m:f>
                          <m:fPr>
                            <m:ctrlPr>
                              <a:rPr lang="tr-TR" sz="1000" i="1" noProof="1">
                                <a:latin typeface="Cambria Math" panose="02040503050406030204" pitchFamily="18" charset="0"/>
                              </a:rPr>
                            </m:ctrlPr>
                          </m:fPr>
                          <m:num>
                            <m:r>
                              <m:rPr>
                                <m:nor/>
                              </m:rPr>
                              <a:rPr lang="tr-TR" sz="1000" b="0" i="0" noProof="1" smtClean="0">
                                <a:latin typeface="Cambria Math" panose="02040503050406030204" pitchFamily="18" charset="0"/>
                              </a:rPr>
                              <m:t>  </m:t>
                            </m:r>
                            <m:r>
                              <m:rPr>
                                <m:nor/>
                              </m:rPr>
                              <a:rPr lang="tr-TR" sz="1000" b="0" i="0" noProof="1" smtClean="0"/>
                              <m:t>b</m:t>
                            </m:r>
                            <m:r>
                              <m:rPr>
                                <m:nor/>
                              </m:rPr>
                              <a:rPr lang="tr-TR" sz="1000" b="0" i="0" noProof="1" smtClean="0"/>
                              <m:t>  </m:t>
                            </m:r>
                          </m:num>
                          <m:den>
                            <m:r>
                              <m:rPr>
                                <m:nor/>
                              </m:rPr>
                              <a:rPr lang="tr-TR" sz="1000" b="0" i="0" noProof="1" smtClean="0"/>
                              <m:t>a</m:t>
                            </m:r>
                          </m:den>
                        </m:f>
                      </m:den>
                    </m:f>
                  </m:oMath>
                </a14:m>
                <a:r>
                  <a:rPr lang="tr-TR" sz="1000" noProof="1">
                    <a:solidFill>
                      <a:schemeClr val="tx1"/>
                    </a:solidFill>
                    <a:cs typeface="Arial" panose="020B0604020202020204" pitchFamily="34" charset="0"/>
                  </a:rPr>
                  <a:t> = a olur .</a:t>
                </a:r>
              </a:p>
              <a:p>
                <a:endParaRPr lang="tr-TR" sz="1000" noProof="1">
                  <a:cs typeface="Arial" panose="020B0604020202020204" pitchFamily="34" charset="0"/>
                </a:endParaRPr>
              </a:p>
              <a:p>
                <a:r>
                  <a:rPr lang="tr-TR" sz="1000" b="1" noProof="1">
                    <a:solidFill>
                      <a:schemeClr val="tx1"/>
                    </a:solidFill>
                    <a:cs typeface="Arial" panose="020B0604020202020204" pitchFamily="34" charset="0"/>
                  </a:rPr>
                  <a:t>II :  </a:t>
                </a:r>
                <a:r>
                  <a:rPr lang="tr-TR" sz="1000" noProof="1">
                    <a:solidFill>
                      <a:schemeClr val="tx1"/>
                    </a:solidFill>
                    <a:cs typeface="Arial" panose="020B0604020202020204" pitchFamily="34" charset="0"/>
                  </a:rPr>
                  <a:t>4 yıl sonraki yaşların aritmetik ortalamasını bulmak için bugünden 4 yıl sonraki kişilerin yaşlar toplamı gerekir. Herkes her yıl 1 yaş büyüdüğü için gruptaki kişi sayısı (a) yıl ile (4) çarpılır. b bugünkü yaşları toplamıydı, 4a kadarda 4 yıl boyunca yaşları büyümüş oldu nihai olarak b + 4a yaşlar toplamıdır. Gruptaki kişi sayısı değişmez a kişidir. </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r>
                  <a:rPr lang="tr-TR" sz="1000" noProof="1">
                    <a:cs typeface="Arial" panose="020B0604020202020204" pitchFamily="34" charset="0"/>
                  </a:rPr>
                  <a:t> </a:t>
                </a:r>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rPr>
                          <m:t>ya</m:t>
                        </m:r>
                        <m:r>
                          <m:rPr>
                            <m:nor/>
                          </m:rPr>
                          <a:rPr lang="tr-TR" sz="1000" b="0" i="0" noProof="1" smtClean="0">
                            <a:solidFill>
                              <a:schemeClr val="tx1"/>
                            </a:solidFill>
                          </a:rPr>
                          <m:t>ş</m:t>
                        </m:r>
                        <m:r>
                          <m:rPr>
                            <m:nor/>
                          </m:rPr>
                          <a:rPr lang="tr-TR" sz="1000" b="0" i="0" noProof="1" smtClean="0">
                            <a:solidFill>
                              <a:schemeClr val="tx1"/>
                            </a:solidFill>
                          </a:rPr>
                          <m:t>lar</m:t>
                        </m:r>
                        <m:r>
                          <m:rPr>
                            <m:nor/>
                          </m:rPr>
                          <a:rPr lang="tr-TR" sz="1000" b="0" i="0" noProof="1" smtClean="0">
                            <a:solidFill>
                              <a:schemeClr val="tx1"/>
                            </a:solidFill>
                          </a:rPr>
                          <m:t> </m:t>
                        </m:r>
                        <m:r>
                          <m:rPr>
                            <m:nor/>
                          </m:rPr>
                          <a:rPr lang="tr-TR" sz="1000" b="0" i="0" noProof="1" smtClean="0">
                            <a:solidFill>
                              <a:schemeClr val="tx1"/>
                            </a:solidFill>
                          </a:rPr>
                          <m:t>toplam</m:t>
                        </m:r>
                        <m:r>
                          <m:rPr>
                            <m:nor/>
                          </m:rPr>
                          <a:rPr lang="tr-TR" sz="1000" b="0" i="0" noProof="1" smtClean="0">
                            <a:solidFill>
                              <a:schemeClr val="tx1"/>
                            </a:solidFill>
                          </a:rPr>
                          <m:t>ı</m:t>
                        </m:r>
                      </m:num>
                      <m:den>
                        <m:r>
                          <m:rPr>
                            <m:nor/>
                          </m:rPr>
                          <a:rPr lang="tr-TR" sz="1000" b="0" i="0" noProof="1" smtClean="0">
                            <a:solidFill>
                              <a:schemeClr val="tx1"/>
                            </a:solidFill>
                          </a:rPr>
                          <m:t>ki</m:t>
                        </m:r>
                        <m:r>
                          <m:rPr>
                            <m:nor/>
                          </m:rPr>
                          <a:rPr lang="tr-TR" sz="1000" b="0" i="0" noProof="1" smtClean="0">
                            <a:solidFill>
                              <a:schemeClr val="tx1"/>
                            </a:solidFill>
                          </a:rPr>
                          <m:t>ş</m:t>
                        </m:r>
                        <m:r>
                          <m:rPr>
                            <m:nor/>
                          </m:rPr>
                          <a:rPr lang="tr-TR" sz="1000" b="0" i="0" noProof="1" smtClean="0">
                            <a:solidFill>
                              <a:schemeClr val="tx1"/>
                            </a:solidFill>
                          </a:rPr>
                          <m:t>i</m:t>
                        </m:r>
                        <m:r>
                          <m:rPr>
                            <m:nor/>
                          </m:rPr>
                          <a:rPr lang="tr-TR" sz="1000" b="0" i="0" noProof="1" smtClean="0">
                            <a:solidFill>
                              <a:schemeClr val="tx1"/>
                            </a:solidFill>
                          </a:rPr>
                          <m:t> </m:t>
                        </m:r>
                        <m:r>
                          <m:rPr>
                            <m:nor/>
                          </m:rPr>
                          <a:rPr lang="tr-TR" sz="1000" b="0" i="0" noProof="1" smtClean="0">
                            <a:solidFill>
                              <a:schemeClr val="tx1"/>
                            </a:solidFill>
                          </a:rPr>
                          <m:t>say</m:t>
                        </m:r>
                        <m:r>
                          <m:rPr>
                            <m:nor/>
                          </m:rPr>
                          <a:rPr lang="tr-TR" sz="1000" b="0" i="0" noProof="1" smtClean="0">
                            <a:solidFill>
                              <a:schemeClr val="tx1"/>
                            </a:solidFill>
                          </a:rPr>
                          <m:t>ı</m:t>
                        </m:r>
                        <m:r>
                          <m:rPr>
                            <m:nor/>
                          </m:rPr>
                          <a:rPr lang="tr-TR" sz="1000" b="0" i="0" noProof="1" smtClean="0">
                            <a:solidFill>
                              <a:schemeClr val="tx1"/>
                            </a:solidFill>
                          </a:rPr>
                          <m:t>s</m:t>
                        </m:r>
                        <m:r>
                          <m:rPr>
                            <m:nor/>
                          </m:rPr>
                          <a:rPr lang="tr-TR" sz="1000" b="0" i="0" noProof="1" smtClean="0">
                            <a:solidFill>
                              <a:schemeClr val="tx1"/>
                            </a:solidFill>
                          </a:rPr>
                          <m:t>ı</m:t>
                        </m:r>
                      </m:den>
                    </m:f>
                  </m:oMath>
                </a14:m>
                <a:r>
                  <a:rPr lang="tr-TR" sz="1000" noProof="1">
                    <a:solidFill>
                      <a:schemeClr val="tx1"/>
                    </a:solidFill>
                    <a:cs typeface="Arial" panose="020B0604020202020204" pitchFamily="34" charset="0"/>
                  </a:rPr>
                  <a:t> = yaşların aritmetik ortalaması = </a:t>
                </a:r>
                <a14:m>
                  <m:oMath xmlns:m="http://schemas.openxmlformats.org/officeDocument/2006/math">
                    <m:f>
                      <m:fPr>
                        <m:ctrlPr>
                          <a:rPr lang="tr-TR" sz="1000" i="1" noProof="1">
                            <a:latin typeface="Cambria Math" panose="02040503050406030204" pitchFamily="18" charset="0"/>
                          </a:rPr>
                        </m:ctrlPr>
                      </m:fPr>
                      <m:num>
                        <m:r>
                          <m:rPr>
                            <m:nor/>
                          </m:rPr>
                          <a:rPr lang="tr-TR" sz="1000" noProof="1"/>
                          <m:t>b</m:t>
                        </m:r>
                        <m:r>
                          <m:rPr>
                            <m:nor/>
                          </m:rPr>
                          <a:rPr lang="tr-TR" sz="1000" noProof="1"/>
                          <m:t> + 4</m:t>
                        </m:r>
                        <m:r>
                          <m:rPr>
                            <m:nor/>
                          </m:rPr>
                          <a:rPr lang="tr-TR" sz="1000" noProof="1"/>
                          <m:t>a</m:t>
                        </m:r>
                      </m:num>
                      <m:den>
                        <m:r>
                          <m:rPr>
                            <m:nor/>
                          </m:rPr>
                          <a:rPr lang="tr-TR" sz="1000" noProof="1"/>
                          <m:t>a</m:t>
                        </m:r>
                      </m:den>
                    </m:f>
                  </m:oMath>
                </a14:m>
                <a:endParaRPr lang="tr-TR" sz="1000" noProof="1">
                  <a:cs typeface="Arial" panose="020B0604020202020204" pitchFamily="34" charset="0"/>
                </a:endParaRPr>
              </a:p>
              <a:p>
                <a:endParaRPr lang="tr-TR" sz="1000" noProof="1">
                  <a:cs typeface="Arial" panose="020B0604020202020204" pitchFamily="34" charset="0"/>
                </a:endParaRPr>
              </a:p>
              <a:p>
                <a:r>
                  <a:rPr lang="tr-TR" sz="1000" b="1" noProof="1">
                    <a:cs typeface="Arial" panose="020B0604020202020204" pitchFamily="34" charset="0"/>
                  </a:rPr>
                  <a:t>III :  </a:t>
                </a:r>
                <a:r>
                  <a:rPr lang="tr-TR" sz="1000" noProof="1">
                    <a:cs typeface="Arial" panose="020B0604020202020204" pitchFamily="34" charset="0"/>
                  </a:rPr>
                  <a:t>5 yıl sonraki yaşlar toplamı c olduğu söyleniyor. Bugünkü yaşları toplamı b olduğuna göre 5 yılda a kişinin yaşı 5a kadar artacaktır.  b + 5a olacaktır ve bu c doğal sayısına eşit olacaktır. </a:t>
                </a:r>
              </a:p>
              <a:p>
                <a:endParaRPr lang="tr-TR" sz="1000" noProof="1">
                  <a:cs typeface="Arial" panose="020B0604020202020204" pitchFamily="34" charset="0"/>
                </a:endParaRPr>
              </a:p>
              <a:p>
                <a:r>
                  <a:rPr lang="tr-TR" sz="1000" b="1" noProof="1">
                    <a:cs typeface="Arial" panose="020B0604020202020204" pitchFamily="34" charset="0"/>
                  </a:rPr>
                  <a:t>Yanıt :  Tüm öncüller doğrudur.</a:t>
                </a:r>
              </a:p>
            </p:txBody>
          </p:sp>
        </mc:Choice>
        <mc:Fallback xmlns="">
          <p:sp>
            <p:nvSpPr>
              <p:cNvPr id="60" name="Metin kutusu 59">
                <a:extLst>
                  <a:ext uri="{FF2B5EF4-FFF2-40B4-BE49-F238E27FC236}">
                    <a16:creationId xmlns:a16="http://schemas.microsoft.com/office/drawing/2014/main" id="{0F3F962A-EB23-4808-8EF4-FDA4C1B285AA}"/>
                  </a:ext>
                </a:extLst>
              </p:cNvPr>
              <p:cNvSpPr txBox="1">
                <a:spLocks noRot="1" noChangeAspect="1" noMove="1" noResize="1" noEditPoints="1" noAdjustHandles="1" noChangeArrowheads="1" noChangeShapeType="1" noTextEdit="1"/>
              </p:cNvSpPr>
              <p:nvPr/>
            </p:nvSpPr>
            <p:spPr>
              <a:xfrm>
                <a:off x="57926" y="4584824"/>
                <a:ext cx="3255555" cy="4163640"/>
              </a:xfrm>
              <a:prstGeom prst="rect">
                <a:avLst/>
              </a:prstGeom>
              <a:blipFill>
                <a:blip r:embed="rId7"/>
                <a:stretch>
                  <a:fillRect b="-29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2" name="Metin kutusu 61">
                <a:extLst>
                  <a:ext uri="{FF2B5EF4-FFF2-40B4-BE49-F238E27FC236}">
                    <a16:creationId xmlns:a16="http://schemas.microsoft.com/office/drawing/2014/main" id="{D855FDD7-2C33-4D8D-8230-34C71639D99D}"/>
                  </a:ext>
                </a:extLst>
              </p:cNvPr>
              <p:cNvSpPr txBox="1"/>
              <p:nvPr/>
            </p:nvSpPr>
            <p:spPr>
              <a:xfrm>
                <a:off x="3562478" y="682917"/>
                <a:ext cx="3255555" cy="729046"/>
              </a:xfrm>
              <a:prstGeom prst="rect">
                <a:avLst/>
              </a:prstGeom>
              <a:noFill/>
            </p:spPr>
            <p:txBody>
              <a:bodyPr wrap="square" rtlCol="0">
                <a:spAutoFit/>
              </a:bodyPr>
              <a:lstStyle/>
              <a:p>
                <a:r>
                  <a:rPr lang="tr-TR" sz="1000" noProof="1">
                    <a:cs typeface="Arial" panose="020B0604020202020204" pitchFamily="34" charset="0"/>
                  </a:rPr>
                  <a:t>Bugün ; Recep`in yaşının Demirhan`ın yaşına oranı </a:t>
                </a:r>
                <a14:m>
                  <m:oMath xmlns:m="http://schemas.openxmlformats.org/officeDocument/2006/math">
                    <m:f>
                      <m:fPr>
                        <m:ctrlPr>
                          <a:rPr lang="tr-TR" sz="1000" i="1" noProof="1" smtClean="0">
                            <a:latin typeface="Cambria Math" panose="02040503050406030204" pitchFamily="18" charset="0"/>
                          </a:rPr>
                        </m:ctrlPr>
                      </m:fPr>
                      <m:num>
                        <m:r>
                          <m:rPr>
                            <m:nor/>
                          </m:rPr>
                          <a:rPr lang="tr-TR" sz="1000" noProof="1">
                            <a:latin typeface="Cambria Math" panose="02040503050406030204" pitchFamily="18" charset="0"/>
                          </a:rPr>
                          <m:t>  </m:t>
                        </m:r>
                        <m:r>
                          <m:rPr>
                            <m:nor/>
                          </m:rPr>
                          <a:rPr lang="tr-TR" sz="1000" b="0" i="0" noProof="1" smtClean="0"/>
                          <m:t>4</m:t>
                        </m:r>
                        <m:r>
                          <m:rPr>
                            <m:nor/>
                          </m:rPr>
                          <a:rPr lang="tr-TR" sz="1000" noProof="1"/>
                          <m:t>  </m:t>
                        </m:r>
                      </m:num>
                      <m:den>
                        <m:r>
                          <m:rPr>
                            <m:nor/>
                          </m:rPr>
                          <a:rPr lang="tr-TR" sz="1000" b="0" i="0" noProof="1" smtClean="0"/>
                          <m:t>3</m:t>
                        </m:r>
                      </m:den>
                    </m:f>
                  </m:oMath>
                </a14:m>
                <a:r>
                  <a:rPr lang="tr-TR" sz="1000" noProof="1">
                    <a:cs typeface="Arial" panose="020B0604020202020204" pitchFamily="34" charset="0"/>
                  </a:rPr>
                  <a:t> dür. 10 yıl sonra bu oran </a:t>
                </a:r>
                <a14:m>
                  <m:oMath xmlns:m="http://schemas.openxmlformats.org/officeDocument/2006/math">
                    <m:f>
                      <m:fPr>
                        <m:ctrlPr>
                          <a:rPr lang="tr-TR" sz="1000" i="1" noProof="1">
                            <a:latin typeface="Cambria Math" panose="02040503050406030204" pitchFamily="18" charset="0"/>
                          </a:rPr>
                        </m:ctrlPr>
                      </m:fPr>
                      <m:num>
                        <m:r>
                          <m:rPr>
                            <m:nor/>
                          </m:rPr>
                          <a:rPr lang="tr-TR" sz="1000" noProof="1">
                            <a:latin typeface="Cambria Math" panose="02040503050406030204" pitchFamily="18" charset="0"/>
                          </a:rPr>
                          <m:t>  </m:t>
                        </m:r>
                        <m:r>
                          <m:rPr>
                            <m:nor/>
                          </m:rPr>
                          <a:rPr lang="tr-TR" sz="1000" b="0" i="0" noProof="1" smtClean="0"/>
                          <m:t>6</m:t>
                        </m:r>
                        <m:r>
                          <m:rPr>
                            <m:nor/>
                          </m:rPr>
                          <a:rPr lang="tr-TR" sz="1000" noProof="1"/>
                          <m:t>  </m:t>
                        </m:r>
                      </m:num>
                      <m:den>
                        <m:r>
                          <m:rPr>
                            <m:nor/>
                          </m:rPr>
                          <a:rPr lang="tr-TR" sz="1000" b="0" i="0" noProof="1" smtClean="0"/>
                          <m:t>5</m:t>
                        </m:r>
                      </m:den>
                    </m:f>
                  </m:oMath>
                </a14:m>
                <a:r>
                  <a:rPr lang="tr-TR" sz="1000" noProof="1">
                    <a:cs typeface="Arial" panose="020B0604020202020204" pitchFamily="34" charset="0"/>
                  </a:rPr>
                  <a:t>  olacağına göre Recep bugün kaç yaşındadır? </a:t>
                </a:r>
              </a:p>
            </p:txBody>
          </p:sp>
        </mc:Choice>
        <mc:Fallback xmlns="">
          <p:sp>
            <p:nvSpPr>
              <p:cNvPr id="62" name="Metin kutusu 61">
                <a:extLst>
                  <a:ext uri="{FF2B5EF4-FFF2-40B4-BE49-F238E27FC236}">
                    <a16:creationId xmlns:a16="http://schemas.microsoft.com/office/drawing/2014/main" id="{D855FDD7-2C33-4D8D-8230-34C71639D99D}"/>
                  </a:ext>
                </a:extLst>
              </p:cNvPr>
              <p:cNvSpPr txBox="1">
                <a:spLocks noRot="1" noChangeAspect="1" noMove="1" noResize="1" noEditPoints="1" noAdjustHandles="1" noChangeArrowheads="1" noChangeShapeType="1" noTextEdit="1"/>
              </p:cNvSpPr>
              <p:nvPr/>
            </p:nvSpPr>
            <p:spPr>
              <a:xfrm>
                <a:off x="3562478" y="682917"/>
                <a:ext cx="3255555" cy="729046"/>
              </a:xfrm>
              <a:prstGeom prst="rect">
                <a:avLst/>
              </a:prstGeom>
              <a:blipFill>
                <a:blip r:embed="rId8"/>
                <a:stretch>
                  <a:fillRect b="-41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6" name="Metin kutusu 65">
                <a:extLst>
                  <a:ext uri="{FF2B5EF4-FFF2-40B4-BE49-F238E27FC236}">
                    <a16:creationId xmlns:a16="http://schemas.microsoft.com/office/drawing/2014/main" id="{F774F502-36B1-40CF-92A8-5FAF811C7846}"/>
                  </a:ext>
                </a:extLst>
              </p:cNvPr>
              <p:cNvSpPr txBox="1"/>
              <p:nvPr/>
            </p:nvSpPr>
            <p:spPr>
              <a:xfrm>
                <a:off x="3562478" y="2576387"/>
                <a:ext cx="3255555" cy="1416413"/>
              </a:xfrm>
              <a:prstGeom prst="rect">
                <a:avLst/>
              </a:prstGeom>
              <a:noFill/>
            </p:spPr>
            <p:txBody>
              <a:bodyPr wrap="square" rtlCol="0">
                <a:spAutoFit/>
              </a:bodyPr>
              <a:lstStyle/>
              <a:p>
                <a:r>
                  <a:rPr lang="tr-TR" sz="1000" noProof="1">
                    <a:cs typeface="Arial" panose="020B0604020202020204" pitchFamily="34" charset="0"/>
                  </a:rPr>
                  <a:t>Recep`in yaşına 4k dersek Demirhan`ın yaşına 3k demiş oluruz. 10 yıl sonra ikiside 10 yaş büyür. Yani</a:t>
                </a:r>
                <a:br>
                  <a:rPr lang="tr-TR" sz="1000" noProof="1">
                    <a:cs typeface="Arial" panose="020B0604020202020204" pitchFamily="34" charset="0"/>
                  </a:rPr>
                </a:br>
                <a14:m>
                  <m:oMath xmlns:m="http://schemas.openxmlformats.org/officeDocument/2006/math">
                    <m:f>
                      <m:fPr>
                        <m:ctrlPr>
                          <a:rPr lang="tr-TR" sz="1000" i="1" noProof="1" smtClean="0">
                            <a:latin typeface="Cambria Math" panose="02040503050406030204" pitchFamily="18" charset="0"/>
                          </a:rPr>
                        </m:ctrlPr>
                      </m:fPr>
                      <m:num>
                        <m:r>
                          <m:rPr>
                            <m:nor/>
                          </m:rPr>
                          <a:rPr lang="tr-TR" sz="1000" noProof="1">
                            <a:latin typeface="Cambria Math" panose="02040503050406030204" pitchFamily="18" charset="0"/>
                          </a:rPr>
                          <m:t>  </m:t>
                        </m:r>
                        <m:r>
                          <m:rPr>
                            <m:nor/>
                          </m:rPr>
                          <a:rPr lang="tr-TR" sz="1000" b="0" i="0" noProof="1" smtClean="0"/>
                          <m:t>4</m:t>
                        </m:r>
                        <m:r>
                          <m:rPr>
                            <m:nor/>
                          </m:rPr>
                          <a:rPr lang="tr-TR" sz="1000" b="0" i="0" noProof="1" smtClean="0"/>
                          <m:t>k</m:t>
                        </m:r>
                        <m:r>
                          <m:rPr>
                            <m:nor/>
                          </m:rPr>
                          <a:rPr lang="tr-TR" sz="1000" b="0" i="0" noProof="1" smtClean="0"/>
                          <m:t>+10  </m:t>
                        </m:r>
                      </m:num>
                      <m:den>
                        <m:r>
                          <m:rPr>
                            <m:nor/>
                          </m:rPr>
                          <a:rPr lang="tr-TR" sz="1000" b="0" i="0" noProof="1" smtClean="0"/>
                          <m:t>3</m:t>
                        </m:r>
                        <m:r>
                          <m:rPr>
                            <m:nor/>
                          </m:rPr>
                          <a:rPr lang="tr-TR" sz="1000" b="0" i="0" noProof="1" smtClean="0"/>
                          <m:t>k</m:t>
                        </m:r>
                        <m:r>
                          <m:rPr>
                            <m:nor/>
                          </m:rPr>
                          <a:rPr lang="tr-TR" sz="1000" b="0" i="0" noProof="1" smtClean="0"/>
                          <m:t>+10</m:t>
                        </m:r>
                      </m:den>
                    </m:f>
                  </m:oMath>
                </a14:m>
                <a:r>
                  <a:rPr lang="tr-TR" sz="1000" noProof="1">
                    <a:cs typeface="Arial" panose="020B0604020202020204" pitchFamily="34" charset="0"/>
                  </a:rPr>
                  <a:t> = </a:t>
                </a:r>
                <a14:m>
                  <m:oMath xmlns:m="http://schemas.openxmlformats.org/officeDocument/2006/math">
                    <m:f>
                      <m:fPr>
                        <m:ctrlPr>
                          <a:rPr lang="tr-TR" sz="1000" i="1" noProof="1">
                            <a:latin typeface="Cambria Math" panose="02040503050406030204" pitchFamily="18" charset="0"/>
                          </a:rPr>
                        </m:ctrlPr>
                      </m:fPr>
                      <m:num>
                        <m:r>
                          <m:rPr>
                            <m:nor/>
                          </m:rPr>
                          <a:rPr lang="tr-TR" sz="1000" noProof="1">
                            <a:latin typeface="Cambria Math" panose="02040503050406030204" pitchFamily="18" charset="0"/>
                          </a:rPr>
                          <m:t>  </m:t>
                        </m:r>
                        <m:r>
                          <m:rPr>
                            <m:nor/>
                          </m:rPr>
                          <a:rPr lang="tr-TR" sz="1000" b="0" i="0" noProof="1" smtClean="0"/>
                          <m:t>6</m:t>
                        </m:r>
                        <m:r>
                          <m:rPr>
                            <m:nor/>
                          </m:rPr>
                          <a:rPr lang="tr-TR" sz="1000" noProof="1"/>
                          <m:t>  </m:t>
                        </m:r>
                      </m:num>
                      <m:den>
                        <m:r>
                          <m:rPr>
                            <m:nor/>
                          </m:rPr>
                          <a:rPr lang="tr-TR" sz="1000" b="0" i="0" noProof="1" smtClean="0"/>
                          <m:t>5</m:t>
                        </m:r>
                      </m:den>
                    </m:f>
                  </m:oMath>
                </a14:m>
                <a:r>
                  <a:rPr lang="tr-TR" sz="1000" noProof="1">
                    <a:cs typeface="Arial" panose="020B0604020202020204" pitchFamily="34" charset="0"/>
                  </a:rPr>
                  <a:t>  ise içler dışlar çarpımı yapalım.</a:t>
                </a:r>
              </a:p>
              <a:p>
                <a:endParaRPr lang="tr-TR" sz="1000" noProof="1">
                  <a:cs typeface="Arial" panose="020B0604020202020204" pitchFamily="34" charset="0"/>
                </a:endParaRPr>
              </a:p>
              <a:p>
                <a:r>
                  <a:rPr lang="tr-TR" sz="1000" noProof="1">
                    <a:cs typeface="Arial" panose="020B0604020202020204" pitchFamily="34" charset="0"/>
                  </a:rPr>
                  <a:t>20k + 50 = 18k + 60 </a:t>
                </a:r>
                <a14:m>
                  <m:oMath xmlns:m="http://schemas.openxmlformats.org/officeDocument/2006/math">
                    <m:r>
                      <a:rPr lang="tr-TR" sz="1000" i="0" noProof="1" smtClean="0">
                        <a:latin typeface="Cambria Math" panose="02040503050406030204" pitchFamily="18" charset="0"/>
                      </a:rPr>
                      <m:t>⇒</m:t>
                    </m:r>
                  </m:oMath>
                </a14:m>
                <a:r>
                  <a:rPr lang="tr-TR" sz="1000" noProof="1">
                    <a:cs typeface="Arial" panose="020B0604020202020204" pitchFamily="34" charset="0"/>
                  </a:rPr>
                  <a:t>  2k = 10 ,  </a:t>
                </a:r>
                <a:r>
                  <a:rPr lang="tr-TR" sz="1000" b="1" noProof="1">
                    <a:cs typeface="Arial" panose="020B0604020202020204" pitchFamily="34" charset="0"/>
                  </a:rPr>
                  <a:t>k=5</a:t>
                </a:r>
                <a:r>
                  <a:rPr lang="tr-TR" sz="1000" noProof="1">
                    <a:cs typeface="Arial" panose="020B0604020202020204" pitchFamily="34" charset="0"/>
                  </a:rPr>
                  <a:t> olarak bulunur. </a:t>
                </a:r>
              </a:p>
              <a:p>
                <a:endParaRPr lang="tr-TR" sz="1000" noProof="1">
                  <a:cs typeface="Arial" panose="020B0604020202020204" pitchFamily="34" charset="0"/>
                </a:endParaRPr>
              </a:p>
              <a:p>
                <a:r>
                  <a:rPr lang="tr-TR" sz="1000" b="1" noProof="1">
                    <a:cs typeface="Arial" panose="020B0604020202020204" pitchFamily="34" charset="0"/>
                  </a:rPr>
                  <a:t>Bugün Recep`in yaşı 4k yani 20 dir.</a:t>
                </a:r>
              </a:p>
              <a:p>
                <a:endParaRPr lang="tr-TR" sz="1000" noProof="1">
                  <a:cs typeface="Arial" panose="020B0604020202020204" pitchFamily="34" charset="0"/>
                </a:endParaRPr>
              </a:p>
            </p:txBody>
          </p:sp>
        </mc:Choice>
        <mc:Fallback xmlns="">
          <p:sp>
            <p:nvSpPr>
              <p:cNvPr id="66" name="Metin kutusu 65">
                <a:extLst>
                  <a:ext uri="{FF2B5EF4-FFF2-40B4-BE49-F238E27FC236}">
                    <a16:creationId xmlns:a16="http://schemas.microsoft.com/office/drawing/2014/main" id="{F774F502-36B1-40CF-92A8-5FAF811C7846}"/>
                  </a:ext>
                </a:extLst>
              </p:cNvPr>
              <p:cNvSpPr txBox="1">
                <a:spLocks noRot="1" noChangeAspect="1" noMove="1" noResize="1" noEditPoints="1" noAdjustHandles="1" noChangeArrowheads="1" noChangeShapeType="1" noTextEdit="1"/>
              </p:cNvSpPr>
              <p:nvPr/>
            </p:nvSpPr>
            <p:spPr>
              <a:xfrm>
                <a:off x="3562478" y="2576387"/>
                <a:ext cx="3255555" cy="1416413"/>
              </a:xfrm>
              <a:prstGeom prst="rect">
                <a:avLst/>
              </a:prstGeom>
              <a:blipFill>
                <a:blip r:embed="rId9"/>
                <a:stretch>
                  <a:fillRect/>
                </a:stretch>
              </a:blipFill>
            </p:spPr>
            <p:txBody>
              <a:bodyPr/>
              <a:lstStyle/>
              <a:p>
                <a:r>
                  <a:rPr lang="tr-TR">
                    <a:noFill/>
                  </a:rPr>
                  <a:t> </a:t>
                </a:r>
              </a:p>
            </p:txBody>
          </p:sp>
        </mc:Fallback>
      </mc:AlternateContent>
      <p:sp>
        <p:nvSpPr>
          <p:cNvPr id="42" name="Metin kutusu 41">
            <a:extLst>
              <a:ext uri="{FF2B5EF4-FFF2-40B4-BE49-F238E27FC236}">
                <a16:creationId xmlns:a16="http://schemas.microsoft.com/office/drawing/2014/main" id="{43370777-69A2-4EAD-9C19-F996AE3F599A}"/>
              </a:ext>
            </a:extLst>
          </p:cNvPr>
          <p:cNvSpPr txBox="1"/>
          <p:nvPr/>
        </p:nvSpPr>
        <p:spPr>
          <a:xfrm>
            <a:off x="3543429" y="4151919"/>
            <a:ext cx="3337543" cy="707886"/>
          </a:xfrm>
          <a:prstGeom prst="rect">
            <a:avLst/>
          </a:prstGeom>
          <a:noFill/>
        </p:spPr>
        <p:txBody>
          <a:bodyPr wrap="square" rtlCol="0">
            <a:spAutoFit/>
          </a:bodyPr>
          <a:lstStyle/>
          <a:p>
            <a:r>
              <a:rPr lang="tr-TR" sz="1000" noProof="1">
                <a:cs typeface="Arial" panose="020B0604020202020204" pitchFamily="34" charset="0"/>
              </a:rPr>
              <a:t>2 çocuk sahibi bir babanın yaşı bugün çocuklarının yaşları toplamından 8 fazladır. </a:t>
            </a:r>
            <a:r>
              <a:rPr lang="tr-TR" sz="1000" b="1" noProof="1">
                <a:cs typeface="Arial" panose="020B0604020202020204" pitchFamily="34" charset="0"/>
              </a:rPr>
              <a:t>5 yıl önce babanın yaşı çocuklarının yaşlarının toplamının 2 katı olduğuna göre,küçük çocuğun yaşı en fazla kaç olabilir?</a:t>
            </a:r>
          </a:p>
        </p:txBody>
      </p:sp>
      <p:sp>
        <p:nvSpPr>
          <p:cNvPr id="43" name="Metin kutusu 42">
            <a:extLst>
              <a:ext uri="{FF2B5EF4-FFF2-40B4-BE49-F238E27FC236}">
                <a16:creationId xmlns:a16="http://schemas.microsoft.com/office/drawing/2014/main" id="{F40625AE-430B-40E6-B741-71E06BAD4876}"/>
              </a:ext>
            </a:extLst>
          </p:cNvPr>
          <p:cNvSpPr txBox="1"/>
          <p:nvPr/>
        </p:nvSpPr>
        <p:spPr>
          <a:xfrm>
            <a:off x="3562478" y="6750671"/>
            <a:ext cx="3265526" cy="1938992"/>
          </a:xfrm>
          <a:prstGeom prst="rect">
            <a:avLst/>
          </a:prstGeom>
          <a:noFill/>
        </p:spPr>
        <p:txBody>
          <a:bodyPr wrap="square" rtlCol="0">
            <a:spAutoFit/>
          </a:bodyPr>
          <a:lstStyle/>
          <a:p>
            <a:r>
              <a:rPr lang="tr-TR" sz="1000" noProof="1">
                <a:cs typeface="Arial" panose="020B0604020202020204" pitchFamily="34" charset="0"/>
              </a:rPr>
              <a:t>Çocukların yaşları toplamına x dersek, babanın yaşının toplamı x+8 olmalıdır. 5 yıl önce babanın yaşı x+3 olur , çocukların yaşları toplamı ise 5 yıl önce 2 çocuk olduğundan  x – 10 olacaktır. Bu durumda çocukların yaşlarının 2 ile çarparsak babanın yaşını buluyoruz eşitleyelim.</a:t>
            </a:r>
          </a:p>
          <a:p>
            <a:endParaRPr lang="tr-TR" sz="1000" noProof="1">
              <a:cs typeface="Arial" panose="020B0604020202020204" pitchFamily="34" charset="0"/>
            </a:endParaRPr>
          </a:p>
          <a:p>
            <a:r>
              <a:rPr lang="tr-TR" sz="1000" noProof="1">
                <a:cs typeface="Arial" panose="020B0604020202020204" pitchFamily="34" charset="0"/>
              </a:rPr>
              <a:t>2 (x-5) = x + 3     x=23  (çocuklar yaşları toplamı bulduk.)</a:t>
            </a:r>
          </a:p>
          <a:p>
            <a:endParaRPr lang="tr-TR" sz="1000" noProof="1">
              <a:cs typeface="Arial" panose="020B0604020202020204" pitchFamily="34" charset="0"/>
            </a:endParaRPr>
          </a:p>
          <a:p>
            <a:r>
              <a:rPr lang="tr-TR" sz="1000" noProof="1">
                <a:cs typeface="Arial" panose="020B0604020202020204" pitchFamily="34" charset="0"/>
              </a:rPr>
              <a:t>Küçük çocuğun yaşının en fazla olmasını istiyorsak büyükle arasındaki fark minimum olmalıdır. </a:t>
            </a:r>
            <a:r>
              <a:rPr lang="tr-TR" sz="1000" b="1" noProof="1">
                <a:cs typeface="Arial" panose="020B0604020202020204" pitchFamily="34" charset="0"/>
              </a:rPr>
              <a:t>Küçük çocuk en fazla 11 yaşında olabilir. Büyük çocuk ise 12 olur ve toplamları 23 olmuş olur.     </a:t>
            </a:r>
          </a:p>
        </p:txBody>
      </p:sp>
    </p:spTree>
    <p:extLst>
      <p:ext uri="{BB962C8B-B14F-4D97-AF65-F5344CB8AC3E}">
        <p14:creationId xmlns:p14="http://schemas.microsoft.com/office/powerpoint/2010/main" val="8802883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Yaş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3729754" y="524875"/>
            <a:ext cx="697984" cy="294936"/>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3820819" y="545529"/>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3629544" y="526978"/>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3659001" y="319455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3809734" y="452302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3840631" y="4545331"/>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3660140" y="452302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3627515" y="67201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3641395" y="912280"/>
            <a:ext cx="3255555" cy="1323439"/>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Bir gruptaki kişilerin yaşları toplamının, yaşların aritmetik ortalamasına bölümü kişi sayısını verir. </a:t>
            </a:r>
          </a:p>
          <a:p>
            <a:r>
              <a:rPr lang="tr-TR" sz="1000" b="1" noProof="1">
                <a:cs typeface="Arial" panose="020B0604020202020204" pitchFamily="34" charset="0"/>
              </a:rPr>
              <a:t>II.  </a:t>
            </a:r>
            <a:r>
              <a:rPr lang="tr-TR" sz="1000" noProof="1">
                <a:cs typeface="Arial" panose="020B0604020202020204" pitchFamily="34" charset="0"/>
              </a:rPr>
              <a:t>Yaşların aritmetik ortalaması daima bir doğal sayı olmalıdır. </a:t>
            </a:r>
          </a:p>
          <a:p>
            <a:r>
              <a:rPr lang="tr-TR" sz="1000" b="1" noProof="1">
                <a:cs typeface="Arial" panose="020B0604020202020204" pitchFamily="34" charset="0"/>
              </a:rPr>
              <a:t>III. </a:t>
            </a:r>
            <a:r>
              <a:rPr lang="tr-TR" sz="1000" noProof="1">
                <a:cs typeface="Arial" panose="020B0604020202020204" pitchFamily="34" charset="0"/>
              </a:rPr>
              <a:t>Bir grubun yaş ortalamasının altında olan birisi gruptan ayrıldığında yaşların aritmetik ortalaması düşer.</a:t>
            </a:r>
          </a:p>
          <a:p>
            <a:endParaRPr lang="tr-TR" sz="1000" noProof="1">
              <a:cs typeface="Arial" panose="020B0604020202020204" pitchFamily="34" charset="0"/>
            </a:endParaRPr>
          </a:p>
          <a:p>
            <a:r>
              <a:rPr lang="tr-TR" sz="1000" b="1" noProof="1">
                <a:cs typeface="Arial" panose="020B0604020202020204" pitchFamily="34" charset="0"/>
              </a:rPr>
              <a:t>Yukarıdaki yargılardan hangileri doğrudur?</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3502178" y="534922"/>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14.</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3517943" y="453717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15.</a:t>
            </a:r>
          </a:p>
        </p:txBody>
      </p:sp>
      <p:sp>
        <p:nvSpPr>
          <p:cNvPr id="58" name="Kaydırma: Yatay 57">
            <a:extLst>
              <a:ext uri="{FF2B5EF4-FFF2-40B4-BE49-F238E27FC236}">
                <a16:creationId xmlns:a16="http://schemas.microsoft.com/office/drawing/2014/main" id="{EFD46475-B54D-45DC-A2F6-390442A3726B}"/>
              </a:ext>
            </a:extLst>
          </p:cNvPr>
          <p:cNvSpPr/>
          <p:nvPr/>
        </p:nvSpPr>
        <p:spPr>
          <a:xfrm>
            <a:off x="4459554" y="426320"/>
            <a:ext cx="2348082" cy="513908"/>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0" name="Metin kutusu 59">
            <a:extLst>
              <a:ext uri="{FF2B5EF4-FFF2-40B4-BE49-F238E27FC236}">
                <a16:creationId xmlns:a16="http://schemas.microsoft.com/office/drawing/2014/main" id="{8602F28F-D59F-4A8C-B2A2-55BBCB392D02}"/>
              </a:ext>
            </a:extLst>
          </p:cNvPr>
          <p:cNvSpPr txBox="1"/>
          <p:nvPr/>
        </p:nvSpPr>
        <p:spPr>
          <a:xfrm>
            <a:off x="4459554" y="478688"/>
            <a:ext cx="2406788" cy="415498"/>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“4 farklı hobi türünüz olsa iyi olur. Bunlar ; gelir elde ettirecek, beyninizi dinç, vücudunuzu dinamik tutacak ve topluma yararlı olacağınız hobilerdir. ”  - Ahmet Çelen</a:t>
            </a:r>
            <a:endParaRPr lang="tr-TR" sz="700" dirty="0">
              <a:solidFill>
                <a:schemeClr val="bg1"/>
              </a:solidFill>
              <a:latin typeface="Arial Narrow" panose="020B0606020202030204" pitchFamily="34" charset="0"/>
            </a:endParaRPr>
          </a:p>
        </p:txBody>
      </p:sp>
      <p:sp>
        <p:nvSpPr>
          <p:cNvPr id="48" name="Metin kutusu 47">
            <a:extLst>
              <a:ext uri="{FF2B5EF4-FFF2-40B4-BE49-F238E27FC236}">
                <a16:creationId xmlns:a16="http://schemas.microsoft.com/office/drawing/2014/main" id="{F875A1DE-9044-4A4B-B2FA-B0F98C4853B1}"/>
              </a:ext>
            </a:extLst>
          </p:cNvPr>
          <p:cNvSpPr txBox="1"/>
          <p:nvPr/>
        </p:nvSpPr>
        <p:spPr>
          <a:xfrm>
            <a:off x="3596572" y="3464882"/>
            <a:ext cx="3403021" cy="1015663"/>
          </a:xfrm>
          <a:prstGeom prst="rect">
            <a:avLst/>
          </a:prstGeom>
          <a:noFill/>
        </p:spPr>
        <p:txBody>
          <a:bodyPr wrap="square" rtlCol="0">
            <a:spAutoFit/>
          </a:bodyPr>
          <a:lstStyle/>
          <a:p>
            <a:r>
              <a:rPr lang="tr-TR" sz="1000" b="1" noProof="1">
                <a:cs typeface="Arial" panose="020B0604020202020204" pitchFamily="34" charset="0"/>
              </a:rPr>
              <a:t>I. </a:t>
            </a:r>
            <a:r>
              <a:rPr lang="tr-TR" sz="1000" noProof="1">
                <a:cs typeface="Arial" panose="020B0604020202020204" pitchFamily="34" charset="0"/>
              </a:rPr>
              <a:t>Doğrudur konu anlatımımızda bolca bahsettik.</a:t>
            </a:r>
          </a:p>
          <a:p>
            <a:r>
              <a:rPr lang="tr-TR" sz="1000" b="1" noProof="1">
                <a:cs typeface="Arial" panose="020B0604020202020204" pitchFamily="34" charset="0"/>
              </a:rPr>
              <a:t>II.  </a:t>
            </a:r>
            <a:r>
              <a:rPr lang="tr-TR" sz="1000" noProof="1">
                <a:cs typeface="Arial" panose="020B0604020202020204" pitchFamily="34" charset="0"/>
              </a:rPr>
              <a:t>Yaşlar doğal sayı olmalıdır aritmetik ortalama doğal sayı olmak zorunda </a:t>
            </a:r>
            <a:r>
              <a:rPr lang="tr-TR" sz="950" noProof="1">
                <a:cs typeface="Arial" panose="020B0604020202020204" pitchFamily="34" charset="0"/>
              </a:rPr>
              <a:t>değildir fakat </a:t>
            </a:r>
            <a:r>
              <a:rPr lang="tr-TR" sz="1000" noProof="1">
                <a:cs typeface="Arial" panose="020B0604020202020204" pitchFamily="34" charset="0"/>
              </a:rPr>
              <a:t>genelde sorularda tercih edilmez.</a:t>
            </a:r>
          </a:p>
          <a:p>
            <a:r>
              <a:rPr lang="tr-TR" sz="1000" b="1" noProof="1">
                <a:cs typeface="Arial" panose="020B0604020202020204" pitchFamily="34" charset="0"/>
              </a:rPr>
              <a:t>III. </a:t>
            </a:r>
            <a:r>
              <a:rPr lang="tr-TR" sz="1000" noProof="1">
                <a:cs typeface="Arial" panose="020B0604020202020204" pitchFamily="34" charset="0"/>
              </a:rPr>
              <a:t>Ortalamanın altında olan birisi ayrılırsa ortalama yükselir. Çünkü o kişi grubun ortalamasını düşürür, ortalamanın </a:t>
            </a:r>
          </a:p>
          <a:p>
            <a:r>
              <a:rPr lang="tr-TR" sz="1000" noProof="1">
                <a:cs typeface="Arial" panose="020B0604020202020204" pitchFamily="34" charset="0"/>
              </a:rPr>
              <a:t>üstü ayrılırsa ortalama düşer.</a:t>
            </a:r>
          </a:p>
        </p:txBody>
      </p:sp>
      <p:sp>
        <p:nvSpPr>
          <p:cNvPr id="51" name="Metin kutusu 50">
            <a:extLst>
              <a:ext uri="{FF2B5EF4-FFF2-40B4-BE49-F238E27FC236}">
                <a16:creationId xmlns:a16="http://schemas.microsoft.com/office/drawing/2014/main" id="{83EDCBB3-62FD-4C4C-84A8-5BFFFFE6A69F}"/>
              </a:ext>
            </a:extLst>
          </p:cNvPr>
          <p:cNvSpPr txBox="1"/>
          <p:nvPr/>
        </p:nvSpPr>
        <p:spPr>
          <a:xfrm>
            <a:off x="3544560" y="4803064"/>
            <a:ext cx="3396946" cy="1477328"/>
          </a:xfrm>
          <a:prstGeom prst="rect">
            <a:avLst/>
          </a:prstGeom>
          <a:noFill/>
        </p:spPr>
        <p:txBody>
          <a:bodyPr wrap="square" rtlCol="0">
            <a:spAutoFit/>
          </a:bodyPr>
          <a:lstStyle/>
          <a:p>
            <a:r>
              <a:rPr lang="tr-TR" sz="1000" noProof="1">
                <a:cs typeface="Arial" panose="020B0604020202020204" pitchFamily="34" charset="0"/>
              </a:rPr>
              <a:t>Bir babanın yaşı ile çocuklarının yaşları toplamı arasındaki fark her yıl belli bir süre 2 azalmaktadır. Bu belli sürede ;</a:t>
            </a:r>
          </a:p>
          <a:p>
            <a:endParaRPr lang="tr-TR" sz="1000" noProof="1">
              <a:cs typeface="Arial" panose="020B0604020202020204" pitchFamily="34" charset="0"/>
            </a:endParaRPr>
          </a:p>
          <a:p>
            <a:r>
              <a:rPr lang="tr-TR" sz="1000" noProof="1">
                <a:cs typeface="Arial" panose="020B0604020202020204" pitchFamily="34" charset="0"/>
              </a:rPr>
              <a:t>I. Babanın 3 tane çocuğu vardır.</a:t>
            </a:r>
          </a:p>
          <a:p>
            <a:r>
              <a:rPr lang="tr-TR" sz="1000" noProof="1">
                <a:cs typeface="Arial" panose="020B0604020202020204" pitchFamily="34" charset="0"/>
              </a:rPr>
              <a:t>II. Babanın yaşı çocukların yaşlar toplamından küçüktür.</a:t>
            </a:r>
          </a:p>
          <a:p>
            <a:r>
              <a:rPr lang="tr-TR" sz="1000" noProof="1">
                <a:cs typeface="Arial" panose="020B0604020202020204" pitchFamily="34" charset="0"/>
              </a:rPr>
              <a:t>III. Aradaki fark azaldığı için çocukların yaşları toplamı babanın yaşından büyüktür. </a:t>
            </a:r>
            <a:r>
              <a:rPr lang="tr-TR" sz="1000" b="1" noProof="1">
                <a:cs typeface="Arial" panose="020B0604020202020204" pitchFamily="34" charset="0"/>
              </a:rPr>
              <a:t>Yargılardan hangileri doğrudur?</a:t>
            </a:r>
          </a:p>
          <a:p>
            <a:endParaRPr lang="tr-TR" sz="1000" noProof="1">
              <a:cs typeface="Arial" panose="020B0604020202020204" pitchFamily="34" charset="0"/>
            </a:endParaRPr>
          </a:p>
          <a:p>
            <a:r>
              <a:rPr lang="tr-TR" sz="1000" noProof="1">
                <a:cs typeface="Arial" panose="020B0604020202020204" pitchFamily="34" charset="0"/>
              </a:rPr>
              <a:t> </a:t>
            </a:r>
          </a:p>
        </p:txBody>
      </p:sp>
      <p:sp>
        <p:nvSpPr>
          <p:cNvPr id="4" name="Yıldız: 4 Nokta 3">
            <a:extLst>
              <a:ext uri="{FF2B5EF4-FFF2-40B4-BE49-F238E27FC236}">
                <a16:creationId xmlns:a16="http://schemas.microsoft.com/office/drawing/2014/main" id="{9626745A-E1A5-43DE-A82D-70E1A65F0E3A}"/>
              </a:ext>
            </a:extLst>
          </p:cNvPr>
          <p:cNvSpPr/>
          <p:nvPr/>
        </p:nvSpPr>
        <p:spPr>
          <a:xfrm>
            <a:off x="4477117" y="4511262"/>
            <a:ext cx="372575" cy="304387"/>
          </a:xfrm>
          <a:prstGeom prst="star4">
            <a:avLst>
              <a:gd name="adj" fmla="val 12500"/>
            </a:avLst>
          </a:prstGeom>
          <a:solidFill>
            <a:srgbClr val="D2B3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7" name="Dikdörtgen 9">
            <a:extLst>
              <a:ext uri="{FF2B5EF4-FFF2-40B4-BE49-F238E27FC236}">
                <a16:creationId xmlns:a16="http://schemas.microsoft.com/office/drawing/2014/main" id="{5DDB2976-121D-4E72-9E19-7135BF0D0CA1}"/>
              </a:ext>
            </a:extLst>
          </p:cNvPr>
          <p:cNvSpPr/>
          <p:nvPr/>
        </p:nvSpPr>
        <p:spPr>
          <a:xfrm>
            <a:off x="125754" y="1124137"/>
            <a:ext cx="3118411" cy="7524469"/>
          </a:xfrm>
          <a:custGeom>
            <a:avLst/>
            <a:gdLst>
              <a:gd name="connsiteX0" fmla="*/ 0 w 2978385"/>
              <a:gd name="connsiteY0" fmla="*/ 0 h 7077712"/>
              <a:gd name="connsiteX1" fmla="*/ 2978385 w 2978385"/>
              <a:gd name="connsiteY1" fmla="*/ 0 h 7077712"/>
              <a:gd name="connsiteX2" fmla="*/ 2978385 w 2978385"/>
              <a:gd name="connsiteY2" fmla="*/ 7077712 h 7077712"/>
              <a:gd name="connsiteX3" fmla="*/ 0 w 2978385"/>
              <a:gd name="connsiteY3" fmla="*/ 7077712 h 7077712"/>
              <a:gd name="connsiteX4" fmla="*/ 0 w 2978385"/>
              <a:gd name="connsiteY4" fmla="*/ 0 h 7077712"/>
              <a:gd name="connsiteX0" fmla="*/ 0 w 2978385"/>
              <a:gd name="connsiteY0" fmla="*/ 0 h 7382512"/>
              <a:gd name="connsiteX1" fmla="*/ 2978385 w 2978385"/>
              <a:gd name="connsiteY1" fmla="*/ 0 h 7382512"/>
              <a:gd name="connsiteX2" fmla="*/ 2978385 w 2978385"/>
              <a:gd name="connsiteY2" fmla="*/ 7077712 h 7382512"/>
              <a:gd name="connsiteX3" fmla="*/ 0 w 2978385"/>
              <a:gd name="connsiteY3" fmla="*/ 7077712 h 7382512"/>
              <a:gd name="connsiteX4" fmla="*/ 0 w 2978385"/>
              <a:gd name="connsiteY4" fmla="*/ 0 h 7382512"/>
              <a:gd name="connsiteX0" fmla="*/ 0 w 2978385"/>
              <a:gd name="connsiteY0" fmla="*/ 0 h 7510541"/>
              <a:gd name="connsiteX1" fmla="*/ 2978385 w 2978385"/>
              <a:gd name="connsiteY1" fmla="*/ 0 h 7510541"/>
              <a:gd name="connsiteX2" fmla="*/ 2978385 w 2978385"/>
              <a:gd name="connsiteY2" fmla="*/ 7077712 h 7510541"/>
              <a:gd name="connsiteX3" fmla="*/ 0 w 2978385"/>
              <a:gd name="connsiteY3" fmla="*/ 7077712 h 7510541"/>
              <a:gd name="connsiteX4" fmla="*/ 0 w 2978385"/>
              <a:gd name="connsiteY4" fmla="*/ 0 h 7510541"/>
              <a:gd name="connsiteX0" fmla="*/ 0 w 2991085"/>
              <a:gd name="connsiteY0" fmla="*/ 0 h 7503317"/>
              <a:gd name="connsiteX1" fmla="*/ 2978385 w 2991085"/>
              <a:gd name="connsiteY1" fmla="*/ 0 h 7503317"/>
              <a:gd name="connsiteX2" fmla="*/ 2991085 w 2991085"/>
              <a:gd name="connsiteY2" fmla="*/ 7065012 h 7503317"/>
              <a:gd name="connsiteX3" fmla="*/ 0 w 2991085"/>
              <a:gd name="connsiteY3" fmla="*/ 7077712 h 7503317"/>
              <a:gd name="connsiteX4" fmla="*/ 0 w 2991085"/>
              <a:gd name="connsiteY4" fmla="*/ 0 h 750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1085" h="7503317">
                <a:moveTo>
                  <a:pt x="0" y="0"/>
                </a:moveTo>
                <a:lnTo>
                  <a:pt x="2978385" y="0"/>
                </a:lnTo>
                <a:cubicBezTo>
                  <a:pt x="2982618" y="2355004"/>
                  <a:pt x="2986852" y="4710008"/>
                  <a:pt x="2991085" y="7065012"/>
                </a:cubicBezTo>
                <a:cubicBezTo>
                  <a:pt x="1490290" y="7750812"/>
                  <a:pt x="21245" y="7534912"/>
                  <a:pt x="0" y="7077712"/>
                </a:cubicBezTo>
                <a:lnTo>
                  <a:pt x="0" y="0"/>
                </a:lnTo>
                <a:close/>
              </a:path>
            </a:pathLst>
          </a:custGeom>
          <a:solidFill>
            <a:srgbClr val="CC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68" name="Akış Çizelgesi: Depolanmış Veri 67">
            <a:extLst>
              <a:ext uri="{FF2B5EF4-FFF2-40B4-BE49-F238E27FC236}">
                <a16:creationId xmlns:a16="http://schemas.microsoft.com/office/drawing/2014/main" id="{7D6D2112-B260-4B7F-B879-9FE8B0B30938}"/>
              </a:ext>
            </a:extLst>
          </p:cNvPr>
          <p:cNvSpPr/>
          <p:nvPr/>
        </p:nvSpPr>
        <p:spPr>
          <a:xfrm>
            <a:off x="121215" y="495394"/>
            <a:ext cx="1499129" cy="560717"/>
          </a:xfrm>
          <a:prstGeom prst="flowChartOnlineStorage">
            <a:avLst/>
          </a:prstGeom>
          <a:solidFill>
            <a:schemeClr val="accent2">
              <a:lumMod val="20000"/>
              <a:lumOff val="80000"/>
            </a:schemeClr>
          </a:solidFill>
          <a:ln w="31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69" name="Metin kutusu 68">
            <a:extLst>
              <a:ext uri="{FF2B5EF4-FFF2-40B4-BE49-F238E27FC236}">
                <a16:creationId xmlns:a16="http://schemas.microsoft.com/office/drawing/2014/main" id="{E93CE599-2363-4BA8-8C26-FDBADE7B36E9}"/>
              </a:ext>
            </a:extLst>
          </p:cNvPr>
          <p:cNvSpPr txBox="1"/>
          <p:nvPr/>
        </p:nvSpPr>
        <p:spPr>
          <a:xfrm>
            <a:off x="-54645" y="418219"/>
            <a:ext cx="1669333" cy="707886"/>
          </a:xfrm>
          <a:prstGeom prst="rect">
            <a:avLst/>
          </a:prstGeom>
          <a:noFill/>
        </p:spPr>
        <p:txBody>
          <a:bodyPr wrap="square" rtlCol="0">
            <a:spAutoFit/>
          </a:bodyPr>
          <a:lstStyle/>
          <a:p>
            <a:pPr algn="ctr"/>
            <a:r>
              <a:rPr lang="tr-TR" sz="2000" dirty="0"/>
              <a:t>Altın</a:t>
            </a:r>
            <a:br>
              <a:rPr lang="tr-TR" sz="2000" dirty="0"/>
            </a:br>
            <a:r>
              <a:rPr lang="tr-TR" sz="2000" dirty="0"/>
              <a:t> Tüyolar</a:t>
            </a:r>
          </a:p>
        </p:txBody>
      </p:sp>
      <p:pic>
        <p:nvPicPr>
          <p:cNvPr id="70" name="Resim 69">
            <a:extLst>
              <a:ext uri="{FF2B5EF4-FFF2-40B4-BE49-F238E27FC236}">
                <a16:creationId xmlns:a16="http://schemas.microsoft.com/office/drawing/2014/main" id="{143387A2-D981-429F-80AD-A77BC3B1054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81856" y="570801"/>
            <a:ext cx="1112729" cy="491086"/>
          </a:xfrm>
          <a:prstGeom prst="rect">
            <a:avLst/>
          </a:prstGeom>
        </p:spPr>
      </p:pic>
      <p:sp>
        <p:nvSpPr>
          <p:cNvPr id="71" name="Metin kutusu 70">
            <a:extLst>
              <a:ext uri="{FF2B5EF4-FFF2-40B4-BE49-F238E27FC236}">
                <a16:creationId xmlns:a16="http://schemas.microsoft.com/office/drawing/2014/main" id="{7E3104BC-FC9F-497F-A2D2-FF83C010024A}"/>
              </a:ext>
            </a:extLst>
          </p:cNvPr>
          <p:cNvSpPr txBox="1"/>
          <p:nvPr/>
        </p:nvSpPr>
        <p:spPr>
          <a:xfrm>
            <a:off x="121215" y="1118362"/>
            <a:ext cx="3109210" cy="7478970"/>
          </a:xfrm>
          <a:prstGeom prst="rect">
            <a:avLst/>
          </a:prstGeom>
          <a:noFill/>
        </p:spPr>
        <p:txBody>
          <a:bodyPr wrap="square" rtlCol="0">
            <a:spAutoFit/>
          </a:bodyPr>
          <a:lstStyle/>
          <a:p>
            <a:pPr marL="171450" indent="-171450">
              <a:buFont typeface="Wingdings" panose="05000000000000000000" pitchFamily="2" charset="2"/>
              <a:buChar char="q"/>
            </a:pPr>
            <a:r>
              <a:rPr lang="tr-TR" sz="1000" noProof="1">
                <a:solidFill>
                  <a:schemeClr val="tx1"/>
                </a:solidFill>
                <a:cs typeface="Arial" panose="020B0604020202020204" pitchFamily="34" charset="0"/>
              </a:rPr>
              <a:t>Grubun yaşlarının aritmetik ortalaması a ise bu gruptan çıkan herhangi bir kişinin yaşı b olsun.</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solidFill>
                  <a:schemeClr val="tx1"/>
                </a:solidFill>
                <a:cs typeface="Arial" panose="020B0604020202020204" pitchFamily="34" charset="0"/>
              </a:rPr>
              <a:t>Çıkan kişinin yaşı, grubun aritmetik ortalamasından büyükse grubun kaybı olacaktır ve grubun aritmetik ortalaması azalacaktır. </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solidFill>
                  <a:schemeClr val="tx1"/>
                </a:solidFill>
                <a:cs typeface="Arial" panose="020B0604020202020204" pitchFamily="34" charset="0"/>
              </a:rPr>
              <a:t>Çıkan kişinin yaşı, grubun aritmetik ortalamasıyla aynıysa herhangi bir değişiklik olmaz.</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solidFill>
                  <a:schemeClr val="tx1"/>
                </a:solidFill>
                <a:cs typeface="Arial" panose="020B0604020202020204" pitchFamily="34" charset="0"/>
              </a:rPr>
              <a:t> Çıkan kişinin yaşı, grubun aritmetik ortalamasından küçükse bu durum grup için avantaj olacaktır, ortalamanın altı birisi gittiği için ortalama daha da yükselecektir.</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q"/>
            </a:pPr>
            <a:r>
              <a:rPr lang="tr-TR" sz="1000" noProof="1">
                <a:solidFill>
                  <a:schemeClr val="tx1"/>
                </a:solidFill>
                <a:cs typeface="Arial" panose="020B0604020202020204" pitchFamily="34" charset="0"/>
              </a:rPr>
              <a:t> Anne veya Babanın yaşları ve çocuklarının yaşları toplamı hakkındaki problemlerde ;</a:t>
            </a:r>
          </a:p>
          <a:p>
            <a:pPr marL="171450" indent="-171450">
              <a:buFont typeface="Wingdings" panose="05000000000000000000" pitchFamily="2" charset="2"/>
              <a:buChar char="q"/>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solidFill>
                  <a:schemeClr val="tx1"/>
                </a:solidFill>
                <a:cs typeface="Arial" panose="020B0604020202020204" pitchFamily="34" charset="0"/>
              </a:rPr>
              <a:t>Çocuk sayısı 2 ve daha fazlasıysa çocukların yaşları toplamı, annenin yaşını belli bir yıl sonrasında geçeceklerdir. Çünkü anne her sene 1 yaş büyürken, çocuklar en az iki kişi olduğundan her yıl 2 yaş büyürler ve arada her yıl farkı çocukların lehinedir.</a:t>
            </a:r>
          </a:p>
          <a:p>
            <a:pPr marL="171450" indent="-171450">
              <a:buFont typeface="Wingdings" panose="05000000000000000000" pitchFamily="2" charset="2"/>
              <a:buChar char="§"/>
            </a:pPr>
            <a:endParaRPr lang="tr-TR" sz="1000" noProof="1">
              <a:cs typeface="Arial" panose="020B0604020202020204" pitchFamily="34" charset="0"/>
            </a:endParaRPr>
          </a:p>
          <a:p>
            <a:r>
              <a:rPr lang="tr-TR" sz="1000" noProof="1">
                <a:cs typeface="Arial" panose="020B0604020202020204" pitchFamily="34" charset="0"/>
              </a:rPr>
              <a:t>*    Çocukların yaşlar toplamı m doğal sayısı olsun. </a:t>
            </a:r>
          </a:p>
          <a:p>
            <a:pPr marL="171450" indent="-171450">
              <a:buFont typeface="Wingdings" panose="05000000000000000000" pitchFamily="2" charset="2"/>
              <a:buChar char="v"/>
            </a:pPr>
            <a:endParaRPr lang="tr-TR" sz="1000" noProof="1">
              <a:solidFill>
                <a:schemeClr val="tx1"/>
              </a:solidFill>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Annenin yaşı m`den büyükse çocukların yaşlar toplamı annenin yaşını yakalayana kadar anne ile m </a:t>
            </a:r>
            <a:r>
              <a:rPr lang="tr-TR" sz="1000" b="1" noProof="1">
                <a:cs typeface="Arial" panose="020B0604020202020204" pitchFamily="34" charset="0"/>
              </a:rPr>
              <a:t>arasındaki fark azalacaktır. </a:t>
            </a:r>
            <a:endParaRPr lang="tr-TR" sz="1000" b="1" noProof="1">
              <a:solidFill>
                <a:schemeClr val="tx1"/>
              </a:solidFill>
              <a:cs typeface="Arial" panose="020B0604020202020204" pitchFamily="34" charset="0"/>
            </a:endParaRP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v"/>
            </a:pPr>
            <a:r>
              <a:rPr lang="tr-TR" sz="1000" noProof="1">
                <a:cs typeface="Arial" panose="020B0604020202020204" pitchFamily="34" charset="0"/>
              </a:rPr>
              <a:t>Annenin yaşı m`den küçükse çocukların yaşlar toplamı ile annenin yaşı </a:t>
            </a:r>
            <a:r>
              <a:rPr lang="tr-TR" sz="1000" b="1" noProof="1">
                <a:cs typeface="Arial" panose="020B0604020202020204" pitchFamily="34" charset="0"/>
              </a:rPr>
              <a:t>arasındaki fark daima artar. </a:t>
            </a:r>
          </a:p>
          <a:p>
            <a:br>
              <a:rPr lang="tr-TR" sz="1000" b="1" noProof="1">
                <a:cs typeface="Arial" panose="020B0604020202020204" pitchFamily="34" charset="0"/>
              </a:rPr>
            </a:br>
            <a:r>
              <a:rPr lang="tr-TR" sz="1000" b="1" noProof="1">
                <a:cs typeface="Arial" panose="020B0604020202020204" pitchFamily="34" charset="0"/>
              </a:rPr>
              <a:t>Bu tarz yorum soruları karşınıza gelebilir. İki farklı durum olduğundan dikkat edilmesi gerekir.</a:t>
            </a:r>
          </a:p>
          <a:p>
            <a:endParaRPr lang="tr-TR" sz="1000" b="1"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Bir soru kalıbı da 19ab 4 basamaklı bir doğal sayı olmak üzere ; doğum yılı verilir ve şuanki verilen yıldan çıkarılması istenir. İnsanlar yaklaşık olarak iki basamaklı yaşlara sahip olduğundan denemeler yapılabilir ve sorudaki bazı şartlar sayesinde a ve b hakkında bilgi sahibi olabiliriz.</a:t>
            </a:r>
          </a:p>
          <a:p>
            <a:pPr marL="171450" indent="-171450">
              <a:buFont typeface="Wingdings" panose="05000000000000000000" pitchFamily="2" charset="2"/>
              <a:buChar char="§"/>
            </a:pPr>
            <a:endParaRPr lang="tr-TR" sz="1000" noProof="1">
              <a:cs typeface="Arial" panose="020B0604020202020204" pitchFamily="34" charset="0"/>
            </a:endParaRPr>
          </a:p>
          <a:p>
            <a:pPr marL="171450" indent="-171450">
              <a:buFont typeface="Wingdings" panose="05000000000000000000" pitchFamily="2" charset="2"/>
              <a:buChar char="§"/>
            </a:pPr>
            <a:r>
              <a:rPr lang="tr-TR" sz="1000" noProof="1">
                <a:cs typeface="Arial" panose="020B0604020202020204" pitchFamily="34" charset="0"/>
              </a:rPr>
              <a:t>Denklemi sağlayan sayılara kök denir. Bazı yaş denklemlerinde 2 farklı kök bulunur. Bu kökler içerisinde alacağımız doğal sayı olanıdır, sorunun doğru çözümü için diğer kök doğal sayı </a:t>
            </a:r>
            <a:br>
              <a:rPr lang="tr-TR" sz="1000" noProof="1">
                <a:cs typeface="Arial" panose="020B0604020202020204" pitchFamily="34" charset="0"/>
              </a:rPr>
            </a:br>
            <a:r>
              <a:rPr lang="tr-TR" sz="1000" noProof="1">
                <a:cs typeface="Arial" panose="020B0604020202020204" pitchFamily="34" charset="0"/>
              </a:rPr>
              <a:t>olmamalıdır.  </a:t>
            </a:r>
          </a:p>
        </p:txBody>
      </p:sp>
      <p:sp>
        <p:nvSpPr>
          <p:cNvPr id="45" name="Metin kutusu 44">
            <a:extLst>
              <a:ext uri="{FF2B5EF4-FFF2-40B4-BE49-F238E27FC236}">
                <a16:creationId xmlns:a16="http://schemas.microsoft.com/office/drawing/2014/main" id="{52340549-7FBA-479E-A2C3-7AB578C3F42B}"/>
              </a:ext>
            </a:extLst>
          </p:cNvPr>
          <p:cNvSpPr txBox="1"/>
          <p:nvPr/>
        </p:nvSpPr>
        <p:spPr>
          <a:xfrm>
            <a:off x="3550988" y="6990807"/>
            <a:ext cx="3241259" cy="1785104"/>
          </a:xfrm>
          <a:prstGeom prst="rect">
            <a:avLst/>
          </a:prstGeom>
          <a:noFill/>
        </p:spPr>
        <p:txBody>
          <a:bodyPr wrap="square" rtlCol="0">
            <a:spAutoFit/>
          </a:bodyPr>
          <a:lstStyle/>
          <a:p>
            <a:r>
              <a:rPr lang="tr-TR" sz="1000" b="1" noProof="1">
                <a:cs typeface="Arial" panose="020B0604020202020204" pitchFamily="34" charset="0"/>
              </a:rPr>
              <a:t>I : </a:t>
            </a:r>
            <a:r>
              <a:rPr lang="tr-TR" sz="1000" noProof="1">
                <a:cs typeface="Arial" panose="020B0604020202020204" pitchFamily="34" charset="0"/>
              </a:rPr>
              <a:t>Baba her yıl 1 yaş büyür ; çocukların sayısına x diyelim çocukların yaşları toplamı da her sene çocuk sayısı kadar büyür.  Fark için x-1 =  2   </a:t>
            </a:r>
            <a:r>
              <a:rPr lang="tr-TR" sz="1000" b="1" noProof="1">
                <a:cs typeface="Arial" panose="020B0604020202020204" pitchFamily="34" charset="0"/>
              </a:rPr>
              <a:t>x=3 yani 3 çocuğu vardır.</a:t>
            </a:r>
          </a:p>
          <a:p>
            <a:endParaRPr lang="tr-TR" sz="1000" b="1" noProof="1">
              <a:cs typeface="Arial" panose="020B0604020202020204" pitchFamily="34" charset="0"/>
            </a:endParaRPr>
          </a:p>
          <a:p>
            <a:r>
              <a:rPr lang="tr-TR" sz="1000" b="1" noProof="1">
                <a:cs typeface="Arial" panose="020B0604020202020204" pitchFamily="34" charset="0"/>
              </a:rPr>
              <a:t>II ve III. </a:t>
            </a:r>
            <a:r>
              <a:rPr lang="tr-TR" sz="1000" noProof="1">
                <a:cs typeface="Arial" panose="020B0604020202020204" pitchFamily="34" charset="0"/>
              </a:rPr>
              <a:t>Aradaki farkın belli süre zarfında azaldığı soruda belirtiliyor. Çocukların yaşları toplamı babaya nazaran her yıl daha fazla büyür. Aradaki fark azalıyorsa bu farkı çocukların yaşları daha fazla büyümesinden kaynaklanmaktadır. Fark artsaydı eğer; çocukların yaşları toplamı babanın yaşını geçmiş ve her yıl daha fazla büyüdükleri için farkın artması sağlanmıştır.</a:t>
            </a:r>
          </a:p>
        </p:txBody>
      </p:sp>
    </p:spTree>
    <p:extLst>
      <p:ext uri="{BB962C8B-B14F-4D97-AF65-F5344CB8AC3E}">
        <p14:creationId xmlns:p14="http://schemas.microsoft.com/office/powerpoint/2010/main" val="9968609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Yaş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6448" y="218250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226835"/>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245386"/>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226835"/>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28885" y="837459"/>
            <a:ext cx="3255555" cy="707886"/>
          </a:xfrm>
          <a:prstGeom prst="rect">
            <a:avLst/>
          </a:prstGeom>
          <a:noFill/>
        </p:spPr>
        <p:txBody>
          <a:bodyPr wrap="square" rtlCol="0">
            <a:spAutoFit/>
          </a:bodyPr>
          <a:lstStyle/>
          <a:p>
            <a:r>
              <a:rPr lang="tr-TR" sz="1000" noProof="1">
                <a:cs typeface="Arial" panose="020B0604020202020204" pitchFamily="34" charset="0"/>
              </a:rPr>
              <a:t>Banu`nun 3 yıl önceki yaşı, Deniz`in 3 yıl sonraki yaşına eşittir. Recep`in bugünkü yaşı da Burcu ile Deniz`in yaşları farkına eşittir. Üçünün bugünkü yaşları toplamı 30 olduğuna göre Deniz`in yaşı kaçtır?</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16.</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237228"/>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17.</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18.</a:t>
            </a:r>
          </a:p>
        </p:txBody>
      </p:sp>
      <p:sp>
        <p:nvSpPr>
          <p:cNvPr id="57" name="Kaydırma: Yatay 56">
            <a:extLst>
              <a:ext uri="{FF2B5EF4-FFF2-40B4-BE49-F238E27FC236}">
                <a16:creationId xmlns:a16="http://schemas.microsoft.com/office/drawing/2014/main" id="{A1C36FE5-AEDC-4752-989E-B931C6EB26D0}"/>
              </a:ext>
            </a:extLst>
          </p:cNvPr>
          <p:cNvSpPr/>
          <p:nvPr/>
        </p:nvSpPr>
        <p:spPr>
          <a:xfrm>
            <a:off x="855645" y="361623"/>
            <a:ext cx="2455989" cy="513908"/>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E2042D15-4D07-40FE-8A50-3CD3E91BA1D0}"/>
              </a:ext>
            </a:extLst>
          </p:cNvPr>
          <p:cNvSpPr txBox="1"/>
          <p:nvPr/>
        </p:nvSpPr>
        <p:spPr>
          <a:xfrm>
            <a:off x="894313" y="390626"/>
            <a:ext cx="2390127" cy="461665"/>
          </a:xfrm>
          <a:prstGeom prst="rect">
            <a:avLst/>
          </a:prstGeom>
          <a:noFill/>
        </p:spPr>
        <p:txBody>
          <a:bodyPr wrap="square">
            <a:spAutoFit/>
          </a:bodyPr>
          <a:lstStyle/>
          <a:p>
            <a:r>
              <a:rPr lang="tr-TR" sz="800" b="1" i="0" noProof="1">
                <a:solidFill>
                  <a:schemeClr val="bg1"/>
                </a:solidFill>
                <a:effectLst/>
                <a:latin typeface="Arial Narrow" panose="020B0606020202030204" pitchFamily="34" charset="0"/>
              </a:rPr>
              <a:t>“Sizi mutlu eden şeyi yapın ve başarılı olmayı dert etmeyin. Cesur olun. Hayatı kendi kurallarınıza göre yaşayın</a:t>
            </a:r>
            <a:r>
              <a:rPr lang="tr-TR" sz="800" b="1" noProof="1">
                <a:solidFill>
                  <a:schemeClr val="bg1"/>
                </a:solidFill>
                <a:latin typeface="Arial Narrow" panose="020B0606020202030204" pitchFamily="34" charset="0"/>
              </a:rPr>
              <a:t>.</a:t>
            </a:r>
            <a:r>
              <a:rPr lang="tr-TR" sz="800" b="1" i="0" noProof="1">
                <a:solidFill>
                  <a:schemeClr val="bg1"/>
                </a:solidFill>
                <a:effectLst/>
                <a:latin typeface="Arial Narrow" panose="020B0606020202030204" pitchFamily="34" charset="0"/>
              </a:rPr>
              <a:t>”  - Aamir Khan</a:t>
            </a:r>
            <a:endParaRPr lang="tr-TR" sz="800" noProof="1">
              <a:solidFill>
                <a:schemeClr val="bg1"/>
              </a:solidFill>
              <a:latin typeface="Arial Narrow" panose="020B0606020202030204" pitchFamily="34" charset="0"/>
            </a:endParaRPr>
          </a:p>
        </p:txBody>
      </p:sp>
      <p:graphicFrame>
        <p:nvGraphicFramePr>
          <p:cNvPr id="4" name="Tablo 5">
            <a:extLst>
              <a:ext uri="{FF2B5EF4-FFF2-40B4-BE49-F238E27FC236}">
                <a16:creationId xmlns:a16="http://schemas.microsoft.com/office/drawing/2014/main" id="{02C9097B-3E07-4801-9E0C-4A6C7F56390C}"/>
              </a:ext>
            </a:extLst>
          </p:cNvPr>
          <p:cNvGraphicFramePr>
            <a:graphicFrameLocks noGrp="1"/>
          </p:cNvGraphicFramePr>
          <p:nvPr>
            <p:extLst>
              <p:ext uri="{D42A27DB-BD31-4B8C-83A1-F6EECF244321}">
                <p14:modId xmlns:p14="http://schemas.microsoft.com/office/powerpoint/2010/main" val="1425481649"/>
              </p:ext>
            </p:extLst>
          </p:nvPr>
        </p:nvGraphicFramePr>
        <p:xfrm>
          <a:off x="99440" y="2549219"/>
          <a:ext cx="3212192" cy="1112520"/>
        </p:xfrm>
        <a:graphic>
          <a:graphicData uri="http://schemas.openxmlformats.org/drawingml/2006/table">
            <a:tbl>
              <a:tblPr firstRow="1" bandRow="1">
                <a:effectLst>
                  <a:reflection blurRad="6350" stA="1000" endPos="20000" dist="50800" dir="5400000" sy="-100000" algn="bl" rotWithShape="0"/>
                </a:effectLst>
                <a:tableStyleId>{C4B1156A-380E-4F78-BDF5-A606A8083BF9}</a:tableStyleId>
              </a:tblPr>
              <a:tblGrid>
                <a:gridCol w="863348">
                  <a:extLst>
                    <a:ext uri="{9D8B030D-6E8A-4147-A177-3AD203B41FA5}">
                      <a16:colId xmlns:a16="http://schemas.microsoft.com/office/drawing/2014/main" val="4041533285"/>
                    </a:ext>
                  </a:extLst>
                </a:gridCol>
                <a:gridCol w="746146">
                  <a:extLst>
                    <a:ext uri="{9D8B030D-6E8A-4147-A177-3AD203B41FA5}">
                      <a16:colId xmlns:a16="http://schemas.microsoft.com/office/drawing/2014/main" val="3045847429"/>
                    </a:ext>
                  </a:extLst>
                </a:gridCol>
                <a:gridCol w="703242">
                  <a:extLst>
                    <a:ext uri="{9D8B030D-6E8A-4147-A177-3AD203B41FA5}">
                      <a16:colId xmlns:a16="http://schemas.microsoft.com/office/drawing/2014/main" val="2024519297"/>
                    </a:ext>
                  </a:extLst>
                </a:gridCol>
                <a:gridCol w="899456">
                  <a:extLst>
                    <a:ext uri="{9D8B030D-6E8A-4147-A177-3AD203B41FA5}">
                      <a16:colId xmlns:a16="http://schemas.microsoft.com/office/drawing/2014/main" val="625048306"/>
                    </a:ext>
                  </a:extLst>
                </a:gridCol>
              </a:tblGrid>
              <a:tr h="212823">
                <a:tc>
                  <a:txBody>
                    <a:bodyPr/>
                    <a:lstStyle/>
                    <a:p>
                      <a:pPr algn="ctr"/>
                      <a:r>
                        <a:rPr lang="tr-TR" sz="1000" b="0" dirty="0">
                          <a:solidFill>
                            <a:schemeClr val="tx1"/>
                          </a:solidFill>
                        </a:rPr>
                        <a:t>Yıl / İsimler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chemeClr val="tx1"/>
                          </a:solidFill>
                        </a:rPr>
                        <a:t>Banu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chemeClr val="tx1"/>
                          </a:solidFill>
                        </a:rPr>
                        <a:t>Deniz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chemeClr val="tx1"/>
                          </a:solidFill>
                        </a:rPr>
                        <a:t>Recep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08302972"/>
                  </a:ext>
                </a:extLst>
              </a:tr>
              <a:tr h="212823">
                <a:tc>
                  <a:txBody>
                    <a:bodyPr/>
                    <a:lstStyle/>
                    <a:p>
                      <a:pPr algn="ctr"/>
                      <a:r>
                        <a:rPr lang="tr-TR" sz="1000" dirty="0">
                          <a:solidFill>
                            <a:schemeClr val="tx1"/>
                          </a:solidFill>
                        </a:rPr>
                        <a:t>3 yıl önce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rgbClr val="FF0000"/>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tr-TR" sz="1000" dirty="0">
                          <a:solidFill>
                            <a:srgbClr val="0070C0"/>
                          </a:solidFill>
                        </a:rPr>
                        <a:t>x - 6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rgbClr val="0070C0"/>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19201064"/>
                  </a:ext>
                </a:extLst>
              </a:tr>
              <a:tr h="334725">
                <a:tc>
                  <a:txBody>
                    <a:bodyPr/>
                    <a:lstStyle/>
                    <a:p>
                      <a:pPr algn="ctr"/>
                      <a:r>
                        <a:rPr lang="tr-TR" sz="1000" dirty="0">
                          <a:solidFill>
                            <a:schemeClr val="tx1"/>
                          </a:solidFill>
                        </a:rPr>
                        <a:t>Bugün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chemeClr val="tx1"/>
                          </a:solidFill>
                        </a:rPr>
                        <a:t>x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chemeClr val="tx1"/>
                          </a:solidFill>
                        </a:rPr>
                        <a:t>x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950" dirty="0">
                          <a:solidFill>
                            <a:schemeClr val="tx1"/>
                          </a:solidFill>
                        </a:rPr>
                        <a:t>| x+3 – (x-3) |</a:t>
                      </a:r>
                      <a:br>
                        <a:rPr lang="tr-TR" sz="950" dirty="0">
                          <a:solidFill>
                            <a:schemeClr val="tx1"/>
                          </a:solidFill>
                        </a:rPr>
                      </a:br>
                      <a:r>
                        <a:rPr lang="tr-TR" sz="950" dirty="0">
                          <a:solidFill>
                            <a:schemeClr val="tx1"/>
                          </a:solidFill>
                        </a:rPr>
                        <a:t>= </a:t>
                      </a:r>
                      <a:r>
                        <a:rPr lang="tr-TR" sz="950" b="1"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62495473"/>
                  </a:ext>
                </a:extLst>
              </a:tr>
              <a:tr h="212823">
                <a:tc>
                  <a:txBody>
                    <a:bodyPr/>
                    <a:lstStyle/>
                    <a:p>
                      <a:pPr algn="ctr"/>
                      <a:r>
                        <a:rPr lang="tr-TR" sz="1000" dirty="0">
                          <a:solidFill>
                            <a:schemeClr val="tx1"/>
                          </a:solidFill>
                        </a:rPr>
                        <a:t>3 yıl sonra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rgbClr val="0070C0"/>
                          </a:solidFill>
                        </a:rPr>
                        <a:t>x + 6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tr-TR" sz="1000" dirty="0">
                          <a:solidFill>
                            <a:srgbClr val="FF0000"/>
                          </a:solidFill>
                        </a:rPr>
                        <a:t>x</a:t>
                      </a:r>
                      <a:endParaRPr lang="tr-T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tr-TR" sz="1000" dirty="0">
                          <a:solidFill>
                            <a:srgbClr val="0070C0"/>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88918668"/>
                  </a:ext>
                </a:extLst>
              </a:tr>
            </a:tbl>
          </a:graphicData>
        </a:graphic>
      </p:graphicFrame>
      <p:sp>
        <p:nvSpPr>
          <p:cNvPr id="60" name="Metin kutusu 59">
            <a:extLst>
              <a:ext uri="{FF2B5EF4-FFF2-40B4-BE49-F238E27FC236}">
                <a16:creationId xmlns:a16="http://schemas.microsoft.com/office/drawing/2014/main" id="{CB5FCDCF-B679-46F3-A433-FC063D776EBE}"/>
              </a:ext>
            </a:extLst>
          </p:cNvPr>
          <p:cNvSpPr txBox="1"/>
          <p:nvPr/>
        </p:nvSpPr>
        <p:spPr>
          <a:xfrm>
            <a:off x="894313" y="2125869"/>
            <a:ext cx="3255555" cy="400110"/>
          </a:xfrm>
          <a:prstGeom prst="rect">
            <a:avLst/>
          </a:prstGeom>
          <a:noFill/>
        </p:spPr>
        <p:txBody>
          <a:bodyPr wrap="square" rtlCol="0">
            <a:spAutoFit/>
          </a:bodyPr>
          <a:lstStyle/>
          <a:p>
            <a:r>
              <a:rPr lang="tr-TR" sz="1000" noProof="1">
                <a:cs typeface="Arial" panose="020B0604020202020204" pitchFamily="34" charset="0"/>
              </a:rPr>
              <a:t>Çözüm aşaması ; önce kırmızılar, sonra </a:t>
            </a:r>
          </a:p>
          <a:p>
            <a:r>
              <a:rPr lang="tr-TR" sz="1000" noProof="1">
                <a:cs typeface="Arial" panose="020B0604020202020204" pitchFamily="34" charset="0"/>
              </a:rPr>
              <a:t>siyahlar keyfi olarakta maviler yazılmıştır.</a:t>
            </a:r>
          </a:p>
        </p:txBody>
      </p:sp>
      <p:sp>
        <p:nvSpPr>
          <p:cNvPr id="62" name="Metin kutusu 61">
            <a:extLst>
              <a:ext uri="{FF2B5EF4-FFF2-40B4-BE49-F238E27FC236}">
                <a16:creationId xmlns:a16="http://schemas.microsoft.com/office/drawing/2014/main" id="{FD1BF09F-E2AF-45E9-A129-2FED2E349C08}"/>
              </a:ext>
            </a:extLst>
          </p:cNvPr>
          <p:cNvSpPr txBox="1"/>
          <p:nvPr/>
        </p:nvSpPr>
        <p:spPr>
          <a:xfrm>
            <a:off x="44624" y="3686101"/>
            <a:ext cx="3267010" cy="553998"/>
          </a:xfrm>
          <a:prstGeom prst="rect">
            <a:avLst/>
          </a:prstGeom>
          <a:noFill/>
        </p:spPr>
        <p:txBody>
          <a:bodyPr wrap="square" rtlCol="0">
            <a:spAutoFit/>
          </a:bodyPr>
          <a:lstStyle/>
          <a:p>
            <a:r>
              <a:rPr lang="tr-TR" sz="1000" noProof="1">
                <a:cs typeface="Arial" panose="020B0604020202020204" pitchFamily="34" charset="0"/>
              </a:rPr>
              <a:t>Bugünkü yaşlar toplamı 2x + 6 = 30 ise x=12 olarak bulunur. </a:t>
            </a:r>
          </a:p>
          <a:p>
            <a:endParaRPr lang="tr-TR" sz="1000" noProof="1">
              <a:cs typeface="Arial" panose="020B0604020202020204" pitchFamily="34" charset="0"/>
            </a:endParaRPr>
          </a:p>
          <a:p>
            <a:r>
              <a:rPr lang="tr-TR" sz="1000" b="1" noProof="1">
                <a:cs typeface="Arial" panose="020B0604020202020204" pitchFamily="34" charset="0"/>
              </a:rPr>
              <a:t>Deniz`in bugünkü yaşı 12-3  = 9 olarak bulunur.</a:t>
            </a:r>
          </a:p>
        </p:txBody>
      </p:sp>
      <p:sp>
        <p:nvSpPr>
          <p:cNvPr id="66" name="Metin kutusu 65">
            <a:extLst>
              <a:ext uri="{FF2B5EF4-FFF2-40B4-BE49-F238E27FC236}">
                <a16:creationId xmlns:a16="http://schemas.microsoft.com/office/drawing/2014/main" id="{C1205CCC-541C-43BC-8909-4546F38E611A}"/>
              </a:ext>
            </a:extLst>
          </p:cNvPr>
          <p:cNvSpPr txBox="1"/>
          <p:nvPr/>
        </p:nvSpPr>
        <p:spPr>
          <a:xfrm>
            <a:off x="0" y="4499992"/>
            <a:ext cx="3270265" cy="1015663"/>
          </a:xfrm>
          <a:prstGeom prst="rect">
            <a:avLst/>
          </a:prstGeom>
          <a:noFill/>
        </p:spPr>
        <p:txBody>
          <a:bodyPr wrap="square" rtlCol="0">
            <a:spAutoFit/>
          </a:bodyPr>
          <a:lstStyle/>
          <a:p>
            <a:r>
              <a:rPr lang="tr-TR" sz="1000" noProof="1">
                <a:cs typeface="Arial" panose="020B0604020202020204" pitchFamily="34" charset="0"/>
              </a:rPr>
              <a:t>Üç kardeşin bugünkü yaşları ardışık çift tam sayılardır. Babanın bugünkü yaşı çocukların bugünkü yaşlarının toplamının yarısından 8 fazladır. En büyük kardeş en küçük kardeşin bugünkü yaşındayken baba 40 yaşındaydı. </a:t>
            </a:r>
          </a:p>
          <a:p>
            <a:endParaRPr lang="tr-TR" sz="1000" noProof="1">
              <a:cs typeface="Arial" panose="020B0604020202020204" pitchFamily="34" charset="0"/>
            </a:endParaRPr>
          </a:p>
          <a:p>
            <a:r>
              <a:rPr lang="tr-TR" sz="1000" b="1" noProof="1">
                <a:cs typeface="Arial" panose="020B0604020202020204" pitchFamily="34" charset="0"/>
              </a:rPr>
              <a:t>Buna göre, en küçük kardeşin bugünkü yaşı kaçtır? </a:t>
            </a:r>
          </a:p>
        </p:txBody>
      </p:sp>
      <mc:AlternateContent xmlns:mc="http://schemas.openxmlformats.org/markup-compatibility/2006" xmlns:a14="http://schemas.microsoft.com/office/drawing/2010/main">
        <mc:Choice Requires="a14">
          <p:sp>
            <p:nvSpPr>
              <p:cNvPr id="67" name="Metin kutusu 66">
                <a:extLst>
                  <a:ext uri="{FF2B5EF4-FFF2-40B4-BE49-F238E27FC236}">
                    <a16:creationId xmlns:a16="http://schemas.microsoft.com/office/drawing/2014/main" id="{36D22E07-618C-4C53-8812-89C53E4FAF47}"/>
                  </a:ext>
                </a:extLst>
              </p:cNvPr>
              <p:cNvSpPr txBox="1"/>
              <p:nvPr/>
            </p:nvSpPr>
            <p:spPr>
              <a:xfrm>
                <a:off x="23203" y="6734508"/>
                <a:ext cx="3389285" cy="1804725"/>
              </a:xfrm>
              <a:prstGeom prst="rect">
                <a:avLst/>
              </a:prstGeom>
              <a:noFill/>
            </p:spPr>
            <p:txBody>
              <a:bodyPr wrap="square" rtlCol="0">
                <a:spAutoFit/>
              </a:bodyPr>
              <a:lstStyle/>
              <a:p>
                <a:r>
                  <a:rPr lang="tr-TR" sz="1000" noProof="1">
                    <a:cs typeface="Arial" panose="020B0604020202020204" pitchFamily="34" charset="0"/>
                  </a:rPr>
                  <a:t>Kardeşlerin yaşları büyükten küçüğe doğru x , x-2, x-4 olsun. Toplarsak 3x- 6 ; yarısının 8 fazlası </a:t>
                </a:r>
                <a14:m>
                  <m:oMath xmlns:m="http://schemas.openxmlformats.org/officeDocument/2006/math">
                    <m:f>
                      <m:fPr>
                        <m:ctrlPr>
                          <a:rPr lang="tr-TR" sz="1000" i="1" noProof="1" smtClean="0">
                            <a:latin typeface="Cambria Math" panose="02040503050406030204" pitchFamily="18" charset="0"/>
                          </a:rPr>
                        </m:ctrlPr>
                      </m:fPr>
                      <m:num>
                        <m:r>
                          <m:rPr>
                            <m:nor/>
                          </m:rPr>
                          <a:rPr lang="tr-TR" sz="1000" b="0" i="0" noProof="1" smtClean="0"/>
                          <m:t>3</m:t>
                        </m:r>
                        <m:r>
                          <m:rPr>
                            <m:nor/>
                          </m:rPr>
                          <a:rPr lang="tr-TR" sz="1000" b="0" i="0" noProof="1" smtClean="0"/>
                          <m:t>x</m:t>
                        </m:r>
                        <m:r>
                          <m:rPr>
                            <m:nor/>
                          </m:rPr>
                          <a:rPr lang="tr-TR" sz="1000" b="0" i="0" noProof="1" smtClean="0"/>
                          <m:t>−6</m:t>
                        </m:r>
                      </m:num>
                      <m:den>
                        <m:r>
                          <m:rPr>
                            <m:nor/>
                          </m:rPr>
                          <a:rPr lang="tr-TR" sz="1000" b="0" i="0" noProof="1" smtClean="0"/>
                          <m:t>2</m:t>
                        </m:r>
                      </m:den>
                    </m:f>
                  </m:oMath>
                </a14:m>
                <a:r>
                  <a:rPr lang="tr-TR" sz="1000" noProof="1">
                    <a:cs typeface="Arial" panose="020B0604020202020204" pitchFamily="34" charset="0"/>
                  </a:rPr>
                  <a:t> + 8  = </a:t>
                </a:r>
                <a14:m>
                  <m:oMath xmlns:m="http://schemas.openxmlformats.org/officeDocument/2006/math">
                    <m:f>
                      <m:fPr>
                        <m:ctrlPr>
                          <a:rPr lang="tr-TR" sz="1000" i="1" noProof="1">
                            <a:latin typeface="Cambria Math" panose="02040503050406030204" pitchFamily="18" charset="0"/>
                          </a:rPr>
                        </m:ctrlPr>
                      </m:fPr>
                      <m:num>
                        <m:r>
                          <m:rPr>
                            <m:nor/>
                          </m:rPr>
                          <a:rPr lang="tr-TR" sz="1000" b="0" i="0" noProof="1" smtClean="0">
                            <a:latin typeface="Cambria Math" panose="02040503050406030204" pitchFamily="18" charset="0"/>
                          </a:rPr>
                          <m:t> </m:t>
                        </m:r>
                        <m:r>
                          <m:rPr>
                            <m:nor/>
                          </m:rPr>
                          <a:rPr lang="tr-TR" sz="1000" noProof="1"/>
                          <m:t>3</m:t>
                        </m:r>
                        <m:r>
                          <m:rPr>
                            <m:nor/>
                          </m:rPr>
                          <a:rPr lang="tr-TR" sz="1000" noProof="1"/>
                          <m:t>x</m:t>
                        </m:r>
                        <m:r>
                          <m:rPr>
                            <m:nor/>
                          </m:rPr>
                          <a:rPr lang="tr-TR" sz="1000" b="0" i="0" noProof="1" smtClean="0"/>
                          <m:t>+10</m:t>
                        </m:r>
                      </m:num>
                      <m:den>
                        <m:r>
                          <m:rPr>
                            <m:nor/>
                          </m:rPr>
                          <a:rPr lang="tr-TR" sz="1000" noProof="1"/>
                          <m:t>2</m:t>
                        </m:r>
                      </m:den>
                    </m:f>
                  </m:oMath>
                </a14:m>
                <a:r>
                  <a:rPr lang="tr-TR" sz="1000" noProof="1">
                    <a:cs typeface="Arial" panose="020B0604020202020204" pitchFamily="34" charset="0"/>
                  </a:rPr>
                  <a:t> babanın bugünkü yaşıdır. En büyük kardeşin yaşı x, en küçüğün yaşı x-4 büyüğün küçüğün yaşında olduğu sene 4 yıl öncedir. Yani 4 yıl önceye gittiğimizde babanın yaşınıda zamanlama olarak eşitlemek adına 4 yıl geri götürmeliyiz. </a:t>
                </a:r>
              </a:p>
              <a:p>
                <a:endParaRPr lang="tr-TR" sz="1000" noProof="1">
                  <a:cs typeface="Arial" panose="020B0604020202020204" pitchFamily="34" charset="0"/>
                </a:endParaRPr>
              </a:p>
              <a:p>
                <a14:m>
                  <m:oMath xmlns:m="http://schemas.openxmlformats.org/officeDocument/2006/math">
                    <m:f>
                      <m:fPr>
                        <m:ctrlPr>
                          <a:rPr lang="tr-TR" sz="1000" i="1" noProof="1" smtClean="0">
                            <a:latin typeface="Cambria Math" panose="02040503050406030204" pitchFamily="18" charset="0"/>
                          </a:rPr>
                        </m:ctrlPr>
                      </m:fPr>
                      <m:num>
                        <m:r>
                          <m:rPr>
                            <m:nor/>
                          </m:rPr>
                          <a:rPr lang="tr-TR" sz="1000" b="0" i="0" noProof="1" smtClean="0">
                            <a:latin typeface="Cambria Math" panose="02040503050406030204" pitchFamily="18" charset="0"/>
                          </a:rPr>
                          <m:t> </m:t>
                        </m:r>
                        <m:r>
                          <m:rPr>
                            <m:nor/>
                          </m:rPr>
                          <a:rPr lang="tr-TR" sz="1000" noProof="1"/>
                          <m:t>3</m:t>
                        </m:r>
                        <m:r>
                          <m:rPr>
                            <m:nor/>
                          </m:rPr>
                          <a:rPr lang="tr-TR" sz="1000" noProof="1"/>
                          <m:t>x</m:t>
                        </m:r>
                        <m:r>
                          <m:rPr>
                            <m:nor/>
                          </m:rPr>
                          <a:rPr lang="tr-TR" sz="1000" b="0" i="0" noProof="1" smtClean="0"/>
                          <m:t>+10</m:t>
                        </m:r>
                      </m:num>
                      <m:den>
                        <m:r>
                          <m:rPr>
                            <m:nor/>
                          </m:rPr>
                          <a:rPr lang="tr-TR" sz="1000" noProof="1"/>
                          <m:t>2</m:t>
                        </m:r>
                      </m:den>
                    </m:f>
                  </m:oMath>
                </a14:m>
                <a:r>
                  <a:rPr lang="tr-TR" sz="1000" noProof="1">
                    <a:cs typeface="Arial" panose="020B0604020202020204" pitchFamily="34" charset="0"/>
                  </a:rPr>
                  <a:t> - 4 = 40     3x + 10 = 88 ,  3x= 78 ise x=26 bulunur.</a:t>
                </a:r>
              </a:p>
              <a:p>
                <a:endParaRPr lang="tr-TR" sz="1000" noProof="1">
                  <a:cs typeface="Arial" panose="020B0604020202020204" pitchFamily="34" charset="0"/>
                </a:endParaRPr>
              </a:p>
              <a:p>
                <a:r>
                  <a:rPr lang="tr-TR" sz="1000" b="1" noProof="1">
                    <a:cs typeface="Arial" panose="020B0604020202020204" pitchFamily="34" charset="0"/>
                  </a:rPr>
                  <a:t>En küçük kardeş x-4 yaşındaydı yani 26-4 = 22 yaşındadır. </a:t>
                </a:r>
              </a:p>
            </p:txBody>
          </p:sp>
        </mc:Choice>
        <mc:Fallback xmlns="">
          <p:sp>
            <p:nvSpPr>
              <p:cNvPr id="67" name="Metin kutusu 66">
                <a:extLst>
                  <a:ext uri="{FF2B5EF4-FFF2-40B4-BE49-F238E27FC236}">
                    <a16:creationId xmlns:a16="http://schemas.microsoft.com/office/drawing/2014/main" id="{36D22E07-618C-4C53-8812-89C53E4FAF47}"/>
                  </a:ext>
                </a:extLst>
              </p:cNvPr>
              <p:cNvSpPr txBox="1">
                <a:spLocks noRot="1" noChangeAspect="1" noMove="1" noResize="1" noEditPoints="1" noAdjustHandles="1" noChangeArrowheads="1" noChangeShapeType="1" noTextEdit="1"/>
              </p:cNvSpPr>
              <p:nvPr/>
            </p:nvSpPr>
            <p:spPr>
              <a:xfrm>
                <a:off x="23203" y="6734508"/>
                <a:ext cx="3389285" cy="1804725"/>
              </a:xfrm>
              <a:prstGeom prst="rect">
                <a:avLst/>
              </a:prstGeom>
              <a:blipFill>
                <a:blip r:embed="rId6"/>
                <a:stretch>
                  <a:fillRect b="-1014"/>
                </a:stretch>
              </a:blipFill>
            </p:spPr>
            <p:txBody>
              <a:bodyPr/>
              <a:lstStyle/>
              <a:p>
                <a:r>
                  <a:rPr lang="tr-TR">
                    <a:noFill/>
                  </a:rPr>
                  <a:t> </a:t>
                </a:r>
              </a:p>
            </p:txBody>
          </p:sp>
        </mc:Fallback>
      </mc:AlternateContent>
      <p:sp>
        <p:nvSpPr>
          <p:cNvPr id="68" name="Metin kutusu 67">
            <a:extLst>
              <a:ext uri="{FF2B5EF4-FFF2-40B4-BE49-F238E27FC236}">
                <a16:creationId xmlns:a16="http://schemas.microsoft.com/office/drawing/2014/main" id="{D1A6319F-6A37-45E2-A0A8-651DFD185D7D}"/>
              </a:ext>
            </a:extLst>
          </p:cNvPr>
          <p:cNvSpPr txBox="1"/>
          <p:nvPr/>
        </p:nvSpPr>
        <p:spPr>
          <a:xfrm>
            <a:off x="3560822" y="750243"/>
            <a:ext cx="3270265" cy="553998"/>
          </a:xfrm>
          <a:prstGeom prst="rect">
            <a:avLst/>
          </a:prstGeom>
          <a:noFill/>
        </p:spPr>
        <p:txBody>
          <a:bodyPr wrap="square" rtlCol="0">
            <a:spAutoFit/>
          </a:bodyPr>
          <a:lstStyle/>
          <a:p>
            <a:r>
              <a:rPr lang="tr-TR" sz="1000" noProof="1">
                <a:cs typeface="Arial" panose="020B0604020202020204" pitchFamily="34" charset="0"/>
              </a:rPr>
              <a:t>Sinek ile Keloğlan`ın yaşları toplamı, yaşlar farkının 3 katıdır. </a:t>
            </a:r>
          </a:p>
          <a:p>
            <a:r>
              <a:rPr lang="tr-TR" sz="1000" noProof="1">
                <a:cs typeface="Arial" panose="020B0604020202020204" pitchFamily="34" charset="0"/>
              </a:rPr>
              <a:t>4 yıl sonraki yaşlar toplamı, yaşlar farkının 5 katıdır. Buna göre, büyük olan arkadaş küçük olanın yaşının kaç katıdır? </a:t>
            </a:r>
            <a:endParaRPr lang="tr-TR" sz="1000" b="1" noProof="1">
              <a:cs typeface="Arial" panose="020B0604020202020204" pitchFamily="34" charset="0"/>
            </a:endParaRPr>
          </a:p>
        </p:txBody>
      </p:sp>
      <p:sp>
        <p:nvSpPr>
          <p:cNvPr id="69" name="Metin kutusu 68">
            <a:extLst>
              <a:ext uri="{FF2B5EF4-FFF2-40B4-BE49-F238E27FC236}">
                <a16:creationId xmlns:a16="http://schemas.microsoft.com/office/drawing/2014/main" id="{B14B2A57-D92A-480D-86B2-FCF1AEC8F171}"/>
              </a:ext>
            </a:extLst>
          </p:cNvPr>
          <p:cNvSpPr txBox="1"/>
          <p:nvPr/>
        </p:nvSpPr>
        <p:spPr>
          <a:xfrm>
            <a:off x="3570657" y="2543251"/>
            <a:ext cx="3270265" cy="2246769"/>
          </a:xfrm>
          <a:prstGeom prst="rect">
            <a:avLst/>
          </a:prstGeom>
          <a:noFill/>
        </p:spPr>
        <p:txBody>
          <a:bodyPr wrap="square" rtlCol="0">
            <a:spAutoFit/>
          </a:bodyPr>
          <a:lstStyle/>
          <a:p>
            <a:r>
              <a:rPr lang="tr-TR" sz="1000" noProof="1">
                <a:cs typeface="Arial" panose="020B0604020202020204" pitchFamily="34" charset="0"/>
              </a:rPr>
              <a:t>Sinek ve Keloğlanın yaşları sırasıyla x ve y olsun. </a:t>
            </a:r>
          </a:p>
          <a:p>
            <a:r>
              <a:rPr lang="tr-TR" sz="1000" noProof="1">
                <a:cs typeface="Arial" panose="020B0604020202020204" pitchFamily="34" charset="0"/>
              </a:rPr>
              <a:t>Yaşlar toplamı bugün için x+y olacaktır. Kimin daha büyük olduğunu bilmediğimiz için herhangi birini büyük alabiliriz. </a:t>
            </a:r>
            <a:br>
              <a:rPr lang="tr-TR" sz="1000" noProof="1">
                <a:cs typeface="Arial" panose="020B0604020202020204" pitchFamily="34" charset="0"/>
              </a:rPr>
            </a:br>
            <a:r>
              <a:rPr lang="tr-TR" sz="1000" noProof="1">
                <a:cs typeface="Arial" panose="020B0604020202020204" pitchFamily="34" charset="0"/>
              </a:rPr>
              <a:t>X daha büyük olsun mutlak değerle uğraşmayalım. x-y yaşlar farkıdır ve seneden seneye değişmeyecektir. </a:t>
            </a:r>
          </a:p>
          <a:p>
            <a:endParaRPr lang="tr-TR" sz="1000" noProof="1">
              <a:cs typeface="Arial" panose="020B0604020202020204" pitchFamily="34" charset="0"/>
            </a:endParaRPr>
          </a:p>
          <a:p>
            <a:r>
              <a:rPr lang="tr-TR" sz="1000" noProof="1">
                <a:cs typeface="Arial" panose="020B0604020202020204" pitchFamily="34" charset="0"/>
              </a:rPr>
              <a:t>x+y = (x-y) 3   ise  2x – 4 y = 0 olarak bulunur. 4 yıl sonraki yaşlar toplamı için 8 ilave ederiz çünkü iki kişiler her yıl herkes 1 yaş büyür. İki kişi bir yılda yaşlar toplamı 2 yaş büyür. 4 yılda ikisi toplam 8 yaş büyür. Yaş farkı sabittir.</a:t>
            </a:r>
          </a:p>
          <a:p>
            <a:endParaRPr lang="tr-TR" sz="1000" noProof="1">
              <a:cs typeface="Arial" panose="020B0604020202020204" pitchFamily="34" charset="0"/>
            </a:endParaRPr>
          </a:p>
          <a:p>
            <a:r>
              <a:rPr lang="tr-TR" sz="1000" noProof="1">
                <a:cs typeface="Arial" panose="020B0604020202020204" pitchFamily="34" charset="0"/>
              </a:rPr>
              <a:t>x+y+8= (x-y) 5</a:t>
            </a:r>
          </a:p>
          <a:p>
            <a:endParaRPr lang="tr-TR" sz="1000" noProof="1">
              <a:cs typeface="Arial" panose="020B0604020202020204" pitchFamily="34" charset="0"/>
            </a:endParaRPr>
          </a:p>
          <a:p>
            <a:r>
              <a:rPr lang="tr-TR" sz="1000" noProof="1">
                <a:cs typeface="Arial" panose="020B0604020202020204" pitchFamily="34" charset="0"/>
              </a:rPr>
              <a:t>İki denklem çözülürse yok edilerek x=8 y=4 olarak bulunur.</a:t>
            </a:r>
          </a:p>
        </p:txBody>
      </p:sp>
      <p:sp>
        <p:nvSpPr>
          <p:cNvPr id="73" name="Ok: Beşgen 72">
            <a:extLst>
              <a:ext uri="{FF2B5EF4-FFF2-40B4-BE49-F238E27FC236}">
                <a16:creationId xmlns:a16="http://schemas.microsoft.com/office/drawing/2014/main" id="{FD455540-76A5-4F68-A00D-98B86092CB97}"/>
              </a:ext>
            </a:extLst>
          </p:cNvPr>
          <p:cNvSpPr/>
          <p:nvPr/>
        </p:nvSpPr>
        <p:spPr>
          <a:xfrm>
            <a:off x="3634330" y="2251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74" name="Metin kutusu 73">
            <a:extLst>
              <a:ext uri="{FF2B5EF4-FFF2-40B4-BE49-F238E27FC236}">
                <a16:creationId xmlns:a16="http://schemas.microsoft.com/office/drawing/2014/main" id="{8396365B-E006-4F4E-B906-46CFB4222051}"/>
              </a:ext>
            </a:extLst>
          </p:cNvPr>
          <p:cNvSpPr txBox="1"/>
          <p:nvPr/>
        </p:nvSpPr>
        <p:spPr>
          <a:xfrm>
            <a:off x="-44362" y="4228074"/>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17.</a:t>
            </a:r>
          </a:p>
        </p:txBody>
      </p:sp>
      <p:sp>
        <p:nvSpPr>
          <p:cNvPr id="75" name="Akış Çizelgesi: Depolanmış Veri 74">
            <a:extLst>
              <a:ext uri="{FF2B5EF4-FFF2-40B4-BE49-F238E27FC236}">
                <a16:creationId xmlns:a16="http://schemas.microsoft.com/office/drawing/2014/main" id="{810097F7-1F8B-42CD-8213-FBE0F7C4A0E9}"/>
              </a:ext>
            </a:extLst>
          </p:cNvPr>
          <p:cNvSpPr/>
          <p:nvPr/>
        </p:nvSpPr>
        <p:spPr>
          <a:xfrm rot="10800000">
            <a:off x="3769280" y="4781662"/>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76" name="Metin kutusu 75">
            <a:extLst>
              <a:ext uri="{FF2B5EF4-FFF2-40B4-BE49-F238E27FC236}">
                <a16:creationId xmlns:a16="http://schemas.microsoft.com/office/drawing/2014/main" id="{7EF27752-B219-438B-BC95-37C742CEC59A}"/>
              </a:ext>
            </a:extLst>
          </p:cNvPr>
          <p:cNvSpPr txBox="1"/>
          <p:nvPr/>
        </p:nvSpPr>
        <p:spPr>
          <a:xfrm>
            <a:off x="3810961" y="4800213"/>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77" name="Oval 76">
            <a:extLst>
              <a:ext uri="{FF2B5EF4-FFF2-40B4-BE49-F238E27FC236}">
                <a16:creationId xmlns:a16="http://schemas.microsoft.com/office/drawing/2014/main" id="{B1E91020-F428-4803-96DA-0CBE2BCBC45D}"/>
              </a:ext>
            </a:extLst>
          </p:cNvPr>
          <p:cNvSpPr/>
          <p:nvPr/>
        </p:nvSpPr>
        <p:spPr>
          <a:xfrm>
            <a:off x="3619686" y="4781662"/>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78" name="Metin kutusu 77">
            <a:extLst>
              <a:ext uri="{FF2B5EF4-FFF2-40B4-BE49-F238E27FC236}">
                <a16:creationId xmlns:a16="http://schemas.microsoft.com/office/drawing/2014/main" id="{45B3AA87-FF51-42D5-A10B-ECA7081B4984}"/>
              </a:ext>
            </a:extLst>
          </p:cNvPr>
          <p:cNvSpPr txBox="1"/>
          <p:nvPr/>
        </p:nvSpPr>
        <p:spPr>
          <a:xfrm>
            <a:off x="3488273" y="478290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18.</a:t>
            </a:r>
          </a:p>
        </p:txBody>
      </p:sp>
      <p:sp>
        <p:nvSpPr>
          <p:cNvPr id="79" name="Metin kutusu 78">
            <a:extLst>
              <a:ext uri="{FF2B5EF4-FFF2-40B4-BE49-F238E27FC236}">
                <a16:creationId xmlns:a16="http://schemas.microsoft.com/office/drawing/2014/main" id="{26A106B7-4C1F-483B-AF9B-091722F64413}"/>
              </a:ext>
            </a:extLst>
          </p:cNvPr>
          <p:cNvSpPr txBox="1"/>
          <p:nvPr/>
        </p:nvSpPr>
        <p:spPr>
          <a:xfrm>
            <a:off x="3576962" y="5086857"/>
            <a:ext cx="3270265" cy="553998"/>
          </a:xfrm>
          <a:prstGeom prst="rect">
            <a:avLst/>
          </a:prstGeom>
          <a:noFill/>
        </p:spPr>
        <p:txBody>
          <a:bodyPr wrap="square" rtlCol="0">
            <a:spAutoFit/>
          </a:bodyPr>
          <a:lstStyle/>
          <a:p>
            <a:r>
              <a:rPr lang="tr-TR" sz="1000" noProof="1">
                <a:cs typeface="Arial" panose="020B0604020202020204" pitchFamily="34" charset="0"/>
              </a:rPr>
              <a:t>Bir babanın yaşı, dörder yıl arayla doğmuş 4 çocuğunun yaşlar toplamına eşittir. </a:t>
            </a:r>
            <a:r>
              <a:rPr lang="tr-TR" sz="1000" b="1" noProof="1">
                <a:cs typeface="Arial" panose="020B0604020202020204" pitchFamily="34" charset="0"/>
              </a:rPr>
              <a:t>Baba 44 yaşında olduğuna göre, en küçük 3.cü çocuğu doğduğunda baba kaç yaşındaydı?</a:t>
            </a:r>
          </a:p>
        </p:txBody>
      </p:sp>
      <p:sp>
        <p:nvSpPr>
          <p:cNvPr id="80" name="Metin kutusu 79">
            <a:extLst>
              <a:ext uri="{FF2B5EF4-FFF2-40B4-BE49-F238E27FC236}">
                <a16:creationId xmlns:a16="http://schemas.microsoft.com/office/drawing/2014/main" id="{FAD59833-8E47-4080-AC37-76AD462E7EF1}"/>
              </a:ext>
            </a:extLst>
          </p:cNvPr>
          <p:cNvSpPr txBox="1"/>
          <p:nvPr/>
        </p:nvSpPr>
        <p:spPr>
          <a:xfrm>
            <a:off x="3553468" y="7077527"/>
            <a:ext cx="3270265" cy="1323439"/>
          </a:xfrm>
          <a:prstGeom prst="rect">
            <a:avLst/>
          </a:prstGeom>
          <a:noFill/>
        </p:spPr>
        <p:txBody>
          <a:bodyPr wrap="square" rtlCol="0">
            <a:spAutoFit/>
          </a:bodyPr>
          <a:lstStyle/>
          <a:p>
            <a:r>
              <a:rPr lang="tr-TR" sz="1000" noProof="1">
                <a:cs typeface="Arial" panose="020B0604020202020204" pitchFamily="34" charset="0"/>
              </a:rPr>
              <a:t>Çocuklar büyükten küçüğe x, x-4 , x-8, x-12 olacaktır. Yaşları toplamı 4x – 24 olur. 4x-24 = 44 olarak verilmiştir.  4x = 68</a:t>
            </a:r>
          </a:p>
          <a:p>
            <a:r>
              <a:rPr lang="tr-TR" sz="1000" noProof="1">
                <a:cs typeface="Arial" panose="020B0604020202020204" pitchFamily="34" charset="0"/>
              </a:rPr>
              <a:t>x=17 olarak bulunur. Çocuklar 17, 13, 9, 5 yaşındadır.</a:t>
            </a:r>
          </a:p>
          <a:p>
            <a:endParaRPr lang="tr-TR" sz="1000" noProof="1">
              <a:cs typeface="Arial" panose="020B0604020202020204" pitchFamily="34" charset="0"/>
            </a:endParaRPr>
          </a:p>
          <a:p>
            <a:r>
              <a:rPr lang="tr-TR" sz="1000" noProof="1">
                <a:cs typeface="Arial" panose="020B0604020202020204" pitchFamily="34" charset="0"/>
              </a:rPr>
              <a:t>En küçük üçüncü çocuğu doğduğunda 9 yıl geriye gitmemiz gerekir. Babanın bu yıldaki yaşı soruluyor. </a:t>
            </a:r>
          </a:p>
          <a:p>
            <a:endParaRPr lang="tr-TR" sz="1000" noProof="1">
              <a:cs typeface="Arial" panose="020B0604020202020204" pitchFamily="34" charset="0"/>
            </a:endParaRPr>
          </a:p>
          <a:p>
            <a:r>
              <a:rPr lang="tr-TR" sz="1000" noProof="1">
                <a:cs typeface="Arial" panose="020B0604020202020204" pitchFamily="34" charset="0"/>
              </a:rPr>
              <a:t>44-9 = 35 Yaşında olduğu bulunur.</a:t>
            </a:r>
          </a:p>
        </p:txBody>
      </p:sp>
      <p:sp>
        <p:nvSpPr>
          <p:cNvPr id="81" name="Ok: Beşgen 80">
            <a:extLst>
              <a:ext uri="{FF2B5EF4-FFF2-40B4-BE49-F238E27FC236}">
                <a16:creationId xmlns:a16="http://schemas.microsoft.com/office/drawing/2014/main" id="{D16379B3-C32F-49BB-8FA9-DBE554E070B4}"/>
              </a:ext>
            </a:extLst>
          </p:cNvPr>
          <p:cNvSpPr/>
          <p:nvPr/>
        </p:nvSpPr>
        <p:spPr>
          <a:xfrm>
            <a:off x="3614661" y="680731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Tree>
    <p:extLst>
      <p:ext uri="{BB962C8B-B14F-4D97-AF65-F5344CB8AC3E}">
        <p14:creationId xmlns:p14="http://schemas.microsoft.com/office/powerpoint/2010/main" val="27966487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Yaş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Yaş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65963" y="390527"/>
            <a:ext cx="3181588" cy="833805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7051" y="261936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21882" y="407780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85056" y="4091215"/>
            <a:ext cx="524193"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72288" y="407780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22948" y="6906265"/>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56860" y="789537"/>
            <a:ext cx="3236486" cy="553998"/>
          </a:xfrm>
          <a:prstGeom prst="rect">
            <a:avLst/>
          </a:prstGeom>
          <a:noFill/>
        </p:spPr>
        <p:txBody>
          <a:bodyPr wrap="square" rtlCol="0">
            <a:spAutoFit/>
          </a:bodyPr>
          <a:lstStyle/>
          <a:p>
            <a:r>
              <a:rPr lang="tr-TR" sz="1000" noProof="1">
                <a:cs typeface="Arial" panose="020B0604020202020204" pitchFamily="34" charset="0"/>
              </a:rPr>
              <a:t>Baba ile en büyük çocuğu arasında en az  20 yaş fark vardır. Çocukları ise üçer yıl ara ile doğmuştur. </a:t>
            </a:r>
            <a:r>
              <a:rPr lang="tr-TR" sz="1000" b="1" noProof="1">
                <a:cs typeface="Arial" panose="020B0604020202020204" pitchFamily="34" charset="0"/>
              </a:rPr>
              <a:t>Baba bugün 38 yaşında olduğuna göre, en fazla kaç çocuğu olabilir?</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19.</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37632" y="4083057"/>
            <a:ext cx="524193"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20.</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37593" y="478846"/>
            <a:ext cx="2355752" cy="307777"/>
          </a:xfrm>
          <a:prstGeom prst="rect">
            <a:avLst/>
          </a:prstGeom>
          <a:noFill/>
        </p:spPr>
        <p:txBody>
          <a:bodyPr wrap="square">
            <a:spAutoFit/>
          </a:bodyPr>
          <a:lstStyle/>
          <a:p>
            <a:pPr algn="ctr"/>
            <a:r>
              <a:rPr lang="tr-TR" sz="700" b="1" i="0" dirty="0">
                <a:solidFill>
                  <a:schemeClr val="bg1"/>
                </a:solidFill>
                <a:effectLst/>
                <a:latin typeface="Arial Narrow" panose="020B0606020202030204" pitchFamily="34" charset="0"/>
              </a:rPr>
              <a:t>“İnsan idealleri için zevklerinden vazgeçebilmelidir.”  </a:t>
            </a:r>
            <a:br>
              <a:rPr lang="tr-TR" sz="700" b="1" i="0" dirty="0">
                <a:solidFill>
                  <a:schemeClr val="bg1"/>
                </a:solidFill>
                <a:effectLst/>
                <a:latin typeface="Arial Narrow" panose="020B0606020202030204" pitchFamily="34" charset="0"/>
              </a:rPr>
            </a:br>
            <a:r>
              <a:rPr lang="tr-TR" sz="700" b="1" i="0" dirty="0">
                <a:solidFill>
                  <a:schemeClr val="bg1"/>
                </a:solidFill>
                <a:effectLst/>
                <a:latin typeface="Arial Narrow" panose="020B0606020202030204" pitchFamily="34" charset="0"/>
              </a:rPr>
              <a:t>- Polat Alemdar (Kurtlar Vadisi Rolü)</a:t>
            </a:r>
            <a:endParaRPr lang="tr-TR" sz="700" dirty="0">
              <a:solidFill>
                <a:schemeClr val="bg1"/>
              </a:solidFill>
              <a:latin typeface="Arial Narrow" panose="020B0606020202030204" pitchFamily="34" charset="0"/>
            </a:endParaRPr>
          </a:p>
        </p:txBody>
      </p:sp>
      <p:sp>
        <p:nvSpPr>
          <p:cNvPr id="57" name="Metin kutusu 56">
            <a:extLst>
              <a:ext uri="{FF2B5EF4-FFF2-40B4-BE49-F238E27FC236}">
                <a16:creationId xmlns:a16="http://schemas.microsoft.com/office/drawing/2014/main" id="{4F13749C-BC56-4B33-B126-12C86BD3739C}"/>
              </a:ext>
            </a:extLst>
          </p:cNvPr>
          <p:cNvSpPr txBox="1"/>
          <p:nvPr/>
        </p:nvSpPr>
        <p:spPr>
          <a:xfrm>
            <a:off x="34266" y="2882139"/>
            <a:ext cx="3213285" cy="1015663"/>
          </a:xfrm>
          <a:prstGeom prst="rect">
            <a:avLst/>
          </a:prstGeom>
          <a:noFill/>
        </p:spPr>
        <p:txBody>
          <a:bodyPr wrap="square" rtlCol="0">
            <a:spAutoFit/>
          </a:bodyPr>
          <a:lstStyle/>
          <a:p>
            <a:r>
              <a:rPr lang="tr-TR" sz="1000" noProof="1">
                <a:cs typeface="Arial" panose="020B0604020202020204" pitchFamily="34" charset="0"/>
              </a:rPr>
              <a:t>Baba bugün 38 yaşında ise en büyük çocuk 20 en az yaş farkla 18 yaşındadır. Dolayısıyla en büyüğünü 18 alabiliriz. </a:t>
            </a:r>
          </a:p>
          <a:p>
            <a:endParaRPr lang="tr-TR" sz="1000" noProof="1">
              <a:cs typeface="Arial" panose="020B0604020202020204" pitchFamily="34" charset="0"/>
            </a:endParaRPr>
          </a:p>
          <a:p>
            <a:r>
              <a:rPr lang="tr-TR" sz="1000" noProof="1">
                <a:cs typeface="Arial" panose="020B0604020202020204" pitchFamily="34" charset="0"/>
              </a:rPr>
              <a:t>Diğer çocuklar ise büyükten küçüğe 15,12,9,6,3,0 olabilir. </a:t>
            </a:r>
          </a:p>
          <a:p>
            <a:endParaRPr lang="tr-TR" sz="1000" noProof="1">
              <a:cs typeface="Arial" panose="020B0604020202020204" pitchFamily="34" charset="0"/>
            </a:endParaRPr>
          </a:p>
          <a:p>
            <a:r>
              <a:rPr lang="tr-TR" sz="1000" noProof="1">
                <a:cs typeface="Arial" panose="020B0604020202020204" pitchFamily="34" charset="0"/>
              </a:rPr>
              <a:t>0 olan yeni doğmuştur. Yani en fazla 7 çocuğu olabilir. </a:t>
            </a:r>
          </a:p>
        </p:txBody>
      </p:sp>
      <p:sp>
        <p:nvSpPr>
          <p:cNvPr id="58" name="Metin kutusu 57">
            <a:extLst>
              <a:ext uri="{FF2B5EF4-FFF2-40B4-BE49-F238E27FC236}">
                <a16:creationId xmlns:a16="http://schemas.microsoft.com/office/drawing/2014/main" id="{F764F31C-7865-46A2-B99A-5AF245B957DF}"/>
              </a:ext>
            </a:extLst>
          </p:cNvPr>
          <p:cNvSpPr txBox="1"/>
          <p:nvPr/>
        </p:nvSpPr>
        <p:spPr>
          <a:xfrm>
            <a:off x="72692" y="4349409"/>
            <a:ext cx="3181588" cy="861774"/>
          </a:xfrm>
          <a:prstGeom prst="rect">
            <a:avLst/>
          </a:prstGeom>
          <a:noFill/>
        </p:spPr>
        <p:txBody>
          <a:bodyPr wrap="square" rtlCol="0">
            <a:spAutoFit/>
          </a:bodyPr>
          <a:lstStyle/>
          <a:p>
            <a:r>
              <a:rPr lang="tr-TR" sz="1000" noProof="1">
                <a:cs typeface="Arial" panose="020B0604020202020204" pitchFamily="34" charset="0"/>
              </a:rPr>
              <a:t>Dursun`un yaşı Huriye ile Nuriye`nin yaşları farkının 3 katından 6 fazladır. Melis`in yaşı Huriye ile Nuriye`nin birkaç yıl sonraki yaşları farkının 3 katından 2 eksiktir.</a:t>
            </a:r>
          </a:p>
          <a:p>
            <a:endParaRPr lang="tr-TR" sz="1000" noProof="1">
              <a:cs typeface="Arial" panose="020B0604020202020204" pitchFamily="34" charset="0"/>
            </a:endParaRPr>
          </a:p>
          <a:p>
            <a:r>
              <a:rPr lang="tr-TR" sz="1000" b="1" noProof="1">
                <a:cs typeface="Arial" panose="020B0604020202020204" pitchFamily="34" charset="0"/>
              </a:rPr>
              <a:t>Buna göre, Melis Dursun`dan kaç yaş küçüktür? </a:t>
            </a:r>
          </a:p>
        </p:txBody>
      </p:sp>
      <p:sp>
        <p:nvSpPr>
          <p:cNvPr id="60" name="Metin kutusu 59">
            <a:extLst>
              <a:ext uri="{FF2B5EF4-FFF2-40B4-BE49-F238E27FC236}">
                <a16:creationId xmlns:a16="http://schemas.microsoft.com/office/drawing/2014/main" id="{06540CD7-D620-4828-BBE7-7374F651FA98}"/>
              </a:ext>
            </a:extLst>
          </p:cNvPr>
          <p:cNvSpPr txBox="1"/>
          <p:nvPr/>
        </p:nvSpPr>
        <p:spPr>
          <a:xfrm>
            <a:off x="60518" y="7195999"/>
            <a:ext cx="3181588" cy="1477328"/>
          </a:xfrm>
          <a:prstGeom prst="rect">
            <a:avLst/>
          </a:prstGeom>
          <a:noFill/>
        </p:spPr>
        <p:txBody>
          <a:bodyPr wrap="square" rtlCol="0">
            <a:spAutoFit/>
          </a:bodyPr>
          <a:lstStyle/>
          <a:p>
            <a:r>
              <a:rPr lang="tr-TR" sz="1000" noProof="1">
                <a:cs typeface="Arial" panose="020B0604020202020204" pitchFamily="34" charset="0"/>
              </a:rPr>
              <a:t>Kimin daha büyük olduğunu bilmediğimiz için Huriye`nin yaşına x Nuriye`nin yaşına y diyelim ve x büyük olsun. </a:t>
            </a:r>
          </a:p>
          <a:p>
            <a:endParaRPr lang="tr-TR" sz="1000" b="1" noProof="1">
              <a:cs typeface="Arial" panose="020B0604020202020204" pitchFamily="34" charset="0"/>
            </a:endParaRPr>
          </a:p>
          <a:p>
            <a:r>
              <a:rPr lang="tr-TR" sz="1000" b="1" noProof="1">
                <a:cs typeface="Arial" panose="020B0604020202020204" pitchFamily="34" charset="0"/>
              </a:rPr>
              <a:t>Dursun =  3 (x-y) + 6 </a:t>
            </a:r>
          </a:p>
          <a:p>
            <a:endParaRPr lang="tr-TR" sz="1000" b="1" noProof="1">
              <a:cs typeface="Arial" panose="020B0604020202020204" pitchFamily="34" charset="0"/>
            </a:endParaRPr>
          </a:p>
          <a:p>
            <a:r>
              <a:rPr lang="tr-TR" sz="1000" b="1" noProof="1">
                <a:cs typeface="Arial" panose="020B0604020202020204" pitchFamily="34" charset="0"/>
              </a:rPr>
              <a:t>Melis = 3 (x-y) – 2</a:t>
            </a:r>
          </a:p>
          <a:p>
            <a:endParaRPr lang="tr-TR" sz="1000" noProof="1">
              <a:cs typeface="Arial" panose="020B0604020202020204" pitchFamily="34" charset="0"/>
            </a:endParaRPr>
          </a:p>
          <a:p>
            <a:r>
              <a:rPr lang="tr-TR" sz="1000" noProof="1">
                <a:cs typeface="Arial" panose="020B0604020202020204" pitchFamily="34" charset="0"/>
              </a:rPr>
              <a:t>Taraf tarafa çıkardığımızda yaş farkının 8 olduğunu görebilmekteyiz.</a:t>
            </a:r>
          </a:p>
        </p:txBody>
      </p:sp>
      <p:sp>
        <p:nvSpPr>
          <p:cNvPr id="7" name="Akış Çizelgesi: Belge 6">
            <a:extLst>
              <a:ext uri="{FF2B5EF4-FFF2-40B4-BE49-F238E27FC236}">
                <a16:creationId xmlns:a16="http://schemas.microsoft.com/office/drawing/2014/main" id="{BD7F7FF7-7DA6-4A95-B9F0-E09309F68831}"/>
              </a:ext>
            </a:extLst>
          </p:cNvPr>
          <p:cNvSpPr/>
          <p:nvPr/>
        </p:nvSpPr>
        <p:spPr>
          <a:xfrm>
            <a:off x="3664248" y="468534"/>
            <a:ext cx="3053917" cy="5183586"/>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1704"/>
              <a:gd name="connsiteX1" fmla="*/ 21600 w 21600"/>
              <a:gd name="connsiteY1" fmla="*/ 0 h 21704"/>
              <a:gd name="connsiteX2" fmla="*/ 21600 w 21600"/>
              <a:gd name="connsiteY2" fmla="*/ 19611 h 21704"/>
              <a:gd name="connsiteX3" fmla="*/ 0 w 21600"/>
              <a:gd name="connsiteY3" fmla="*/ 20172 h 21704"/>
              <a:gd name="connsiteX4" fmla="*/ 0 w 21600"/>
              <a:gd name="connsiteY4" fmla="*/ 0 h 21704"/>
              <a:gd name="connsiteX0" fmla="*/ 0 w 21600"/>
              <a:gd name="connsiteY0" fmla="*/ 0 h 21174"/>
              <a:gd name="connsiteX1" fmla="*/ 21600 w 21600"/>
              <a:gd name="connsiteY1" fmla="*/ 0 h 21174"/>
              <a:gd name="connsiteX2" fmla="*/ 21600 w 21600"/>
              <a:gd name="connsiteY2" fmla="*/ 19611 h 21174"/>
              <a:gd name="connsiteX3" fmla="*/ 0 w 21600"/>
              <a:gd name="connsiteY3" fmla="*/ 19471 h 21174"/>
              <a:gd name="connsiteX4" fmla="*/ 0 w 21600"/>
              <a:gd name="connsiteY4" fmla="*/ 0 h 21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1174">
                <a:moveTo>
                  <a:pt x="0" y="0"/>
                </a:moveTo>
                <a:lnTo>
                  <a:pt x="21600" y="0"/>
                </a:lnTo>
                <a:lnTo>
                  <a:pt x="21600" y="19611"/>
                </a:lnTo>
                <a:cubicBezTo>
                  <a:pt x="10800" y="19611"/>
                  <a:pt x="10800" y="23221"/>
                  <a:pt x="0" y="19471"/>
                </a:cubicBezTo>
                <a:lnTo>
                  <a:pt x="0" y="0"/>
                </a:lnTo>
                <a:close/>
              </a:path>
            </a:pathLst>
          </a:cu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7" name="Metin kutusu 66">
            <a:extLst>
              <a:ext uri="{FF2B5EF4-FFF2-40B4-BE49-F238E27FC236}">
                <a16:creationId xmlns:a16="http://schemas.microsoft.com/office/drawing/2014/main" id="{795D970C-C8AD-4DD1-A649-7BDE621F04FF}"/>
              </a:ext>
            </a:extLst>
          </p:cNvPr>
          <p:cNvSpPr txBox="1"/>
          <p:nvPr/>
        </p:nvSpPr>
        <p:spPr>
          <a:xfrm>
            <a:off x="3664247" y="464445"/>
            <a:ext cx="3053917"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Sınırları Zorlamaya Hazırsın!</a:t>
            </a:r>
          </a:p>
        </p:txBody>
      </p:sp>
      <p:sp>
        <p:nvSpPr>
          <p:cNvPr id="69" name="Metin kutusu 68">
            <a:extLst>
              <a:ext uri="{FF2B5EF4-FFF2-40B4-BE49-F238E27FC236}">
                <a16:creationId xmlns:a16="http://schemas.microsoft.com/office/drawing/2014/main" id="{CAEE8D26-8B9D-4F13-B1B6-2DBD67CE2676}"/>
              </a:ext>
            </a:extLst>
          </p:cNvPr>
          <p:cNvSpPr txBox="1"/>
          <p:nvPr/>
        </p:nvSpPr>
        <p:spPr>
          <a:xfrm>
            <a:off x="3664247" y="697558"/>
            <a:ext cx="3053917" cy="4555093"/>
          </a:xfrm>
          <a:prstGeom prst="rect">
            <a:avLst/>
          </a:prstGeom>
          <a:noFill/>
        </p:spPr>
        <p:txBody>
          <a:bodyPr wrap="square" rtlCol="0">
            <a:spAutoFit/>
          </a:bodyPr>
          <a:lstStyle/>
          <a:p>
            <a:r>
              <a:rPr lang="tr-TR" sz="1000" noProof="1">
                <a:cs typeface="Arial" panose="020B0604020202020204" pitchFamily="34" charset="0"/>
              </a:rPr>
              <a:t>20 adet çözümlü örneğimizi ister kitabımızdaki detaylı çözümler isterseniz aşağıda bulunan QR kodları okutarak video çözümlerini dinleyebilirsiniz. </a:t>
            </a:r>
          </a:p>
          <a:p>
            <a:endParaRPr lang="tr-TR" sz="1000" noProof="1">
              <a:cs typeface="Arial" panose="020B0604020202020204" pitchFamily="34" charset="0"/>
            </a:endParaRPr>
          </a:p>
          <a:p>
            <a:r>
              <a:rPr lang="tr-TR" sz="1000" noProof="1">
                <a:cs typeface="Arial" panose="020B0604020202020204" pitchFamily="34" charset="0"/>
              </a:rPr>
              <a:t>Her soru kalıbını sizlere bu şekilde anlatamayız soru çeşitliliği ve zorluğu açısından artık bir sonraki testlerdeki sorularla devam edeceğiz ve bu soruların tamamı sadece video çözümlü olacaktır. Soru çeşitliliği ve anlamaya dayalık ;  analitik düşünme yeteneğini sınayan, hız kazandırmayı hedeflediğimiz sorularla yaş problemlerinin üstesinden geleceğiz. Olabildiğince çok soru tarzı eklemeye çalışıyoruz. Bu kitabı bitirdiğinizde muhtemelen 2 kitap çözmüş gibi hissedeceksiniz. </a:t>
            </a:r>
          </a:p>
          <a:p>
            <a:endParaRPr lang="tr-TR" sz="1000" noProof="1">
              <a:cs typeface="Arial" panose="020B0604020202020204" pitchFamily="34" charset="0"/>
            </a:endParaRPr>
          </a:p>
          <a:p>
            <a:r>
              <a:rPr lang="tr-TR" sz="1000" noProof="1">
                <a:cs typeface="Arial" panose="020B0604020202020204" pitchFamily="34" charset="0"/>
              </a:rPr>
              <a:t>Kendiniz çözdüğünüz sorularında çözümlerini izleyebilirsiniz, daha kolay ve pratik yollar öğrenebilir, farklı bakış açıları kazanabilirsiniz veya arkadaşlarınızla yorumlarda paylaşıp saygı çerveçesinde bunları tartışabilirsiniz.</a:t>
            </a:r>
          </a:p>
          <a:p>
            <a:endParaRPr lang="tr-TR" sz="1000" noProof="1">
              <a:cs typeface="Arial" panose="020B0604020202020204" pitchFamily="34" charset="0"/>
            </a:endParaRPr>
          </a:p>
          <a:p>
            <a:r>
              <a:rPr lang="tr-TR" sz="1000" noProof="1">
                <a:cs typeface="Arial" panose="020B0604020202020204" pitchFamily="34" charset="0"/>
              </a:rPr>
              <a:t>Kitabımızın amacı sizleri geliştirmeye yönelik sorular sunmaktır. Temel seviyeden başlamadık fakat anlatımımız ve soru tarzlarımız olsun çokta yukardan uçmadık. Eğer aksini düşünüyorsanız sınav sistemine adapte olmanız biraz daha zor olabilir fakat sıkı tempo ile halledilebilir, üzülmenize gerek yok. Bu kısımdan sonra daha çok sınav odaklı, alışılmış veya özgün karışık deneme adayı sorularla sizleri sınava en uygun bir şekilde hazırlamaya çalışıyoruz.</a:t>
            </a:r>
          </a:p>
        </p:txBody>
      </p:sp>
      <p:sp>
        <p:nvSpPr>
          <p:cNvPr id="70" name="Dikdörtgen: Köşeleri Yuvarlatılmış 69">
            <a:extLst>
              <a:ext uri="{FF2B5EF4-FFF2-40B4-BE49-F238E27FC236}">
                <a16:creationId xmlns:a16="http://schemas.microsoft.com/office/drawing/2014/main" id="{F19E88D8-5938-44C0-8CDD-0C8C4024E95F}"/>
              </a:ext>
            </a:extLst>
          </p:cNvPr>
          <p:cNvSpPr/>
          <p:nvPr/>
        </p:nvSpPr>
        <p:spPr>
          <a:xfrm>
            <a:off x="3664247" y="6219712"/>
            <a:ext cx="3114353" cy="2375524"/>
          </a:xfrm>
          <a:prstGeom prst="roundRect">
            <a:avLst/>
          </a:prstGeom>
          <a:solidFill>
            <a:schemeClr val="accent4">
              <a:lumMod val="20000"/>
              <a:lumOff val="8000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1" name="Dikdörtgen 70">
            <a:extLst>
              <a:ext uri="{FF2B5EF4-FFF2-40B4-BE49-F238E27FC236}">
                <a16:creationId xmlns:a16="http://schemas.microsoft.com/office/drawing/2014/main" id="{EDD36DB5-1030-4F22-A436-611BBC05205E}"/>
              </a:ext>
            </a:extLst>
          </p:cNvPr>
          <p:cNvSpPr/>
          <p:nvPr/>
        </p:nvSpPr>
        <p:spPr>
          <a:xfrm>
            <a:off x="5753975" y="6334639"/>
            <a:ext cx="695196" cy="648072"/>
          </a:xfrm>
          <a:prstGeom prst="rect">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2" name="Dikdörtgen 71">
            <a:extLst>
              <a:ext uri="{FF2B5EF4-FFF2-40B4-BE49-F238E27FC236}">
                <a16:creationId xmlns:a16="http://schemas.microsoft.com/office/drawing/2014/main" id="{2A0E7DBC-5BC6-4D91-8880-C5B999226F7E}"/>
              </a:ext>
            </a:extLst>
          </p:cNvPr>
          <p:cNvSpPr/>
          <p:nvPr/>
        </p:nvSpPr>
        <p:spPr>
          <a:xfrm>
            <a:off x="5743160" y="7097378"/>
            <a:ext cx="720080" cy="648072"/>
          </a:xfrm>
          <a:prstGeom prst="rect">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3" name="Dikdörtgen 72">
            <a:extLst>
              <a:ext uri="{FF2B5EF4-FFF2-40B4-BE49-F238E27FC236}">
                <a16:creationId xmlns:a16="http://schemas.microsoft.com/office/drawing/2014/main" id="{A75A7942-7016-4667-9F1E-C085A7D1D23E}"/>
              </a:ext>
            </a:extLst>
          </p:cNvPr>
          <p:cNvSpPr/>
          <p:nvPr/>
        </p:nvSpPr>
        <p:spPr>
          <a:xfrm>
            <a:off x="5743160" y="7870963"/>
            <a:ext cx="720080" cy="648072"/>
          </a:xfrm>
          <a:prstGeom prst="rect">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4" name="Ok: Aşağı 73">
            <a:extLst>
              <a:ext uri="{FF2B5EF4-FFF2-40B4-BE49-F238E27FC236}">
                <a16:creationId xmlns:a16="http://schemas.microsoft.com/office/drawing/2014/main" id="{71B0E7DA-AC8D-458C-97DA-BDCA11C3C4F5}"/>
              </a:ext>
            </a:extLst>
          </p:cNvPr>
          <p:cNvSpPr/>
          <p:nvPr/>
        </p:nvSpPr>
        <p:spPr>
          <a:xfrm rot="16200000">
            <a:off x="5065253" y="6257550"/>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5" name="Ok: Aşağı 74">
            <a:extLst>
              <a:ext uri="{FF2B5EF4-FFF2-40B4-BE49-F238E27FC236}">
                <a16:creationId xmlns:a16="http://schemas.microsoft.com/office/drawing/2014/main" id="{D4161551-5A81-4959-8F79-D7F93C3718D8}"/>
              </a:ext>
            </a:extLst>
          </p:cNvPr>
          <p:cNvSpPr/>
          <p:nvPr/>
        </p:nvSpPr>
        <p:spPr>
          <a:xfrm rot="16200000">
            <a:off x="5065253" y="7020289"/>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6" name="Ok: Aşağı 75">
            <a:extLst>
              <a:ext uri="{FF2B5EF4-FFF2-40B4-BE49-F238E27FC236}">
                <a16:creationId xmlns:a16="http://schemas.microsoft.com/office/drawing/2014/main" id="{7C1FC56F-19D9-4C2C-8C20-EE80066A2778}"/>
              </a:ext>
            </a:extLst>
          </p:cNvPr>
          <p:cNvSpPr/>
          <p:nvPr/>
        </p:nvSpPr>
        <p:spPr>
          <a:xfrm rot="16200000">
            <a:off x="5062438" y="7759327"/>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7" name="Akış Çizelgesi: Depolanmış Veri 76">
            <a:extLst>
              <a:ext uri="{FF2B5EF4-FFF2-40B4-BE49-F238E27FC236}">
                <a16:creationId xmlns:a16="http://schemas.microsoft.com/office/drawing/2014/main" id="{D2B3D72B-EDD5-43C5-966C-E5BAA05ED2FB}"/>
              </a:ext>
            </a:extLst>
          </p:cNvPr>
          <p:cNvSpPr/>
          <p:nvPr/>
        </p:nvSpPr>
        <p:spPr>
          <a:xfrm rot="10800000">
            <a:off x="3784874" y="6466924"/>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78" name="Akış Çizelgesi: Depolanmış Veri 77">
            <a:extLst>
              <a:ext uri="{FF2B5EF4-FFF2-40B4-BE49-F238E27FC236}">
                <a16:creationId xmlns:a16="http://schemas.microsoft.com/office/drawing/2014/main" id="{6AA34853-AC32-42D3-95DD-EFE4506C4FCF}"/>
              </a:ext>
            </a:extLst>
          </p:cNvPr>
          <p:cNvSpPr/>
          <p:nvPr/>
        </p:nvSpPr>
        <p:spPr>
          <a:xfrm rot="10800000">
            <a:off x="3781514" y="7190874"/>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79" name="Akış Çizelgesi: Depolanmış Veri 78">
            <a:extLst>
              <a:ext uri="{FF2B5EF4-FFF2-40B4-BE49-F238E27FC236}">
                <a16:creationId xmlns:a16="http://schemas.microsoft.com/office/drawing/2014/main" id="{BB70FB53-05CE-4F51-9221-60FB1A984E52}"/>
              </a:ext>
            </a:extLst>
          </p:cNvPr>
          <p:cNvSpPr/>
          <p:nvPr/>
        </p:nvSpPr>
        <p:spPr>
          <a:xfrm rot="10800000">
            <a:off x="3779548" y="7908666"/>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80" name="Metin kutusu 79">
            <a:extLst>
              <a:ext uri="{FF2B5EF4-FFF2-40B4-BE49-F238E27FC236}">
                <a16:creationId xmlns:a16="http://schemas.microsoft.com/office/drawing/2014/main" id="{DF1DFAC4-7E5B-4722-A8B2-3835FB676941}"/>
              </a:ext>
            </a:extLst>
          </p:cNvPr>
          <p:cNvSpPr txBox="1"/>
          <p:nvPr/>
        </p:nvSpPr>
        <p:spPr>
          <a:xfrm>
            <a:off x="3844505" y="6464024"/>
            <a:ext cx="929948" cy="400110"/>
          </a:xfrm>
          <a:prstGeom prst="rect">
            <a:avLst/>
          </a:prstGeom>
          <a:noFill/>
        </p:spPr>
        <p:txBody>
          <a:bodyPr wrap="square" rtlCol="0">
            <a:spAutoFit/>
          </a:bodyPr>
          <a:lstStyle/>
          <a:p>
            <a:pPr algn="ctr"/>
            <a:r>
              <a:rPr lang="tr-TR" sz="1000" b="1" noProof="1">
                <a:cs typeface="Arial" panose="020B0604020202020204" pitchFamily="34" charset="0"/>
              </a:rPr>
              <a:t>Konu</a:t>
            </a:r>
          </a:p>
          <a:p>
            <a:pPr algn="ctr"/>
            <a:r>
              <a:rPr lang="tr-TR" sz="1000" b="1" noProof="1">
                <a:cs typeface="Arial" panose="020B0604020202020204" pitchFamily="34" charset="0"/>
              </a:rPr>
              <a:t> Anlatım</a:t>
            </a:r>
            <a:endParaRPr lang="tr-TR" sz="900" b="1" noProof="1">
              <a:cs typeface="Arial" panose="020B0604020202020204" pitchFamily="34" charset="0"/>
            </a:endParaRPr>
          </a:p>
        </p:txBody>
      </p:sp>
      <p:sp>
        <p:nvSpPr>
          <p:cNvPr id="81" name="Metin kutusu 80">
            <a:extLst>
              <a:ext uri="{FF2B5EF4-FFF2-40B4-BE49-F238E27FC236}">
                <a16:creationId xmlns:a16="http://schemas.microsoft.com/office/drawing/2014/main" id="{C6DDE6F5-2A7D-4437-A0D9-BF55DA860DCB}"/>
              </a:ext>
            </a:extLst>
          </p:cNvPr>
          <p:cNvSpPr txBox="1"/>
          <p:nvPr/>
        </p:nvSpPr>
        <p:spPr>
          <a:xfrm>
            <a:off x="3844505" y="7184716"/>
            <a:ext cx="929948" cy="400110"/>
          </a:xfrm>
          <a:prstGeom prst="rect">
            <a:avLst/>
          </a:prstGeom>
          <a:noFill/>
        </p:spPr>
        <p:txBody>
          <a:bodyPr wrap="square" rtlCol="0">
            <a:spAutoFit/>
          </a:bodyPr>
          <a:lstStyle/>
          <a:p>
            <a:pPr algn="ctr"/>
            <a:r>
              <a:rPr lang="tr-TR" sz="1000" b="1" noProof="1">
                <a:cs typeface="Arial" panose="020B0604020202020204" pitchFamily="34" charset="0"/>
              </a:rPr>
              <a:t>1-10.Sorular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82" name="Metin kutusu 81">
            <a:extLst>
              <a:ext uri="{FF2B5EF4-FFF2-40B4-BE49-F238E27FC236}">
                <a16:creationId xmlns:a16="http://schemas.microsoft.com/office/drawing/2014/main" id="{BE425761-A0D3-4E07-B94B-151468000BFA}"/>
              </a:ext>
            </a:extLst>
          </p:cNvPr>
          <p:cNvSpPr txBox="1"/>
          <p:nvPr/>
        </p:nvSpPr>
        <p:spPr>
          <a:xfrm>
            <a:off x="3870488" y="7896006"/>
            <a:ext cx="929948" cy="400110"/>
          </a:xfrm>
          <a:prstGeom prst="rect">
            <a:avLst/>
          </a:prstGeom>
          <a:noFill/>
        </p:spPr>
        <p:txBody>
          <a:bodyPr wrap="square" rtlCol="0">
            <a:spAutoFit/>
          </a:bodyPr>
          <a:lstStyle/>
          <a:p>
            <a:pPr algn="ctr"/>
            <a:r>
              <a:rPr lang="tr-TR" sz="1000" b="1" noProof="1">
                <a:cs typeface="Arial" panose="020B0604020202020204" pitchFamily="34" charset="0"/>
              </a:rPr>
              <a:t>11-20.Sorular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pic>
        <p:nvPicPr>
          <p:cNvPr id="84" name="Resim 83">
            <a:extLst>
              <a:ext uri="{FF2B5EF4-FFF2-40B4-BE49-F238E27FC236}">
                <a16:creationId xmlns:a16="http://schemas.microsoft.com/office/drawing/2014/main" id="{9D032D8D-A4BB-43EE-AEF8-6374DCE63F14}"/>
              </a:ext>
            </a:extLst>
          </p:cNvPr>
          <p:cNvPicPr>
            <a:picLocks noChangeAspect="1"/>
          </p:cNvPicPr>
          <p:nvPr/>
        </p:nvPicPr>
        <p:blipFill>
          <a:blip r:embed="rId6"/>
          <a:stretch>
            <a:fillRect/>
          </a:stretch>
        </p:blipFill>
        <p:spPr>
          <a:xfrm>
            <a:off x="5756789" y="7128733"/>
            <a:ext cx="701006" cy="602412"/>
          </a:xfrm>
          <a:prstGeom prst="rect">
            <a:avLst/>
          </a:prstGeom>
        </p:spPr>
      </p:pic>
      <p:pic>
        <p:nvPicPr>
          <p:cNvPr id="85" name="Resim 84">
            <a:extLst>
              <a:ext uri="{FF2B5EF4-FFF2-40B4-BE49-F238E27FC236}">
                <a16:creationId xmlns:a16="http://schemas.microsoft.com/office/drawing/2014/main" id="{48276005-19D4-44C4-8027-C62583DFC8C5}"/>
              </a:ext>
            </a:extLst>
          </p:cNvPr>
          <p:cNvPicPr>
            <a:picLocks noChangeAspect="1"/>
          </p:cNvPicPr>
          <p:nvPr/>
        </p:nvPicPr>
        <p:blipFill>
          <a:blip r:embed="rId6"/>
          <a:stretch>
            <a:fillRect/>
          </a:stretch>
        </p:blipFill>
        <p:spPr>
          <a:xfrm>
            <a:off x="5756789" y="7896006"/>
            <a:ext cx="701006" cy="602412"/>
          </a:xfrm>
          <a:prstGeom prst="rect">
            <a:avLst/>
          </a:prstGeom>
        </p:spPr>
      </p:pic>
      <p:sp>
        <p:nvSpPr>
          <p:cNvPr id="86" name="Ok: Beşgen 85">
            <a:extLst>
              <a:ext uri="{FF2B5EF4-FFF2-40B4-BE49-F238E27FC236}">
                <a16:creationId xmlns:a16="http://schemas.microsoft.com/office/drawing/2014/main" id="{9AE7D3FF-F924-428A-AA83-B28149104585}"/>
              </a:ext>
            </a:extLst>
          </p:cNvPr>
          <p:cNvSpPr/>
          <p:nvPr/>
        </p:nvSpPr>
        <p:spPr>
          <a:xfrm>
            <a:off x="3620943" y="5731870"/>
            <a:ext cx="3157657" cy="281148"/>
          </a:xfrm>
          <a:prstGeom prst="homePlate">
            <a:avLst/>
          </a:prstGeom>
          <a:solidFill>
            <a:srgbClr val="99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Konu Anlatımlar ve Video Çözümler</a:t>
            </a:r>
          </a:p>
        </p:txBody>
      </p:sp>
      <p:sp>
        <p:nvSpPr>
          <p:cNvPr id="87" name="Metin kutusu 86">
            <a:extLst>
              <a:ext uri="{FF2B5EF4-FFF2-40B4-BE49-F238E27FC236}">
                <a16:creationId xmlns:a16="http://schemas.microsoft.com/office/drawing/2014/main" id="{659993B2-A34E-44BC-A1E6-2CCC94577178}"/>
              </a:ext>
            </a:extLst>
          </p:cNvPr>
          <p:cNvSpPr txBox="1"/>
          <p:nvPr/>
        </p:nvSpPr>
        <p:spPr>
          <a:xfrm>
            <a:off x="4840992" y="6552917"/>
            <a:ext cx="773391" cy="169277"/>
          </a:xfrm>
          <a:prstGeom prst="rect">
            <a:avLst/>
          </a:prstGeom>
          <a:noFill/>
        </p:spPr>
        <p:txBody>
          <a:bodyPr wrap="square" rtlCol="0">
            <a:spAutoFit/>
          </a:bodyPr>
          <a:lstStyle/>
          <a:p>
            <a:r>
              <a:rPr lang="tr-TR" sz="500" dirty="0">
                <a:latin typeface="Arial Narrow" panose="020B0606020202030204" pitchFamily="34" charset="0"/>
              </a:rPr>
              <a:t>www.ahmetcelen.com.tr</a:t>
            </a:r>
          </a:p>
        </p:txBody>
      </p:sp>
      <p:sp>
        <p:nvSpPr>
          <p:cNvPr id="88" name="Metin kutusu 87">
            <a:extLst>
              <a:ext uri="{FF2B5EF4-FFF2-40B4-BE49-F238E27FC236}">
                <a16:creationId xmlns:a16="http://schemas.microsoft.com/office/drawing/2014/main" id="{824914D9-989B-4958-93C4-58B3B5F0291B}"/>
              </a:ext>
            </a:extLst>
          </p:cNvPr>
          <p:cNvSpPr txBox="1"/>
          <p:nvPr/>
        </p:nvSpPr>
        <p:spPr>
          <a:xfrm>
            <a:off x="4840992" y="7310343"/>
            <a:ext cx="773391" cy="169277"/>
          </a:xfrm>
          <a:prstGeom prst="rect">
            <a:avLst/>
          </a:prstGeom>
          <a:noFill/>
        </p:spPr>
        <p:txBody>
          <a:bodyPr wrap="square" rtlCol="0">
            <a:spAutoFit/>
          </a:bodyPr>
          <a:lstStyle/>
          <a:p>
            <a:r>
              <a:rPr lang="tr-TR" sz="500" dirty="0">
                <a:latin typeface="Arial Narrow" panose="020B0606020202030204" pitchFamily="34" charset="0"/>
              </a:rPr>
              <a:t>www.ahmetcelen.com.tr</a:t>
            </a:r>
          </a:p>
        </p:txBody>
      </p:sp>
      <p:sp>
        <p:nvSpPr>
          <p:cNvPr id="89" name="Metin kutusu 88">
            <a:extLst>
              <a:ext uri="{FF2B5EF4-FFF2-40B4-BE49-F238E27FC236}">
                <a16:creationId xmlns:a16="http://schemas.microsoft.com/office/drawing/2014/main" id="{C0D5C880-86AF-47B7-96D7-939D6CC65689}"/>
              </a:ext>
            </a:extLst>
          </p:cNvPr>
          <p:cNvSpPr txBox="1"/>
          <p:nvPr/>
        </p:nvSpPr>
        <p:spPr>
          <a:xfrm>
            <a:off x="4840992" y="8045402"/>
            <a:ext cx="773391" cy="169277"/>
          </a:xfrm>
          <a:prstGeom prst="rect">
            <a:avLst/>
          </a:prstGeom>
          <a:noFill/>
        </p:spPr>
        <p:txBody>
          <a:bodyPr wrap="square" rtlCol="0">
            <a:spAutoFit/>
          </a:bodyPr>
          <a:lstStyle/>
          <a:p>
            <a:r>
              <a:rPr lang="tr-TR" sz="500" dirty="0">
                <a:latin typeface="Arial Narrow" panose="020B0606020202030204" pitchFamily="34" charset="0"/>
              </a:rPr>
              <a:t>www.ahmetcelen.com.tr</a:t>
            </a:r>
          </a:p>
        </p:txBody>
      </p:sp>
      <p:pic>
        <p:nvPicPr>
          <p:cNvPr id="15" name="Grafik 14">
            <a:extLst>
              <a:ext uri="{FF2B5EF4-FFF2-40B4-BE49-F238E27FC236}">
                <a16:creationId xmlns:a16="http://schemas.microsoft.com/office/drawing/2014/main" id="{49856329-B13C-4497-9830-6B6797D6F06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89523" y="6353163"/>
            <a:ext cx="627353" cy="610764"/>
          </a:xfrm>
          <a:prstGeom prst="rect">
            <a:avLst/>
          </a:prstGeom>
        </p:spPr>
      </p:pic>
    </p:spTree>
    <p:extLst>
      <p:ext uri="{BB962C8B-B14F-4D97-AF65-F5344CB8AC3E}">
        <p14:creationId xmlns:p14="http://schemas.microsoft.com/office/powerpoint/2010/main" val="1290028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Tanışma Faslı Test </a:t>
            </a:r>
            <a:r>
              <a:rPr lang="tr-TR" sz="1000" dirty="0">
                <a:solidFill>
                  <a:schemeClr val="tx1"/>
                </a:solidFill>
                <a:latin typeface="Montserrat SemiBold" panose="00000700000000000000" pitchFamily="2" charset="-94"/>
              </a:rPr>
              <a:t>1</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49236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9476"/>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400315" y="530121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85085" y="474844"/>
            <a:ext cx="3242609" cy="1015663"/>
          </a:xfrm>
          <a:prstGeom prst="rect">
            <a:avLst/>
          </a:prstGeom>
          <a:noFill/>
        </p:spPr>
        <p:txBody>
          <a:bodyPr wrap="square" rtlCol="0">
            <a:spAutoFit/>
          </a:bodyPr>
          <a:lstStyle/>
          <a:p>
            <a:r>
              <a:rPr lang="tr-TR" sz="1000" noProof="1">
                <a:cs typeface="Arial" panose="020B0604020202020204" pitchFamily="34" charset="0"/>
              </a:rPr>
              <a:t>Bir firmada toplam 60 adet mühendis ve teknisyen çalışan bulunmaktadır. Mühendisler mavi üniforma, teknisyenler turuncu üniforma giymektedir. Teknisyen sayısı mühendis sayısından 18 fazladır. </a:t>
            </a:r>
          </a:p>
          <a:p>
            <a:endParaRPr lang="tr-TR" sz="1000" noProof="1">
              <a:cs typeface="Arial" panose="020B0604020202020204" pitchFamily="34" charset="0"/>
            </a:endParaRPr>
          </a:p>
          <a:p>
            <a:r>
              <a:rPr lang="tr-TR" sz="1000" b="1" noProof="1">
                <a:cs typeface="Arial" panose="020B0604020202020204" pitchFamily="34" charset="0"/>
              </a:rPr>
              <a:t>Buna göre, mavi üniformalı çalışan sayısı kaçtır?</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85084" y="1436297"/>
            <a:ext cx="3322368" cy="553998"/>
          </a:xfrm>
          <a:prstGeom prst="rect">
            <a:avLst/>
          </a:prstGeom>
          <a:noFill/>
        </p:spPr>
        <p:txBody>
          <a:bodyPr wrap="square" rtlCol="0">
            <a:spAutoFit/>
          </a:bodyPr>
          <a:lstStyle/>
          <a:p>
            <a:r>
              <a:rPr lang="tr-TR" sz="1000" dirty="0"/>
              <a:t>A) 19                                          B) 21                                      C) 37</a:t>
            </a:r>
          </a:p>
          <a:p>
            <a:pPr marL="228600" indent="-228600">
              <a:buAutoNum type="alphaUcParenR"/>
            </a:pPr>
            <a:endParaRPr lang="tr-TR" sz="1000" dirty="0"/>
          </a:p>
          <a:p>
            <a:r>
              <a:rPr lang="tr-TR" sz="1000" dirty="0"/>
              <a:t>                      D) 38                                       E) 41</a:t>
            </a:r>
          </a:p>
        </p:txBody>
      </p:sp>
      <p:sp>
        <p:nvSpPr>
          <p:cNvPr id="58" name="Metin kutusu 57">
            <a:extLst>
              <a:ext uri="{FF2B5EF4-FFF2-40B4-BE49-F238E27FC236}">
                <a16:creationId xmlns:a16="http://schemas.microsoft.com/office/drawing/2014/main" id="{46E0D5C7-D2D0-4E7E-8674-66466154E98B}"/>
              </a:ext>
            </a:extLst>
          </p:cNvPr>
          <p:cNvSpPr txBox="1"/>
          <p:nvPr/>
        </p:nvSpPr>
        <p:spPr>
          <a:xfrm>
            <a:off x="3502526" y="462949"/>
            <a:ext cx="3454866" cy="1015663"/>
          </a:xfrm>
          <a:prstGeom prst="rect">
            <a:avLst/>
          </a:prstGeom>
          <a:noFill/>
        </p:spPr>
        <p:txBody>
          <a:bodyPr wrap="square" rtlCol="0">
            <a:spAutoFit/>
          </a:bodyPr>
          <a:lstStyle/>
          <a:p>
            <a:r>
              <a:rPr lang="tr-TR" sz="1000" noProof="1">
                <a:cs typeface="Arial" panose="020B0604020202020204" pitchFamily="34" charset="0"/>
              </a:rPr>
              <a:t>Bir kalemliğe; 16 adet kurşun kalem, 8 tane keçeli kalem sığmaktadır. Aynı kalemliğe; 32 tane keçeli kalem, 8 tane kurşun kalem sığabilmektedir. </a:t>
            </a:r>
          </a:p>
          <a:p>
            <a:endParaRPr lang="tr-TR" sz="1000" noProof="1">
              <a:cs typeface="Arial" panose="020B0604020202020204" pitchFamily="34" charset="0"/>
            </a:endParaRPr>
          </a:p>
          <a:p>
            <a:r>
              <a:rPr lang="tr-TR" sz="1000" b="1" noProof="1">
                <a:cs typeface="Arial" panose="020B0604020202020204" pitchFamily="34" charset="0"/>
              </a:rPr>
              <a:t>Yasemin`in yeterince kalemi bulunduğuna göre, bu kalemliğe en fazla kaç kalem sığdırabilir?</a:t>
            </a:r>
          </a:p>
        </p:txBody>
      </p:sp>
      <p:sp>
        <p:nvSpPr>
          <p:cNvPr id="60" name="Metin kutusu 59">
            <a:extLst>
              <a:ext uri="{FF2B5EF4-FFF2-40B4-BE49-F238E27FC236}">
                <a16:creationId xmlns:a16="http://schemas.microsoft.com/office/drawing/2014/main" id="{380CFD8B-A448-4F49-ACCE-E2A9557B7206}"/>
              </a:ext>
            </a:extLst>
          </p:cNvPr>
          <p:cNvSpPr txBox="1"/>
          <p:nvPr/>
        </p:nvSpPr>
        <p:spPr>
          <a:xfrm>
            <a:off x="3497113" y="1412313"/>
            <a:ext cx="3284216" cy="553998"/>
          </a:xfrm>
          <a:prstGeom prst="rect">
            <a:avLst/>
          </a:prstGeom>
          <a:noFill/>
        </p:spPr>
        <p:txBody>
          <a:bodyPr wrap="square" rtlCol="0">
            <a:spAutoFit/>
          </a:bodyPr>
          <a:lstStyle/>
          <a:p>
            <a:r>
              <a:rPr lang="tr-TR" sz="1000" dirty="0"/>
              <a:t>A) 17                                       B) 18                                        C) 24</a:t>
            </a:r>
          </a:p>
          <a:p>
            <a:pPr marL="228600" indent="-228600">
              <a:buAutoNum type="alphaUcParenR"/>
            </a:pPr>
            <a:endParaRPr lang="tr-TR" sz="1000" dirty="0"/>
          </a:p>
          <a:p>
            <a:r>
              <a:rPr lang="tr-TR" sz="1000" dirty="0"/>
              <a:t>                           D) 40                                      E) 56</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1" name="Metin kutusu 40">
            <a:extLst>
              <a:ext uri="{FF2B5EF4-FFF2-40B4-BE49-F238E27FC236}">
                <a16:creationId xmlns:a16="http://schemas.microsoft.com/office/drawing/2014/main" id="{0AF28DDE-5B06-4631-A216-BC27D44A6CAA}"/>
              </a:ext>
            </a:extLst>
          </p:cNvPr>
          <p:cNvSpPr txBox="1"/>
          <p:nvPr/>
        </p:nvSpPr>
        <p:spPr>
          <a:xfrm>
            <a:off x="85084" y="5361333"/>
            <a:ext cx="3322369" cy="861774"/>
          </a:xfrm>
          <a:prstGeom prst="rect">
            <a:avLst/>
          </a:prstGeom>
          <a:noFill/>
        </p:spPr>
        <p:txBody>
          <a:bodyPr wrap="square" rtlCol="0">
            <a:spAutoFit/>
          </a:bodyPr>
          <a:lstStyle/>
          <a:p>
            <a:r>
              <a:rPr lang="tr-TR" sz="1000" noProof="1">
                <a:cs typeface="Arial" panose="020B0604020202020204" pitchFamily="34" charset="0"/>
              </a:rPr>
              <a:t>Yunus, yukardaki kampanyayı görmeden 42 tane gazoz almıştır. Aldıktan sonra kampanyayı görmüş ve hediye gazozlarını almak istemektedir. </a:t>
            </a:r>
          </a:p>
          <a:p>
            <a:endParaRPr lang="tr-TR" sz="1000" b="1" noProof="1">
              <a:cs typeface="Arial" panose="020B0604020202020204" pitchFamily="34" charset="0"/>
            </a:endParaRPr>
          </a:p>
          <a:p>
            <a:r>
              <a:rPr lang="tr-TR" sz="1000" b="1" noProof="1">
                <a:cs typeface="Arial" panose="020B0604020202020204" pitchFamily="34" charset="0"/>
              </a:rPr>
              <a:t>Buna göre, Yunus en fazla kaç gazoz hediye alabilir?</a:t>
            </a:r>
            <a:endParaRPr lang="tr-TR" sz="1000" noProof="1">
              <a:cs typeface="Arial" panose="020B0604020202020204" pitchFamily="34" charset="0"/>
            </a:endParaRPr>
          </a:p>
        </p:txBody>
      </p:sp>
      <p:sp>
        <p:nvSpPr>
          <p:cNvPr id="2" name="Akış Çizelgesi: Önceden Tanımlı İşlem 1">
            <a:extLst>
              <a:ext uri="{FF2B5EF4-FFF2-40B4-BE49-F238E27FC236}">
                <a16:creationId xmlns:a16="http://schemas.microsoft.com/office/drawing/2014/main" id="{A020CEB0-6432-4797-89D9-56B91C4E616D}"/>
              </a:ext>
            </a:extLst>
          </p:cNvPr>
          <p:cNvSpPr/>
          <p:nvPr/>
        </p:nvSpPr>
        <p:spPr>
          <a:xfrm>
            <a:off x="185400" y="4778518"/>
            <a:ext cx="2948594" cy="585569"/>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50 w 10000"/>
              <a:gd name="connsiteY0" fmla="*/ 0 h 10000"/>
              <a:gd name="connsiteX1" fmla="*/ 1250 w 10000"/>
              <a:gd name="connsiteY1" fmla="*/ 10000 h 10000"/>
              <a:gd name="connsiteX2" fmla="*/ 8750 w 10000"/>
              <a:gd name="connsiteY2" fmla="*/ 0 h 10000"/>
              <a:gd name="connsiteX3" fmla="*/ 8750 w 10000"/>
              <a:gd name="connsiteY3" fmla="*/ 10000 h 10000"/>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1 w 10011"/>
              <a:gd name="connsiteY0" fmla="*/ 0 h 10000"/>
              <a:gd name="connsiteX1" fmla="*/ 10011 w 10011"/>
              <a:gd name="connsiteY1" fmla="*/ 0 h 10000"/>
              <a:gd name="connsiteX2" fmla="*/ 10011 w 10011"/>
              <a:gd name="connsiteY2" fmla="*/ 10000 h 10000"/>
              <a:gd name="connsiteX3" fmla="*/ 11 w 10011"/>
              <a:gd name="connsiteY3" fmla="*/ 10000 h 10000"/>
              <a:gd name="connsiteX4" fmla="*/ 11 w 10011"/>
              <a:gd name="connsiteY4" fmla="*/ 0 h 10000"/>
              <a:gd name="connsiteX0" fmla="*/ 0 w 10011"/>
              <a:gd name="connsiteY0" fmla="*/ 165 h 10000"/>
              <a:gd name="connsiteX1" fmla="*/ 1261 w 10011"/>
              <a:gd name="connsiteY1" fmla="*/ 10000 h 10000"/>
              <a:gd name="connsiteX2" fmla="*/ 8761 w 10011"/>
              <a:gd name="connsiteY2" fmla="*/ 0 h 10000"/>
              <a:gd name="connsiteX3" fmla="*/ 8761 w 10011"/>
              <a:gd name="connsiteY3" fmla="*/ 10000 h 10000"/>
              <a:gd name="connsiteX0" fmla="*/ 11 w 10011"/>
              <a:gd name="connsiteY0" fmla="*/ 0 h 10000"/>
              <a:gd name="connsiteX1" fmla="*/ 10011 w 10011"/>
              <a:gd name="connsiteY1" fmla="*/ 0 h 10000"/>
              <a:gd name="connsiteX2" fmla="*/ 10011 w 10011"/>
              <a:gd name="connsiteY2" fmla="*/ 10000 h 10000"/>
              <a:gd name="connsiteX3" fmla="*/ 11 w 10011"/>
              <a:gd name="connsiteY3" fmla="*/ 10000 h 10000"/>
              <a:gd name="connsiteX4" fmla="*/ 11 w 10011"/>
              <a:gd name="connsiteY4" fmla="*/ 0 h 10000"/>
              <a:gd name="connsiteX0" fmla="*/ 11 w 10011"/>
              <a:gd name="connsiteY0" fmla="*/ 0 h 10000"/>
              <a:gd name="connsiteX1" fmla="*/ 10011 w 10011"/>
              <a:gd name="connsiteY1" fmla="*/ 0 h 10000"/>
              <a:gd name="connsiteX2" fmla="*/ 10011 w 10011"/>
              <a:gd name="connsiteY2" fmla="*/ 10000 h 10000"/>
              <a:gd name="connsiteX3" fmla="*/ 11 w 10011"/>
              <a:gd name="connsiteY3" fmla="*/ 10000 h 10000"/>
              <a:gd name="connsiteX4" fmla="*/ 11 w 10011"/>
              <a:gd name="connsiteY4" fmla="*/ 0 h 10000"/>
              <a:gd name="connsiteX0" fmla="*/ 0 w 10011"/>
              <a:gd name="connsiteY0" fmla="*/ 165 h 10000"/>
              <a:gd name="connsiteX1" fmla="*/ 1261 w 10011"/>
              <a:gd name="connsiteY1" fmla="*/ 10000 h 10000"/>
              <a:gd name="connsiteX2" fmla="*/ 8761 w 10011"/>
              <a:gd name="connsiteY2" fmla="*/ 0 h 10000"/>
              <a:gd name="connsiteX3" fmla="*/ 8761 w 10011"/>
              <a:gd name="connsiteY3" fmla="*/ 10000 h 10000"/>
              <a:gd name="connsiteX0" fmla="*/ 11 w 10011"/>
              <a:gd name="connsiteY0" fmla="*/ 0 h 10000"/>
              <a:gd name="connsiteX1" fmla="*/ 10011 w 10011"/>
              <a:gd name="connsiteY1" fmla="*/ 0 h 10000"/>
              <a:gd name="connsiteX2" fmla="*/ 10011 w 10011"/>
              <a:gd name="connsiteY2" fmla="*/ 10000 h 10000"/>
              <a:gd name="connsiteX3" fmla="*/ 11 w 10011"/>
              <a:gd name="connsiteY3" fmla="*/ 10000 h 10000"/>
              <a:gd name="connsiteX4" fmla="*/ 11 w 10011"/>
              <a:gd name="connsiteY4" fmla="*/ 0 h 10000"/>
              <a:gd name="connsiteX0" fmla="*/ 11 w 10011"/>
              <a:gd name="connsiteY0" fmla="*/ 165 h 10165"/>
              <a:gd name="connsiteX1" fmla="*/ 10011 w 10011"/>
              <a:gd name="connsiteY1" fmla="*/ 165 h 10165"/>
              <a:gd name="connsiteX2" fmla="*/ 10011 w 10011"/>
              <a:gd name="connsiteY2" fmla="*/ 10165 h 10165"/>
              <a:gd name="connsiteX3" fmla="*/ 11 w 10011"/>
              <a:gd name="connsiteY3" fmla="*/ 10165 h 10165"/>
              <a:gd name="connsiteX4" fmla="*/ 11 w 10011"/>
              <a:gd name="connsiteY4" fmla="*/ 165 h 10165"/>
              <a:gd name="connsiteX0" fmla="*/ 0 w 10011"/>
              <a:gd name="connsiteY0" fmla="*/ 330 h 10165"/>
              <a:gd name="connsiteX1" fmla="*/ 1261 w 10011"/>
              <a:gd name="connsiteY1" fmla="*/ 10165 h 10165"/>
              <a:gd name="connsiteX2" fmla="*/ 10001 w 10011"/>
              <a:gd name="connsiteY2" fmla="*/ 0 h 10165"/>
              <a:gd name="connsiteX3" fmla="*/ 8761 w 10011"/>
              <a:gd name="connsiteY3" fmla="*/ 10165 h 10165"/>
              <a:gd name="connsiteX0" fmla="*/ 11 w 10011"/>
              <a:gd name="connsiteY0" fmla="*/ 165 h 10165"/>
              <a:gd name="connsiteX1" fmla="*/ 10011 w 10011"/>
              <a:gd name="connsiteY1" fmla="*/ 165 h 10165"/>
              <a:gd name="connsiteX2" fmla="*/ 10011 w 10011"/>
              <a:gd name="connsiteY2" fmla="*/ 10165 h 10165"/>
              <a:gd name="connsiteX3" fmla="*/ 11 w 10011"/>
              <a:gd name="connsiteY3" fmla="*/ 10165 h 10165"/>
              <a:gd name="connsiteX4" fmla="*/ 11 w 10011"/>
              <a:gd name="connsiteY4" fmla="*/ 165 h 10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1" h="10165" stroke="0" extrusionOk="0">
                <a:moveTo>
                  <a:pt x="11" y="165"/>
                </a:moveTo>
                <a:lnTo>
                  <a:pt x="10011" y="165"/>
                </a:lnTo>
                <a:lnTo>
                  <a:pt x="10011" y="10165"/>
                </a:lnTo>
                <a:lnTo>
                  <a:pt x="11" y="10165"/>
                </a:lnTo>
                <a:lnTo>
                  <a:pt x="11" y="165"/>
                </a:lnTo>
                <a:close/>
              </a:path>
              <a:path w="10011" h="10165" fill="none" extrusionOk="0">
                <a:moveTo>
                  <a:pt x="0" y="330"/>
                </a:moveTo>
                <a:cubicBezTo>
                  <a:pt x="0" y="3663"/>
                  <a:pt x="1261" y="6832"/>
                  <a:pt x="1261" y="10165"/>
                </a:cubicBezTo>
                <a:moveTo>
                  <a:pt x="10001" y="0"/>
                </a:moveTo>
                <a:cubicBezTo>
                  <a:pt x="10033" y="191"/>
                  <a:pt x="8761" y="6832"/>
                  <a:pt x="8761" y="10165"/>
                </a:cubicBezTo>
              </a:path>
              <a:path w="10011" h="10165" fill="none">
                <a:moveTo>
                  <a:pt x="11" y="165"/>
                </a:moveTo>
                <a:lnTo>
                  <a:pt x="10011" y="165"/>
                </a:lnTo>
                <a:lnTo>
                  <a:pt x="10011" y="10165"/>
                </a:lnTo>
                <a:lnTo>
                  <a:pt x="11" y="10165"/>
                </a:lnTo>
                <a:lnTo>
                  <a:pt x="11" y="165"/>
                </a:lnTo>
                <a:close/>
              </a:path>
            </a:pathLst>
          </a:custGeom>
          <a:solidFill>
            <a:srgbClr val="CDFFFF"/>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48" name="Resim 47">
            <a:extLst>
              <a:ext uri="{FF2B5EF4-FFF2-40B4-BE49-F238E27FC236}">
                <a16:creationId xmlns:a16="http://schemas.microsoft.com/office/drawing/2014/main" id="{872BF71D-9968-4431-B76B-9236DDD37C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875" y="5181661"/>
            <a:ext cx="94607" cy="94607"/>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pic>
        <p:nvPicPr>
          <p:cNvPr id="61" name="Resim 60">
            <a:extLst>
              <a:ext uri="{FF2B5EF4-FFF2-40B4-BE49-F238E27FC236}">
                <a16:creationId xmlns:a16="http://schemas.microsoft.com/office/drawing/2014/main" id="{BABB7528-48E9-447C-8971-2836F74375C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24944" y="5181661"/>
            <a:ext cx="94607" cy="94607"/>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7" name="Metin kutusu 6">
            <a:extLst>
              <a:ext uri="{FF2B5EF4-FFF2-40B4-BE49-F238E27FC236}">
                <a16:creationId xmlns:a16="http://schemas.microsoft.com/office/drawing/2014/main" id="{5A57B09C-7D05-4BEE-A190-036B09D7266A}"/>
              </a:ext>
            </a:extLst>
          </p:cNvPr>
          <p:cNvSpPr txBox="1"/>
          <p:nvPr/>
        </p:nvSpPr>
        <p:spPr>
          <a:xfrm>
            <a:off x="203219" y="4773051"/>
            <a:ext cx="2930775" cy="615553"/>
          </a:xfrm>
          <a:prstGeom prst="rect">
            <a:avLst/>
          </a:prstGeom>
          <a:noFill/>
        </p:spPr>
        <p:txBody>
          <a:bodyPr wrap="square" rtlCol="0">
            <a:spAutoFit/>
          </a:bodyPr>
          <a:lstStyle/>
          <a:p>
            <a:pPr algn="ctr"/>
            <a:r>
              <a:rPr lang="tr-TR" sz="1700" dirty="0">
                <a:solidFill>
                  <a:srgbClr val="C00000"/>
                </a:solidFill>
              </a:rPr>
              <a:t>4 Gazoz Kapağı Getirene </a:t>
            </a:r>
          </a:p>
          <a:p>
            <a:pPr algn="ctr"/>
            <a:r>
              <a:rPr lang="tr-TR" sz="1700" dirty="0">
                <a:solidFill>
                  <a:srgbClr val="C00000"/>
                </a:solidFill>
              </a:rPr>
              <a:t>1 Gazoz Hediye!</a:t>
            </a:r>
          </a:p>
        </p:txBody>
      </p:sp>
      <p:sp>
        <p:nvSpPr>
          <p:cNvPr id="63" name="Metin kutusu 62">
            <a:extLst>
              <a:ext uri="{FF2B5EF4-FFF2-40B4-BE49-F238E27FC236}">
                <a16:creationId xmlns:a16="http://schemas.microsoft.com/office/drawing/2014/main" id="{FAB19EC3-0FA8-4E38-B5A3-6F2C5AF61D8C}"/>
              </a:ext>
            </a:extLst>
          </p:cNvPr>
          <p:cNvSpPr txBox="1"/>
          <p:nvPr/>
        </p:nvSpPr>
        <p:spPr>
          <a:xfrm>
            <a:off x="69950" y="6156176"/>
            <a:ext cx="3298710" cy="553998"/>
          </a:xfrm>
          <a:prstGeom prst="rect">
            <a:avLst/>
          </a:prstGeom>
          <a:noFill/>
        </p:spPr>
        <p:txBody>
          <a:bodyPr wrap="square" rtlCol="0">
            <a:spAutoFit/>
          </a:bodyPr>
          <a:lstStyle/>
          <a:p>
            <a:r>
              <a:rPr lang="tr-TR" sz="1000" dirty="0"/>
              <a:t>A) 10                                        B) 12                                      C) 13</a:t>
            </a:r>
          </a:p>
          <a:p>
            <a:pPr marL="228600" indent="-228600">
              <a:buAutoNum type="alphaUcParenR"/>
            </a:pPr>
            <a:endParaRPr lang="tr-TR" sz="1000" dirty="0"/>
          </a:p>
          <a:p>
            <a:r>
              <a:rPr lang="tr-TR" sz="1000" dirty="0"/>
              <a:t>                      D) 16                                       E) 17</a:t>
            </a:r>
          </a:p>
        </p:txBody>
      </p:sp>
      <p:sp>
        <p:nvSpPr>
          <p:cNvPr id="64" name="Metin kutusu 63">
            <a:extLst>
              <a:ext uri="{FF2B5EF4-FFF2-40B4-BE49-F238E27FC236}">
                <a16:creationId xmlns:a16="http://schemas.microsoft.com/office/drawing/2014/main" id="{F9B78F54-E1D3-4DDF-A5EB-BD9B8F376FE9}"/>
              </a:ext>
            </a:extLst>
          </p:cNvPr>
          <p:cNvSpPr txBox="1"/>
          <p:nvPr/>
        </p:nvSpPr>
        <p:spPr>
          <a:xfrm>
            <a:off x="3378735" y="289960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66" name="Metin kutusu 65">
            <a:extLst>
              <a:ext uri="{FF2B5EF4-FFF2-40B4-BE49-F238E27FC236}">
                <a16:creationId xmlns:a16="http://schemas.microsoft.com/office/drawing/2014/main" id="{CCFA1584-E959-4956-953A-640089903C2A}"/>
              </a:ext>
            </a:extLst>
          </p:cNvPr>
          <p:cNvSpPr txBox="1"/>
          <p:nvPr/>
        </p:nvSpPr>
        <p:spPr>
          <a:xfrm>
            <a:off x="3527207" y="2925800"/>
            <a:ext cx="3430184" cy="553998"/>
          </a:xfrm>
          <a:prstGeom prst="rect">
            <a:avLst/>
          </a:prstGeom>
          <a:noFill/>
        </p:spPr>
        <p:txBody>
          <a:bodyPr wrap="square" rtlCol="0">
            <a:spAutoFit/>
          </a:bodyPr>
          <a:lstStyle/>
          <a:p>
            <a:r>
              <a:rPr lang="tr-TR" sz="1000" b="1" noProof="1">
                <a:cs typeface="Arial" panose="020B0604020202020204" pitchFamily="34" charset="0"/>
              </a:rPr>
              <a:t>Kalem ve silginin birim fiyatları arasında 0,4 TL fark vardır. Kalem ve silgiden beşer tane alan Yeşim`in 10 TL ödemesi için kalem ve silginin fiyatları sırasıyla hangisi kaç TL olabilir? </a:t>
            </a:r>
          </a:p>
        </p:txBody>
      </p:sp>
      <p:sp>
        <p:nvSpPr>
          <p:cNvPr id="67" name="Metin kutusu 66">
            <a:extLst>
              <a:ext uri="{FF2B5EF4-FFF2-40B4-BE49-F238E27FC236}">
                <a16:creationId xmlns:a16="http://schemas.microsoft.com/office/drawing/2014/main" id="{42DA9443-E4B4-4F8C-A4F7-EBAA972F4E09}"/>
              </a:ext>
            </a:extLst>
          </p:cNvPr>
          <p:cNvSpPr txBox="1"/>
          <p:nvPr/>
        </p:nvSpPr>
        <p:spPr>
          <a:xfrm>
            <a:off x="3509763" y="3416124"/>
            <a:ext cx="3284216" cy="553998"/>
          </a:xfrm>
          <a:prstGeom prst="rect">
            <a:avLst/>
          </a:prstGeom>
          <a:noFill/>
        </p:spPr>
        <p:txBody>
          <a:bodyPr wrap="square" rtlCol="0">
            <a:spAutoFit/>
          </a:bodyPr>
          <a:lstStyle/>
          <a:p>
            <a:r>
              <a:rPr lang="tr-TR" sz="1000" dirty="0"/>
              <a:t>A) 1,6 ve 2                     B) 0,4 ve 0,8                     C) 1,2 ve 0,8</a:t>
            </a:r>
          </a:p>
          <a:p>
            <a:pPr marL="228600" indent="-228600">
              <a:buAutoNum type="alphaUcParenR"/>
            </a:pPr>
            <a:endParaRPr lang="tr-TR" sz="1000" dirty="0"/>
          </a:p>
          <a:p>
            <a:r>
              <a:rPr lang="tr-TR" sz="1000" dirty="0"/>
              <a:t>                   D) 2,4 ve 2                           E) 2,8 ve 2,4 </a:t>
            </a:r>
          </a:p>
        </p:txBody>
      </p:sp>
      <p:sp>
        <p:nvSpPr>
          <p:cNvPr id="71" name="Metin kutusu 70">
            <a:extLst>
              <a:ext uri="{FF2B5EF4-FFF2-40B4-BE49-F238E27FC236}">
                <a16:creationId xmlns:a16="http://schemas.microsoft.com/office/drawing/2014/main" id="{855927B5-BACD-4170-98B7-0EEA89ECCB3E}"/>
              </a:ext>
            </a:extLst>
          </p:cNvPr>
          <p:cNvSpPr txBox="1"/>
          <p:nvPr/>
        </p:nvSpPr>
        <p:spPr>
          <a:xfrm>
            <a:off x="-5217" y="8839682"/>
            <a:ext cx="163401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1.B    2.C    3.E    4.C    5.E</a:t>
            </a:r>
          </a:p>
        </p:txBody>
      </p:sp>
      <p:sp>
        <p:nvSpPr>
          <p:cNvPr id="47" name="Metin kutusu 46">
            <a:extLst>
              <a:ext uri="{FF2B5EF4-FFF2-40B4-BE49-F238E27FC236}">
                <a16:creationId xmlns:a16="http://schemas.microsoft.com/office/drawing/2014/main" id="{E59586AE-4721-44C2-9AC6-5434AD6E458F}"/>
              </a:ext>
            </a:extLst>
          </p:cNvPr>
          <p:cNvSpPr txBox="1"/>
          <p:nvPr/>
        </p:nvSpPr>
        <p:spPr>
          <a:xfrm>
            <a:off x="3592989" y="5314184"/>
            <a:ext cx="3100695" cy="1323439"/>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Ozan, Esra`dan bir sayı tutmasını ve aşağıdaki işlemleri sırasıyla sayısına uygulamasını istiyor.</a:t>
            </a:r>
          </a:p>
          <a:p>
            <a:endParaRPr lang="tr-TR" sz="1000" noProof="1">
              <a:ea typeface="Arimo" panose="020B0604020202020204" pitchFamily="34" charset="0"/>
              <a:cs typeface="Arimo" panose="020B0604020202020204" pitchFamily="34" charset="0"/>
            </a:endParaRPr>
          </a:p>
          <a:p>
            <a:pPr marL="171450" indent="-171450">
              <a:buFont typeface="Arial" panose="020B0604020202020204" pitchFamily="34" charset="0"/>
              <a:buChar char="•"/>
            </a:pPr>
            <a:r>
              <a:rPr lang="tr-TR" sz="1000" noProof="1">
                <a:ea typeface="Arimo" panose="020B0604020202020204" pitchFamily="34" charset="0"/>
                <a:cs typeface="Arimo" panose="020B0604020202020204" pitchFamily="34" charset="0"/>
              </a:rPr>
              <a:t>2 ile topla, yarıya böl.</a:t>
            </a:r>
          </a:p>
          <a:p>
            <a:pPr marL="171450" indent="-171450">
              <a:buFont typeface="Arial" panose="020B0604020202020204" pitchFamily="34" charset="0"/>
              <a:buChar char="•"/>
            </a:pPr>
            <a:r>
              <a:rPr lang="tr-TR" sz="1000" noProof="1">
                <a:ea typeface="Arimo" panose="020B0604020202020204" pitchFamily="34" charset="0"/>
                <a:cs typeface="Arimo" panose="020B0604020202020204" pitchFamily="34" charset="0"/>
              </a:rPr>
              <a:t>4 çıkar ve 2 ile çarp. </a:t>
            </a:r>
          </a:p>
          <a:p>
            <a:endParaRPr lang="tr-TR" sz="1000" noProof="1">
              <a:ea typeface="Arimo" panose="020B0604020202020204" pitchFamily="34" charset="0"/>
              <a:cs typeface="Arimo" panose="020B0604020202020204" pitchFamily="34" charset="0"/>
            </a:endParaRPr>
          </a:p>
          <a:p>
            <a:r>
              <a:rPr lang="tr-TR" sz="1000" b="1" noProof="1">
                <a:ea typeface="Arimo" panose="020B0604020202020204" pitchFamily="34" charset="0"/>
                <a:cs typeface="Arimo" panose="020B0604020202020204" pitchFamily="34" charset="0"/>
              </a:rPr>
              <a:t>Esra işlemleri uyguladıktan sonra cevabın 4 çıktığını söylüyor. Buna göre, Esra hangi sayıyı tutmuştur?</a:t>
            </a:r>
          </a:p>
        </p:txBody>
      </p:sp>
      <p:sp>
        <p:nvSpPr>
          <p:cNvPr id="55" name="Metin kutusu 54">
            <a:extLst>
              <a:ext uri="{FF2B5EF4-FFF2-40B4-BE49-F238E27FC236}">
                <a16:creationId xmlns:a16="http://schemas.microsoft.com/office/drawing/2014/main" id="{D9154E21-08A6-4F23-A9A2-7583ACE03DC9}"/>
              </a:ext>
            </a:extLst>
          </p:cNvPr>
          <p:cNvSpPr txBox="1"/>
          <p:nvPr/>
        </p:nvSpPr>
        <p:spPr>
          <a:xfrm>
            <a:off x="3566376" y="6632308"/>
            <a:ext cx="3204424" cy="553998"/>
          </a:xfrm>
          <a:prstGeom prst="rect">
            <a:avLst/>
          </a:prstGeom>
          <a:noFill/>
        </p:spPr>
        <p:txBody>
          <a:bodyPr wrap="square" rtlCol="0">
            <a:spAutoFit/>
          </a:bodyPr>
          <a:lstStyle/>
          <a:p>
            <a:r>
              <a:rPr lang="tr-TR" sz="1000" b="0" dirty="0"/>
              <a:t>A)   </a:t>
            </a:r>
            <a:r>
              <a:rPr lang="tr-TR" sz="1000" dirty="0"/>
              <a:t>4                                         B) 5                                         C) 6</a:t>
            </a:r>
          </a:p>
          <a:p>
            <a:pPr marL="228600" indent="-228600">
              <a:buAutoNum type="alphaUcParenR"/>
            </a:pPr>
            <a:endParaRPr lang="tr-TR" sz="1000" dirty="0"/>
          </a:p>
          <a:p>
            <a:r>
              <a:rPr lang="tr-TR" sz="1000" dirty="0"/>
              <a:t>                          D) 8                                     E) 10</a:t>
            </a:r>
            <a:endParaRPr lang="tr-TR" sz="1000" b="1" dirty="0"/>
          </a:p>
        </p:txBody>
      </p:sp>
    </p:spTree>
    <p:extLst>
      <p:ext uri="{BB962C8B-B14F-4D97-AF65-F5344CB8AC3E}">
        <p14:creationId xmlns:p14="http://schemas.microsoft.com/office/powerpoint/2010/main" val="16470458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Tanışma Faslı Test </a:t>
            </a:r>
            <a:r>
              <a:rPr lang="tr-TR" sz="1000" dirty="0">
                <a:solidFill>
                  <a:schemeClr val="tx1"/>
                </a:solidFill>
                <a:latin typeface="Montserrat SemiBold" panose="00000700000000000000" pitchFamily="2" charset="-94"/>
              </a:rPr>
              <a:t>1</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8928" y="45054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36454" y="4586464"/>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421942" y="5945404"/>
            <a:ext cx="36289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91742" y="478204"/>
            <a:ext cx="3281157" cy="1169551"/>
          </a:xfrm>
          <a:prstGeom prst="rect">
            <a:avLst/>
          </a:prstGeom>
          <a:noFill/>
        </p:spPr>
        <p:txBody>
          <a:bodyPr wrap="square" rtlCol="0">
            <a:spAutoFit/>
          </a:bodyPr>
          <a:lstStyle/>
          <a:p>
            <a:r>
              <a:rPr lang="tr-TR" sz="1000" noProof="1">
                <a:solidFill>
                  <a:schemeClr val="tx1"/>
                </a:solidFill>
                <a:cs typeface="Arial" panose="020B0604020202020204" pitchFamily="34" charset="0"/>
              </a:rPr>
              <a:t>Savunma sanayi üzerine çalışan bir şirkette arge depart-manında herkes eşit miktarda maaş almakta ve çalışanlara her 3 ayda bir aylık maaşı kadar promosyon verilmektedir. </a:t>
            </a:r>
          </a:p>
          <a:p>
            <a:endParaRPr lang="tr-TR" sz="1000" noProof="1">
              <a:cs typeface="Arial" panose="020B0604020202020204" pitchFamily="34" charset="0"/>
            </a:endParaRPr>
          </a:p>
          <a:p>
            <a:r>
              <a:rPr lang="tr-TR" sz="1000" b="1" noProof="1">
                <a:solidFill>
                  <a:schemeClr val="tx1"/>
                </a:solidFill>
                <a:cs typeface="Arial" panose="020B0604020202020204" pitchFamily="34" charset="0"/>
              </a:rPr>
              <a:t>Bu şirket; yıllık toplamda arge departmanındaki 100 personeline 9.600.000 TL maaş ödemesi yaptığına göre</a:t>
            </a:r>
            <a:r>
              <a:rPr lang="tr-TR" sz="1000" b="1" noProof="1">
                <a:cs typeface="Arial" panose="020B0604020202020204" pitchFamily="34" charset="0"/>
              </a:rPr>
              <a:t> bir personele 3 ayda kaç bin TL ödenmiştir?</a:t>
            </a:r>
            <a:endParaRPr lang="tr-TR" sz="1000" b="1" noProof="1">
              <a:solidFill>
                <a:schemeClr val="tx1"/>
              </a:solidFill>
              <a:cs typeface="Arial" panose="020B0604020202020204" pitchFamily="34" charset="0"/>
            </a:endParaRP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69671" y="1588246"/>
            <a:ext cx="3359329" cy="553998"/>
          </a:xfrm>
          <a:prstGeom prst="rect">
            <a:avLst/>
          </a:prstGeom>
          <a:noFill/>
        </p:spPr>
        <p:txBody>
          <a:bodyPr wrap="square" rtlCol="0">
            <a:spAutoFit/>
          </a:bodyPr>
          <a:lstStyle/>
          <a:p>
            <a:r>
              <a:rPr lang="tr-TR" sz="1000" dirty="0"/>
              <a:t>A) 6                                          B) 12                                        C) 18</a:t>
            </a:r>
          </a:p>
          <a:p>
            <a:pPr marL="228600" indent="-228600">
              <a:buAutoNum type="alphaUcParenR"/>
            </a:pPr>
            <a:endParaRPr lang="tr-TR" sz="1000" dirty="0"/>
          </a:p>
          <a:p>
            <a:r>
              <a:rPr lang="tr-TR" sz="1000" dirty="0"/>
              <a:t>                      D) 24                                        E) 32</a:t>
            </a:r>
          </a:p>
        </p:txBody>
      </p:sp>
      <p:sp>
        <p:nvSpPr>
          <p:cNvPr id="56" name="Metin kutusu 55">
            <a:extLst>
              <a:ext uri="{FF2B5EF4-FFF2-40B4-BE49-F238E27FC236}">
                <a16:creationId xmlns:a16="http://schemas.microsoft.com/office/drawing/2014/main" id="{FE808314-3229-48D7-98E6-513795AE49C4}"/>
              </a:ext>
            </a:extLst>
          </p:cNvPr>
          <p:cNvSpPr txBox="1"/>
          <p:nvPr/>
        </p:nvSpPr>
        <p:spPr>
          <a:xfrm>
            <a:off x="132288" y="4607622"/>
            <a:ext cx="3359329" cy="1169551"/>
          </a:xfrm>
          <a:prstGeom prst="rect">
            <a:avLst/>
          </a:prstGeom>
          <a:noFill/>
        </p:spPr>
        <p:txBody>
          <a:bodyPr wrap="square" rtlCol="0">
            <a:spAutoFit/>
          </a:bodyPr>
          <a:lstStyle/>
          <a:p>
            <a:r>
              <a:rPr lang="tr-TR" sz="1000" noProof="1">
                <a:cs typeface="Arial" panose="020B0604020202020204" pitchFamily="34" charset="0"/>
              </a:rPr>
              <a:t>Funda`nın ceviz sayısı Mert`in ceviz sayısından 29 fazladır. Cengiz Mert`e  8 adet ceviz verdiğinde Cengiz ve Mert`in ceviz sayıları aynı oluyor. Son olarak; Funda, Mert ve Cengiz`e</a:t>
            </a:r>
          </a:p>
          <a:p>
            <a:r>
              <a:rPr lang="tr-TR" sz="1000" noProof="1">
                <a:cs typeface="Arial" panose="020B0604020202020204" pitchFamily="34" charset="0"/>
              </a:rPr>
              <a:t>yedişer ceviz verdiğinde üçününde ceviz sayıları eşit oluyor.</a:t>
            </a:r>
          </a:p>
          <a:p>
            <a:endParaRPr lang="tr-TR" sz="1000" noProof="1">
              <a:cs typeface="Arial" panose="020B0604020202020204" pitchFamily="34" charset="0"/>
            </a:endParaRPr>
          </a:p>
          <a:p>
            <a:r>
              <a:rPr lang="tr-TR" sz="1000" b="1" noProof="1">
                <a:cs typeface="Arial" panose="020B0604020202020204" pitchFamily="34" charset="0"/>
              </a:rPr>
              <a:t>Cengiz`in alışveriş olmadan ilk durumda 46 cevizi olduğuna göre, son durumda herkeste kaç ceviz bulunur?</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631542" y="5976711"/>
            <a:ext cx="3284216" cy="553998"/>
          </a:xfrm>
          <a:prstGeom prst="rect">
            <a:avLst/>
          </a:prstGeom>
          <a:noFill/>
        </p:spPr>
        <p:txBody>
          <a:bodyPr wrap="square" rtlCol="0">
            <a:spAutoFit/>
          </a:bodyPr>
          <a:lstStyle/>
          <a:p>
            <a:r>
              <a:rPr lang="tr-TR" sz="1000" b="1" noProof="1">
                <a:cs typeface="Arial" panose="020B0604020202020204" pitchFamily="34" charset="0"/>
              </a:rPr>
              <a:t>Bir çiftlikte tavuk sayısının 20 eksiği kadar at bulunmak-tadır. Toplamda 69 tavuk ve tavşan vardır ve toplam ayak sayısı 316 olduğuna göre, bu çiftlikte toplam kaç at vardır?</a:t>
            </a:r>
          </a:p>
        </p:txBody>
      </p:sp>
      <p:sp>
        <p:nvSpPr>
          <p:cNvPr id="58" name="Metin kutusu 57">
            <a:extLst>
              <a:ext uri="{FF2B5EF4-FFF2-40B4-BE49-F238E27FC236}">
                <a16:creationId xmlns:a16="http://schemas.microsoft.com/office/drawing/2014/main" id="{46E0D5C7-D2D0-4E7E-8674-66466154E98B}"/>
              </a:ext>
            </a:extLst>
          </p:cNvPr>
          <p:cNvSpPr txBox="1"/>
          <p:nvPr/>
        </p:nvSpPr>
        <p:spPr>
          <a:xfrm>
            <a:off x="3495455" y="484252"/>
            <a:ext cx="3320184" cy="1323439"/>
          </a:xfrm>
          <a:prstGeom prst="rect">
            <a:avLst/>
          </a:prstGeom>
          <a:noFill/>
        </p:spPr>
        <p:txBody>
          <a:bodyPr wrap="square" rtlCol="0">
            <a:spAutoFit/>
          </a:bodyPr>
          <a:lstStyle/>
          <a:p>
            <a:r>
              <a:rPr lang="tr-TR" sz="1000" noProof="1">
                <a:cs typeface="Arial" panose="020B0604020202020204" pitchFamily="34" charset="0"/>
              </a:rPr>
              <a:t>Bir otobüste x-6 adet kişi bulunmaktadır.</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A durağında 5 yolcu inip 8 yolcu binmiştir. </a:t>
            </a:r>
          </a:p>
          <a:p>
            <a:pPr marL="171450" indent="-171450">
              <a:buFont typeface="Arial" panose="020B0604020202020204" pitchFamily="34" charset="0"/>
              <a:buChar char="•"/>
            </a:pPr>
            <a:r>
              <a:rPr lang="tr-TR" sz="1000" noProof="1">
                <a:cs typeface="Arial" panose="020B0604020202020204" pitchFamily="34" charset="0"/>
              </a:rPr>
              <a:t>B durağında 20 yolcu inip 10 yolcu binmiştir.</a:t>
            </a:r>
          </a:p>
          <a:p>
            <a:pPr marL="171450" indent="-171450">
              <a:buFont typeface="Arial" panose="020B0604020202020204" pitchFamily="34" charset="0"/>
              <a:buChar char="•"/>
            </a:pPr>
            <a:r>
              <a:rPr lang="tr-TR" sz="1000" noProof="1">
                <a:cs typeface="Arial" panose="020B0604020202020204" pitchFamily="34" charset="0"/>
              </a:rPr>
              <a:t>C durağında inen olmamıştır,6 kişi binmiştir.</a:t>
            </a:r>
          </a:p>
          <a:p>
            <a:r>
              <a:rPr lang="tr-TR" sz="1000" noProof="1">
                <a:cs typeface="Arial" panose="020B0604020202020204" pitchFamily="34" charset="0"/>
              </a:rPr>
              <a:t>  </a:t>
            </a:r>
          </a:p>
          <a:p>
            <a:r>
              <a:rPr lang="tr-TR" sz="1000" b="1" noProof="1">
                <a:cs typeface="Arial" panose="020B0604020202020204" pitchFamily="34" charset="0"/>
              </a:rPr>
              <a:t>Son durumda otobüsde kadın ve erkek sayısı eşit olduğuna göre, x sayısı aşağıdakilerden hangisi olamaz?</a:t>
            </a:r>
          </a:p>
        </p:txBody>
      </p:sp>
      <p:sp>
        <p:nvSpPr>
          <p:cNvPr id="60" name="Metin kutusu 59">
            <a:extLst>
              <a:ext uri="{FF2B5EF4-FFF2-40B4-BE49-F238E27FC236}">
                <a16:creationId xmlns:a16="http://schemas.microsoft.com/office/drawing/2014/main" id="{380CFD8B-A448-4F49-ACCE-E2A9557B7206}"/>
              </a:ext>
            </a:extLst>
          </p:cNvPr>
          <p:cNvSpPr txBox="1"/>
          <p:nvPr/>
        </p:nvSpPr>
        <p:spPr>
          <a:xfrm>
            <a:off x="3518827" y="1765668"/>
            <a:ext cx="3284216" cy="553998"/>
          </a:xfrm>
          <a:prstGeom prst="rect">
            <a:avLst/>
          </a:prstGeom>
          <a:noFill/>
        </p:spPr>
        <p:txBody>
          <a:bodyPr wrap="square" rtlCol="0">
            <a:spAutoFit/>
          </a:bodyPr>
          <a:lstStyle/>
          <a:p>
            <a:r>
              <a:rPr lang="tr-TR" sz="1000" dirty="0"/>
              <a:t>A) 9                                        B) 12                                        C) 15</a:t>
            </a:r>
          </a:p>
          <a:p>
            <a:pPr marL="228600" indent="-228600">
              <a:buAutoNum type="alphaUcParenR"/>
            </a:pPr>
            <a:endParaRPr lang="tr-TR" sz="1000" dirty="0"/>
          </a:p>
          <a:p>
            <a:r>
              <a:rPr lang="tr-TR" sz="1000" dirty="0"/>
              <a:t>                      D) 21                                        E) 27</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5217" y="8839682"/>
            <a:ext cx="163401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6.D    7.D    8.B    9.C   10.B</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41" name="Metin kutusu 40">
            <a:extLst>
              <a:ext uri="{FF2B5EF4-FFF2-40B4-BE49-F238E27FC236}">
                <a16:creationId xmlns:a16="http://schemas.microsoft.com/office/drawing/2014/main" id="{C4BEFB06-13CA-4EE2-A2C3-1C7682DEFEAA}"/>
              </a:ext>
            </a:extLst>
          </p:cNvPr>
          <p:cNvSpPr txBox="1"/>
          <p:nvPr/>
        </p:nvSpPr>
        <p:spPr>
          <a:xfrm>
            <a:off x="113726" y="5705544"/>
            <a:ext cx="3359329" cy="553998"/>
          </a:xfrm>
          <a:prstGeom prst="rect">
            <a:avLst/>
          </a:prstGeom>
          <a:noFill/>
        </p:spPr>
        <p:txBody>
          <a:bodyPr wrap="square" rtlCol="0">
            <a:spAutoFit/>
          </a:bodyPr>
          <a:lstStyle/>
          <a:p>
            <a:r>
              <a:rPr lang="tr-TR" sz="1000" dirty="0"/>
              <a:t>A) 29                                          B) 35                                        C) 40</a:t>
            </a:r>
          </a:p>
          <a:p>
            <a:pPr marL="228600" indent="-228600">
              <a:buAutoNum type="alphaUcParenR"/>
            </a:pPr>
            <a:endParaRPr lang="tr-TR" sz="1000" dirty="0"/>
          </a:p>
          <a:p>
            <a:r>
              <a:rPr lang="tr-TR" sz="1000" dirty="0"/>
              <a:t>                      D) 45                                        E) 50</a:t>
            </a:r>
          </a:p>
        </p:txBody>
      </p:sp>
      <p:sp>
        <p:nvSpPr>
          <p:cNvPr id="48" name="Metin kutusu 47">
            <a:extLst>
              <a:ext uri="{FF2B5EF4-FFF2-40B4-BE49-F238E27FC236}">
                <a16:creationId xmlns:a16="http://schemas.microsoft.com/office/drawing/2014/main" id="{3B08AFB0-18B3-452F-97BA-44C6846B0E7B}"/>
              </a:ext>
            </a:extLst>
          </p:cNvPr>
          <p:cNvSpPr txBox="1"/>
          <p:nvPr/>
        </p:nvSpPr>
        <p:spPr>
          <a:xfrm>
            <a:off x="3366411" y="318682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61" name="Metin kutusu 60">
            <a:extLst>
              <a:ext uri="{FF2B5EF4-FFF2-40B4-BE49-F238E27FC236}">
                <a16:creationId xmlns:a16="http://schemas.microsoft.com/office/drawing/2014/main" id="{70A8610F-6892-449A-B067-43019CBFC6A7}"/>
              </a:ext>
            </a:extLst>
          </p:cNvPr>
          <p:cNvSpPr txBox="1"/>
          <p:nvPr/>
        </p:nvSpPr>
        <p:spPr>
          <a:xfrm>
            <a:off x="3525792" y="3225106"/>
            <a:ext cx="3320184" cy="1015663"/>
          </a:xfrm>
          <a:prstGeom prst="rect">
            <a:avLst/>
          </a:prstGeom>
          <a:noFill/>
        </p:spPr>
        <p:txBody>
          <a:bodyPr wrap="square" rtlCol="0">
            <a:spAutoFit/>
          </a:bodyPr>
          <a:lstStyle/>
          <a:p>
            <a:r>
              <a:rPr lang="tr-TR" sz="1000" noProof="1">
                <a:cs typeface="Arial" panose="020B0604020202020204" pitchFamily="34" charset="0"/>
              </a:rPr>
              <a:t>Bir böcek ulaşmaya çalıştığı yüksekteki hedefi için, 7 cm yükseliyor ve 2 cm geri aşağı iniyor. Bu şekilde periyodik olarak hedefine dokuzar hamle yaparak ilerlemektedir.</a:t>
            </a:r>
          </a:p>
          <a:p>
            <a:endParaRPr lang="tr-TR" sz="1000" noProof="1">
              <a:cs typeface="Arial" panose="020B0604020202020204" pitchFamily="34" charset="0"/>
            </a:endParaRPr>
          </a:p>
          <a:p>
            <a:r>
              <a:rPr lang="tr-TR" sz="1000" b="1" noProof="1">
                <a:cs typeface="Arial" panose="020B0604020202020204" pitchFamily="34" charset="0"/>
              </a:rPr>
              <a:t>Hedefine, 269 cm uzaklığında ise toplam kaç hamle yapması gerekir? </a:t>
            </a:r>
          </a:p>
        </p:txBody>
      </p:sp>
      <p:sp>
        <p:nvSpPr>
          <p:cNvPr id="64" name="Metin kutusu 63">
            <a:extLst>
              <a:ext uri="{FF2B5EF4-FFF2-40B4-BE49-F238E27FC236}">
                <a16:creationId xmlns:a16="http://schemas.microsoft.com/office/drawing/2014/main" id="{866F2D7B-27C8-478B-AF1A-370FCE3C9C3F}"/>
              </a:ext>
            </a:extLst>
          </p:cNvPr>
          <p:cNvSpPr txBox="1"/>
          <p:nvPr/>
        </p:nvSpPr>
        <p:spPr>
          <a:xfrm>
            <a:off x="3531423" y="4191450"/>
            <a:ext cx="3284216" cy="553998"/>
          </a:xfrm>
          <a:prstGeom prst="rect">
            <a:avLst/>
          </a:prstGeom>
          <a:noFill/>
        </p:spPr>
        <p:txBody>
          <a:bodyPr wrap="square" rtlCol="0">
            <a:spAutoFit/>
          </a:bodyPr>
          <a:lstStyle/>
          <a:p>
            <a:r>
              <a:rPr lang="tr-TR" sz="1000" dirty="0"/>
              <a:t>A) 269                                    B) 477                                     C) 481</a:t>
            </a:r>
          </a:p>
          <a:p>
            <a:pPr marL="228600" indent="-228600">
              <a:buAutoNum type="alphaUcParenR"/>
            </a:pPr>
            <a:endParaRPr lang="tr-TR" sz="1000" dirty="0"/>
          </a:p>
          <a:p>
            <a:r>
              <a:rPr lang="tr-TR" sz="1000" dirty="0"/>
              <a:t>                      D) 486                                        E) 2421</a:t>
            </a:r>
          </a:p>
        </p:txBody>
      </p:sp>
      <p:sp>
        <p:nvSpPr>
          <p:cNvPr id="66" name="Metin kutusu 65">
            <a:extLst>
              <a:ext uri="{FF2B5EF4-FFF2-40B4-BE49-F238E27FC236}">
                <a16:creationId xmlns:a16="http://schemas.microsoft.com/office/drawing/2014/main" id="{338C3EF2-7068-46FE-A3E4-791B0865369E}"/>
              </a:ext>
            </a:extLst>
          </p:cNvPr>
          <p:cNvSpPr txBox="1"/>
          <p:nvPr/>
        </p:nvSpPr>
        <p:spPr>
          <a:xfrm>
            <a:off x="3620132" y="6482711"/>
            <a:ext cx="3359329" cy="553998"/>
          </a:xfrm>
          <a:prstGeom prst="rect">
            <a:avLst/>
          </a:prstGeom>
          <a:noFill/>
        </p:spPr>
        <p:txBody>
          <a:bodyPr wrap="square" rtlCol="0">
            <a:spAutoFit/>
          </a:bodyPr>
          <a:lstStyle/>
          <a:p>
            <a:r>
              <a:rPr lang="tr-TR" sz="1000" dirty="0"/>
              <a:t>A) 36                                       B) 40                                     C) 52</a:t>
            </a:r>
          </a:p>
          <a:p>
            <a:pPr marL="228600" indent="-228600">
              <a:buAutoNum type="alphaUcParenR"/>
            </a:pPr>
            <a:endParaRPr lang="tr-TR" sz="1000" dirty="0"/>
          </a:p>
          <a:p>
            <a:r>
              <a:rPr lang="tr-TR" sz="1000" dirty="0"/>
              <a:t>                      D) 60                                          E) 75</a:t>
            </a:r>
          </a:p>
        </p:txBody>
      </p:sp>
      <p:sp>
        <p:nvSpPr>
          <p:cNvPr id="47" name="Dikdörtgen: Köşeleri Yuvarlatılmış 46">
            <a:extLst>
              <a:ext uri="{FF2B5EF4-FFF2-40B4-BE49-F238E27FC236}">
                <a16:creationId xmlns:a16="http://schemas.microsoft.com/office/drawing/2014/main" id="{4E5866C9-9CB3-4252-B393-8801252F4E89}"/>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5" name="Oval 54">
            <a:extLst>
              <a:ext uri="{FF2B5EF4-FFF2-40B4-BE49-F238E27FC236}">
                <a16:creationId xmlns:a16="http://schemas.microsoft.com/office/drawing/2014/main" id="{494062E4-A24F-4C62-A4C4-516A1E6F50D9}"/>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9" name="Metin kutusu 58">
            <a:extLst>
              <a:ext uri="{FF2B5EF4-FFF2-40B4-BE49-F238E27FC236}">
                <a16:creationId xmlns:a16="http://schemas.microsoft.com/office/drawing/2014/main" id="{A271A64D-A2F1-4BA3-8B04-82D7D431D2DD}"/>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63" name="Metin kutusu 62">
            <a:extLst>
              <a:ext uri="{FF2B5EF4-FFF2-40B4-BE49-F238E27FC236}">
                <a16:creationId xmlns:a16="http://schemas.microsoft.com/office/drawing/2014/main" id="{F98BDB01-0EB4-42F7-B6CE-1A091287B696}"/>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65" name="Oval 64">
            <a:extLst>
              <a:ext uri="{FF2B5EF4-FFF2-40B4-BE49-F238E27FC236}">
                <a16:creationId xmlns:a16="http://schemas.microsoft.com/office/drawing/2014/main" id="{DC1406C2-C0C6-4C9A-A799-8E7B7C917FBB}"/>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67" name="Düz Bağlayıcı 66">
            <a:extLst>
              <a:ext uri="{FF2B5EF4-FFF2-40B4-BE49-F238E27FC236}">
                <a16:creationId xmlns:a16="http://schemas.microsoft.com/office/drawing/2014/main" id="{3D88D3F9-1084-40E6-9ED0-A39D4592FDD6}"/>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68" name="Metin kutusu 67">
            <a:extLst>
              <a:ext uri="{FF2B5EF4-FFF2-40B4-BE49-F238E27FC236}">
                <a16:creationId xmlns:a16="http://schemas.microsoft.com/office/drawing/2014/main" id="{F17C6FC4-8624-430E-82A2-26ED1EAD55FF}"/>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69" name="Oval 68">
            <a:extLst>
              <a:ext uri="{FF2B5EF4-FFF2-40B4-BE49-F238E27FC236}">
                <a16:creationId xmlns:a16="http://schemas.microsoft.com/office/drawing/2014/main" id="{863CAAFD-4370-4BB9-ABFC-32DF0EDBAD61}"/>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0" name="Metin kutusu 69">
            <a:extLst>
              <a:ext uri="{FF2B5EF4-FFF2-40B4-BE49-F238E27FC236}">
                <a16:creationId xmlns:a16="http://schemas.microsoft.com/office/drawing/2014/main" id="{75D6DF93-12A9-4326-B391-6B39D0DFA0CF}"/>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71" name="Oval 70">
            <a:extLst>
              <a:ext uri="{FF2B5EF4-FFF2-40B4-BE49-F238E27FC236}">
                <a16:creationId xmlns:a16="http://schemas.microsoft.com/office/drawing/2014/main" id="{2053DDBE-2341-46D5-9D3F-4FC4650D4CC8}"/>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2" name="Düz Bağlayıcı 71">
            <a:extLst>
              <a:ext uri="{FF2B5EF4-FFF2-40B4-BE49-F238E27FC236}">
                <a16:creationId xmlns:a16="http://schemas.microsoft.com/office/drawing/2014/main" id="{CE8EE4B0-8E5A-4799-B3EF-EEDDB88EE914}"/>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Düz Bağlayıcı 72">
            <a:extLst>
              <a:ext uri="{FF2B5EF4-FFF2-40B4-BE49-F238E27FC236}">
                <a16:creationId xmlns:a16="http://schemas.microsoft.com/office/drawing/2014/main" id="{4901A52D-1FB7-41D8-B497-7346B2BBE310}"/>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0440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2</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49236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9476"/>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400315" y="5594208"/>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64" name="Metin kutusu 63">
            <a:extLst>
              <a:ext uri="{FF2B5EF4-FFF2-40B4-BE49-F238E27FC236}">
                <a16:creationId xmlns:a16="http://schemas.microsoft.com/office/drawing/2014/main" id="{F9B78F54-E1D3-4DDF-A5EB-BD9B8F376FE9}"/>
              </a:ext>
            </a:extLst>
          </p:cNvPr>
          <p:cNvSpPr txBox="1"/>
          <p:nvPr/>
        </p:nvSpPr>
        <p:spPr>
          <a:xfrm>
            <a:off x="3378735" y="3022468"/>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68" name="Metin kutusu 67">
            <a:extLst>
              <a:ext uri="{FF2B5EF4-FFF2-40B4-BE49-F238E27FC236}">
                <a16:creationId xmlns:a16="http://schemas.microsoft.com/office/drawing/2014/main" id="{021F579A-5855-483F-B70B-4514BA401B2A}"/>
              </a:ext>
            </a:extLst>
          </p:cNvPr>
          <p:cNvSpPr txBox="1"/>
          <p:nvPr/>
        </p:nvSpPr>
        <p:spPr>
          <a:xfrm>
            <a:off x="3559889" y="5620689"/>
            <a:ext cx="3269208" cy="1015663"/>
          </a:xfrm>
          <a:prstGeom prst="rect">
            <a:avLst/>
          </a:prstGeom>
          <a:noFill/>
        </p:spPr>
        <p:txBody>
          <a:bodyPr wrap="square" rtlCol="0">
            <a:spAutoFit/>
          </a:bodyPr>
          <a:lstStyle/>
          <a:p>
            <a:r>
              <a:rPr lang="tr-TR" sz="1000" noProof="1">
                <a:cs typeface="Arial" panose="020B0604020202020204" pitchFamily="34" charset="0"/>
              </a:rPr>
              <a:t>Ahmet ve Emel`in de bulunduğu bir sınıfta eşit sayıda kız ve erkek bulunmaktadır. Ahmet`in erkek arkadaşlarının 7`de dördü sınıftan ayrılınca; sınıftaki erkek sayısı, Emel`in kız arkadaşlarının sayısını 1 eksiğinin yarısı kadar oluyor. </a:t>
            </a:r>
          </a:p>
          <a:p>
            <a:endParaRPr lang="tr-TR" sz="1000" noProof="1">
              <a:cs typeface="Arial" panose="020B0604020202020204" pitchFamily="34" charset="0"/>
            </a:endParaRPr>
          </a:p>
          <a:p>
            <a:r>
              <a:rPr lang="tr-TR" sz="1000" b="1" noProof="1">
                <a:cs typeface="Arial" panose="020B0604020202020204" pitchFamily="34" charset="0"/>
              </a:rPr>
              <a:t>Buna göre, sınıftan ayrılan erkek sayısı kaçtır? </a:t>
            </a:r>
          </a:p>
        </p:txBody>
      </p:sp>
      <p:sp>
        <p:nvSpPr>
          <p:cNvPr id="69" name="Metin kutusu 68">
            <a:extLst>
              <a:ext uri="{FF2B5EF4-FFF2-40B4-BE49-F238E27FC236}">
                <a16:creationId xmlns:a16="http://schemas.microsoft.com/office/drawing/2014/main" id="{69F833FE-0406-4512-BD60-81708A0AA099}"/>
              </a:ext>
            </a:extLst>
          </p:cNvPr>
          <p:cNvSpPr txBox="1"/>
          <p:nvPr/>
        </p:nvSpPr>
        <p:spPr>
          <a:xfrm>
            <a:off x="3566376" y="6566380"/>
            <a:ext cx="3298710" cy="553998"/>
          </a:xfrm>
          <a:prstGeom prst="rect">
            <a:avLst/>
          </a:prstGeom>
          <a:noFill/>
        </p:spPr>
        <p:txBody>
          <a:bodyPr wrap="square" rtlCol="0">
            <a:spAutoFit/>
          </a:bodyPr>
          <a:lstStyle/>
          <a:p>
            <a:r>
              <a:rPr lang="tr-TR" sz="1000" dirty="0"/>
              <a:t>A) 4                                        B) 8                                      C) 9</a:t>
            </a:r>
          </a:p>
          <a:p>
            <a:pPr marL="228600" indent="-228600">
              <a:buAutoNum type="alphaUcParenR"/>
            </a:pPr>
            <a:endParaRPr lang="tr-TR" sz="1000" dirty="0"/>
          </a:p>
          <a:p>
            <a:r>
              <a:rPr lang="tr-TR" sz="1000" dirty="0"/>
              <a:t>                      D) 12                                       E) 16</a:t>
            </a:r>
          </a:p>
        </p:txBody>
      </p:sp>
      <p:sp>
        <p:nvSpPr>
          <p:cNvPr id="71" name="Metin kutusu 70">
            <a:extLst>
              <a:ext uri="{FF2B5EF4-FFF2-40B4-BE49-F238E27FC236}">
                <a16:creationId xmlns:a16="http://schemas.microsoft.com/office/drawing/2014/main" id="{855927B5-BACD-4170-98B7-0EEA89ECCB3E}"/>
              </a:ext>
            </a:extLst>
          </p:cNvPr>
          <p:cNvSpPr txBox="1"/>
          <p:nvPr/>
        </p:nvSpPr>
        <p:spPr>
          <a:xfrm>
            <a:off x="-5217" y="8839682"/>
            <a:ext cx="163401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1.B     2.E    3.C    4.D    5.D</a:t>
            </a:r>
          </a:p>
        </p:txBody>
      </p:sp>
      <p:sp>
        <p:nvSpPr>
          <p:cNvPr id="47" name="Metin kutusu 46">
            <a:extLst>
              <a:ext uri="{FF2B5EF4-FFF2-40B4-BE49-F238E27FC236}">
                <a16:creationId xmlns:a16="http://schemas.microsoft.com/office/drawing/2014/main" id="{9E2D4300-A4F0-4769-A3A6-F70CBB2A8F30}"/>
              </a:ext>
            </a:extLst>
          </p:cNvPr>
          <p:cNvSpPr txBox="1"/>
          <p:nvPr/>
        </p:nvSpPr>
        <p:spPr>
          <a:xfrm>
            <a:off x="3527205" y="3059523"/>
            <a:ext cx="3358175" cy="707886"/>
          </a:xfrm>
          <a:prstGeom prst="rect">
            <a:avLst/>
          </a:prstGeom>
          <a:noFill/>
        </p:spPr>
        <p:txBody>
          <a:bodyPr wrap="square" rtlCol="0">
            <a:spAutoFit/>
          </a:bodyPr>
          <a:lstStyle/>
          <a:p>
            <a:r>
              <a:rPr lang="tr-TR" sz="1000" noProof="1">
                <a:cs typeface="Arial" panose="020B0604020202020204" pitchFamily="34" charset="0"/>
              </a:rPr>
              <a:t>Bir torbada 8 mavi,  7 yeşil, 6 adet sarı misket bulunmaktadır.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Torbadan </a:t>
            </a:r>
            <a:r>
              <a:rPr lang="tr-TR" sz="1000" b="1" u="sng" noProof="1">
                <a:cs typeface="Arial" panose="020B0604020202020204" pitchFamily="34" charset="0"/>
              </a:rPr>
              <a:t>en az </a:t>
            </a:r>
            <a:r>
              <a:rPr lang="tr-TR" sz="1000" b="1" noProof="1">
                <a:cs typeface="Arial" panose="020B0604020202020204" pitchFamily="34" charset="0"/>
              </a:rPr>
              <a:t>kaç tane misket alınırsa en az her renkten </a:t>
            </a:r>
            <a:r>
              <a:rPr lang="tr-TR" sz="1000" b="1" u="sng" noProof="1">
                <a:cs typeface="Arial" panose="020B0604020202020204" pitchFamily="34" charset="0"/>
              </a:rPr>
              <a:t>kesinlikle</a:t>
            </a:r>
            <a:r>
              <a:rPr lang="tr-TR" sz="1000" b="1" noProof="1">
                <a:cs typeface="Arial" panose="020B0604020202020204" pitchFamily="34" charset="0"/>
              </a:rPr>
              <a:t> bir tane alınmış olur?</a:t>
            </a:r>
          </a:p>
        </p:txBody>
      </p:sp>
      <p:sp>
        <p:nvSpPr>
          <p:cNvPr id="55" name="Metin kutusu 54">
            <a:extLst>
              <a:ext uri="{FF2B5EF4-FFF2-40B4-BE49-F238E27FC236}">
                <a16:creationId xmlns:a16="http://schemas.microsoft.com/office/drawing/2014/main" id="{E41BCC69-11B2-475B-A89A-72CF489A04A3}"/>
              </a:ext>
            </a:extLst>
          </p:cNvPr>
          <p:cNvSpPr txBox="1"/>
          <p:nvPr/>
        </p:nvSpPr>
        <p:spPr>
          <a:xfrm>
            <a:off x="3502516" y="3758657"/>
            <a:ext cx="3298710" cy="553998"/>
          </a:xfrm>
          <a:prstGeom prst="rect">
            <a:avLst/>
          </a:prstGeom>
          <a:noFill/>
        </p:spPr>
        <p:txBody>
          <a:bodyPr wrap="square" rtlCol="0">
            <a:spAutoFit/>
          </a:bodyPr>
          <a:lstStyle/>
          <a:p>
            <a:r>
              <a:rPr lang="tr-TR" sz="1000" dirty="0"/>
              <a:t>A) 13                                       B) 14                                         C) 15</a:t>
            </a:r>
          </a:p>
          <a:p>
            <a:pPr marL="228600" indent="-228600">
              <a:buAutoNum type="alphaUcParenR"/>
            </a:pPr>
            <a:endParaRPr lang="tr-TR" sz="1000" dirty="0"/>
          </a:p>
          <a:p>
            <a:r>
              <a:rPr lang="tr-TR" sz="1000" dirty="0"/>
              <a:t>                      D) 16                                       E) 21</a:t>
            </a:r>
          </a:p>
        </p:txBody>
      </p:sp>
      <p:sp>
        <p:nvSpPr>
          <p:cNvPr id="56" name="Metin kutusu 55">
            <a:extLst>
              <a:ext uri="{FF2B5EF4-FFF2-40B4-BE49-F238E27FC236}">
                <a16:creationId xmlns:a16="http://schemas.microsoft.com/office/drawing/2014/main" id="{64FDC9CE-C369-47E1-B362-AE6AB63D8317}"/>
              </a:ext>
            </a:extLst>
          </p:cNvPr>
          <p:cNvSpPr txBox="1"/>
          <p:nvPr/>
        </p:nvSpPr>
        <p:spPr>
          <a:xfrm>
            <a:off x="3509231" y="474819"/>
            <a:ext cx="3175699" cy="246221"/>
          </a:xfrm>
          <a:prstGeom prst="rect">
            <a:avLst/>
          </a:prstGeom>
          <a:noFill/>
        </p:spPr>
        <p:txBody>
          <a:bodyPr wrap="square" rtlCol="0">
            <a:spAutoFit/>
          </a:bodyPr>
          <a:lstStyle/>
          <a:p>
            <a:r>
              <a:rPr lang="tr-TR" sz="1000" noProof="1"/>
              <a:t>Aşağıda A ve B kurslarının fiyatları gösterilmiştir.</a:t>
            </a:r>
            <a:endParaRPr lang="tr-TR" sz="1000" b="1" noProof="1"/>
          </a:p>
        </p:txBody>
      </p:sp>
      <p:graphicFrame>
        <p:nvGraphicFramePr>
          <p:cNvPr id="57" name="Tablo 7">
            <a:extLst>
              <a:ext uri="{FF2B5EF4-FFF2-40B4-BE49-F238E27FC236}">
                <a16:creationId xmlns:a16="http://schemas.microsoft.com/office/drawing/2014/main" id="{1CC1E239-4A60-44E5-A69C-B9D284177E28}"/>
              </a:ext>
            </a:extLst>
          </p:cNvPr>
          <p:cNvGraphicFramePr>
            <a:graphicFrameLocks noGrp="1"/>
          </p:cNvGraphicFramePr>
          <p:nvPr>
            <p:extLst>
              <p:ext uri="{D42A27DB-BD31-4B8C-83A1-F6EECF244321}">
                <p14:modId xmlns:p14="http://schemas.microsoft.com/office/powerpoint/2010/main" val="4157353030"/>
              </p:ext>
            </p:extLst>
          </p:nvPr>
        </p:nvGraphicFramePr>
        <p:xfrm>
          <a:off x="3594338" y="711509"/>
          <a:ext cx="2354943" cy="731520"/>
        </p:xfrm>
        <a:graphic>
          <a:graphicData uri="http://schemas.openxmlformats.org/drawingml/2006/table">
            <a:tbl>
              <a:tblPr firstRow="1" bandRow="1">
                <a:tableStyleId>{7DF18680-E054-41AD-8BC1-D1AEF772440D}</a:tableStyleId>
              </a:tblPr>
              <a:tblGrid>
                <a:gridCol w="784981">
                  <a:extLst>
                    <a:ext uri="{9D8B030D-6E8A-4147-A177-3AD203B41FA5}">
                      <a16:colId xmlns:a16="http://schemas.microsoft.com/office/drawing/2014/main" val="2409797694"/>
                    </a:ext>
                  </a:extLst>
                </a:gridCol>
                <a:gridCol w="784981">
                  <a:extLst>
                    <a:ext uri="{9D8B030D-6E8A-4147-A177-3AD203B41FA5}">
                      <a16:colId xmlns:a16="http://schemas.microsoft.com/office/drawing/2014/main" val="3641841089"/>
                    </a:ext>
                  </a:extLst>
                </a:gridCol>
                <a:gridCol w="784981">
                  <a:extLst>
                    <a:ext uri="{9D8B030D-6E8A-4147-A177-3AD203B41FA5}">
                      <a16:colId xmlns:a16="http://schemas.microsoft.com/office/drawing/2014/main" val="3666377398"/>
                    </a:ext>
                  </a:extLst>
                </a:gridCol>
              </a:tblGrid>
              <a:tr h="218623">
                <a:tc>
                  <a:txBody>
                    <a:bodyPr/>
                    <a:lstStyle/>
                    <a:p>
                      <a:pPr algn="ctr"/>
                      <a:r>
                        <a:rPr lang="tr-TR" sz="1000" dirty="0"/>
                        <a:t>Kurs</a:t>
                      </a:r>
                    </a:p>
                  </a:txBody>
                  <a:tcPr/>
                </a:tc>
                <a:tc>
                  <a:txBody>
                    <a:bodyPr/>
                    <a:lstStyle/>
                    <a:p>
                      <a:pPr algn="ctr"/>
                      <a:r>
                        <a:rPr lang="tr-TR" sz="1000" dirty="0"/>
                        <a:t>Aylık</a:t>
                      </a:r>
                    </a:p>
                  </a:txBody>
                  <a:tcPr/>
                </a:tc>
                <a:tc>
                  <a:txBody>
                    <a:bodyPr/>
                    <a:lstStyle/>
                    <a:p>
                      <a:pPr algn="ctr"/>
                      <a:r>
                        <a:rPr lang="tr-TR" sz="1000" dirty="0"/>
                        <a:t>İlk Kayıt</a:t>
                      </a:r>
                    </a:p>
                  </a:txBody>
                  <a:tcPr/>
                </a:tc>
                <a:extLst>
                  <a:ext uri="{0D108BD9-81ED-4DB2-BD59-A6C34878D82A}">
                    <a16:rowId xmlns:a16="http://schemas.microsoft.com/office/drawing/2014/main" val="831317686"/>
                  </a:ext>
                </a:extLst>
              </a:tr>
              <a:tr h="218623">
                <a:tc>
                  <a:txBody>
                    <a:bodyPr/>
                    <a:lstStyle/>
                    <a:p>
                      <a:pPr algn="ctr"/>
                      <a:r>
                        <a:rPr lang="tr-TR" sz="1000" dirty="0"/>
                        <a:t>A</a:t>
                      </a:r>
                    </a:p>
                  </a:txBody>
                  <a:tcPr/>
                </a:tc>
                <a:tc>
                  <a:txBody>
                    <a:bodyPr/>
                    <a:lstStyle/>
                    <a:p>
                      <a:pPr algn="ctr"/>
                      <a:r>
                        <a:rPr lang="tr-TR" sz="1000" dirty="0"/>
                        <a:t>25 </a:t>
                      </a:r>
                      <a:r>
                        <a:rPr lang="tr-TR" sz="1000" b="0" i="0" kern="1200" dirty="0">
                          <a:solidFill>
                            <a:schemeClr val="dk1"/>
                          </a:solidFill>
                          <a:effectLst/>
                          <a:latin typeface="+mn-lt"/>
                          <a:ea typeface="+mn-ea"/>
                          <a:cs typeface="+mn-cs"/>
                        </a:rPr>
                        <a:t>₺</a:t>
                      </a:r>
                      <a:endParaRPr lang="tr-TR"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000" dirty="0"/>
                        <a:t>50 </a:t>
                      </a:r>
                      <a:r>
                        <a:rPr lang="tr-TR" sz="1000" b="0" i="0" kern="1200" dirty="0">
                          <a:solidFill>
                            <a:schemeClr val="dk1"/>
                          </a:solidFill>
                          <a:effectLst/>
                          <a:latin typeface="+mn-lt"/>
                          <a:ea typeface="+mn-ea"/>
                          <a:cs typeface="+mn-cs"/>
                        </a:rPr>
                        <a:t>₺</a:t>
                      </a:r>
                      <a:endParaRPr lang="tr-TR" sz="1000" dirty="0"/>
                    </a:p>
                  </a:txBody>
                  <a:tcPr/>
                </a:tc>
                <a:extLst>
                  <a:ext uri="{0D108BD9-81ED-4DB2-BD59-A6C34878D82A}">
                    <a16:rowId xmlns:a16="http://schemas.microsoft.com/office/drawing/2014/main" val="398302223"/>
                  </a:ext>
                </a:extLst>
              </a:tr>
              <a:tr h="233547">
                <a:tc>
                  <a:txBody>
                    <a:bodyPr/>
                    <a:lstStyle/>
                    <a:p>
                      <a:pPr algn="ctr"/>
                      <a:r>
                        <a:rPr lang="tr-TR" sz="1000" dirty="0"/>
                        <a:t>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000" dirty="0"/>
                        <a:t>10 </a:t>
                      </a:r>
                      <a:r>
                        <a:rPr lang="tr-TR" sz="1000" b="0" i="0" kern="1200" dirty="0">
                          <a:solidFill>
                            <a:schemeClr val="dk1"/>
                          </a:solidFill>
                          <a:effectLst/>
                          <a:latin typeface="+mn-lt"/>
                          <a:ea typeface="+mn-ea"/>
                          <a:cs typeface="+mn-cs"/>
                        </a:rPr>
                        <a:t>₺</a:t>
                      </a:r>
                      <a:endParaRPr lang="tr-TR"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000" dirty="0"/>
                        <a:t>250 </a:t>
                      </a:r>
                      <a:r>
                        <a:rPr lang="tr-TR" sz="1000" b="0" i="0" kern="1200" dirty="0">
                          <a:solidFill>
                            <a:schemeClr val="dk1"/>
                          </a:solidFill>
                          <a:effectLst/>
                          <a:latin typeface="+mn-lt"/>
                          <a:ea typeface="+mn-ea"/>
                          <a:cs typeface="+mn-cs"/>
                        </a:rPr>
                        <a:t>₺</a:t>
                      </a:r>
                      <a:endParaRPr lang="tr-TR" sz="1000" dirty="0"/>
                    </a:p>
                  </a:txBody>
                  <a:tcPr/>
                </a:tc>
                <a:extLst>
                  <a:ext uri="{0D108BD9-81ED-4DB2-BD59-A6C34878D82A}">
                    <a16:rowId xmlns:a16="http://schemas.microsoft.com/office/drawing/2014/main" val="4128486456"/>
                  </a:ext>
                </a:extLst>
              </a:tr>
            </a:tbl>
          </a:graphicData>
        </a:graphic>
      </p:graphicFrame>
      <p:sp>
        <p:nvSpPr>
          <p:cNvPr id="59" name="Metin kutusu 58">
            <a:extLst>
              <a:ext uri="{FF2B5EF4-FFF2-40B4-BE49-F238E27FC236}">
                <a16:creationId xmlns:a16="http://schemas.microsoft.com/office/drawing/2014/main" id="{C21DA2B7-9949-4739-9D80-75D1F7826B7A}"/>
              </a:ext>
            </a:extLst>
          </p:cNvPr>
          <p:cNvSpPr txBox="1"/>
          <p:nvPr/>
        </p:nvSpPr>
        <p:spPr>
          <a:xfrm>
            <a:off x="3499103" y="1463051"/>
            <a:ext cx="3175699" cy="400110"/>
          </a:xfrm>
          <a:prstGeom prst="rect">
            <a:avLst/>
          </a:prstGeom>
          <a:noFill/>
        </p:spPr>
        <p:txBody>
          <a:bodyPr wrap="square" rtlCol="0">
            <a:spAutoFit/>
          </a:bodyPr>
          <a:lstStyle/>
          <a:p>
            <a:r>
              <a:rPr lang="tr-TR" sz="1000" b="1" noProof="1"/>
              <a:t>Sefa, </a:t>
            </a:r>
            <a:r>
              <a:rPr lang="tr-TR" sz="1000" b="1" u="sng" noProof="1"/>
              <a:t>en az</a:t>
            </a:r>
            <a:r>
              <a:rPr lang="tr-TR" sz="1000" b="1" noProof="1"/>
              <a:t> kaç ay B kursuna giderse A kursuna göre daha avantajlı bir seçim yapmış olur?</a:t>
            </a:r>
          </a:p>
        </p:txBody>
      </p:sp>
      <p:sp>
        <p:nvSpPr>
          <p:cNvPr id="65" name="Metin kutusu 64">
            <a:extLst>
              <a:ext uri="{FF2B5EF4-FFF2-40B4-BE49-F238E27FC236}">
                <a16:creationId xmlns:a16="http://schemas.microsoft.com/office/drawing/2014/main" id="{80057AC7-CDF4-4AE4-BD35-CD8F101854FF}"/>
              </a:ext>
            </a:extLst>
          </p:cNvPr>
          <p:cNvSpPr txBox="1"/>
          <p:nvPr/>
        </p:nvSpPr>
        <p:spPr>
          <a:xfrm>
            <a:off x="3527206" y="1817078"/>
            <a:ext cx="3330793" cy="553998"/>
          </a:xfrm>
          <a:prstGeom prst="rect">
            <a:avLst/>
          </a:prstGeom>
          <a:noFill/>
        </p:spPr>
        <p:txBody>
          <a:bodyPr wrap="square" rtlCol="0">
            <a:spAutoFit/>
          </a:bodyPr>
          <a:lstStyle/>
          <a:p>
            <a:r>
              <a:rPr lang="tr-TR" sz="1000" b="0" dirty="0"/>
              <a:t>A)   </a:t>
            </a:r>
            <a:r>
              <a:rPr lang="tr-TR" sz="1000" dirty="0"/>
              <a:t>12                                       B) 13                                      C) 14</a:t>
            </a:r>
          </a:p>
          <a:p>
            <a:pPr marL="228600" indent="-228600">
              <a:buAutoNum type="alphaUcParenR"/>
            </a:pPr>
            <a:endParaRPr lang="tr-TR" sz="1000" dirty="0"/>
          </a:p>
          <a:p>
            <a:r>
              <a:rPr lang="tr-TR" sz="1000" dirty="0"/>
              <a:t>                          D) 24                                     E) 27</a:t>
            </a:r>
            <a:endParaRPr lang="tr-TR" sz="1000" b="1" dirty="0"/>
          </a:p>
        </p:txBody>
      </p:sp>
      <p:sp>
        <p:nvSpPr>
          <p:cNvPr id="70" name="Metin kutusu 69">
            <a:extLst>
              <a:ext uri="{FF2B5EF4-FFF2-40B4-BE49-F238E27FC236}">
                <a16:creationId xmlns:a16="http://schemas.microsoft.com/office/drawing/2014/main" id="{9CD9BD7F-CF7B-4EC6-AEE9-F327B43E90B4}"/>
              </a:ext>
            </a:extLst>
          </p:cNvPr>
          <p:cNvSpPr txBox="1"/>
          <p:nvPr/>
        </p:nvSpPr>
        <p:spPr>
          <a:xfrm>
            <a:off x="113189" y="469938"/>
            <a:ext cx="3234760" cy="553998"/>
          </a:xfrm>
          <a:prstGeom prst="rect">
            <a:avLst/>
          </a:prstGeom>
          <a:noFill/>
        </p:spPr>
        <p:txBody>
          <a:bodyPr wrap="square" rtlCol="0">
            <a:spAutoFit/>
          </a:bodyPr>
          <a:lstStyle/>
          <a:p>
            <a:r>
              <a:rPr lang="tr-TR" sz="1000" dirty="0"/>
              <a:t>Bir mağazada güller deste halinde, papatyalar ise düzine halinde paketleniyor. </a:t>
            </a:r>
            <a:r>
              <a:rPr lang="tr-TR" sz="1000" b="1" dirty="0"/>
              <a:t>Gül sayısı papatya sayısından 40 fazla ise Serhat`ın sipariş ettiği </a:t>
            </a:r>
            <a:r>
              <a:rPr lang="tr-TR" sz="1000" b="1" u="sng" dirty="0"/>
              <a:t>paket</a:t>
            </a:r>
            <a:r>
              <a:rPr lang="tr-TR" sz="1000" b="1" dirty="0"/>
              <a:t> sayıları kaç olabilir? </a:t>
            </a:r>
          </a:p>
        </p:txBody>
      </p:sp>
      <p:sp>
        <p:nvSpPr>
          <p:cNvPr id="72" name="Metin kutusu 71">
            <a:extLst>
              <a:ext uri="{FF2B5EF4-FFF2-40B4-BE49-F238E27FC236}">
                <a16:creationId xmlns:a16="http://schemas.microsoft.com/office/drawing/2014/main" id="{D862ACF0-DF74-4FE9-8930-8A92B8C546E2}"/>
              </a:ext>
            </a:extLst>
          </p:cNvPr>
          <p:cNvSpPr txBox="1"/>
          <p:nvPr/>
        </p:nvSpPr>
        <p:spPr>
          <a:xfrm>
            <a:off x="578380" y="1055851"/>
            <a:ext cx="1082229" cy="246221"/>
          </a:xfrm>
          <a:prstGeom prst="rect">
            <a:avLst/>
          </a:prstGeom>
          <a:noFill/>
        </p:spPr>
        <p:txBody>
          <a:bodyPr wrap="square" rtlCol="0">
            <a:spAutoFit/>
          </a:bodyPr>
          <a:lstStyle/>
          <a:p>
            <a:r>
              <a:rPr lang="tr-TR" sz="1000" u="sng" dirty="0"/>
              <a:t>Gül Paket Sayısı</a:t>
            </a:r>
          </a:p>
        </p:txBody>
      </p:sp>
      <p:sp>
        <p:nvSpPr>
          <p:cNvPr id="73" name="Metin kutusu 72">
            <a:extLst>
              <a:ext uri="{FF2B5EF4-FFF2-40B4-BE49-F238E27FC236}">
                <a16:creationId xmlns:a16="http://schemas.microsoft.com/office/drawing/2014/main" id="{FC5452AA-F230-4558-B345-6C8C2B3C1E4E}"/>
              </a:ext>
            </a:extLst>
          </p:cNvPr>
          <p:cNvSpPr txBox="1"/>
          <p:nvPr/>
        </p:nvSpPr>
        <p:spPr>
          <a:xfrm>
            <a:off x="1819687" y="1052773"/>
            <a:ext cx="1242223" cy="246221"/>
          </a:xfrm>
          <a:prstGeom prst="rect">
            <a:avLst/>
          </a:prstGeom>
          <a:noFill/>
        </p:spPr>
        <p:txBody>
          <a:bodyPr wrap="square" rtlCol="0">
            <a:spAutoFit/>
          </a:bodyPr>
          <a:lstStyle/>
          <a:p>
            <a:r>
              <a:rPr lang="tr-TR" sz="1000" u="sng" dirty="0"/>
              <a:t>Papatya Paket Sayısı</a:t>
            </a:r>
          </a:p>
        </p:txBody>
      </p:sp>
      <p:sp>
        <p:nvSpPr>
          <p:cNvPr id="74" name="Metin kutusu 73">
            <a:extLst>
              <a:ext uri="{FF2B5EF4-FFF2-40B4-BE49-F238E27FC236}">
                <a16:creationId xmlns:a16="http://schemas.microsoft.com/office/drawing/2014/main" id="{A6B53973-8190-4EB8-B47E-923161F956F8}"/>
              </a:ext>
            </a:extLst>
          </p:cNvPr>
          <p:cNvSpPr txBox="1"/>
          <p:nvPr/>
        </p:nvSpPr>
        <p:spPr>
          <a:xfrm>
            <a:off x="61920" y="1299494"/>
            <a:ext cx="3126956" cy="1477328"/>
          </a:xfrm>
          <a:prstGeom prst="rect">
            <a:avLst/>
          </a:prstGeom>
          <a:noFill/>
        </p:spPr>
        <p:txBody>
          <a:bodyPr wrap="square" rtlCol="0">
            <a:spAutoFit/>
          </a:bodyPr>
          <a:lstStyle/>
          <a:p>
            <a:r>
              <a:rPr lang="tr-TR" sz="1000" dirty="0"/>
              <a:t>A)                           9                                             4              </a:t>
            </a:r>
          </a:p>
          <a:p>
            <a:endParaRPr lang="tr-TR" sz="1000" dirty="0"/>
          </a:p>
          <a:p>
            <a:r>
              <a:rPr lang="tr-TR" sz="1000" dirty="0"/>
              <a:t>B )                        10                                            5 </a:t>
            </a:r>
          </a:p>
          <a:p>
            <a:endParaRPr lang="tr-TR" sz="1000" dirty="0"/>
          </a:p>
          <a:p>
            <a:r>
              <a:rPr lang="tr-TR" sz="1000" dirty="0"/>
              <a:t>C )                          8                                            3 </a:t>
            </a:r>
          </a:p>
          <a:p>
            <a:endParaRPr lang="tr-TR" sz="1000" dirty="0"/>
          </a:p>
          <a:p>
            <a:r>
              <a:rPr lang="tr-TR" sz="1000" dirty="0"/>
              <a:t>D )                        15                                          55 </a:t>
            </a:r>
          </a:p>
          <a:p>
            <a:endParaRPr lang="tr-TR" sz="1000" dirty="0"/>
          </a:p>
          <a:p>
            <a:r>
              <a:rPr lang="tr-TR" sz="1000" dirty="0"/>
              <a:t>E )                        70                                          30 </a:t>
            </a:r>
          </a:p>
        </p:txBody>
      </p:sp>
      <p:sp>
        <p:nvSpPr>
          <p:cNvPr id="75" name="Metin kutusu 74">
            <a:extLst>
              <a:ext uri="{FF2B5EF4-FFF2-40B4-BE49-F238E27FC236}">
                <a16:creationId xmlns:a16="http://schemas.microsoft.com/office/drawing/2014/main" id="{F4355AF1-CC4B-48D8-8BC3-41E08B029248}"/>
              </a:ext>
            </a:extLst>
          </p:cNvPr>
          <p:cNvSpPr txBox="1"/>
          <p:nvPr/>
        </p:nvSpPr>
        <p:spPr>
          <a:xfrm>
            <a:off x="81512" y="4738518"/>
            <a:ext cx="3347487" cy="1323439"/>
          </a:xfrm>
          <a:prstGeom prst="rect">
            <a:avLst/>
          </a:prstGeom>
          <a:noFill/>
        </p:spPr>
        <p:txBody>
          <a:bodyPr wrap="square" rtlCol="0">
            <a:spAutoFit/>
          </a:bodyPr>
          <a:lstStyle/>
          <a:p>
            <a:r>
              <a:rPr lang="tr-TR" sz="1000" dirty="0"/>
              <a:t>Ana haber bülteni sunucusu Berrin Hanım, 20.00 saatinde aralıksız 30 dakika haber sunmuş ve araya 1 dakika reklam girmiştir. Haber için hep aynı zaman ayıran kanalda reklamlar, bir önceki reklamın süresinin ardışığını mevcut süreye ilave edilerek belirlenmektedir.</a:t>
            </a:r>
          </a:p>
          <a:p>
            <a:endParaRPr lang="tr-TR" sz="1000" b="1" dirty="0"/>
          </a:p>
          <a:p>
            <a:r>
              <a:rPr lang="tr-TR" sz="1000" b="1" dirty="0"/>
              <a:t>Buna göre, Berrin Hanım toplam 120 dakika haber sunumu bittiği anda saat kaçtır?</a:t>
            </a:r>
          </a:p>
        </p:txBody>
      </p:sp>
      <p:sp>
        <p:nvSpPr>
          <p:cNvPr id="76" name="Metin kutusu 75">
            <a:extLst>
              <a:ext uri="{FF2B5EF4-FFF2-40B4-BE49-F238E27FC236}">
                <a16:creationId xmlns:a16="http://schemas.microsoft.com/office/drawing/2014/main" id="{DC1D4C09-4AD2-4CC5-88FE-4A502AE774AB}"/>
              </a:ext>
            </a:extLst>
          </p:cNvPr>
          <p:cNvSpPr txBox="1"/>
          <p:nvPr/>
        </p:nvSpPr>
        <p:spPr>
          <a:xfrm>
            <a:off x="59241" y="6012382"/>
            <a:ext cx="3234757" cy="553998"/>
          </a:xfrm>
          <a:prstGeom prst="rect">
            <a:avLst/>
          </a:prstGeom>
          <a:noFill/>
        </p:spPr>
        <p:txBody>
          <a:bodyPr wrap="square" rtlCol="0">
            <a:spAutoFit/>
          </a:bodyPr>
          <a:lstStyle/>
          <a:p>
            <a:r>
              <a:rPr lang="tr-TR" sz="1000" dirty="0"/>
              <a:t>A)  22.20                             B) 22.26                           C) 22.10        </a:t>
            </a:r>
          </a:p>
          <a:p>
            <a:pPr marL="228600" indent="-228600">
              <a:buAutoNum type="alphaUcParenR"/>
            </a:pPr>
            <a:endParaRPr lang="tr-TR" sz="1000" dirty="0"/>
          </a:p>
          <a:p>
            <a:r>
              <a:rPr lang="tr-TR" sz="1000" dirty="0"/>
              <a:t>                         D) 22.46                           E) 22.11</a:t>
            </a:r>
            <a:endParaRPr lang="tr-TR" sz="1000" b="1" dirty="0"/>
          </a:p>
        </p:txBody>
      </p:sp>
    </p:spTree>
    <p:extLst>
      <p:ext uri="{BB962C8B-B14F-4D97-AF65-F5344CB8AC3E}">
        <p14:creationId xmlns:p14="http://schemas.microsoft.com/office/powerpoint/2010/main" val="11742371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2</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51680" y="441132"/>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36454" y="4586464"/>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84928" y="5316240"/>
            <a:ext cx="36289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8" name="Metin kutusu 57">
            <a:extLst>
              <a:ext uri="{FF2B5EF4-FFF2-40B4-BE49-F238E27FC236}">
                <a16:creationId xmlns:a16="http://schemas.microsoft.com/office/drawing/2014/main" id="{46E0D5C7-D2D0-4E7E-8674-66466154E98B}"/>
              </a:ext>
            </a:extLst>
          </p:cNvPr>
          <p:cNvSpPr txBox="1"/>
          <p:nvPr/>
        </p:nvSpPr>
        <p:spPr>
          <a:xfrm>
            <a:off x="3488490" y="471860"/>
            <a:ext cx="3702028" cy="861774"/>
          </a:xfrm>
          <a:prstGeom prst="rect">
            <a:avLst/>
          </a:prstGeom>
          <a:noFill/>
        </p:spPr>
        <p:txBody>
          <a:bodyPr wrap="square" rtlCol="0">
            <a:spAutoFit/>
          </a:bodyPr>
          <a:lstStyle/>
          <a:p>
            <a:r>
              <a:rPr lang="tr-TR" sz="1000" noProof="1">
                <a:cs typeface="Arial" panose="020B0604020202020204" pitchFamily="34" charset="0"/>
              </a:rPr>
              <a:t>Bir kantinde 2 tost fiyatına 3 bardak çay alınabilmektedir.</a:t>
            </a:r>
          </a:p>
          <a:p>
            <a:r>
              <a:rPr lang="tr-TR" sz="1000" noProof="1">
                <a:cs typeface="Arial" panose="020B0604020202020204" pitchFamily="34" charset="0"/>
              </a:rPr>
              <a:t>3 bardak çay fiyatına 4 tane patlamış mısır alınabilmektedir.</a:t>
            </a:r>
          </a:p>
          <a:p>
            <a:endParaRPr lang="tr-TR" sz="1000" noProof="1">
              <a:cs typeface="Arial" panose="020B0604020202020204" pitchFamily="34" charset="0"/>
            </a:endParaRPr>
          </a:p>
          <a:p>
            <a:r>
              <a:rPr lang="tr-TR" sz="1000" b="1" noProof="1">
                <a:cs typeface="Arial" panose="020B0604020202020204" pitchFamily="34" charset="0"/>
              </a:rPr>
              <a:t>Buna göre, 14 tost fiyatına kaç tane patlamış mısır alınabilmektedir? </a:t>
            </a:r>
          </a:p>
        </p:txBody>
      </p:sp>
      <p:sp>
        <p:nvSpPr>
          <p:cNvPr id="60" name="Metin kutusu 59">
            <a:extLst>
              <a:ext uri="{FF2B5EF4-FFF2-40B4-BE49-F238E27FC236}">
                <a16:creationId xmlns:a16="http://schemas.microsoft.com/office/drawing/2014/main" id="{380CFD8B-A448-4F49-ACCE-E2A9557B7206}"/>
              </a:ext>
            </a:extLst>
          </p:cNvPr>
          <p:cNvSpPr txBox="1"/>
          <p:nvPr/>
        </p:nvSpPr>
        <p:spPr>
          <a:xfrm>
            <a:off x="3494444" y="1264237"/>
            <a:ext cx="3346451" cy="553998"/>
          </a:xfrm>
          <a:prstGeom prst="rect">
            <a:avLst/>
          </a:prstGeom>
          <a:noFill/>
        </p:spPr>
        <p:txBody>
          <a:bodyPr wrap="square" rtlCol="0">
            <a:spAutoFit/>
          </a:bodyPr>
          <a:lstStyle/>
          <a:p>
            <a:r>
              <a:rPr lang="tr-TR" sz="1000" dirty="0"/>
              <a:t>A) 15                                        B) 21                                        C) 24</a:t>
            </a:r>
          </a:p>
          <a:p>
            <a:pPr marL="228600" indent="-228600">
              <a:buAutoNum type="alphaUcParenR"/>
            </a:pPr>
            <a:endParaRPr lang="tr-TR" sz="1000" dirty="0"/>
          </a:p>
          <a:p>
            <a:r>
              <a:rPr lang="tr-TR" sz="1000" dirty="0"/>
              <a:t>                      D) 26                                        E) 28</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5217" y="8839682"/>
            <a:ext cx="163401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6.B     7.E    8.E    9.D   10.C</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48" name="Metin kutusu 47">
            <a:extLst>
              <a:ext uri="{FF2B5EF4-FFF2-40B4-BE49-F238E27FC236}">
                <a16:creationId xmlns:a16="http://schemas.microsoft.com/office/drawing/2014/main" id="{3B08AFB0-18B3-452F-97BA-44C6846B0E7B}"/>
              </a:ext>
            </a:extLst>
          </p:cNvPr>
          <p:cNvSpPr txBox="1"/>
          <p:nvPr/>
        </p:nvSpPr>
        <p:spPr>
          <a:xfrm>
            <a:off x="3366411" y="318682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61" name="Metin kutusu 60">
            <a:extLst>
              <a:ext uri="{FF2B5EF4-FFF2-40B4-BE49-F238E27FC236}">
                <a16:creationId xmlns:a16="http://schemas.microsoft.com/office/drawing/2014/main" id="{70A8610F-6892-449A-B067-43019CBFC6A7}"/>
              </a:ext>
            </a:extLst>
          </p:cNvPr>
          <p:cNvSpPr txBox="1"/>
          <p:nvPr/>
        </p:nvSpPr>
        <p:spPr>
          <a:xfrm>
            <a:off x="3515024" y="3218977"/>
            <a:ext cx="3320184" cy="400110"/>
          </a:xfrm>
          <a:prstGeom prst="rect">
            <a:avLst/>
          </a:prstGeom>
          <a:noFill/>
        </p:spPr>
        <p:txBody>
          <a:bodyPr wrap="square" rtlCol="0">
            <a:spAutoFit/>
          </a:bodyPr>
          <a:lstStyle/>
          <a:p>
            <a:r>
              <a:rPr lang="tr-TR" sz="1000" b="1" noProof="1">
                <a:cs typeface="Arial" panose="020B0604020202020204" pitchFamily="34" charset="0"/>
              </a:rPr>
              <a:t>36 basamaklı bir merdivene ikişer ikişer çıkıp, dönüşte üçer üçer inen Beyza toplamda merdivende kaç adım atmıştır? </a:t>
            </a:r>
            <a:endParaRPr lang="tr-TR" sz="1000" noProof="1">
              <a:cs typeface="Arial" panose="020B0604020202020204" pitchFamily="34" charset="0"/>
            </a:endParaRPr>
          </a:p>
        </p:txBody>
      </p:sp>
      <p:sp>
        <p:nvSpPr>
          <p:cNvPr id="64" name="Metin kutusu 63">
            <a:extLst>
              <a:ext uri="{FF2B5EF4-FFF2-40B4-BE49-F238E27FC236}">
                <a16:creationId xmlns:a16="http://schemas.microsoft.com/office/drawing/2014/main" id="{866F2D7B-27C8-478B-AF1A-370FCE3C9C3F}"/>
              </a:ext>
            </a:extLst>
          </p:cNvPr>
          <p:cNvSpPr txBox="1"/>
          <p:nvPr/>
        </p:nvSpPr>
        <p:spPr>
          <a:xfrm>
            <a:off x="3507187" y="3562578"/>
            <a:ext cx="3284216" cy="553998"/>
          </a:xfrm>
          <a:prstGeom prst="rect">
            <a:avLst/>
          </a:prstGeom>
          <a:noFill/>
        </p:spPr>
        <p:txBody>
          <a:bodyPr wrap="square" rtlCol="0">
            <a:spAutoFit/>
          </a:bodyPr>
          <a:lstStyle/>
          <a:p>
            <a:r>
              <a:rPr lang="tr-TR" sz="1000" dirty="0"/>
              <a:t>A) 12                                       B) 15                                     C) 20</a:t>
            </a:r>
          </a:p>
          <a:p>
            <a:pPr marL="228600" indent="-228600">
              <a:buAutoNum type="alphaUcParenR"/>
            </a:pPr>
            <a:endParaRPr lang="tr-TR" sz="1000" dirty="0"/>
          </a:p>
          <a:p>
            <a:r>
              <a:rPr lang="tr-TR" sz="1000" dirty="0"/>
              <a:t>                      D) 30                                        E) 24</a:t>
            </a:r>
          </a:p>
        </p:txBody>
      </p:sp>
      <p:sp>
        <p:nvSpPr>
          <p:cNvPr id="47" name="Dikdörtgen: Köşeleri Yuvarlatılmış 46">
            <a:extLst>
              <a:ext uri="{FF2B5EF4-FFF2-40B4-BE49-F238E27FC236}">
                <a16:creationId xmlns:a16="http://schemas.microsoft.com/office/drawing/2014/main" id="{4E5866C9-9CB3-4252-B393-8801252F4E89}"/>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5" name="Oval 54">
            <a:extLst>
              <a:ext uri="{FF2B5EF4-FFF2-40B4-BE49-F238E27FC236}">
                <a16:creationId xmlns:a16="http://schemas.microsoft.com/office/drawing/2014/main" id="{494062E4-A24F-4C62-A4C4-516A1E6F50D9}"/>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9" name="Metin kutusu 58">
            <a:extLst>
              <a:ext uri="{FF2B5EF4-FFF2-40B4-BE49-F238E27FC236}">
                <a16:creationId xmlns:a16="http://schemas.microsoft.com/office/drawing/2014/main" id="{A271A64D-A2F1-4BA3-8B04-82D7D431D2DD}"/>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63" name="Metin kutusu 62">
            <a:extLst>
              <a:ext uri="{FF2B5EF4-FFF2-40B4-BE49-F238E27FC236}">
                <a16:creationId xmlns:a16="http://schemas.microsoft.com/office/drawing/2014/main" id="{F98BDB01-0EB4-42F7-B6CE-1A091287B696}"/>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65" name="Oval 64">
            <a:extLst>
              <a:ext uri="{FF2B5EF4-FFF2-40B4-BE49-F238E27FC236}">
                <a16:creationId xmlns:a16="http://schemas.microsoft.com/office/drawing/2014/main" id="{DC1406C2-C0C6-4C9A-A799-8E7B7C917FBB}"/>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67" name="Düz Bağlayıcı 66">
            <a:extLst>
              <a:ext uri="{FF2B5EF4-FFF2-40B4-BE49-F238E27FC236}">
                <a16:creationId xmlns:a16="http://schemas.microsoft.com/office/drawing/2014/main" id="{3D88D3F9-1084-40E6-9ED0-A39D4592FDD6}"/>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68" name="Metin kutusu 67">
            <a:extLst>
              <a:ext uri="{FF2B5EF4-FFF2-40B4-BE49-F238E27FC236}">
                <a16:creationId xmlns:a16="http://schemas.microsoft.com/office/drawing/2014/main" id="{F17C6FC4-8624-430E-82A2-26ED1EAD55FF}"/>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69" name="Oval 68">
            <a:extLst>
              <a:ext uri="{FF2B5EF4-FFF2-40B4-BE49-F238E27FC236}">
                <a16:creationId xmlns:a16="http://schemas.microsoft.com/office/drawing/2014/main" id="{863CAAFD-4370-4BB9-ABFC-32DF0EDBAD61}"/>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0" name="Metin kutusu 69">
            <a:extLst>
              <a:ext uri="{FF2B5EF4-FFF2-40B4-BE49-F238E27FC236}">
                <a16:creationId xmlns:a16="http://schemas.microsoft.com/office/drawing/2014/main" id="{75D6DF93-12A9-4326-B391-6B39D0DFA0CF}"/>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71" name="Oval 70">
            <a:extLst>
              <a:ext uri="{FF2B5EF4-FFF2-40B4-BE49-F238E27FC236}">
                <a16:creationId xmlns:a16="http://schemas.microsoft.com/office/drawing/2014/main" id="{2053DDBE-2341-46D5-9D3F-4FC4650D4CC8}"/>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2" name="Düz Bağlayıcı 71">
            <a:extLst>
              <a:ext uri="{FF2B5EF4-FFF2-40B4-BE49-F238E27FC236}">
                <a16:creationId xmlns:a16="http://schemas.microsoft.com/office/drawing/2014/main" id="{CE8EE4B0-8E5A-4799-B3EF-EEDDB88EE914}"/>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Düz Bağlayıcı 72">
            <a:extLst>
              <a:ext uri="{FF2B5EF4-FFF2-40B4-BE49-F238E27FC236}">
                <a16:creationId xmlns:a16="http://schemas.microsoft.com/office/drawing/2014/main" id="{4901A52D-1FB7-41D8-B497-7346B2BBE310}"/>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9" name="Metin kutusu 78">
            <a:extLst>
              <a:ext uri="{FF2B5EF4-FFF2-40B4-BE49-F238E27FC236}">
                <a16:creationId xmlns:a16="http://schemas.microsoft.com/office/drawing/2014/main" id="{CFA0FFED-2A31-4D88-A318-D956555F834A}"/>
              </a:ext>
            </a:extLst>
          </p:cNvPr>
          <p:cNvSpPr txBox="1"/>
          <p:nvPr/>
        </p:nvSpPr>
        <p:spPr>
          <a:xfrm>
            <a:off x="77770" y="475212"/>
            <a:ext cx="3124517" cy="707886"/>
          </a:xfrm>
          <a:prstGeom prst="rect">
            <a:avLst/>
          </a:prstGeom>
          <a:noFill/>
        </p:spPr>
        <p:txBody>
          <a:bodyPr wrap="square" rtlCol="0">
            <a:spAutoFit/>
          </a:bodyPr>
          <a:lstStyle/>
          <a:p>
            <a:r>
              <a:rPr lang="tr-TR" sz="1000" dirty="0"/>
              <a:t>Dijital saatte bir rakamı ifade edebilmek için aralarında boşluklar olan çubuklar kullanılır. Örneğin 1 ( </a:t>
            </a:r>
            <a:r>
              <a:rPr lang="tr-TR" sz="1000" dirty="0">
                <a:solidFill>
                  <a:schemeClr val="accent2">
                    <a:lumMod val="50000"/>
                  </a:schemeClr>
                </a:solidFill>
                <a:latin typeface="Digital-7" panose="02000000000000000000" pitchFamily="2" charset="0"/>
                <a:cs typeface="Arial" panose="020B0604020202020204" pitchFamily="34" charset="0"/>
              </a:rPr>
              <a:t>1 </a:t>
            </a:r>
            <a:r>
              <a:rPr lang="tr-TR" sz="1000" dirty="0">
                <a:latin typeface="Arial" panose="020B0604020202020204" pitchFamily="34" charset="0"/>
                <a:cs typeface="Arial" panose="020B0604020202020204" pitchFamily="34" charset="0"/>
              </a:rPr>
              <a:t>)</a:t>
            </a:r>
            <a:r>
              <a:rPr lang="tr-TR" sz="1000" dirty="0">
                <a:solidFill>
                  <a:schemeClr val="accent2">
                    <a:lumMod val="50000"/>
                  </a:schemeClr>
                </a:solidFill>
                <a:latin typeface="Digital-7" panose="02000000000000000000" pitchFamily="2" charset="0"/>
                <a:cs typeface="Arial" panose="020B0604020202020204" pitchFamily="34" charset="0"/>
              </a:rPr>
              <a:t> </a:t>
            </a:r>
            <a:r>
              <a:rPr lang="tr-TR" sz="1000" dirty="0"/>
              <a:t>rakamını elde etmek için 2 adet çubuk kullanılır. Aşağıda dijital saat ve tarih göstergesi verilmiştir.</a:t>
            </a:r>
            <a:endParaRPr lang="tr-TR" sz="1500" dirty="0"/>
          </a:p>
        </p:txBody>
      </p:sp>
      <p:sp>
        <p:nvSpPr>
          <p:cNvPr id="80" name="Dikdörtgen 79">
            <a:extLst>
              <a:ext uri="{FF2B5EF4-FFF2-40B4-BE49-F238E27FC236}">
                <a16:creationId xmlns:a16="http://schemas.microsoft.com/office/drawing/2014/main" id="{C08B9BF3-3EE3-4419-9DB7-841F27F3DB93}"/>
              </a:ext>
            </a:extLst>
          </p:cNvPr>
          <p:cNvSpPr/>
          <p:nvPr/>
        </p:nvSpPr>
        <p:spPr>
          <a:xfrm>
            <a:off x="173636" y="1173526"/>
            <a:ext cx="1080120" cy="517488"/>
          </a:xfrm>
          <a:prstGeom prst="rect">
            <a:avLst/>
          </a:prstGeom>
          <a:solidFill>
            <a:srgbClr val="FFFF00"/>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1" name="Metin kutusu 80">
            <a:extLst>
              <a:ext uri="{FF2B5EF4-FFF2-40B4-BE49-F238E27FC236}">
                <a16:creationId xmlns:a16="http://schemas.microsoft.com/office/drawing/2014/main" id="{D10F529E-F002-4F48-B689-80E6B89CDEFC}"/>
              </a:ext>
            </a:extLst>
          </p:cNvPr>
          <p:cNvSpPr txBox="1"/>
          <p:nvPr/>
        </p:nvSpPr>
        <p:spPr>
          <a:xfrm>
            <a:off x="153471" y="1163022"/>
            <a:ext cx="1080119" cy="553998"/>
          </a:xfrm>
          <a:prstGeom prst="rect">
            <a:avLst/>
          </a:prstGeom>
          <a:noFill/>
        </p:spPr>
        <p:txBody>
          <a:bodyPr wrap="square" rtlCol="0">
            <a:spAutoFit/>
          </a:bodyPr>
          <a:lstStyle/>
          <a:p>
            <a:pPr algn="ctr"/>
            <a:r>
              <a:rPr lang="tr-TR" sz="3000" dirty="0">
                <a:latin typeface="Digital-7" panose="02000000000000000000" pitchFamily="2" charset="0"/>
                <a:cs typeface="Arial" panose="020B0604020202020204" pitchFamily="34" charset="0"/>
              </a:rPr>
              <a:t>23.44</a:t>
            </a:r>
          </a:p>
        </p:txBody>
      </p:sp>
      <p:sp>
        <p:nvSpPr>
          <p:cNvPr id="82" name="Dikdörtgen 81">
            <a:extLst>
              <a:ext uri="{FF2B5EF4-FFF2-40B4-BE49-F238E27FC236}">
                <a16:creationId xmlns:a16="http://schemas.microsoft.com/office/drawing/2014/main" id="{7534E4F9-401D-4EA5-9B30-F02B28AFB844}"/>
              </a:ext>
            </a:extLst>
          </p:cNvPr>
          <p:cNvSpPr/>
          <p:nvPr/>
        </p:nvSpPr>
        <p:spPr>
          <a:xfrm>
            <a:off x="1444929" y="1181123"/>
            <a:ext cx="1777521" cy="517488"/>
          </a:xfrm>
          <a:prstGeom prst="rect">
            <a:avLst/>
          </a:prstGeom>
          <a:solidFill>
            <a:srgbClr val="FFFF00"/>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3" name="Metin kutusu 82">
            <a:extLst>
              <a:ext uri="{FF2B5EF4-FFF2-40B4-BE49-F238E27FC236}">
                <a16:creationId xmlns:a16="http://schemas.microsoft.com/office/drawing/2014/main" id="{8D94BB9E-B434-4059-92C8-4E73E3C9B72A}"/>
              </a:ext>
            </a:extLst>
          </p:cNvPr>
          <p:cNvSpPr txBox="1"/>
          <p:nvPr/>
        </p:nvSpPr>
        <p:spPr>
          <a:xfrm>
            <a:off x="1422186" y="1159231"/>
            <a:ext cx="1868455" cy="553998"/>
          </a:xfrm>
          <a:prstGeom prst="rect">
            <a:avLst/>
          </a:prstGeom>
          <a:noFill/>
        </p:spPr>
        <p:txBody>
          <a:bodyPr wrap="square" rtlCol="0">
            <a:spAutoFit/>
          </a:bodyPr>
          <a:lstStyle/>
          <a:p>
            <a:pPr algn="ctr"/>
            <a:r>
              <a:rPr lang="tr-TR" sz="3000" dirty="0">
                <a:latin typeface="Digital-7" panose="02000000000000000000" pitchFamily="2" charset="0"/>
                <a:cs typeface="Arial" panose="020B0604020202020204" pitchFamily="34" charset="0"/>
              </a:rPr>
              <a:t>11 . 07 . 2021</a:t>
            </a:r>
          </a:p>
        </p:txBody>
      </p:sp>
      <p:sp>
        <p:nvSpPr>
          <p:cNvPr id="84" name="Metin kutusu 83">
            <a:extLst>
              <a:ext uri="{FF2B5EF4-FFF2-40B4-BE49-F238E27FC236}">
                <a16:creationId xmlns:a16="http://schemas.microsoft.com/office/drawing/2014/main" id="{E293A9AD-944A-4426-9C58-62A742D6A858}"/>
              </a:ext>
            </a:extLst>
          </p:cNvPr>
          <p:cNvSpPr txBox="1"/>
          <p:nvPr/>
        </p:nvSpPr>
        <p:spPr>
          <a:xfrm>
            <a:off x="77770" y="1690500"/>
            <a:ext cx="3273910" cy="400110"/>
          </a:xfrm>
          <a:prstGeom prst="rect">
            <a:avLst/>
          </a:prstGeom>
          <a:noFill/>
        </p:spPr>
        <p:txBody>
          <a:bodyPr wrap="square" rtlCol="0">
            <a:spAutoFit/>
          </a:bodyPr>
          <a:lstStyle/>
          <a:p>
            <a:r>
              <a:rPr lang="tr-TR" sz="1000" b="1" dirty="0"/>
              <a:t>Bu zamana 1 yıl , 16 dakika eklendiğinde ilk duruma göre göstergedeki çubuk sayısındaki değişim kaçtır? </a:t>
            </a:r>
          </a:p>
        </p:txBody>
      </p:sp>
      <p:sp>
        <p:nvSpPr>
          <p:cNvPr id="85" name="Metin kutusu 84">
            <a:extLst>
              <a:ext uri="{FF2B5EF4-FFF2-40B4-BE49-F238E27FC236}">
                <a16:creationId xmlns:a16="http://schemas.microsoft.com/office/drawing/2014/main" id="{D62EE55F-3930-4B7E-98AA-9789FB316092}"/>
              </a:ext>
            </a:extLst>
          </p:cNvPr>
          <p:cNvSpPr txBox="1"/>
          <p:nvPr/>
        </p:nvSpPr>
        <p:spPr>
          <a:xfrm>
            <a:off x="92929" y="2035219"/>
            <a:ext cx="3153780" cy="553998"/>
          </a:xfrm>
          <a:prstGeom prst="rect">
            <a:avLst/>
          </a:prstGeom>
          <a:noFill/>
        </p:spPr>
        <p:txBody>
          <a:bodyPr wrap="square" rtlCol="0">
            <a:spAutoFit/>
          </a:bodyPr>
          <a:lstStyle/>
          <a:p>
            <a:r>
              <a:rPr lang="tr-TR" sz="1000" dirty="0"/>
              <a:t>A)   9                                   B) 12                                    C) 16</a:t>
            </a:r>
          </a:p>
          <a:p>
            <a:pPr marL="228600" indent="-228600">
              <a:buAutoNum type="alphaUcParenR"/>
            </a:pPr>
            <a:endParaRPr lang="tr-TR" sz="1000" dirty="0"/>
          </a:p>
          <a:p>
            <a:r>
              <a:rPr lang="tr-TR" sz="1000" dirty="0"/>
              <a:t>                          D) 20                                E) 6</a:t>
            </a:r>
            <a:endParaRPr lang="tr-TR" sz="1000" b="1" dirty="0"/>
          </a:p>
        </p:txBody>
      </p:sp>
      <p:pic>
        <p:nvPicPr>
          <p:cNvPr id="86" name="Picture 2" descr="C:\Users\Pc\AppData\Local\Microsoft\Windows\Temporary Internet Files\Content.IE5\QHVV6T9T\book-46356_960_720[1].png">
            <a:extLst>
              <a:ext uri="{FF2B5EF4-FFF2-40B4-BE49-F238E27FC236}">
                <a16:creationId xmlns:a16="http://schemas.microsoft.com/office/drawing/2014/main" id="{4EB777A6-0C9E-4F02-AE43-7DE64A1203B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28357" y="5632993"/>
            <a:ext cx="1630236" cy="61725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3" descr="C:\Users\Pc\AppData\Local\Microsoft\Windows\Temporary Internet Files\Content.IE5\GE4A7UL2\nautical-star-1144619_960_720[1].png">
            <a:extLst>
              <a:ext uri="{FF2B5EF4-FFF2-40B4-BE49-F238E27FC236}">
                <a16:creationId xmlns:a16="http://schemas.microsoft.com/office/drawing/2014/main" id="{9C14C9FC-A42B-4B11-8099-FAFDA570107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9460" y="5981984"/>
            <a:ext cx="158594" cy="1508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8" name="Picture 4" descr="C:\Users\Pc\AppData\Local\Microsoft\Windows\Temporary Internet Files\Content.IE5\Y5CZX9ZW\fish-304786_960_720[1].png">
            <a:extLst>
              <a:ext uri="{FF2B5EF4-FFF2-40B4-BE49-F238E27FC236}">
                <a16:creationId xmlns:a16="http://schemas.microsoft.com/office/drawing/2014/main" id="{D763E495-33CE-48FA-92C2-B86B3FDC959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59011" y="5933616"/>
            <a:ext cx="208659" cy="1508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9" name="Metin kutusu 88">
            <a:extLst>
              <a:ext uri="{FF2B5EF4-FFF2-40B4-BE49-F238E27FC236}">
                <a16:creationId xmlns:a16="http://schemas.microsoft.com/office/drawing/2014/main" id="{182715B1-B47F-4DC8-8EDC-0F6FFA0D7EC3}"/>
              </a:ext>
            </a:extLst>
          </p:cNvPr>
          <p:cNvSpPr txBox="1"/>
          <p:nvPr/>
        </p:nvSpPr>
        <p:spPr>
          <a:xfrm>
            <a:off x="3601042" y="5351506"/>
            <a:ext cx="3155625" cy="246221"/>
          </a:xfrm>
          <a:prstGeom prst="rect">
            <a:avLst/>
          </a:prstGeom>
          <a:noFill/>
        </p:spPr>
        <p:txBody>
          <a:bodyPr wrap="square" rtlCol="0">
            <a:spAutoFit/>
          </a:bodyPr>
          <a:lstStyle/>
          <a:p>
            <a:r>
              <a:rPr lang="tr-TR" sz="1000" noProof="1"/>
              <a:t>Aşağıdaki kitap belirli bir kurallarla sayfaları süslenecektir.</a:t>
            </a:r>
          </a:p>
        </p:txBody>
      </p:sp>
      <p:sp>
        <p:nvSpPr>
          <p:cNvPr id="90" name="Metin kutusu 89">
            <a:extLst>
              <a:ext uri="{FF2B5EF4-FFF2-40B4-BE49-F238E27FC236}">
                <a16:creationId xmlns:a16="http://schemas.microsoft.com/office/drawing/2014/main" id="{780FB88A-7B09-475B-AE94-E25E6E42FE46}"/>
              </a:ext>
            </a:extLst>
          </p:cNvPr>
          <p:cNvSpPr txBox="1"/>
          <p:nvPr/>
        </p:nvSpPr>
        <p:spPr>
          <a:xfrm>
            <a:off x="3501008" y="6281065"/>
            <a:ext cx="3296574" cy="861774"/>
          </a:xfrm>
          <a:prstGeom prst="rect">
            <a:avLst/>
          </a:prstGeom>
          <a:noFill/>
        </p:spPr>
        <p:txBody>
          <a:bodyPr wrap="square" rtlCol="0">
            <a:spAutoFit/>
          </a:bodyPr>
          <a:lstStyle/>
          <a:p>
            <a:r>
              <a:rPr lang="tr-TR" sz="1000" b="1" noProof="1"/>
              <a:t>Yıldızlar tek sayıları, balıklar 2`nin katlarını, Türk bayrağı ise 13`ün katlarına yapıştırılmıştır. Buna göre hangisi kesinlikle söylenemez?</a:t>
            </a:r>
          </a:p>
          <a:p>
            <a:endParaRPr lang="tr-TR" sz="1000" noProof="1"/>
          </a:p>
          <a:p>
            <a:endParaRPr lang="tr-TR" sz="1000" noProof="1"/>
          </a:p>
        </p:txBody>
      </p:sp>
      <p:pic>
        <p:nvPicPr>
          <p:cNvPr id="91" name="Picture 5" descr="C:\Users\Pc\AppData\Local\Microsoft\Windows\Temporary Internet Files\Content.IE5\GE4A7UL2\1280px-Flag_of_Turkey.svg[1].png">
            <a:extLst>
              <a:ext uri="{FF2B5EF4-FFF2-40B4-BE49-F238E27FC236}">
                <a16:creationId xmlns:a16="http://schemas.microsoft.com/office/drawing/2014/main" id="{AD16960F-EA30-4A0A-9F45-E6D0AD8ED0D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94184" y="5731745"/>
            <a:ext cx="173486" cy="115612"/>
          </a:xfrm>
          <a:prstGeom prst="rect">
            <a:avLst/>
          </a:prstGeom>
          <a:noFill/>
          <a:extLst>
            <a:ext uri="{909E8E84-426E-40DD-AFC4-6F175D3DCCD1}">
              <a14:hiddenFill xmlns:a14="http://schemas.microsoft.com/office/drawing/2010/main">
                <a:solidFill>
                  <a:srgbClr val="FFFFFF"/>
                </a:solidFill>
              </a14:hiddenFill>
            </a:ext>
          </a:extLst>
        </p:spPr>
      </p:pic>
      <p:sp>
        <p:nvSpPr>
          <p:cNvPr id="92" name="Metin kutusu 91">
            <a:extLst>
              <a:ext uri="{FF2B5EF4-FFF2-40B4-BE49-F238E27FC236}">
                <a16:creationId xmlns:a16="http://schemas.microsoft.com/office/drawing/2014/main" id="{748D88B5-559A-44EB-A349-99469A33E7DC}"/>
              </a:ext>
            </a:extLst>
          </p:cNvPr>
          <p:cNvSpPr txBox="1"/>
          <p:nvPr/>
        </p:nvSpPr>
        <p:spPr>
          <a:xfrm>
            <a:off x="3534778" y="6837037"/>
            <a:ext cx="3104981" cy="1938992"/>
          </a:xfrm>
          <a:prstGeom prst="rect">
            <a:avLst/>
          </a:prstGeom>
          <a:noFill/>
        </p:spPr>
        <p:txBody>
          <a:bodyPr wrap="square" rtlCol="0">
            <a:spAutoFit/>
          </a:bodyPr>
          <a:lstStyle/>
          <a:p>
            <a:r>
              <a:rPr lang="tr-TR" sz="1000" noProof="1"/>
              <a:t>A) Bayrak ve balık olan sayfaların hepsi</a:t>
            </a:r>
          </a:p>
          <a:p>
            <a:r>
              <a:rPr lang="tr-TR" sz="1000" noProof="1"/>
              <a:t>13 ve 2`nin en küçük ortak katının bir tam katıdır.</a:t>
            </a:r>
          </a:p>
          <a:p>
            <a:endParaRPr lang="tr-TR" sz="1000" noProof="1"/>
          </a:p>
          <a:p>
            <a:r>
              <a:rPr lang="tr-TR" sz="1000" noProof="1"/>
              <a:t>B) 169.sayfada yıldız etiketi bulunur.</a:t>
            </a:r>
          </a:p>
          <a:p>
            <a:endParaRPr lang="tr-TR" sz="1000" noProof="1"/>
          </a:p>
          <a:p>
            <a:r>
              <a:rPr lang="tr-TR" sz="1000" noProof="1"/>
              <a:t>C) Asal sayıların hepsinde yıldız etiketi bulunur.</a:t>
            </a:r>
          </a:p>
          <a:p>
            <a:endParaRPr lang="tr-TR" sz="1000" noProof="1"/>
          </a:p>
          <a:p>
            <a:r>
              <a:rPr lang="tr-TR" sz="1000" noProof="1"/>
              <a:t>D) Rastgele yıldız bulunan 3 sayfanın numaraları toplanırsa tek sayı elde edilir.</a:t>
            </a:r>
          </a:p>
          <a:p>
            <a:endParaRPr lang="tr-TR" sz="1000" noProof="1"/>
          </a:p>
          <a:p>
            <a:r>
              <a:rPr lang="tr-TR" sz="1000" noProof="1"/>
              <a:t>E) 23. sayfada yıldız görülür, 38.sayfada bayrak ve yıldız etiketi görülmez.</a:t>
            </a:r>
          </a:p>
        </p:txBody>
      </p:sp>
      <p:sp>
        <p:nvSpPr>
          <p:cNvPr id="93" name="Metin kutusu 92">
            <a:extLst>
              <a:ext uri="{FF2B5EF4-FFF2-40B4-BE49-F238E27FC236}">
                <a16:creationId xmlns:a16="http://schemas.microsoft.com/office/drawing/2014/main" id="{16B85C32-EBA4-44DB-9CE7-D1DECF047341}"/>
              </a:ext>
            </a:extLst>
          </p:cNvPr>
          <p:cNvSpPr txBox="1"/>
          <p:nvPr/>
        </p:nvSpPr>
        <p:spPr>
          <a:xfrm>
            <a:off x="5426232" y="5704985"/>
            <a:ext cx="1371349" cy="461665"/>
          </a:xfrm>
          <a:prstGeom prst="rect">
            <a:avLst/>
          </a:prstGeom>
          <a:ln w="3175"/>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sz="600" noProof="1">
                <a:solidFill>
                  <a:schemeClr val="tx1">
                    <a:lumMod val="85000"/>
                    <a:lumOff val="15000"/>
                  </a:schemeClr>
                </a:solidFill>
              </a:rPr>
              <a:t>Görsel  rastgele bir sayfaya aittir.  Kitap  1.Sayfadan başlamaktadır.</a:t>
            </a:r>
          </a:p>
          <a:p>
            <a:r>
              <a:rPr lang="tr-TR" sz="600" noProof="1">
                <a:solidFill>
                  <a:schemeClr val="tx1">
                    <a:lumMod val="85000"/>
                    <a:lumOff val="15000"/>
                  </a:schemeClr>
                </a:solidFill>
              </a:rPr>
              <a:t>Ardışık tam sayılar şeklinde artarak</a:t>
            </a:r>
          </a:p>
          <a:p>
            <a:r>
              <a:rPr lang="tr-TR" sz="600" noProof="1">
                <a:solidFill>
                  <a:schemeClr val="tx1">
                    <a:lumMod val="85000"/>
                    <a:lumOff val="15000"/>
                  </a:schemeClr>
                </a:solidFill>
              </a:rPr>
              <a:t>devam etmektedir.</a:t>
            </a:r>
          </a:p>
        </p:txBody>
      </p:sp>
      <p:sp>
        <p:nvSpPr>
          <p:cNvPr id="94" name="Metin kutusu 93">
            <a:extLst>
              <a:ext uri="{FF2B5EF4-FFF2-40B4-BE49-F238E27FC236}">
                <a16:creationId xmlns:a16="http://schemas.microsoft.com/office/drawing/2014/main" id="{6F2EADB0-1174-47DC-8F45-E40A82D119A3}"/>
              </a:ext>
            </a:extLst>
          </p:cNvPr>
          <p:cNvSpPr txBox="1"/>
          <p:nvPr/>
        </p:nvSpPr>
        <p:spPr>
          <a:xfrm>
            <a:off x="132726" y="4608035"/>
            <a:ext cx="3294724" cy="2400657"/>
          </a:xfrm>
          <a:prstGeom prst="rect">
            <a:avLst/>
          </a:prstGeom>
          <a:noFill/>
        </p:spPr>
        <p:txBody>
          <a:bodyPr wrap="square" rtlCol="0">
            <a:spAutoFit/>
          </a:bodyPr>
          <a:lstStyle/>
          <a:p>
            <a:r>
              <a:rPr lang="tr-TR" sz="1000" dirty="0"/>
              <a:t>Yiğit ve Samet köylerindeki hayvanlarla süt ürünleri imal etmektedirler.  Kendisine süt almak isteyen Vahap Bey ile aşağıdaki diyalog geçmektedir.</a:t>
            </a:r>
          </a:p>
          <a:p>
            <a:br>
              <a:rPr lang="tr-TR" sz="1000" dirty="0"/>
            </a:br>
            <a:br>
              <a:rPr lang="tr-TR" sz="1000" dirty="0"/>
            </a:br>
            <a:br>
              <a:rPr lang="tr-TR" sz="1000" dirty="0"/>
            </a:br>
            <a:br>
              <a:rPr lang="tr-TR" sz="1000" dirty="0"/>
            </a:br>
            <a:br>
              <a:rPr lang="tr-TR" sz="1000" dirty="0"/>
            </a:br>
            <a:br>
              <a:rPr lang="tr-TR" sz="1000" dirty="0"/>
            </a:br>
            <a:r>
              <a:rPr lang="tr-TR" sz="1000" dirty="0"/>
              <a:t>Yiğit ve Samet`in çiftliğindeki 2 hayvan özdeştir ve birlikte yarım saatte  500 ml süt üretebiliyor. Ancak 75 dakika sonra ikinci inekte Rahatsızlık başlıyor ve süt üretemiyor. Tek inek süt üretimine devam etmektedir.  </a:t>
            </a:r>
          </a:p>
          <a:p>
            <a:endParaRPr lang="tr-TR" sz="1000" dirty="0"/>
          </a:p>
          <a:p>
            <a:r>
              <a:rPr lang="tr-TR" sz="1000" b="1" dirty="0"/>
              <a:t>Buna göre, Vahap Bey 2 Litre süt için kaç dakika bekler?</a:t>
            </a:r>
          </a:p>
        </p:txBody>
      </p:sp>
      <p:sp>
        <p:nvSpPr>
          <p:cNvPr id="95" name="Metin kutusu 94">
            <a:extLst>
              <a:ext uri="{FF2B5EF4-FFF2-40B4-BE49-F238E27FC236}">
                <a16:creationId xmlns:a16="http://schemas.microsoft.com/office/drawing/2014/main" id="{F547A6A3-0B6B-4369-8396-4D64448276A8}"/>
              </a:ext>
            </a:extLst>
          </p:cNvPr>
          <p:cNvSpPr txBox="1"/>
          <p:nvPr/>
        </p:nvSpPr>
        <p:spPr>
          <a:xfrm>
            <a:off x="160232" y="5182931"/>
            <a:ext cx="3164177" cy="784830"/>
          </a:xfrm>
          <a:prstGeom prst="rect">
            <a:avLst/>
          </a:prstGeom>
          <a:solidFill>
            <a:schemeClr val="accent6">
              <a:lumMod val="20000"/>
              <a:lumOff val="80000"/>
            </a:schemeClr>
          </a:solidFill>
          <a:ln w="3175"/>
        </p:spPr>
        <p:style>
          <a:lnRef idx="1">
            <a:schemeClr val="accent4"/>
          </a:lnRef>
          <a:fillRef idx="2">
            <a:schemeClr val="accent4"/>
          </a:fillRef>
          <a:effectRef idx="1">
            <a:schemeClr val="accent4"/>
          </a:effectRef>
          <a:fontRef idx="minor">
            <a:schemeClr val="dk1"/>
          </a:fontRef>
        </p:style>
        <p:txBody>
          <a:bodyPr wrap="square">
            <a:spAutoFit/>
          </a:bodyPr>
          <a:lstStyle/>
          <a:p>
            <a:r>
              <a:rPr lang="tr-TR" sz="900" b="1" dirty="0"/>
              <a:t>Vahap Bey </a:t>
            </a:r>
            <a:r>
              <a:rPr lang="tr-TR" sz="900" dirty="0"/>
              <a:t>: Bana 2 Litre süt gerekiyor. Ne kadar sürede temin edebilirsiniz?</a:t>
            </a:r>
          </a:p>
          <a:p>
            <a:endParaRPr lang="tr-TR" sz="900" dirty="0"/>
          </a:p>
          <a:p>
            <a:r>
              <a:rPr lang="tr-TR" sz="900" b="1" dirty="0"/>
              <a:t>Yiğit</a:t>
            </a:r>
            <a:r>
              <a:rPr lang="tr-TR" sz="900" dirty="0"/>
              <a:t> : Çok yanlış zamanda geldiniz 2 hayvan hariç tüm hepsi şuan acil bir durumdan ötürü veteriner gözetimindeler. </a:t>
            </a:r>
          </a:p>
        </p:txBody>
      </p:sp>
      <p:sp>
        <p:nvSpPr>
          <p:cNvPr id="96" name="Metin kutusu 95">
            <a:extLst>
              <a:ext uri="{FF2B5EF4-FFF2-40B4-BE49-F238E27FC236}">
                <a16:creationId xmlns:a16="http://schemas.microsoft.com/office/drawing/2014/main" id="{F7688995-63B9-4DE9-97CA-C70B80F51039}"/>
              </a:ext>
            </a:extLst>
          </p:cNvPr>
          <p:cNvSpPr txBox="1"/>
          <p:nvPr/>
        </p:nvSpPr>
        <p:spPr>
          <a:xfrm>
            <a:off x="108717" y="6975159"/>
            <a:ext cx="3284216" cy="553998"/>
          </a:xfrm>
          <a:prstGeom prst="rect">
            <a:avLst/>
          </a:prstGeom>
          <a:noFill/>
        </p:spPr>
        <p:txBody>
          <a:bodyPr wrap="square" rtlCol="0">
            <a:spAutoFit/>
          </a:bodyPr>
          <a:lstStyle/>
          <a:p>
            <a:r>
              <a:rPr lang="tr-TR" sz="1000" dirty="0"/>
              <a:t>A) 100                                    B) 120                                     C) 130</a:t>
            </a:r>
          </a:p>
          <a:p>
            <a:pPr marL="228600" indent="-228600">
              <a:buAutoNum type="alphaUcParenR"/>
            </a:pPr>
            <a:endParaRPr lang="tr-TR" sz="1000" dirty="0"/>
          </a:p>
          <a:p>
            <a:r>
              <a:rPr lang="tr-TR" sz="1000" dirty="0"/>
              <a:t>                      D) 145                                        E) 165</a:t>
            </a:r>
          </a:p>
        </p:txBody>
      </p:sp>
    </p:spTree>
    <p:extLst>
      <p:ext uri="{BB962C8B-B14F-4D97-AF65-F5344CB8AC3E}">
        <p14:creationId xmlns:p14="http://schemas.microsoft.com/office/powerpoint/2010/main" val="23515304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3</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49236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99337" y="5595882"/>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83145" y="481948"/>
            <a:ext cx="3242609" cy="861774"/>
          </a:xfrm>
          <a:prstGeom prst="rect">
            <a:avLst/>
          </a:prstGeom>
          <a:noFill/>
        </p:spPr>
        <p:txBody>
          <a:bodyPr wrap="square" rtlCol="0">
            <a:spAutoFit/>
          </a:bodyPr>
          <a:lstStyle/>
          <a:p>
            <a:r>
              <a:rPr lang="tr-TR" sz="1000" noProof="1">
                <a:cs typeface="Arial" panose="020B0604020202020204" pitchFamily="34" charset="0"/>
              </a:rPr>
              <a:t>Seyhan, her gün kumbarasına bir önceki gün bulunan miktarın 2 katının 5 eksiğini ilave ediyor. </a:t>
            </a:r>
          </a:p>
          <a:p>
            <a:endParaRPr lang="tr-TR" sz="1000" noProof="1">
              <a:cs typeface="Arial" panose="020B0604020202020204" pitchFamily="34" charset="0"/>
            </a:endParaRPr>
          </a:p>
          <a:p>
            <a:r>
              <a:rPr lang="tr-TR" sz="1000" b="1" noProof="1">
                <a:cs typeface="Arial" panose="020B0604020202020204" pitchFamily="34" charset="0"/>
              </a:rPr>
              <a:t>Seyhan`ın kumbarasında ilk gün x TL, 4.gün 205 TL  olduğuna göre 2.gün kumbarasına kaç TL ilave yapmıştır?  </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44637" y="1307855"/>
            <a:ext cx="3334097" cy="553998"/>
          </a:xfrm>
          <a:prstGeom prst="rect">
            <a:avLst/>
          </a:prstGeom>
          <a:noFill/>
        </p:spPr>
        <p:txBody>
          <a:bodyPr wrap="square" rtlCol="0">
            <a:spAutoFit/>
          </a:bodyPr>
          <a:lstStyle/>
          <a:p>
            <a:r>
              <a:rPr lang="tr-TR" sz="1000" dirty="0"/>
              <a:t>A) 5                                         B) 10                                         C) 15</a:t>
            </a:r>
          </a:p>
          <a:p>
            <a:pPr marL="228600" indent="-228600">
              <a:buAutoNum type="alphaUcParenR"/>
            </a:pPr>
            <a:endParaRPr lang="tr-TR" sz="1000" dirty="0"/>
          </a:p>
          <a:p>
            <a:r>
              <a:rPr lang="tr-TR" sz="1000" dirty="0"/>
              <a:t>                      D) 20                                        E) 25</a:t>
            </a:r>
          </a:p>
        </p:txBody>
      </p:sp>
      <p:sp>
        <p:nvSpPr>
          <p:cNvPr id="57" name="Metin kutusu 56">
            <a:extLst>
              <a:ext uri="{FF2B5EF4-FFF2-40B4-BE49-F238E27FC236}">
                <a16:creationId xmlns:a16="http://schemas.microsoft.com/office/drawing/2014/main" id="{BC1E34C2-F2E4-4462-A599-B05FDF8A9639}"/>
              </a:ext>
            </a:extLst>
          </p:cNvPr>
          <p:cNvSpPr txBox="1"/>
          <p:nvPr/>
        </p:nvSpPr>
        <p:spPr>
          <a:xfrm>
            <a:off x="3562366" y="5617793"/>
            <a:ext cx="3322750" cy="1169551"/>
          </a:xfrm>
          <a:prstGeom prst="rect">
            <a:avLst/>
          </a:prstGeom>
          <a:noFill/>
        </p:spPr>
        <p:txBody>
          <a:bodyPr wrap="square" rtlCol="0">
            <a:spAutoFit/>
          </a:bodyPr>
          <a:lstStyle/>
          <a:p>
            <a:r>
              <a:rPr lang="tr-TR" sz="1000" noProof="1">
                <a:cs typeface="Arial" panose="020B0604020202020204" pitchFamily="34" charset="0"/>
              </a:rPr>
              <a:t>Resimli aynı masal kitabını Melek ve Makbule okumaktadır. Melek dakikada 8 sayfa, Makbule dakikada 7 sayfa okuyabilmektedir.  Aynı kitabı aynı anda başlayıp okumaktadırlar. Makbule kitabı Melek`e göre 6 dakika geç bitirmiştir.</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Buna göre, okudukları kitap kaç sayfadır?</a:t>
            </a:r>
          </a:p>
        </p:txBody>
      </p:sp>
      <p:sp>
        <p:nvSpPr>
          <p:cNvPr id="60" name="Metin kutusu 59">
            <a:extLst>
              <a:ext uri="{FF2B5EF4-FFF2-40B4-BE49-F238E27FC236}">
                <a16:creationId xmlns:a16="http://schemas.microsoft.com/office/drawing/2014/main" id="{380CFD8B-A448-4F49-ACCE-E2A9557B7206}"/>
              </a:ext>
            </a:extLst>
          </p:cNvPr>
          <p:cNvSpPr txBox="1"/>
          <p:nvPr/>
        </p:nvSpPr>
        <p:spPr>
          <a:xfrm>
            <a:off x="3508131" y="1307855"/>
            <a:ext cx="3337845" cy="553998"/>
          </a:xfrm>
          <a:prstGeom prst="rect">
            <a:avLst/>
          </a:prstGeom>
          <a:noFill/>
        </p:spPr>
        <p:txBody>
          <a:bodyPr wrap="square" rtlCol="0">
            <a:spAutoFit/>
          </a:bodyPr>
          <a:lstStyle/>
          <a:p>
            <a:r>
              <a:rPr lang="tr-TR" sz="1000" dirty="0"/>
              <a:t>A) 5                                        B) 6                                        C) 7</a:t>
            </a:r>
          </a:p>
          <a:p>
            <a:pPr marL="228600" indent="-228600">
              <a:buAutoNum type="alphaUcParenR"/>
            </a:pPr>
            <a:endParaRPr lang="tr-TR" sz="1000" dirty="0"/>
          </a:p>
          <a:p>
            <a:r>
              <a:rPr lang="tr-TR" sz="1000" dirty="0"/>
              <a:t>                      D) 8                                        E) 9</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0" y="8830327"/>
            <a:ext cx="170080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1.C    2.C    3.C    4.C    5.D</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0" name="Metin kutusu 39">
            <a:extLst>
              <a:ext uri="{FF2B5EF4-FFF2-40B4-BE49-F238E27FC236}">
                <a16:creationId xmlns:a16="http://schemas.microsoft.com/office/drawing/2014/main" id="{2146E2C0-1816-4FC7-A61C-D1A6737BE624}"/>
              </a:ext>
            </a:extLst>
          </p:cNvPr>
          <p:cNvSpPr txBox="1"/>
          <p:nvPr/>
        </p:nvSpPr>
        <p:spPr>
          <a:xfrm>
            <a:off x="3490471" y="481948"/>
            <a:ext cx="3316038" cy="861774"/>
          </a:xfrm>
          <a:prstGeom prst="rect">
            <a:avLst/>
          </a:prstGeom>
          <a:noFill/>
        </p:spPr>
        <p:txBody>
          <a:bodyPr wrap="square" rtlCol="0">
            <a:spAutoFit/>
          </a:bodyPr>
          <a:lstStyle/>
          <a:p>
            <a:r>
              <a:rPr lang="tr-TR" sz="1000" noProof="1">
                <a:cs typeface="Arial" panose="020B0604020202020204" pitchFamily="34" charset="0"/>
              </a:rPr>
              <a:t>Selin, elindeki misketleri kardeşleriyle birlikte eşit olarak paylaştırdığında  herkese 12 adet düşmektedir. Eğer tüm kardeşlerine 13 adet verirse kendine 5 adet kalıyor. </a:t>
            </a:r>
          </a:p>
          <a:p>
            <a:endParaRPr lang="tr-TR" sz="1000" b="1" noProof="1">
              <a:cs typeface="Arial" panose="020B0604020202020204" pitchFamily="34" charset="0"/>
            </a:endParaRPr>
          </a:p>
          <a:p>
            <a:r>
              <a:rPr lang="tr-TR" sz="1000" b="1" noProof="1">
                <a:cs typeface="Arial" panose="020B0604020202020204" pitchFamily="34" charset="0"/>
              </a:rPr>
              <a:t>Buna göre, Selin`in kaç kardeşi vardır?</a:t>
            </a:r>
          </a:p>
        </p:txBody>
      </p:sp>
      <p:sp>
        <p:nvSpPr>
          <p:cNvPr id="48" name="Metin kutusu 47">
            <a:extLst>
              <a:ext uri="{FF2B5EF4-FFF2-40B4-BE49-F238E27FC236}">
                <a16:creationId xmlns:a16="http://schemas.microsoft.com/office/drawing/2014/main" id="{AC66DF0B-91ED-4DB8-8EA6-D773AE63CC6C}"/>
              </a:ext>
            </a:extLst>
          </p:cNvPr>
          <p:cNvSpPr txBox="1"/>
          <p:nvPr/>
        </p:nvSpPr>
        <p:spPr>
          <a:xfrm>
            <a:off x="3337804" y="287565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5" name="Metin kutusu 54">
            <a:extLst>
              <a:ext uri="{FF2B5EF4-FFF2-40B4-BE49-F238E27FC236}">
                <a16:creationId xmlns:a16="http://schemas.microsoft.com/office/drawing/2014/main" id="{E4F5A33A-FF54-418F-8199-F9448E308947}"/>
              </a:ext>
            </a:extLst>
          </p:cNvPr>
          <p:cNvSpPr txBox="1"/>
          <p:nvPr/>
        </p:nvSpPr>
        <p:spPr>
          <a:xfrm>
            <a:off x="3487019" y="3576790"/>
            <a:ext cx="3337845" cy="553998"/>
          </a:xfrm>
          <a:prstGeom prst="rect">
            <a:avLst/>
          </a:prstGeom>
          <a:noFill/>
        </p:spPr>
        <p:txBody>
          <a:bodyPr wrap="square" rtlCol="0">
            <a:spAutoFit/>
          </a:bodyPr>
          <a:lstStyle/>
          <a:p>
            <a:r>
              <a:rPr lang="tr-TR" sz="1000" dirty="0"/>
              <a:t>A) 144                                  B) 192                                        C) 256</a:t>
            </a:r>
          </a:p>
          <a:p>
            <a:pPr marL="228600" indent="-228600">
              <a:buAutoNum type="alphaUcParenR"/>
            </a:pPr>
            <a:endParaRPr lang="tr-TR" sz="1000" dirty="0"/>
          </a:p>
          <a:p>
            <a:r>
              <a:rPr lang="tr-TR" sz="1000" dirty="0"/>
              <a:t>                      D) 288                                    E) 400</a:t>
            </a:r>
          </a:p>
        </p:txBody>
      </p:sp>
      <p:sp>
        <p:nvSpPr>
          <p:cNvPr id="58" name="Metin kutusu 57">
            <a:extLst>
              <a:ext uri="{FF2B5EF4-FFF2-40B4-BE49-F238E27FC236}">
                <a16:creationId xmlns:a16="http://schemas.microsoft.com/office/drawing/2014/main" id="{BDA506A6-503C-45C9-A837-6212540F831C}"/>
              </a:ext>
            </a:extLst>
          </p:cNvPr>
          <p:cNvSpPr txBox="1"/>
          <p:nvPr/>
        </p:nvSpPr>
        <p:spPr>
          <a:xfrm>
            <a:off x="3483442" y="2905032"/>
            <a:ext cx="3351765" cy="707886"/>
          </a:xfrm>
          <a:prstGeom prst="rect">
            <a:avLst/>
          </a:prstGeom>
          <a:noFill/>
        </p:spPr>
        <p:txBody>
          <a:bodyPr wrap="square" rtlCol="0">
            <a:spAutoFit/>
          </a:bodyPr>
          <a:lstStyle/>
          <a:p>
            <a:r>
              <a:rPr lang="tr-TR" sz="1000" noProof="1">
                <a:cs typeface="Arial" panose="020B0604020202020204" pitchFamily="34" charset="0"/>
              </a:rPr>
              <a:t>Bir bakkal, 4 meşrubat alana 1 adet hediye veriyor. </a:t>
            </a:r>
          </a:p>
          <a:p>
            <a:endParaRPr lang="tr-TR" sz="1000" b="1" noProof="1">
              <a:cs typeface="Arial" panose="020B0604020202020204" pitchFamily="34" charset="0"/>
            </a:endParaRPr>
          </a:p>
          <a:p>
            <a:r>
              <a:rPr lang="tr-TR" sz="1000" b="1" noProof="1">
                <a:cs typeface="Arial" panose="020B0604020202020204" pitchFamily="34" charset="0"/>
              </a:rPr>
              <a:t>Hediyelerle toplamda 80 adet meşrubat alan Oya, tanesi 4 TL olan meşrubatlar için kaç TL öder?</a:t>
            </a:r>
          </a:p>
        </p:txBody>
      </p:sp>
      <p:sp>
        <p:nvSpPr>
          <p:cNvPr id="61" name="Metin kutusu 60">
            <a:extLst>
              <a:ext uri="{FF2B5EF4-FFF2-40B4-BE49-F238E27FC236}">
                <a16:creationId xmlns:a16="http://schemas.microsoft.com/office/drawing/2014/main" id="{5F1283DD-8056-49C1-AD65-E18333130A67}"/>
              </a:ext>
            </a:extLst>
          </p:cNvPr>
          <p:cNvSpPr txBox="1"/>
          <p:nvPr/>
        </p:nvSpPr>
        <p:spPr>
          <a:xfrm>
            <a:off x="3523903" y="6743684"/>
            <a:ext cx="3334097" cy="553998"/>
          </a:xfrm>
          <a:prstGeom prst="rect">
            <a:avLst/>
          </a:prstGeom>
          <a:noFill/>
        </p:spPr>
        <p:txBody>
          <a:bodyPr wrap="square" rtlCol="0">
            <a:spAutoFit/>
          </a:bodyPr>
          <a:lstStyle/>
          <a:p>
            <a:r>
              <a:rPr lang="tr-TR" sz="1000" dirty="0"/>
              <a:t>A) 224                                   B) 280                                       C) 256</a:t>
            </a:r>
          </a:p>
          <a:p>
            <a:pPr marL="228600" indent="-228600">
              <a:buAutoNum type="alphaUcParenR"/>
            </a:pPr>
            <a:endParaRPr lang="tr-TR" sz="1000" dirty="0"/>
          </a:p>
          <a:p>
            <a:r>
              <a:rPr lang="tr-TR" sz="1000" dirty="0"/>
              <a:t>                      D) 336                                        E) 448</a:t>
            </a:r>
          </a:p>
        </p:txBody>
      </p:sp>
      <p:sp>
        <p:nvSpPr>
          <p:cNvPr id="47" name="Metin kutusu 46">
            <a:extLst>
              <a:ext uri="{FF2B5EF4-FFF2-40B4-BE49-F238E27FC236}">
                <a16:creationId xmlns:a16="http://schemas.microsoft.com/office/drawing/2014/main" id="{597A64E2-D6E3-4D49-8432-5A0ACBFE9A59}"/>
              </a:ext>
            </a:extLst>
          </p:cNvPr>
          <p:cNvSpPr txBox="1"/>
          <p:nvPr/>
        </p:nvSpPr>
        <p:spPr>
          <a:xfrm>
            <a:off x="115978" y="5895640"/>
            <a:ext cx="3266610" cy="400110"/>
          </a:xfrm>
          <a:prstGeom prst="rect">
            <a:avLst/>
          </a:prstGeom>
          <a:noFill/>
        </p:spPr>
        <p:txBody>
          <a:bodyPr wrap="square" rtlCol="0">
            <a:spAutoFit/>
          </a:bodyPr>
          <a:lstStyle/>
          <a:p>
            <a:r>
              <a:rPr lang="tr-TR" sz="1000" b="1" noProof="1">
                <a:cs typeface="Arial" panose="020B0604020202020204" pitchFamily="34" charset="0"/>
              </a:rPr>
              <a:t>Yukarda sayılar bir kurala göre yazılmıştır. Buna göre,</a:t>
            </a:r>
          </a:p>
          <a:p>
            <a:r>
              <a:rPr lang="tr-TR" sz="1000" b="1" noProof="1">
                <a:cs typeface="Arial" panose="020B0604020202020204" pitchFamily="34" charset="0"/>
              </a:rPr>
              <a:t>x ve y doğal sayılarının toplamı kaçtır? </a:t>
            </a:r>
          </a:p>
        </p:txBody>
      </p:sp>
      <p:sp>
        <p:nvSpPr>
          <p:cNvPr id="59" name="Metin kutusu 58">
            <a:extLst>
              <a:ext uri="{FF2B5EF4-FFF2-40B4-BE49-F238E27FC236}">
                <a16:creationId xmlns:a16="http://schemas.microsoft.com/office/drawing/2014/main" id="{D24AEBDE-4E8C-442F-95C4-B62E731BA4EE}"/>
              </a:ext>
            </a:extLst>
          </p:cNvPr>
          <p:cNvSpPr txBox="1"/>
          <p:nvPr/>
        </p:nvSpPr>
        <p:spPr>
          <a:xfrm>
            <a:off x="111302" y="6250213"/>
            <a:ext cx="3275963" cy="553998"/>
          </a:xfrm>
          <a:prstGeom prst="rect">
            <a:avLst/>
          </a:prstGeom>
          <a:noFill/>
        </p:spPr>
        <p:txBody>
          <a:bodyPr wrap="square" rtlCol="0">
            <a:spAutoFit/>
          </a:bodyPr>
          <a:lstStyle/>
          <a:p>
            <a:r>
              <a:rPr lang="tr-TR" sz="1000" dirty="0"/>
              <a:t>A) 38                                       B) 50                                       C) 51</a:t>
            </a:r>
          </a:p>
          <a:p>
            <a:pPr marL="228600" indent="-228600">
              <a:buAutoNum type="alphaUcParenR"/>
            </a:pPr>
            <a:endParaRPr lang="tr-TR" sz="1000" dirty="0"/>
          </a:p>
          <a:p>
            <a:r>
              <a:rPr lang="tr-TR" sz="1000" dirty="0"/>
              <a:t>                           D) 54                                      E) 70</a:t>
            </a:r>
          </a:p>
        </p:txBody>
      </p:sp>
      <p:sp>
        <p:nvSpPr>
          <p:cNvPr id="63" name="Dikdörtgen 62">
            <a:extLst>
              <a:ext uri="{FF2B5EF4-FFF2-40B4-BE49-F238E27FC236}">
                <a16:creationId xmlns:a16="http://schemas.microsoft.com/office/drawing/2014/main" id="{01C045E9-9CAE-4DC9-B082-B629FA6B2C8A}"/>
              </a:ext>
            </a:extLst>
          </p:cNvPr>
          <p:cNvSpPr/>
          <p:nvPr/>
        </p:nvSpPr>
        <p:spPr>
          <a:xfrm>
            <a:off x="210633" y="4770715"/>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4</a:t>
            </a:r>
          </a:p>
        </p:txBody>
      </p:sp>
      <p:sp>
        <p:nvSpPr>
          <p:cNvPr id="64" name="Dikdörtgen 63">
            <a:extLst>
              <a:ext uri="{FF2B5EF4-FFF2-40B4-BE49-F238E27FC236}">
                <a16:creationId xmlns:a16="http://schemas.microsoft.com/office/drawing/2014/main" id="{43FAB3DB-2DAA-46A6-9D57-D341170B3A4A}"/>
              </a:ext>
            </a:extLst>
          </p:cNvPr>
          <p:cNvSpPr/>
          <p:nvPr/>
        </p:nvSpPr>
        <p:spPr>
          <a:xfrm>
            <a:off x="210633" y="5178538"/>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18</a:t>
            </a:r>
          </a:p>
        </p:txBody>
      </p:sp>
      <p:sp>
        <p:nvSpPr>
          <p:cNvPr id="65" name="Dikdörtgen 64">
            <a:extLst>
              <a:ext uri="{FF2B5EF4-FFF2-40B4-BE49-F238E27FC236}">
                <a16:creationId xmlns:a16="http://schemas.microsoft.com/office/drawing/2014/main" id="{0D71ABF7-8A7B-42E9-8708-1CF48C9CA939}"/>
              </a:ext>
            </a:extLst>
          </p:cNvPr>
          <p:cNvSpPr/>
          <p:nvPr/>
        </p:nvSpPr>
        <p:spPr>
          <a:xfrm>
            <a:off x="208398" y="5597597"/>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92</a:t>
            </a:r>
          </a:p>
        </p:txBody>
      </p:sp>
      <p:sp>
        <p:nvSpPr>
          <p:cNvPr id="66" name="Dikdörtgen 65">
            <a:extLst>
              <a:ext uri="{FF2B5EF4-FFF2-40B4-BE49-F238E27FC236}">
                <a16:creationId xmlns:a16="http://schemas.microsoft.com/office/drawing/2014/main" id="{A5525EFF-36F2-47AA-841D-32A1AA4DFD09}"/>
              </a:ext>
            </a:extLst>
          </p:cNvPr>
          <p:cNvSpPr/>
          <p:nvPr/>
        </p:nvSpPr>
        <p:spPr>
          <a:xfrm>
            <a:off x="858056" y="4771177"/>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b="1" dirty="0">
                <a:solidFill>
                  <a:schemeClr val="tx1"/>
                </a:solidFill>
              </a:rPr>
              <a:t>x</a:t>
            </a:r>
          </a:p>
        </p:txBody>
      </p:sp>
      <p:sp>
        <p:nvSpPr>
          <p:cNvPr id="67" name="Dikdörtgen 66">
            <a:extLst>
              <a:ext uri="{FF2B5EF4-FFF2-40B4-BE49-F238E27FC236}">
                <a16:creationId xmlns:a16="http://schemas.microsoft.com/office/drawing/2014/main" id="{C32ED851-AAA2-402D-B023-5BE168368204}"/>
              </a:ext>
            </a:extLst>
          </p:cNvPr>
          <p:cNvSpPr/>
          <p:nvPr/>
        </p:nvSpPr>
        <p:spPr>
          <a:xfrm>
            <a:off x="858056" y="5179000"/>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14</a:t>
            </a:r>
          </a:p>
        </p:txBody>
      </p:sp>
      <p:sp>
        <p:nvSpPr>
          <p:cNvPr id="68" name="Dikdörtgen 67">
            <a:extLst>
              <a:ext uri="{FF2B5EF4-FFF2-40B4-BE49-F238E27FC236}">
                <a16:creationId xmlns:a16="http://schemas.microsoft.com/office/drawing/2014/main" id="{260782C8-AC87-4CD2-A554-E48F87D7D446}"/>
              </a:ext>
            </a:extLst>
          </p:cNvPr>
          <p:cNvSpPr/>
          <p:nvPr/>
        </p:nvSpPr>
        <p:spPr>
          <a:xfrm>
            <a:off x="855821" y="5598059"/>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72</a:t>
            </a:r>
          </a:p>
        </p:txBody>
      </p:sp>
      <p:sp>
        <p:nvSpPr>
          <p:cNvPr id="69" name="Dikdörtgen 68">
            <a:extLst>
              <a:ext uri="{FF2B5EF4-FFF2-40B4-BE49-F238E27FC236}">
                <a16:creationId xmlns:a16="http://schemas.microsoft.com/office/drawing/2014/main" id="{1849322A-F1B8-4316-910B-D4A9E631C54F}"/>
              </a:ext>
            </a:extLst>
          </p:cNvPr>
          <p:cNvSpPr/>
          <p:nvPr/>
        </p:nvSpPr>
        <p:spPr>
          <a:xfrm>
            <a:off x="1470297" y="4770715"/>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dirty="0">
                <a:solidFill>
                  <a:schemeClr val="tx1"/>
                </a:solidFill>
              </a:rPr>
              <a:t>12</a:t>
            </a:r>
          </a:p>
        </p:txBody>
      </p:sp>
      <p:sp>
        <p:nvSpPr>
          <p:cNvPr id="70" name="Dikdörtgen 69">
            <a:extLst>
              <a:ext uri="{FF2B5EF4-FFF2-40B4-BE49-F238E27FC236}">
                <a16:creationId xmlns:a16="http://schemas.microsoft.com/office/drawing/2014/main" id="{3A4AE0A9-76C2-4083-9AA3-DA15344A2B09}"/>
              </a:ext>
            </a:extLst>
          </p:cNvPr>
          <p:cNvSpPr/>
          <p:nvPr/>
        </p:nvSpPr>
        <p:spPr>
          <a:xfrm>
            <a:off x="1470297" y="5178538"/>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000" b="1" dirty="0">
                <a:solidFill>
                  <a:schemeClr val="tx1"/>
                </a:solidFill>
              </a:rPr>
              <a:t>y</a:t>
            </a:r>
          </a:p>
        </p:txBody>
      </p:sp>
      <p:sp>
        <p:nvSpPr>
          <p:cNvPr id="71" name="Dikdörtgen 70">
            <a:extLst>
              <a:ext uri="{FF2B5EF4-FFF2-40B4-BE49-F238E27FC236}">
                <a16:creationId xmlns:a16="http://schemas.microsoft.com/office/drawing/2014/main" id="{60F1C3AD-2C40-42F0-B1D7-D4129BFEABAF}"/>
              </a:ext>
            </a:extLst>
          </p:cNvPr>
          <p:cNvSpPr/>
          <p:nvPr/>
        </p:nvSpPr>
        <p:spPr>
          <a:xfrm>
            <a:off x="1468062" y="5597597"/>
            <a:ext cx="357539" cy="276999"/>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900" dirty="0">
                <a:solidFill>
                  <a:schemeClr val="tx1"/>
                </a:solidFill>
              </a:rPr>
              <a:t>252</a:t>
            </a:r>
          </a:p>
        </p:txBody>
      </p:sp>
    </p:spTree>
    <p:extLst>
      <p:ext uri="{BB962C8B-B14F-4D97-AF65-F5344CB8AC3E}">
        <p14:creationId xmlns:p14="http://schemas.microsoft.com/office/powerpoint/2010/main" val="28493293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3</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5050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58996" y="6070573"/>
            <a:ext cx="357540"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3" name="Metin kutusu 52">
            <a:extLst>
              <a:ext uri="{FF2B5EF4-FFF2-40B4-BE49-F238E27FC236}">
                <a16:creationId xmlns:a16="http://schemas.microsoft.com/office/drawing/2014/main" id="{B82E1891-E19B-4792-8D6A-9E3A416C2186}"/>
              </a:ext>
            </a:extLst>
          </p:cNvPr>
          <p:cNvSpPr txBox="1"/>
          <p:nvPr/>
        </p:nvSpPr>
        <p:spPr>
          <a:xfrm>
            <a:off x="83145" y="481948"/>
            <a:ext cx="3345855" cy="400110"/>
          </a:xfrm>
          <a:prstGeom prst="rect">
            <a:avLst/>
          </a:prstGeom>
          <a:noFill/>
        </p:spPr>
        <p:txBody>
          <a:bodyPr wrap="square" rtlCol="0">
            <a:spAutoFit/>
          </a:bodyPr>
          <a:lstStyle/>
          <a:p>
            <a:r>
              <a:rPr lang="tr-TR" sz="1000" b="1" noProof="1">
                <a:cs typeface="Arial" panose="020B0604020202020204" pitchFamily="34" charset="0"/>
              </a:rPr>
              <a:t>Aşağıda bulmacadaki tarifi verilen sayı yazı ile yazılıyor. Yazılacak bölgeye renk ile karakter sayısı belirtilmiştir.</a:t>
            </a:r>
          </a:p>
        </p:txBody>
      </p:sp>
      <p:sp>
        <p:nvSpPr>
          <p:cNvPr id="56" name="Metin kutusu 55">
            <a:extLst>
              <a:ext uri="{FF2B5EF4-FFF2-40B4-BE49-F238E27FC236}">
                <a16:creationId xmlns:a16="http://schemas.microsoft.com/office/drawing/2014/main" id="{FE808314-3229-48D7-98E6-513795AE49C4}"/>
              </a:ext>
            </a:extLst>
          </p:cNvPr>
          <p:cNvSpPr txBox="1"/>
          <p:nvPr/>
        </p:nvSpPr>
        <p:spPr>
          <a:xfrm>
            <a:off x="87865" y="4736113"/>
            <a:ext cx="3402606" cy="861774"/>
          </a:xfrm>
          <a:prstGeom prst="rect">
            <a:avLst/>
          </a:prstGeom>
          <a:noFill/>
        </p:spPr>
        <p:txBody>
          <a:bodyPr wrap="square" rtlCol="0">
            <a:spAutoFit/>
          </a:bodyPr>
          <a:lstStyle/>
          <a:p>
            <a:r>
              <a:rPr lang="tr-TR" sz="1000" noProof="1">
                <a:cs typeface="Arial" panose="020B0604020202020204" pitchFamily="34" charset="0"/>
              </a:rPr>
              <a:t>Bir araba yarışında Levent`in arkasında 6 kişi vardır. Levent bir önündeki baştan 3.kişi olan sadece Semra`nın önüne geçiyor.</a:t>
            </a:r>
          </a:p>
          <a:p>
            <a:endParaRPr lang="tr-TR" sz="1000" noProof="1">
              <a:cs typeface="Arial" panose="020B0604020202020204" pitchFamily="34" charset="0"/>
            </a:endParaRPr>
          </a:p>
          <a:p>
            <a:r>
              <a:rPr lang="tr-TR" sz="1000" b="1" noProof="1">
                <a:cs typeface="Arial" panose="020B0604020202020204" pitchFamily="34" charset="0"/>
              </a:rPr>
              <a:t>Buna göre, yarışın baştan 2.cisi ile sonuncu kişi arasında kaç kişi vardır?</a:t>
            </a:r>
          </a:p>
        </p:txBody>
      </p:sp>
      <p:sp>
        <p:nvSpPr>
          <p:cNvPr id="60" name="Metin kutusu 59">
            <a:extLst>
              <a:ext uri="{FF2B5EF4-FFF2-40B4-BE49-F238E27FC236}">
                <a16:creationId xmlns:a16="http://schemas.microsoft.com/office/drawing/2014/main" id="{380CFD8B-A448-4F49-ACCE-E2A9557B7206}"/>
              </a:ext>
            </a:extLst>
          </p:cNvPr>
          <p:cNvSpPr txBox="1"/>
          <p:nvPr/>
        </p:nvSpPr>
        <p:spPr>
          <a:xfrm>
            <a:off x="3537766" y="4108554"/>
            <a:ext cx="3337845" cy="553998"/>
          </a:xfrm>
          <a:prstGeom prst="rect">
            <a:avLst/>
          </a:prstGeom>
          <a:noFill/>
        </p:spPr>
        <p:txBody>
          <a:bodyPr wrap="square" rtlCol="0">
            <a:spAutoFit/>
          </a:bodyPr>
          <a:lstStyle/>
          <a:p>
            <a:r>
              <a:rPr lang="tr-TR" sz="1000" dirty="0"/>
              <a:t>A) 4                                          B) 5                                           C) 6</a:t>
            </a:r>
          </a:p>
          <a:p>
            <a:pPr marL="228600" indent="-228600">
              <a:buAutoNum type="alphaUcParenR"/>
            </a:pPr>
            <a:endParaRPr lang="tr-TR" sz="1000" dirty="0"/>
          </a:p>
          <a:p>
            <a:r>
              <a:rPr lang="tr-TR" sz="1000" dirty="0"/>
              <a:t>                             D) 7                                        E) 8</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1" name="Metin kutusu 40">
            <a:extLst>
              <a:ext uri="{FF2B5EF4-FFF2-40B4-BE49-F238E27FC236}">
                <a16:creationId xmlns:a16="http://schemas.microsoft.com/office/drawing/2014/main" id="{C6153EB5-1CD4-4E31-B540-C16181D05F75}"/>
              </a:ext>
            </a:extLst>
          </p:cNvPr>
          <p:cNvSpPr txBox="1"/>
          <p:nvPr/>
        </p:nvSpPr>
        <p:spPr>
          <a:xfrm>
            <a:off x="85181" y="5554764"/>
            <a:ext cx="3334097" cy="553998"/>
          </a:xfrm>
          <a:prstGeom prst="rect">
            <a:avLst/>
          </a:prstGeom>
          <a:noFill/>
        </p:spPr>
        <p:txBody>
          <a:bodyPr wrap="square" rtlCol="0">
            <a:spAutoFit/>
          </a:bodyPr>
          <a:lstStyle/>
          <a:p>
            <a:r>
              <a:rPr lang="tr-TR" sz="1000" dirty="0"/>
              <a:t>A) 5                                             B) 6                                         C) 7</a:t>
            </a:r>
          </a:p>
          <a:p>
            <a:pPr marL="228600" indent="-228600">
              <a:buAutoNum type="alphaUcParenR"/>
            </a:pPr>
            <a:endParaRPr lang="tr-TR" sz="1000" dirty="0"/>
          </a:p>
          <a:p>
            <a:r>
              <a:rPr lang="tr-TR" sz="1000" dirty="0"/>
              <a:t>                      D) 8                                                 E) 9</a:t>
            </a:r>
          </a:p>
        </p:txBody>
      </p:sp>
      <p:sp>
        <p:nvSpPr>
          <p:cNvPr id="40" name="Metin kutusu 39">
            <a:extLst>
              <a:ext uri="{FF2B5EF4-FFF2-40B4-BE49-F238E27FC236}">
                <a16:creationId xmlns:a16="http://schemas.microsoft.com/office/drawing/2014/main" id="{2146E2C0-1816-4FC7-A61C-D1A6737BE624}"/>
              </a:ext>
            </a:extLst>
          </p:cNvPr>
          <p:cNvSpPr txBox="1"/>
          <p:nvPr/>
        </p:nvSpPr>
        <p:spPr>
          <a:xfrm>
            <a:off x="3541961" y="2240014"/>
            <a:ext cx="3368711" cy="1938992"/>
          </a:xfrm>
          <a:prstGeom prst="rect">
            <a:avLst/>
          </a:prstGeom>
          <a:noFill/>
        </p:spPr>
        <p:txBody>
          <a:bodyPr wrap="square" rtlCol="0">
            <a:spAutoFit/>
          </a:bodyPr>
          <a:lstStyle/>
          <a:p>
            <a:r>
              <a:rPr lang="tr-TR" sz="1000" b="1" noProof="1">
                <a:cs typeface="Arial" panose="020B0604020202020204" pitchFamily="34" charset="0"/>
              </a:rPr>
              <a:t>Berk, videolardaki çözünürlük farkını test etmek için her çözünürlüğü belirli bir süre zarfında izliyor. </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1080p ve 720p çözünürlüğü toplamda 14 dk izlemiştir.</a:t>
            </a:r>
          </a:p>
          <a:p>
            <a:pPr marL="171450" indent="-171450">
              <a:buFont typeface="Arial" panose="020B0604020202020204" pitchFamily="34" charset="0"/>
              <a:buChar char="•"/>
            </a:pPr>
            <a:r>
              <a:rPr lang="tr-TR" sz="1000" noProof="1">
                <a:cs typeface="Arial" panose="020B0604020202020204" pitchFamily="34" charset="0"/>
              </a:rPr>
              <a:t>HD görüntü izlerken toplamda 300 MB internet harcamıştır.</a:t>
            </a:r>
          </a:p>
          <a:p>
            <a:pPr marL="171450" indent="-171450">
              <a:buFont typeface="Arial" panose="020B0604020202020204" pitchFamily="34" charset="0"/>
              <a:buChar char="•"/>
            </a:pPr>
            <a:r>
              <a:rPr lang="tr-TR" sz="1000" noProof="1">
                <a:cs typeface="Arial" panose="020B0604020202020204" pitchFamily="34" charset="0"/>
              </a:rPr>
              <a:t>SD görüntü için toplamda 12 dakika izlemiştir.</a:t>
            </a:r>
          </a:p>
          <a:p>
            <a:pPr marL="171450" indent="-171450">
              <a:buFont typeface="Arial" panose="020B0604020202020204" pitchFamily="34" charset="0"/>
              <a:buChar char="•"/>
            </a:pPr>
            <a:endParaRPr lang="tr-TR" sz="1000" noProof="1">
              <a:cs typeface="Arial" panose="020B0604020202020204" pitchFamily="34" charset="0"/>
            </a:endParaRPr>
          </a:p>
          <a:p>
            <a:r>
              <a:rPr lang="tr-TR" sz="1000" b="1" noProof="1">
                <a:cs typeface="Arial" panose="020B0604020202020204" pitchFamily="34" charset="0"/>
              </a:rPr>
              <a:t>Berk, test yaparken videolardaki belirtilen sürelerin tamamını izlerken yaklaşık olarak 384 MB internetini harcamıştır. Bu verilere göre, 480p çözünürlükteki videoyu kaç dakika izlemiştir? </a:t>
            </a:r>
            <a:r>
              <a:rPr lang="tr-TR" sz="1000" noProof="1">
                <a:cs typeface="Arial" panose="020B0604020202020204" pitchFamily="34" charset="0"/>
              </a:rPr>
              <a:t>(İnternet sadece test için harcanıyor.)</a:t>
            </a:r>
          </a:p>
        </p:txBody>
      </p:sp>
      <p:sp>
        <p:nvSpPr>
          <p:cNvPr id="8" name="Dikdörtgen 7">
            <a:extLst>
              <a:ext uri="{FF2B5EF4-FFF2-40B4-BE49-F238E27FC236}">
                <a16:creationId xmlns:a16="http://schemas.microsoft.com/office/drawing/2014/main" id="{0F8B96E3-5E76-48CF-987F-55CFFB928CDF}"/>
              </a:ext>
            </a:extLst>
          </p:cNvPr>
          <p:cNvSpPr/>
          <p:nvPr/>
        </p:nvSpPr>
        <p:spPr>
          <a:xfrm>
            <a:off x="1351004" y="1072748"/>
            <a:ext cx="277124" cy="246220"/>
          </a:xfrm>
          <a:prstGeom prst="rect">
            <a:avLst/>
          </a:prstGeom>
          <a:solidFill>
            <a:srgbClr val="CC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7" name="Dikdörtgen 46">
            <a:extLst>
              <a:ext uri="{FF2B5EF4-FFF2-40B4-BE49-F238E27FC236}">
                <a16:creationId xmlns:a16="http://schemas.microsoft.com/office/drawing/2014/main" id="{86AD1DE9-FE05-4351-9E5A-4D4777A024CE}"/>
              </a:ext>
            </a:extLst>
          </p:cNvPr>
          <p:cNvSpPr/>
          <p:nvPr/>
        </p:nvSpPr>
        <p:spPr>
          <a:xfrm>
            <a:off x="1351004" y="1317062"/>
            <a:ext cx="277124" cy="246220"/>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59" name="Dikdörtgen 58">
            <a:extLst>
              <a:ext uri="{FF2B5EF4-FFF2-40B4-BE49-F238E27FC236}">
                <a16:creationId xmlns:a16="http://schemas.microsoft.com/office/drawing/2014/main" id="{55C57D36-4BFE-400F-A440-82173FDED51D}"/>
              </a:ext>
            </a:extLst>
          </p:cNvPr>
          <p:cNvSpPr/>
          <p:nvPr/>
        </p:nvSpPr>
        <p:spPr>
          <a:xfrm>
            <a:off x="1351004" y="1563282"/>
            <a:ext cx="277124" cy="246220"/>
          </a:xfrm>
          <a:prstGeom prst="rect">
            <a:avLst/>
          </a:prstGeom>
          <a:solidFill>
            <a:srgbClr val="CC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3" name="Dikdörtgen 62">
            <a:extLst>
              <a:ext uri="{FF2B5EF4-FFF2-40B4-BE49-F238E27FC236}">
                <a16:creationId xmlns:a16="http://schemas.microsoft.com/office/drawing/2014/main" id="{F164D095-4915-4DBD-AD1D-5FAB516E0B97}"/>
              </a:ext>
            </a:extLst>
          </p:cNvPr>
          <p:cNvSpPr/>
          <p:nvPr/>
        </p:nvSpPr>
        <p:spPr>
          <a:xfrm>
            <a:off x="1351004" y="1809237"/>
            <a:ext cx="277124" cy="246220"/>
          </a:xfrm>
          <a:prstGeom prst="rect">
            <a:avLst/>
          </a:prstGeom>
          <a:solidFill>
            <a:srgbClr val="CC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4" name="Dikdörtgen 63">
            <a:extLst>
              <a:ext uri="{FF2B5EF4-FFF2-40B4-BE49-F238E27FC236}">
                <a16:creationId xmlns:a16="http://schemas.microsoft.com/office/drawing/2014/main" id="{4F76936A-17DB-47F0-A005-12FEDD677C73}"/>
              </a:ext>
            </a:extLst>
          </p:cNvPr>
          <p:cNvSpPr/>
          <p:nvPr/>
        </p:nvSpPr>
        <p:spPr>
          <a:xfrm>
            <a:off x="1351004" y="2055076"/>
            <a:ext cx="277124" cy="246220"/>
          </a:xfrm>
          <a:prstGeom prst="rect">
            <a:avLst/>
          </a:prstGeom>
          <a:solidFill>
            <a:srgbClr val="CC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5" name="Dikdörtgen 64">
            <a:extLst>
              <a:ext uri="{FF2B5EF4-FFF2-40B4-BE49-F238E27FC236}">
                <a16:creationId xmlns:a16="http://schemas.microsoft.com/office/drawing/2014/main" id="{1F56E2FE-ACC6-47FC-81AF-F23841A0319C}"/>
              </a:ext>
            </a:extLst>
          </p:cNvPr>
          <p:cNvSpPr/>
          <p:nvPr/>
        </p:nvSpPr>
        <p:spPr>
          <a:xfrm>
            <a:off x="1073880" y="1317062"/>
            <a:ext cx="277124" cy="246220"/>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66" name="Dikdörtgen 65">
            <a:extLst>
              <a:ext uri="{FF2B5EF4-FFF2-40B4-BE49-F238E27FC236}">
                <a16:creationId xmlns:a16="http://schemas.microsoft.com/office/drawing/2014/main" id="{EF034DC4-A085-42B8-A94B-8C2AE9513F8C}"/>
              </a:ext>
            </a:extLst>
          </p:cNvPr>
          <p:cNvSpPr/>
          <p:nvPr/>
        </p:nvSpPr>
        <p:spPr>
          <a:xfrm>
            <a:off x="1628575" y="1316739"/>
            <a:ext cx="277124" cy="246220"/>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67" name="Dikdörtgen 66">
            <a:extLst>
              <a:ext uri="{FF2B5EF4-FFF2-40B4-BE49-F238E27FC236}">
                <a16:creationId xmlns:a16="http://schemas.microsoft.com/office/drawing/2014/main" id="{656AE727-417C-4C9C-AA87-D51A7EFAE7FD}"/>
              </a:ext>
            </a:extLst>
          </p:cNvPr>
          <p:cNvSpPr/>
          <p:nvPr/>
        </p:nvSpPr>
        <p:spPr>
          <a:xfrm>
            <a:off x="1904805" y="1317827"/>
            <a:ext cx="277124" cy="246220"/>
          </a:xfrm>
          <a:prstGeom prst="rect">
            <a:avLst/>
          </a:prstGeom>
          <a:solidFill>
            <a:schemeClr val="accent6">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68" name="Dikdörtgen 67">
            <a:extLst>
              <a:ext uri="{FF2B5EF4-FFF2-40B4-BE49-F238E27FC236}">
                <a16:creationId xmlns:a16="http://schemas.microsoft.com/office/drawing/2014/main" id="{C661FAB1-5055-4FA4-B1DC-9BEBAF075089}"/>
              </a:ext>
            </a:extLst>
          </p:cNvPr>
          <p:cNvSpPr/>
          <p:nvPr/>
        </p:nvSpPr>
        <p:spPr>
          <a:xfrm>
            <a:off x="1627681" y="1562869"/>
            <a:ext cx="277124" cy="246220"/>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69" name="Dikdörtgen 68">
            <a:extLst>
              <a:ext uri="{FF2B5EF4-FFF2-40B4-BE49-F238E27FC236}">
                <a16:creationId xmlns:a16="http://schemas.microsoft.com/office/drawing/2014/main" id="{7747B179-7F0C-4D21-87AD-95DEF65F70EB}"/>
              </a:ext>
            </a:extLst>
          </p:cNvPr>
          <p:cNvSpPr/>
          <p:nvPr/>
        </p:nvSpPr>
        <p:spPr>
          <a:xfrm>
            <a:off x="1073657" y="1561376"/>
            <a:ext cx="277124" cy="246220"/>
          </a:xfrm>
          <a:prstGeom prst="rect">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cxnSp>
        <p:nvCxnSpPr>
          <p:cNvPr id="15" name="Düz Ok Bağlayıcısı 14">
            <a:extLst>
              <a:ext uri="{FF2B5EF4-FFF2-40B4-BE49-F238E27FC236}">
                <a16:creationId xmlns:a16="http://schemas.microsoft.com/office/drawing/2014/main" id="{4E5EEC55-9B2E-4AAD-A5C7-571ACB069DD0}"/>
              </a:ext>
            </a:extLst>
          </p:cNvPr>
          <p:cNvCxnSpPr/>
          <p:nvPr/>
        </p:nvCxnSpPr>
        <p:spPr>
          <a:xfrm>
            <a:off x="32068" y="1349249"/>
            <a:ext cx="9588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Metin kutusu 69">
            <a:extLst>
              <a:ext uri="{FF2B5EF4-FFF2-40B4-BE49-F238E27FC236}">
                <a16:creationId xmlns:a16="http://schemas.microsoft.com/office/drawing/2014/main" id="{1A83F82C-AF30-468F-9C93-B7EA1D3ED19E}"/>
              </a:ext>
            </a:extLst>
          </p:cNvPr>
          <p:cNvSpPr txBox="1"/>
          <p:nvPr/>
        </p:nvSpPr>
        <p:spPr>
          <a:xfrm>
            <a:off x="-24391" y="1387446"/>
            <a:ext cx="1193283" cy="246221"/>
          </a:xfrm>
          <a:prstGeom prst="rect">
            <a:avLst/>
          </a:prstGeom>
          <a:noFill/>
        </p:spPr>
        <p:txBody>
          <a:bodyPr wrap="square" rtlCol="0">
            <a:spAutoFit/>
          </a:bodyPr>
          <a:lstStyle/>
          <a:p>
            <a:r>
              <a:rPr lang="tr-TR" sz="1000" noProof="1">
                <a:solidFill>
                  <a:srgbClr val="002060"/>
                </a:solidFill>
                <a:latin typeface="Arial Narrow" panose="020B0606020202030204" pitchFamily="34" charset="0"/>
                <a:cs typeface="Arial" panose="020B0604020202020204" pitchFamily="34" charset="0"/>
              </a:rPr>
              <a:t>En büyük asal rakam</a:t>
            </a:r>
            <a:endParaRPr lang="tr-TR" sz="1000" b="1" noProof="1">
              <a:solidFill>
                <a:srgbClr val="002060"/>
              </a:solidFill>
              <a:latin typeface="Arial Narrow" panose="020B0606020202030204" pitchFamily="34" charset="0"/>
              <a:cs typeface="Arial" panose="020B0604020202020204" pitchFamily="34" charset="0"/>
            </a:endParaRPr>
          </a:p>
        </p:txBody>
      </p:sp>
      <p:cxnSp>
        <p:nvCxnSpPr>
          <p:cNvPr id="21" name="Bağlayıcı: Dirsek 20">
            <a:extLst>
              <a:ext uri="{FF2B5EF4-FFF2-40B4-BE49-F238E27FC236}">
                <a16:creationId xmlns:a16="http://schemas.microsoft.com/office/drawing/2014/main" id="{18E7D36F-9D30-43B3-9DAB-EA4DA8EA5331}"/>
              </a:ext>
            </a:extLst>
          </p:cNvPr>
          <p:cNvCxnSpPr>
            <a:cxnSpLocks/>
          </p:cNvCxnSpPr>
          <p:nvPr/>
        </p:nvCxnSpPr>
        <p:spPr>
          <a:xfrm rot="10800000" flipV="1">
            <a:off x="1454036" y="925189"/>
            <a:ext cx="347290" cy="142135"/>
          </a:xfrm>
          <a:prstGeom prst="bentConnector3">
            <a:avLst>
              <a:gd name="adj1" fmla="val 100054"/>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1" name="Metin kutusu 70">
            <a:extLst>
              <a:ext uri="{FF2B5EF4-FFF2-40B4-BE49-F238E27FC236}">
                <a16:creationId xmlns:a16="http://schemas.microsoft.com/office/drawing/2014/main" id="{88433580-AA53-46FA-9086-CF092638EC8A}"/>
              </a:ext>
            </a:extLst>
          </p:cNvPr>
          <p:cNvSpPr txBox="1"/>
          <p:nvPr/>
        </p:nvSpPr>
        <p:spPr>
          <a:xfrm>
            <a:off x="1754867" y="802861"/>
            <a:ext cx="1193283" cy="246221"/>
          </a:xfrm>
          <a:prstGeom prst="rect">
            <a:avLst/>
          </a:prstGeom>
          <a:noFill/>
        </p:spPr>
        <p:txBody>
          <a:bodyPr wrap="square" rtlCol="0">
            <a:spAutoFit/>
          </a:bodyPr>
          <a:lstStyle/>
          <a:p>
            <a:r>
              <a:rPr lang="tr-TR" sz="1000" noProof="1">
                <a:solidFill>
                  <a:srgbClr val="002060"/>
                </a:solidFill>
                <a:latin typeface="Arial Narrow" panose="020B0606020202030204" pitchFamily="34" charset="0"/>
                <a:cs typeface="Arial" panose="020B0604020202020204" pitchFamily="34" charset="0"/>
              </a:rPr>
              <a:t>En büyük çift rakam</a:t>
            </a:r>
            <a:endParaRPr lang="tr-TR" sz="1000" b="1" noProof="1">
              <a:solidFill>
                <a:srgbClr val="002060"/>
              </a:solidFill>
              <a:latin typeface="Arial Narrow" panose="020B0606020202030204" pitchFamily="34" charset="0"/>
              <a:cs typeface="Arial" panose="020B0604020202020204" pitchFamily="34" charset="0"/>
            </a:endParaRPr>
          </a:p>
        </p:txBody>
      </p:sp>
      <p:sp>
        <p:nvSpPr>
          <p:cNvPr id="74" name="Metin kutusu 73">
            <a:extLst>
              <a:ext uri="{FF2B5EF4-FFF2-40B4-BE49-F238E27FC236}">
                <a16:creationId xmlns:a16="http://schemas.microsoft.com/office/drawing/2014/main" id="{E20B1C0B-B54C-4B84-8399-9724C2EE369F}"/>
              </a:ext>
            </a:extLst>
          </p:cNvPr>
          <p:cNvSpPr txBox="1"/>
          <p:nvPr/>
        </p:nvSpPr>
        <p:spPr>
          <a:xfrm>
            <a:off x="62278" y="1910839"/>
            <a:ext cx="856908" cy="400110"/>
          </a:xfrm>
          <a:prstGeom prst="rect">
            <a:avLst/>
          </a:prstGeom>
          <a:noFill/>
        </p:spPr>
        <p:txBody>
          <a:bodyPr wrap="square" rtlCol="0">
            <a:spAutoFit/>
          </a:bodyPr>
          <a:lstStyle/>
          <a:p>
            <a:r>
              <a:rPr lang="tr-TR" sz="1000" noProof="1">
                <a:solidFill>
                  <a:srgbClr val="002060"/>
                </a:solidFill>
                <a:latin typeface="Arial Narrow" panose="020B0606020202030204" pitchFamily="34" charset="0"/>
                <a:cs typeface="Arial" panose="020B0604020202020204" pitchFamily="34" charset="0"/>
              </a:rPr>
              <a:t>En küçük</a:t>
            </a:r>
          </a:p>
          <a:p>
            <a:r>
              <a:rPr lang="tr-TR" sz="1000" noProof="1">
                <a:solidFill>
                  <a:srgbClr val="002060"/>
                </a:solidFill>
                <a:latin typeface="Arial Narrow" panose="020B0606020202030204" pitchFamily="34" charset="0"/>
                <a:cs typeface="Arial" panose="020B0604020202020204" pitchFamily="34" charset="0"/>
              </a:rPr>
              <a:t>Asal sayı</a:t>
            </a:r>
          </a:p>
        </p:txBody>
      </p:sp>
      <p:cxnSp>
        <p:nvCxnSpPr>
          <p:cNvPr id="76" name="Bağlayıcı: Dirsek 75">
            <a:extLst>
              <a:ext uri="{FF2B5EF4-FFF2-40B4-BE49-F238E27FC236}">
                <a16:creationId xmlns:a16="http://schemas.microsoft.com/office/drawing/2014/main" id="{AC7CE5F7-4BE4-4B38-AFA2-B339869A3E69}"/>
              </a:ext>
            </a:extLst>
          </p:cNvPr>
          <p:cNvCxnSpPr>
            <a:cxnSpLocks/>
            <a:stCxn id="69" idx="1"/>
          </p:cNvCxnSpPr>
          <p:nvPr/>
        </p:nvCxnSpPr>
        <p:spPr>
          <a:xfrm rot="10800000" flipV="1">
            <a:off x="620689" y="1684486"/>
            <a:ext cx="452969" cy="384184"/>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8" name="Metin kutusu 77">
            <a:extLst>
              <a:ext uri="{FF2B5EF4-FFF2-40B4-BE49-F238E27FC236}">
                <a16:creationId xmlns:a16="http://schemas.microsoft.com/office/drawing/2014/main" id="{0FAB7191-317A-4604-BDA4-920900A4F240}"/>
              </a:ext>
            </a:extLst>
          </p:cNvPr>
          <p:cNvSpPr txBox="1"/>
          <p:nvPr/>
        </p:nvSpPr>
        <p:spPr>
          <a:xfrm>
            <a:off x="32069" y="2400984"/>
            <a:ext cx="3389958" cy="553998"/>
          </a:xfrm>
          <a:prstGeom prst="rect">
            <a:avLst/>
          </a:prstGeom>
          <a:noFill/>
        </p:spPr>
        <p:txBody>
          <a:bodyPr wrap="square" rtlCol="0">
            <a:spAutoFit/>
          </a:bodyPr>
          <a:lstStyle/>
          <a:p>
            <a:r>
              <a:rPr lang="tr-TR" sz="1000" b="1" noProof="1">
                <a:cs typeface="Arial" panose="020B0604020202020204" pitchFamily="34" charset="0"/>
              </a:rPr>
              <a:t>Yukardaki bulmaca doğru doldurduluğunda, kutucuklarda iki harfin ortak olarak kullanıldığı görülüyor. Bu iki harf sırasıyla hangisidir?</a:t>
            </a:r>
          </a:p>
        </p:txBody>
      </p:sp>
      <p:sp>
        <p:nvSpPr>
          <p:cNvPr id="79" name="Metin kutusu 78">
            <a:extLst>
              <a:ext uri="{FF2B5EF4-FFF2-40B4-BE49-F238E27FC236}">
                <a16:creationId xmlns:a16="http://schemas.microsoft.com/office/drawing/2014/main" id="{61E48AF8-A2FD-41BB-9868-7A359D5CDDC2}"/>
              </a:ext>
            </a:extLst>
          </p:cNvPr>
          <p:cNvSpPr txBox="1"/>
          <p:nvPr/>
        </p:nvSpPr>
        <p:spPr>
          <a:xfrm>
            <a:off x="33758" y="2893159"/>
            <a:ext cx="3334097" cy="553998"/>
          </a:xfrm>
          <a:prstGeom prst="rect">
            <a:avLst/>
          </a:prstGeom>
          <a:noFill/>
        </p:spPr>
        <p:txBody>
          <a:bodyPr wrap="square" rtlCol="0">
            <a:spAutoFit/>
          </a:bodyPr>
          <a:lstStyle/>
          <a:p>
            <a:r>
              <a:rPr lang="tr-TR" sz="1000" noProof="1"/>
              <a:t>A) s,k                                     B) e,k                                         C) a,e</a:t>
            </a:r>
          </a:p>
          <a:p>
            <a:pPr marL="228600" indent="-228600">
              <a:buAutoNum type="alphaUcParenR"/>
            </a:pPr>
            <a:endParaRPr lang="tr-TR" sz="1000" noProof="1"/>
          </a:p>
          <a:p>
            <a:r>
              <a:rPr lang="tr-TR" sz="1000" noProof="1"/>
              <a:t>                      D) y,i                                        E) d,i</a:t>
            </a:r>
          </a:p>
        </p:txBody>
      </p:sp>
      <p:graphicFrame>
        <p:nvGraphicFramePr>
          <p:cNvPr id="13" name="Tablo 16">
            <a:extLst>
              <a:ext uri="{FF2B5EF4-FFF2-40B4-BE49-F238E27FC236}">
                <a16:creationId xmlns:a16="http://schemas.microsoft.com/office/drawing/2014/main" id="{93E677D6-B892-4CD6-B0E3-B0F7575B351B}"/>
              </a:ext>
            </a:extLst>
          </p:cNvPr>
          <p:cNvGraphicFramePr>
            <a:graphicFrameLocks noGrp="1"/>
          </p:cNvGraphicFramePr>
          <p:nvPr>
            <p:extLst>
              <p:ext uri="{D42A27DB-BD31-4B8C-83A1-F6EECF244321}">
                <p14:modId xmlns:p14="http://schemas.microsoft.com/office/powerpoint/2010/main" val="1555228427"/>
              </p:ext>
            </p:extLst>
          </p:nvPr>
        </p:nvGraphicFramePr>
        <p:xfrm>
          <a:off x="3611112" y="894692"/>
          <a:ext cx="3096236" cy="1345455"/>
        </p:xfrm>
        <a:graphic>
          <a:graphicData uri="http://schemas.openxmlformats.org/drawingml/2006/table">
            <a:tbl>
              <a:tblPr firstRow="1" bandRow="1">
                <a:tableStyleId>{93296810-A885-4BE3-A3E7-6D5BEEA58F35}</a:tableStyleId>
              </a:tblPr>
              <a:tblGrid>
                <a:gridCol w="1114032">
                  <a:extLst>
                    <a:ext uri="{9D8B030D-6E8A-4147-A177-3AD203B41FA5}">
                      <a16:colId xmlns:a16="http://schemas.microsoft.com/office/drawing/2014/main" val="3921996418"/>
                    </a:ext>
                  </a:extLst>
                </a:gridCol>
                <a:gridCol w="1982204">
                  <a:extLst>
                    <a:ext uri="{9D8B030D-6E8A-4147-A177-3AD203B41FA5}">
                      <a16:colId xmlns:a16="http://schemas.microsoft.com/office/drawing/2014/main" val="283238499"/>
                    </a:ext>
                  </a:extLst>
                </a:gridCol>
              </a:tblGrid>
              <a:tr h="269091">
                <a:tc>
                  <a:txBody>
                    <a:bodyPr/>
                    <a:lstStyle/>
                    <a:p>
                      <a:pPr algn="ctr"/>
                      <a:r>
                        <a:rPr lang="tr-TR" dirty="0"/>
                        <a:t>Çözünürlük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tr-TR" dirty="0"/>
                        <a:t>Dakikada Harcadığı İnternet (MB)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998377"/>
                  </a:ext>
                </a:extLst>
              </a:tr>
              <a:tr h="269091">
                <a:tc>
                  <a:txBody>
                    <a:bodyPr/>
                    <a:lstStyle/>
                    <a:p>
                      <a:pPr algn="ctr"/>
                      <a:r>
                        <a:rPr lang="tr-TR" dirty="0"/>
                        <a:t>1080p Full </a:t>
                      </a:r>
                      <a:r>
                        <a:rPr lang="tr-TR" b="1" dirty="0"/>
                        <a:t>HD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913611"/>
                  </a:ext>
                </a:extLst>
              </a:tr>
              <a:tr h="269091">
                <a:tc>
                  <a:txBody>
                    <a:bodyPr/>
                    <a:lstStyle/>
                    <a:p>
                      <a:pPr algn="ctr"/>
                      <a:r>
                        <a:rPr lang="tr-TR" dirty="0"/>
                        <a:t>720p </a:t>
                      </a:r>
                      <a:r>
                        <a:rPr lang="tr-TR" b="1" dirty="0"/>
                        <a:t>HD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338395"/>
                  </a:ext>
                </a:extLst>
              </a:tr>
              <a:tr h="269091">
                <a:tc>
                  <a:txBody>
                    <a:bodyPr/>
                    <a:lstStyle/>
                    <a:p>
                      <a:pPr algn="ctr"/>
                      <a:r>
                        <a:rPr lang="tr-TR" dirty="0"/>
                        <a:t>480p </a:t>
                      </a:r>
                      <a:r>
                        <a:rPr lang="tr-TR" b="1" dirty="0"/>
                        <a:t>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4927553"/>
                  </a:ext>
                </a:extLst>
              </a:tr>
              <a:tr h="269091">
                <a:tc>
                  <a:txBody>
                    <a:bodyPr/>
                    <a:lstStyle/>
                    <a:p>
                      <a:pPr algn="ctr"/>
                      <a:r>
                        <a:rPr lang="tr-TR" dirty="0"/>
                        <a:t>360p </a:t>
                      </a:r>
                      <a:r>
                        <a:rPr lang="tr-TR" b="1" dirty="0"/>
                        <a:t>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427564"/>
                  </a:ext>
                </a:extLst>
              </a:tr>
            </a:tbl>
          </a:graphicData>
        </a:graphic>
      </p:graphicFrame>
      <p:sp>
        <p:nvSpPr>
          <p:cNvPr id="72" name="Metin kutusu 71">
            <a:extLst>
              <a:ext uri="{FF2B5EF4-FFF2-40B4-BE49-F238E27FC236}">
                <a16:creationId xmlns:a16="http://schemas.microsoft.com/office/drawing/2014/main" id="{46E737D7-E482-49E0-9278-F223544CFFA2}"/>
              </a:ext>
            </a:extLst>
          </p:cNvPr>
          <p:cNvSpPr txBox="1"/>
          <p:nvPr/>
        </p:nvSpPr>
        <p:spPr>
          <a:xfrm>
            <a:off x="3493852" y="469586"/>
            <a:ext cx="3316038" cy="400110"/>
          </a:xfrm>
          <a:prstGeom prst="rect">
            <a:avLst/>
          </a:prstGeom>
          <a:noFill/>
        </p:spPr>
        <p:txBody>
          <a:bodyPr wrap="square" rtlCol="0">
            <a:spAutoFit/>
          </a:bodyPr>
          <a:lstStyle/>
          <a:p>
            <a:r>
              <a:rPr lang="tr-TR" sz="1000" noProof="1">
                <a:cs typeface="Arial" panose="020B0604020202020204" pitchFamily="34" charset="0"/>
              </a:rPr>
              <a:t>Aşağıda yaklaşık olarak çözünürlüğe göre dakikada harcanan internet kullanımı megabayt (MB) cinsinden verilmiştir.</a:t>
            </a:r>
            <a:endParaRPr lang="tr-TR" sz="1000" b="1" noProof="1">
              <a:cs typeface="Arial" panose="020B0604020202020204" pitchFamily="34" charset="0"/>
            </a:endParaRPr>
          </a:p>
        </p:txBody>
      </p:sp>
      <p:sp>
        <p:nvSpPr>
          <p:cNvPr id="85" name="Metin kutusu 84">
            <a:extLst>
              <a:ext uri="{FF2B5EF4-FFF2-40B4-BE49-F238E27FC236}">
                <a16:creationId xmlns:a16="http://schemas.microsoft.com/office/drawing/2014/main" id="{76B5B605-B567-4FD6-A01E-FBDE8D359A93}"/>
              </a:ext>
            </a:extLst>
          </p:cNvPr>
          <p:cNvSpPr txBox="1"/>
          <p:nvPr/>
        </p:nvSpPr>
        <p:spPr>
          <a:xfrm>
            <a:off x="3544766" y="6085869"/>
            <a:ext cx="3330845" cy="1015663"/>
          </a:xfrm>
          <a:prstGeom prst="rect">
            <a:avLst/>
          </a:prstGeom>
          <a:noFill/>
        </p:spPr>
        <p:txBody>
          <a:bodyPr wrap="square" rtlCol="0">
            <a:spAutoFit/>
          </a:bodyPr>
          <a:lstStyle/>
          <a:p>
            <a:r>
              <a:rPr lang="tr-TR" sz="1000" noProof="1">
                <a:cs typeface="Arial" panose="020B0604020202020204" pitchFamily="34" charset="0"/>
              </a:rPr>
              <a:t>Zenan; merdiveni üçer üçer çıkıp, ikişer ikişer inmektedir. Aynı merdiveni Suat; dörder dörder çıkıp, üçer üçer inmektedir. </a:t>
            </a:r>
          </a:p>
          <a:p>
            <a:endParaRPr lang="tr-TR" sz="1000" noProof="1">
              <a:cs typeface="Arial" panose="020B0604020202020204" pitchFamily="34" charset="0"/>
            </a:endParaRPr>
          </a:p>
          <a:p>
            <a:r>
              <a:rPr lang="tr-TR" sz="1000" b="1" noProof="1">
                <a:cs typeface="Arial" panose="020B0604020202020204" pitchFamily="34" charset="0"/>
              </a:rPr>
              <a:t>Zenan, Suat`dan 21 adım fazla attığına göre bu merdiven kaç basamaklıdır?</a:t>
            </a:r>
          </a:p>
        </p:txBody>
      </p:sp>
      <p:sp>
        <p:nvSpPr>
          <p:cNvPr id="86" name="Metin kutusu 85">
            <a:extLst>
              <a:ext uri="{FF2B5EF4-FFF2-40B4-BE49-F238E27FC236}">
                <a16:creationId xmlns:a16="http://schemas.microsoft.com/office/drawing/2014/main" id="{5F4798E3-80AD-44B9-90F5-408B8F0F23BF}"/>
              </a:ext>
            </a:extLst>
          </p:cNvPr>
          <p:cNvSpPr txBox="1"/>
          <p:nvPr/>
        </p:nvSpPr>
        <p:spPr>
          <a:xfrm>
            <a:off x="3537580" y="7051163"/>
            <a:ext cx="3334097" cy="553998"/>
          </a:xfrm>
          <a:prstGeom prst="rect">
            <a:avLst/>
          </a:prstGeom>
          <a:noFill/>
        </p:spPr>
        <p:txBody>
          <a:bodyPr wrap="square" rtlCol="0">
            <a:spAutoFit/>
          </a:bodyPr>
          <a:lstStyle/>
          <a:p>
            <a:r>
              <a:rPr lang="tr-TR" sz="1000" dirty="0"/>
              <a:t>A) 36                                     B) 48                                         C) 60</a:t>
            </a:r>
          </a:p>
          <a:p>
            <a:pPr marL="228600" indent="-228600">
              <a:buAutoNum type="alphaUcParenR"/>
            </a:pPr>
            <a:endParaRPr lang="tr-TR" sz="1000" dirty="0"/>
          </a:p>
          <a:p>
            <a:r>
              <a:rPr lang="tr-TR" sz="1000" dirty="0"/>
              <a:t>                      D) 72                                        E) 84</a:t>
            </a:r>
          </a:p>
        </p:txBody>
      </p:sp>
      <p:sp>
        <p:nvSpPr>
          <p:cNvPr id="58" name="Metin kutusu 57">
            <a:extLst>
              <a:ext uri="{FF2B5EF4-FFF2-40B4-BE49-F238E27FC236}">
                <a16:creationId xmlns:a16="http://schemas.microsoft.com/office/drawing/2014/main" id="{7039D9AD-D49E-4B44-9B13-DFF0B82E5F9B}"/>
              </a:ext>
            </a:extLst>
          </p:cNvPr>
          <p:cNvSpPr txBox="1"/>
          <p:nvPr/>
        </p:nvSpPr>
        <p:spPr>
          <a:xfrm>
            <a:off x="0" y="8830327"/>
            <a:ext cx="1340768"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6.B    7.C     8.D   9.E</a:t>
            </a:r>
          </a:p>
        </p:txBody>
      </p:sp>
    </p:spTree>
    <p:extLst>
      <p:ext uri="{BB962C8B-B14F-4D97-AF65-F5344CB8AC3E}">
        <p14:creationId xmlns:p14="http://schemas.microsoft.com/office/powerpoint/2010/main" val="27515227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55</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7909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7" name="Dikdörtgen 46">
            <a:extLst>
              <a:ext uri="{FF2B5EF4-FFF2-40B4-BE49-F238E27FC236}">
                <a16:creationId xmlns:a16="http://schemas.microsoft.com/office/drawing/2014/main" id="{0A297E1F-FE2B-42F3-B2F8-391247E33991}"/>
              </a:ext>
            </a:extLst>
          </p:cNvPr>
          <p:cNvSpPr/>
          <p:nvPr/>
        </p:nvSpPr>
        <p:spPr>
          <a:xfrm>
            <a:off x="1545162"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B82E1891-E19B-4792-8D6A-9E3A416C2186}"/>
                  </a:ext>
                </a:extLst>
              </p:cNvPr>
              <p:cNvSpPr txBox="1"/>
              <p:nvPr/>
            </p:nvSpPr>
            <p:spPr>
              <a:xfrm>
                <a:off x="100053" y="466976"/>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3" name="Metin kutusu 52">
                <a:extLst>
                  <a:ext uri="{FF2B5EF4-FFF2-40B4-BE49-F238E27FC236}">
                    <a16:creationId xmlns:a16="http://schemas.microsoft.com/office/drawing/2014/main" id="{B82E1891-E19B-4792-8D6A-9E3A416C2186}"/>
                  </a:ext>
                </a:extLst>
              </p:cNvPr>
              <p:cNvSpPr txBox="1">
                <a:spLocks noRot="1" noChangeAspect="1" noMove="1" noResize="1" noEditPoints="1" noAdjustHandles="1" noChangeArrowheads="1" noChangeShapeType="1" noTextEdit="1"/>
              </p:cNvSpPr>
              <p:nvPr/>
            </p:nvSpPr>
            <p:spPr>
              <a:xfrm>
                <a:off x="100053" y="466976"/>
                <a:ext cx="3242609" cy="276422"/>
              </a:xfrm>
              <a:prstGeom prst="rect">
                <a:avLst/>
              </a:prstGeom>
              <a:blipFill>
                <a:blip r:embed="rId5"/>
                <a:stretch>
                  <a:fillRect b="-4444"/>
                </a:stretch>
              </a:blipFill>
            </p:spPr>
            <p:txBody>
              <a:bodyPr/>
              <a:lstStyle/>
              <a:p>
                <a:r>
                  <a:rPr lang="tr-TR">
                    <a:noFill/>
                  </a:rPr>
                  <a:t> </a:t>
                </a:r>
              </a:p>
            </p:txBody>
          </p:sp>
        </mc:Fallback>
      </mc:AlternateContent>
      <p:sp>
        <p:nvSpPr>
          <p:cNvPr id="54" name="Metin kutusu 53">
            <a:extLst>
              <a:ext uri="{FF2B5EF4-FFF2-40B4-BE49-F238E27FC236}">
                <a16:creationId xmlns:a16="http://schemas.microsoft.com/office/drawing/2014/main" id="{6F571631-C11B-45EE-8A46-C84A1F97ADD2}"/>
              </a:ext>
            </a:extLst>
          </p:cNvPr>
          <p:cNvSpPr txBox="1"/>
          <p:nvPr/>
        </p:nvSpPr>
        <p:spPr>
          <a:xfrm>
            <a:off x="130290" y="1182425"/>
            <a:ext cx="3242609"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5" name="Dikdörtgen 54">
            <a:extLst>
              <a:ext uri="{FF2B5EF4-FFF2-40B4-BE49-F238E27FC236}">
                <a16:creationId xmlns:a16="http://schemas.microsoft.com/office/drawing/2014/main" id="{60057654-B723-41D9-BB6B-053ABEC224DE}"/>
              </a:ext>
            </a:extLst>
          </p:cNvPr>
          <p:cNvSpPr/>
          <p:nvPr/>
        </p:nvSpPr>
        <p:spPr>
          <a:xfrm>
            <a:off x="207340" y="5446562"/>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6" name="Metin kutusu 55">
                <a:extLst>
                  <a:ext uri="{FF2B5EF4-FFF2-40B4-BE49-F238E27FC236}">
                    <a16:creationId xmlns:a16="http://schemas.microsoft.com/office/drawing/2014/main" id="{FE808314-3229-48D7-98E6-513795AE49C4}"/>
                  </a:ext>
                </a:extLst>
              </p:cNvPr>
              <p:cNvSpPr txBox="1"/>
              <p:nvPr/>
            </p:nvSpPr>
            <p:spPr>
              <a:xfrm>
                <a:off x="91742" y="4736045"/>
                <a:ext cx="3286993"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6" name="Metin kutusu 55">
                <a:extLst>
                  <a:ext uri="{FF2B5EF4-FFF2-40B4-BE49-F238E27FC236}">
                    <a16:creationId xmlns:a16="http://schemas.microsoft.com/office/drawing/2014/main" id="{FE808314-3229-48D7-98E6-513795AE49C4}"/>
                  </a:ext>
                </a:extLst>
              </p:cNvPr>
              <p:cNvSpPr txBox="1">
                <a:spLocks noRot="1" noChangeAspect="1" noMove="1" noResize="1" noEditPoints="1" noAdjustHandles="1" noChangeArrowheads="1" noChangeShapeType="1" noTextEdit="1"/>
              </p:cNvSpPr>
              <p:nvPr/>
            </p:nvSpPr>
            <p:spPr>
              <a:xfrm>
                <a:off x="91742" y="4736045"/>
                <a:ext cx="3286993"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BC1E34C2-F2E4-4462-A599-B05FDF8A9639}"/>
                  </a:ext>
                </a:extLst>
              </p:cNvPr>
              <p:cNvSpPr txBox="1"/>
              <p:nvPr/>
            </p:nvSpPr>
            <p:spPr>
              <a:xfrm>
                <a:off x="3522906" y="4729188"/>
                <a:ext cx="3283605"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7" name="Metin kutusu 56">
                <a:extLst>
                  <a:ext uri="{FF2B5EF4-FFF2-40B4-BE49-F238E27FC236}">
                    <a16:creationId xmlns:a16="http://schemas.microsoft.com/office/drawing/2014/main" id="{BC1E34C2-F2E4-4462-A599-B05FDF8A9639}"/>
                  </a:ext>
                </a:extLst>
              </p:cNvPr>
              <p:cNvSpPr txBox="1">
                <a:spLocks noRot="1" noChangeAspect="1" noMove="1" noResize="1" noEditPoints="1" noAdjustHandles="1" noChangeArrowheads="1" noChangeShapeType="1" noTextEdit="1"/>
              </p:cNvSpPr>
              <p:nvPr/>
            </p:nvSpPr>
            <p:spPr>
              <a:xfrm>
                <a:off x="3522906" y="4729188"/>
                <a:ext cx="3283605"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502526" y="462949"/>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502526" y="462949"/>
                <a:ext cx="3242609" cy="276422"/>
              </a:xfrm>
              <a:prstGeom prst="rect">
                <a:avLst/>
              </a:prstGeom>
              <a:blipFill>
                <a:blip r:embed="rId7"/>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483443" y="5309409"/>
                <a:ext cx="3362533" cy="653512"/>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1−3</m:t>
                        </m:r>
                        <m:r>
                          <m:rPr>
                            <m:nor/>
                          </m:rPr>
                          <a:rPr lang="tr-TR" sz="800" i="0" noProof="1">
                            <a:latin typeface="Helvetica" panose="020B0604020202020204" pitchFamily="34" charset="0"/>
                            <a:cs typeface="Helvetica" panose="020B0604020202020204" pitchFamily="34" charset="0"/>
                          </a:rPr>
                          <m:t>A</m:t>
                        </m:r>
                        <m:r>
                          <m:rPr>
                            <m:nor/>
                          </m:rPr>
                          <a:rPr lang="tr-TR" sz="800" i="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m:rPr>
                            <m:nor/>
                          </m:rPr>
                          <a:rPr lang="tr-TR" sz="800" b="0" i="0" noProof="1" smtClean="0">
                            <a:solidFill>
                              <a:schemeClr val="tx1"/>
                            </a:solidFill>
                            <a:latin typeface="Helvetica" panose="020B0604020202020204" pitchFamily="34"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endParaRPr lang="tr-TR" sz="800" noProof="1"/>
              </a:p>
              <a:p>
                <a:br>
                  <a:rPr lang="tr-TR" sz="10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m:rPr>
                            <m:nor/>
                          </m:rPr>
                          <a:rPr lang="tr-TR" sz="800" b="0" i="0" noProof="1" smtClean="0">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483443" y="5309409"/>
                <a:ext cx="3362533" cy="653512"/>
              </a:xfrm>
              <a:prstGeom prst="rect">
                <a:avLst/>
              </a:prstGeom>
              <a:blipFill>
                <a:blip r:embed="rId8"/>
                <a:stretch>
                  <a:fillRect b="-93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380CFD8B-A448-4F49-ACCE-E2A9557B7206}"/>
              </a:ext>
            </a:extLst>
          </p:cNvPr>
          <p:cNvSpPr txBox="1"/>
          <p:nvPr/>
        </p:nvSpPr>
        <p:spPr>
          <a:xfrm>
            <a:off x="3529147" y="1182425"/>
            <a:ext cx="3284216"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5217" y="8839682"/>
            <a:ext cx="198135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5.x    2.x    3.x    4.x    5.x    6.x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Oval 68">
            <a:extLst>
              <a:ext uri="{FF2B5EF4-FFF2-40B4-BE49-F238E27FC236}">
                <a16:creationId xmlns:a16="http://schemas.microsoft.com/office/drawing/2014/main" id="{070D0FEF-7C49-406F-8F1F-ADEEB226DD59}"/>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0" name="Metin kutusu 69">
            <a:extLst>
              <a:ext uri="{FF2B5EF4-FFF2-40B4-BE49-F238E27FC236}">
                <a16:creationId xmlns:a16="http://schemas.microsoft.com/office/drawing/2014/main" id="{C88E303A-F80C-4BF0-A2C1-5BB18F40767E}"/>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71" name="Metin kutusu 70">
            <a:extLst>
              <a:ext uri="{FF2B5EF4-FFF2-40B4-BE49-F238E27FC236}">
                <a16:creationId xmlns:a16="http://schemas.microsoft.com/office/drawing/2014/main" id="{E0BCDE85-8264-473C-B3D7-C52612842750}"/>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72" name="Oval 71">
            <a:extLst>
              <a:ext uri="{FF2B5EF4-FFF2-40B4-BE49-F238E27FC236}">
                <a16:creationId xmlns:a16="http://schemas.microsoft.com/office/drawing/2014/main" id="{93F8C1F1-67BD-4B97-9F0F-D3C81F8CC6EC}"/>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3" name="Düz Bağlayıcı 72">
            <a:extLst>
              <a:ext uri="{FF2B5EF4-FFF2-40B4-BE49-F238E27FC236}">
                <a16:creationId xmlns:a16="http://schemas.microsoft.com/office/drawing/2014/main" id="{36D3044A-CFE7-47C0-BA1F-2F2D1CC2FE81}"/>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4" name="Metin kutusu 73">
            <a:extLst>
              <a:ext uri="{FF2B5EF4-FFF2-40B4-BE49-F238E27FC236}">
                <a16:creationId xmlns:a16="http://schemas.microsoft.com/office/drawing/2014/main" id="{7238CCFF-6818-4CEC-901A-58095A6D46E1}"/>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75" name="Oval 74">
            <a:extLst>
              <a:ext uri="{FF2B5EF4-FFF2-40B4-BE49-F238E27FC236}">
                <a16:creationId xmlns:a16="http://schemas.microsoft.com/office/drawing/2014/main" id="{87530A8D-D432-4184-85F2-D41FC4687F1A}"/>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6" name="Metin kutusu 75">
            <a:extLst>
              <a:ext uri="{FF2B5EF4-FFF2-40B4-BE49-F238E27FC236}">
                <a16:creationId xmlns:a16="http://schemas.microsoft.com/office/drawing/2014/main" id="{C67325AA-7A45-4048-930D-46812DA66CB3}"/>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77" name="Oval 76">
            <a:extLst>
              <a:ext uri="{FF2B5EF4-FFF2-40B4-BE49-F238E27FC236}">
                <a16:creationId xmlns:a16="http://schemas.microsoft.com/office/drawing/2014/main" id="{A4B6902B-D8A8-4FA8-87A7-C59BC2D93F9E}"/>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8" name="Düz Bağlayıcı 77">
            <a:extLst>
              <a:ext uri="{FF2B5EF4-FFF2-40B4-BE49-F238E27FC236}">
                <a16:creationId xmlns:a16="http://schemas.microsoft.com/office/drawing/2014/main" id="{223A4C6F-A45B-40EA-B3BC-8DE6567410C9}"/>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Düz Bağlayıcı 78">
            <a:extLst>
              <a:ext uri="{FF2B5EF4-FFF2-40B4-BE49-F238E27FC236}">
                <a16:creationId xmlns:a16="http://schemas.microsoft.com/office/drawing/2014/main" id="{EDBDA7AE-0041-4637-9430-8F4D30D8BE9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5022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246221"/>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Otantik Test </a:t>
            </a:r>
            <a:r>
              <a:rPr lang="tr-TR" sz="1000" dirty="0">
                <a:solidFill>
                  <a:schemeClr val="tx1"/>
                </a:solidFill>
                <a:latin typeface="Montserrat SemiBold" panose="00000700000000000000" pitchFamily="2" charset="-94"/>
              </a:rPr>
              <a:t>9999</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7909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7" name="Dikdörtgen 46">
            <a:extLst>
              <a:ext uri="{FF2B5EF4-FFF2-40B4-BE49-F238E27FC236}">
                <a16:creationId xmlns:a16="http://schemas.microsoft.com/office/drawing/2014/main" id="{0A297E1F-FE2B-42F3-B2F8-391247E33991}"/>
              </a:ext>
            </a:extLst>
          </p:cNvPr>
          <p:cNvSpPr/>
          <p:nvPr/>
        </p:nvSpPr>
        <p:spPr>
          <a:xfrm>
            <a:off x="1545162"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457260" y="47014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0" y="8830327"/>
            <a:ext cx="198135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1.A    2.E    3.B    4.x    5.x    6.x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89" name="Metin kutusu 88">
            <a:extLst>
              <a:ext uri="{FF2B5EF4-FFF2-40B4-BE49-F238E27FC236}">
                <a16:creationId xmlns:a16="http://schemas.microsoft.com/office/drawing/2014/main" id="{6B0C829E-99F6-43EC-8BED-D5718868126D}"/>
              </a:ext>
            </a:extLst>
          </p:cNvPr>
          <p:cNvSpPr txBox="1"/>
          <p:nvPr/>
        </p:nvSpPr>
        <p:spPr>
          <a:xfrm>
            <a:off x="3694265" y="475121"/>
            <a:ext cx="3175700" cy="384721"/>
          </a:xfrm>
          <a:prstGeom prst="rect">
            <a:avLst/>
          </a:prstGeom>
          <a:noFill/>
        </p:spPr>
        <p:txBody>
          <a:bodyPr wrap="square" rtlCol="0">
            <a:spAutoFit/>
          </a:bodyPr>
          <a:lstStyle/>
          <a:p>
            <a:r>
              <a:rPr lang="tr-TR" sz="950" noProof="1"/>
              <a:t>Aşağıdaki tabloda lokasyonlara göre saatler verilmiştir.</a:t>
            </a:r>
          </a:p>
          <a:p>
            <a:r>
              <a:rPr lang="tr-TR" sz="950" noProof="1"/>
              <a:t>Örneğin Ankara`da saat 18.38 iken Helsinki`de 17.38 dir.</a:t>
            </a:r>
          </a:p>
        </p:txBody>
      </p:sp>
      <p:graphicFrame>
        <p:nvGraphicFramePr>
          <p:cNvPr id="90" name="Tablo 89">
            <a:extLst>
              <a:ext uri="{FF2B5EF4-FFF2-40B4-BE49-F238E27FC236}">
                <a16:creationId xmlns:a16="http://schemas.microsoft.com/office/drawing/2014/main" id="{9E800FE6-9CF2-4C77-8A9C-972F7B54EF4E}"/>
              </a:ext>
            </a:extLst>
          </p:cNvPr>
          <p:cNvGraphicFramePr>
            <a:graphicFrameLocks noGrp="1"/>
          </p:cNvGraphicFramePr>
          <p:nvPr>
            <p:extLst>
              <p:ext uri="{D42A27DB-BD31-4B8C-83A1-F6EECF244321}">
                <p14:modId xmlns:p14="http://schemas.microsoft.com/office/powerpoint/2010/main" val="1035115259"/>
              </p:ext>
            </p:extLst>
          </p:nvPr>
        </p:nvGraphicFramePr>
        <p:xfrm>
          <a:off x="3881722" y="873851"/>
          <a:ext cx="2336938" cy="1036320"/>
        </p:xfrm>
        <a:graphic>
          <a:graphicData uri="http://schemas.openxmlformats.org/drawingml/2006/table">
            <a:tbl>
              <a:tblPr firstRow="1" bandRow="1">
                <a:tableStyleId>{EB9631B5-78F2-41C9-869B-9F39066F8104}</a:tableStyleId>
              </a:tblPr>
              <a:tblGrid>
                <a:gridCol w="1168469">
                  <a:extLst>
                    <a:ext uri="{9D8B030D-6E8A-4147-A177-3AD203B41FA5}">
                      <a16:colId xmlns:a16="http://schemas.microsoft.com/office/drawing/2014/main" val="20000"/>
                    </a:ext>
                  </a:extLst>
                </a:gridCol>
                <a:gridCol w="1168469">
                  <a:extLst>
                    <a:ext uri="{9D8B030D-6E8A-4147-A177-3AD203B41FA5}">
                      <a16:colId xmlns:a16="http://schemas.microsoft.com/office/drawing/2014/main" val="20001"/>
                    </a:ext>
                  </a:extLst>
                </a:gridCol>
              </a:tblGrid>
              <a:tr h="254000">
                <a:tc>
                  <a:txBody>
                    <a:bodyPr/>
                    <a:lstStyle/>
                    <a:p>
                      <a:pPr algn="ctr"/>
                      <a:r>
                        <a:rPr lang="tr-TR" sz="1100" noProof="1">
                          <a:solidFill>
                            <a:schemeClr val="tx1"/>
                          </a:solidFill>
                        </a:rPr>
                        <a:t>Lokasyon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tr-TR" sz="1100" noProof="1">
                          <a:solidFill>
                            <a:schemeClr val="tx1"/>
                          </a:solidFill>
                        </a:rPr>
                        <a:t>Saat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254000">
                <a:tc>
                  <a:txBody>
                    <a:bodyPr/>
                    <a:lstStyle/>
                    <a:p>
                      <a:pPr algn="ctr"/>
                      <a:r>
                        <a:rPr lang="tr-TR" sz="1100" noProof="1"/>
                        <a:t>Ankara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1100" noProof="1"/>
                        <a:t>18.38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4000">
                <a:tc>
                  <a:txBody>
                    <a:bodyPr/>
                    <a:lstStyle/>
                    <a:p>
                      <a:pPr algn="ctr"/>
                      <a:r>
                        <a:rPr lang="tr-TR" sz="1100" noProof="1"/>
                        <a:t>Helsinki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1100" noProof="1"/>
                        <a:t>17.38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54000">
                <a:tc>
                  <a:txBody>
                    <a:bodyPr/>
                    <a:lstStyle/>
                    <a:p>
                      <a:pPr algn="ctr"/>
                      <a:r>
                        <a:rPr lang="tr-TR" sz="1100" noProof="1"/>
                        <a:t>Tokyo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tr-TR" sz="1100" noProof="1">
                          <a:solidFill>
                            <a:sysClr val="windowText" lastClr="000000"/>
                          </a:solidFill>
                        </a:rPr>
                        <a:t>00.38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1" name="Metin kutusu 90">
            <a:extLst>
              <a:ext uri="{FF2B5EF4-FFF2-40B4-BE49-F238E27FC236}">
                <a16:creationId xmlns:a16="http://schemas.microsoft.com/office/drawing/2014/main" id="{35EF3153-1AD8-432C-98F4-49FA6FCDE40D}"/>
              </a:ext>
            </a:extLst>
          </p:cNvPr>
          <p:cNvSpPr txBox="1"/>
          <p:nvPr/>
        </p:nvSpPr>
        <p:spPr>
          <a:xfrm>
            <a:off x="3562994" y="1991798"/>
            <a:ext cx="3272214" cy="1115690"/>
          </a:xfrm>
          <a:prstGeom prst="rect">
            <a:avLst/>
          </a:prstGeom>
          <a:noFill/>
        </p:spPr>
        <p:txBody>
          <a:bodyPr wrap="square" rtlCol="0">
            <a:spAutoFit/>
          </a:bodyPr>
          <a:lstStyle/>
          <a:p>
            <a:r>
              <a:rPr lang="tr-TR" sz="950" noProof="1"/>
              <a:t>Ankara`da bulunan Ahmet bir video hazırlamıştır. Bu videoyu paylaşım platformuna yükleyecektir. Videonun süresi 360 dakika olup, videonun sabit hızla tamamen yüklenmesi </a:t>
            </a:r>
          </a:p>
          <a:p>
            <a:r>
              <a:rPr lang="tr-TR" sz="950" noProof="1"/>
              <a:t>2 saat sürmüştür. Bu videoyu yükledikten hemen sonra izleyecek olan Selim Helsinki şehrinden Tokyo şehrine yolculuk yapmaktadır. Aşağıda videonun yüklendiği platformun videoyu hızlandırma opsiyonları verilmiştir.</a:t>
            </a:r>
          </a:p>
        </p:txBody>
      </p:sp>
      <p:sp>
        <p:nvSpPr>
          <p:cNvPr id="92" name="10-Noktalı Yıldız 5">
            <a:extLst>
              <a:ext uri="{FF2B5EF4-FFF2-40B4-BE49-F238E27FC236}">
                <a16:creationId xmlns:a16="http://schemas.microsoft.com/office/drawing/2014/main" id="{B967FEAD-088E-420C-90DA-F6B7D53F370B}"/>
              </a:ext>
            </a:extLst>
          </p:cNvPr>
          <p:cNvSpPr/>
          <p:nvPr/>
        </p:nvSpPr>
        <p:spPr>
          <a:xfrm>
            <a:off x="3699251" y="3107488"/>
            <a:ext cx="555998" cy="504056"/>
          </a:xfrm>
          <a:prstGeom prst="star1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3" name="10-Noktalı Yıldız 37">
            <a:extLst>
              <a:ext uri="{FF2B5EF4-FFF2-40B4-BE49-F238E27FC236}">
                <a16:creationId xmlns:a16="http://schemas.microsoft.com/office/drawing/2014/main" id="{E7348F73-5DC9-421A-AD58-36FE76B73F38}"/>
              </a:ext>
            </a:extLst>
          </p:cNvPr>
          <p:cNvSpPr/>
          <p:nvPr/>
        </p:nvSpPr>
        <p:spPr>
          <a:xfrm>
            <a:off x="4407650" y="3107488"/>
            <a:ext cx="555998" cy="504056"/>
          </a:xfrm>
          <a:prstGeom prst="star1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4" name="10-Noktalı Yıldız 38">
            <a:extLst>
              <a:ext uri="{FF2B5EF4-FFF2-40B4-BE49-F238E27FC236}">
                <a16:creationId xmlns:a16="http://schemas.microsoft.com/office/drawing/2014/main" id="{523D373E-38AF-45D4-8D6C-2C2596A45BB8}"/>
              </a:ext>
            </a:extLst>
          </p:cNvPr>
          <p:cNvSpPr/>
          <p:nvPr/>
        </p:nvSpPr>
        <p:spPr>
          <a:xfrm>
            <a:off x="5395696" y="3107488"/>
            <a:ext cx="555998" cy="504056"/>
          </a:xfrm>
          <a:prstGeom prst="star1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5" name="10-Noktalı Yıldız 39">
            <a:extLst>
              <a:ext uri="{FF2B5EF4-FFF2-40B4-BE49-F238E27FC236}">
                <a16:creationId xmlns:a16="http://schemas.microsoft.com/office/drawing/2014/main" id="{F109F060-AA3D-4E33-B5D4-4DAE5EB51067}"/>
              </a:ext>
            </a:extLst>
          </p:cNvPr>
          <p:cNvSpPr/>
          <p:nvPr/>
        </p:nvSpPr>
        <p:spPr>
          <a:xfrm>
            <a:off x="6104093" y="3107488"/>
            <a:ext cx="555998" cy="504056"/>
          </a:xfrm>
          <a:prstGeom prst="star1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6" name="Metin kutusu 95">
            <a:extLst>
              <a:ext uri="{FF2B5EF4-FFF2-40B4-BE49-F238E27FC236}">
                <a16:creationId xmlns:a16="http://schemas.microsoft.com/office/drawing/2014/main" id="{1448B3FD-C362-486F-854F-C2217F59754B}"/>
              </a:ext>
            </a:extLst>
          </p:cNvPr>
          <p:cNvSpPr txBox="1"/>
          <p:nvPr/>
        </p:nvSpPr>
        <p:spPr>
          <a:xfrm>
            <a:off x="3699252" y="3154817"/>
            <a:ext cx="590389" cy="384721"/>
          </a:xfrm>
          <a:prstGeom prst="rect">
            <a:avLst/>
          </a:prstGeom>
          <a:noFill/>
        </p:spPr>
        <p:txBody>
          <a:bodyPr wrap="square" rtlCol="0">
            <a:spAutoFit/>
          </a:bodyPr>
          <a:lstStyle/>
          <a:p>
            <a:r>
              <a:rPr lang="tr-TR" sz="950" noProof="1">
                <a:solidFill>
                  <a:schemeClr val="tx1">
                    <a:lumMod val="85000"/>
                    <a:lumOff val="15000"/>
                  </a:schemeClr>
                </a:solidFill>
              </a:rPr>
              <a:t>Normal</a:t>
            </a:r>
          </a:p>
          <a:p>
            <a:r>
              <a:rPr lang="tr-TR" sz="950" noProof="1">
                <a:solidFill>
                  <a:schemeClr val="tx1">
                    <a:lumMod val="85000"/>
                    <a:lumOff val="15000"/>
                  </a:schemeClr>
                </a:solidFill>
              </a:rPr>
              <a:t>(x hız)</a:t>
            </a:r>
          </a:p>
        </p:txBody>
      </p:sp>
      <p:sp>
        <p:nvSpPr>
          <p:cNvPr id="97" name="Metin kutusu 96">
            <a:extLst>
              <a:ext uri="{FF2B5EF4-FFF2-40B4-BE49-F238E27FC236}">
                <a16:creationId xmlns:a16="http://schemas.microsoft.com/office/drawing/2014/main" id="{520AE911-B2E4-48EC-A1EB-A7243EEE53BF}"/>
              </a:ext>
            </a:extLst>
          </p:cNvPr>
          <p:cNvSpPr txBox="1"/>
          <p:nvPr/>
        </p:nvSpPr>
        <p:spPr>
          <a:xfrm>
            <a:off x="4407650" y="3240254"/>
            <a:ext cx="555998" cy="238527"/>
          </a:xfrm>
          <a:prstGeom prst="rect">
            <a:avLst/>
          </a:prstGeom>
          <a:noFill/>
        </p:spPr>
        <p:txBody>
          <a:bodyPr wrap="square" rtlCol="0">
            <a:spAutoFit/>
          </a:bodyPr>
          <a:lstStyle/>
          <a:p>
            <a:pPr algn="ctr"/>
            <a:r>
              <a:rPr lang="tr-TR" sz="950" noProof="1">
                <a:solidFill>
                  <a:schemeClr val="tx1">
                    <a:lumMod val="85000"/>
                    <a:lumOff val="15000"/>
                  </a:schemeClr>
                </a:solidFill>
              </a:rPr>
              <a:t>1,5 x</a:t>
            </a:r>
          </a:p>
        </p:txBody>
      </p:sp>
      <p:sp>
        <p:nvSpPr>
          <p:cNvPr id="98" name="Metin kutusu 97">
            <a:extLst>
              <a:ext uri="{FF2B5EF4-FFF2-40B4-BE49-F238E27FC236}">
                <a16:creationId xmlns:a16="http://schemas.microsoft.com/office/drawing/2014/main" id="{1DDBF88D-6382-4C61-AFC4-802F0A204484}"/>
              </a:ext>
            </a:extLst>
          </p:cNvPr>
          <p:cNvSpPr txBox="1"/>
          <p:nvPr/>
        </p:nvSpPr>
        <p:spPr>
          <a:xfrm>
            <a:off x="5395696" y="3227518"/>
            <a:ext cx="555998" cy="238527"/>
          </a:xfrm>
          <a:prstGeom prst="rect">
            <a:avLst/>
          </a:prstGeom>
          <a:noFill/>
        </p:spPr>
        <p:txBody>
          <a:bodyPr wrap="square" rtlCol="0">
            <a:spAutoFit/>
          </a:bodyPr>
          <a:lstStyle/>
          <a:p>
            <a:pPr algn="ctr"/>
            <a:r>
              <a:rPr lang="tr-TR" sz="950" noProof="1">
                <a:solidFill>
                  <a:schemeClr val="tx1">
                    <a:lumMod val="85000"/>
                    <a:lumOff val="15000"/>
                  </a:schemeClr>
                </a:solidFill>
              </a:rPr>
              <a:t>1,75 x</a:t>
            </a:r>
          </a:p>
        </p:txBody>
      </p:sp>
      <p:sp>
        <p:nvSpPr>
          <p:cNvPr id="99" name="Metin kutusu 98">
            <a:extLst>
              <a:ext uri="{FF2B5EF4-FFF2-40B4-BE49-F238E27FC236}">
                <a16:creationId xmlns:a16="http://schemas.microsoft.com/office/drawing/2014/main" id="{A8BEE8DA-CD91-48EE-B25C-AA99E5926B6B}"/>
              </a:ext>
            </a:extLst>
          </p:cNvPr>
          <p:cNvSpPr txBox="1"/>
          <p:nvPr/>
        </p:nvSpPr>
        <p:spPr>
          <a:xfrm>
            <a:off x="6117656" y="3236571"/>
            <a:ext cx="555998" cy="238527"/>
          </a:xfrm>
          <a:prstGeom prst="rect">
            <a:avLst/>
          </a:prstGeom>
          <a:noFill/>
        </p:spPr>
        <p:txBody>
          <a:bodyPr wrap="square" rtlCol="0">
            <a:spAutoFit/>
          </a:bodyPr>
          <a:lstStyle/>
          <a:p>
            <a:pPr algn="ctr"/>
            <a:r>
              <a:rPr lang="tr-TR" sz="950" noProof="1">
                <a:solidFill>
                  <a:schemeClr val="tx1">
                    <a:lumMod val="85000"/>
                    <a:lumOff val="15000"/>
                  </a:schemeClr>
                </a:solidFill>
              </a:rPr>
              <a:t>2x</a:t>
            </a:r>
          </a:p>
        </p:txBody>
      </p:sp>
      <p:sp>
        <p:nvSpPr>
          <p:cNvPr id="101" name="Metin kutusu 100">
            <a:extLst>
              <a:ext uri="{FF2B5EF4-FFF2-40B4-BE49-F238E27FC236}">
                <a16:creationId xmlns:a16="http://schemas.microsoft.com/office/drawing/2014/main" id="{C9505421-0DA2-455B-BD15-FFE30DA3AACA}"/>
              </a:ext>
            </a:extLst>
          </p:cNvPr>
          <p:cNvSpPr txBox="1"/>
          <p:nvPr/>
        </p:nvSpPr>
        <p:spPr>
          <a:xfrm>
            <a:off x="3635415" y="6224733"/>
            <a:ext cx="3249597" cy="1992853"/>
          </a:xfrm>
          <a:prstGeom prst="rect">
            <a:avLst/>
          </a:prstGeom>
          <a:noFill/>
        </p:spPr>
        <p:txBody>
          <a:bodyPr wrap="square" rtlCol="0">
            <a:spAutoFit/>
          </a:bodyPr>
          <a:lstStyle/>
          <a:p>
            <a:r>
              <a:rPr lang="tr-TR" sz="950" noProof="1"/>
              <a:t>A )           21.30                   7 Mart 2021          9 Mart 2021  01.30          </a:t>
            </a:r>
          </a:p>
          <a:p>
            <a:endParaRPr lang="tr-TR" sz="950" noProof="1"/>
          </a:p>
          <a:p>
            <a:endParaRPr lang="tr-TR" sz="950" noProof="1"/>
          </a:p>
          <a:p>
            <a:r>
              <a:rPr lang="tr-TR" sz="950" noProof="1"/>
              <a:t>B)           21.30                    8 Mart 2021           8 Mart 2021  08.30</a:t>
            </a:r>
          </a:p>
          <a:p>
            <a:endParaRPr lang="tr-TR" sz="950" noProof="1"/>
          </a:p>
          <a:p>
            <a:endParaRPr lang="tr-TR" sz="950" noProof="1"/>
          </a:p>
          <a:p>
            <a:r>
              <a:rPr lang="tr-TR" sz="950" noProof="1"/>
              <a:t>C)           22.30                   8 Mart 2021           8 Mart 2021  08.30</a:t>
            </a:r>
          </a:p>
          <a:p>
            <a:endParaRPr lang="tr-TR" sz="950" noProof="1"/>
          </a:p>
          <a:p>
            <a:endParaRPr lang="tr-TR" sz="950" noProof="1"/>
          </a:p>
          <a:p>
            <a:r>
              <a:rPr lang="tr-TR" sz="950" noProof="1"/>
              <a:t>D)          21.30                   8 Mart 2021            8 Mart 2021  09.30</a:t>
            </a:r>
          </a:p>
          <a:p>
            <a:endParaRPr lang="tr-TR" sz="950" noProof="1"/>
          </a:p>
          <a:p>
            <a:endParaRPr lang="tr-TR" sz="950" noProof="1"/>
          </a:p>
          <a:p>
            <a:r>
              <a:rPr lang="tr-TR" sz="950" noProof="1"/>
              <a:t>E)          20.30                    8 Mart 2021           8 Mart 2021  07.30</a:t>
            </a:r>
          </a:p>
        </p:txBody>
      </p:sp>
      <p:sp>
        <p:nvSpPr>
          <p:cNvPr id="102" name="Metin kutusu 101">
            <a:extLst>
              <a:ext uri="{FF2B5EF4-FFF2-40B4-BE49-F238E27FC236}">
                <a16:creationId xmlns:a16="http://schemas.microsoft.com/office/drawing/2014/main" id="{A06D4F4B-3C6D-4D4C-92D0-26E07F7934EF}"/>
              </a:ext>
            </a:extLst>
          </p:cNvPr>
          <p:cNvSpPr txBox="1"/>
          <p:nvPr/>
        </p:nvSpPr>
        <p:spPr>
          <a:xfrm>
            <a:off x="3706680" y="5907451"/>
            <a:ext cx="3107065" cy="238527"/>
          </a:xfrm>
          <a:prstGeom prst="rect">
            <a:avLst/>
          </a:prstGeom>
          <a:noFill/>
        </p:spPr>
        <p:txBody>
          <a:bodyPr wrap="square" rtlCol="0">
            <a:spAutoFit/>
          </a:bodyPr>
          <a:lstStyle/>
          <a:p>
            <a:r>
              <a:rPr lang="tr-TR" sz="950" noProof="1"/>
              <a:t>                   M                               L                                K</a:t>
            </a:r>
          </a:p>
        </p:txBody>
      </p:sp>
      <p:cxnSp>
        <p:nvCxnSpPr>
          <p:cNvPr id="103" name="Düz Bağlayıcı 102">
            <a:extLst>
              <a:ext uri="{FF2B5EF4-FFF2-40B4-BE49-F238E27FC236}">
                <a16:creationId xmlns:a16="http://schemas.microsoft.com/office/drawing/2014/main" id="{C76E8CE9-DC4A-4E7C-B145-C29C852B04A1}"/>
              </a:ext>
            </a:extLst>
          </p:cNvPr>
          <p:cNvCxnSpPr/>
          <p:nvPr/>
        </p:nvCxnSpPr>
        <p:spPr>
          <a:xfrm>
            <a:off x="4027543" y="6135312"/>
            <a:ext cx="6480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Düz Bağlayıcı 103">
            <a:extLst>
              <a:ext uri="{FF2B5EF4-FFF2-40B4-BE49-F238E27FC236}">
                <a16:creationId xmlns:a16="http://schemas.microsoft.com/office/drawing/2014/main" id="{0DCC0EFE-8611-4F21-9444-AF269ED5CC87}"/>
              </a:ext>
            </a:extLst>
          </p:cNvPr>
          <p:cNvCxnSpPr/>
          <p:nvPr/>
        </p:nvCxnSpPr>
        <p:spPr>
          <a:xfrm>
            <a:off x="4907460" y="6131824"/>
            <a:ext cx="6480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Düz Bağlayıcı 104">
            <a:extLst>
              <a:ext uri="{FF2B5EF4-FFF2-40B4-BE49-F238E27FC236}">
                <a16:creationId xmlns:a16="http://schemas.microsoft.com/office/drawing/2014/main" id="{543F0B3F-6DDA-455A-A894-FC6C599E03D1}"/>
              </a:ext>
            </a:extLst>
          </p:cNvPr>
          <p:cNvCxnSpPr/>
          <p:nvPr/>
        </p:nvCxnSpPr>
        <p:spPr>
          <a:xfrm>
            <a:off x="5827743" y="6131824"/>
            <a:ext cx="648072"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Metin kutusu 105">
            <a:extLst>
              <a:ext uri="{FF2B5EF4-FFF2-40B4-BE49-F238E27FC236}">
                <a16:creationId xmlns:a16="http://schemas.microsoft.com/office/drawing/2014/main" id="{D7CBC58E-84BB-4E50-B406-1DB4231126F4}"/>
              </a:ext>
            </a:extLst>
          </p:cNvPr>
          <p:cNvSpPr txBox="1"/>
          <p:nvPr/>
        </p:nvSpPr>
        <p:spPr>
          <a:xfrm>
            <a:off x="3511512" y="3617930"/>
            <a:ext cx="3274694" cy="2285241"/>
          </a:xfrm>
          <a:prstGeom prst="rect">
            <a:avLst/>
          </a:prstGeom>
          <a:noFill/>
        </p:spPr>
        <p:txBody>
          <a:bodyPr wrap="square" rtlCol="0">
            <a:spAutoFit/>
          </a:bodyPr>
          <a:lstStyle/>
          <a:p>
            <a:r>
              <a:rPr lang="tr-TR" sz="950" noProof="1"/>
              <a:t>Selim başlangıçta Helsinki şehrindedir. Ahmet 7 Mart 2021 Günü 21.30 da videoyu yüklemeye başlamıştır. Selim ise aynı gün bulunduğu şehrin saatine göre 13.00 da uçağına binmiş ve Tokyo şehrine yolculuğu 9,5 saat sürmüştür. </a:t>
            </a:r>
          </a:p>
          <a:p>
            <a:endParaRPr lang="tr-TR" sz="950" noProof="1"/>
          </a:p>
          <a:p>
            <a:r>
              <a:rPr lang="tr-TR" sz="950" noProof="1"/>
              <a:t>Yukarıdaki verilen bilgilere göre :</a:t>
            </a:r>
          </a:p>
          <a:p>
            <a:endParaRPr lang="tr-TR" sz="950" noProof="1"/>
          </a:p>
          <a:p>
            <a:pPr marL="171450" indent="-171450">
              <a:buFont typeface="Arial" panose="020B0604020202020204" pitchFamily="34" charset="0"/>
              <a:buChar char="•"/>
            </a:pPr>
            <a:r>
              <a:rPr lang="tr-TR" sz="950" noProof="1"/>
              <a:t>Videonun %50 si yüklendiğinde </a:t>
            </a:r>
            <a:r>
              <a:rPr lang="tr-TR" sz="950" b="1" noProof="1"/>
              <a:t>Helsinki şehrindeki saat M</a:t>
            </a:r>
          </a:p>
          <a:p>
            <a:pPr marL="171450" indent="-171450">
              <a:buFont typeface="Arial" panose="020B0604020202020204" pitchFamily="34" charset="0"/>
              <a:buChar char="•"/>
            </a:pPr>
            <a:r>
              <a:rPr lang="tr-TR" sz="950" b="1" noProof="1"/>
              <a:t>Video</a:t>
            </a:r>
            <a:r>
              <a:rPr lang="tr-TR" sz="950" noProof="1"/>
              <a:t> </a:t>
            </a:r>
            <a:r>
              <a:rPr lang="tr-TR" sz="950" b="1" noProof="1"/>
              <a:t>yüklenmesi tamamlandığında Selim`in bulunduğu konuma göre tarih  L</a:t>
            </a:r>
          </a:p>
          <a:p>
            <a:pPr marL="171450" indent="-171450">
              <a:buFont typeface="Arial" panose="020B0604020202020204" pitchFamily="34" charset="0"/>
              <a:buChar char="•"/>
            </a:pPr>
            <a:r>
              <a:rPr lang="tr-TR" sz="950" noProof="1"/>
              <a:t>Selim`in videoyu ileriye sarmadan kesintisiz bir şekilde mümkün olduğunca </a:t>
            </a:r>
            <a:r>
              <a:rPr lang="tr-TR" sz="950" b="1" noProof="1"/>
              <a:t>en hızlı bir şekilde tamamını bitirdiği anda bulunduğu konuma göre tarih ve saati K dir.</a:t>
            </a:r>
          </a:p>
          <a:p>
            <a:pPr marL="171450" indent="-171450">
              <a:buFont typeface="Wingdings" panose="05000000000000000000" pitchFamily="2" charset="2"/>
              <a:buChar char="v"/>
            </a:pPr>
            <a:endParaRPr lang="tr-TR" sz="950" noProof="1"/>
          </a:p>
          <a:p>
            <a:r>
              <a:rPr lang="tr-TR" sz="950" b="1" noProof="1"/>
              <a:t>A,B,C aşağıdaki şıklardan hangisinde doğru verilmiştir?</a:t>
            </a:r>
          </a:p>
        </p:txBody>
      </p:sp>
      <mc:AlternateContent xmlns:mc="http://schemas.openxmlformats.org/markup-compatibility/2006" xmlns:a14="http://schemas.microsoft.com/office/drawing/2010/main">
        <mc:Choice Requires="a14">
          <p:sp>
            <p:nvSpPr>
              <p:cNvPr id="100" name="Metin kutusu 99">
                <a:extLst>
                  <a:ext uri="{FF2B5EF4-FFF2-40B4-BE49-F238E27FC236}">
                    <a16:creationId xmlns:a16="http://schemas.microsoft.com/office/drawing/2014/main" id="{714925B3-A7EE-48FF-88F3-5DA0A65299CA}"/>
                  </a:ext>
                </a:extLst>
              </p:cNvPr>
              <p:cNvSpPr txBox="1"/>
              <p:nvPr/>
            </p:nvSpPr>
            <p:spPr>
              <a:xfrm>
                <a:off x="138995" y="714658"/>
                <a:ext cx="3202120" cy="1688154"/>
              </a:xfrm>
              <a:prstGeom prst="rect">
                <a:avLst/>
              </a:prstGeom>
              <a:solidFill>
                <a:schemeClr val="accent4">
                  <a:lumMod val="20000"/>
                  <a:lumOff val="80000"/>
                </a:schemeClr>
              </a:solidFill>
              <a:ln w="9525">
                <a:solidFill>
                  <a:srgbClr val="C00000"/>
                </a:solidFill>
                <a:prstDash val="dash"/>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tr-TR" sz="960" noProof="1">
                    <a:latin typeface="Arial Narrow" panose="020B0606020202030204" pitchFamily="34" charset="0"/>
                    <a:cs typeface="Arial" panose="020B0604020202020204" pitchFamily="34" charset="0"/>
                  </a:rPr>
                  <a:t>İlaç Hesaplamalarında önce analiz olarak; </a:t>
                </a:r>
                <a:r>
                  <a:rPr lang="tr-TR" sz="960" b="1" noProof="1">
                    <a:latin typeface="Arial Narrow" panose="020B0606020202030204" pitchFamily="34" charset="0"/>
                    <a:cs typeface="Arial" panose="020B0604020202020204" pitchFamily="34" charset="0"/>
                  </a:rPr>
                  <a:t>etken madde </a:t>
                </a:r>
                <a:r>
                  <a:rPr lang="tr-TR" sz="960" noProof="1">
                    <a:latin typeface="Arial Narrow" panose="020B0606020202030204" pitchFamily="34" charset="0"/>
                    <a:cs typeface="Arial" panose="020B0604020202020204" pitchFamily="34" charset="0"/>
                  </a:rPr>
                  <a:t>/ </a:t>
                </a:r>
                <a:r>
                  <a:rPr lang="tr-TR" sz="960" b="1" noProof="1">
                    <a:latin typeface="Arial Narrow" panose="020B0606020202030204" pitchFamily="34" charset="0"/>
                    <a:cs typeface="Arial" panose="020B0604020202020204" pitchFamily="34" charset="0"/>
                  </a:rPr>
                  <a:t>hacim</a:t>
                </a:r>
                <a:r>
                  <a:rPr lang="tr-TR" sz="960" noProof="1">
                    <a:latin typeface="Arial Narrow" panose="020B0606020202030204" pitchFamily="34" charset="0"/>
                    <a:cs typeface="Arial" panose="020B0604020202020204" pitchFamily="34" charset="0"/>
                  </a:rPr>
                  <a:t> formatında yazalım. Buna cebirsel olarak sırasıyla x </a:t>
                </a:r>
                <a:r>
                  <a:rPr lang="tr-TR" sz="960" b="1" noProof="1">
                    <a:latin typeface="Arial Narrow" panose="020B0606020202030204" pitchFamily="34" charset="0"/>
                    <a:cs typeface="Arial" panose="020B0604020202020204" pitchFamily="34" charset="0"/>
                  </a:rPr>
                  <a:t>mg</a:t>
                </a:r>
                <a:r>
                  <a:rPr lang="tr-TR" sz="960" noProof="1">
                    <a:latin typeface="Arial Narrow" panose="020B0606020202030204" pitchFamily="34" charset="0"/>
                    <a:cs typeface="Arial" panose="020B0604020202020204" pitchFamily="34" charset="0"/>
                  </a:rPr>
                  <a:t> / y </a:t>
                </a:r>
                <a:r>
                  <a:rPr lang="tr-TR" sz="960" b="1" noProof="1">
                    <a:latin typeface="Arial Narrow" panose="020B0606020202030204" pitchFamily="34" charset="0"/>
                    <a:cs typeface="Arial" panose="020B0604020202020204" pitchFamily="34" charset="0"/>
                  </a:rPr>
                  <a:t>ml</a:t>
                </a:r>
                <a:r>
                  <a:rPr lang="tr-TR" sz="960" noProof="1">
                    <a:latin typeface="Arial Narrow" panose="020B0606020202030204" pitchFamily="34" charset="0"/>
                    <a:cs typeface="Arial" panose="020B0604020202020204" pitchFamily="34" charset="0"/>
                  </a:rPr>
                  <a:t> diyelim. </a:t>
                </a:r>
                <a:r>
                  <a:rPr lang="tr-TR" sz="1000" noProof="1">
                    <a:latin typeface="Arial Narrow" panose="020B0606020202030204" pitchFamily="34" charset="0"/>
                    <a:cs typeface="Arial" panose="020B0604020202020204" pitchFamily="34" charset="0"/>
                  </a:rPr>
                  <a:t>Rıza`nın hekim isteminde bulunan 1</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latin typeface="Arial Narrow" panose="020B0606020202030204" pitchFamily="34" charset="0"/>
                    <a:cs typeface="Arial" panose="020B0604020202020204" pitchFamily="34" charset="0"/>
                  </a:rPr>
                  <a:t>750 mg Ampisid flakon uygulanacaktır. Ampisid 1 gr/1.8 </a:t>
                </a:r>
                <a:r>
                  <a:rPr lang="tr-TR" sz="1000" b="1" noProof="1">
                    <a:latin typeface="Arial Narrow" panose="020B0606020202030204" pitchFamily="34" charset="0"/>
                    <a:cs typeface="Arial" panose="020B0604020202020204" pitchFamily="34" charset="0"/>
                  </a:rPr>
                  <a:t>ml</a:t>
                </a:r>
                <a:r>
                  <a:rPr lang="tr-TR" sz="1000" noProof="1">
                    <a:latin typeface="Arial Narrow" panose="020B0606020202030204" pitchFamily="34" charset="0"/>
                    <a:cs typeface="Arial" panose="020B0604020202020204" pitchFamily="34" charset="0"/>
                  </a:rPr>
                  <a:t> flakonda (özel şişede) bulunmaktadır. İlacın kuru doz hacmi 0.2 </a:t>
                </a:r>
                <a:r>
                  <a:rPr lang="tr-TR" sz="1000" b="1" noProof="1">
                    <a:latin typeface="Arial Narrow" panose="020B0606020202030204" pitchFamily="34" charset="0"/>
                    <a:cs typeface="Arial" panose="020B0604020202020204" pitchFamily="34" charset="0"/>
                  </a:rPr>
                  <a:t>ml</a:t>
                </a:r>
                <a:r>
                  <a:rPr lang="tr-TR" sz="1000" noProof="1">
                    <a:latin typeface="Arial Narrow" panose="020B0606020202030204" pitchFamily="34" charset="0"/>
                    <a:cs typeface="Arial" panose="020B0604020202020204" pitchFamily="34" charset="0"/>
                  </a:rPr>
                  <a:t> dir.  </a:t>
                </a:r>
                <a:r>
                  <a:rPr lang="tr-TR" sz="950" b="1" noProof="1">
                    <a:latin typeface="Arial Narrow" panose="020B0606020202030204" pitchFamily="34" charset="0"/>
                    <a:cs typeface="Arial" panose="020B0604020202020204" pitchFamily="34" charset="0"/>
                  </a:rPr>
                  <a:t>Rıza`ya bir dozda verilmesi gereken ilaç kaç ml`dir?</a:t>
                </a:r>
              </a:p>
              <a:p>
                <a:endParaRPr lang="tr-TR" sz="900" noProof="1">
                  <a:latin typeface="Arial Narrow" panose="020B0606020202030204" pitchFamily="34" charset="0"/>
                  <a:cs typeface="Arial" panose="020B0604020202020204" pitchFamily="34" charset="0"/>
                </a:endParaRPr>
              </a:p>
              <a:p>
                <a:r>
                  <a:rPr lang="tr-TR" sz="900" noProof="1">
                    <a:latin typeface="Arial Narrow" panose="020B0606020202030204" pitchFamily="34" charset="0"/>
                    <a:cs typeface="Arial" panose="020B0604020202020204" pitchFamily="34" charset="0"/>
                  </a:rPr>
                  <a:t>Etken Madde (x) :  1 gr = 1000 mg </a:t>
                </a:r>
                <a:br>
                  <a:rPr lang="tr-TR" sz="900" noProof="1">
                    <a:latin typeface="Arial Narrow" panose="020B0606020202030204" pitchFamily="34" charset="0"/>
                    <a:cs typeface="Arial" panose="020B0604020202020204" pitchFamily="34" charset="0"/>
                  </a:rPr>
                </a:br>
                <a:r>
                  <a:rPr lang="tr-TR" sz="900" noProof="1">
                    <a:latin typeface="Arial Narrow" panose="020B0606020202030204" pitchFamily="34" charset="0"/>
                    <a:cs typeface="Arial" panose="020B0604020202020204" pitchFamily="34" charset="0"/>
                  </a:rPr>
                  <a:t>Toplam Hacim (y) :  1.8 + 0.2  </a:t>
                </a:r>
                <a:br>
                  <a:rPr lang="tr-TR" sz="900" noProof="1">
                    <a:latin typeface="Arial Narrow" panose="020B0606020202030204" pitchFamily="34" charset="0"/>
                    <a:cs typeface="Arial" panose="020B0604020202020204" pitchFamily="34" charset="0"/>
                  </a:rPr>
                </a:br>
                <a:br>
                  <a:rPr lang="tr-TR" sz="900" noProof="1">
                    <a:latin typeface="Arial Narrow" panose="020B0606020202030204" pitchFamily="34" charset="0"/>
                    <a:cs typeface="Arial" panose="020B0604020202020204" pitchFamily="34" charset="0"/>
                  </a:rPr>
                </a:br>
                <a:r>
                  <a:rPr lang="tr-TR" sz="900" noProof="1">
                    <a:latin typeface="Arial Narrow" panose="020B0606020202030204" pitchFamily="34" charset="0"/>
                    <a:cs typeface="Arial" panose="020B0604020202020204" pitchFamily="34" charset="0"/>
                  </a:rPr>
                  <a:t>1000 mg / 2 ml = 500 mg/ml    1 ml ye kaç mg etken madde old. bulduk.</a:t>
                </a:r>
                <a:endParaRPr lang="tr-TR" sz="950" b="1" noProof="1">
                  <a:latin typeface="Arial Narrow" panose="020B0606020202030204" pitchFamily="34" charset="0"/>
                  <a:cs typeface="Arial" panose="020B0604020202020204" pitchFamily="34" charset="0"/>
                </a:endParaRPr>
              </a:p>
            </p:txBody>
          </p:sp>
        </mc:Choice>
        <mc:Fallback xmlns="">
          <p:sp>
            <p:nvSpPr>
              <p:cNvPr id="100" name="Metin kutusu 99">
                <a:extLst>
                  <a:ext uri="{FF2B5EF4-FFF2-40B4-BE49-F238E27FC236}">
                    <a16:creationId xmlns:a16="http://schemas.microsoft.com/office/drawing/2014/main" id="{714925B3-A7EE-48FF-88F3-5DA0A65299CA}"/>
                  </a:ext>
                </a:extLst>
              </p:cNvPr>
              <p:cNvSpPr txBox="1">
                <a:spLocks noRot="1" noChangeAspect="1" noMove="1" noResize="1" noEditPoints="1" noAdjustHandles="1" noChangeArrowheads="1" noChangeShapeType="1" noTextEdit="1"/>
              </p:cNvSpPr>
              <p:nvPr/>
            </p:nvSpPr>
            <p:spPr>
              <a:xfrm>
                <a:off x="138995" y="714658"/>
                <a:ext cx="3202120" cy="1688154"/>
              </a:xfrm>
              <a:prstGeom prst="rect">
                <a:avLst/>
              </a:prstGeom>
              <a:blipFill>
                <a:blip r:embed="rId5"/>
                <a:stretch>
                  <a:fillRect b="-358"/>
                </a:stretch>
              </a:blipFill>
              <a:ln w="9525">
                <a:solidFill>
                  <a:srgbClr val="C00000"/>
                </a:solidFill>
                <a:prstDash val="dash"/>
              </a:ln>
            </p:spPr>
            <p:txBody>
              <a:bodyPr/>
              <a:lstStyle/>
              <a:p>
                <a:r>
                  <a:rPr lang="tr-TR">
                    <a:noFill/>
                  </a:rPr>
                  <a:t> </a:t>
                </a:r>
              </a:p>
            </p:txBody>
          </p:sp>
        </mc:Fallback>
      </mc:AlternateContent>
      <p:sp>
        <p:nvSpPr>
          <p:cNvPr id="107" name="Metin kutusu 106">
            <a:extLst>
              <a:ext uri="{FF2B5EF4-FFF2-40B4-BE49-F238E27FC236}">
                <a16:creationId xmlns:a16="http://schemas.microsoft.com/office/drawing/2014/main" id="{C4E68A0F-DB8E-4B54-9306-3D1AA2E85580}"/>
              </a:ext>
            </a:extLst>
          </p:cNvPr>
          <p:cNvSpPr txBox="1"/>
          <p:nvPr/>
        </p:nvSpPr>
        <p:spPr>
          <a:xfrm>
            <a:off x="94491" y="482223"/>
            <a:ext cx="3242609" cy="246221"/>
          </a:xfrm>
          <a:prstGeom prst="rect">
            <a:avLst/>
          </a:prstGeom>
          <a:noFill/>
        </p:spPr>
        <p:txBody>
          <a:bodyPr wrap="square" rtlCol="0">
            <a:spAutoFit/>
          </a:bodyPr>
          <a:lstStyle/>
          <a:p>
            <a:r>
              <a:rPr lang="tr-TR" sz="1000" noProof="1">
                <a:cs typeface="Arial" panose="020B0604020202020204" pitchFamily="34" charset="0"/>
              </a:rPr>
              <a:t>Bir doktor asistanlarına ilaç hesabını öğretmek istiyor. </a:t>
            </a:r>
            <a:endParaRPr lang="tr-TR" sz="1000" b="1" noProof="1">
              <a:cs typeface="Arial" panose="020B0604020202020204" pitchFamily="34" charset="0"/>
            </a:endParaRPr>
          </a:p>
        </p:txBody>
      </p:sp>
      <p:sp>
        <p:nvSpPr>
          <p:cNvPr id="110" name="Metin kutusu 109">
            <a:extLst>
              <a:ext uri="{FF2B5EF4-FFF2-40B4-BE49-F238E27FC236}">
                <a16:creationId xmlns:a16="http://schemas.microsoft.com/office/drawing/2014/main" id="{231BBECD-50B8-42A0-8B0D-59CA22C4B6E1}"/>
              </a:ext>
            </a:extLst>
          </p:cNvPr>
          <p:cNvSpPr txBox="1"/>
          <p:nvPr/>
        </p:nvSpPr>
        <p:spPr>
          <a:xfrm>
            <a:off x="78903" y="2423304"/>
            <a:ext cx="3315091" cy="400110"/>
          </a:xfrm>
          <a:prstGeom prst="rect">
            <a:avLst/>
          </a:prstGeom>
          <a:noFill/>
        </p:spPr>
        <p:txBody>
          <a:bodyPr wrap="square" rtlCol="0">
            <a:spAutoFit/>
          </a:bodyPr>
          <a:lstStyle/>
          <a:p>
            <a:r>
              <a:rPr lang="tr-TR" sz="1000" b="1" noProof="1">
                <a:cs typeface="Arial" panose="020B0604020202020204" pitchFamily="34" charset="0"/>
              </a:rPr>
              <a:t>Yukardaki metni inceleyen Saadet; sorunun doğru cevabını bulduğuna göre, bu cevap aşağıdakilerden hangisidir?</a:t>
            </a:r>
          </a:p>
        </p:txBody>
      </p:sp>
      <p:sp>
        <p:nvSpPr>
          <p:cNvPr id="111" name="Metin kutusu 110">
            <a:extLst>
              <a:ext uri="{FF2B5EF4-FFF2-40B4-BE49-F238E27FC236}">
                <a16:creationId xmlns:a16="http://schemas.microsoft.com/office/drawing/2014/main" id="{C030F6C4-7C8F-4CD4-85D5-BDF9C0F1B4E7}"/>
              </a:ext>
            </a:extLst>
          </p:cNvPr>
          <p:cNvSpPr txBox="1"/>
          <p:nvPr/>
        </p:nvSpPr>
        <p:spPr>
          <a:xfrm>
            <a:off x="92794" y="2795929"/>
            <a:ext cx="3284216" cy="553998"/>
          </a:xfrm>
          <a:prstGeom prst="rect">
            <a:avLst/>
          </a:prstGeom>
          <a:noFill/>
        </p:spPr>
        <p:txBody>
          <a:bodyPr wrap="square" rtlCol="0">
            <a:spAutoFit/>
          </a:bodyPr>
          <a:lstStyle/>
          <a:p>
            <a:r>
              <a:rPr lang="tr-TR" sz="1000" dirty="0"/>
              <a:t>A) 1,2                                    B) 1,5                                        C) 1,8</a:t>
            </a:r>
          </a:p>
          <a:p>
            <a:pPr marL="228600" indent="-228600">
              <a:buAutoNum type="alphaUcParenR"/>
            </a:pPr>
            <a:endParaRPr lang="tr-TR" sz="1000" dirty="0"/>
          </a:p>
          <a:p>
            <a:r>
              <a:rPr lang="tr-TR" sz="1000" dirty="0"/>
              <a:t>                        D) 2                                      E) 2,3</a:t>
            </a:r>
          </a:p>
        </p:txBody>
      </p:sp>
    </p:spTree>
    <p:extLst>
      <p:ext uri="{BB962C8B-B14F-4D97-AF65-F5344CB8AC3E}">
        <p14:creationId xmlns:p14="http://schemas.microsoft.com/office/powerpoint/2010/main" val="42090527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12488"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758985" y="31531"/>
            <a:ext cx="1033499" cy="413054"/>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a:t>
            </a:r>
          </a:p>
          <a:p>
            <a:pPr algn="ctr"/>
            <a:r>
              <a:rPr lang="tr-TR" sz="1000" dirty="0">
                <a:solidFill>
                  <a:schemeClr val="tx1"/>
                </a:solidFill>
              </a:rPr>
              <a:t>TEST ?</a:t>
            </a: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5"/>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8" name="Metin kutusu 47">
            <a:extLst>
              <a:ext uri="{FF2B5EF4-FFF2-40B4-BE49-F238E27FC236}">
                <a16:creationId xmlns:a16="http://schemas.microsoft.com/office/drawing/2014/main" id="{52495E54-F351-46DA-AB92-6A2BE6CCEA76}"/>
              </a:ext>
            </a:extLst>
          </p:cNvPr>
          <p:cNvSpPr txBox="1"/>
          <p:nvPr/>
        </p:nvSpPr>
        <p:spPr>
          <a:xfrm>
            <a:off x="13995" y="8830327"/>
            <a:ext cx="1326773"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1.D    2.E    3.C    4.E</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4346" y="43584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83084" y="454732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66648" y="454732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37" name="Metin kutusu 36">
            <a:extLst>
              <a:ext uri="{FF2B5EF4-FFF2-40B4-BE49-F238E27FC236}">
                <a16:creationId xmlns:a16="http://schemas.microsoft.com/office/drawing/2014/main" id="{C712AFB4-0811-439A-B216-544C011D0328}"/>
              </a:ext>
            </a:extLst>
          </p:cNvPr>
          <p:cNvSpPr txBox="1"/>
          <p:nvPr/>
        </p:nvSpPr>
        <p:spPr>
          <a:xfrm>
            <a:off x="87009" y="461661"/>
            <a:ext cx="3335578" cy="1477328"/>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Rakamları birbirinden farklı  bir asal sayının rakamlarını çarpıp kendisinden çıkarıldığında sonuç asal sayı ise bu sayılara  ’ Apasal ’ sayı denilmektedir. </a:t>
            </a:r>
          </a:p>
          <a:p>
            <a:endParaRPr lang="tr-TR" sz="1000" noProof="1">
              <a:latin typeface="+mj-lt"/>
              <a:ea typeface="Arimo" panose="020B0604020202020204" pitchFamily="34" charset="0"/>
              <a:cs typeface="Arimo" panose="020B0604020202020204" pitchFamily="34" charset="0"/>
            </a:endParaRPr>
          </a:p>
          <a:p>
            <a:endParaRPr lang="tr-TR" sz="1000" noProof="1">
              <a:latin typeface="+mj-lt"/>
              <a:ea typeface="Arimo" panose="020B0604020202020204" pitchFamily="34" charset="0"/>
              <a:cs typeface="Arimo" panose="020B0604020202020204" pitchFamily="34" charset="0"/>
            </a:endParaRPr>
          </a:p>
          <a:p>
            <a:endParaRPr lang="tr-TR" sz="1000" noProof="1">
              <a:latin typeface="+mj-lt"/>
              <a:ea typeface="Arimo" panose="020B0604020202020204" pitchFamily="34" charset="0"/>
              <a:cs typeface="Arimo" panose="020B0604020202020204" pitchFamily="34" charset="0"/>
            </a:endParaRPr>
          </a:p>
          <a:p>
            <a:r>
              <a:rPr lang="tr-TR" sz="1000" b="1" noProof="1">
                <a:ea typeface="Arimo" panose="020B0604020202020204" pitchFamily="34" charset="0"/>
                <a:cs typeface="Arimo" panose="020B0604020202020204" pitchFamily="34" charset="0"/>
              </a:rPr>
              <a:t>Buna göre en küçük üç basamaklı Apasal sayı ile en büyük iki basamaklı apasal</a:t>
            </a:r>
            <a:r>
              <a:rPr lang="tr-TR" sz="1000" noProof="1">
                <a:ea typeface="Arimo" panose="020B0604020202020204" pitchFamily="34" charset="0"/>
                <a:cs typeface="Arimo" panose="020B0604020202020204" pitchFamily="34" charset="0"/>
              </a:rPr>
              <a:t> </a:t>
            </a:r>
            <a:r>
              <a:rPr lang="tr-TR" sz="1000" b="1" noProof="1">
                <a:ea typeface="Arimo" panose="020B0604020202020204" pitchFamily="34" charset="0"/>
                <a:cs typeface="Arimo" panose="020B0604020202020204" pitchFamily="34" charset="0"/>
              </a:rPr>
              <a:t>sayının toplamı kaçtır?</a:t>
            </a:r>
          </a:p>
          <a:p>
            <a:endParaRPr lang="tr-TR" sz="1000" noProof="1">
              <a:latin typeface="+mj-lt"/>
              <a:ea typeface="Arimo" panose="020B0604020202020204" pitchFamily="34" charset="0"/>
              <a:cs typeface="Arimo" panose="020B0604020202020204" pitchFamily="34" charset="0"/>
            </a:endParaRPr>
          </a:p>
        </p:txBody>
      </p:sp>
      <p:sp>
        <p:nvSpPr>
          <p:cNvPr id="38" name="Metin kutusu 37">
            <a:extLst>
              <a:ext uri="{FF2B5EF4-FFF2-40B4-BE49-F238E27FC236}">
                <a16:creationId xmlns:a16="http://schemas.microsoft.com/office/drawing/2014/main" id="{BC1DD289-82FD-458C-9186-443D709273E0}"/>
              </a:ext>
            </a:extLst>
          </p:cNvPr>
          <p:cNvSpPr txBox="1"/>
          <p:nvPr/>
        </p:nvSpPr>
        <p:spPr>
          <a:xfrm>
            <a:off x="85806" y="1737496"/>
            <a:ext cx="3251950" cy="553998"/>
          </a:xfrm>
          <a:prstGeom prst="rect">
            <a:avLst/>
          </a:prstGeom>
          <a:noFill/>
        </p:spPr>
        <p:txBody>
          <a:bodyPr wrap="square" rtlCol="0">
            <a:spAutoFit/>
          </a:bodyPr>
          <a:lstStyle/>
          <a:p>
            <a:r>
              <a:rPr lang="tr-TR" sz="1000" dirty="0">
                <a:cs typeface="Arial" panose="020B0604020202020204" pitchFamily="34" charset="0"/>
              </a:rPr>
              <a:t>A)  184                                   B) 167                                    C) 190</a:t>
            </a:r>
          </a:p>
          <a:p>
            <a:r>
              <a:rPr lang="tr-TR" sz="1000" dirty="0">
                <a:cs typeface="Arial" panose="020B0604020202020204" pitchFamily="34" charset="0"/>
              </a:rPr>
              <a:t>  </a:t>
            </a:r>
          </a:p>
          <a:p>
            <a:r>
              <a:rPr lang="tr-TR" sz="1000" dirty="0">
                <a:cs typeface="Arial" panose="020B0604020202020204" pitchFamily="34" charset="0"/>
              </a:rPr>
              <a:t>                          D) 192                                 E) 216</a:t>
            </a:r>
          </a:p>
        </p:txBody>
      </p:sp>
      <p:sp>
        <p:nvSpPr>
          <p:cNvPr id="39" name="Dikdörtgen 38">
            <a:extLst>
              <a:ext uri="{FF2B5EF4-FFF2-40B4-BE49-F238E27FC236}">
                <a16:creationId xmlns:a16="http://schemas.microsoft.com/office/drawing/2014/main" id="{0A69FB72-7A53-42B3-B7B0-8FC19A6A4527}"/>
              </a:ext>
            </a:extLst>
          </p:cNvPr>
          <p:cNvSpPr/>
          <p:nvPr/>
        </p:nvSpPr>
        <p:spPr>
          <a:xfrm>
            <a:off x="131580" y="986058"/>
            <a:ext cx="3130434" cy="369332"/>
          </a:xfrm>
          <a:prstGeom prst="rect">
            <a:avLst/>
          </a:prstGeom>
          <a:solidFill>
            <a:schemeClr val="accent6">
              <a:lumMod val="40000"/>
              <a:lumOff val="60000"/>
            </a:schemeClr>
          </a:solidFill>
          <a:effectLst>
            <a:outerShdw blurRad="40000" dist="20000" dir="5400000" rotWithShape="0">
              <a:srgbClr val="000000">
                <a:alpha val="38000"/>
              </a:srgbClr>
            </a:outerShdw>
            <a:softEdge rad="31750"/>
          </a:effectLst>
        </p:spPr>
        <p:style>
          <a:lnRef idx="1">
            <a:schemeClr val="accent4"/>
          </a:lnRef>
          <a:fillRef idx="2">
            <a:schemeClr val="accent4"/>
          </a:fillRef>
          <a:effectRef idx="1">
            <a:schemeClr val="accent4"/>
          </a:effectRef>
          <a:fontRef idx="minor">
            <a:schemeClr val="dk1"/>
          </a:fontRef>
        </p:style>
        <p:txBody>
          <a:bodyPr wrap="square">
            <a:spAutoFit/>
          </a:bodyPr>
          <a:lstStyle/>
          <a:p>
            <a:r>
              <a:rPr lang="tr-TR" sz="900" noProof="1">
                <a:solidFill>
                  <a:schemeClr val="tx1"/>
                </a:solidFill>
                <a:latin typeface="Arimo" panose="020B0604020202020204" pitchFamily="34" charset="0"/>
                <a:ea typeface="Arimo" panose="020B0604020202020204" pitchFamily="34" charset="0"/>
                <a:cs typeface="Arimo" panose="020B0604020202020204" pitchFamily="34" charset="0"/>
              </a:rPr>
              <a:t>Örneğin : 83 bir asal sayıdır.   Rakamları çarpımı 24 dür. </a:t>
            </a:r>
            <a:br>
              <a:rPr lang="tr-TR" sz="900" noProof="1">
                <a:solidFill>
                  <a:schemeClr val="tx1"/>
                </a:solidFill>
                <a:latin typeface="Arimo" panose="020B0604020202020204" pitchFamily="34" charset="0"/>
                <a:ea typeface="Arimo" panose="020B0604020202020204" pitchFamily="34" charset="0"/>
                <a:cs typeface="Arimo" panose="020B0604020202020204" pitchFamily="34" charset="0"/>
              </a:rPr>
            </a:br>
            <a:r>
              <a:rPr lang="tr-TR" sz="900" noProof="1">
                <a:solidFill>
                  <a:schemeClr val="tx1"/>
                </a:solidFill>
                <a:latin typeface="Arimo" panose="020B0604020202020204" pitchFamily="34" charset="0"/>
                <a:ea typeface="Arimo" panose="020B0604020202020204" pitchFamily="34" charset="0"/>
                <a:cs typeface="Arimo" panose="020B0604020202020204" pitchFamily="34" charset="0"/>
              </a:rPr>
              <a:t>83-24=59 (Asal Sonuç) ise 83 bir </a:t>
            </a:r>
            <a:r>
              <a:rPr lang="tr-TR" sz="900" b="1" i="0" dirty="0">
                <a:solidFill>
                  <a:schemeClr val="tx1"/>
                </a:solidFill>
                <a:effectLst/>
                <a:latin typeface="Arial Narrow" panose="020B0606020202030204" pitchFamily="34" charset="0"/>
              </a:rPr>
              <a:t>“ </a:t>
            </a:r>
            <a:r>
              <a:rPr lang="tr-TR" sz="900" noProof="1">
                <a:solidFill>
                  <a:schemeClr val="tx1"/>
                </a:solidFill>
                <a:latin typeface="Arimo" panose="020B0604020202020204" pitchFamily="34" charset="0"/>
                <a:ea typeface="Arimo" panose="020B0604020202020204" pitchFamily="34" charset="0"/>
                <a:cs typeface="Arimo" panose="020B0604020202020204" pitchFamily="34" charset="0"/>
              </a:rPr>
              <a:t>Apasal</a:t>
            </a:r>
            <a:r>
              <a:rPr lang="tr-TR" sz="900" b="1" noProof="1">
                <a:solidFill>
                  <a:schemeClr val="tx1"/>
                </a:solidFill>
                <a:latin typeface="Arial Narrow" panose="020B0606020202030204" pitchFamily="34" charset="0"/>
                <a:ea typeface="Arimo" panose="020B0604020202020204" pitchFamily="34" charset="0"/>
                <a:cs typeface="Arimo" panose="020B0604020202020204" pitchFamily="34" charset="0"/>
              </a:rPr>
              <a:t> </a:t>
            </a:r>
            <a:r>
              <a:rPr lang="tr-TR" sz="900" b="1" i="0" dirty="0">
                <a:solidFill>
                  <a:schemeClr val="tx1"/>
                </a:solidFill>
                <a:effectLst/>
                <a:latin typeface="Arial Narrow" panose="020B0606020202030204" pitchFamily="34" charset="0"/>
              </a:rPr>
              <a:t>” </a:t>
            </a:r>
            <a:r>
              <a:rPr lang="tr-TR" sz="900" noProof="1">
                <a:solidFill>
                  <a:schemeClr val="tx1"/>
                </a:solidFill>
                <a:latin typeface="Arimo" panose="020B0604020202020204" pitchFamily="34" charset="0"/>
                <a:ea typeface="Arimo" panose="020B0604020202020204" pitchFamily="34" charset="0"/>
                <a:cs typeface="Arimo" panose="020B0604020202020204" pitchFamily="34" charset="0"/>
              </a:rPr>
              <a:t>sayıdır.</a:t>
            </a:r>
          </a:p>
        </p:txBody>
      </p:sp>
      <p:sp>
        <p:nvSpPr>
          <p:cNvPr id="40" name="Metin kutusu 39">
            <a:extLst>
              <a:ext uri="{FF2B5EF4-FFF2-40B4-BE49-F238E27FC236}">
                <a16:creationId xmlns:a16="http://schemas.microsoft.com/office/drawing/2014/main" id="{6C4662B9-9640-42AB-B362-322B726DBCB4}"/>
              </a:ext>
            </a:extLst>
          </p:cNvPr>
          <p:cNvSpPr txBox="1"/>
          <p:nvPr/>
        </p:nvSpPr>
        <p:spPr>
          <a:xfrm>
            <a:off x="3517519" y="473362"/>
            <a:ext cx="3335578" cy="861774"/>
          </a:xfrm>
          <a:prstGeom prst="rect">
            <a:avLst/>
          </a:prstGeom>
          <a:noFill/>
        </p:spPr>
        <p:txBody>
          <a:bodyPr wrap="square" rtlCol="0">
            <a:spAutoFit/>
          </a:bodyPr>
          <a:lstStyle/>
          <a:p>
            <a:r>
              <a:rPr lang="tr-TR" sz="1000" dirty="0"/>
              <a:t>Pozitif en az iki basamaklı rakamları birbirinden farklı bir sayının rakamlarının aritmetik ortalamasına en yakın asal sayı 7 ise o sayılara</a:t>
            </a:r>
            <a:r>
              <a:rPr lang="tr-TR" sz="1000" b="1" dirty="0"/>
              <a:t>`` Halojen Sayılar ‘’ </a:t>
            </a:r>
            <a:r>
              <a:rPr lang="tr-TR" sz="1000" dirty="0"/>
              <a:t>denir. Eğer kendisine yakın asal sayılara eşit uzaklıkta (aralarındaki fark) ise o sayı halojen sayı değildir.</a:t>
            </a:r>
          </a:p>
        </p:txBody>
      </p:sp>
      <p:sp>
        <p:nvSpPr>
          <p:cNvPr id="41" name="Metin kutusu 40">
            <a:extLst>
              <a:ext uri="{FF2B5EF4-FFF2-40B4-BE49-F238E27FC236}">
                <a16:creationId xmlns:a16="http://schemas.microsoft.com/office/drawing/2014/main" id="{51A426D8-3EAE-4E04-A5A4-696EB78BFCE3}"/>
              </a:ext>
            </a:extLst>
          </p:cNvPr>
          <p:cNvSpPr txBox="1"/>
          <p:nvPr/>
        </p:nvSpPr>
        <p:spPr>
          <a:xfrm>
            <a:off x="3577483" y="1320591"/>
            <a:ext cx="3193506" cy="861774"/>
          </a:xfrm>
          <a:prstGeom prst="rect">
            <a:avLst/>
          </a:prstGeom>
          <a:solidFill>
            <a:schemeClr val="accent4">
              <a:lumMod val="40000"/>
              <a:lumOff val="60000"/>
            </a:schemeClr>
          </a:solidFill>
          <a:effectLst>
            <a:outerShdw blurRad="40000" dist="20000" dir="5400000" rotWithShape="0">
              <a:srgbClr val="000000">
                <a:alpha val="38000"/>
              </a:srgbClr>
            </a:outerShdw>
            <a:softEdge rad="12700"/>
          </a:effectLst>
        </p:spPr>
        <p:style>
          <a:lnRef idx="1">
            <a:schemeClr val="dk1"/>
          </a:lnRef>
          <a:fillRef idx="2">
            <a:schemeClr val="dk1"/>
          </a:fillRef>
          <a:effectRef idx="1">
            <a:schemeClr val="dk1"/>
          </a:effectRef>
          <a:fontRef idx="minor">
            <a:schemeClr val="dk1"/>
          </a:fontRef>
        </p:style>
        <p:txBody>
          <a:bodyPr wrap="square" rtlCol="0">
            <a:spAutoFit/>
          </a:bodyPr>
          <a:lstStyle/>
          <a:p>
            <a:r>
              <a:rPr lang="tr-TR" sz="1000" noProof="1">
                <a:solidFill>
                  <a:schemeClr val="tx1"/>
                </a:solidFill>
              </a:rPr>
              <a:t>Örneğin : 398 bir halojen sayıdır. Rakamlarının aritmetik ortalaması  6 küsürdür ve en yakın asal sayı 7 dir. 615 bir halojen sayı değildir çünkü rakamlarının aritmetik ortalaması 4`dür ve 3 ile 5`e eşit uzaklıkta olduğundan Halojen Sayı şartını sağlamaz.</a:t>
            </a:r>
          </a:p>
        </p:txBody>
      </p:sp>
      <p:sp>
        <p:nvSpPr>
          <p:cNvPr id="61" name="Metin kutusu 60">
            <a:extLst>
              <a:ext uri="{FF2B5EF4-FFF2-40B4-BE49-F238E27FC236}">
                <a16:creationId xmlns:a16="http://schemas.microsoft.com/office/drawing/2014/main" id="{35AA34CF-D3EA-4E2B-8ED6-AA619CF977B5}"/>
              </a:ext>
            </a:extLst>
          </p:cNvPr>
          <p:cNvSpPr txBox="1"/>
          <p:nvPr/>
        </p:nvSpPr>
        <p:spPr>
          <a:xfrm>
            <a:off x="3490892" y="2186581"/>
            <a:ext cx="3137881" cy="553999"/>
          </a:xfrm>
          <a:prstGeom prst="rect">
            <a:avLst/>
          </a:prstGeom>
          <a:noFill/>
        </p:spPr>
        <p:txBody>
          <a:bodyPr wrap="square" rtlCol="0">
            <a:spAutoFit/>
          </a:bodyPr>
          <a:lstStyle/>
          <a:p>
            <a:r>
              <a:rPr lang="tr-TR" sz="1000" b="1" noProof="1"/>
              <a:t>Verilenlere göre, iki basamaklı en büyük halojen sayı ile</a:t>
            </a:r>
          </a:p>
          <a:p>
            <a:r>
              <a:rPr lang="tr-TR" sz="1000" b="1" noProof="1"/>
              <a:t>üç basamaklı en küçük Halojen Sayı`nın mutlak değerce farkları kaçtır?</a:t>
            </a:r>
          </a:p>
        </p:txBody>
      </p:sp>
      <p:sp>
        <p:nvSpPr>
          <p:cNvPr id="62" name="Metin kutusu 61">
            <a:extLst>
              <a:ext uri="{FF2B5EF4-FFF2-40B4-BE49-F238E27FC236}">
                <a16:creationId xmlns:a16="http://schemas.microsoft.com/office/drawing/2014/main" id="{E45FCA79-0C73-4A8E-82A2-CD4A3F3C0C10}"/>
              </a:ext>
            </a:extLst>
          </p:cNvPr>
          <p:cNvSpPr txBox="1"/>
          <p:nvPr/>
        </p:nvSpPr>
        <p:spPr>
          <a:xfrm>
            <a:off x="3515315" y="2688644"/>
            <a:ext cx="3335577" cy="553998"/>
          </a:xfrm>
          <a:prstGeom prst="rect">
            <a:avLst/>
          </a:prstGeom>
          <a:noFill/>
        </p:spPr>
        <p:txBody>
          <a:bodyPr wrap="square" rtlCol="0">
            <a:spAutoFit/>
          </a:bodyPr>
          <a:lstStyle/>
          <a:p>
            <a:pPr marL="228600" indent="-228600">
              <a:buAutoNum type="alphaUcParenR"/>
            </a:pPr>
            <a:r>
              <a:rPr lang="tr-TR" sz="1000" dirty="0">
                <a:cs typeface="Arial" panose="020B0604020202020204" pitchFamily="34" charset="0"/>
              </a:rPr>
              <a:t>180                               B) 200                                     C) 191</a:t>
            </a:r>
          </a:p>
          <a:p>
            <a:r>
              <a:rPr lang="tr-TR" sz="1000" dirty="0">
                <a:cs typeface="Arial" panose="020B0604020202020204" pitchFamily="34" charset="0"/>
              </a:rPr>
              <a:t>  </a:t>
            </a:r>
          </a:p>
          <a:p>
            <a:r>
              <a:rPr lang="tr-TR" sz="1000" dirty="0">
                <a:cs typeface="Arial" panose="020B0604020202020204" pitchFamily="34" charset="0"/>
              </a:rPr>
              <a:t>                        D) 209                                E) 213</a:t>
            </a:r>
          </a:p>
        </p:txBody>
      </p:sp>
      <mc:AlternateContent xmlns:mc="http://schemas.openxmlformats.org/markup-compatibility/2006" xmlns:a14="http://schemas.microsoft.com/office/drawing/2010/main">
        <mc:Choice Requires="a14">
          <p:sp>
            <p:nvSpPr>
              <p:cNvPr id="64" name="Metin kutusu 63">
                <a:extLst>
                  <a:ext uri="{FF2B5EF4-FFF2-40B4-BE49-F238E27FC236}">
                    <a16:creationId xmlns:a16="http://schemas.microsoft.com/office/drawing/2014/main" id="{6677B698-8DBC-40B0-8176-1238EDB36531}"/>
                  </a:ext>
                </a:extLst>
              </p:cNvPr>
              <p:cNvSpPr txBox="1"/>
              <p:nvPr/>
            </p:nvSpPr>
            <p:spPr>
              <a:xfrm>
                <a:off x="85806" y="4583377"/>
                <a:ext cx="3326682" cy="1477328"/>
              </a:xfrm>
              <a:prstGeom prst="rect">
                <a:avLst/>
              </a:prstGeom>
              <a:noFill/>
            </p:spPr>
            <p:txBody>
              <a:bodyPr wrap="square" rtlCol="0">
                <a:spAutoFit/>
              </a:bodyPr>
              <a:lstStyle/>
              <a:p>
                <a:r>
                  <a:rPr lang="tr-TR" sz="1000" noProof="1"/>
                  <a:t>İki sayıyı ayrı ayrı, asal çarpanlarının kuvvetleriyle yazıldığında asal çarpanların kuvvetlerinin çarpımı büyük olan sayıya küçük sayıyıya göre </a:t>
                </a:r>
                <a:r>
                  <a:rPr lang="tr-TR" sz="1000" b="1" noProof="1"/>
                  <a:t>dominant</a:t>
                </a:r>
                <a:r>
                  <a:rPr lang="tr-TR" sz="1000" noProof="1"/>
                  <a:t> </a:t>
                </a:r>
                <a:r>
                  <a:rPr lang="tr-TR" sz="1000" b="1" noProof="1"/>
                  <a:t>sayı</a:t>
                </a:r>
                <a:r>
                  <a:rPr lang="tr-TR" sz="1000" noProof="1"/>
                  <a:t> denir.</a:t>
                </a:r>
              </a:p>
              <a:p>
                <a:endParaRPr lang="tr-TR" sz="1000" b="1" noProof="1"/>
              </a:p>
              <a:p>
                <a:r>
                  <a:rPr lang="tr-TR" sz="1000" noProof="1"/>
                  <a:t>Örneğin : 27 = </a:t>
                </a:r>
                <a14:m>
                  <m:oMath xmlns:m="http://schemas.openxmlformats.org/officeDocument/2006/math">
                    <m:sSup>
                      <m:sSupPr>
                        <m:ctrlPr>
                          <a:rPr lang="tr-TR" sz="1000" i="1" noProof="1" smtClean="0">
                            <a:solidFill>
                              <a:srgbClr val="836967"/>
                            </a:solidFill>
                            <a:latin typeface="Cambria Math" panose="02040503050406030204" pitchFamily="18" charset="0"/>
                          </a:rPr>
                        </m:ctrlPr>
                      </m:sSupPr>
                      <m:e>
                        <m:r>
                          <a:rPr lang="tr-TR" sz="1000" i="1" noProof="1" smtClean="0">
                            <a:latin typeface="Cambria Math" panose="02040503050406030204" pitchFamily="18" charset="0"/>
                          </a:rPr>
                          <m:t>3</m:t>
                        </m:r>
                      </m:e>
                      <m:sup>
                        <m:r>
                          <a:rPr lang="tr-TR" sz="1000" i="1" noProof="1" smtClean="0">
                            <a:solidFill>
                              <a:srgbClr val="FF0000"/>
                            </a:solidFill>
                            <a:latin typeface="Cambria Math" panose="02040503050406030204" pitchFamily="18" charset="0"/>
                          </a:rPr>
                          <m:t>3</m:t>
                        </m:r>
                      </m:sup>
                    </m:sSup>
                  </m:oMath>
                </a14:m>
                <a:r>
                  <a:rPr lang="tr-TR" sz="1000" noProof="1"/>
                  <a:t>  ve </a:t>
                </a:r>
                <a14:m>
                  <m:oMath xmlns:m="http://schemas.openxmlformats.org/officeDocument/2006/math">
                    <m:r>
                      <a:rPr lang="tr-TR" sz="1000" i="1" noProof="1" smtClean="0">
                        <a:latin typeface="Cambria Math" panose="02040503050406030204" pitchFamily="18" charset="0"/>
                      </a:rPr>
                      <m:t>12=</m:t>
                    </m:r>
                    <m:sSup>
                      <m:sSupPr>
                        <m:ctrlPr>
                          <a:rPr lang="tr-TR" sz="1000" i="1" noProof="1" smtClean="0">
                            <a:solidFill>
                              <a:srgbClr val="836967"/>
                            </a:solidFill>
                            <a:latin typeface="Cambria Math" panose="02040503050406030204" pitchFamily="18" charset="0"/>
                          </a:rPr>
                        </m:ctrlPr>
                      </m:sSupPr>
                      <m:e>
                        <m:r>
                          <a:rPr lang="tr-TR" sz="1000" i="1" noProof="1" smtClean="0">
                            <a:latin typeface="Cambria Math" panose="02040503050406030204" pitchFamily="18" charset="0"/>
                          </a:rPr>
                          <m:t>3</m:t>
                        </m:r>
                      </m:e>
                      <m:sup>
                        <m:r>
                          <a:rPr lang="tr-TR" sz="1000" i="1" noProof="1" smtClean="0">
                            <a:solidFill>
                              <a:srgbClr val="FF0000"/>
                            </a:solidFill>
                            <a:latin typeface="Cambria Math" panose="02040503050406030204" pitchFamily="18" charset="0"/>
                          </a:rPr>
                          <m:t>1</m:t>
                        </m:r>
                      </m:sup>
                    </m:sSup>
                    <m:r>
                      <a:rPr lang="tr-TR" sz="1000" i="1" noProof="1" smtClean="0">
                        <a:latin typeface="Cambria Math" panose="02040503050406030204" pitchFamily="18" charset="0"/>
                      </a:rPr>
                      <m:t>⋅</m:t>
                    </m:r>
                    <m:sSup>
                      <m:sSupPr>
                        <m:ctrlPr>
                          <a:rPr lang="tr-TR" sz="1000" i="1" noProof="1" smtClean="0">
                            <a:solidFill>
                              <a:srgbClr val="836967"/>
                            </a:solidFill>
                            <a:latin typeface="Cambria Math" panose="02040503050406030204" pitchFamily="18" charset="0"/>
                          </a:rPr>
                        </m:ctrlPr>
                      </m:sSupPr>
                      <m:e>
                        <m:r>
                          <a:rPr lang="tr-TR" sz="1000" i="1" noProof="1" smtClean="0">
                            <a:latin typeface="Cambria Math" panose="02040503050406030204" pitchFamily="18" charset="0"/>
                          </a:rPr>
                          <m:t>2</m:t>
                        </m:r>
                      </m:e>
                      <m:sup>
                        <m:r>
                          <a:rPr lang="tr-TR" sz="1000" i="1" noProof="1" smtClean="0">
                            <a:solidFill>
                              <a:srgbClr val="FF0000"/>
                            </a:solidFill>
                            <a:latin typeface="Cambria Math" panose="02040503050406030204" pitchFamily="18" charset="0"/>
                          </a:rPr>
                          <m:t>2</m:t>
                        </m:r>
                      </m:sup>
                    </m:sSup>
                  </m:oMath>
                </a14:m>
                <a:r>
                  <a:rPr lang="tr-TR" sz="1000" noProof="1"/>
                  <a:t>    3 &gt; 2.1 olduğundan ötürü 27 sayısı 12`ye göre dominant bir sayıdır.</a:t>
                </a:r>
              </a:p>
              <a:p>
                <a:endParaRPr lang="tr-TR" sz="1000" noProof="1"/>
              </a:p>
              <a:p>
                <a:r>
                  <a:rPr lang="tr-TR" sz="1000" b="1" noProof="1"/>
                  <a:t>Buna göre; 68 sayısı, onlar basamağı 7 olan iki basamaklı kaç sayıya göre dominant bir sayıdır?</a:t>
                </a:r>
              </a:p>
            </p:txBody>
          </p:sp>
        </mc:Choice>
        <mc:Fallback xmlns="">
          <p:sp>
            <p:nvSpPr>
              <p:cNvPr id="64" name="Metin kutusu 63">
                <a:extLst>
                  <a:ext uri="{FF2B5EF4-FFF2-40B4-BE49-F238E27FC236}">
                    <a16:creationId xmlns:a16="http://schemas.microsoft.com/office/drawing/2014/main" id="{6677B698-8DBC-40B0-8176-1238EDB36531}"/>
                  </a:ext>
                </a:extLst>
              </p:cNvPr>
              <p:cNvSpPr txBox="1">
                <a:spLocks noRot="1" noChangeAspect="1" noMove="1" noResize="1" noEditPoints="1" noAdjustHandles="1" noChangeArrowheads="1" noChangeShapeType="1" noTextEdit="1"/>
              </p:cNvSpPr>
              <p:nvPr/>
            </p:nvSpPr>
            <p:spPr>
              <a:xfrm>
                <a:off x="85806" y="4583377"/>
                <a:ext cx="3326682" cy="1477328"/>
              </a:xfrm>
              <a:prstGeom prst="rect">
                <a:avLst/>
              </a:prstGeom>
              <a:blipFill>
                <a:blip r:embed="rId6"/>
                <a:stretch>
                  <a:fillRect b="-1653"/>
                </a:stretch>
              </a:blipFill>
            </p:spPr>
            <p:txBody>
              <a:bodyPr/>
              <a:lstStyle/>
              <a:p>
                <a:r>
                  <a:rPr lang="tr-TR">
                    <a:noFill/>
                  </a:rPr>
                  <a:t> </a:t>
                </a:r>
              </a:p>
            </p:txBody>
          </p:sp>
        </mc:Fallback>
      </mc:AlternateContent>
      <p:sp>
        <p:nvSpPr>
          <p:cNvPr id="65" name="Metin kutusu 64">
            <a:extLst>
              <a:ext uri="{FF2B5EF4-FFF2-40B4-BE49-F238E27FC236}">
                <a16:creationId xmlns:a16="http://schemas.microsoft.com/office/drawing/2014/main" id="{3BC4EF94-54F1-4D85-A748-6D5330E8A640}"/>
              </a:ext>
            </a:extLst>
          </p:cNvPr>
          <p:cNvSpPr txBox="1"/>
          <p:nvPr/>
        </p:nvSpPr>
        <p:spPr>
          <a:xfrm>
            <a:off x="98506" y="6014250"/>
            <a:ext cx="3307569" cy="553998"/>
          </a:xfrm>
          <a:prstGeom prst="rect">
            <a:avLst/>
          </a:prstGeom>
          <a:noFill/>
        </p:spPr>
        <p:txBody>
          <a:bodyPr wrap="square" rtlCol="0">
            <a:spAutoFit/>
          </a:bodyPr>
          <a:lstStyle/>
          <a:p>
            <a:r>
              <a:rPr lang="tr-TR" sz="1000" b="0" dirty="0"/>
              <a:t>A)   </a:t>
            </a:r>
            <a:r>
              <a:rPr lang="tr-TR" sz="1000" dirty="0"/>
              <a:t>2                                         B)  3                                        C) 5</a:t>
            </a:r>
          </a:p>
          <a:p>
            <a:pPr marL="228600" indent="-228600">
              <a:buAutoNum type="alphaUcParenR"/>
            </a:pPr>
            <a:endParaRPr lang="tr-TR" sz="1000" dirty="0"/>
          </a:p>
          <a:p>
            <a:r>
              <a:rPr lang="tr-TR" sz="1000" dirty="0"/>
              <a:t>                           D) 6                                      E) 7</a:t>
            </a:r>
            <a:endParaRPr lang="tr-TR" sz="1000" b="1" dirty="0"/>
          </a:p>
        </p:txBody>
      </p:sp>
      <p:sp>
        <p:nvSpPr>
          <p:cNvPr id="66" name="Metin kutusu 65">
            <a:extLst>
              <a:ext uri="{FF2B5EF4-FFF2-40B4-BE49-F238E27FC236}">
                <a16:creationId xmlns:a16="http://schemas.microsoft.com/office/drawing/2014/main" id="{57FAED87-296E-4FE5-A7E9-869C7D622441}"/>
              </a:ext>
            </a:extLst>
          </p:cNvPr>
          <p:cNvSpPr txBox="1"/>
          <p:nvPr/>
        </p:nvSpPr>
        <p:spPr>
          <a:xfrm>
            <a:off x="3529677" y="4578751"/>
            <a:ext cx="3335578" cy="861774"/>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İki asal sayı ve bir sayısı hariç hiçbir tam sayıya bölünmeyen sayılara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Kaside Sayıları</a:t>
            </a:r>
            <a:r>
              <a:rPr lang="tr-TR" sz="1000" b="1" i="0" dirty="0">
                <a:effectLst/>
                <a:latin typeface="Arial Narrow" panose="020B0606020202030204" pitchFamily="34" charset="0"/>
              </a:rPr>
              <a:t>”</a:t>
            </a:r>
            <a:r>
              <a:rPr lang="tr-TR" sz="1000" noProof="1">
                <a:cs typeface="Arial" panose="020B0604020202020204" pitchFamily="34" charset="0"/>
              </a:rPr>
              <a:t> denir. Örneğin 91 sayısı 7.13 şeklinde elde edilebilir ve bir sayısı hariç başka böleni yoktur.</a:t>
            </a:r>
          </a:p>
          <a:p>
            <a:endParaRPr lang="tr-TR" sz="1000" noProof="1">
              <a:ea typeface="Arimo" panose="020B0604020202020204" pitchFamily="34" charset="0"/>
              <a:cs typeface="Arial" panose="020B0604020202020204" pitchFamily="34" charset="0"/>
            </a:endParaRPr>
          </a:p>
          <a:p>
            <a:r>
              <a:rPr lang="tr-TR" sz="1000" b="1" noProof="1">
                <a:ea typeface="Arimo" panose="020B0604020202020204" pitchFamily="34" charset="0"/>
                <a:cs typeface="Arial" panose="020B0604020202020204" pitchFamily="34" charset="0"/>
              </a:rPr>
              <a:t>Buna göre, iki basamaklı kaç tane Kaside Sayısı vardır?</a:t>
            </a:r>
            <a:endParaRPr lang="tr-TR" sz="1000" b="1" noProof="1">
              <a:ea typeface="Arimo" panose="020B0604020202020204" pitchFamily="34" charset="0"/>
              <a:cs typeface="Arimo" panose="020B0604020202020204" pitchFamily="34" charset="0"/>
            </a:endParaRPr>
          </a:p>
        </p:txBody>
      </p:sp>
      <p:sp>
        <p:nvSpPr>
          <p:cNvPr id="67" name="Metin kutusu 66">
            <a:extLst>
              <a:ext uri="{FF2B5EF4-FFF2-40B4-BE49-F238E27FC236}">
                <a16:creationId xmlns:a16="http://schemas.microsoft.com/office/drawing/2014/main" id="{93E8FAED-13AC-440E-B1E1-ADBE65C24A18}"/>
              </a:ext>
            </a:extLst>
          </p:cNvPr>
          <p:cNvSpPr txBox="1"/>
          <p:nvPr/>
        </p:nvSpPr>
        <p:spPr>
          <a:xfrm>
            <a:off x="3507375" y="5376004"/>
            <a:ext cx="3327833" cy="553998"/>
          </a:xfrm>
          <a:prstGeom prst="rect">
            <a:avLst/>
          </a:prstGeom>
          <a:noFill/>
        </p:spPr>
        <p:txBody>
          <a:bodyPr wrap="square" rtlCol="0">
            <a:spAutoFit/>
          </a:bodyPr>
          <a:lstStyle/>
          <a:p>
            <a:r>
              <a:rPr lang="tr-TR" sz="1000" b="0" dirty="0"/>
              <a:t>A)  13</a:t>
            </a:r>
            <a:r>
              <a:rPr lang="tr-TR" sz="1000" dirty="0"/>
              <a:t>                                     B)  25                                      C) 27</a:t>
            </a:r>
          </a:p>
          <a:p>
            <a:pPr marL="228600" indent="-228600">
              <a:buAutoNum type="alphaUcParenR"/>
            </a:pPr>
            <a:endParaRPr lang="tr-TR" sz="1000" dirty="0"/>
          </a:p>
          <a:p>
            <a:r>
              <a:rPr lang="tr-TR" sz="1000" dirty="0"/>
              <a:t>                          D) 28                                     E) 29</a:t>
            </a:r>
            <a:endParaRPr lang="tr-TR" sz="1000" b="1" dirty="0"/>
          </a:p>
        </p:txBody>
      </p:sp>
    </p:spTree>
    <p:extLst>
      <p:ext uri="{BB962C8B-B14F-4D97-AF65-F5344CB8AC3E}">
        <p14:creationId xmlns:p14="http://schemas.microsoft.com/office/powerpoint/2010/main" val="6145756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12488"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758985" y="31531"/>
            <a:ext cx="1033499" cy="413054"/>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a:t>
            </a:r>
          </a:p>
          <a:p>
            <a:pPr algn="ctr"/>
            <a:r>
              <a:rPr lang="tr-TR" sz="1000" dirty="0">
                <a:solidFill>
                  <a:schemeClr val="tx1"/>
                </a:solidFill>
              </a:rPr>
              <a:t>TEST ?</a:t>
            </a: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6"/>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8" name="Metin kutusu 47">
            <a:extLst>
              <a:ext uri="{FF2B5EF4-FFF2-40B4-BE49-F238E27FC236}">
                <a16:creationId xmlns:a16="http://schemas.microsoft.com/office/drawing/2014/main" id="{52495E54-F351-46DA-AB92-6A2BE6CCEA76}"/>
              </a:ext>
            </a:extLst>
          </p:cNvPr>
          <p:cNvSpPr txBox="1"/>
          <p:nvPr/>
        </p:nvSpPr>
        <p:spPr>
          <a:xfrm>
            <a:off x="13995" y="8830327"/>
            <a:ext cx="1326773"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5.B    6.D    7.C    8.D</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4346" y="43584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83084" y="454732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97132" y="458470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37" name="Metin kutusu 36">
            <a:extLst>
              <a:ext uri="{FF2B5EF4-FFF2-40B4-BE49-F238E27FC236}">
                <a16:creationId xmlns:a16="http://schemas.microsoft.com/office/drawing/2014/main" id="{C712AFB4-0811-439A-B216-544C011D0328}"/>
              </a:ext>
            </a:extLst>
          </p:cNvPr>
          <p:cNvSpPr txBox="1"/>
          <p:nvPr/>
        </p:nvSpPr>
        <p:spPr>
          <a:xfrm>
            <a:off x="64400" y="485194"/>
            <a:ext cx="3451151" cy="1169551"/>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Rakamları birbirinden farklı iki asal sayının arasındaki pozitif tam sayılara </a:t>
            </a:r>
            <a:r>
              <a:rPr lang="tr-TR" sz="800" b="1" i="0" dirty="0">
                <a:effectLst/>
                <a:latin typeface="Arial Narrow" panose="020B0606020202030204" pitchFamily="34" charset="0"/>
              </a:rPr>
              <a:t>“ </a:t>
            </a:r>
            <a:r>
              <a:rPr lang="tr-TR" sz="1000" b="1" noProof="1">
                <a:cs typeface="Arial" panose="020B0604020202020204" pitchFamily="34" charset="0"/>
              </a:rPr>
              <a:t>Keskin Sayılar</a:t>
            </a:r>
            <a:r>
              <a:rPr lang="tr-TR" sz="1000" b="1" i="0" dirty="0">
                <a:effectLst/>
                <a:latin typeface="Arial Narrow" panose="020B0606020202030204" pitchFamily="34" charset="0"/>
              </a:rPr>
              <a:t>”</a:t>
            </a:r>
            <a:r>
              <a:rPr lang="tr-TR" sz="1000" noProof="1">
                <a:cs typeface="Arial" panose="020B0604020202020204" pitchFamily="34" charset="0"/>
              </a:rPr>
              <a:t> denir. Örneğin rakamları birbirnden farklı asal sayılar olan 239 ile 241`in arasında bulunan 240 Keskin Sayı`dır.</a:t>
            </a:r>
          </a:p>
          <a:p>
            <a:endParaRPr lang="tr-TR" sz="1000" noProof="1">
              <a:cs typeface="Arial" panose="020B0604020202020204" pitchFamily="34" charset="0"/>
            </a:endParaRPr>
          </a:p>
          <a:p>
            <a:r>
              <a:rPr lang="tr-TR" sz="1000" b="1" noProof="1">
                <a:cs typeface="Arial" panose="020B0604020202020204" pitchFamily="34" charset="0"/>
              </a:rPr>
              <a:t>Buna göre, en küçük üç basamaklı sayıdan küçük kaç tane Keskin sayı vardır?</a:t>
            </a:r>
          </a:p>
        </p:txBody>
      </p:sp>
      <p:sp>
        <p:nvSpPr>
          <p:cNvPr id="38" name="Metin kutusu 37">
            <a:extLst>
              <a:ext uri="{FF2B5EF4-FFF2-40B4-BE49-F238E27FC236}">
                <a16:creationId xmlns:a16="http://schemas.microsoft.com/office/drawing/2014/main" id="{BC1DD289-82FD-458C-9186-443D709273E0}"/>
              </a:ext>
            </a:extLst>
          </p:cNvPr>
          <p:cNvSpPr txBox="1"/>
          <p:nvPr/>
        </p:nvSpPr>
        <p:spPr>
          <a:xfrm>
            <a:off x="44967" y="1630706"/>
            <a:ext cx="3363753" cy="553998"/>
          </a:xfrm>
          <a:prstGeom prst="rect">
            <a:avLst/>
          </a:prstGeom>
          <a:noFill/>
        </p:spPr>
        <p:txBody>
          <a:bodyPr wrap="square" rtlCol="0">
            <a:spAutoFit/>
          </a:bodyPr>
          <a:lstStyle/>
          <a:p>
            <a:r>
              <a:rPr lang="tr-TR" sz="1000" dirty="0">
                <a:cs typeface="Arial" panose="020B0604020202020204" pitchFamily="34" charset="0"/>
              </a:rPr>
              <a:t>A)  6                                            B) 7                                            C) 8</a:t>
            </a:r>
          </a:p>
          <a:p>
            <a:r>
              <a:rPr lang="tr-TR" sz="1000" dirty="0">
                <a:cs typeface="Arial" panose="020B0604020202020204" pitchFamily="34" charset="0"/>
              </a:rPr>
              <a:t>  </a:t>
            </a:r>
          </a:p>
          <a:p>
            <a:r>
              <a:rPr lang="tr-TR" sz="1000" dirty="0">
                <a:cs typeface="Arial" panose="020B0604020202020204" pitchFamily="34" charset="0"/>
              </a:rPr>
              <a:t>                          D) 10                                 E) 12</a:t>
            </a:r>
          </a:p>
        </p:txBody>
      </p:sp>
      <p:sp>
        <p:nvSpPr>
          <p:cNvPr id="40" name="Metin kutusu 39">
            <a:extLst>
              <a:ext uri="{FF2B5EF4-FFF2-40B4-BE49-F238E27FC236}">
                <a16:creationId xmlns:a16="http://schemas.microsoft.com/office/drawing/2014/main" id="{6C4662B9-9640-42AB-B362-322B726DBCB4}"/>
              </a:ext>
            </a:extLst>
          </p:cNvPr>
          <p:cNvSpPr txBox="1"/>
          <p:nvPr/>
        </p:nvSpPr>
        <p:spPr>
          <a:xfrm>
            <a:off x="3501273" y="464674"/>
            <a:ext cx="3439867" cy="707886"/>
          </a:xfrm>
          <a:prstGeom prst="rect">
            <a:avLst/>
          </a:prstGeom>
          <a:noFill/>
        </p:spPr>
        <p:txBody>
          <a:bodyPr wrap="square" rtlCol="0">
            <a:spAutoFit/>
          </a:bodyPr>
          <a:lstStyle/>
          <a:p>
            <a:r>
              <a:rPr lang="tr-TR" sz="1000" b="0" i="0" dirty="0">
                <a:solidFill>
                  <a:srgbClr val="333333"/>
                </a:solidFill>
                <a:effectLst/>
              </a:rPr>
              <a:t>Pozitif tam sayıların pozitif bölenleri toplamı, sayının </a:t>
            </a:r>
            <a:br>
              <a:rPr lang="tr-TR" sz="1000" b="0" i="0" dirty="0">
                <a:solidFill>
                  <a:srgbClr val="333333"/>
                </a:solidFill>
                <a:effectLst/>
              </a:rPr>
            </a:br>
            <a:r>
              <a:rPr lang="tr-TR" sz="1000" b="0" i="0" dirty="0">
                <a:solidFill>
                  <a:srgbClr val="333333"/>
                </a:solidFill>
                <a:effectLst/>
              </a:rPr>
              <a:t>kendisinin iki katına eşittir. Bu sayılara “</a:t>
            </a:r>
            <a:r>
              <a:rPr lang="tr-TR" sz="1000" b="1" i="0" dirty="0">
                <a:solidFill>
                  <a:srgbClr val="333333"/>
                </a:solidFill>
                <a:effectLst/>
              </a:rPr>
              <a:t>Mükemmel sayı</a:t>
            </a:r>
            <a:r>
              <a:rPr lang="tr-TR" sz="1000" b="0" i="0" dirty="0">
                <a:solidFill>
                  <a:srgbClr val="333333"/>
                </a:solidFill>
                <a:effectLst/>
              </a:rPr>
              <a:t>” denir.</a:t>
            </a:r>
            <a:br>
              <a:rPr lang="tr-TR" sz="1000" b="0" i="0" dirty="0">
                <a:solidFill>
                  <a:srgbClr val="333333"/>
                </a:solidFill>
                <a:effectLst/>
              </a:rPr>
            </a:br>
            <a:br>
              <a:rPr lang="tr-TR" sz="1000" b="0" i="0" dirty="0">
                <a:solidFill>
                  <a:srgbClr val="333333"/>
                </a:solidFill>
                <a:effectLst/>
              </a:rPr>
            </a:br>
            <a:r>
              <a:rPr lang="tr-TR" sz="1000" b="1" i="0" noProof="1">
                <a:solidFill>
                  <a:srgbClr val="333333"/>
                </a:solidFill>
                <a:effectLst/>
              </a:rPr>
              <a:t>Buna göre, aşağıdakilerden hangisi Mükemmel sayıdır?</a:t>
            </a:r>
            <a:endParaRPr lang="tr-TR" sz="1000" b="1" noProof="1"/>
          </a:p>
        </p:txBody>
      </p:sp>
      <p:sp>
        <p:nvSpPr>
          <p:cNvPr id="62" name="Metin kutusu 61">
            <a:extLst>
              <a:ext uri="{FF2B5EF4-FFF2-40B4-BE49-F238E27FC236}">
                <a16:creationId xmlns:a16="http://schemas.microsoft.com/office/drawing/2014/main" id="{E45FCA79-0C73-4A8E-82A2-CD4A3F3C0C10}"/>
              </a:ext>
            </a:extLst>
          </p:cNvPr>
          <p:cNvSpPr txBox="1"/>
          <p:nvPr/>
        </p:nvSpPr>
        <p:spPr>
          <a:xfrm>
            <a:off x="3515552" y="1121779"/>
            <a:ext cx="3335577" cy="553998"/>
          </a:xfrm>
          <a:prstGeom prst="rect">
            <a:avLst/>
          </a:prstGeom>
          <a:noFill/>
        </p:spPr>
        <p:txBody>
          <a:bodyPr wrap="square" rtlCol="0">
            <a:spAutoFit/>
          </a:bodyPr>
          <a:lstStyle/>
          <a:p>
            <a:r>
              <a:rPr lang="tr-TR" sz="1000" dirty="0">
                <a:cs typeface="Arial" panose="020B0604020202020204" pitchFamily="34" charset="0"/>
              </a:rPr>
              <a:t>A) 8                                         B) 12                                     C) 28</a:t>
            </a:r>
          </a:p>
          <a:p>
            <a:r>
              <a:rPr lang="tr-TR" sz="1000" dirty="0">
                <a:cs typeface="Arial" panose="020B0604020202020204" pitchFamily="34" charset="0"/>
              </a:rPr>
              <a:t>  </a:t>
            </a:r>
          </a:p>
          <a:p>
            <a:r>
              <a:rPr lang="tr-TR" sz="1000" dirty="0">
                <a:cs typeface="Arial" panose="020B0604020202020204" pitchFamily="34" charset="0"/>
              </a:rPr>
              <a:t>                           D) 38                                E) 46</a:t>
            </a:r>
          </a:p>
        </p:txBody>
      </p:sp>
      <p:sp>
        <p:nvSpPr>
          <p:cNvPr id="64" name="Metin kutusu 63">
            <a:extLst>
              <a:ext uri="{FF2B5EF4-FFF2-40B4-BE49-F238E27FC236}">
                <a16:creationId xmlns:a16="http://schemas.microsoft.com/office/drawing/2014/main" id="{6677B698-8DBC-40B0-8176-1238EDB36531}"/>
              </a:ext>
            </a:extLst>
          </p:cNvPr>
          <p:cNvSpPr txBox="1"/>
          <p:nvPr/>
        </p:nvSpPr>
        <p:spPr>
          <a:xfrm>
            <a:off x="96010" y="4571420"/>
            <a:ext cx="3357340" cy="569387"/>
          </a:xfrm>
          <a:prstGeom prst="rect">
            <a:avLst/>
          </a:prstGeom>
          <a:noFill/>
        </p:spPr>
        <p:txBody>
          <a:bodyPr wrap="square" rtlCol="0">
            <a:spAutoFit/>
          </a:bodyPr>
          <a:lstStyle/>
          <a:p>
            <a:r>
              <a:rPr lang="tr-TR" sz="1000" b="0" i="0" noProof="1">
                <a:solidFill>
                  <a:srgbClr val="000000"/>
                </a:solidFill>
                <a:effectLst/>
                <a:latin typeface="Calibri (Gövde)"/>
              </a:rPr>
              <a:t>N basamaklı bir sayı, her bir basamağının n'inci üssünün toplamına eşitse bu sayılara</a:t>
            </a:r>
            <a:r>
              <a:rPr lang="tr-TR" sz="1000" b="1" i="0" dirty="0">
                <a:effectLst/>
                <a:latin typeface="Calibri (Gövde)"/>
              </a:rPr>
              <a:t> “ </a:t>
            </a:r>
            <a:r>
              <a:rPr lang="tr-TR" sz="1000" b="1" i="0" u="none" strike="noStrike" noProof="1">
                <a:solidFill>
                  <a:srgbClr val="000000"/>
                </a:solidFill>
                <a:effectLst/>
                <a:latin typeface="Calibri (Gövde)"/>
              </a:rPr>
              <a:t>Narsisistik Sayılar </a:t>
            </a:r>
            <a:r>
              <a:rPr lang="tr-TR" sz="1100" b="1" i="0" dirty="0">
                <a:effectLst/>
                <a:latin typeface="Calibri (Gövde)"/>
              </a:rPr>
              <a:t>”</a:t>
            </a:r>
            <a:r>
              <a:rPr lang="tr-TR" sz="1000" b="0" i="0" noProof="1">
                <a:solidFill>
                  <a:srgbClr val="000000"/>
                </a:solidFill>
                <a:effectLst/>
                <a:latin typeface="Calibri (Gövde)"/>
              </a:rPr>
              <a:t> </a:t>
            </a:r>
            <a:r>
              <a:rPr lang="tr-TR" sz="1000" i="0" u="none" strike="noStrike" noProof="1">
                <a:solidFill>
                  <a:srgbClr val="000000"/>
                </a:solidFill>
                <a:effectLst/>
                <a:latin typeface="Calibri (Gövde)"/>
              </a:rPr>
              <a:t>denir.</a:t>
            </a:r>
            <a:endParaRPr lang="tr-TR" sz="1000" noProof="1">
              <a:solidFill>
                <a:srgbClr val="000000"/>
              </a:solidFill>
              <a:latin typeface="Calibri (Gövde)"/>
            </a:endParaRPr>
          </a:p>
          <a:p>
            <a:endParaRPr lang="tr-TR" sz="1000" noProof="1">
              <a:latin typeface="Calibri (Gövde)"/>
            </a:endParaRPr>
          </a:p>
        </p:txBody>
      </p:sp>
      <p:sp>
        <p:nvSpPr>
          <p:cNvPr id="65" name="Metin kutusu 64">
            <a:extLst>
              <a:ext uri="{FF2B5EF4-FFF2-40B4-BE49-F238E27FC236}">
                <a16:creationId xmlns:a16="http://schemas.microsoft.com/office/drawing/2014/main" id="{3BC4EF94-54F1-4D85-A748-6D5330E8A640}"/>
              </a:ext>
            </a:extLst>
          </p:cNvPr>
          <p:cNvSpPr txBox="1"/>
          <p:nvPr/>
        </p:nvSpPr>
        <p:spPr>
          <a:xfrm>
            <a:off x="37947" y="5904379"/>
            <a:ext cx="3373771" cy="553998"/>
          </a:xfrm>
          <a:prstGeom prst="rect">
            <a:avLst/>
          </a:prstGeom>
          <a:noFill/>
        </p:spPr>
        <p:txBody>
          <a:bodyPr wrap="square" rtlCol="0">
            <a:spAutoFit/>
          </a:bodyPr>
          <a:lstStyle/>
          <a:p>
            <a:r>
              <a:rPr lang="tr-TR" sz="1000" b="0" dirty="0"/>
              <a:t>A) </a:t>
            </a:r>
            <a:r>
              <a:rPr lang="tr-TR" sz="1000" dirty="0"/>
              <a:t>56                                        B) 123                                       C) 152</a:t>
            </a:r>
          </a:p>
          <a:p>
            <a:pPr marL="228600" indent="-228600">
              <a:buAutoNum type="alphaUcParenR"/>
            </a:pPr>
            <a:endParaRPr lang="tr-TR" sz="1000" dirty="0"/>
          </a:p>
          <a:p>
            <a:r>
              <a:rPr lang="tr-TR" sz="1000" dirty="0"/>
              <a:t>                       D) 371                                       E) 1748</a:t>
            </a:r>
            <a:endParaRPr lang="tr-TR" sz="1000" b="1" dirty="0"/>
          </a:p>
        </p:txBody>
      </p:sp>
      <mc:AlternateContent xmlns:mc="http://schemas.openxmlformats.org/markup-compatibility/2006" xmlns:a14="http://schemas.microsoft.com/office/drawing/2010/main">
        <mc:Choice Requires="a14">
          <p:sp>
            <p:nvSpPr>
              <p:cNvPr id="66" name="Metin kutusu 65">
                <a:extLst>
                  <a:ext uri="{FF2B5EF4-FFF2-40B4-BE49-F238E27FC236}">
                    <a16:creationId xmlns:a16="http://schemas.microsoft.com/office/drawing/2014/main" id="{57FAED87-296E-4FE5-A7E9-869C7D622441}"/>
                  </a:ext>
                </a:extLst>
              </p:cNvPr>
              <p:cNvSpPr txBox="1"/>
              <p:nvPr/>
            </p:nvSpPr>
            <p:spPr>
              <a:xfrm>
                <a:off x="3552906" y="4616901"/>
                <a:ext cx="3350927" cy="1018356"/>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Euclid ilk dört mükemmel sayı üstünde yaptığı araştırmalarda p ve </a:t>
                </a:r>
                <a14:m>
                  <m:oMath xmlns:m="http://schemas.openxmlformats.org/officeDocument/2006/math">
                    <m:sSup>
                      <m:sSupPr>
                        <m:ctrlPr>
                          <a:rPr lang="tr-TR" sz="1000" i="1" noProof="1">
                            <a:solidFill>
                              <a:srgbClr val="000000"/>
                            </a:solidFill>
                            <a:latin typeface="Cambria Math" panose="02040503050406030204" pitchFamily="18" charset="0"/>
                          </a:rPr>
                        </m:ctrlPr>
                      </m:sSupPr>
                      <m:e>
                        <m:r>
                          <m:rPr>
                            <m:nor/>
                          </m:rPr>
                          <a:rPr lang="tr-TR" sz="1000" noProof="1">
                            <a:solidFill>
                              <a:srgbClr val="000000"/>
                            </a:solidFill>
                          </a:rPr>
                          <m:t>2</m:t>
                        </m:r>
                      </m:e>
                      <m:sup>
                        <m:r>
                          <m:rPr>
                            <m:sty m:val="p"/>
                          </m:rPr>
                          <a:rPr lang="tr-TR" sz="1000" noProof="1">
                            <a:solidFill>
                              <a:srgbClr val="000000"/>
                            </a:solidFill>
                            <a:latin typeface="Cambria Math" panose="02040503050406030204" pitchFamily="18" charset="0"/>
                          </a:rPr>
                          <m:t>P</m:t>
                        </m:r>
                      </m:sup>
                    </m:sSup>
                    <m:r>
                      <a:rPr lang="tr-TR" sz="1000" i="1" noProof="1">
                        <a:solidFill>
                          <a:srgbClr val="000000"/>
                        </a:solidFill>
                        <a:latin typeface="Cambria Math" panose="02040503050406030204" pitchFamily="18" charset="0"/>
                      </a:rPr>
                      <m:t> </m:t>
                    </m:r>
                  </m:oMath>
                </a14:m>
                <a:r>
                  <a:rPr lang="tr-TR" sz="1000" noProof="1">
                    <a:ea typeface="Arimo" panose="020B0604020202020204" pitchFamily="34" charset="0"/>
                    <a:cs typeface="Arimo" panose="020B0604020202020204" pitchFamily="34" charset="0"/>
                  </a:rPr>
                  <a:t>− 1 sayıları asal sayı olmak koşuluyla şöyle bir formül ile tanımlanabildiklerini keşfetmiştir : (</a:t>
                </a:r>
                <a14:m>
                  <m:oMath xmlns:m="http://schemas.openxmlformats.org/officeDocument/2006/math">
                    <m:sSup>
                      <m:sSupPr>
                        <m:ctrlPr>
                          <a:rPr lang="tr-TR" sz="1000" b="0" i="1" noProof="1" smtClean="0">
                            <a:solidFill>
                              <a:srgbClr val="000000"/>
                            </a:solidFill>
                            <a:effectLst/>
                            <a:latin typeface="Cambria Math" panose="02040503050406030204" pitchFamily="18" charset="0"/>
                          </a:rPr>
                        </m:ctrlPr>
                      </m:sSupPr>
                      <m:e>
                        <m:r>
                          <m:rPr>
                            <m:nor/>
                          </m:rPr>
                          <a:rPr lang="tr-TR" sz="1000" b="0" i="0" noProof="1" smtClean="0">
                            <a:solidFill>
                              <a:srgbClr val="000000"/>
                            </a:solidFill>
                            <a:effectLst/>
                          </a:rPr>
                          <m:t>2</m:t>
                        </m:r>
                      </m:e>
                      <m:sup>
                        <m:r>
                          <m:rPr>
                            <m:sty m:val="p"/>
                          </m:rPr>
                          <a:rPr lang="tr-TR" sz="1000" b="0" i="0" noProof="1" smtClean="0">
                            <a:solidFill>
                              <a:srgbClr val="000000"/>
                            </a:solidFill>
                            <a:effectLst/>
                            <a:latin typeface="Cambria Math" panose="02040503050406030204" pitchFamily="18" charset="0"/>
                          </a:rPr>
                          <m:t>P</m:t>
                        </m:r>
                        <m:r>
                          <a:rPr lang="tr-TR" sz="1000" b="0" i="0" noProof="1" smtClean="0">
                            <a:solidFill>
                              <a:srgbClr val="000000"/>
                            </a:solidFill>
                            <a:effectLst/>
                            <a:latin typeface="Cambria Math" panose="02040503050406030204" pitchFamily="18" charset="0"/>
                          </a:rPr>
                          <m:t>−1</m:t>
                        </m:r>
                      </m:sup>
                    </m:sSup>
                  </m:oMath>
                </a14:m>
                <a:r>
                  <a:rPr lang="tr-TR" sz="1000" noProof="1">
                    <a:ea typeface="Arimo" panose="020B0604020202020204" pitchFamily="34" charset="0"/>
                    <a:cs typeface="Arimo" panose="020B0604020202020204" pitchFamily="34" charset="0"/>
                  </a:rPr>
                  <a:t>)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mo" panose="020B0604020202020204" pitchFamily="34" charset="0"/>
                      </a:rPr>
                      <m:t>∙</m:t>
                    </m:r>
                  </m:oMath>
                </a14:m>
                <a:r>
                  <a:rPr lang="tr-TR" sz="1000" noProof="1">
                    <a:ea typeface="Arimo" panose="020B0604020202020204" pitchFamily="34" charset="0"/>
                    <a:cs typeface="Arimo" panose="020B0604020202020204" pitchFamily="34" charset="0"/>
                  </a:rPr>
                  <a:t> (</a:t>
                </a:r>
                <a14:m>
                  <m:oMath xmlns:m="http://schemas.openxmlformats.org/officeDocument/2006/math">
                    <m:sSup>
                      <m:sSupPr>
                        <m:ctrlPr>
                          <a:rPr lang="tr-TR" sz="1000" i="1" noProof="1">
                            <a:solidFill>
                              <a:srgbClr val="000000"/>
                            </a:solidFill>
                            <a:latin typeface="Cambria Math" panose="02040503050406030204" pitchFamily="18" charset="0"/>
                          </a:rPr>
                        </m:ctrlPr>
                      </m:sSupPr>
                      <m:e>
                        <m:r>
                          <m:rPr>
                            <m:nor/>
                          </m:rPr>
                          <a:rPr lang="tr-TR" sz="1000" noProof="1">
                            <a:solidFill>
                              <a:srgbClr val="000000"/>
                            </a:solidFill>
                          </a:rPr>
                          <m:t>2</m:t>
                        </m:r>
                      </m:e>
                      <m:sup>
                        <m:r>
                          <m:rPr>
                            <m:sty m:val="p"/>
                          </m:rPr>
                          <a:rPr lang="tr-TR" sz="1000" noProof="1">
                            <a:solidFill>
                              <a:srgbClr val="000000"/>
                            </a:solidFill>
                            <a:latin typeface="Cambria Math" panose="02040503050406030204" pitchFamily="18" charset="0"/>
                          </a:rPr>
                          <m:t>P</m:t>
                        </m:r>
                      </m:sup>
                    </m:sSup>
                    <m:r>
                      <a:rPr lang="tr-TR" sz="1000" i="1" noProof="1">
                        <a:solidFill>
                          <a:srgbClr val="000000"/>
                        </a:solidFill>
                        <a:latin typeface="Cambria Math" panose="02040503050406030204" pitchFamily="18" charset="0"/>
                      </a:rPr>
                      <m:t> </m:t>
                    </m:r>
                  </m:oMath>
                </a14:m>
                <a:r>
                  <a:rPr lang="tr-TR" sz="1000" noProof="1">
                    <a:ea typeface="Arimo" panose="020B0604020202020204" pitchFamily="34" charset="0"/>
                    <a:cs typeface="Arimo" panose="020B0604020202020204" pitchFamily="34" charset="0"/>
                  </a:rPr>
                  <a:t>− 1) </a:t>
                </a:r>
                <a:endParaRPr lang="tr-TR" sz="1000" noProof="1">
                  <a:ea typeface="Arimo" panose="020B0604020202020204" pitchFamily="34" charset="0"/>
                  <a:cs typeface="Arial" panose="020B0604020202020204" pitchFamily="34" charset="0"/>
                </a:endParaRPr>
              </a:p>
              <a:p>
                <a:br>
                  <a:rPr lang="tr-TR" sz="1000" b="1" noProof="1">
                    <a:ea typeface="Arimo" panose="020B0604020202020204" pitchFamily="34" charset="0"/>
                    <a:cs typeface="Arial" panose="020B0604020202020204" pitchFamily="34" charset="0"/>
                  </a:rPr>
                </a:br>
                <a:r>
                  <a:rPr lang="tr-TR" sz="1000" b="1" noProof="1">
                    <a:ea typeface="Arimo" panose="020B0604020202020204" pitchFamily="34" charset="0"/>
                    <a:cs typeface="Arial" panose="020B0604020202020204" pitchFamily="34" charset="0"/>
                  </a:rPr>
                  <a:t>Euclid`in yaptığı bu çalışmaya göre, ilk üç mükemmel sayının toplamı kaçtır?</a:t>
                </a:r>
                <a:endParaRPr lang="tr-TR" sz="1000" b="1" noProof="1">
                  <a:ea typeface="Arimo" panose="020B0604020202020204" pitchFamily="34" charset="0"/>
                  <a:cs typeface="Arimo" panose="020B0604020202020204" pitchFamily="34" charset="0"/>
                </a:endParaRPr>
              </a:p>
            </p:txBody>
          </p:sp>
        </mc:Choice>
        <mc:Fallback xmlns="">
          <p:sp>
            <p:nvSpPr>
              <p:cNvPr id="66" name="Metin kutusu 65">
                <a:extLst>
                  <a:ext uri="{FF2B5EF4-FFF2-40B4-BE49-F238E27FC236}">
                    <a16:creationId xmlns:a16="http://schemas.microsoft.com/office/drawing/2014/main" id="{57FAED87-296E-4FE5-A7E9-869C7D622441}"/>
                  </a:ext>
                </a:extLst>
              </p:cNvPr>
              <p:cNvSpPr txBox="1">
                <a:spLocks noRot="1" noChangeAspect="1" noMove="1" noResize="1" noEditPoints="1" noAdjustHandles="1" noChangeArrowheads="1" noChangeShapeType="1" noTextEdit="1"/>
              </p:cNvSpPr>
              <p:nvPr/>
            </p:nvSpPr>
            <p:spPr>
              <a:xfrm>
                <a:off x="3552906" y="4616901"/>
                <a:ext cx="3350927" cy="1018356"/>
              </a:xfrm>
              <a:prstGeom prst="rect">
                <a:avLst/>
              </a:prstGeom>
              <a:blipFill>
                <a:blip r:embed="rId7"/>
                <a:stretch>
                  <a:fillRect b="-2994"/>
                </a:stretch>
              </a:blipFill>
            </p:spPr>
            <p:txBody>
              <a:bodyPr/>
              <a:lstStyle/>
              <a:p>
                <a:r>
                  <a:rPr lang="tr-TR">
                    <a:noFill/>
                  </a:rPr>
                  <a:t> </a:t>
                </a:r>
              </a:p>
            </p:txBody>
          </p:sp>
        </mc:Fallback>
      </mc:AlternateContent>
      <p:sp>
        <p:nvSpPr>
          <p:cNvPr id="67" name="Metin kutusu 66">
            <a:extLst>
              <a:ext uri="{FF2B5EF4-FFF2-40B4-BE49-F238E27FC236}">
                <a16:creationId xmlns:a16="http://schemas.microsoft.com/office/drawing/2014/main" id="{93E8FAED-13AC-440E-B1E1-ADBE65C24A18}"/>
              </a:ext>
            </a:extLst>
          </p:cNvPr>
          <p:cNvSpPr txBox="1"/>
          <p:nvPr/>
        </p:nvSpPr>
        <p:spPr>
          <a:xfrm>
            <a:off x="3552906" y="5577293"/>
            <a:ext cx="3282000" cy="553998"/>
          </a:xfrm>
          <a:prstGeom prst="rect">
            <a:avLst/>
          </a:prstGeom>
          <a:noFill/>
        </p:spPr>
        <p:txBody>
          <a:bodyPr wrap="square" rtlCol="0">
            <a:spAutoFit/>
          </a:bodyPr>
          <a:lstStyle/>
          <a:p>
            <a:r>
              <a:rPr lang="tr-TR" sz="1000" b="0" dirty="0"/>
              <a:t>A)  28</a:t>
            </a:r>
            <a:r>
              <a:rPr lang="tr-TR" sz="1000" dirty="0"/>
              <a:t>                                        B) 154                                  C) 524</a:t>
            </a:r>
          </a:p>
          <a:p>
            <a:pPr marL="228600" indent="-228600">
              <a:buAutoNum type="alphaUcParenR"/>
            </a:pPr>
            <a:endParaRPr lang="tr-TR" sz="1000" dirty="0"/>
          </a:p>
          <a:p>
            <a:r>
              <a:rPr lang="tr-TR" sz="1000" dirty="0"/>
              <a:t>                          D) 530                                E) 8128</a:t>
            </a:r>
            <a:endParaRPr lang="tr-TR" sz="1000" b="1" dirty="0"/>
          </a:p>
        </p:txBody>
      </p:sp>
      <mc:AlternateContent xmlns:mc="http://schemas.openxmlformats.org/markup-compatibility/2006" xmlns:a14="http://schemas.microsoft.com/office/drawing/2010/main">
        <mc:Choice Requires="a14">
          <p:sp>
            <p:nvSpPr>
              <p:cNvPr id="39" name="Metin kutusu 38">
                <a:extLst>
                  <a:ext uri="{FF2B5EF4-FFF2-40B4-BE49-F238E27FC236}">
                    <a16:creationId xmlns:a16="http://schemas.microsoft.com/office/drawing/2014/main" id="{53827228-C5EF-40CA-9B28-42B56B27AB11}"/>
                  </a:ext>
                </a:extLst>
              </p:cNvPr>
              <p:cNvSpPr txBox="1"/>
              <p:nvPr/>
            </p:nvSpPr>
            <p:spPr>
              <a:xfrm>
                <a:off x="137565" y="4971506"/>
                <a:ext cx="3121033" cy="707886"/>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tr-TR" sz="1000" b="0" i="0" noProof="1">
                    <a:solidFill>
                      <a:srgbClr val="000000"/>
                    </a:solidFill>
                    <a:effectLst/>
                    <a:latin typeface="Calibri (Gövde)"/>
                  </a:rPr>
                  <a:t>Örneğin : 1634 sayısı 4 basamaklıdır. O yüzden tüm rakamların 4`üncü kuvvetlerinin toplamına eşittir. </a:t>
                </a:r>
              </a:p>
              <a:p>
                <a:endParaRPr lang="tr-TR" sz="1000" noProof="1">
                  <a:solidFill>
                    <a:srgbClr val="000000"/>
                  </a:solidFill>
                  <a:latin typeface="Calibri (Gövde)"/>
                </a:endParaRPr>
              </a:p>
              <a:p>
                <a:r>
                  <a:rPr lang="tr-TR" sz="1000" b="0" i="0" noProof="1">
                    <a:solidFill>
                      <a:srgbClr val="000000"/>
                    </a:solidFill>
                    <a:effectLst/>
                    <a:latin typeface="Calibri (Gövde)"/>
                  </a:rPr>
                  <a:t>1634 = </a:t>
                </a:r>
                <a14:m>
                  <m:oMath xmlns:m="http://schemas.openxmlformats.org/officeDocument/2006/math">
                    <m:sSup>
                      <m:sSupPr>
                        <m:ctrlPr>
                          <a:rPr lang="tr-TR" sz="1000" b="0" i="1" noProof="1" smtClean="0">
                            <a:solidFill>
                              <a:srgbClr val="000000"/>
                            </a:solidFill>
                            <a:effectLst/>
                            <a:latin typeface="Cambria Math" panose="02040503050406030204" pitchFamily="18" charset="0"/>
                          </a:rPr>
                        </m:ctrlPr>
                      </m:sSupPr>
                      <m:e>
                        <m:r>
                          <m:rPr>
                            <m:nor/>
                          </m:rPr>
                          <a:rPr lang="tr-TR" sz="1000" b="0" i="0" noProof="1" smtClean="0">
                            <a:solidFill>
                              <a:srgbClr val="000000"/>
                            </a:solidFill>
                            <a:effectLst/>
                          </a:rPr>
                          <m:t>1</m:t>
                        </m:r>
                      </m:e>
                      <m:sup>
                        <m:r>
                          <a:rPr lang="tr-TR" sz="1000" b="0" i="1" noProof="1" smtClean="0">
                            <a:solidFill>
                              <a:srgbClr val="000000"/>
                            </a:solidFill>
                            <a:effectLst/>
                            <a:latin typeface="Cambria Math" panose="02040503050406030204" pitchFamily="18" charset="0"/>
                          </a:rPr>
                          <m:t>4</m:t>
                        </m:r>
                      </m:sup>
                    </m:sSup>
                    <m:r>
                      <a:rPr lang="tr-TR" sz="1000" b="0" i="1" noProof="1" smtClean="0">
                        <a:solidFill>
                          <a:srgbClr val="000000"/>
                        </a:solidFill>
                        <a:effectLst/>
                        <a:latin typeface="Cambria Math" panose="02040503050406030204" pitchFamily="18" charset="0"/>
                      </a:rPr>
                      <m:t>+</m:t>
                    </m:r>
                    <m:sSup>
                      <m:sSupPr>
                        <m:ctrlPr>
                          <a:rPr lang="tr-TR" sz="1000" b="0" i="1" noProof="1" smtClean="0">
                            <a:solidFill>
                              <a:srgbClr val="000000"/>
                            </a:solidFill>
                            <a:effectLst/>
                            <a:latin typeface="Cambria Math" panose="02040503050406030204" pitchFamily="18" charset="0"/>
                          </a:rPr>
                        </m:ctrlPr>
                      </m:sSupPr>
                      <m:e>
                        <m:r>
                          <m:rPr>
                            <m:nor/>
                          </m:rPr>
                          <a:rPr lang="tr-TR" sz="1000" b="0" i="0" noProof="1" smtClean="0">
                            <a:solidFill>
                              <a:srgbClr val="000000"/>
                            </a:solidFill>
                            <a:effectLst/>
                          </a:rPr>
                          <m:t>6</m:t>
                        </m:r>
                      </m:e>
                      <m:sup>
                        <m:r>
                          <a:rPr lang="tr-TR" sz="1000" b="0" i="1" noProof="1" smtClean="0">
                            <a:solidFill>
                              <a:srgbClr val="000000"/>
                            </a:solidFill>
                            <a:effectLst/>
                            <a:latin typeface="Cambria Math" panose="02040503050406030204" pitchFamily="18" charset="0"/>
                          </a:rPr>
                          <m:t>4</m:t>
                        </m:r>
                      </m:sup>
                    </m:sSup>
                    <m:r>
                      <a:rPr lang="tr-TR" sz="1000" b="0" i="1" noProof="1" smtClean="0">
                        <a:solidFill>
                          <a:srgbClr val="000000"/>
                        </a:solidFill>
                        <a:effectLst/>
                        <a:latin typeface="Cambria Math" panose="02040503050406030204" pitchFamily="18" charset="0"/>
                      </a:rPr>
                      <m:t>+</m:t>
                    </m:r>
                    <m:sSup>
                      <m:sSupPr>
                        <m:ctrlPr>
                          <a:rPr lang="tr-TR" sz="1000" b="0" i="1" noProof="1" smtClean="0">
                            <a:solidFill>
                              <a:srgbClr val="000000"/>
                            </a:solidFill>
                            <a:effectLst/>
                            <a:latin typeface="Cambria Math" panose="02040503050406030204" pitchFamily="18" charset="0"/>
                          </a:rPr>
                        </m:ctrlPr>
                      </m:sSupPr>
                      <m:e>
                        <m:r>
                          <m:rPr>
                            <m:nor/>
                          </m:rPr>
                          <a:rPr lang="tr-TR" sz="1000" b="0" i="0" noProof="1" smtClean="0">
                            <a:solidFill>
                              <a:srgbClr val="000000"/>
                            </a:solidFill>
                            <a:effectLst/>
                          </a:rPr>
                          <m:t>3</m:t>
                        </m:r>
                      </m:e>
                      <m:sup>
                        <m:r>
                          <a:rPr lang="tr-TR" sz="1000" b="0" i="1" noProof="1" smtClean="0">
                            <a:solidFill>
                              <a:srgbClr val="000000"/>
                            </a:solidFill>
                            <a:effectLst/>
                            <a:latin typeface="Cambria Math" panose="02040503050406030204" pitchFamily="18" charset="0"/>
                          </a:rPr>
                          <m:t>4</m:t>
                        </m:r>
                      </m:sup>
                    </m:sSup>
                    <m:r>
                      <a:rPr lang="tr-TR" sz="1000" b="0" i="1" noProof="1" smtClean="0">
                        <a:solidFill>
                          <a:srgbClr val="000000"/>
                        </a:solidFill>
                        <a:effectLst/>
                        <a:latin typeface="Cambria Math" panose="02040503050406030204" pitchFamily="18" charset="0"/>
                      </a:rPr>
                      <m:t>+</m:t>
                    </m:r>
                    <m:sSup>
                      <m:sSupPr>
                        <m:ctrlPr>
                          <a:rPr lang="tr-TR" sz="1000" b="0" i="1" noProof="1" smtClean="0">
                            <a:solidFill>
                              <a:srgbClr val="000000"/>
                            </a:solidFill>
                            <a:effectLst/>
                            <a:latin typeface="Cambria Math" panose="02040503050406030204" pitchFamily="18" charset="0"/>
                          </a:rPr>
                        </m:ctrlPr>
                      </m:sSupPr>
                      <m:e>
                        <m:r>
                          <m:rPr>
                            <m:nor/>
                          </m:rPr>
                          <a:rPr lang="tr-TR" sz="1000" b="0" i="0" noProof="1" smtClean="0">
                            <a:solidFill>
                              <a:srgbClr val="000000"/>
                            </a:solidFill>
                            <a:effectLst/>
                          </a:rPr>
                          <m:t>4</m:t>
                        </m:r>
                      </m:e>
                      <m:sup>
                        <m:r>
                          <a:rPr lang="tr-TR" sz="1000" b="0" i="1" noProof="1" smtClean="0">
                            <a:solidFill>
                              <a:srgbClr val="000000"/>
                            </a:solidFill>
                            <a:effectLst/>
                            <a:latin typeface="Cambria Math" panose="02040503050406030204" pitchFamily="18" charset="0"/>
                          </a:rPr>
                          <m:t>4</m:t>
                        </m:r>
                      </m:sup>
                    </m:sSup>
                    <m:r>
                      <a:rPr lang="tr-TR" sz="1000" b="0" i="1" noProof="1" smtClean="0">
                        <a:solidFill>
                          <a:srgbClr val="000000"/>
                        </a:solidFill>
                        <a:effectLst/>
                        <a:latin typeface="Cambria Math" panose="02040503050406030204" pitchFamily="18" charset="0"/>
                      </a:rPr>
                      <m:t>=</m:t>
                    </m:r>
                    <m:r>
                      <m:rPr>
                        <m:nor/>
                      </m:rPr>
                      <a:rPr lang="tr-TR" sz="1000" b="0" i="0" noProof="1" smtClean="0">
                        <a:solidFill>
                          <a:srgbClr val="000000"/>
                        </a:solidFill>
                        <a:effectLst/>
                      </a:rPr>
                      <m:t>1 + 1296 + 81 + 256</m:t>
                    </m:r>
                  </m:oMath>
                </a14:m>
                <a:r>
                  <a:rPr lang="tr-TR" sz="1000" b="0" i="0" noProof="1">
                    <a:solidFill>
                      <a:srgbClr val="000000"/>
                    </a:solidFill>
                    <a:effectLst/>
                  </a:rPr>
                  <a:t> </a:t>
                </a:r>
                <a:endParaRPr lang="tr-TR" sz="1000" noProof="1"/>
              </a:p>
            </p:txBody>
          </p:sp>
        </mc:Choice>
        <mc:Fallback xmlns="">
          <p:sp>
            <p:nvSpPr>
              <p:cNvPr id="39" name="Metin kutusu 38">
                <a:extLst>
                  <a:ext uri="{FF2B5EF4-FFF2-40B4-BE49-F238E27FC236}">
                    <a16:creationId xmlns:a16="http://schemas.microsoft.com/office/drawing/2014/main" id="{53827228-C5EF-40CA-9B28-42B56B27AB11}"/>
                  </a:ext>
                </a:extLst>
              </p:cNvPr>
              <p:cNvSpPr txBox="1">
                <a:spLocks noRot="1" noChangeAspect="1" noMove="1" noResize="1" noEditPoints="1" noAdjustHandles="1" noChangeArrowheads="1" noChangeShapeType="1" noTextEdit="1"/>
              </p:cNvSpPr>
              <p:nvPr/>
            </p:nvSpPr>
            <p:spPr>
              <a:xfrm>
                <a:off x="137565" y="4971506"/>
                <a:ext cx="3121033" cy="707886"/>
              </a:xfrm>
              <a:prstGeom prst="rect">
                <a:avLst/>
              </a:prstGeom>
              <a:blipFill>
                <a:blip r:embed="rId8"/>
                <a:stretch>
                  <a:fillRect b="-3419"/>
                </a:stretch>
              </a:blipFill>
              <a:ln>
                <a:solidFill>
                  <a:schemeClr val="tx1"/>
                </a:solidFill>
              </a:ln>
            </p:spPr>
            <p:txBody>
              <a:bodyPr/>
              <a:lstStyle/>
              <a:p>
                <a:r>
                  <a:rPr lang="tr-TR">
                    <a:noFill/>
                  </a:rPr>
                  <a:t> </a:t>
                </a:r>
              </a:p>
            </p:txBody>
          </p:sp>
        </mc:Fallback>
      </mc:AlternateContent>
      <p:sp>
        <p:nvSpPr>
          <p:cNvPr id="46" name="Metin kutusu 45">
            <a:extLst>
              <a:ext uri="{FF2B5EF4-FFF2-40B4-BE49-F238E27FC236}">
                <a16:creationId xmlns:a16="http://schemas.microsoft.com/office/drawing/2014/main" id="{332E1517-6023-4639-9A5E-BD8917711120}"/>
              </a:ext>
            </a:extLst>
          </p:cNvPr>
          <p:cNvSpPr txBox="1"/>
          <p:nvPr/>
        </p:nvSpPr>
        <p:spPr>
          <a:xfrm>
            <a:off x="76139" y="5699186"/>
            <a:ext cx="3335579" cy="246221"/>
          </a:xfrm>
          <a:prstGeom prst="rect">
            <a:avLst/>
          </a:prstGeom>
          <a:noFill/>
        </p:spPr>
        <p:txBody>
          <a:bodyPr wrap="square" rtlCol="0">
            <a:spAutoFit/>
          </a:bodyPr>
          <a:lstStyle/>
          <a:p>
            <a:r>
              <a:rPr lang="tr-TR" sz="1000" b="1" noProof="1">
                <a:cs typeface="Arial" panose="020B0604020202020204" pitchFamily="34" charset="0"/>
              </a:rPr>
              <a:t>Buna göre, aşağıdakilerden hangisi </a:t>
            </a:r>
            <a:r>
              <a:rPr lang="tr-TR" sz="1000" b="1" i="0" u="none" strike="noStrike" noProof="1">
                <a:solidFill>
                  <a:srgbClr val="000000"/>
                </a:solidFill>
                <a:effectLst/>
                <a:latin typeface="Calibri (Gövde)"/>
              </a:rPr>
              <a:t>Narsisistik </a:t>
            </a:r>
            <a:r>
              <a:rPr lang="tr-TR" sz="1000" b="1" noProof="1">
                <a:solidFill>
                  <a:srgbClr val="000000"/>
                </a:solidFill>
                <a:latin typeface="Calibri (Gövde)"/>
              </a:rPr>
              <a:t>sayıdır</a:t>
            </a:r>
            <a:r>
              <a:rPr lang="tr-TR" sz="1000" b="1" i="0" u="none" strike="noStrike" noProof="1">
                <a:solidFill>
                  <a:srgbClr val="000000"/>
                </a:solidFill>
                <a:effectLst/>
                <a:latin typeface="Calibri (Gövde)"/>
              </a:rPr>
              <a:t>?</a:t>
            </a:r>
            <a:endParaRPr lang="tr-TR" sz="1000" b="1" noProof="1">
              <a:cs typeface="Arial" panose="020B0604020202020204" pitchFamily="34" charset="0"/>
            </a:endParaRPr>
          </a:p>
        </p:txBody>
      </p:sp>
    </p:spTree>
    <p:extLst>
      <p:ext uri="{BB962C8B-B14F-4D97-AF65-F5344CB8AC3E}">
        <p14:creationId xmlns:p14="http://schemas.microsoft.com/office/powerpoint/2010/main" val="24170060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12488"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758985" y="31531"/>
            <a:ext cx="1033499" cy="413054"/>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a:t>
            </a:r>
          </a:p>
          <a:p>
            <a:pPr algn="ctr"/>
            <a:r>
              <a:rPr lang="tr-TR" sz="1000" dirty="0">
                <a:solidFill>
                  <a:schemeClr val="tx1"/>
                </a:solidFill>
              </a:rPr>
              <a:t>TEST ?</a:t>
            </a: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6"/>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52556" y="8821954"/>
            <a:ext cx="295792"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4346" y="435840"/>
            <a:ext cx="372686"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40" name="Metin kutusu 39">
            <a:extLst>
              <a:ext uri="{FF2B5EF4-FFF2-40B4-BE49-F238E27FC236}">
                <a16:creationId xmlns:a16="http://schemas.microsoft.com/office/drawing/2014/main" id="{6C4662B9-9640-42AB-B362-322B726DBCB4}"/>
              </a:ext>
            </a:extLst>
          </p:cNvPr>
          <p:cNvSpPr txBox="1"/>
          <p:nvPr/>
        </p:nvSpPr>
        <p:spPr>
          <a:xfrm>
            <a:off x="3551393" y="456673"/>
            <a:ext cx="3335578" cy="1015663"/>
          </a:xfrm>
          <a:prstGeom prst="rect">
            <a:avLst/>
          </a:prstGeom>
          <a:noFill/>
        </p:spPr>
        <p:txBody>
          <a:bodyPr wrap="square" rtlCol="0">
            <a:spAutoFit/>
          </a:bodyPr>
          <a:lstStyle/>
          <a:p>
            <a:r>
              <a:rPr lang="tr-TR" sz="1000" noProof="1"/>
              <a:t>a ve n pozitif tam sayılar olmak üzere, a sayısı n basamaklı bir sayıdır. 5,a,5 sayıları Çelen sayı grubunu oluşturdukları bilinmektedir. a2 ifadesi bu sayının n+1 basamaklı bir sayı olduğunu tanıma göre ifade etmektedir.</a:t>
            </a:r>
            <a:br>
              <a:rPr lang="tr-TR" sz="1000" noProof="1"/>
            </a:br>
            <a:endParaRPr lang="tr-TR" sz="1000" b="1" noProof="1"/>
          </a:p>
          <a:p>
            <a:r>
              <a:rPr lang="tr-TR" sz="1000" b="1" noProof="1"/>
              <a:t>Buna göre, a için aşağıdakilerden hangisi doğrudur?</a:t>
            </a:r>
          </a:p>
        </p:txBody>
      </p:sp>
      <mc:AlternateContent xmlns:mc="http://schemas.openxmlformats.org/markup-compatibility/2006" xmlns:a14="http://schemas.microsoft.com/office/drawing/2010/main">
        <mc:Choice Requires="a14">
          <p:sp>
            <p:nvSpPr>
              <p:cNvPr id="62" name="Metin kutusu 61">
                <a:extLst>
                  <a:ext uri="{FF2B5EF4-FFF2-40B4-BE49-F238E27FC236}">
                    <a16:creationId xmlns:a16="http://schemas.microsoft.com/office/drawing/2014/main" id="{E45FCA79-0C73-4A8E-82A2-CD4A3F3C0C10}"/>
                  </a:ext>
                </a:extLst>
              </p:cNvPr>
              <p:cNvSpPr txBox="1"/>
              <p:nvPr/>
            </p:nvSpPr>
            <p:spPr>
              <a:xfrm>
                <a:off x="3536239" y="1429447"/>
                <a:ext cx="3335577" cy="553998"/>
              </a:xfrm>
              <a:prstGeom prst="rect">
                <a:avLst/>
              </a:prstGeom>
              <a:noFill/>
            </p:spPr>
            <p:txBody>
              <a:bodyPr wrap="square" rtlCol="0">
                <a:spAutoFit/>
              </a:bodyPr>
              <a:lstStyle/>
              <a:p>
                <a:r>
                  <a:rPr lang="tr-TR" sz="1000" dirty="0">
                    <a:cs typeface="Arial" panose="020B0604020202020204" pitchFamily="34" charset="0"/>
                  </a:rPr>
                  <a:t>A) </a:t>
                </a:r>
                <a14:m>
                  <m:oMath xmlns:m="http://schemas.openxmlformats.org/officeDocument/2006/math">
                    <m:sSup>
                      <m:sSupPr>
                        <m:ctrlPr>
                          <a:rPr lang="tr-TR" sz="1000" i="1" dirty="0" smtClean="0">
                            <a:solidFill>
                              <a:srgbClr val="836967"/>
                            </a:solidFill>
                            <a:latin typeface="Cambria Math" panose="02040503050406030204" pitchFamily="18" charset="0"/>
                          </a:rPr>
                        </m:ctrlPr>
                      </m:sSupPr>
                      <m:e>
                        <m:r>
                          <m:rPr>
                            <m:nor/>
                          </m:rPr>
                          <a:rPr lang="tr-TR" sz="1000" i="0" dirty="0" smtClean="0"/>
                          <m:t>a</m:t>
                        </m:r>
                      </m:e>
                      <m:sup>
                        <m:r>
                          <a:rPr lang="tr-TR" sz="1000" i="0" dirty="0" smtClean="0">
                            <a:latin typeface="Cambria Math" panose="02040503050406030204" pitchFamily="18" charset="0"/>
                          </a:rPr>
                          <m:t>2</m:t>
                        </m:r>
                      </m:sup>
                    </m:sSup>
                    <m:r>
                      <a:rPr lang="tr-TR" sz="1000" i="0" dirty="0" smtClean="0">
                        <a:latin typeface="Cambria Math" panose="02040503050406030204" pitchFamily="18" charset="0"/>
                      </a:rPr>
                      <m:t>−</m:t>
                    </m:r>
                    <m:r>
                      <m:rPr>
                        <m:nor/>
                      </m:rPr>
                      <a:rPr lang="tr-TR" sz="1000" i="0" dirty="0" smtClean="0"/>
                      <m:t>a</m:t>
                    </m:r>
                    <m:r>
                      <m:rPr>
                        <m:nor/>
                      </m:rPr>
                      <a:rPr lang="tr-TR" sz="1000" b="0" i="0" dirty="0" smtClean="0"/>
                      <m:t>2</m:t>
                    </m:r>
                    <m:r>
                      <a:rPr lang="tr-TR" sz="1000" i="0" dirty="0" smtClean="0">
                        <a:latin typeface="Cambria Math" panose="02040503050406030204" pitchFamily="18" charset="0"/>
                      </a:rPr>
                      <m:t>=</m:t>
                    </m:r>
                    <m:r>
                      <m:rPr>
                        <m:nor/>
                      </m:rPr>
                      <a:rPr lang="tr-TR" sz="1000" i="0" dirty="0" smtClean="0"/>
                      <m:t>5</m:t>
                    </m:r>
                    <m:r>
                      <m:rPr>
                        <m:nor/>
                      </m:rPr>
                      <a:rPr lang="tr-TR" sz="1000" b="0" i="0" dirty="0" smtClean="0"/>
                      <m:t>6</m:t>
                    </m:r>
                  </m:oMath>
                </a14:m>
                <a:r>
                  <a:rPr lang="tr-TR" sz="1000" dirty="0">
                    <a:cs typeface="Arial" panose="020B0604020202020204" pitchFamily="34" charset="0"/>
                  </a:rPr>
                  <a:t>           B) </a:t>
                </a:r>
                <a14:m>
                  <m:oMath xmlns:m="http://schemas.openxmlformats.org/officeDocument/2006/math">
                    <m:sSup>
                      <m:sSupPr>
                        <m:ctrlPr>
                          <a:rPr lang="tr-TR" sz="1000" i="1" dirty="0">
                            <a:solidFill>
                              <a:srgbClr val="836967"/>
                            </a:solidFill>
                            <a:latin typeface="Cambria Math" panose="02040503050406030204" pitchFamily="18" charset="0"/>
                          </a:rPr>
                        </m:ctrlPr>
                      </m:sSupPr>
                      <m:e>
                        <m:r>
                          <m:rPr>
                            <m:nor/>
                          </m:rPr>
                          <a:rPr lang="tr-TR" sz="1000" dirty="0"/>
                          <m:t>a</m:t>
                        </m:r>
                      </m:e>
                      <m:sup>
                        <m:r>
                          <a:rPr lang="tr-TR" sz="1000" dirty="0">
                            <a:latin typeface="Cambria Math" panose="02040503050406030204" pitchFamily="18" charset="0"/>
                          </a:rPr>
                          <m:t>2</m:t>
                        </m:r>
                      </m:sup>
                    </m:sSup>
                    <m:r>
                      <a:rPr lang="tr-TR" sz="1000" b="0" i="0" dirty="0" smtClean="0">
                        <a:latin typeface="Cambria Math" panose="02040503050406030204" pitchFamily="18" charset="0"/>
                      </a:rPr>
                      <m:t>+</m:t>
                    </m:r>
                    <m:r>
                      <m:rPr>
                        <m:nor/>
                      </m:rPr>
                      <a:rPr lang="tr-TR" sz="1000" dirty="0"/>
                      <m:t>a</m:t>
                    </m:r>
                    <m:r>
                      <m:rPr>
                        <m:nor/>
                      </m:rPr>
                      <a:rPr lang="tr-TR" sz="1000" b="0" i="0" dirty="0" smtClean="0"/>
                      <m:t>2</m:t>
                    </m:r>
                    <m:r>
                      <a:rPr lang="tr-TR" sz="1000" dirty="0">
                        <a:latin typeface="Cambria Math" panose="02040503050406030204" pitchFamily="18" charset="0"/>
                      </a:rPr>
                      <m:t>=</m:t>
                    </m:r>
                    <m:r>
                      <m:rPr>
                        <m:nor/>
                      </m:rPr>
                      <a:rPr lang="tr-TR" sz="1000" b="0" i="0" dirty="0" smtClean="0">
                        <a:latin typeface="Cambria Math" panose="02040503050406030204" pitchFamily="18" charset="0"/>
                      </a:rPr>
                      <m:t>104</m:t>
                    </m:r>
                  </m:oMath>
                </a14:m>
                <a:r>
                  <a:rPr lang="tr-TR" sz="1000" dirty="0">
                    <a:cs typeface="Arial" panose="020B0604020202020204" pitchFamily="34" charset="0"/>
                  </a:rPr>
                  <a:t>       C) </a:t>
                </a:r>
                <a14:m>
                  <m:oMath xmlns:m="http://schemas.openxmlformats.org/officeDocument/2006/math">
                    <m:sSup>
                      <m:sSupPr>
                        <m:ctrlPr>
                          <a:rPr lang="tr-TR" sz="1000" i="1" dirty="0">
                            <a:solidFill>
                              <a:srgbClr val="836967"/>
                            </a:solidFill>
                            <a:latin typeface="Cambria Math" panose="02040503050406030204" pitchFamily="18" charset="0"/>
                          </a:rPr>
                        </m:ctrlPr>
                      </m:sSupPr>
                      <m:e>
                        <m:r>
                          <m:rPr>
                            <m:nor/>
                          </m:rPr>
                          <a:rPr lang="tr-TR" sz="1000" dirty="0"/>
                          <m:t>a</m:t>
                        </m:r>
                      </m:e>
                      <m:sup>
                        <m:r>
                          <a:rPr lang="tr-TR" sz="1000" dirty="0">
                            <a:latin typeface="Cambria Math" panose="02040503050406030204" pitchFamily="18" charset="0"/>
                          </a:rPr>
                          <m:t>2</m:t>
                        </m:r>
                      </m:sup>
                    </m:sSup>
                    <m:r>
                      <a:rPr lang="tr-TR" sz="1000" dirty="0">
                        <a:latin typeface="Cambria Math" panose="02040503050406030204" pitchFamily="18" charset="0"/>
                      </a:rPr>
                      <m:t>−</m:t>
                    </m:r>
                    <m:r>
                      <m:rPr>
                        <m:nor/>
                      </m:rPr>
                      <a:rPr lang="tr-TR" sz="1000" dirty="0"/>
                      <m:t>a</m:t>
                    </m:r>
                    <m:r>
                      <m:rPr>
                        <m:nor/>
                      </m:rPr>
                      <a:rPr lang="tr-TR" sz="1000" b="0" i="0" dirty="0" smtClean="0"/>
                      <m:t>2</m:t>
                    </m:r>
                    <m:r>
                      <a:rPr lang="tr-TR" sz="1000" dirty="0">
                        <a:latin typeface="Cambria Math" panose="02040503050406030204" pitchFamily="18" charset="0"/>
                      </a:rPr>
                      <m:t>=</m:t>
                    </m:r>
                    <m:r>
                      <m:rPr>
                        <m:nor/>
                      </m:rPr>
                      <a:rPr lang="tr-TR" sz="1000" dirty="0"/>
                      <m:t>5</m:t>
                    </m:r>
                    <m:r>
                      <m:rPr>
                        <m:nor/>
                      </m:rPr>
                      <a:rPr lang="tr-TR" sz="1000" b="0" i="0" dirty="0" smtClean="0"/>
                      <m:t>0</m:t>
                    </m:r>
                  </m:oMath>
                </a14:m>
                <a:r>
                  <a:rPr lang="tr-TR" sz="1000" dirty="0">
                    <a:cs typeface="Arial" panose="020B0604020202020204" pitchFamily="34" charset="0"/>
                  </a:rPr>
                  <a:t>                </a:t>
                </a:r>
                <a:br>
                  <a:rPr lang="tr-TR" sz="1000" dirty="0">
                    <a:cs typeface="Arial" panose="020B0604020202020204" pitchFamily="34" charset="0"/>
                  </a:rPr>
                </a:br>
                <a:br>
                  <a:rPr lang="tr-TR" sz="1000" dirty="0">
                    <a:cs typeface="Arial" panose="020B0604020202020204" pitchFamily="34" charset="0"/>
                  </a:rPr>
                </a:br>
                <a:r>
                  <a:rPr lang="tr-TR" sz="1000" dirty="0">
                    <a:cs typeface="Arial" panose="020B0604020202020204" pitchFamily="34" charset="0"/>
                  </a:rPr>
                  <a:t>                    D) </a:t>
                </a:r>
                <a:r>
                  <a:rPr lang="tr-TR" sz="1000" dirty="0">
                    <a:solidFill>
                      <a:srgbClr val="836967"/>
                    </a:solidFill>
                  </a:rPr>
                  <a:t> </a:t>
                </a:r>
                <a14:m>
                  <m:oMath xmlns:m="http://schemas.openxmlformats.org/officeDocument/2006/math">
                    <m:sSup>
                      <m:sSupPr>
                        <m:ctrlPr>
                          <a:rPr lang="tr-TR" sz="1000" i="1" dirty="0">
                            <a:solidFill>
                              <a:srgbClr val="836967"/>
                            </a:solidFill>
                            <a:latin typeface="Cambria Math" panose="02040503050406030204" pitchFamily="18" charset="0"/>
                          </a:rPr>
                        </m:ctrlPr>
                      </m:sSupPr>
                      <m:e>
                        <m:r>
                          <m:rPr>
                            <m:nor/>
                          </m:rPr>
                          <a:rPr lang="tr-TR" sz="1000" dirty="0"/>
                          <m:t>a</m:t>
                        </m:r>
                      </m:e>
                      <m:sup>
                        <m:r>
                          <a:rPr lang="tr-TR" sz="1000" dirty="0">
                            <a:latin typeface="Cambria Math" panose="02040503050406030204" pitchFamily="18" charset="0"/>
                          </a:rPr>
                          <m:t>2</m:t>
                        </m:r>
                      </m:sup>
                    </m:sSup>
                    <m:r>
                      <a:rPr lang="tr-TR" sz="1000" dirty="0">
                        <a:latin typeface="Cambria Math" panose="02040503050406030204" pitchFamily="18" charset="0"/>
                      </a:rPr>
                      <m:t>−</m:t>
                    </m:r>
                    <m:r>
                      <m:rPr>
                        <m:nor/>
                      </m:rPr>
                      <a:rPr lang="tr-TR" sz="1000" dirty="0"/>
                      <m:t>a</m:t>
                    </m:r>
                    <m:r>
                      <m:rPr>
                        <m:nor/>
                      </m:rPr>
                      <a:rPr lang="tr-TR" sz="1000" b="0" i="0" dirty="0" smtClean="0"/>
                      <m:t>2</m:t>
                    </m:r>
                    <m:r>
                      <a:rPr lang="tr-TR" sz="1000" dirty="0">
                        <a:latin typeface="Cambria Math" panose="02040503050406030204" pitchFamily="18" charset="0"/>
                      </a:rPr>
                      <m:t>=</m:t>
                    </m:r>
                    <m:r>
                      <m:rPr>
                        <m:nor/>
                      </m:rPr>
                      <a:rPr lang="tr-TR" sz="1000" b="0" i="0" dirty="0" smtClean="0">
                        <a:latin typeface="Cambria Math" panose="02040503050406030204" pitchFamily="18" charset="0"/>
                      </a:rPr>
                      <m:t>44</m:t>
                    </m:r>
                  </m:oMath>
                </a14:m>
                <a:r>
                  <a:rPr lang="tr-TR" sz="1000" dirty="0">
                    <a:cs typeface="Arial" panose="020B0604020202020204" pitchFamily="34" charset="0"/>
                  </a:rPr>
                  <a:t>                  E) </a:t>
                </a:r>
                <a14:m>
                  <m:oMath xmlns:m="http://schemas.openxmlformats.org/officeDocument/2006/math">
                    <m:sSup>
                      <m:sSupPr>
                        <m:ctrlPr>
                          <a:rPr lang="tr-TR" sz="1000" i="1" dirty="0">
                            <a:solidFill>
                              <a:srgbClr val="836967"/>
                            </a:solidFill>
                            <a:latin typeface="Cambria Math" panose="02040503050406030204" pitchFamily="18" charset="0"/>
                          </a:rPr>
                        </m:ctrlPr>
                      </m:sSupPr>
                      <m:e>
                        <m:r>
                          <m:rPr>
                            <m:nor/>
                          </m:rPr>
                          <a:rPr lang="tr-TR" sz="1000" dirty="0"/>
                          <m:t>a</m:t>
                        </m:r>
                      </m:e>
                      <m:sup>
                        <m:r>
                          <a:rPr lang="tr-TR" sz="1000" dirty="0">
                            <a:latin typeface="Cambria Math" panose="02040503050406030204" pitchFamily="18" charset="0"/>
                          </a:rPr>
                          <m:t>2</m:t>
                        </m:r>
                      </m:sup>
                    </m:sSup>
                    <m:r>
                      <a:rPr lang="tr-TR" sz="1000" dirty="0">
                        <a:latin typeface="Cambria Math" panose="02040503050406030204" pitchFamily="18" charset="0"/>
                      </a:rPr>
                      <m:t>−</m:t>
                    </m:r>
                    <m:r>
                      <m:rPr>
                        <m:nor/>
                      </m:rPr>
                      <a:rPr lang="tr-TR" sz="1000" dirty="0"/>
                      <m:t>a</m:t>
                    </m:r>
                    <m:r>
                      <m:rPr>
                        <m:nor/>
                      </m:rPr>
                      <a:rPr lang="tr-TR" sz="1000" b="0" i="0" dirty="0" smtClean="0"/>
                      <m:t>2</m:t>
                    </m:r>
                    <m:r>
                      <a:rPr lang="tr-TR" sz="1000" dirty="0">
                        <a:latin typeface="Cambria Math" panose="02040503050406030204" pitchFamily="18" charset="0"/>
                      </a:rPr>
                      <m:t>=</m:t>
                    </m:r>
                    <m:r>
                      <m:rPr>
                        <m:nor/>
                      </m:rPr>
                      <a:rPr lang="tr-TR" sz="1000" b="0" i="0" dirty="0" smtClean="0"/>
                      <m:t>54</m:t>
                    </m:r>
                  </m:oMath>
                </a14:m>
                <a:r>
                  <a:rPr lang="tr-TR" sz="1000" dirty="0">
                    <a:cs typeface="Arial" panose="020B0604020202020204" pitchFamily="34" charset="0"/>
                  </a:rPr>
                  <a:t> </a:t>
                </a:r>
              </a:p>
            </p:txBody>
          </p:sp>
        </mc:Choice>
        <mc:Fallback xmlns="">
          <p:sp>
            <p:nvSpPr>
              <p:cNvPr id="62" name="Metin kutusu 61">
                <a:extLst>
                  <a:ext uri="{FF2B5EF4-FFF2-40B4-BE49-F238E27FC236}">
                    <a16:creationId xmlns:a16="http://schemas.microsoft.com/office/drawing/2014/main" id="{E45FCA79-0C73-4A8E-82A2-CD4A3F3C0C10}"/>
                  </a:ext>
                </a:extLst>
              </p:cNvPr>
              <p:cNvSpPr txBox="1">
                <a:spLocks noRot="1" noChangeAspect="1" noMove="1" noResize="1" noEditPoints="1" noAdjustHandles="1" noChangeArrowheads="1" noChangeShapeType="1" noTextEdit="1"/>
              </p:cNvSpPr>
              <p:nvPr/>
            </p:nvSpPr>
            <p:spPr>
              <a:xfrm>
                <a:off x="3536239" y="1429447"/>
                <a:ext cx="3335577" cy="553998"/>
              </a:xfrm>
              <a:prstGeom prst="rect">
                <a:avLst/>
              </a:prstGeom>
              <a:blipFill>
                <a:blip r:embed="rId7"/>
                <a:stretch>
                  <a:fillRect b="-6593"/>
                </a:stretch>
              </a:blipFill>
            </p:spPr>
            <p:txBody>
              <a:bodyPr/>
              <a:lstStyle/>
              <a:p>
                <a:r>
                  <a:rPr lang="tr-TR">
                    <a:noFill/>
                  </a:rPr>
                  <a:t> </a:t>
                </a:r>
              </a:p>
            </p:txBody>
          </p:sp>
        </mc:Fallback>
      </mc:AlternateContent>
      <p:sp>
        <p:nvSpPr>
          <p:cNvPr id="41" name="Metin kutusu 40">
            <a:extLst>
              <a:ext uri="{FF2B5EF4-FFF2-40B4-BE49-F238E27FC236}">
                <a16:creationId xmlns:a16="http://schemas.microsoft.com/office/drawing/2014/main" id="{E3A1A452-3607-4271-8F09-42F8703FD670}"/>
              </a:ext>
            </a:extLst>
          </p:cNvPr>
          <p:cNvSpPr txBox="1"/>
          <p:nvPr/>
        </p:nvSpPr>
        <p:spPr>
          <a:xfrm>
            <a:off x="16168" y="963216"/>
            <a:ext cx="3484840" cy="707886"/>
          </a:xfrm>
          <a:prstGeom prst="rect">
            <a:avLst/>
          </a:prstGeom>
          <a:noFill/>
        </p:spPr>
        <p:txBody>
          <a:bodyPr wrap="square" rtlCol="0">
            <a:spAutoFit/>
          </a:bodyPr>
          <a:lstStyle/>
          <a:p>
            <a:r>
              <a:rPr lang="tr-TR" sz="1000" dirty="0"/>
              <a:t>Ahmet öğretmen bir sayı grubu tanımlıyor. 3 farklı sayının  karelerinin toplamı her sayının en sağına 2 eklenmesi ile oluşan yeni sayılar aralarında toplandığında aynı sonucu veriyorsa bu sayıları </a:t>
            </a:r>
            <a:r>
              <a:rPr lang="tr-TR" sz="1000" b="1" i="0" dirty="0">
                <a:effectLst/>
              </a:rPr>
              <a:t>“Çelen sayı grubu” </a:t>
            </a:r>
            <a:r>
              <a:rPr lang="tr-TR" sz="1000" dirty="0"/>
              <a:t>diye nitelendirmiştir. Örneğin :</a:t>
            </a:r>
          </a:p>
        </p:txBody>
      </p:sp>
      <p:pic>
        <p:nvPicPr>
          <p:cNvPr id="53" name="Picture 6">
            <a:extLst>
              <a:ext uri="{FF2B5EF4-FFF2-40B4-BE49-F238E27FC236}">
                <a16:creationId xmlns:a16="http://schemas.microsoft.com/office/drawing/2014/main" id="{07D825EC-E331-4EA1-A7A0-130CA5185B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022" y="3133651"/>
            <a:ext cx="2315967" cy="2563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 name="Metin kutusu 54">
            <a:extLst>
              <a:ext uri="{FF2B5EF4-FFF2-40B4-BE49-F238E27FC236}">
                <a16:creationId xmlns:a16="http://schemas.microsoft.com/office/drawing/2014/main" id="{1AC54C7F-1CF6-404A-AFBE-59D17D29007C}"/>
              </a:ext>
            </a:extLst>
          </p:cNvPr>
          <p:cNvSpPr txBox="1"/>
          <p:nvPr/>
        </p:nvSpPr>
        <p:spPr>
          <a:xfrm>
            <a:off x="130325" y="2743147"/>
            <a:ext cx="3384748" cy="400110"/>
          </a:xfrm>
          <a:prstGeom prst="rect">
            <a:avLst/>
          </a:prstGeom>
          <a:noFill/>
        </p:spPr>
        <p:txBody>
          <a:bodyPr wrap="square" rtlCol="0">
            <a:spAutoFit/>
          </a:bodyPr>
          <a:lstStyle/>
          <a:p>
            <a:r>
              <a:rPr lang="tr-TR" sz="1000" b="0" i="0" dirty="0">
                <a:effectLst/>
              </a:rPr>
              <a:t>Ahmet Öğretmen, pekiştirmek adına 5 öğrencisinden Çelen sayı grubuna örnek vermelerini istemiştir. </a:t>
            </a:r>
            <a:endParaRPr lang="tr-TR" sz="1000" b="1" noProof="1"/>
          </a:p>
        </p:txBody>
      </p:sp>
      <p:sp>
        <p:nvSpPr>
          <p:cNvPr id="56" name="Metin kutusu 55">
            <a:extLst>
              <a:ext uri="{FF2B5EF4-FFF2-40B4-BE49-F238E27FC236}">
                <a16:creationId xmlns:a16="http://schemas.microsoft.com/office/drawing/2014/main" id="{42893430-D87A-482D-A5D5-6A6A82B88C76}"/>
              </a:ext>
            </a:extLst>
          </p:cNvPr>
          <p:cNvSpPr txBox="1"/>
          <p:nvPr/>
        </p:nvSpPr>
        <p:spPr>
          <a:xfrm>
            <a:off x="150081" y="5702220"/>
            <a:ext cx="3350927" cy="246221"/>
          </a:xfrm>
          <a:prstGeom prst="rect">
            <a:avLst/>
          </a:prstGeom>
          <a:noFill/>
        </p:spPr>
        <p:txBody>
          <a:bodyPr wrap="square" rtlCol="0">
            <a:spAutoFit/>
          </a:bodyPr>
          <a:lstStyle/>
          <a:p>
            <a:r>
              <a:rPr lang="tr-TR" sz="1000" b="1" noProof="1">
                <a:ea typeface="Arimo" panose="020B0604020202020204" pitchFamily="34" charset="0"/>
                <a:cs typeface="Arimo" panose="020B0604020202020204" pitchFamily="34" charset="0"/>
              </a:rPr>
              <a:t>Buna göre, hangi öğrenci doğru bir örnek vermiştir?</a:t>
            </a:r>
          </a:p>
        </p:txBody>
      </p:sp>
      <p:sp>
        <p:nvSpPr>
          <p:cNvPr id="2" name="Dikdörtgen: Köşeleri Yuvarlatılmış 1">
            <a:extLst>
              <a:ext uri="{FF2B5EF4-FFF2-40B4-BE49-F238E27FC236}">
                <a16:creationId xmlns:a16="http://schemas.microsoft.com/office/drawing/2014/main" id="{1695BAC1-D2EC-4A28-8BFD-FF9295D4258B}"/>
              </a:ext>
            </a:extLst>
          </p:cNvPr>
          <p:cNvSpPr/>
          <p:nvPr/>
        </p:nvSpPr>
        <p:spPr>
          <a:xfrm>
            <a:off x="21832" y="1722674"/>
            <a:ext cx="3350927" cy="974546"/>
          </a:xfrm>
          <a:prstGeom prst="roundRect">
            <a:avLst/>
          </a:prstGeom>
          <a:solidFill>
            <a:schemeClr val="accent5">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7D6CD6C1-A312-4543-9B83-17D64986F7D3}"/>
                  </a:ext>
                </a:extLst>
              </p:cNvPr>
              <p:cNvSpPr txBox="1"/>
              <p:nvPr/>
            </p:nvSpPr>
            <p:spPr>
              <a:xfrm>
                <a:off x="-630093" y="1783405"/>
                <a:ext cx="3169876" cy="831061"/>
              </a:xfrm>
              <a:prstGeom prst="rect">
                <a:avLst/>
              </a:prstGeom>
              <a:noFill/>
            </p:spPr>
            <p:txBody>
              <a:bodyPr wrap="square" lIns="0" tIns="0" rIns="0" bIns="0" numCol="2" rtlCol="0">
                <a:spAutoFit/>
              </a:bodyPr>
              <a:lstStyle/>
              <a:p>
                <a:pPr algn="just"/>
                <a14:m>
                  <m:oMathPara xmlns:m="http://schemas.openxmlformats.org/officeDocument/2006/math">
                    <m:oMathParaPr>
                      <m:jc m:val="centerGroup"/>
                    </m:oMathParaPr>
                    <m:oMath xmlns:m="http://schemas.openxmlformats.org/officeDocument/2006/math">
                      <m:sSup>
                        <m:sSupPr>
                          <m:ctrlPr>
                            <a:rPr lang="tr-TR" i="1" smtClean="0">
                              <a:solidFill>
                                <a:srgbClr val="836967"/>
                              </a:solidFill>
                              <a:latin typeface="Cambria Math" panose="02040503050406030204" pitchFamily="18" charset="0"/>
                            </a:rPr>
                          </m:ctrlPr>
                        </m:sSupPr>
                        <m:e>
                          <m:r>
                            <m:rPr>
                              <m:nor/>
                            </m:rPr>
                            <a:rPr lang="tr-TR" i="0" smtClean="0">
                              <a:latin typeface="Helvetica" panose="020B0604020202020204" pitchFamily="34" charset="0"/>
                              <a:cs typeface="Helvetica" panose="020B0604020202020204" pitchFamily="34" charset="0"/>
                            </a:rPr>
                            <m:t>8</m:t>
                          </m:r>
                        </m:e>
                        <m:sup>
                          <m:r>
                            <a:rPr lang="tr-TR" i="1" smtClean="0">
                              <a:latin typeface="Cambria Math" panose="02040503050406030204" pitchFamily="18" charset="0"/>
                            </a:rPr>
                            <m:t>2</m:t>
                          </m:r>
                        </m:sup>
                      </m:sSup>
                      <m:r>
                        <a:rPr lang="tr-TR" b="0" i="0" smtClean="0">
                          <a:latin typeface="Cambria Math" panose="02040503050406030204" pitchFamily="18" charset="0"/>
                        </a:rPr>
                        <m:t>+</m:t>
                      </m:r>
                      <m:sSup>
                        <m:sSupPr>
                          <m:ctrlPr>
                            <a:rPr lang="tr-TR" i="1" smtClean="0">
                              <a:solidFill>
                                <a:srgbClr val="836967"/>
                              </a:solidFill>
                              <a:latin typeface="Cambria Math" panose="02040503050406030204" pitchFamily="18" charset="0"/>
                            </a:rPr>
                          </m:ctrlPr>
                        </m:sSupPr>
                        <m:e>
                          <m:r>
                            <m:rPr>
                              <m:nor/>
                            </m:rPr>
                            <a:rPr lang="tr-TR" i="0" smtClean="0">
                              <a:latin typeface="Helvetica" panose="020B0604020202020204" pitchFamily="34" charset="0"/>
                              <a:cs typeface="Helvetica" panose="020B0604020202020204" pitchFamily="34" charset="0"/>
                            </a:rPr>
                            <m:t>11</m:t>
                          </m:r>
                        </m:e>
                        <m:sup>
                          <m:r>
                            <a:rPr lang="tr-TR" i="1" smtClean="0">
                              <a:latin typeface="Cambria Math" panose="02040503050406030204" pitchFamily="18" charset="0"/>
                            </a:rPr>
                            <m:t>2</m:t>
                          </m:r>
                        </m:sup>
                      </m:sSup>
                      <m:r>
                        <a:rPr lang="tr-TR" i="0" smtClean="0">
                          <a:latin typeface="Cambria Math" panose="02040503050406030204" pitchFamily="18" charset="0"/>
                        </a:rPr>
                        <m:t>+</m:t>
                      </m:r>
                      <m:sSup>
                        <m:sSupPr>
                          <m:ctrlPr>
                            <a:rPr lang="tr-TR" i="1" smtClean="0">
                              <a:solidFill>
                                <a:srgbClr val="836967"/>
                              </a:solidFill>
                              <a:latin typeface="Cambria Math" panose="02040503050406030204" pitchFamily="18" charset="0"/>
                            </a:rPr>
                          </m:ctrlPr>
                        </m:sSupPr>
                        <m:e>
                          <m:r>
                            <m:rPr>
                              <m:nor/>
                            </m:rPr>
                            <a:rPr lang="tr-TR" i="0" smtClean="0">
                              <a:latin typeface="Helvetica" panose="020B0604020202020204" pitchFamily="34" charset="0"/>
                              <a:cs typeface="Helvetica" panose="020B0604020202020204" pitchFamily="34" charset="0"/>
                            </a:rPr>
                            <m:t>11</m:t>
                          </m:r>
                        </m:e>
                        <m:sup>
                          <m:r>
                            <a:rPr lang="tr-TR" i="1" smtClean="0">
                              <a:latin typeface="Cambria Math" panose="02040503050406030204" pitchFamily="18" charset="0"/>
                            </a:rPr>
                            <m:t>2</m:t>
                          </m:r>
                        </m:sup>
                      </m:sSup>
                      <m:r>
                        <a:rPr lang="tr-TR" i="1" smtClean="0">
                          <a:latin typeface="Cambria Math" panose="02040503050406030204" pitchFamily="18" charset="0"/>
                        </a:rPr>
                        <m:t>=</m:t>
                      </m:r>
                    </m:oMath>
                  </m:oMathPara>
                </a14:m>
                <a:br>
                  <a:rPr lang="tr-TR" dirty="0"/>
                </a:br>
                <a:br>
                  <a:rPr lang="tr-TR" dirty="0"/>
                </a:br>
                <a14:m>
                  <m:oMathPara xmlns:m="http://schemas.openxmlformats.org/officeDocument/2006/math">
                    <m:oMathParaPr>
                      <m:jc m:val="centerGroup"/>
                    </m:oMathParaPr>
                    <m:oMath xmlns:m="http://schemas.openxmlformats.org/officeDocument/2006/math">
                      <m:sSup>
                        <m:sSupPr>
                          <m:ctrlPr>
                            <a:rPr lang="tr-TR" i="1" smtClean="0">
                              <a:solidFill>
                                <a:srgbClr val="836967"/>
                              </a:solidFill>
                              <a:latin typeface="Cambria Math" panose="02040503050406030204" pitchFamily="18" charset="0"/>
                            </a:rPr>
                          </m:ctrlPr>
                        </m:sSupPr>
                        <m:e>
                          <m:r>
                            <m:rPr>
                              <m:nor/>
                            </m:rPr>
                            <a:rPr lang="tr-TR" b="0" i="0" smtClean="0">
                              <a:latin typeface="Helvetica" panose="020B0604020202020204" pitchFamily="34" charset="0"/>
                              <a:cs typeface="Helvetica" panose="020B0604020202020204" pitchFamily="34" charset="0"/>
                            </a:rPr>
                            <m:t>9</m:t>
                          </m:r>
                        </m:e>
                        <m:sup>
                          <m:r>
                            <a:rPr lang="tr-TR" i="1" smtClean="0">
                              <a:latin typeface="Cambria Math" panose="02040503050406030204" pitchFamily="18" charset="0"/>
                            </a:rPr>
                            <m:t>2</m:t>
                          </m:r>
                        </m:sup>
                      </m:sSup>
                      <m:r>
                        <a:rPr lang="tr-TR" i="0" smtClean="0">
                          <a:latin typeface="Cambria Math" panose="02040503050406030204" pitchFamily="18" charset="0"/>
                        </a:rPr>
                        <m:t>+</m:t>
                      </m:r>
                      <m:sSup>
                        <m:sSupPr>
                          <m:ctrlPr>
                            <a:rPr lang="tr-TR" i="1" smtClean="0">
                              <a:solidFill>
                                <a:srgbClr val="836967"/>
                              </a:solidFill>
                              <a:latin typeface="Cambria Math" panose="02040503050406030204" pitchFamily="18" charset="0"/>
                            </a:rPr>
                          </m:ctrlPr>
                        </m:sSupPr>
                        <m:e>
                          <m:r>
                            <m:rPr>
                              <m:nor/>
                            </m:rPr>
                            <a:rPr lang="tr-TR" b="0" i="0" smtClean="0">
                              <a:latin typeface="Helvetica" panose="020B0604020202020204" pitchFamily="34" charset="0"/>
                              <a:cs typeface="Helvetica" panose="020B0604020202020204" pitchFamily="34" charset="0"/>
                            </a:rPr>
                            <m:t>9</m:t>
                          </m:r>
                        </m:e>
                        <m:sup>
                          <m:r>
                            <a:rPr lang="tr-TR" i="1" smtClean="0">
                              <a:latin typeface="Cambria Math" panose="02040503050406030204" pitchFamily="18" charset="0"/>
                            </a:rPr>
                            <m:t>2</m:t>
                          </m:r>
                        </m:sup>
                      </m:sSup>
                      <m:r>
                        <a:rPr lang="tr-TR" i="0" smtClean="0">
                          <a:latin typeface="Cambria Math" panose="02040503050406030204" pitchFamily="18" charset="0"/>
                        </a:rPr>
                        <m:t>+</m:t>
                      </m:r>
                      <m:sSup>
                        <m:sSupPr>
                          <m:ctrlPr>
                            <a:rPr lang="tr-TR" i="1" smtClean="0">
                              <a:solidFill>
                                <a:srgbClr val="836967"/>
                              </a:solidFill>
                              <a:latin typeface="Cambria Math" panose="02040503050406030204" pitchFamily="18" charset="0"/>
                            </a:rPr>
                          </m:ctrlPr>
                        </m:sSupPr>
                        <m:e>
                          <m:r>
                            <m:rPr>
                              <m:nor/>
                            </m:rPr>
                            <a:rPr lang="tr-TR" b="0" i="0" smtClean="0">
                              <a:latin typeface="Helvetica" panose="020B0604020202020204" pitchFamily="34" charset="0"/>
                              <a:cs typeface="Helvetica" panose="020B0604020202020204" pitchFamily="34" charset="0"/>
                            </a:rPr>
                            <m:t>12</m:t>
                          </m:r>
                        </m:e>
                        <m:sup>
                          <m:r>
                            <a:rPr lang="tr-TR" i="1" smtClean="0">
                              <a:latin typeface="Cambria Math" panose="02040503050406030204" pitchFamily="18" charset="0"/>
                            </a:rPr>
                            <m:t>2</m:t>
                          </m:r>
                        </m:sup>
                      </m:sSup>
                      <m:r>
                        <a:rPr lang="tr-TR" i="1" smtClean="0">
                          <a:latin typeface="Cambria Math" panose="02040503050406030204" pitchFamily="18" charset="0"/>
                        </a:rPr>
                        <m:t>=</m:t>
                      </m:r>
                    </m:oMath>
                  </m:oMathPara>
                </a14:m>
                <a:br>
                  <a:rPr lang="tr-TR" dirty="0"/>
                </a:br>
                <a:endParaRPr lang="tr-TR" dirty="0"/>
              </a:p>
            </p:txBody>
          </p:sp>
        </mc:Choice>
        <mc:Fallback xmlns="">
          <p:sp>
            <p:nvSpPr>
              <p:cNvPr id="7" name="Metin kutusu 6">
                <a:extLst>
                  <a:ext uri="{FF2B5EF4-FFF2-40B4-BE49-F238E27FC236}">
                    <a16:creationId xmlns:a16="http://schemas.microsoft.com/office/drawing/2014/main" id="{7D6CD6C1-A312-4543-9B83-17D64986F7D3}"/>
                  </a:ext>
                </a:extLst>
              </p:cNvPr>
              <p:cNvSpPr txBox="1">
                <a:spLocks noRot="1" noChangeAspect="1" noMove="1" noResize="1" noEditPoints="1" noAdjustHandles="1" noChangeArrowheads="1" noChangeShapeType="1" noTextEdit="1"/>
              </p:cNvSpPr>
              <p:nvPr/>
            </p:nvSpPr>
            <p:spPr>
              <a:xfrm>
                <a:off x="-630093" y="1783405"/>
                <a:ext cx="3169876" cy="831061"/>
              </a:xfrm>
              <a:prstGeom prst="rect">
                <a:avLst/>
              </a:prstGeom>
              <a:blipFill>
                <a:blip r:embed="rId9"/>
                <a:stretch>
                  <a:fillRect t="-1471" b="-2206"/>
                </a:stretch>
              </a:blipFill>
            </p:spPr>
            <p:txBody>
              <a:bodyPr/>
              <a:lstStyle/>
              <a:p>
                <a:r>
                  <a:rPr lang="tr-TR">
                    <a:noFill/>
                  </a:rPr>
                  <a:t> </a:t>
                </a:r>
              </a:p>
            </p:txBody>
          </p:sp>
        </mc:Fallback>
      </mc:AlternateContent>
      <p:sp>
        <p:nvSpPr>
          <p:cNvPr id="58" name="Metin kutusu 57">
            <a:extLst>
              <a:ext uri="{FF2B5EF4-FFF2-40B4-BE49-F238E27FC236}">
                <a16:creationId xmlns:a16="http://schemas.microsoft.com/office/drawing/2014/main" id="{E11A0C81-9066-4DD4-ADEA-514E92ED8BDC}"/>
              </a:ext>
            </a:extLst>
          </p:cNvPr>
          <p:cNvSpPr txBox="1"/>
          <p:nvPr/>
        </p:nvSpPr>
        <p:spPr>
          <a:xfrm>
            <a:off x="1745150" y="1730287"/>
            <a:ext cx="1700493" cy="369332"/>
          </a:xfrm>
          <a:prstGeom prst="rect">
            <a:avLst/>
          </a:prstGeom>
          <a:noFill/>
        </p:spPr>
        <p:txBody>
          <a:bodyPr wrap="square" rtlCol="0">
            <a:spAutoFit/>
          </a:bodyPr>
          <a:lstStyle/>
          <a:p>
            <a:r>
              <a:rPr lang="tr-TR" dirty="0">
                <a:latin typeface="Helvetica" panose="020B0604020202020204" pitchFamily="34" charset="0"/>
                <a:cs typeface="Helvetica" panose="020B0604020202020204" pitchFamily="34" charset="0"/>
              </a:rPr>
              <a:t>8</a:t>
            </a:r>
            <a:r>
              <a:rPr lang="tr-TR" sz="1400" dirty="0">
                <a:solidFill>
                  <a:srgbClr val="C00000"/>
                </a:solidFill>
                <a:latin typeface="Helvetica" panose="020B0604020202020204" pitchFamily="34" charset="0"/>
                <a:cs typeface="Helvetica" panose="020B0604020202020204" pitchFamily="34" charset="0"/>
              </a:rPr>
              <a:t>2</a:t>
            </a:r>
            <a:r>
              <a:rPr lang="tr-TR" dirty="0">
                <a:latin typeface="Helvetica" panose="020B0604020202020204" pitchFamily="34" charset="0"/>
                <a:cs typeface="Helvetica" panose="020B0604020202020204" pitchFamily="34" charset="0"/>
              </a:rPr>
              <a:t> + 11</a:t>
            </a:r>
            <a:r>
              <a:rPr lang="tr-TR" sz="1400" dirty="0">
                <a:solidFill>
                  <a:srgbClr val="C00000"/>
                </a:solidFill>
                <a:latin typeface="Helvetica" panose="020B0604020202020204" pitchFamily="34" charset="0"/>
                <a:cs typeface="Helvetica" panose="020B0604020202020204" pitchFamily="34" charset="0"/>
              </a:rPr>
              <a:t>2</a:t>
            </a:r>
            <a:r>
              <a:rPr lang="tr-TR" dirty="0">
                <a:latin typeface="Helvetica" panose="020B0604020202020204" pitchFamily="34" charset="0"/>
                <a:cs typeface="Helvetica" panose="020B0604020202020204" pitchFamily="34" charset="0"/>
              </a:rPr>
              <a:t> + 11</a:t>
            </a:r>
            <a:r>
              <a:rPr lang="tr-TR" sz="1400" dirty="0">
                <a:solidFill>
                  <a:srgbClr val="C00000"/>
                </a:solidFill>
                <a:latin typeface="Helvetica" panose="020B0604020202020204" pitchFamily="34" charset="0"/>
                <a:cs typeface="Helvetica" panose="020B0604020202020204" pitchFamily="34" charset="0"/>
              </a:rPr>
              <a:t>2</a:t>
            </a:r>
          </a:p>
        </p:txBody>
      </p:sp>
      <p:sp>
        <p:nvSpPr>
          <p:cNvPr id="59" name="Metin kutusu 58">
            <a:extLst>
              <a:ext uri="{FF2B5EF4-FFF2-40B4-BE49-F238E27FC236}">
                <a16:creationId xmlns:a16="http://schemas.microsoft.com/office/drawing/2014/main" id="{2EF5EB39-24A0-4E80-BE51-C569D9C3F7C4}"/>
              </a:ext>
            </a:extLst>
          </p:cNvPr>
          <p:cNvSpPr txBox="1"/>
          <p:nvPr/>
        </p:nvSpPr>
        <p:spPr>
          <a:xfrm>
            <a:off x="1710552" y="2268703"/>
            <a:ext cx="1700493" cy="369332"/>
          </a:xfrm>
          <a:prstGeom prst="rect">
            <a:avLst/>
          </a:prstGeom>
          <a:noFill/>
        </p:spPr>
        <p:txBody>
          <a:bodyPr wrap="square" rtlCol="0">
            <a:spAutoFit/>
          </a:bodyPr>
          <a:lstStyle/>
          <a:p>
            <a:r>
              <a:rPr lang="tr-TR" dirty="0">
                <a:latin typeface="Helvetica" panose="020B0604020202020204" pitchFamily="34" charset="0"/>
                <a:cs typeface="Helvetica" panose="020B0604020202020204" pitchFamily="34" charset="0"/>
              </a:rPr>
              <a:t>9</a:t>
            </a:r>
            <a:r>
              <a:rPr lang="tr-TR" sz="1400" dirty="0">
                <a:solidFill>
                  <a:srgbClr val="C00000"/>
                </a:solidFill>
                <a:latin typeface="Helvetica" panose="020B0604020202020204" pitchFamily="34" charset="0"/>
                <a:cs typeface="Helvetica" panose="020B0604020202020204" pitchFamily="34" charset="0"/>
              </a:rPr>
              <a:t>2</a:t>
            </a:r>
            <a:r>
              <a:rPr lang="tr-TR" dirty="0">
                <a:latin typeface="Helvetica" panose="020B0604020202020204" pitchFamily="34" charset="0"/>
                <a:cs typeface="Helvetica" panose="020B0604020202020204" pitchFamily="34" charset="0"/>
              </a:rPr>
              <a:t> + 9</a:t>
            </a:r>
            <a:r>
              <a:rPr lang="tr-TR" sz="1400" dirty="0">
                <a:solidFill>
                  <a:srgbClr val="C00000"/>
                </a:solidFill>
                <a:latin typeface="Helvetica" panose="020B0604020202020204" pitchFamily="34" charset="0"/>
                <a:cs typeface="Helvetica" panose="020B0604020202020204" pitchFamily="34" charset="0"/>
              </a:rPr>
              <a:t>2</a:t>
            </a:r>
            <a:r>
              <a:rPr lang="tr-TR" dirty="0">
                <a:latin typeface="Helvetica" panose="020B0604020202020204" pitchFamily="34" charset="0"/>
                <a:cs typeface="Helvetica" panose="020B0604020202020204" pitchFamily="34" charset="0"/>
              </a:rPr>
              <a:t> + 12</a:t>
            </a:r>
            <a:r>
              <a:rPr lang="tr-TR" sz="1400" dirty="0">
                <a:solidFill>
                  <a:srgbClr val="C00000"/>
                </a:solidFill>
                <a:latin typeface="Helvetica" panose="020B0604020202020204" pitchFamily="34" charset="0"/>
                <a:cs typeface="Helvetica" panose="020B0604020202020204" pitchFamily="34" charset="0"/>
              </a:rPr>
              <a:t>2</a:t>
            </a:r>
          </a:p>
        </p:txBody>
      </p:sp>
      <p:sp>
        <p:nvSpPr>
          <p:cNvPr id="60" name="Metin kutusu 59">
            <a:extLst>
              <a:ext uri="{FF2B5EF4-FFF2-40B4-BE49-F238E27FC236}">
                <a16:creationId xmlns:a16="http://schemas.microsoft.com/office/drawing/2014/main" id="{01DA4E11-059D-4F12-A6CB-5381FB7822C4}"/>
              </a:ext>
            </a:extLst>
          </p:cNvPr>
          <p:cNvSpPr txBox="1"/>
          <p:nvPr/>
        </p:nvSpPr>
        <p:spPr>
          <a:xfrm>
            <a:off x="138540" y="5905050"/>
            <a:ext cx="3371651" cy="553998"/>
          </a:xfrm>
          <a:prstGeom prst="rect">
            <a:avLst/>
          </a:prstGeom>
          <a:noFill/>
        </p:spPr>
        <p:txBody>
          <a:bodyPr wrap="square" rtlCol="0">
            <a:spAutoFit/>
          </a:bodyPr>
          <a:lstStyle/>
          <a:p>
            <a:r>
              <a:rPr lang="tr-TR" sz="1000" noProof="1">
                <a:cs typeface="Arial" panose="020B0604020202020204" pitchFamily="34" charset="0"/>
              </a:rPr>
              <a:t>A) Zehra                                    B) Gül                                     C) Eda</a:t>
            </a:r>
          </a:p>
          <a:p>
            <a:r>
              <a:rPr lang="tr-TR" sz="1000" noProof="1">
                <a:cs typeface="Arial" panose="020B0604020202020204" pitchFamily="34" charset="0"/>
              </a:rPr>
              <a:t>  </a:t>
            </a:r>
          </a:p>
          <a:p>
            <a:r>
              <a:rPr lang="tr-TR" sz="1000" noProof="1">
                <a:cs typeface="Arial" panose="020B0604020202020204" pitchFamily="34" charset="0"/>
              </a:rPr>
              <a:t>                           D) Niran                             E) İrem</a:t>
            </a:r>
          </a:p>
        </p:txBody>
      </p:sp>
      <p:sp>
        <p:nvSpPr>
          <p:cNvPr id="61" name="Metin kutusu 60">
            <a:extLst>
              <a:ext uri="{FF2B5EF4-FFF2-40B4-BE49-F238E27FC236}">
                <a16:creationId xmlns:a16="http://schemas.microsoft.com/office/drawing/2014/main" id="{52AB2E32-44AD-4BE8-9029-F6E83E22CBFA}"/>
              </a:ext>
            </a:extLst>
          </p:cNvPr>
          <p:cNvSpPr txBox="1"/>
          <p:nvPr/>
        </p:nvSpPr>
        <p:spPr>
          <a:xfrm>
            <a:off x="43055" y="527980"/>
            <a:ext cx="3329703" cy="400110"/>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tr-TR" sz="1000" noProof="1">
                <a:solidFill>
                  <a:srgbClr val="333333"/>
                </a:solidFill>
              </a:rPr>
              <a:t>9. ve 10.soruları aşağıdaki verilen bilgileri referans alarak, birbirinden bağımsız olarak cevaplandırınız.</a:t>
            </a:r>
            <a:endParaRPr lang="tr-TR" sz="1000" b="1" noProof="1"/>
          </a:p>
        </p:txBody>
      </p:sp>
      <p:sp>
        <p:nvSpPr>
          <p:cNvPr id="63" name="Metin kutusu 62">
            <a:extLst>
              <a:ext uri="{FF2B5EF4-FFF2-40B4-BE49-F238E27FC236}">
                <a16:creationId xmlns:a16="http://schemas.microsoft.com/office/drawing/2014/main" id="{DB2BADC7-049E-4F94-9AF6-750199DC809E}"/>
              </a:ext>
            </a:extLst>
          </p:cNvPr>
          <p:cNvSpPr txBox="1"/>
          <p:nvPr/>
        </p:nvSpPr>
        <p:spPr>
          <a:xfrm>
            <a:off x="-56018" y="2718655"/>
            <a:ext cx="372686"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35" name="Metin kutusu 34">
            <a:extLst>
              <a:ext uri="{FF2B5EF4-FFF2-40B4-BE49-F238E27FC236}">
                <a16:creationId xmlns:a16="http://schemas.microsoft.com/office/drawing/2014/main" id="{BC2FAD07-B196-4735-B0C1-BF74184EDF06}"/>
              </a:ext>
            </a:extLst>
          </p:cNvPr>
          <p:cNvSpPr txBox="1"/>
          <p:nvPr/>
        </p:nvSpPr>
        <p:spPr>
          <a:xfrm>
            <a:off x="13995" y="8830327"/>
            <a:ext cx="750709"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9.A   10.E</a:t>
            </a:r>
          </a:p>
        </p:txBody>
      </p:sp>
    </p:spTree>
    <p:extLst>
      <p:ext uri="{BB962C8B-B14F-4D97-AF65-F5344CB8AC3E}">
        <p14:creationId xmlns:p14="http://schemas.microsoft.com/office/powerpoint/2010/main" val="21726351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12488"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758985" y="31531"/>
            <a:ext cx="1033499" cy="413054"/>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a:t>
            </a:r>
          </a:p>
          <a:p>
            <a:pPr algn="ctr"/>
            <a:r>
              <a:rPr lang="tr-TR" sz="1000" dirty="0">
                <a:solidFill>
                  <a:schemeClr val="tx1"/>
                </a:solidFill>
              </a:rPr>
              <a:t>TEST ?</a:t>
            </a: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5"/>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4" y="8819480"/>
            <a:ext cx="1471083"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4346" y="43584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211" y="579583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52828" y="6075762"/>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40" name="Metin kutusu 39">
            <a:extLst>
              <a:ext uri="{FF2B5EF4-FFF2-40B4-BE49-F238E27FC236}">
                <a16:creationId xmlns:a16="http://schemas.microsoft.com/office/drawing/2014/main" id="{6C4662B9-9640-42AB-B362-322B726DBCB4}"/>
              </a:ext>
            </a:extLst>
          </p:cNvPr>
          <p:cNvSpPr txBox="1"/>
          <p:nvPr/>
        </p:nvSpPr>
        <p:spPr>
          <a:xfrm>
            <a:off x="73907" y="1098125"/>
            <a:ext cx="3389637" cy="400110"/>
          </a:xfrm>
          <a:prstGeom prst="rect">
            <a:avLst/>
          </a:prstGeom>
          <a:noFill/>
        </p:spPr>
        <p:txBody>
          <a:bodyPr wrap="square" rtlCol="0">
            <a:spAutoFit/>
          </a:bodyPr>
          <a:lstStyle/>
          <a:p>
            <a:r>
              <a:rPr lang="tr-TR" sz="1000" i="0" noProof="1">
                <a:effectLst/>
              </a:rPr>
              <a:t>1`den başlayarak ardışık doğal sayıların toplamı şeklinde yazılabilen sayılara “ Üçgensel sayılar” denir. </a:t>
            </a:r>
            <a:endParaRPr lang="tr-TR" sz="1000" noProof="1"/>
          </a:p>
        </p:txBody>
      </p:sp>
      <mc:AlternateContent xmlns:mc="http://schemas.openxmlformats.org/markup-compatibility/2006" xmlns:a14="http://schemas.microsoft.com/office/drawing/2010/main">
        <mc:Choice Requires="a14">
          <p:sp>
            <p:nvSpPr>
              <p:cNvPr id="41" name="Metin kutusu 40">
                <a:extLst>
                  <a:ext uri="{FF2B5EF4-FFF2-40B4-BE49-F238E27FC236}">
                    <a16:creationId xmlns:a16="http://schemas.microsoft.com/office/drawing/2014/main" id="{51A426D8-3EAE-4E04-A5A4-696EB78BFCE3}"/>
                  </a:ext>
                </a:extLst>
              </p:cNvPr>
              <p:cNvSpPr txBox="1"/>
              <p:nvPr/>
            </p:nvSpPr>
            <p:spPr>
              <a:xfrm>
                <a:off x="125677" y="1481348"/>
                <a:ext cx="3262725" cy="1110497"/>
              </a:xfrm>
              <a:prstGeom prst="rect">
                <a:avLst/>
              </a:prstGeom>
              <a:solidFill>
                <a:schemeClr val="accent4">
                  <a:lumMod val="40000"/>
                  <a:lumOff val="60000"/>
                </a:schemeClr>
              </a:solidFill>
              <a:effectLst>
                <a:outerShdw blurRad="40000" dist="20000" dir="5400000" rotWithShape="0">
                  <a:srgbClr val="000000">
                    <a:alpha val="38000"/>
                  </a:srgbClr>
                </a:outerShdw>
                <a:softEdge rad="12700"/>
              </a:effectLst>
            </p:spPr>
            <p:style>
              <a:lnRef idx="1">
                <a:schemeClr val="dk1"/>
              </a:lnRef>
              <a:fillRef idx="2">
                <a:schemeClr val="dk1"/>
              </a:fillRef>
              <a:effectRef idx="1">
                <a:schemeClr val="dk1"/>
              </a:effectRef>
              <a:fontRef idx="minor">
                <a:schemeClr val="dk1"/>
              </a:fontRef>
            </p:style>
            <p:txBody>
              <a:bodyPr wrap="square" rtlCol="0">
                <a:spAutoFit/>
              </a:bodyPr>
              <a:lstStyle/>
              <a:p>
                <a:r>
                  <a:rPr lang="tr-TR" sz="1000" noProof="1">
                    <a:solidFill>
                      <a:schemeClr val="tx1"/>
                    </a:solidFill>
                  </a:rPr>
                  <a:t>Örneğin : 1</a:t>
                </a:r>
              </a:p>
              <a:p>
                <a:r>
                  <a:rPr lang="tr-TR" sz="1000" noProof="1">
                    <a:solidFill>
                      <a:schemeClr val="tx1"/>
                    </a:solidFill>
                  </a:rPr>
                  <a:t>1+2 = 3</a:t>
                </a:r>
              </a:p>
              <a:p>
                <a:r>
                  <a:rPr lang="tr-TR" sz="1000" noProof="1">
                    <a:solidFill>
                      <a:schemeClr val="tx1"/>
                    </a:solidFill>
                  </a:rPr>
                  <a:t>1+2+3 = 6</a:t>
                </a:r>
              </a:p>
              <a:p>
                <a:r>
                  <a:rPr lang="tr-TR" sz="1000" noProof="1">
                    <a:solidFill>
                      <a:schemeClr val="tx1"/>
                    </a:solidFill>
                  </a:rPr>
                  <a:t>1+2+3+4 = 10 </a:t>
                </a:r>
              </a:p>
              <a:p>
                <a:endParaRPr lang="tr-TR" sz="1000" noProof="1">
                  <a:solidFill>
                    <a:schemeClr val="tx1"/>
                  </a:solidFill>
                </a:endParaRPr>
              </a:p>
              <a:p>
                <a:r>
                  <a:rPr lang="tr-TR" sz="1000" noProof="1">
                    <a:solidFill>
                      <a:schemeClr val="tx1"/>
                    </a:solidFill>
                  </a:rPr>
                  <a:t>1+2+3+…..+n toplamı ise </a:t>
                </a:r>
                <a14:m>
                  <m:oMath xmlns:m="http://schemas.openxmlformats.org/officeDocument/2006/math">
                    <m:f>
                      <m:fPr>
                        <m:ctrlPr>
                          <a:rPr lang="tr-TR" sz="900" i="1" noProof="1" smtClean="0">
                            <a:solidFill>
                              <a:schemeClr val="tx1"/>
                            </a:solidFill>
                            <a:latin typeface="Cambria Math" panose="02040503050406030204" pitchFamily="18" charset="0"/>
                          </a:rPr>
                        </m:ctrlPr>
                      </m:fPr>
                      <m:num>
                        <m:r>
                          <m:rPr>
                            <m:nor/>
                          </m:rPr>
                          <a:rPr lang="tr-TR" sz="900" i="0" noProof="1" smtClean="0">
                            <a:solidFill>
                              <a:schemeClr val="tx1"/>
                            </a:solidFill>
                          </a:rPr>
                          <m:t>n</m:t>
                        </m:r>
                        <m:r>
                          <a:rPr lang="tr-TR" sz="900" i="0" noProof="1" smtClean="0">
                            <a:solidFill>
                              <a:schemeClr val="tx1"/>
                            </a:solidFill>
                            <a:latin typeface="Cambria Math" panose="02040503050406030204" pitchFamily="18" charset="0"/>
                          </a:rPr>
                          <m:t>⋅</m:t>
                        </m:r>
                        <m:d>
                          <m:dPr>
                            <m:ctrlPr>
                              <a:rPr lang="tr-TR" sz="900" i="1" noProof="1" smtClean="0">
                                <a:solidFill>
                                  <a:schemeClr val="tx1"/>
                                </a:solidFill>
                                <a:latin typeface="Cambria Math" panose="02040503050406030204" pitchFamily="18" charset="0"/>
                              </a:rPr>
                            </m:ctrlPr>
                          </m:dPr>
                          <m:e>
                            <m:r>
                              <m:rPr>
                                <m:nor/>
                              </m:rPr>
                              <a:rPr lang="tr-TR" sz="900" i="0" noProof="1" smtClean="0">
                                <a:solidFill>
                                  <a:schemeClr val="tx1"/>
                                </a:solidFill>
                              </a:rPr>
                              <m:t>n</m:t>
                            </m:r>
                            <m:r>
                              <m:rPr>
                                <m:nor/>
                              </m:rPr>
                              <a:rPr lang="tr-TR" sz="900" i="0" noProof="1" smtClean="0">
                                <a:solidFill>
                                  <a:schemeClr val="tx1"/>
                                </a:solidFill>
                              </a:rPr>
                              <m:t>+1</m:t>
                            </m:r>
                          </m:e>
                        </m:d>
                      </m:num>
                      <m:den>
                        <m:r>
                          <m:rPr>
                            <m:nor/>
                          </m:rPr>
                          <a:rPr lang="tr-TR" sz="900" i="0" noProof="1" smtClean="0">
                            <a:solidFill>
                              <a:schemeClr val="tx1"/>
                            </a:solidFill>
                          </a:rPr>
                          <m:t>2</m:t>
                        </m:r>
                      </m:den>
                    </m:f>
                  </m:oMath>
                </a14:m>
                <a:r>
                  <a:rPr lang="tr-TR" sz="1000" noProof="1">
                    <a:solidFill>
                      <a:schemeClr val="tx1"/>
                    </a:solidFill>
                  </a:rPr>
                  <a:t> formülüyle hesaplanabilir.</a:t>
                </a:r>
              </a:p>
            </p:txBody>
          </p:sp>
        </mc:Choice>
        <mc:Fallback xmlns="">
          <p:sp>
            <p:nvSpPr>
              <p:cNvPr id="41" name="Metin kutusu 40">
                <a:extLst>
                  <a:ext uri="{FF2B5EF4-FFF2-40B4-BE49-F238E27FC236}">
                    <a16:creationId xmlns:a16="http://schemas.microsoft.com/office/drawing/2014/main" id="{51A426D8-3EAE-4E04-A5A4-696EB78BFCE3}"/>
                  </a:ext>
                </a:extLst>
              </p:cNvPr>
              <p:cNvSpPr txBox="1">
                <a:spLocks noRot="1" noChangeAspect="1" noMove="1" noResize="1" noEditPoints="1" noAdjustHandles="1" noChangeArrowheads="1" noChangeShapeType="1" noTextEdit="1"/>
              </p:cNvSpPr>
              <p:nvPr/>
            </p:nvSpPr>
            <p:spPr>
              <a:xfrm>
                <a:off x="125677" y="1481348"/>
                <a:ext cx="3262725" cy="1110497"/>
              </a:xfrm>
              <a:prstGeom prst="rect">
                <a:avLst/>
              </a:prstGeom>
              <a:blipFill>
                <a:blip r:embed="rId6"/>
                <a:stretch>
                  <a:fillRect/>
                </a:stretch>
              </a:blipFill>
              <a:effectLst>
                <a:outerShdw blurRad="40000" dist="20000" dir="5400000" rotWithShape="0">
                  <a:srgbClr val="000000">
                    <a:alpha val="38000"/>
                  </a:srgbClr>
                </a:outerShdw>
                <a:softEdge rad="12700"/>
              </a:effectLst>
            </p:spPr>
            <p:txBody>
              <a:bodyPr/>
              <a:lstStyle/>
              <a:p>
                <a:r>
                  <a:rPr lang="tr-TR">
                    <a:noFill/>
                  </a:rPr>
                  <a:t> </a:t>
                </a:r>
              </a:p>
            </p:txBody>
          </p:sp>
        </mc:Fallback>
      </mc:AlternateContent>
      <p:sp>
        <p:nvSpPr>
          <p:cNvPr id="61" name="Metin kutusu 60">
            <a:extLst>
              <a:ext uri="{FF2B5EF4-FFF2-40B4-BE49-F238E27FC236}">
                <a16:creationId xmlns:a16="http://schemas.microsoft.com/office/drawing/2014/main" id="{35AA34CF-D3EA-4E2B-8ED6-AA619CF977B5}"/>
              </a:ext>
            </a:extLst>
          </p:cNvPr>
          <p:cNvSpPr txBox="1"/>
          <p:nvPr/>
        </p:nvSpPr>
        <p:spPr>
          <a:xfrm>
            <a:off x="79945" y="2587127"/>
            <a:ext cx="3332543" cy="400110"/>
          </a:xfrm>
          <a:prstGeom prst="rect">
            <a:avLst/>
          </a:prstGeom>
          <a:noFill/>
        </p:spPr>
        <p:txBody>
          <a:bodyPr wrap="square" rtlCol="0">
            <a:spAutoFit/>
          </a:bodyPr>
          <a:lstStyle/>
          <a:p>
            <a:r>
              <a:rPr lang="tr-TR" sz="1000" b="1" noProof="1"/>
              <a:t>n sayısının en büyük rakamı için elde edilen üçgensel sayı hangisidir?</a:t>
            </a:r>
          </a:p>
        </p:txBody>
      </p:sp>
      <p:sp>
        <p:nvSpPr>
          <p:cNvPr id="62" name="Metin kutusu 61">
            <a:extLst>
              <a:ext uri="{FF2B5EF4-FFF2-40B4-BE49-F238E27FC236}">
                <a16:creationId xmlns:a16="http://schemas.microsoft.com/office/drawing/2014/main" id="{E45FCA79-0C73-4A8E-82A2-CD4A3F3C0C10}"/>
              </a:ext>
            </a:extLst>
          </p:cNvPr>
          <p:cNvSpPr txBox="1"/>
          <p:nvPr/>
        </p:nvSpPr>
        <p:spPr>
          <a:xfrm>
            <a:off x="73907" y="2944126"/>
            <a:ext cx="3334207" cy="553998"/>
          </a:xfrm>
          <a:prstGeom prst="rect">
            <a:avLst/>
          </a:prstGeom>
          <a:noFill/>
        </p:spPr>
        <p:txBody>
          <a:bodyPr wrap="square" rtlCol="0">
            <a:spAutoFit/>
          </a:bodyPr>
          <a:lstStyle/>
          <a:p>
            <a:pPr marL="228600" indent="-228600">
              <a:buAutoNum type="alphaUcParenR"/>
            </a:pPr>
            <a:r>
              <a:rPr lang="tr-TR" sz="1000" dirty="0">
                <a:cs typeface="Arial" panose="020B0604020202020204" pitchFamily="34" charset="0"/>
              </a:rPr>
              <a:t>100                                  B) 90                                     C) 50</a:t>
            </a:r>
          </a:p>
          <a:p>
            <a:r>
              <a:rPr lang="tr-TR" sz="1000" dirty="0">
                <a:cs typeface="Arial" panose="020B0604020202020204" pitchFamily="34" charset="0"/>
              </a:rPr>
              <a:t>  </a:t>
            </a:r>
          </a:p>
          <a:p>
            <a:r>
              <a:rPr lang="tr-TR" sz="1000" dirty="0">
                <a:cs typeface="Arial" panose="020B0604020202020204" pitchFamily="34" charset="0"/>
              </a:rPr>
              <a:t>                                 D) 48                                E) 45</a:t>
            </a:r>
          </a:p>
        </p:txBody>
      </p:sp>
      <p:sp>
        <p:nvSpPr>
          <p:cNvPr id="67" name="Metin kutusu 66">
            <a:extLst>
              <a:ext uri="{FF2B5EF4-FFF2-40B4-BE49-F238E27FC236}">
                <a16:creationId xmlns:a16="http://schemas.microsoft.com/office/drawing/2014/main" id="{93E8FAED-13AC-440E-B1E1-ADBE65C24A18}"/>
              </a:ext>
            </a:extLst>
          </p:cNvPr>
          <p:cNvSpPr txBox="1"/>
          <p:nvPr/>
        </p:nvSpPr>
        <p:spPr>
          <a:xfrm>
            <a:off x="3491356" y="6297708"/>
            <a:ext cx="3327833" cy="553998"/>
          </a:xfrm>
          <a:prstGeom prst="rect">
            <a:avLst/>
          </a:prstGeom>
          <a:noFill/>
        </p:spPr>
        <p:txBody>
          <a:bodyPr wrap="square" rtlCol="0">
            <a:spAutoFit/>
          </a:bodyPr>
          <a:lstStyle/>
          <a:p>
            <a:r>
              <a:rPr lang="tr-TR" sz="1000" b="0" dirty="0"/>
              <a:t>A)  311</a:t>
            </a:r>
            <a:r>
              <a:rPr lang="tr-TR" sz="1000" dirty="0"/>
              <a:t>                                    B)  325                                    C) 341</a:t>
            </a:r>
          </a:p>
          <a:p>
            <a:pPr marL="228600" indent="-228600">
              <a:buAutoNum type="alphaUcParenR"/>
            </a:pPr>
            <a:endParaRPr lang="tr-TR" sz="1000" dirty="0"/>
          </a:p>
          <a:p>
            <a:r>
              <a:rPr lang="tr-TR" sz="1000" dirty="0"/>
              <a:t>                          D) 361                                     E) 381</a:t>
            </a:r>
            <a:endParaRPr lang="tr-TR" sz="1000" b="1" dirty="0"/>
          </a:p>
        </p:txBody>
      </p:sp>
      <mc:AlternateContent xmlns:mc="http://schemas.openxmlformats.org/markup-compatibility/2006" xmlns:a14="http://schemas.microsoft.com/office/drawing/2010/main">
        <mc:Choice Requires="a14">
          <p:sp>
            <p:nvSpPr>
              <p:cNvPr id="54" name="Metin kutusu 53">
                <a:extLst>
                  <a:ext uri="{FF2B5EF4-FFF2-40B4-BE49-F238E27FC236}">
                    <a16:creationId xmlns:a16="http://schemas.microsoft.com/office/drawing/2014/main" id="{E8B2C1F6-CC33-4443-BA45-8DAF862C8C15}"/>
                  </a:ext>
                </a:extLst>
              </p:cNvPr>
              <p:cNvSpPr txBox="1"/>
              <p:nvPr/>
            </p:nvSpPr>
            <p:spPr>
              <a:xfrm>
                <a:off x="48152" y="541312"/>
                <a:ext cx="3296193" cy="553998"/>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14:m>
                  <m:oMath xmlns:m="http://schemas.openxmlformats.org/officeDocument/2006/math">
                    <m:r>
                      <m:rPr>
                        <m:nor/>
                      </m:rPr>
                      <a:rPr lang="tr-TR" sz="1000" i="0" noProof="1" smtClean="0">
                        <a:solidFill>
                          <a:schemeClr val="tx1"/>
                        </a:solidFill>
                        <a:effectLst/>
                      </a:rPr>
                      <m:t>1</m:t>
                    </m:r>
                    <m:r>
                      <m:rPr>
                        <m:nor/>
                      </m:rPr>
                      <a:rPr lang="tr-TR" sz="1000" b="0" i="0" noProof="1" smtClean="0">
                        <a:solidFill>
                          <a:schemeClr val="tx1"/>
                        </a:solidFill>
                        <a:effectLst/>
                      </a:rPr>
                      <m:t>.</m:t>
                    </m:r>
                  </m:oMath>
                </a14:m>
                <a:r>
                  <a:rPr lang="tr-TR" sz="1000" noProof="1">
                    <a:solidFill>
                      <a:schemeClr val="tx1"/>
                    </a:solidFill>
                  </a:rPr>
                  <a:t>2.3.4. 5. soruları aşağıdaki Üçgensel sayılar hakkındaki bilgilendirme metnini referans alarak birbirinden bağımsız cevaplandırınız.</a:t>
                </a:r>
              </a:p>
            </p:txBody>
          </p:sp>
        </mc:Choice>
        <mc:Fallback xmlns="">
          <p:sp>
            <p:nvSpPr>
              <p:cNvPr id="54" name="Metin kutusu 53">
                <a:extLst>
                  <a:ext uri="{FF2B5EF4-FFF2-40B4-BE49-F238E27FC236}">
                    <a16:creationId xmlns:a16="http://schemas.microsoft.com/office/drawing/2014/main" id="{E8B2C1F6-CC33-4443-BA45-8DAF862C8C15}"/>
                  </a:ext>
                </a:extLst>
              </p:cNvPr>
              <p:cNvSpPr txBox="1">
                <a:spLocks noRot="1" noChangeAspect="1" noMove="1" noResize="1" noEditPoints="1" noAdjustHandles="1" noChangeArrowheads="1" noChangeShapeType="1" noTextEdit="1"/>
              </p:cNvSpPr>
              <p:nvPr/>
            </p:nvSpPr>
            <p:spPr>
              <a:xfrm>
                <a:off x="48152" y="541312"/>
                <a:ext cx="3296193" cy="553998"/>
              </a:xfrm>
              <a:prstGeom prst="rect">
                <a:avLst/>
              </a:prstGeom>
              <a:blipFill>
                <a:blip r:embed="rId7"/>
                <a:stretch>
                  <a:fillRect b="-4301"/>
                </a:stretch>
              </a:blipFill>
              <a:ln w="9525" cap="flat" cmpd="sng" algn="ctr">
                <a:solidFill>
                  <a:srgbClr val="FF0000"/>
                </a:solidFill>
                <a:prstDash val="solid"/>
                <a:round/>
                <a:headEnd type="none" w="med" len="med"/>
                <a:tailEnd type="none" w="med" len="med"/>
              </a:ln>
            </p:spPr>
            <p:txBody>
              <a:bodyPr/>
              <a:lstStyle/>
              <a:p>
                <a:r>
                  <a:rPr lang="tr-TR">
                    <a:noFill/>
                  </a:rPr>
                  <a:t> </a:t>
                </a:r>
              </a:p>
            </p:txBody>
          </p:sp>
        </mc:Fallback>
      </mc:AlternateContent>
      <p:sp>
        <p:nvSpPr>
          <p:cNvPr id="55" name="Metin kutusu 54">
            <a:extLst>
              <a:ext uri="{FF2B5EF4-FFF2-40B4-BE49-F238E27FC236}">
                <a16:creationId xmlns:a16="http://schemas.microsoft.com/office/drawing/2014/main" id="{84186D24-10AA-42D7-B35C-A11E35A6E061}"/>
              </a:ext>
            </a:extLst>
          </p:cNvPr>
          <p:cNvSpPr txBox="1"/>
          <p:nvPr/>
        </p:nvSpPr>
        <p:spPr>
          <a:xfrm>
            <a:off x="3501761" y="6105145"/>
            <a:ext cx="3389637" cy="246221"/>
          </a:xfrm>
          <a:prstGeom prst="rect">
            <a:avLst/>
          </a:prstGeom>
          <a:noFill/>
        </p:spPr>
        <p:txBody>
          <a:bodyPr wrap="square" rtlCol="0">
            <a:spAutoFit/>
          </a:bodyPr>
          <a:lstStyle/>
          <a:p>
            <a:r>
              <a:rPr lang="tr-TR" sz="1000" b="1" i="0" noProof="1">
                <a:effectLst/>
              </a:rPr>
              <a:t>Üç basamaklı en küçük 3 üçgensel sayının toplamı kaçtır?</a:t>
            </a:r>
          </a:p>
        </p:txBody>
      </p:sp>
      <p:sp>
        <p:nvSpPr>
          <p:cNvPr id="39" name="Metin kutusu 38">
            <a:extLst>
              <a:ext uri="{FF2B5EF4-FFF2-40B4-BE49-F238E27FC236}">
                <a16:creationId xmlns:a16="http://schemas.microsoft.com/office/drawing/2014/main" id="{EC993364-8259-4689-8910-C8D4D8020D0D}"/>
              </a:ext>
            </a:extLst>
          </p:cNvPr>
          <p:cNvSpPr txBox="1"/>
          <p:nvPr/>
        </p:nvSpPr>
        <p:spPr>
          <a:xfrm>
            <a:off x="-83084" y="10872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3" name="Metin kutusu 52">
            <a:extLst>
              <a:ext uri="{FF2B5EF4-FFF2-40B4-BE49-F238E27FC236}">
                <a16:creationId xmlns:a16="http://schemas.microsoft.com/office/drawing/2014/main" id="{99594EBB-8FB7-4D22-BEF4-076EF4AED7A9}"/>
              </a:ext>
            </a:extLst>
          </p:cNvPr>
          <p:cNvSpPr txBox="1"/>
          <p:nvPr/>
        </p:nvSpPr>
        <p:spPr>
          <a:xfrm>
            <a:off x="154506" y="5828105"/>
            <a:ext cx="3367842" cy="246221"/>
          </a:xfrm>
          <a:prstGeom prst="rect">
            <a:avLst/>
          </a:prstGeom>
          <a:noFill/>
        </p:spPr>
        <p:txBody>
          <a:bodyPr wrap="square" rtlCol="0">
            <a:spAutoFit/>
          </a:bodyPr>
          <a:lstStyle/>
          <a:p>
            <a:r>
              <a:rPr lang="tr-TR" sz="1000" b="1" i="0" noProof="1">
                <a:effectLst/>
              </a:rPr>
              <a:t>En küçük 6 üçgen sayının toplamı kaçtır?</a:t>
            </a:r>
            <a:endParaRPr lang="tr-TR" sz="1000" b="1" noProof="1"/>
          </a:p>
        </p:txBody>
      </p:sp>
      <p:sp>
        <p:nvSpPr>
          <p:cNvPr id="56" name="Metin kutusu 55">
            <a:extLst>
              <a:ext uri="{FF2B5EF4-FFF2-40B4-BE49-F238E27FC236}">
                <a16:creationId xmlns:a16="http://schemas.microsoft.com/office/drawing/2014/main" id="{03EE2C92-E44C-4F3F-9B68-373BDB8E3359}"/>
              </a:ext>
            </a:extLst>
          </p:cNvPr>
          <p:cNvSpPr txBox="1"/>
          <p:nvPr/>
        </p:nvSpPr>
        <p:spPr>
          <a:xfrm>
            <a:off x="144752" y="6053149"/>
            <a:ext cx="3327833" cy="553998"/>
          </a:xfrm>
          <a:prstGeom prst="rect">
            <a:avLst/>
          </a:prstGeom>
          <a:noFill/>
        </p:spPr>
        <p:txBody>
          <a:bodyPr wrap="square" rtlCol="0">
            <a:spAutoFit/>
          </a:bodyPr>
          <a:lstStyle/>
          <a:p>
            <a:r>
              <a:rPr lang="tr-TR" sz="1000" b="0" dirty="0"/>
              <a:t>A)  15</a:t>
            </a:r>
            <a:r>
              <a:rPr lang="tr-TR" sz="1000" dirty="0"/>
              <a:t>                                      B) 21                                      C) 36</a:t>
            </a:r>
          </a:p>
          <a:p>
            <a:pPr marL="228600" indent="-228600">
              <a:buAutoNum type="alphaUcParenR"/>
            </a:pPr>
            <a:endParaRPr lang="tr-TR" sz="1000" dirty="0"/>
          </a:p>
          <a:p>
            <a:r>
              <a:rPr lang="tr-TR" sz="1000" dirty="0"/>
              <a:t>                          D) 55                                     E) 56</a:t>
            </a:r>
            <a:endParaRPr lang="tr-TR" sz="1000" b="1" dirty="0"/>
          </a:p>
        </p:txBody>
      </p:sp>
      <p:sp>
        <p:nvSpPr>
          <p:cNvPr id="57" name="Metin kutusu 56">
            <a:extLst>
              <a:ext uri="{FF2B5EF4-FFF2-40B4-BE49-F238E27FC236}">
                <a16:creationId xmlns:a16="http://schemas.microsoft.com/office/drawing/2014/main" id="{63B57276-2227-4E17-B853-12DE7992DA7B}"/>
              </a:ext>
            </a:extLst>
          </p:cNvPr>
          <p:cNvSpPr txBox="1"/>
          <p:nvPr/>
        </p:nvSpPr>
        <p:spPr>
          <a:xfrm>
            <a:off x="3499462" y="471831"/>
            <a:ext cx="3389637" cy="1169551"/>
          </a:xfrm>
          <a:prstGeom prst="rect">
            <a:avLst/>
          </a:prstGeom>
          <a:noFill/>
        </p:spPr>
        <p:txBody>
          <a:bodyPr wrap="square" rtlCol="0">
            <a:spAutoFit/>
          </a:bodyPr>
          <a:lstStyle/>
          <a:p>
            <a:r>
              <a:rPr lang="tr-TR" sz="1000" b="1" i="0" noProof="1">
                <a:effectLst/>
              </a:rPr>
              <a:t>Üçgensel sayılarla ilgili,</a:t>
            </a:r>
          </a:p>
          <a:p>
            <a:endParaRPr lang="tr-TR" sz="1000" b="1" noProof="1"/>
          </a:p>
          <a:p>
            <a:pPr marL="285750" indent="-285750">
              <a:buFont typeface="+mj-lt"/>
              <a:buAutoNum type="romanUcPeriod"/>
            </a:pPr>
            <a:r>
              <a:rPr lang="tr-TR" sz="1000" noProof="1"/>
              <a:t> Bir asal sayı üçgensel sayı olamaz.</a:t>
            </a:r>
          </a:p>
          <a:p>
            <a:pPr marL="285750" indent="-285750">
              <a:buFont typeface="+mj-lt"/>
              <a:buAutoNum type="romanUcPeriod"/>
            </a:pPr>
            <a:r>
              <a:rPr lang="tr-TR" sz="1000" noProof="1"/>
              <a:t> Tek üçgensel sayı yoktur.</a:t>
            </a:r>
          </a:p>
          <a:p>
            <a:pPr marL="285750" indent="-285750">
              <a:buFont typeface="+mj-lt"/>
              <a:buAutoNum type="romanUcPeriod"/>
            </a:pPr>
            <a:r>
              <a:rPr lang="tr-TR" sz="1000" noProof="1"/>
              <a:t> İki üçgensel sayının toplamı asal sayı olabilir.</a:t>
            </a:r>
          </a:p>
          <a:p>
            <a:pPr marL="285750" indent="-285750">
              <a:buFont typeface="+mj-lt"/>
              <a:buAutoNum type="romanUcPeriod"/>
            </a:pPr>
            <a:endParaRPr lang="tr-TR" sz="1000" noProof="1"/>
          </a:p>
          <a:p>
            <a:r>
              <a:rPr lang="tr-TR" sz="1000" b="1" noProof="1"/>
              <a:t>önermelerinden hangileri doğrudur?</a:t>
            </a:r>
          </a:p>
        </p:txBody>
      </p:sp>
      <p:sp>
        <p:nvSpPr>
          <p:cNvPr id="59" name="Dikdörtgen 58">
            <a:extLst>
              <a:ext uri="{FF2B5EF4-FFF2-40B4-BE49-F238E27FC236}">
                <a16:creationId xmlns:a16="http://schemas.microsoft.com/office/drawing/2014/main" id="{974304AB-107A-4ACC-B3E3-0C6EDCDBF908}"/>
              </a:ext>
            </a:extLst>
          </p:cNvPr>
          <p:cNvSpPr/>
          <p:nvPr/>
        </p:nvSpPr>
        <p:spPr>
          <a:xfrm>
            <a:off x="3475375" y="1571209"/>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I ve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Yalnız III</a:t>
            </a:r>
          </a:p>
        </p:txBody>
      </p:sp>
      <p:sp>
        <p:nvSpPr>
          <p:cNvPr id="60" name="Metin kutusu 59">
            <a:extLst>
              <a:ext uri="{FF2B5EF4-FFF2-40B4-BE49-F238E27FC236}">
                <a16:creationId xmlns:a16="http://schemas.microsoft.com/office/drawing/2014/main" id="{84441EE0-6A2E-404D-97E8-FF1E7AEDCF9A}"/>
              </a:ext>
            </a:extLst>
          </p:cNvPr>
          <p:cNvSpPr txBox="1"/>
          <p:nvPr/>
        </p:nvSpPr>
        <p:spPr>
          <a:xfrm>
            <a:off x="3338521" y="322459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63" name="Metin kutusu 62">
            <a:extLst>
              <a:ext uri="{FF2B5EF4-FFF2-40B4-BE49-F238E27FC236}">
                <a16:creationId xmlns:a16="http://schemas.microsoft.com/office/drawing/2014/main" id="{A06D839E-AADE-4211-B5C6-BCA728BEAAD5}"/>
              </a:ext>
            </a:extLst>
          </p:cNvPr>
          <p:cNvSpPr txBox="1"/>
          <p:nvPr/>
        </p:nvSpPr>
        <p:spPr>
          <a:xfrm>
            <a:off x="3505959" y="3598471"/>
            <a:ext cx="3327833" cy="1477328"/>
          </a:xfrm>
          <a:prstGeom prst="rect">
            <a:avLst/>
          </a:prstGeom>
          <a:noFill/>
        </p:spPr>
        <p:txBody>
          <a:bodyPr wrap="square" rtlCol="0">
            <a:spAutoFit/>
          </a:bodyPr>
          <a:lstStyle/>
          <a:p>
            <a:pPr marL="228600" indent="-228600">
              <a:buAutoNum type="alphaUcParenR"/>
            </a:pPr>
            <a:r>
              <a:rPr lang="tr-TR" sz="1000" b="0" noProof="1"/>
              <a:t>n bir asal sayıdır.</a:t>
            </a:r>
            <a:br>
              <a:rPr lang="tr-TR" sz="1000" b="0" noProof="1"/>
            </a:br>
            <a:endParaRPr lang="tr-TR" sz="1000" noProof="1"/>
          </a:p>
          <a:p>
            <a:pPr marL="228600" indent="-228600">
              <a:buAutoNum type="alphaUcParenR"/>
            </a:pPr>
            <a:r>
              <a:rPr lang="tr-TR" sz="1000" noProof="1"/>
              <a:t>n=12 olmalıdır.</a:t>
            </a:r>
          </a:p>
          <a:p>
            <a:pPr marL="228600" indent="-228600">
              <a:buAutoNum type="alphaUcParenR"/>
            </a:pPr>
            <a:endParaRPr lang="tr-TR" sz="1000" b="0" noProof="1"/>
          </a:p>
          <a:p>
            <a:pPr marL="228600" indent="-228600">
              <a:buAutoNum type="alphaUcParenR"/>
            </a:pPr>
            <a:r>
              <a:rPr lang="tr-TR" sz="1000" b="0" noProof="1"/>
              <a:t>n </a:t>
            </a:r>
            <a:r>
              <a:rPr lang="tr-TR" sz="1000" noProof="1"/>
              <a:t>çift bir rakamdır.</a:t>
            </a:r>
          </a:p>
          <a:p>
            <a:pPr marL="228600" indent="-228600">
              <a:buAutoNum type="alphaUcParenR"/>
            </a:pPr>
            <a:endParaRPr lang="tr-TR" sz="1000" b="0" noProof="1"/>
          </a:p>
          <a:p>
            <a:pPr marL="228600" indent="-228600">
              <a:buAutoNum type="alphaUcParenR"/>
            </a:pPr>
            <a:r>
              <a:rPr lang="tr-TR" sz="1000" b="0" noProof="1"/>
              <a:t>n</a:t>
            </a:r>
            <a:r>
              <a:rPr lang="tr-TR" sz="1000" noProof="1"/>
              <a:t>=14 olmalıdır.</a:t>
            </a:r>
          </a:p>
          <a:p>
            <a:pPr marL="228600" indent="-228600">
              <a:buAutoNum type="alphaUcParenR"/>
            </a:pPr>
            <a:endParaRPr lang="tr-TR" sz="1000" b="0" noProof="1"/>
          </a:p>
          <a:p>
            <a:pPr marL="228600" indent="-228600">
              <a:buAutoNum type="alphaUcParenR"/>
            </a:pPr>
            <a:r>
              <a:rPr lang="tr-TR" sz="1000" b="0" noProof="1"/>
              <a:t>En küçük Üçgensel sayı 136`dır.</a:t>
            </a:r>
          </a:p>
        </p:txBody>
      </p:sp>
      <p:sp>
        <p:nvSpPr>
          <p:cNvPr id="64" name="Metin kutusu 63">
            <a:extLst>
              <a:ext uri="{FF2B5EF4-FFF2-40B4-BE49-F238E27FC236}">
                <a16:creationId xmlns:a16="http://schemas.microsoft.com/office/drawing/2014/main" id="{F31A58D7-1E9F-4B5A-8E68-20A884F17D02}"/>
              </a:ext>
            </a:extLst>
          </p:cNvPr>
          <p:cNvSpPr txBox="1"/>
          <p:nvPr/>
        </p:nvSpPr>
        <p:spPr>
          <a:xfrm>
            <a:off x="3491356" y="3237297"/>
            <a:ext cx="3389637" cy="400110"/>
          </a:xfrm>
          <a:prstGeom prst="rect">
            <a:avLst/>
          </a:prstGeom>
          <a:noFill/>
        </p:spPr>
        <p:txBody>
          <a:bodyPr wrap="square" rtlCol="0">
            <a:spAutoFit/>
          </a:bodyPr>
          <a:lstStyle/>
          <a:p>
            <a:r>
              <a:rPr lang="tr-TR" sz="1000" b="1" i="0" noProof="1">
                <a:effectLst/>
              </a:rPr>
              <a:t>Üç basamaklı en küçük üçgensel sayıyı elde etmek  için aşağıdakilerden hangisi doğrudur?</a:t>
            </a:r>
            <a:endParaRPr lang="tr-TR" sz="1000" b="1" noProof="1"/>
          </a:p>
        </p:txBody>
      </p:sp>
      <p:sp>
        <p:nvSpPr>
          <p:cNvPr id="65" name="Metin kutusu 64">
            <a:extLst>
              <a:ext uri="{FF2B5EF4-FFF2-40B4-BE49-F238E27FC236}">
                <a16:creationId xmlns:a16="http://schemas.microsoft.com/office/drawing/2014/main" id="{4146D100-2014-4479-87F8-28BD550ABF2A}"/>
              </a:ext>
            </a:extLst>
          </p:cNvPr>
          <p:cNvSpPr txBox="1"/>
          <p:nvPr/>
        </p:nvSpPr>
        <p:spPr>
          <a:xfrm>
            <a:off x="0" y="8833983"/>
            <a:ext cx="1614805"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1.E    2.E    3.B     4.D   5. D  </a:t>
            </a:r>
          </a:p>
        </p:txBody>
      </p:sp>
    </p:spTree>
    <p:extLst>
      <p:ext uri="{BB962C8B-B14F-4D97-AF65-F5344CB8AC3E}">
        <p14:creationId xmlns:p14="http://schemas.microsoft.com/office/powerpoint/2010/main" val="14672263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12488"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86192"/>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758985" y="31531"/>
            <a:ext cx="1033499" cy="413054"/>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a:t>
            </a:r>
          </a:p>
          <a:p>
            <a:pPr algn="ctr"/>
            <a:r>
              <a:rPr lang="tr-TR" sz="1000" dirty="0">
                <a:solidFill>
                  <a:schemeClr val="tx1"/>
                </a:solidFill>
              </a:rPr>
              <a:t>TEST ?</a:t>
            </a: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5"/>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44346" y="43584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83084" y="454732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407241" y="383181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37" name="Metin kutusu 36">
            <a:extLst>
              <a:ext uri="{FF2B5EF4-FFF2-40B4-BE49-F238E27FC236}">
                <a16:creationId xmlns:a16="http://schemas.microsoft.com/office/drawing/2014/main" id="{C712AFB4-0811-439A-B216-544C011D0328}"/>
              </a:ext>
            </a:extLst>
          </p:cNvPr>
          <p:cNvSpPr txBox="1"/>
          <p:nvPr/>
        </p:nvSpPr>
        <p:spPr>
          <a:xfrm>
            <a:off x="76909" y="482247"/>
            <a:ext cx="3335578" cy="861774"/>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Niven sayıları, rakamları toplamına tam olarak bölünebilen sayılardır.</a:t>
            </a:r>
          </a:p>
          <a:p>
            <a:endParaRPr lang="tr-TR" sz="1000" noProof="1">
              <a:latin typeface="+mj-lt"/>
              <a:ea typeface="Arimo" panose="020B0604020202020204" pitchFamily="34" charset="0"/>
              <a:cs typeface="Arimo" panose="020B0604020202020204" pitchFamily="34" charset="0"/>
            </a:endParaRPr>
          </a:p>
          <a:p>
            <a:r>
              <a:rPr lang="tr-TR" sz="1000" b="1" noProof="1">
                <a:ea typeface="Arimo" panose="020B0604020202020204" pitchFamily="34" charset="0"/>
                <a:cs typeface="Arimo" panose="020B0604020202020204" pitchFamily="34" charset="0"/>
              </a:rPr>
              <a:t>Buna göre, en büyük iki basamaklı Niven sayısı kaçtır?</a:t>
            </a:r>
          </a:p>
          <a:p>
            <a:endParaRPr lang="tr-TR" sz="1000" noProof="1">
              <a:latin typeface="+mj-lt"/>
              <a:ea typeface="Arimo" panose="020B0604020202020204" pitchFamily="34" charset="0"/>
              <a:cs typeface="Arimo" panose="020B0604020202020204" pitchFamily="34" charset="0"/>
            </a:endParaRPr>
          </a:p>
        </p:txBody>
      </p:sp>
      <p:sp>
        <p:nvSpPr>
          <p:cNvPr id="38" name="Metin kutusu 37">
            <a:extLst>
              <a:ext uri="{FF2B5EF4-FFF2-40B4-BE49-F238E27FC236}">
                <a16:creationId xmlns:a16="http://schemas.microsoft.com/office/drawing/2014/main" id="{BC1DD289-82FD-458C-9186-443D709273E0}"/>
              </a:ext>
            </a:extLst>
          </p:cNvPr>
          <p:cNvSpPr txBox="1"/>
          <p:nvPr/>
        </p:nvSpPr>
        <p:spPr>
          <a:xfrm>
            <a:off x="69336" y="1156000"/>
            <a:ext cx="3251950" cy="553998"/>
          </a:xfrm>
          <a:prstGeom prst="rect">
            <a:avLst/>
          </a:prstGeom>
          <a:noFill/>
        </p:spPr>
        <p:txBody>
          <a:bodyPr wrap="square" rtlCol="0">
            <a:spAutoFit/>
          </a:bodyPr>
          <a:lstStyle/>
          <a:p>
            <a:r>
              <a:rPr lang="tr-TR" sz="1000" dirty="0">
                <a:cs typeface="Arial" panose="020B0604020202020204" pitchFamily="34" charset="0"/>
              </a:rPr>
              <a:t>A)  90                                   B) 92                                    C) 94</a:t>
            </a:r>
          </a:p>
          <a:p>
            <a:r>
              <a:rPr lang="tr-TR" sz="1000" dirty="0">
                <a:cs typeface="Arial" panose="020B0604020202020204" pitchFamily="34" charset="0"/>
              </a:rPr>
              <a:t>  </a:t>
            </a:r>
          </a:p>
          <a:p>
            <a:r>
              <a:rPr lang="tr-TR" sz="1000" dirty="0">
                <a:cs typeface="Arial" panose="020B0604020202020204" pitchFamily="34" charset="0"/>
              </a:rPr>
              <a:t>                          D) 97                                 E) 99</a:t>
            </a:r>
          </a:p>
        </p:txBody>
      </p:sp>
      <p:sp>
        <p:nvSpPr>
          <p:cNvPr id="40" name="Metin kutusu 39">
            <a:extLst>
              <a:ext uri="{FF2B5EF4-FFF2-40B4-BE49-F238E27FC236}">
                <a16:creationId xmlns:a16="http://schemas.microsoft.com/office/drawing/2014/main" id="{6C4662B9-9640-42AB-B362-322B726DBCB4}"/>
              </a:ext>
            </a:extLst>
          </p:cNvPr>
          <p:cNvSpPr txBox="1"/>
          <p:nvPr/>
        </p:nvSpPr>
        <p:spPr>
          <a:xfrm>
            <a:off x="3555562" y="498836"/>
            <a:ext cx="3257838" cy="1785104"/>
          </a:xfrm>
          <a:prstGeom prst="rect">
            <a:avLst/>
          </a:prstGeom>
          <a:solidFill>
            <a:schemeClr val="accent2">
              <a:lumMod val="40000"/>
              <a:lumOff val="60000"/>
              <a:alpha val="50000"/>
            </a:schemeClr>
          </a:solidFill>
          <a:ln>
            <a:noFill/>
          </a:ln>
          <a:effectLst>
            <a:softEdge rad="31750"/>
          </a:effectLst>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tr-TR" sz="1000" noProof="1">
                <a:solidFill>
                  <a:schemeClr val="tx1"/>
                </a:solidFill>
              </a:rPr>
              <a:t>Bir sayının karesi alındığında, elde edilen sayının basamağı ortadan ikiye ayrılarak iki sayı elde edilip toplandığında baştaki sayı elde ediliyorsa başlangıçtaki sayıya </a:t>
            </a:r>
            <a:r>
              <a:rPr lang="tr-TR" sz="1000" b="1" i="0" noProof="1">
                <a:solidFill>
                  <a:srgbClr val="000000"/>
                </a:solidFill>
                <a:effectLst/>
                <a:latin typeface="Calibri "/>
              </a:rPr>
              <a:t>Kaprekar sayısı </a:t>
            </a:r>
            <a:r>
              <a:rPr lang="tr-TR" sz="1000" noProof="1">
                <a:solidFill>
                  <a:schemeClr val="tx1"/>
                </a:solidFill>
              </a:rPr>
              <a:t>denir.</a:t>
            </a:r>
          </a:p>
          <a:p>
            <a:pPr algn="l"/>
            <a:endParaRPr lang="tr-TR" sz="1000" noProof="1">
              <a:solidFill>
                <a:schemeClr val="tx1"/>
              </a:solidFill>
            </a:endParaRPr>
          </a:p>
          <a:p>
            <a:r>
              <a:rPr lang="tr-TR" sz="1000" b="1" noProof="1">
                <a:solidFill>
                  <a:schemeClr val="tx1"/>
                </a:solidFill>
              </a:rPr>
              <a:t>Literatür Tanım </a:t>
            </a:r>
            <a:r>
              <a:rPr lang="tr-TR" sz="1000" noProof="1">
                <a:solidFill>
                  <a:schemeClr val="tx1"/>
                </a:solidFill>
              </a:rPr>
              <a:t>: </a:t>
            </a:r>
            <a:r>
              <a:rPr lang="tr-TR" sz="1000" b="0" i="0" noProof="1">
                <a:solidFill>
                  <a:srgbClr val="000000"/>
                </a:solidFill>
                <a:effectLst/>
              </a:rPr>
              <a:t>n basamaklı bir t Kaprekar sayısının karesi alınıp sağdaki n basamağı solda kalan n-1 basamağına eklendiğinde sonuç yine t sayısını verir.</a:t>
            </a:r>
            <a:br>
              <a:rPr lang="tr-TR" sz="1000" b="0" i="0" noProof="1">
                <a:solidFill>
                  <a:schemeClr val="tx1"/>
                </a:solidFill>
                <a:effectLst/>
              </a:rPr>
            </a:br>
            <a:br>
              <a:rPr lang="tr-TR" sz="1000" b="0" i="0" noProof="1">
                <a:solidFill>
                  <a:schemeClr val="tx1"/>
                </a:solidFill>
                <a:effectLst/>
              </a:rPr>
            </a:br>
            <a:r>
              <a:rPr lang="tr-TR" sz="1000" noProof="1">
                <a:solidFill>
                  <a:schemeClr val="tx1"/>
                </a:solidFill>
              </a:rPr>
              <a:t>Örneğin : 55 karesi alındığında 3025 ikiye ayırdığımızda 30+25 olarak 55 sayısını tekrar elde edebiliyoruz.</a:t>
            </a:r>
          </a:p>
        </p:txBody>
      </p:sp>
      <p:sp>
        <p:nvSpPr>
          <p:cNvPr id="62" name="Metin kutusu 61">
            <a:extLst>
              <a:ext uri="{FF2B5EF4-FFF2-40B4-BE49-F238E27FC236}">
                <a16:creationId xmlns:a16="http://schemas.microsoft.com/office/drawing/2014/main" id="{E45FCA79-0C73-4A8E-82A2-CD4A3F3C0C10}"/>
              </a:ext>
            </a:extLst>
          </p:cNvPr>
          <p:cNvSpPr txBox="1"/>
          <p:nvPr/>
        </p:nvSpPr>
        <p:spPr>
          <a:xfrm>
            <a:off x="3570270" y="2478639"/>
            <a:ext cx="3335577" cy="553998"/>
          </a:xfrm>
          <a:prstGeom prst="rect">
            <a:avLst/>
          </a:prstGeom>
          <a:noFill/>
        </p:spPr>
        <p:txBody>
          <a:bodyPr wrap="square" rtlCol="0">
            <a:spAutoFit/>
          </a:bodyPr>
          <a:lstStyle/>
          <a:p>
            <a:r>
              <a:rPr lang="tr-TR" sz="1000" dirty="0">
                <a:cs typeface="Arial" panose="020B0604020202020204" pitchFamily="34" charset="0"/>
              </a:rPr>
              <a:t>A) 15                                       B) 25                                     C) 55</a:t>
            </a:r>
          </a:p>
          <a:p>
            <a:r>
              <a:rPr lang="tr-TR" sz="1000" dirty="0">
                <a:cs typeface="Arial" panose="020B0604020202020204" pitchFamily="34" charset="0"/>
              </a:rPr>
              <a:t>  </a:t>
            </a:r>
          </a:p>
          <a:p>
            <a:r>
              <a:rPr lang="tr-TR" sz="1000" dirty="0">
                <a:cs typeface="Arial" panose="020B0604020202020204" pitchFamily="34" charset="0"/>
              </a:rPr>
              <a:t>                                 D) 65                                E) 75</a:t>
            </a:r>
          </a:p>
        </p:txBody>
      </p:sp>
      <p:sp>
        <p:nvSpPr>
          <p:cNvPr id="67" name="Metin kutusu 66">
            <a:extLst>
              <a:ext uri="{FF2B5EF4-FFF2-40B4-BE49-F238E27FC236}">
                <a16:creationId xmlns:a16="http://schemas.microsoft.com/office/drawing/2014/main" id="{93E8FAED-13AC-440E-B1E1-ADBE65C24A18}"/>
              </a:ext>
            </a:extLst>
          </p:cNvPr>
          <p:cNvSpPr txBox="1"/>
          <p:nvPr/>
        </p:nvSpPr>
        <p:spPr>
          <a:xfrm>
            <a:off x="3561158" y="4531659"/>
            <a:ext cx="3327833" cy="553998"/>
          </a:xfrm>
          <a:prstGeom prst="rect">
            <a:avLst/>
          </a:prstGeom>
          <a:noFill/>
        </p:spPr>
        <p:txBody>
          <a:bodyPr wrap="square" rtlCol="0">
            <a:spAutoFit/>
          </a:bodyPr>
          <a:lstStyle/>
          <a:p>
            <a:r>
              <a:rPr lang="tr-TR" sz="1000" b="0" dirty="0"/>
              <a:t>A)  257</a:t>
            </a:r>
            <a:r>
              <a:rPr lang="tr-TR" sz="1000" dirty="0"/>
              <a:t>                                   B)  65                                      C) 17</a:t>
            </a:r>
          </a:p>
          <a:p>
            <a:pPr marL="228600" indent="-228600">
              <a:buAutoNum type="alphaUcParenR"/>
            </a:pPr>
            <a:endParaRPr lang="tr-TR" sz="1000" dirty="0"/>
          </a:p>
          <a:p>
            <a:r>
              <a:rPr lang="tr-TR" sz="1000" dirty="0"/>
              <a:t>                          D) 3                                     E) 5</a:t>
            </a:r>
            <a:endParaRPr lang="tr-TR" sz="1000" b="1" dirty="0"/>
          </a:p>
        </p:txBody>
      </p:sp>
      <p:sp>
        <p:nvSpPr>
          <p:cNvPr id="46" name="Metin kutusu 45">
            <a:extLst>
              <a:ext uri="{FF2B5EF4-FFF2-40B4-BE49-F238E27FC236}">
                <a16:creationId xmlns:a16="http://schemas.microsoft.com/office/drawing/2014/main" id="{6D40B510-8CC3-4D08-A377-4F328C650E59}"/>
              </a:ext>
            </a:extLst>
          </p:cNvPr>
          <p:cNvSpPr txBox="1"/>
          <p:nvPr/>
        </p:nvSpPr>
        <p:spPr>
          <a:xfrm>
            <a:off x="79170" y="4578751"/>
            <a:ext cx="3335578" cy="1631216"/>
          </a:xfrm>
          <a:prstGeom prst="rect">
            <a:avLst/>
          </a:prstGeom>
          <a:noFill/>
        </p:spPr>
        <p:txBody>
          <a:bodyPr wrap="square" rtlCol="0">
            <a:spAutoFit/>
          </a:bodyPr>
          <a:lstStyle/>
          <a:p>
            <a:r>
              <a:rPr lang="tr-TR" sz="1000" noProof="1">
                <a:ea typeface="Arimo" panose="020B0604020202020204" pitchFamily="34" charset="0"/>
                <a:cs typeface="Arimo" panose="020B0604020202020204" pitchFamily="34" charset="0"/>
              </a:rPr>
              <a:t>Niven sayıları, rakamları toplamına tam olarak bölünebilen sayılardır.</a:t>
            </a:r>
          </a:p>
          <a:p>
            <a:endParaRPr lang="tr-TR" sz="1000" noProof="1">
              <a:ea typeface="Arimo" panose="020B0604020202020204" pitchFamily="34" charset="0"/>
              <a:cs typeface="Arimo" panose="020B0604020202020204" pitchFamily="34" charset="0"/>
            </a:endParaRPr>
          </a:p>
          <a:p>
            <a:r>
              <a:rPr lang="tr-TR" sz="1000" b="1" noProof="1">
                <a:ea typeface="Arimo" panose="020B0604020202020204" pitchFamily="34" charset="0"/>
                <a:cs typeface="Arimo" panose="020B0604020202020204" pitchFamily="34" charset="0"/>
              </a:rPr>
              <a:t>Buna göre,</a:t>
            </a:r>
          </a:p>
          <a:p>
            <a:endParaRPr lang="tr-TR" sz="1000" noProof="1">
              <a:ea typeface="Arimo" panose="020B0604020202020204" pitchFamily="34" charset="0"/>
              <a:cs typeface="Arimo" panose="020B0604020202020204" pitchFamily="34" charset="0"/>
            </a:endParaRPr>
          </a:p>
          <a:p>
            <a:pPr marL="285750" indent="-285750">
              <a:buFont typeface="+mj-lt"/>
              <a:buAutoNum type="romanUcPeriod"/>
            </a:pPr>
            <a:r>
              <a:rPr lang="tr-TR" sz="1000" noProof="1">
                <a:ea typeface="Arimo" panose="020B0604020202020204" pitchFamily="34" charset="0"/>
                <a:cs typeface="Arimo" panose="020B0604020202020204" pitchFamily="34" charset="0"/>
              </a:rPr>
              <a:t> Asal Sayıların hiçbiri Niven sayısı olamaz.</a:t>
            </a:r>
          </a:p>
          <a:p>
            <a:pPr marL="285750" indent="-285750">
              <a:buFont typeface="+mj-lt"/>
              <a:buAutoNum type="romanUcPeriod"/>
            </a:pPr>
            <a:r>
              <a:rPr lang="tr-TR" sz="1000" noProof="1">
                <a:ea typeface="Arimo" panose="020B0604020202020204" pitchFamily="34" charset="0"/>
                <a:cs typeface="Arimo" panose="020B0604020202020204" pitchFamily="34" charset="0"/>
              </a:rPr>
              <a:t> Pozitif rakamlar Niven sayıdır.</a:t>
            </a:r>
          </a:p>
          <a:p>
            <a:pPr marL="285750" indent="-285750">
              <a:buFont typeface="+mj-lt"/>
              <a:buAutoNum type="romanUcPeriod"/>
            </a:pPr>
            <a:r>
              <a:rPr lang="tr-TR" sz="1000" noProof="1">
                <a:ea typeface="Arimo" panose="020B0604020202020204" pitchFamily="34" charset="0"/>
                <a:cs typeface="Arimo" panose="020B0604020202020204" pitchFamily="34" charset="0"/>
              </a:rPr>
              <a:t> Üç basamaklı asal sayılar Niven sayısı değildir.</a:t>
            </a:r>
          </a:p>
          <a:p>
            <a:pPr marL="285750" indent="-285750">
              <a:buFont typeface="+mj-lt"/>
              <a:buAutoNum type="romanUcPeriod"/>
            </a:pPr>
            <a:endParaRPr lang="tr-TR" sz="1000" noProof="1">
              <a:ea typeface="Arimo" panose="020B0604020202020204" pitchFamily="34" charset="0"/>
              <a:cs typeface="Arimo" panose="020B0604020202020204" pitchFamily="34" charset="0"/>
            </a:endParaRPr>
          </a:p>
          <a:p>
            <a:r>
              <a:rPr lang="tr-TR" sz="1000" b="1" noProof="1">
                <a:ea typeface="Arimo" panose="020B0604020202020204" pitchFamily="34" charset="0"/>
                <a:cs typeface="Arimo" panose="020B0604020202020204" pitchFamily="34" charset="0"/>
              </a:rPr>
              <a:t>numaralandırılmış önermelerden hangileri doğrudur?</a:t>
            </a:r>
          </a:p>
        </p:txBody>
      </p:sp>
      <p:sp>
        <p:nvSpPr>
          <p:cNvPr id="47" name="Dikdörtgen 46">
            <a:extLst>
              <a:ext uri="{FF2B5EF4-FFF2-40B4-BE49-F238E27FC236}">
                <a16:creationId xmlns:a16="http://schemas.microsoft.com/office/drawing/2014/main" id="{C7E51ED4-F35B-4348-87C7-518EA4B2B12A}"/>
              </a:ext>
            </a:extLst>
          </p:cNvPr>
          <p:cNvSpPr/>
          <p:nvPr/>
        </p:nvSpPr>
        <p:spPr>
          <a:xfrm>
            <a:off x="84889" y="6164560"/>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5" name="Metin kutusu 54">
                <a:extLst>
                  <a:ext uri="{FF2B5EF4-FFF2-40B4-BE49-F238E27FC236}">
                    <a16:creationId xmlns:a16="http://schemas.microsoft.com/office/drawing/2014/main" id="{84186D24-10AA-42D7-B35C-A11E35A6E061}"/>
                  </a:ext>
                </a:extLst>
              </p:cNvPr>
              <p:cNvSpPr txBox="1"/>
              <p:nvPr/>
            </p:nvSpPr>
            <p:spPr>
              <a:xfrm>
                <a:off x="3570270" y="3849732"/>
                <a:ext cx="3389637" cy="721993"/>
              </a:xfrm>
              <a:prstGeom prst="rect">
                <a:avLst/>
              </a:prstGeom>
              <a:noFill/>
            </p:spPr>
            <p:txBody>
              <a:bodyPr wrap="square" rtlCol="0">
                <a:spAutoFit/>
              </a:bodyPr>
              <a:lstStyle/>
              <a:p>
                <a:r>
                  <a:rPr lang="tr-TR" sz="1000" noProof="1"/>
                  <a:t>n pozitif bir doğal sayı olmak üzere, </a:t>
                </a:r>
                <a14:m>
                  <m:oMath xmlns:m="http://schemas.openxmlformats.org/officeDocument/2006/math">
                    <m:sSup>
                      <m:sSupPr>
                        <m:ctrlPr>
                          <a:rPr lang="tr-TR" sz="1000" i="1" noProof="1" smtClean="0">
                            <a:solidFill>
                              <a:srgbClr val="836967"/>
                            </a:solidFill>
                            <a:latin typeface="Cambria Math" panose="02040503050406030204" pitchFamily="18" charset="0"/>
                          </a:rPr>
                        </m:ctrlPr>
                      </m:sSupPr>
                      <m:e>
                        <m:r>
                          <a:rPr lang="tr-TR" sz="1000" i="0" noProof="1" smtClean="0">
                            <a:latin typeface="Cambria Math" panose="02040503050406030204" pitchFamily="18" charset="0"/>
                          </a:rPr>
                          <m:t>2</m:t>
                        </m:r>
                      </m:e>
                      <m:sup>
                        <m:sSup>
                          <m:sSupPr>
                            <m:ctrlPr>
                              <a:rPr lang="tr-TR" sz="1000" i="1" noProof="1" smtClean="0">
                                <a:solidFill>
                                  <a:srgbClr val="836967"/>
                                </a:solidFill>
                                <a:latin typeface="Cambria Math" panose="02040503050406030204" pitchFamily="18" charset="0"/>
                              </a:rPr>
                            </m:ctrlPr>
                          </m:sSupPr>
                          <m:e>
                            <m:r>
                              <a:rPr lang="tr-TR" sz="1000" i="0" noProof="1" smtClean="0">
                                <a:latin typeface="Cambria Math" panose="02040503050406030204" pitchFamily="18" charset="0"/>
                              </a:rPr>
                              <m:t>2</m:t>
                            </m:r>
                          </m:e>
                          <m:sup>
                            <m:r>
                              <m:rPr>
                                <m:sty m:val="p"/>
                              </m:rPr>
                              <a:rPr lang="tr-TR" sz="1000" i="0" noProof="1" smtClean="0">
                                <a:latin typeface="Cambria Math" panose="02040503050406030204" pitchFamily="18" charset="0"/>
                              </a:rPr>
                              <m:t>n</m:t>
                            </m:r>
                          </m:sup>
                        </m:sSup>
                      </m:sup>
                    </m:sSup>
                  </m:oMath>
                </a14:m>
                <a:r>
                  <a:rPr lang="tr-TR" sz="1000" noProof="1">
                    <a:effectLst/>
                  </a:rPr>
                  <a:t>+ 1 şeklinde </a:t>
                </a:r>
              </a:p>
              <a:p>
                <a:r>
                  <a:rPr lang="tr-TR" sz="1000" noProof="1">
                    <a:effectLst/>
                  </a:rPr>
                  <a:t>yazılabilen sayılara Fermat sayısı denir.</a:t>
                </a:r>
              </a:p>
              <a:p>
                <a:endParaRPr lang="tr-TR" sz="1000" noProof="1"/>
              </a:p>
              <a:p>
                <a:r>
                  <a:rPr lang="tr-TR" sz="1000" b="1" noProof="1"/>
                  <a:t>Buna göre, aşağıdakilerden hangisi Fermat sayısı değildir?</a:t>
                </a:r>
              </a:p>
            </p:txBody>
          </p:sp>
        </mc:Choice>
        <mc:Fallback xmlns="">
          <p:sp>
            <p:nvSpPr>
              <p:cNvPr id="55" name="Metin kutusu 54">
                <a:extLst>
                  <a:ext uri="{FF2B5EF4-FFF2-40B4-BE49-F238E27FC236}">
                    <a16:creationId xmlns:a16="http://schemas.microsoft.com/office/drawing/2014/main" id="{84186D24-10AA-42D7-B35C-A11E35A6E061}"/>
                  </a:ext>
                </a:extLst>
              </p:cNvPr>
              <p:cNvSpPr txBox="1">
                <a:spLocks noRot="1" noChangeAspect="1" noMove="1" noResize="1" noEditPoints="1" noAdjustHandles="1" noChangeArrowheads="1" noChangeShapeType="1" noTextEdit="1"/>
              </p:cNvSpPr>
              <p:nvPr/>
            </p:nvSpPr>
            <p:spPr>
              <a:xfrm>
                <a:off x="3570270" y="3849732"/>
                <a:ext cx="3389637" cy="721993"/>
              </a:xfrm>
              <a:prstGeom prst="rect">
                <a:avLst/>
              </a:prstGeom>
              <a:blipFill>
                <a:blip r:embed="rId6"/>
                <a:stretch>
                  <a:fillRect b="-4237"/>
                </a:stretch>
              </a:blipFill>
            </p:spPr>
            <p:txBody>
              <a:bodyPr/>
              <a:lstStyle/>
              <a:p>
                <a:r>
                  <a:rPr lang="tr-TR">
                    <a:noFill/>
                  </a:rPr>
                  <a:t> </a:t>
                </a:r>
              </a:p>
            </p:txBody>
          </p:sp>
        </mc:Fallback>
      </mc:AlternateContent>
      <p:sp>
        <p:nvSpPr>
          <p:cNvPr id="56" name="Metin kutusu 55">
            <a:extLst>
              <a:ext uri="{FF2B5EF4-FFF2-40B4-BE49-F238E27FC236}">
                <a16:creationId xmlns:a16="http://schemas.microsoft.com/office/drawing/2014/main" id="{06F0F3ED-2080-436C-B63C-CC3E9AA9CC9B}"/>
              </a:ext>
            </a:extLst>
          </p:cNvPr>
          <p:cNvSpPr txBox="1"/>
          <p:nvPr/>
        </p:nvSpPr>
        <p:spPr>
          <a:xfrm>
            <a:off x="3582475" y="2283318"/>
            <a:ext cx="3230926" cy="246221"/>
          </a:xfrm>
          <a:prstGeom prst="rect">
            <a:avLst/>
          </a:prstGeom>
          <a:noFill/>
        </p:spPr>
        <p:txBody>
          <a:bodyPr wrap="square" rtlCol="0">
            <a:spAutoFit/>
          </a:bodyPr>
          <a:lstStyle/>
          <a:p>
            <a:r>
              <a:rPr lang="tr-TR" sz="1000" b="1" i="0" noProof="1">
                <a:effectLst/>
              </a:rPr>
              <a:t>Buna göre, aşağıdakilerden hangisi Kaprekar sayısıdır?</a:t>
            </a:r>
            <a:endParaRPr lang="tr-TR" sz="1000" b="1" noProof="1"/>
          </a:p>
        </p:txBody>
      </p:sp>
      <p:sp>
        <p:nvSpPr>
          <p:cNvPr id="57" name="Metin kutusu 56">
            <a:extLst>
              <a:ext uri="{FF2B5EF4-FFF2-40B4-BE49-F238E27FC236}">
                <a16:creationId xmlns:a16="http://schemas.microsoft.com/office/drawing/2014/main" id="{10E11F44-C44A-4DEF-B6AD-3843275A904E}"/>
              </a:ext>
            </a:extLst>
          </p:cNvPr>
          <p:cNvSpPr txBox="1"/>
          <p:nvPr/>
        </p:nvSpPr>
        <p:spPr>
          <a:xfrm>
            <a:off x="3570270" y="6734872"/>
            <a:ext cx="3316702" cy="553998"/>
          </a:xfrm>
          <a:prstGeom prst="rect">
            <a:avLst/>
          </a:prstGeom>
          <a:noFill/>
        </p:spPr>
        <p:txBody>
          <a:bodyPr wrap="square" rtlCol="0">
            <a:spAutoFit/>
          </a:bodyPr>
          <a:lstStyle/>
          <a:p>
            <a:r>
              <a:rPr lang="tr-TR" sz="1000" b="0" dirty="0"/>
              <a:t>A)  3</a:t>
            </a:r>
            <a:r>
              <a:rPr lang="tr-TR" sz="1000" dirty="0"/>
              <a:t>                                           B)  7                                      C) 15</a:t>
            </a:r>
          </a:p>
          <a:p>
            <a:pPr marL="228600" indent="-228600">
              <a:buAutoNum type="alphaUcParenR"/>
            </a:pPr>
            <a:endParaRPr lang="tr-TR" sz="1000" dirty="0"/>
          </a:p>
          <a:p>
            <a:r>
              <a:rPr lang="tr-TR" sz="1000" dirty="0"/>
              <a:t>                          D) 31                                     E) 127</a:t>
            </a:r>
            <a:endParaRPr lang="tr-TR" sz="1000" b="1" dirty="0"/>
          </a:p>
        </p:txBody>
      </p:sp>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96D7F6D3-303E-49D9-8618-844926068B7C}"/>
                  </a:ext>
                </a:extLst>
              </p:cNvPr>
              <p:cNvSpPr txBox="1"/>
              <p:nvPr/>
            </p:nvSpPr>
            <p:spPr>
              <a:xfrm>
                <a:off x="3582723" y="6070429"/>
                <a:ext cx="3389637" cy="721993"/>
              </a:xfrm>
              <a:prstGeom prst="rect">
                <a:avLst/>
              </a:prstGeom>
              <a:noFill/>
            </p:spPr>
            <p:txBody>
              <a:bodyPr wrap="square" rtlCol="0">
                <a:spAutoFit/>
              </a:bodyPr>
              <a:lstStyle/>
              <a:p>
                <a:r>
                  <a:rPr lang="tr-TR" sz="1000" noProof="1"/>
                  <a:t>n pozitif bir doğal sayı olmak üzere, </a:t>
                </a:r>
                <a14:m>
                  <m:oMath xmlns:m="http://schemas.openxmlformats.org/officeDocument/2006/math">
                    <m:sSup>
                      <m:sSupPr>
                        <m:ctrlPr>
                          <a:rPr lang="tr-TR" sz="1000" i="1" noProof="1" dirty="0" smtClean="0">
                            <a:solidFill>
                              <a:schemeClr val="tx1"/>
                            </a:solidFill>
                            <a:latin typeface="Cambria Math" panose="02040503050406030204" pitchFamily="18" charset="0"/>
                          </a:rPr>
                        </m:ctrlPr>
                      </m:sSupPr>
                      <m:e>
                        <m:r>
                          <a:rPr lang="tr-TR" sz="1000" i="0" noProof="1" dirty="0" smtClean="0">
                            <a:solidFill>
                              <a:schemeClr val="tx1"/>
                            </a:solidFill>
                            <a:latin typeface="Cambria Math" panose="02040503050406030204" pitchFamily="18" charset="0"/>
                          </a:rPr>
                          <m:t>2</m:t>
                        </m:r>
                      </m:e>
                      <m:sup>
                        <m:r>
                          <m:rPr>
                            <m:sty m:val="p"/>
                          </m:rPr>
                          <a:rPr lang="tr-TR" sz="1000" b="0" i="0" noProof="1" dirty="0" smtClean="0">
                            <a:solidFill>
                              <a:schemeClr val="tx1"/>
                            </a:solidFill>
                            <a:latin typeface="Cambria Math" panose="02040503050406030204" pitchFamily="18" charset="0"/>
                          </a:rPr>
                          <m:t>n</m:t>
                        </m:r>
                      </m:sup>
                    </m:sSup>
                  </m:oMath>
                </a14:m>
                <a:r>
                  <a:rPr lang="tr-TR" sz="1000" noProof="1">
                    <a:effectLst/>
                  </a:rPr>
                  <a:t> - 1 şeklinde </a:t>
                </a:r>
              </a:p>
              <a:p>
                <a:r>
                  <a:rPr lang="tr-TR" sz="1000" noProof="1">
                    <a:effectLst/>
                  </a:rPr>
                  <a:t>yazılabilen asal sayılara </a:t>
                </a:r>
                <a:r>
                  <a:rPr lang="tr-TR" sz="1000" b="0" i="0" noProof="1">
                    <a:effectLst/>
                  </a:rPr>
                  <a:t>Mersenne asalları denir.</a:t>
                </a:r>
                <a:endParaRPr lang="tr-TR" sz="1000" noProof="1">
                  <a:effectLst/>
                </a:endParaRPr>
              </a:p>
              <a:p>
                <a:endParaRPr lang="tr-TR" sz="1000" noProof="1"/>
              </a:p>
              <a:p>
                <a:r>
                  <a:rPr lang="tr-TR" sz="1000" b="1" noProof="1"/>
                  <a:t>Aşağıdakilerden hangisi Mersenne asalı değildir?</a:t>
                </a:r>
              </a:p>
            </p:txBody>
          </p:sp>
        </mc:Choice>
        <mc:Fallback xmlns="">
          <p:sp>
            <p:nvSpPr>
              <p:cNvPr id="58" name="Metin kutusu 57">
                <a:extLst>
                  <a:ext uri="{FF2B5EF4-FFF2-40B4-BE49-F238E27FC236}">
                    <a16:creationId xmlns:a16="http://schemas.microsoft.com/office/drawing/2014/main" id="{96D7F6D3-303E-49D9-8618-844926068B7C}"/>
                  </a:ext>
                </a:extLst>
              </p:cNvPr>
              <p:cNvSpPr txBox="1">
                <a:spLocks noRot="1" noChangeAspect="1" noMove="1" noResize="1" noEditPoints="1" noAdjustHandles="1" noChangeArrowheads="1" noChangeShapeType="1" noTextEdit="1"/>
              </p:cNvSpPr>
              <p:nvPr/>
            </p:nvSpPr>
            <p:spPr>
              <a:xfrm>
                <a:off x="3582723" y="6070429"/>
                <a:ext cx="3389637" cy="721993"/>
              </a:xfrm>
              <a:prstGeom prst="rect">
                <a:avLst/>
              </a:prstGeom>
              <a:blipFill>
                <a:blip r:embed="rId7"/>
                <a:stretch>
                  <a:fillRect b="-2542"/>
                </a:stretch>
              </a:blipFill>
            </p:spPr>
            <p:txBody>
              <a:bodyPr/>
              <a:lstStyle/>
              <a:p>
                <a:r>
                  <a:rPr lang="tr-TR">
                    <a:noFill/>
                  </a:rPr>
                  <a:t> </a:t>
                </a:r>
              </a:p>
            </p:txBody>
          </p:sp>
        </mc:Fallback>
      </mc:AlternateContent>
      <p:sp>
        <p:nvSpPr>
          <p:cNvPr id="59" name="Metin kutusu 58">
            <a:extLst>
              <a:ext uri="{FF2B5EF4-FFF2-40B4-BE49-F238E27FC236}">
                <a16:creationId xmlns:a16="http://schemas.microsoft.com/office/drawing/2014/main" id="{BFBA21E0-C184-4A66-9479-7412D8F09AA5}"/>
              </a:ext>
            </a:extLst>
          </p:cNvPr>
          <p:cNvSpPr txBox="1"/>
          <p:nvPr/>
        </p:nvSpPr>
        <p:spPr>
          <a:xfrm>
            <a:off x="3355531" y="6048764"/>
            <a:ext cx="39091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63" name="Dikdörtgen 62">
            <a:extLst>
              <a:ext uri="{FF2B5EF4-FFF2-40B4-BE49-F238E27FC236}">
                <a16:creationId xmlns:a16="http://schemas.microsoft.com/office/drawing/2014/main" id="{BA74D92D-1135-46FF-A4DA-D09AB9316ECA}"/>
              </a:ext>
            </a:extLst>
          </p:cNvPr>
          <p:cNvSpPr/>
          <p:nvPr/>
        </p:nvSpPr>
        <p:spPr>
          <a:xfrm>
            <a:off x="53885" y="8821052"/>
            <a:ext cx="1492365" cy="250954"/>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68" name="Dikdörtgen 67">
            <a:extLst>
              <a:ext uri="{FF2B5EF4-FFF2-40B4-BE49-F238E27FC236}">
                <a16:creationId xmlns:a16="http://schemas.microsoft.com/office/drawing/2014/main" id="{73AB4130-7BA8-48C5-8265-5FD20D998628}"/>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69" name="Dikdörtgen 68">
            <a:extLst>
              <a:ext uri="{FF2B5EF4-FFF2-40B4-BE49-F238E27FC236}">
                <a16:creationId xmlns:a16="http://schemas.microsoft.com/office/drawing/2014/main" id="{B4F3A169-F971-4577-A124-B96A143B83B1}"/>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0" name="Dikdörtgen 69">
            <a:extLst>
              <a:ext uri="{FF2B5EF4-FFF2-40B4-BE49-F238E27FC236}">
                <a16:creationId xmlns:a16="http://schemas.microsoft.com/office/drawing/2014/main" id="{47D45EC1-A12B-45BA-AE3D-2B718E778EF7}"/>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1" name="Dikdörtgen 70">
            <a:extLst>
              <a:ext uri="{FF2B5EF4-FFF2-40B4-BE49-F238E27FC236}">
                <a16:creationId xmlns:a16="http://schemas.microsoft.com/office/drawing/2014/main" id="{9A3CBA88-C9ED-4548-AA98-25CC8C6CD560}"/>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2" name="Dikdörtgen 71">
            <a:extLst>
              <a:ext uri="{FF2B5EF4-FFF2-40B4-BE49-F238E27FC236}">
                <a16:creationId xmlns:a16="http://schemas.microsoft.com/office/drawing/2014/main" id="{AC8E9296-2233-43B2-8819-877CB5A688F6}"/>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4" name="Metin kutusu 73">
            <a:extLst>
              <a:ext uri="{FF2B5EF4-FFF2-40B4-BE49-F238E27FC236}">
                <a16:creationId xmlns:a16="http://schemas.microsoft.com/office/drawing/2014/main" id="{EC3D6C57-95D3-4F1F-AD3D-FD6C2E5A7B68}"/>
              </a:ext>
            </a:extLst>
          </p:cNvPr>
          <p:cNvSpPr txBox="1"/>
          <p:nvPr/>
        </p:nvSpPr>
        <p:spPr>
          <a:xfrm>
            <a:off x="2233" y="8830360"/>
            <a:ext cx="1700808"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6.A    7.D    8.C    9.B   10.C</a:t>
            </a:r>
          </a:p>
        </p:txBody>
      </p:sp>
    </p:spTree>
    <p:extLst>
      <p:ext uri="{BB962C8B-B14F-4D97-AF65-F5344CB8AC3E}">
        <p14:creationId xmlns:p14="http://schemas.microsoft.com/office/powerpoint/2010/main" val="6359184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46123" y="1271233"/>
            <a:ext cx="3281681" cy="553998"/>
          </a:xfrm>
          <a:prstGeom prst="rect">
            <a:avLst/>
          </a:prstGeom>
          <a:noFill/>
        </p:spPr>
        <p:txBody>
          <a:bodyPr wrap="square" rtlCol="0">
            <a:spAutoFit/>
          </a:bodyPr>
          <a:lstStyle/>
          <a:p>
            <a:r>
              <a:rPr lang="tr-TR" sz="1000" noProof="1"/>
              <a:t>A) 99                                      B) 95                                        C) 92</a:t>
            </a:r>
          </a:p>
          <a:p>
            <a:pPr marL="228600" indent="-228600">
              <a:buAutoNum type="alphaUcParenR"/>
            </a:pPr>
            <a:endParaRPr lang="tr-TR" sz="1000" noProof="1"/>
          </a:p>
          <a:p>
            <a:r>
              <a:rPr lang="tr-TR" sz="1000" noProof="1"/>
              <a:t>                      D) 84                                        E) 81</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10976" y="205746"/>
            <a:ext cx="1512169" cy="187744"/>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mc:AlternateContent xmlns:mc="http://schemas.openxmlformats.org/markup-compatibility/2006" xmlns:a14="http://schemas.microsoft.com/office/drawing/2010/main">
        <mc:Choice Requires="a14">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861774"/>
              </a:xfrm>
              <a:prstGeom prst="rect">
                <a:avLst/>
              </a:prstGeom>
              <a:noFill/>
            </p:spPr>
            <p:txBody>
              <a:bodyPr wrap="square" rtlCol="0">
                <a:spAutoFit/>
              </a:bodyPr>
              <a:lstStyle/>
              <a:p>
                <a:r>
                  <a:rPr lang="tr-TR" sz="1000" noProof="1">
                    <a:cs typeface="Arial" panose="020B0604020202020204" pitchFamily="34" charset="0"/>
                  </a:rPr>
                  <a:t>Pozitif iki basamaklı bir tam sayının tek asal çarpanı x ise ve bu sayı </a:t>
                </a:r>
                <a14:m>
                  <m:oMath xmlns:m="http://schemas.openxmlformats.org/officeDocument/2006/math">
                    <m:sSup>
                      <m:sSupPr>
                        <m:ctrlPr>
                          <a:rPr lang="tr-TR" sz="1000" i="1" noProof="1" smtClean="0">
                            <a:solidFill>
                              <a:srgbClr val="836967"/>
                            </a:solidFill>
                            <a:latin typeface="Cambria Math" panose="02040503050406030204" pitchFamily="18" charset="0"/>
                          </a:rPr>
                        </m:ctrlPr>
                      </m:sSupPr>
                      <m:e>
                        <m:r>
                          <m:rPr>
                            <m:nor/>
                          </m:rPr>
                          <a:rPr lang="tr-TR" sz="1000" i="0" noProof="1" smtClean="0"/>
                          <m:t>x</m:t>
                        </m:r>
                      </m:e>
                      <m:sup>
                        <m:r>
                          <a:rPr lang="tr-TR" sz="1000" i="0" noProof="1" smtClean="0">
                            <a:latin typeface="Cambria Math" panose="02040503050406030204" pitchFamily="18" charset="0"/>
                          </a:rPr>
                          <m:t>2</m:t>
                        </m:r>
                      </m:sup>
                    </m:sSup>
                  </m:oMath>
                </a14:m>
                <a:r>
                  <a:rPr lang="tr-TR" sz="1000" noProof="1">
                    <a:cs typeface="Arial" panose="020B0604020202020204" pitchFamily="34" charset="0"/>
                  </a:rPr>
                  <a:t> sayısına tam bölünüyorsa bu sayılara Rumi sayıları</a:t>
                </a:r>
              </a:p>
              <a:p>
                <a:r>
                  <a:rPr lang="tr-TR" sz="1000" noProof="1">
                    <a:cs typeface="Arial" panose="020B0604020202020204" pitchFamily="34" charset="0"/>
                  </a:rPr>
                  <a:t>denir.</a:t>
                </a:r>
              </a:p>
              <a:p>
                <a:endParaRPr lang="tr-TR" sz="1000" noProof="1">
                  <a:cs typeface="Arial" panose="020B0604020202020204" pitchFamily="34" charset="0"/>
                </a:endParaRPr>
              </a:p>
              <a:p>
                <a:r>
                  <a:rPr lang="tr-TR" sz="1000" b="1" noProof="1">
                    <a:cs typeface="Arial" panose="020B0604020202020204" pitchFamily="34" charset="0"/>
                  </a:rPr>
                  <a:t>Buna göre, en büyük Rumi sayısı kaçtır? </a:t>
                </a:r>
              </a:p>
            </p:txBody>
          </p:sp>
        </mc:Choice>
        <mc:Fallback xmlns="">
          <p:sp>
            <p:nvSpPr>
              <p:cNvPr id="47" name="Metin kutusu 46">
                <a:extLst>
                  <a:ext uri="{FF2B5EF4-FFF2-40B4-BE49-F238E27FC236}">
                    <a16:creationId xmlns:a16="http://schemas.microsoft.com/office/drawing/2014/main" id="{1085E221-D39F-4F39-B6A3-63F53AB4F2EE}"/>
                  </a:ext>
                </a:extLst>
              </p:cNvPr>
              <p:cNvSpPr txBox="1">
                <a:spLocks noRot="1" noChangeAspect="1" noMove="1" noResize="1" noEditPoints="1" noAdjustHandles="1" noChangeArrowheads="1" noChangeShapeType="1" noTextEdit="1"/>
              </p:cNvSpPr>
              <p:nvPr/>
            </p:nvSpPr>
            <p:spPr>
              <a:xfrm>
                <a:off x="69907" y="481442"/>
                <a:ext cx="3359093" cy="861774"/>
              </a:xfrm>
              <a:prstGeom prst="rect">
                <a:avLst/>
              </a:prstGeom>
              <a:blipFill>
                <a:blip r:embed="rId5"/>
                <a:stretch>
                  <a:fillRect b="-3546"/>
                </a:stretch>
              </a:blipFill>
            </p:spPr>
            <p:txBody>
              <a:bodyPr/>
              <a:lstStyle/>
              <a:p>
                <a:r>
                  <a:rPr lang="tr-TR">
                    <a:noFill/>
                  </a:rPr>
                  <a:t> </a:t>
                </a:r>
              </a:p>
            </p:txBody>
          </p:sp>
        </mc:Fallback>
      </mc:AlternateContent>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1.E    2.B    3.B    4.X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46702" y="4916905"/>
            <a:ext cx="3310536" cy="1015663"/>
          </a:xfrm>
          <a:prstGeom prst="rect">
            <a:avLst/>
          </a:prstGeom>
          <a:solidFill>
            <a:srgbClr val="F3BFEF">
              <a:alpha val="49804"/>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171450" indent="-171450">
              <a:buFont typeface="Wingdings" panose="05000000000000000000" pitchFamily="2" charset="2"/>
              <a:buChar char="§"/>
            </a:pPr>
            <a:r>
              <a:rPr lang="tr-TR" sz="1000" noProof="1">
                <a:solidFill>
                  <a:schemeClr val="tx1"/>
                </a:solidFill>
                <a:cs typeface="Arial" panose="020B0604020202020204" pitchFamily="34" charset="0"/>
              </a:rPr>
              <a:t>Bir sayının asal bölenlerinin çarpımı tekse bu sayılara tekil sayılar denir. </a:t>
            </a:r>
          </a:p>
          <a:p>
            <a:pPr marL="171450" indent="-171450">
              <a:buFont typeface="Wingdings" panose="05000000000000000000" pitchFamily="2" charset="2"/>
              <a:buChar char="§"/>
            </a:pPr>
            <a:r>
              <a:rPr lang="tr-TR" sz="1000" noProof="1">
                <a:solidFill>
                  <a:schemeClr val="tx1"/>
                </a:solidFill>
                <a:cs typeface="Arial" panose="020B0604020202020204" pitchFamily="34" charset="0"/>
              </a:rPr>
              <a:t>Palindromik sayı, iki taraftan okunduğu zaman okunuş yönüyle aynı olan sayılardır. Örnek: 4, 22, 131, 545, 1001</a:t>
            </a:r>
          </a:p>
          <a:p>
            <a:pPr marL="171450" indent="-171450">
              <a:buFont typeface="Wingdings" panose="05000000000000000000" pitchFamily="2" charset="2"/>
              <a:buChar char="§"/>
            </a:pPr>
            <a:r>
              <a:rPr lang="tr-TR" sz="1000" noProof="1">
                <a:solidFill>
                  <a:schemeClr val="tx1"/>
                </a:solidFill>
                <a:cs typeface="Arial" panose="020B0604020202020204" pitchFamily="34" charset="0"/>
              </a:rPr>
              <a:t>Palindromik şartını sağlayan tekil sayılara tekil palindromik sayıları denir.</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86316" y="4704295"/>
            <a:ext cx="3347502" cy="861774"/>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chemeClr val="tx1"/>
                </a:solidFill>
                <a:cs typeface="Arial" panose="020B0604020202020204" pitchFamily="34" charset="0"/>
              </a:rPr>
              <a:t>Palindromik sayı, iki taraftan okunduğu zaman okunuş yönüyle aynı olan sayılardır. Örnek: 4, 22, 131, 545, 1001</a:t>
            </a:r>
          </a:p>
          <a:p>
            <a:pPr marL="171450" indent="-171450">
              <a:buFont typeface="Wingdings" panose="05000000000000000000" pitchFamily="2" charset="2"/>
              <a:buChar char="§"/>
            </a:pPr>
            <a:endParaRPr lang="tr-TR" sz="1000" noProof="1">
              <a:cs typeface="Arial" panose="020B0604020202020204" pitchFamily="34" charset="0"/>
            </a:endParaRPr>
          </a:p>
          <a:p>
            <a:r>
              <a:rPr lang="tr-TR" sz="1000" b="1" noProof="1">
                <a:solidFill>
                  <a:schemeClr val="tx1"/>
                </a:solidFill>
                <a:cs typeface="Arial" panose="020B0604020202020204" pitchFamily="34" charset="0"/>
              </a:rPr>
              <a:t>Buna göre, üç basamaklı palindromik sayı adedi iki basamaklı palindromik sayı adedinden kaç fazladır?</a:t>
            </a:r>
          </a:p>
        </p:txBody>
      </p:sp>
      <p:sp>
        <p:nvSpPr>
          <p:cNvPr id="36" name="Metin kutusu 35">
            <a:extLst>
              <a:ext uri="{FF2B5EF4-FFF2-40B4-BE49-F238E27FC236}">
                <a16:creationId xmlns:a16="http://schemas.microsoft.com/office/drawing/2014/main" id="{4016445C-24F6-49BE-BD0F-3AD9BF06BCCC}"/>
              </a:ext>
            </a:extLst>
          </p:cNvPr>
          <p:cNvSpPr txBox="1"/>
          <p:nvPr/>
        </p:nvSpPr>
        <p:spPr>
          <a:xfrm>
            <a:off x="115639" y="4670684"/>
            <a:ext cx="3278526" cy="246221"/>
          </a:xfrm>
          <a:prstGeom prst="rect">
            <a:avLst/>
          </a:prstGeom>
          <a:noFill/>
        </p:spPr>
        <p:txBody>
          <a:bodyPr wrap="square" rtlCol="0">
            <a:spAutoFit/>
          </a:bodyPr>
          <a:lstStyle/>
          <a:p>
            <a:r>
              <a:rPr lang="tr-TR" sz="1000" noProof="1">
                <a:cs typeface="Arial" panose="020B0604020202020204" pitchFamily="34" charset="0"/>
              </a:rPr>
              <a:t>Aşağıda bazı sayıların tanımları veriliyor.</a:t>
            </a:r>
          </a:p>
        </p:txBody>
      </p:sp>
      <p:sp>
        <p:nvSpPr>
          <p:cNvPr id="37" name="Metin kutusu 36">
            <a:extLst>
              <a:ext uri="{FF2B5EF4-FFF2-40B4-BE49-F238E27FC236}">
                <a16:creationId xmlns:a16="http://schemas.microsoft.com/office/drawing/2014/main" id="{D54BDE8C-02AF-4755-80AB-7364384B4FD8}"/>
              </a:ext>
            </a:extLst>
          </p:cNvPr>
          <p:cNvSpPr txBox="1"/>
          <p:nvPr/>
        </p:nvSpPr>
        <p:spPr>
          <a:xfrm>
            <a:off x="-55966" y="5932568"/>
            <a:ext cx="3616155" cy="400110"/>
          </a:xfrm>
          <a:prstGeom prst="rect">
            <a:avLst/>
          </a:prstGeom>
          <a:noFill/>
        </p:spPr>
        <p:txBody>
          <a:bodyPr wrap="square" rtlCol="0">
            <a:spAutoFit/>
          </a:bodyPr>
          <a:lstStyle/>
          <a:p>
            <a:r>
              <a:rPr lang="tr-TR" sz="1000" b="1" noProof="1">
                <a:cs typeface="Arial" panose="020B0604020202020204" pitchFamily="34" charset="0"/>
              </a:rPr>
              <a:t>Buna göre, en büyük üç basamaklı palindromik sayı ile en </a:t>
            </a:r>
            <a:br>
              <a:rPr lang="tr-TR" sz="1000" b="1" noProof="1">
                <a:cs typeface="Arial" panose="020B0604020202020204" pitchFamily="34" charset="0"/>
              </a:rPr>
            </a:br>
            <a:r>
              <a:rPr lang="tr-TR" sz="1000" b="1" noProof="1">
                <a:cs typeface="Arial" panose="020B0604020202020204" pitchFamily="34" charset="0"/>
              </a:rPr>
              <a:t>küçük üç basamaklı tekil palindromik  sayı arasındaki fark kaçtır?</a:t>
            </a:r>
          </a:p>
        </p:txBody>
      </p:sp>
      <p:sp>
        <p:nvSpPr>
          <p:cNvPr id="38" name="Metin kutusu 37">
            <a:extLst>
              <a:ext uri="{FF2B5EF4-FFF2-40B4-BE49-F238E27FC236}">
                <a16:creationId xmlns:a16="http://schemas.microsoft.com/office/drawing/2014/main" id="{468D2E46-3997-41D3-AACA-44EC19244F87}"/>
              </a:ext>
            </a:extLst>
          </p:cNvPr>
          <p:cNvSpPr txBox="1"/>
          <p:nvPr/>
        </p:nvSpPr>
        <p:spPr>
          <a:xfrm>
            <a:off x="61129" y="6301900"/>
            <a:ext cx="3355045" cy="553998"/>
          </a:xfrm>
          <a:prstGeom prst="rect">
            <a:avLst/>
          </a:prstGeom>
          <a:noFill/>
        </p:spPr>
        <p:txBody>
          <a:bodyPr wrap="square" rtlCol="0">
            <a:spAutoFit/>
          </a:bodyPr>
          <a:lstStyle/>
          <a:p>
            <a:r>
              <a:rPr lang="tr-TR" sz="1000" noProof="1"/>
              <a:t>A) 897                                      B) 898                                      C) 899</a:t>
            </a:r>
          </a:p>
          <a:p>
            <a:pPr marL="228600" indent="-228600">
              <a:buAutoNum type="alphaUcParenR"/>
            </a:pPr>
            <a:endParaRPr lang="tr-TR" sz="1000" noProof="1"/>
          </a:p>
          <a:p>
            <a:r>
              <a:rPr lang="tr-TR" sz="1000" noProof="1"/>
              <a:t>                      D) 808                                        E) 81</a:t>
            </a:r>
          </a:p>
        </p:txBody>
      </p:sp>
      <p:sp>
        <p:nvSpPr>
          <p:cNvPr id="39" name="Metin kutusu 38">
            <a:extLst>
              <a:ext uri="{FF2B5EF4-FFF2-40B4-BE49-F238E27FC236}">
                <a16:creationId xmlns:a16="http://schemas.microsoft.com/office/drawing/2014/main" id="{772F2FB2-A806-4F7B-9399-12035864C00F}"/>
              </a:ext>
            </a:extLst>
          </p:cNvPr>
          <p:cNvSpPr txBox="1"/>
          <p:nvPr/>
        </p:nvSpPr>
        <p:spPr>
          <a:xfrm>
            <a:off x="3487515" y="474844"/>
            <a:ext cx="3359093" cy="553998"/>
          </a:xfrm>
          <a:prstGeom prst="rect">
            <a:avLst/>
          </a:prstGeom>
          <a:noFill/>
        </p:spPr>
        <p:txBody>
          <a:bodyPr wrap="square" rtlCol="0">
            <a:spAutoFit/>
          </a:bodyPr>
          <a:lstStyle/>
          <a:p>
            <a:r>
              <a:rPr lang="tr-TR" sz="1000" noProof="1">
                <a:cs typeface="Arial" panose="020B0604020202020204" pitchFamily="34" charset="0"/>
              </a:rPr>
              <a:t>Bir pozitif doğal sayının rakamları birer kez kullanılarak temel dört işlem ve üs alma işlemleriyle sayının kendisi elde edilebiliyorsa bu sayıya </a:t>
            </a:r>
            <a:r>
              <a:rPr lang="tr-TR" sz="1000" i="0" noProof="1">
                <a:effectLst/>
              </a:rPr>
              <a:t>“</a:t>
            </a:r>
            <a:r>
              <a:rPr lang="tr-TR" sz="1000" b="1" noProof="1">
                <a:cs typeface="Arial" panose="020B0604020202020204" pitchFamily="34" charset="0"/>
              </a:rPr>
              <a:t>Friedman</a:t>
            </a:r>
            <a:r>
              <a:rPr lang="tr-TR" sz="1000" i="0" noProof="1">
                <a:effectLst/>
              </a:rPr>
              <a:t>” </a:t>
            </a:r>
            <a:r>
              <a:rPr lang="tr-TR" sz="1000" noProof="1">
                <a:cs typeface="Arial" panose="020B0604020202020204" pitchFamily="34" charset="0"/>
              </a:rPr>
              <a:t>sayısı denir.</a:t>
            </a:r>
            <a:endParaRPr lang="tr-TR" sz="10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46" name="Metin kutusu 45">
                <a:extLst>
                  <a:ext uri="{FF2B5EF4-FFF2-40B4-BE49-F238E27FC236}">
                    <a16:creationId xmlns:a16="http://schemas.microsoft.com/office/drawing/2014/main" id="{0880E65D-D0F1-40EC-A783-10632188CA08}"/>
                  </a:ext>
                </a:extLst>
              </p:cNvPr>
              <p:cNvSpPr txBox="1"/>
              <p:nvPr/>
            </p:nvSpPr>
            <p:spPr>
              <a:xfrm>
                <a:off x="3549152" y="1011885"/>
                <a:ext cx="3262725" cy="707886"/>
              </a:xfrm>
              <a:prstGeom prst="rect">
                <a:avLst/>
              </a:prstGeom>
              <a:solidFill>
                <a:schemeClr val="accent4">
                  <a:lumMod val="40000"/>
                  <a:lumOff val="60000"/>
                </a:schemeClr>
              </a:solidFill>
              <a:effectLst>
                <a:outerShdw blurRad="40000" dist="20000" dir="5400000" rotWithShape="0">
                  <a:srgbClr val="000000">
                    <a:alpha val="38000"/>
                  </a:srgbClr>
                </a:outerShdw>
                <a:softEdge rad="12700"/>
              </a:effectLst>
            </p:spPr>
            <p:style>
              <a:lnRef idx="1">
                <a:schemeClr val="dk1"/>
              </a:lnRef>
              <a:fillRef idx="2">
                <a:schemeClr val="dk1"/>
              </a:fillRef>
              <a:effectRef idx="1">
                <a:schemeClr val="dk1"/>
              </a:effectRef>
              <a:fontRef idx="minor">
                <a:schemeClr val="dk1"/>
              </a:fontRef>
            </p:style>
            <p:txBody>
              <a:bodyPr wrap="square" rtlCol="0">
                <a:spAutoFit/>
              </a:bodyPr>
              <a:lstStyle/>
              <a:p>
                <a:r>
                  <a:rPr lang="tr-TR" sz="1000" noProof="1">
                    <a:solidFill>
                      <a:schemeClr val="tx1"/>
                    </a:solidFill>
                  </a:rPr>
                  <a:t>Örneğin ;</a:t>
                </a:r>
              </a:p>
              <a:p>
                <a:endParaRPr lang="tr-TR" sz="1000" noProof="1">
                  <a:solidFill>
                    <a:schemeClr val="tx1"/>
                  </a:solidFill>
                </a:endParaRPr>
              </a:p>
              <a:p>
                <a:r>
                  <a:rPr lang="tr-TR" sz="1000" noProof="1">
                    <a:solidFill>
                      <a:schemeClr val="tx1"/>
                    </a:solidFill>
                  </a:rPr>
                  <a:t>126 = 6</a:t>
                </a:r>
                <a14:m>
                  <m:oMath xmlns:m="http://schemas.openxmlformats.org/officeDocument/2006/math">
                    <m:r>
                      <a:rPr lang="tr-TR" sz="1000" i="1" noProof="1" smtClean="0">
                        <a:solidFill>
                          <a:schemeClr val="tx1"/>
                        </a:solidFill>
                        <a:latin typeface="Cambria Math" panose="02040503050406030204" pitchFamily="18" charset="0"/>
                        <a:ea typeface="Cambria Math" panose="02040503050406030204" pitchFamily="18" charset="0"/>
                      </a:rPr>
                      <m:t>∙</m:t>
                    </m:r>
                  </m:oMath>
                </a14:m>
                <a:r>
                  <a:rPr lang="tr-TR" sz="1000" noProof="1">
                    <a:solidFill>
                      <a:schemeClr val="tx1"/>
                    </a:solidFill>
                  </a:rPr>
                  <a:t>21</a:t>
                </a:r>
                <a:br>
                  <a:rPr lang="tr-TR" sz="1000" noProof="1">
                    <a:solidFill>
                      <a:schemeClr val="tx1"/>
                    </a:solidFill>
                  </a:rPr>
                </a:br>
                <a:r>
                  <a:rPr lang="tr-TR" sz="1000" noProof="1">
                    <a:solidFill>
                      <a:schemeClr val="tx1"/>
                    </a:solidFill>
                  </a:rPr>
                  <a:t>343 = </a:t>
                </a:r>
                <a14:m>
                  <m:oMath xmlns:m="http://schemas.openxmlformats.org/officeDocument/2006/math">
                    <m:sSup>
                      <m:sSupPr>
                        <m:ctrlPr>
                          <a:rPr lang="tr-TR" sz="1000" i="1" noProof="1" smtClean="0">
                            <a:solidFill>
                              <a:srgbClr val="836967"/>
                            </a:solidFill>
                            <a:latin typeface="Cambria Math" panose="02040503050406030204" pitchFamily="18" charset="0"/>
                          </a:rPr>
                        </m:ctrlPr>
                      </m:sSupPr>
                      <m:e>
                        <m:r>
                          <m:rPr>
                            <m:nor/>
                          </m:rPr>
                          <a:rPr lang="tr-TR" sz="1000" noProof="1">
                            <a:solidFill>
                              <a:schemeClr val="tx1"/>
                            </a:solidFill>
                          </a:rPr>
                          <m:t>(3+4)</m:t>
                        </m:r>
                      </m:e>
                      <m:sup>
                        <m:r>
                          <a:rPr lang="tr-TR" sz="1000" b="0" i="0" noProof="1" smtClean="0">
                            <a:latin typeface="Cambria Math" panose="02040503050406030204" pitchFamily="18" charset="0"/>
                          </a:rPr>
                          <m:t>3</m:t>
                        </m:r>
                      </m:sup>
                    </m:sSup>
                  </m:oMath>
                </a14:m>
                <a:endParaRPr lang="tr-TR" sz="1000" noProof="1">
                  <a:solidFill>
                    <a:schemeClr val="tx1"/>
                  </a:solidFill>
                </a:endParaRPr>
              </a:p>
            </p:txBody>
          </p:sp>
        </mc:Choice>
        <mc:Fallback xmlns="">
          <p:sp>
            <p:nvSpPr>
              <p:cNvPr id="46" name="Metin kutusu 45">
                <a:extLst>
                  <a:ext uri="{FF2B5EF4-FFF2-40B4-BE49-F238E27FC236}">
                    <a16:creationId xmlns:a16="http://schemas.microsoft.com/office/drawing/2014/main" id="{0880E65D-D0F1-40EC-A783-10632188CA08}"/>
                  </a:ext>
                </a:extLst>
              </p:cNvPr>
              <p:cNvSpPr txBox="1">
                <a:spLocks noRot="1" noChangeAspect="1" noMove="1" noResize="1" noEditPoints="1" noAdjustHandles="1" noChangeArrowheads="1" noChangeShapeType="1" noTextEdit="1"/>
              </p:cNvSpPr>
              <p:nvPr/>
            </p:nvSpPr>
            <p:spPr>
              <a:xfrm>
                <a:off x="3549152" y="1011885"/>
                <a:ext cx="3262725" cy="707886"/>
              </a:xfrm>
              <a:prstGeom prst="rect">
                <a:avLst/>
              </a:prstGeom>
              <a:blipFill>
                <a:blip r:embed="rId6"/>
                <a:stretch>
                  <a:fillRect/>
                </a:stretch>
              </a:blipFill>
              <a:effectLst>
                <a:outerShdw blurRad="40000" dist="20000" dir="5400000" rotWithShape="0">
                  <a:srgbClr val="000000">
                    <a:alpha val="38000"/>
                  </a:srgbClr>
                </a:outerShdw>
                <a:softEdge rad="12700"/>
              </a:effectLst>
            </p:spPr>
            <p:txBody>
              <a:bodyPr/>
              <a:lstStyle/>
              <a:p>
                <a:r>
                  <a:rPr lang="tr-TR">
                    <a:noFill/>
                  </a:rPr>
                  <a:t> </a:t>
                </a:r>
              </a:p>
            </p:txBody>
          </p:sp>
        </mc:Fallback>
      </mc:AlternateContent>
      <p:sp>
        <p:nvSpPr>
          <p:cNvPr id="48" name="Metin kutusu 47">
            <a:extLst>
              <a:ext uri="{FF2B5EF4-FFF2-40B4-BE49-F238E27FC236}">
                <a16:creationId xmlns:a16="http://schemas.microsoft.com/office/drawing/2014/main" id="{65359D88-8372-4350-AC4E-E6AC906CE524}"/>
              </a:ext>
            </a:extLst>
          </p:cNvPr>
          <p:cNvSpPr txBox="1"/>
          <p:nvPr/>
        </p:nvSpPr>
        <p:spPr>
          <a:xfrm>
            <a:off x="3509674" y="1735753"/>
            <a:ext cx="3359093" cy="1169551"/>
          </a:xfrm>
          <a:prstGeom prst="rect">
            <a:avLst/>
          </a:prstGeom>
          <a:noFill/>
        </p:spPr>
        <p:txBody>
          <a:bodyPr wrap="square" rtlCol="0">
            <a:spAutoFit/>
          </a:bodyPr>
          <a:lstStyle/>
          <a:p>
            <a:r>
              <a:rPr lang="tr-TR" sz="1000" b="1" noProof="1">
                <a:cs typeface="Arial" panose="020B0604020202020204" pitchFamily="34" charset="0"/>
              </a:rPr>
              <a:t>Buna</a:t>
            </a:r>
            <a:r>
              <a:rPr lang="tr-TR" sz="1000" noProof="1">
                <a:cs typeface="Arial" panose="020B0604020202020204" pitchFamily="34" charset="0"/>
              </a:rPr>
              <a:t> </a:t>
            </a:r>
            <a:r>
              <a:rPr lang="tr-TR" sz="1000" b="1" noProof="1">
                <a:cs typeface="Arial" panose="020B0604020202020204" pitchFamily="34" charset="0"/>
              </a:rPr>
              <a:t>göre; </a:t>
            </a:r>
          </a:p>
          <a:p>
            <a:endParaRPr lang="tr-TR" sz="1000" b="1" noProof="1">
              <a:cs typeface="Arial" panose="020B0604020202020204" pitchFamily="34" charset="0"/>
            </a:endParaRPr>
          </a:p>
          <a:p>
            <a:r>
              <a:rPr lang="tr-TR" sz="1000" noProof="1">
                <a:cs typeface="Arial" panose="020B0604020202020204" pitchFamily="34" charset="0"/>
              </a:rPr>
              <a:t>I. 127</a:t>
            </a:r>
          </a:p>
          <a:p>
            <a:r>
              <a:rPr lang="tr-TR" sz="1000" noProof="1">
                <a:cs typeface="Arial" panose="020B0604020202020204" pitchFamily="34" charset="0"/>
              </a:rPr>
              <a:t>II. 314</a:t>
            </a:r>
          </a:p>
          <a:p>
            <a:r>
              <a:rPr lang="tr-TR" sz="1000" noProof="1">
                <a:cs typeface="Arial" panose="020B0604020202020204" pitchFamily="34" charset="0"/>
              </a:rPr>
              <a:t>III. 216</a:t>
            </a:r>
          </a:p>
          <a:p>
            <a:endParaRPr lang="tr-TR" sz="1000" b="1" noProof="1">
              <a:cs typeface="Arial" panose="020B0604020202020204" pitchFamily="34" charset="0"/>
            </a:endParaRPr>
          </a:p>
          <a:p>
            <a:r>
              <a:rPr lang="tr-TR" sz="1000" b="1" noProof="1">
                <a:cs typeface="Arial" panose="020B0604020202020204" pitchFamily="34" charset="0"/>
              </a:rPr>
              <a:t>sayılarından hangileri Friedman sayısıdır? </a:t>
            </a:r>
          </a:p>
        </p:txBody>
      </p:sp>
      <p:sp>
        <p:nvSpPr>
          <p:cNvPr id="53" name="Dikdörtgen 52">
            <a:extLst>
              <a:ext uri="{FF2B5EF4-FFF2-40B4-BE49-F238E27FC236}">
                <a16:creationId xmlns:a16="http://schemas.microsoft.com/office/drawing/2014/main" id="{0763B4E6-2270-4299-B4D8-93179AFCF038}"/>
              </a:ext>
            </a:extLst>
          </p:cNvPr>
          <p:cNvSpPr/>
          <p:nvPr/>
        </p:nvSpPr>
        <p:spPr>
          <a:xfrm>
            <a:off x="3499103" y="2832572"/>
            <a:ext cx="3347503"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I ve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Yalnız III</a:t>
            </a:r>
          </a:p>
        </p:txBody>
      </p:sp>
      <p:sp>
        <p:nvSpPr>
          <p:cNvPr id="55" name="Metin kutusu 54">
            <a:extLst>
              <a:ext uri="{FF2B5EF4-FFF2-40B4-BE49-F238E27FC236}">
                <a16:creationId xmlns:a16="http://schemas.microsoft.com/office/drawing/2014/main" id="{489911E9-D125-450F-95BF-67510C835CA4}"/>
              </a:ext>
            </a:extLst>
          </p:cNvPr>
          <p:cNvSpPr txBox="1"/>
          <p:nvPr/>
        </p:nvSpPr>
        <p:spPr>
          <a:xfrm>
            <a:off x="3590216" y="5508104"/>
            <a:ext cx="3355045" cy="553998"/>
          </a:xfrm>
          <a:prstGeom prst="rect">
            <a:avLst/>
          </a:prstGeom>
          <a:noFill/>
        </p:spPr>
        <p:txBody>
          <a:bodyPr wrap="square" rtlCol="0">
            <a:spAutoFit/>
          </a:bodyPr>
          <a:lstStyle/>
          <a:p>
            <a:r>
              <a:rPr lang="tr-TR" sz="1000" noProof="1"/>
              <a:t>A) 99                                         B) 90                                      C) 81</a:t>
            </a:r>
          </a:p>
          <a:p>
            <a:pPr marL="228600" indent="-228600">
              <a:buAutoNum type="alphaUcParenR"/>
            </a:pPr>
            <a:endParaRPr lang="tr-TR" sz="1000" noProof="1"/>
          </a:p>
          <a:p>
            <a:r>
              <a:rPr lang="tr-TR" sz="1000" noProof="1"/>
              <a:t>                      D) 129                                        E) 71</a:t>
            </a:r>
          </a:p>
        </p:txBody>
      </p:sp>
    </p:spTree>
    <p:extLst>
      <p:ext uri="{BB962C8B-B14F-4D97-AF65-F5344CB8AC3E}">
        <p14:creationId xmlns:p14="http://schemas.microsoft.com/office/powerpoint/2010/main" val="24544216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6781" y="5555902"/>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707886"/>
          </a:xfrm>
          <a:prstGeom prst="rect">
            <a:avLst/>
          </a:prstGeom>
          <a:noFill/>
        </p:spPr>
        <p:txBody>
          <a:bodyPr wrap="square" rtlCol="0">
            <a:spAutoFit/>
          </a:bodyPr>
          <a:lstStyle/>
          <a:p>
            <a:r>
              <a:rPr lang="tr-TR" sz="1000" noProof="1">
                <a:cs typeface="Arial" panose="020B0604020202020204" pitchFamily="34" charset="0"/>
              </a:rPr>
              <a:t>Bir sayısal veri grubunun aritmetik ortalamasını, yeni </a:t>
            </a:r>
            <a:r>
              <a:rPr lang="tr-TR" sz="1000" u="sng" noProof="1">
                <a:cs typeface="Arial" panose="020B0604020202020204" pitchFamily="34" charset="0"/>
              </a:rPr>
              <a:t>bir adet </a:t>
            </a:r>
            <a:r>
              <a:rPr lang="tr-TR" sz="1000" noProof="1">
                <a:cs typeface="Arial" panose="020B0604020202020204" pitchFamily="34" charset="0"/>
              </a:rPr>
              <a:t>sayısal veri ilave edildiğinde o veri aritmetik ortalamayı değiştirmiyorsa bu sayısal veriye </a:t>
            </a:r>
            <a:r>
              <a:rPr lang="tr-TR" sz="1000" b="1" noProof="1">
                <a:cs typeface="Arial" panose="020B0604020202020204" pitchFamily="34" charset="0"/>
              </a:rPr>
              <a:t>Adapte veri </a:t>
            </a:r>
            <a:r>
              <a:rPr lang="tr-TR" sz="1000" noProof="1">
                <a:cs typeface="Arial" panose="020B0604020202020204" pitchFamily="34" charset="0"/>
              </a:rPr>
              <a:t>denir. Aşağıda A,B,C veri gruplarının aritmetik ortalaması verilmiştir.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5024" y="4686262"/>
            <a:ext cx="3442449" cy="1169551"/>
          </a:xfrm>
          <a:prstGeom prst="rect">
            <a:avLst/>
          </a:prstGeom>
          <a:noFill/>
        </p:spPr>
        <p:txBody>
          <a:bodyPr wrap="square" rtlCol="0">
            <a:spAutoFit/>
          </a:bodyPr>
          <a:lstStyle/>
          <a:p>
            <a:r>
              <a:rPr lang="tr-TR" sz="1000" b="1" i="0" noProof="1">
                <a:effectLst/>
                <a:latin typeface="Calibri "/>
              </a:rPr>
              <a:t>Eratosthenes Kalburu </a:t>
            </a:r>
            <a:r>
              <a:rPr lang="tr-TR" sz="1000" b="0" i="0" noProof="1">
                <a:effectLst/>
                <a:latin typeface="Calibri "/>
              </a:rPr>
              <a:t>: Bir sayının asal olup olmadığını anlamak için yapılan bir testtir. Bu testte bir sayının asal olup olmadığını anlamak için o sayının karekökünden küçük veya </a:t>
            </a:r>
            <a:br>
              <a:rPr lang="tr-TR" sz="1000" b="0" i="0" noProof="1">
                <a:effectLst/>
                <a:latin typeface="Calibri "/>
              </a:rPr>
            </a:br>
            <a:r>
              <a:rPr lang="tr-TR" sz="1000" b="0" i="0" noProof="1">
                <a:effectLst/>
                <a:latin typeface="Calibri "/>
              </a:rPr>
              <a:t>eşit sayılara bölünüyorsa o sayı asal değildir.</a:t>
            </a:r>
          </a:p>
          <a:p>
            <a:endParaRPr lang="tr-TR" sz="1000" noProof="1">
              <a:latin typeface="Calibri "/>
              <a:cs typeface="Arial" panose="020B0604020202020204" pitchFamily="34" charset="0"/>
            </a:endParaRPr>
          </a:p>
          <a:p>
            <a:r>
              <a:rPr lang="tr-TR" sz="1000" b="1" i="0" noProof="1">
                <a:effectLst/>
                <a:latin typeface="Calibri "/>
              </a:rPr>
              <a:t>Eratosthenes Kalburu testine göre bu soruyu cevaplandırınız.</a:t>
            </a:r>
          </a:p>
          <a:p>
            <a:r>
              <a:rPr lang="tr-TR" sz="1000" b="1" noProof="1">
                <a:latin typeface="Calibri "/>
              </a:rPr>
              <a:t>Aşağıdaki sayılardan hangisi asal değildir?</a:t>
            </a:r>
            <a:r>
              <a:rPr lang="tr-TR" sz="1000" b="1" i="0" noProof="1">
                <a:effectLst/>
                <a:latin typeface="Calibri "/>
              </a:rPr>
              <a:t> </a:t>
            </a:r>
            <a:endParaRPr lang="tr-TR" sz="1000" b="1" noProof="1">
              <a:cs typeface="Arial" panose="020B0604020202020204" pitchFamily="34" charset="0"/>
            </a:endParaRP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5.C    6.D    7.A    8.C</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103488" y="5582772"/>
            <a:ext cx="3359093" cy="1015663"/>
          </a:xfrm>
          <a:prstGeom prst="rect">
            <a:avLst/>
          </a:prstGeom>
          <a:noFill/>
        </p:spPr>
        <p:txBody>
          <a:bodyPr wrap="square" rtlCol="0">
            <a:spAutoFit/>
          </a:bodyPr>
          <a:lstStyle/>
          <a:p>
            <a:r>
              <a:rPr lang="tr-TR" sz="1000" noProof="1">
                <a:cs typeface="Arial" panose="020B0604020202020204" pitchFamily="34" charset="0"/>
              </a:rPr>
              <a:t>T</a:t>
            </a:r>
            <a:r>
              <a:rPr lang="da-DK" sz="1000" noProof="1">
                <a:cs typeface="Arial" panose="020B0604020202020204" pitchFamily="34" charset="0"/>
              </a:rPr>
              <a:t>ersten yazımı da asal olan asal sayılar</a:t>
            </a:r>
            <a:r>
              <a:rPr lang="tr-TR" sz="1000" noProof="1">
                <a:cs typeface="Arial" panose="020B0604020202020204" pitchFamily="34" charset="0"/>
              </a:rPr>
              <a:t>a </a:t>
            </a:r>
            <a:r>
              <a:rPr lang="tr-TR" sz="1000" b="1" noProof="1">
                <a:cs typeface="Arial" panose="020B0604020202020204" pitchFamily="34" charset="0"/>
              </a:rPr>
              <a:t>Lasa</a:t>
            </a:r>
            <a:r>
              <a:rPr lang="tr-TR" sz="1000" noProof="1">
                <a:cs typeface="Arial" panose="020B0604020202020204" pitchFamily="34" charset="0"/>
              </a:rPr>
              <a:t> sayıları denir.</a:t>
            </a:r>
          </a:p>
          <a:p>
            <a:endParaRPr lang="tr-TR" sz="1000" noProof="1">
              <a:cs typeface="Arial" panose="020B0604020202020204" pitchFamily="34" charset="0"/>
            </a:endParaRPr>
          </a:p>
          <a:p>
            <a:r>
              <a:rPr lang="tr-TR" sz="1000" noProof="1">
                <a:cs typeface="Arial" panose="020B0604020202020204" pitchFamily="34" charset="0"/>
              </a:rPr>
              <a:t>Örneğin : 107, 113, 149</a:t>
            </a:r>
          </a:p>
          <a:p>
            <a:endParaRPr lang="tr-TR" sz="1000" noProof="1">
              <a:cs typeface="Arial" panose="020B0604020202020204" pitchFamily="34" charset="0"/>
            </a:endParaRPr>
          </a:p>
          <a:p>
            <a:r>
              <a:rPr lang="tr-TR" sz="1000" b="1" noProof="1">
                <a:cs typeface="Arial" panose="020B0604020202020204" pitchFamily="34" charset="0"/>
              </a:rPr>
              <a:t>Buna göre, iki basamaklı Lasa sayılarının çoğunun onlar basamağı hangi rakamdan oluşur?</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39267" y="501502"/>
            <a:ext cx="3290263" cy="2862322"/>
          </a:xfrm>
          <a:prstGeom prst="rect">
            <a:avLst/>
          </a:prstGeom>
          <a:noFill/>
        </p:spPr>
        <p:txBody>
          <a:bodyPr wrap="square" rtlCol="0">
            <a:spAutoFit/>
          </a:bodyPr>
          <a:lstStyle/>
          <a:p>
            <a:pPr marL="171450" indent="-171450">
              <a:buFont typeface="Wingdings" panose="05000000000000000000" pitchFamily="2" charset="2"/>
              <a:buChar char="§"/>
            </a:pPr>
            <a:r>
              <a:rPr lang="tr-TR" sz="1000" noProof="1">
                <a:solidFill>
                  <a:schemeClr val="tx1"/>
                </a:solidFill>
                <a:cs typeface="Arial" panose="020B0604020202020204" pitchFamily="34" charset="0"/>
              </a:rPr>
              <a:t>Palindromik sayı, iki taraftan okunduğu zaman okunuş yönüyle aynı olan sayılardır. Örnek: 5, 33, 131, 626, 1221</a:t>
            </a:r>
          </a:p>
          <a:p>
            <a:pPr marL="171450" indent="-171450">
              <a:buFont typeface="Wingdings" panose="05000000000000000000" pitchFamily="2" charset="2"/>
              <a:buChar char="§"/>
            </a:pPr>
            <a:r>
              <a:rPr lang="tr-TR" sz="1000" noProof="1">
                <a:cs typeface="Arial" panose="020B0604020202020204" pitchFamily="34" charset="0"/>
              </a:rPr>
              <a:t>Asal sayı olan palindromik sayılara asal palindromik; herhangi bir gerçel sayının karesi olan sayılarak karesel palindromik, herhangi bir gerçel sayının küpü olan palindromik sayılara küpsel palindromik sayılar denir.</a:t>
            </a:r>
          </a:p>
          <a:p>
            <a:pPr marL="171450" indent="-171450">
              <a:buFont typeface="Wingdings" panose="05000000000000000000" pitchFamily="2" charset="2"/>
              <a:buChar char="§"/>
            </a:pPr>
            <a:endParaRPr lang="tr-TR" sz="1000" noProof="1">
              <a:solidFill>
                <a:schemeClr val="tx1"/>
              </a:solidFill>
              <a:cs typeface="Arial" panose="020B0604020202020204" pitchFamily="34" charset="0"/>
            </a:endParaRPr>
          </a:p>
          <a:p>
            <a:r>
              <a:rPr lang="tr-TR" sz="1000" b="1" noProof="1">
                <a:cs typeface="Arial" panose="020B0604020202020204" pitchFamily="34" charset="0"/>
              </a:rPr>
              <a:t>Buna göre,</a:t>
            </a:r>
          </a:p>
          <a:p>
            <a:endParaRPr lang="tr-TR" sz="1000" b="1" noProof="1">
              <a:solidFill>
                <a:schemeClr val="tx1"/>
              </a:solidFill>
              <a:cs typeface="Arial" panose="020B0604020202020204" pitchFamily="34" charset="0"/>
            </a:endParaRPr>
          </a:p>
          <a:p>
            <a:r>
              <a:rPr lang="tr-TR" sz="1000" noProof="1">
                <a:cs typeface="Arial" panose="020B0604020202020204" pitchFamily="34" charset="0"/>
              </a:rPr>
              <a:t>I. İki basamaklı karesel palindromik sayı yoktur.</a:t>
            </a:r>
          </a:p>
          <a:p>
            <a:r>
              <a:rPr lang="tr-TR" sz="1000" noProof="1">
                <a:solidFill>
                  <a:schemeClr val="tx1"/>
                </a:solidFill>
                <a:cs typeface="Arial" panose="020B0604020202020204" pitchFamily="34" charset="0"/>
              </a:rPr>
              <a:t>II. En küçük </a:t>
            </a:r>
            <a:r>
              <a:rPr lang="tr-TR" sz="1000" noProof="1">
                <a:cs typeface="Arial" panose="020B0604020202020204" pitchFamily="34" charset="0"/>
              </a:rPr>
              <a:t>4 küpsel palindromik sayının toplamı a, en küçük 4 karesel palindromik sayının toplamı b ise a-b = 338 dir.</a:t>
            </a:r>
          </a:p>
          <a:p>
            <a:r>
              <a:rPr lang="tr-TR" sz="1000" noProof="1">
                <a:solidFill>
                  <a:schemeClr val="tx1"/>
                </a:solidFill>
                <a:cs typeface="Arial" panose="020B0604020202020204" pitchFamily="34" charset="0"/>
              </a:rPr>
              <a:t>III. İki basamaklı ; onlar basamağı 2 olan sadece bir sayının karesi, karesel palindromik sayıdır.</a:t>
            </a:r>
          </a:p>
          <a:p>
            <a:r>
              <a:rPr lang="tr-TR" sz="1000" noProof="1">
                <a:cs typeface="Arial" panose="020B0604020202020204" pitchFamily="34" charset="0"/>
              </a:rPr>
              <a:t>IV. Asal palindromik sayılar küpsel veya karesel palindromik sayılar da olabilirler.</a:t>
            </a:r>
            <a:endParaRPr lang="tr-TR" sz="1000" noProof="1">
              <a:solidFill>
                <a:schemeClr val="tx1"/>
              </a:solidFill>
              <a:cs typeface="Arial" panose="020B0604020202020204" pitchFamily="34" charset="0"/>
            </a:endParaRPr>
          </a:p>
          <a:p>
            <a:endParaRPr lang="tr-TR" sz="1000" noProof="1">
              <a:cs typeface="Arial" panose="020B0604020202020204" pitchFamily="34" charset="0"/>
            </a:endParaRPr>
          </a:p>
          <a:p>
            <a:r>
              <a:rPr lang="tr-TR" sz="1000" b="1" noProof="1">
                <a:solidFill>
                  <a:schemeClr val="tx1"/>
                </a:solidFill>
                <a:cs typeface="Arial" panose="020B0604020202020204" pitchFamily="34" charset="0"/>
              </a:rPr>
              <a:t>önermelerinden hangileri doğrudur?</a:t>
            </a:r>
          </a:p>
        </p:txBody>
      </p:sp>
      <p:pic>
        <p:nvPicPr>
          <p:cNvPr id="36" name="Grafik 35">
            <a:extLst>
              <a:ext uri="{FF2B5EF4-FFF2-40B4-BE49-F238E27FC236}">
                <a16:creationId xmlns:a16="http://schemas.microsoft.com/office/drawing/2014/main" id="{2F8B88B9-3D27-4DDC-8B48-F2E0CA03C25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4651" y="16130"/>
            <a:ext cx="451675" cy="451675"/>
          </a:xfrm>
          <a:prstGeom prst="rect">
            <a:avLst/>
          </a:prstGeom>
        </p:spPr>
      </p:pic>
      <p:sp>
        <p:nvSpPr>
          <p:cNvPr id="37" name="Dikdörtgen 36">
            <a:extLst>
              <a:ext uri="{FF2B5EF4-FFF2-40B4-BE49-F238E27FC236}">
                <a16:creationId xmlns:a16="http://schemas.microsoft.com/office/drawing/2014/main" id="{7B9C663A-4A9F-476E-95EF-E0070DFCCF1F}"/>
              </a:ext>
            </a:extLst>
          </p:cNvPr>
          <p:cNvSpPr/>
          <p:nvPr/>
        </p:nvSpPr>
        <p:spPr>
          <a:xfrm>
            <a:off x="3510497" y="3309151"/>
            <a:ext cx="3347503"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II ve III                         C) I,II,III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IV                         E) I ve III</a:t>
            </a:r>
          </a:p>
        </p:txBody>
      </p:sp>
      <p:graphicFrame>
        <p:nvGraphicFramePr>
          <p:cNvPr id="2" name="Tablo 6">
            <a:extLst>
              <a:ext uri="{FF2B5EF4-FFF2-40B4-BE49-F238E27FC236}">
                <a16:creationId xmlns:a16="http://schemas.microsoft.com/office/drawing/2014/main" id="{D380637C-9586-42CF-A3EF-5F00DF40A6BA}"/>
              </a:ext>
            </a:extLst>
          </p:cNvPr>
          <p:cNvGraphicFramePr>
            <a:graphicFrameLocks noGrp="1"/>
          </p:cNvGraphicFramePr>
          <p:nvPr>
            <p:extLst>
              <p:ext uri="{D42A27DB-BD31-4B8C-83A1-F6EECF244321}">
                <p14:modId xmlns:p14="http://schemas.microsoft.com/office/powerpoint/2010/main" val="225545689"/>
              </p:ext>
            </p:extLst>
          </p:nvPr>
        </p:nvGraphicFramePr>
        <p:xfrm>
          <a:off x="133480" y="1179778"/>
          <a:ext cx="3182152" cy="773832"/>
        </p:xfrm>
        <a:graphic>
          <a:graphicData uri="http://schemas.openxmlformats.org/drawingml/2006/table">
            <a:tbl>
              <a:tblPr firstRow="1" bandRow="1">
                <a:tableStyleId>{00A15C55-8517-42AA-B614-E9B94910E393}</a:tableStyleId>
              </a:tblPr>
              <a:tblGrid>
                <a:gridCol w="795538">
                  <a:extLst>
                    <a:ext uri="{9D8B030D-6E8A-4147-A177-3AD203B41FA5}">
                      <a16:colId xmlns:a16="http://schemas.microsoft.com/office/drawing/2014/main" val="606995786"/>
                    </a:ext>
                  </a:extLst>
                </a:gridCol>
                <a:gridCol w="795538">
                  <a:extLst>
                    <a:ext uri="{9D8B030D-6E8A-4147-A177-3AD203B41FA5}">
                      <a16:colId xmlns:a16="http://schemas.microsoft.com/office/drawing/2014/main" val="3584814295"/>
                    </a:ext>
                  </a:extLst>
                </a:gridCol>
                <a:gridCol w="795538">
                  <a:extLst>
                    <a:ext uri="{9D8B030D-6E8A-4147-A177-3AD203B41FA5}">
                      <a16:colId xmlns:a16="http://schemas.microsoft.com/office/drawing/2014/main" val="1387876994"/>
                    </a:ext>
                  </a:extLst>
                </a:gridCol>
                <a:gridCol w="795538">
                  <a:extLst>
                    <a:ext uri="{9D8B030D-6E8A-4147-A177-3AD203B41FA5}">
                      <a16:colId xmlns:a16="http://schemas.microsoft.com/office/drawing/2014/main" val="2585367046"/>
                    </a:ext>
                  </a:extLst>
                </a:gridCol>
              </a:tblGrid>
              <a:tr h="257944">
                <a:tc>
                  <a:txBody>
                    <a:bodyPr/>
                    <a:lstStyle/>
                    <a:p>
                      <a:pPr algn="ctr"/>
                      <a:endParaRPr lang="tr-TR"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tr-TR" dirty="0"/>
                        <a:t>A Grubu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algn="ctr"/>
                      <a:r>
                        <a:rPr lang="tr-TR" dirty="0"/>
                        <a:t>B Grubu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algn="ctr"/>
                      <a:r>
                        <a:rPr lang="tr-TR" dirty="0"/>
                        <a:t>C Grubu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3864776043"/>
                  </a:ext>
                </a:extLst>
              </a:tr>
              <a:tr h="257944">
                <a:tc>
                  <a:txBody>
                    <a:bodyPr/>
                    <a:lstStyle/>
                    <a:p>
                      <a:pPr algn="ctr"/>
                      <a:r>
                        <a:rPr lang="tr-TR" dirty="0"/>
                        <a:t>Ortalama</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tr-TR" dirty="0"/>
                        <a:t>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tr-TR"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tr-TR" dirty="0"/>
                        <a:t>71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931193062"/>
                  </a:ext>
                </a:extLst>
              </a:tr>
              <a:tr h="257944">
                <a:tc>
                  <a:txBody>
                    <a:bodyPr/>
                    <a:lstStyle/>
                    <a:p>
                      <a:pPr algn="ctr"/>
                      <a:r>
                        <a:rPr lang="tr-TR" dirty="0"/>
                        <a:t>Veri Sayısı</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lang="tr-TR"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lang="tr-TR"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tc>
                  <a:txBody>
                    <a:bodyPr/>
                    <a:lstStyle/>
                    <a:p>
                      <a:pPr algn="ctr"/>
                      <a:r>
                        <a:rPr lang="tr-TR" dirty="0"/>
                        <a:t>17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120961479"/>
                  </a:ext>
                </a:extLst>
              </a:tr>
            </a:tbl>
          </a:graphicData>
        </a:graphic>
      </p:graphicFrame>
      <p:sp>
        <p:nvSpPr>
          <p:cNvPr id="39" name="Metin kutusu 38">
            <a:extLst>
              <a:ext uri="{FF2B5EF4-FFF2-40B4-BE49-F238E27FC236}">
                <a16:creationId xmlns:a16="http://schemas.microsoft.com/office/drawing/2014/main" id="{45414563-A9CD-461A-AD06-3BD42296B865}"/>
              </a:ext>
            </a:extLst>
          </p:cNvPr>
          <p:cNvSpPr txBox="1"/>
          <p:nvPr/>
        </p:nvSpPr>
        <p:spPr>
          <a:xfrm>
            <a:off x="18431" y="1956628"/>
            <a:ext cx="3503969" cy="1323439"/>
          </a:xfrm>
          <a:prstGeom prst="rect">
            <a:avLst/>
          </a:prstGeom>
          <a:noFill/>
        </p:spPr>
        <p:txBody>
          <a:bodyPr wrap="square" rtlCol="0">
            <a:spAutoFit/>
          </a:bodyPr>
          <a:lstStyle/>
          <a:p>
            <a:r>
              <a:rPr lang="tr-TR" sz="1000" b="1" noProof="1">
                <a:cs typeface="Arial" panose="020B0604020202020204" pitchFamily="34" charset="0"/>
              </a:rPr>
              <a:t>Tablodaki verilere ve gruplara göre,</a:t>
            </a:r>
          </a:p>
          <a:p>
            <a:endParaRPr lang="tr-TR" sz="1000" b="1" noProof="1">
              <a:cs typeface="Arial" panose="020B0604020202020204" pitchFamily="34" charset="0"/>
            </a:endParaRPr>
          </a:p>
          <a:p>
            <a:r>
              <a:rPr lang="tr-TR" sz="1000" noProof="1">
                <a:cs typeface="Arial" panose="020B0604020202020204" pitchFamily="34" charset="0"/>
              </a:rPr>
              <a:t>I. Herhangi bir grubun Adapte verisi </a:t>
            </a:r>
            <a:r>
              <a:rPr lang="tr-TR" sz="1000" u="sng" noProof="1">
                <a:cs typeface="Arial" panose="020B0604020202020204" pitchFamily="34" charset="0"/>
              </a:rPr>
              <a:t>sadece</a:t>
            </a:r>
            <a:r>
              <a:rPr lang="tr-TR" sz="1000" noProof="1">
                <a:cs typeface="Arial" panose="020B0604020202020204" pitchFamily="34" charset="0"/>
              </a:rPr>
              <a:t> bir grubun aritmetik ortalamasını değiştirmez. </a:t>
            </a:r>
          </a:p>
          <a:p>
            <a:r>
              <a:rPr lang="tr-TR" sz="1000" noProof="1">
                <a:cs typeface="Arial" panose="020B0604020202020204" pitchFamily="34" charset="0"/>
              </a:rPr>
              <a:t>II. A ve C grubunun adapte verisi sırasıyla 15 ve 18 dir. </a:t>
            </a:r>
          </a:p>
          <a:p>
            <a:r>
              <a:rPr lang="tr-TR" sz="1000" noProof="1">
                <a:cs typeface="Arial" panose="020B0604020202020204" pitchFamily="34" charset="0"/>
              </a:rPr>
              <a:t>III. B grubunun tek bir adapte verisi vardır.</a:t>
            </a:r>
          </a:p>
          <a:p>
            <a:endParaRPr lang="tr-TR" sz="1000" noProof="1">
              <a:cs typeface="Arial" panose="020B0604020202020204" pitchFamily="34" charset="0"/>
            </a:endParaRPr>
          </a:p>
          <a:p>
            <a:r>
              <a:rPr lang="tr-TR" sz="1000" b="1" noProof="1">
                <a:cs typeface="Arial" panose="020B0604020202020204" pitchFamily="34" charset="0"/>
              </a:rPr>
              <a:t>yukarıdaki yargılardan hangileri yanlıştır?</a:t>
            </a:r>
          </a:p>
        </p:txBody>
      </p:sp>
      <p:sp>
        <p:nvSpPr>
          <p:cNvPr id="41" name="Dikdörtgen 40">
            <a:extLst>
              <a:ext uri="{FF2B5EF4-FFF2-40B4-BE49-F238E27FC236}">
                <a16:creationId xmlns:a16="http://schemas.microsoft.com/office/drawing/2014/main" id="{BE5985C2-B598-4382-B0BC-B98DDFD4D148}"/>
              </a:ext>
            </a:extLst>
          </p:cNvPr>
          <p:cNvSpPr/>
          <p:nvPr/>
        </p:nvSpPr>
        <p:spPr>
          <a:xfrm>
            <a:off x="2389" y="3229861"/>
            <a:ext cx="3420413"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I ve III                               C) Yalnız II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Yalnız III</a:t>
            </a:r>
          </a:p>
        </p:txBody>
      </p:sp>
      <p:sp>
        <p:nvSpPr>
          <p:cNvPr id="48" name="Metin kutusu 47">
            <a:extLst>
              <a:ext uri="{FF2B5EF4-FFF2-40B4-BE49-F238E27FC236}">
                <a16:creationId xmlns:a16="http://schemas.microsoft.com/office/drawing/2014/main" id="{11BF5AD3-F6EF-4664-9A02-92F49889A224}"/>
              </a:ext>
            </a:extLst>
          </p:cNvPr>
          <p:cNvSpPr txBox="1"/>
          <p:nvPr/>
        </p:nvSpPr>
        <p:spPr>
          <a:xfrm>
            <a:off x="84841" y="6581162"/>
            <a:ext cx="3435975" cy="246221"/>
          </a:xfrm>
          <a:prstGeom prst="rect">
            <a:avLst/>
          </a:prstGeom>
          <a:noFill/>
        </p:spPr>
        <p:txBody>
          <a:bodyPr wrap="square" rtlCol="0">
            <a:spAutoFit/>
          </a:bodyPr>
          <a:lstStyle/>
          <a:p>
            <a:r>
              <a:rPr lang="tr-TR" sz="1000" noProof="1"/>
              <a:t>A) 1                 B) 3                C) 5                  D) 7                E) 9                        </a:t>
            </a:r>
          </a:p>
        </p:txBody>
      </p:sp>
      <p:sp>
        <p:nvSpPr>
          <p:cNvPr id="53" name="Metin kutusu 52">
            <a:extLst>
              <a:ext uri="{FF2B5EF4-FFF2-40B4-BE49-F238E27FC236}">
                <a16:creationId xmlns:a16="http://schemas.microsoft.com/office/drawing/2014/main" id="{B0FF920C-625D-4CD3-8771-1719845E49C9}"/>
              </a:ext>
            </a:extLst>
          </p:cNvPr>
          <p:cNvSpPr txBox="1"/>
          <p:nvPr/>
        </p:nvSpPr>
        <p:spPr>
          <a:xfrm>
            <a:off x="3519055" y="5798178"/>
            <a:ext cx="3435975" cy="246221"/>
          </a:xfrm>
          <a:prstGeom prst="rect">
            <a:avLst/>
          </a:prstGeom>
          <a:noFill/>
        </p:spPr>
        <p:txBody>
          <a:bodyPr wrap="square" rtlCol="0">
            <a:spAutoFit/>
          </a:bodyPr>
          <a:lstStyle/>
          <a:p>
            <a:r>
              <a:rPr lang="tr-TR" sz="1000" noProof="1"/>
              <a:t>A) 239             B) 241            C) 253             D) 257              E) 277                        </a:t>
            </a:r>
          </a:p>
        </p:txBody>
      </p:sp>
    </p:spTree>
    <p:extLst>
      <p:ext uri="{BB962C8B-B14F-4D97-AF65-F5344CB8AC3E}">
        <p14:creationId xmlns:p14="http://schemas.microsoft.com/office/powerpoint/2010/main" val="38830106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8911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917" y="598813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68358" y="1598551"/>
            <a:ext cx="3360642" cy="553998"/>
          </a:xfrm>
          <a:prstGeom prst="rect">
            <a:avLst/>
          </a:prstGeom>
          <a:noFill/>
        </p:spPr>
        <p:txBody>
          <a:bodyPr wrap="square" rtlCol="0">
            <a:spAutoFit/>
          </a:bodyPr>
          <a:lstStyle/>
          <a:p>
            <a:r>
              <a:rPr lang="tr-TR" sz="1000" noProof="1"/>
              <a:t>A) 74                                    B) 25                                        C) 40</a:t>
            </a:r>
          </a:p>
          <a:p>
            <a:pPr marL="228600" indent="-228600">
              <a:buAutoNum type="alphaUcParenR"/>
            </a:pPr>
            <a:endParaRPr lang="tr-TR" sz="1000" noProof="1"/>
          </a:p>
          <a:p>
            <a:r>
              <a:rPr lang="tr-TR" sz="1000" noProof="1"/>
              <a:t>                      D) 62                                        E) 65</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1169551"/>
              </a:xfrm>
              <a:prstGeom prst="rect">
                <a:avLst/>
              </a:prstGeom>
              <a:noFill/>
            </p:spPr>
            <p:txBody>
              <a:bodyPr wrap="square" rtlCol="0">
                <a:spAutoFit/>
              </a:bodyPr>
              <a:lstStyle/>
              <a:p>
                <a:r>
                  <a:rPr lang="tr-TR" sz="1000" noProof="1">
                    <a:cs typeface="Arial" panose="020B0604020202020204" pitchFamily="34" charset="0"/>
                  </a:rPr>
                  <a:t>1`den büyük x ve y tam sayıları için </a:t>
                </a:r>
                <a14:m>
                  <m:oMath xmlns:m="http://schemas.openxmlformats.org/officeDocument/2006/math">
                    <m:sSup>
                      <m:sSupPr>
                        <m:ctrlPr>
                          <a:rPr lang="tr-TR" sz="1000" i="1" noProof="1" smtClean="0">
                            <a:solidFill>
                              <a:srgbClr val="836967"/>
                            </a:solidFill>
                            <a:latin typeface="Cambria Math" panose="02040503050406030204" pitchFamily="18" charset="0"/>
                          </a:rPr>
                        </m:ctrlPr>
                      </m:sSupPr>
                      <m:e>
                        <m:r>
                          <m:rPr>
                            <m:sty m:val="p"/>
                          </m:rPr>
                          <a:rPr lang="tr-TR" sz="1000" i="0" noProof="1" smtClean="0">
                            <a:latin typeface="Cambria Math" panose="02040503050406030204" pitchFamily="18" charset="0"/>
                          </a:rPr>
                          <m:t>x</m:t>
                        </m:r>
                      </m:e>
                      <m:sup>
                        <m:r>
                          <m:rPr>
                            <m:sty m:val="p"/>
                          </m:rPr>
                          <a:rPr lang="tr-TR" sz="1000" i="0" noProof="1" smtClean="0">
                            <a:latin typeface="Cambria Math" panose="02040503050406030204" pitchFamily="18" charset="0"/>
                          </a:rPr>
                          <m:t>y</m:t>
                        </m:r>
                      </m:sup>
                    </m:sSup>
                    <m:r>
                      <a:rPr lang="tr-TR" sz="1000" i="0" noProof="1" smtClean="0">
                        <a:latin typeface="Cambria Math" panose="02040503050406030204" pitchFamily="18" charset="0"/>
                      </a:rPr>
                      <m:t>+</m:t>
                    </m:r>
                    <m:sSup>
                      <m:sSupPr>
                        <m:ctrlPr>
                          <a:rPr lang="tr-TR" sz="1000" i="1" noProof="1" smtClean="0">
                            <a:solidFill>
                              <a:srgbClr val="836967"/>
                            </a:solidFill>
                            <a:latin typeface="Cambria Math" panose="02040503050406030204" pitchFamily="18" charset="0"/>
                          </a:rPr>
                        </m:ctrlPr>
                      </m:sSupPr>
                      <m:e>
                        <m:r>
                          <m:rPr>
                            <m:sty m:val="p"/>
                          </m:rPr>
                          <a:rPr lang="tr-TR" sz="1000" i="0" noProof="1" smtClean="0">
                            <a:latin typeface="Cambria Math" panose="02040503050406030204" pitchFamily="18" charset="0"/>
                          </a:rPr>
                          <m:t>y</m:t>
                        </m:r>
                      </m:e>
                      <m:sup>
                        <m:r>
                          <m:rPr>
                            <m:sty m:val="p"/>
                          </m:rPr>
                          <a:rPr lang="tr-TR" sz="1000" i="0" noProof="1" smtClean="0">
                            <a:latin typeface="Cambria Math" panose="02040503050406030204" pitchFamily="18" charset="0"/>
                          </a:rPr>
                          <m:t>x</m:t>
                        </m:r>
                      </m:sup>
                    </m:sSup>
                  </m:oMath>
                </a14:m>
                <a:r>
                  <a:rPr lang="tr-TR" sz="1000" noProof="1">
                    <a:cs typeface="Arial" panose="020B0604020202020204" pitchFamily="34" charset="0"/>
                  </a:rPr>
                  <a:t> şeklinde yazılabilen sayılara </a:t>
                </a:r>
                <a:r>
                  <a:rPr lang="tr-TR" sz="1000" b="1" noProof="1">
                    <a:cs typeface="Arial" panose="020B0604020202020204" pitchFamily="34" charset="0"/>
                  </a:rPr>
                  <a:t>Leyland</a:t>
                </a:r>
                <a:r>
                  <a:rPr lang="tr-TR" sz="1000" noProof="1">
                    <a:cs typeface="Arial" panose="020B0604020202020204" pitchFamily="34" charset="0"/>
                  </a:rPr>
                  <a:t> sayıları denir.</a:t>
                </a:r>
              </a:p>
              <a:p>
                <a:endParaRPr lang="tr-TR" sz="1000" noProof="1">
                  <a:cs typeface="Arial" panose="020B0604020202020204" pitchFamily="34" charset="0"/>
                </a:endParaRPr>
              </a:p>
              <a:p>
                <a:r>
                  <a:rPr lang="tr-TR" sz="1000" noProof="1">
                    <a:cs typeface="Arial" panose="020B0604020202020204" pitchFamily="34" charset="0"/>
                  </a:rPr>
                  <a:t>Örneğin ; 17 = </a:t>
                </a:r>
                <a14:m>
                  <m:oMath xmlns:m="http://schemas.openxmlformats.org/officeDocument/2006/math">
                    <m:sSup>
                      <m:sSupPr>
                        <m:ctrlPr>
                          <a:rPr lang="tr-TR" sz="1000" i="1" noProof="1" smtClean="0">
                            <a:solidFill>
                              <a:srgbClr val="836967"/>
                            </a:solidFill>
                            <a:latin typeface="Cambria Math" panose="02040503050406030204" pitchFamily="18" charset="0"/>
                          </a:rPr>
                        </m:ctrlPr>
                      </m:sSupPr>
                      <m:e>
                        <m:r>
                          <a:rPr lang="tr-TR" sz="1000" b="0" i="0" noProof="1" smtClean="0">
                            <a:latin typeface="Cambria Math" panose="02040503050406030204" pitchFamily="18" charset="0"/>
                          </a:rPr>
                          <m:t>2</m:t>
                        </m:r>
                      </m:e>
                      <m:sup>
                        <m:r>
                          <a:rPr lang="tr-TR" sz="1000" b="0" i="0" noProof="1" smtClean="0">
                            <a:latin typeface="Cambria Math" panose="02040503050406030204" pitchFamily="18" charset="0"/>
                          </a:rPr>
                          <m:t>3</m:t>
                        </m:r>
                      </m:sup>
                    </m:sSup>
                    <m:r>
                      <a:rPr lang="tr-TR" sz="1000" i="0" noProof="1" smtClean="0">
                        <a:latin typeface="Cambria Math" panose="02040503050406030204" pitchFamily="18" charset="0"/>
                      </a:rPr>
                      <m:t>+</m:t>
                    </m:r>
                    <m:sSup>
                      <m:sSupPr>
                        <m:ctrlPr>
                          <a:rPr lang="tr-TR" sz="1000" i="1" noProof="1" smtClean="0">
                            <a:solidFill>
                              <a:srgbClr val="836967"/>
                            </a:solidFill>
                            <a:latin typeface="Cambria Math" panose="02040503050406030204" pitchFamily="18" charset="0"/>
                          </a:rPr>
                        </m:ctrlPr>
                      </m:sSupPr>
                      <m:e>
                        <m:r>
                          <a:rPr lang="tr-TR" sz="1000" b="0" i="0" noProof="1" smtClean="0">
                            <a:latin typeface="Cambria Math" panose="02040503050406030204" pitchFamily="18" charset="0"/>
                          </a:rPr>
                          <m:t>3</m:t>
                        </m:r>
                      </m:e>
                      <m:sup>
                        <m:r>
                          <a:rPr lang="tr-TR" sz="1000" b="0" i="0" noProof="1" smtClean="0">
                            <a:latin typeface="Cambria Math" panose="02040503050406030204" pitchFamily="18" charset="0"/>
                          </a:rPr>
                          <m:t>2</m:t>
                        </m:r>
                      </m:sup>
                    </m:sSup>
                  </m:oMath>
                </a14:m>
                <a:r>
                  <a:rPr lang="tr-TR" sz="1000" noProof="1">
                    <a:cs typeface="Arial" panose="020B0604020202020204" pitchFamily="34" charset="0"/>
                  </a:rPr>
                  <a:t> </a:t>
                </a:r>
              </a:p>
              <a:p>
                <a:endParaRPr lang="tr-TR" sz="1000" noProof="1">
                  <a:cs typeface="Arial" panose="020B0604020202020204" pitchFamily="34" charset="0"/>
                </a:endParaRPr>
              </a:p>
              <a:p>
                <a:r>
                  <a:rPr lang="tr-TR" sz="1000" b="1" noProof="1">
                    <a:cs typeface="Arial" panose="020B0604020202020204" pitchFamily="34" charset="0"/>
                  </a:rPr>
                  <a:t>Buna göre, en küçük iki basamaklı Leyland sayısı ile en büyük iki basamaklı Leyland sayısının toplamı kaçtır?</a:t>
                </a:r>
              </a:p>
            </p:txBody>
          </p:sp>
        </mc:Choice>
        <mc:Fallback xmlns="">
          <p:sp>
            <p:nvSpPr>
              <p:cNvPr id="47" name="Metin kutusu 46">
                <a:extLst>
                  <a:ext uri="{FF2B5EF4-FFF2-40B4-BE49-F238E27FC236}">
                    <a16:creationId xmlns:a16="http://schemas.microsoft.com/office/drawing/2014/main" id="{1085E221-D39F-4F39-B6A3-63F53AB4F2EE}"/>
                  </a:ext>
                </a:extLst>
              </p:cNvPr>
              <p:cNvSpPr txBox="1">
                <a:spLocks noRot="1" noChangeAspect="1" noMove="1" noResize="1" noEditPoints="1" noAdjustHandles="1" noChangeArrowheads="1" noChangeShapeType="1" noTextEdit="1"/>
              </p:cNvSpPr>
              <p:nvPr/>
            </p:nvSpPr>
            <p:spPr>
              <a:xfrm>
                <a:off x="69907" y="481442"/>
                <a:ext cx="3359093" cy="1169551"/>
              </a:xfrm>
              <a:prstGeom prst="rect">
                <a:avLst/>
              </a:prstGeom>
              <a:blipFill>
                <a:blip r:embed="rId5"/>
                <a:stretch>
                  <a:fillRect b="-208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6" name="Metin kutusu 85">
                <a:extLst>
                  <a:ext uri="{FF2B5EF4-FFF2-40B4-BE49-F238E27FC236}">
                    <a16:creationId xmlns:a16="http://schemas.microsoft.com/office/drawing/2014/main" id="{A58FA874-F23F-4E19-8775-056F42ECA063}"/>
                  </a:ext>
                </a:extLst>
              </p:cNvPr>
              <p:cNvSpPr txBox="1"/>
              <p:nvPr/>
            </p:nvSpPr>
            <p:spPr>
              <a:xfrm>
                <a:off x="3575914" y="1001720"/>
                <a:ext cx="3211412" cy="1497333"/>
              </a:xfrm>
              <a:prstGeom prst="rect">
                <a:avLst/>
              </a:prstGeom>
              <a:solidFill>
                <a:schemeClr val="accent4">
                  <a:alpha val="50000"/>
                </a:schemeClr>
              </a:solidFill>
              <a:ln>
                <a:noFill/>
              </a:ln>
              <a:effectLst>
                <a:softEdge rad="31750"/>
              </a:effectLst>
            </p:spPr>
            <p:style>
              <a:lnRef idx="0">
                <a:scrgbClr r="0" g="0" b="0"/>
              </a:lnRef>
              <a:fillRef idx="0">
                <a:scrgbClr r="0" g="0" b="0"/>
              </a:fillRef>
              <a:effectRef idx="0">
                <a:scrgbClr r="0" g="0" b="0"/>
              </a:effectRef>
              <a:fontRef idx="minor">
                <a:schemeClr val="lt1"/>
              </a:fontRef>
            </p:style>
            <p:txBody>
              <a:bodyPr wrap="square" rtlCol="0">
                <a:spAutoFit/>
              </a:bodyPr>
              <a:lstStyle/>
              <a:p>
                <a:r>
                  <a:rPr lang="tr-TR" sz="1000" noProof="1">
                    <a:solidFill>
                      <a:schemeClr val="tx1"/>
                    </a:solidFill>
                    <a:cs typeface="Arial" panose="020B0604020202020204" pitchFamily="34" charset="0"/>
                  </a:rPr>
                  <a:t>Kök içindeki bir sayının yaklaşık değerini bulma yolu  </a:t>
                </a:r>
              </a:p>
              <a:p>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Kökü alınacak sayı A olmak üzere, A sayısından küçük en büyük tam kare sayı x, A sayısından en büyük en küçük tam kare sayı y olsun. Buna göre </a:t>
                </a:r>
                <a14:m>
                  <m:oMath xmlns:m="http://schemas.openxmlformats.org/officeDocument/2006/math">
                    <m:rad>
                      <m:radPr>
                        <m:degHide m:val="on"/>
                        <m:ctrlPr>
                          <a:rPr lang="tr-TR" sz="1000" i="1" noProof="1" smtClean="0">
                            <a:solidFill>
                              <a:schemeClr val="tx1"/>
                            </a:solidFill>
                            <a:latin typeface="Cambria Math" panose="02040503050406030204" pitchFamily="18" charset="0"/>
                          </a:rPr>
                        </m:ctrlPr>
                      </m:radPr>
                      <m:deg/>
                      <m:e>
                        <m:r>
                          <a:rPr lang="tr-TR" sz="1000" b="0" i="1" noProof="1" smtClean="0">
                            <a:solidFill>
                              <a:schemeClr val="tx1"/>
                            </a:solidFill>
                            <a:latin typeface="Cambria Math" panose="02040503050406030204" pitchFamily="18" charset="0"/>
                          </a:rPr>
                          <m:t> </m:t>
                        </m:r>
                        <m:r>
                          <m:rPr>
                            <m:nor/>
                          </m:rPr>
                          <a:rPr lang="tr-TR" sz="1000" i="0" noProof="1" smtClean="0">
                            <a:solidFill>
                              <a:schemeClr val="tx1"/>
                            </a:solidFill>
                          </a:rPr>
                          <m:t>A</m:t>
                        </m:r>
                        <m:r>
                          <a:rPr lang="tr-TR" sz="1000" b="0" i="1" noProof="1" smtClean="0">
                            <a:solidFill>
                              <a:schemeClr val="tx1"/>
                            </a:solidFill>
                            <a:latin typeface="Cambria Math" panose="02040503050406030204" pitchFamily="18" charset="0"/>
                          </a:rPr>
                          <m:t> </m:t>
                        </m:r>
                      </m:e>
                    </m:rad>
                  </m:oMath>
                </a14:m>
                <a:r>
                  <a:rPr lang="tr-TR" sz="1000" noProof="1">
                    <a:solidFill>
                      <a:schemeClr val="tx1"/>
                    </a:solidFill>
                    <a:cs typeface="Arial" panose="020B0604020202020204" pitchFamily="34" charset="0"/>
                  </a:rPr>
                  <a:t> değeri sayısı yaklaşık olarak aşağıdaki ifadeye eşittir.</a:t>
                </a:r>
              </a:p>
              <a:p>
                <a:endParaRPr lang="tr-TR" sz="1000" noProof="1">
                  <a:solidFill>
                    <a:schemeClr val="tx1"/>
                  </a:solidFill>
                  <a:cs typeface="Arial" panose="020B0604020202020204" pitchFamily="34" charset="0"/>
                </a:endParaRPr>
              </a:p>
              <a:p>
                <a:pPr/>
                <a14:m>
                  <m:oMathPara xmlns:m="http://schemas.openxmlformats.org/officeDocument/2006/math">
                    <m:oMathParaPr>
                      <m:jc m:val="left"/>
                    </m:oMathParaPr>
                    <m:oMath xmlns:m="http://schemas.openxmlformats.org/officeDocument/2006/math">
                      <m:rad>
                        <m:radPr>
                          <m:degHide m:val="on"/>
                          <m:ctrlPr>
                            <a:rPr lang="tr-TR" sz="1000" i="1" noProof="1">
                              <a:solidFill>
                                <a:schemeClr val="tx1"/>
                              </a:solidFill>
                              <a:latin typeface="Cambria Math" panose="02040503050406030204" pitchFamily="18" charset="0"/>
                            </a:rPr>
                          </m:ctrlPr>
                        </m:radPr>
                        <m:deg/>
                        <m:e>
                          <m:r>
                            <a:rPr lang="tr-TR" sz="1000" i="1" noProof="1">
                              <a:solidFill>
                                <a:schemeClr val="tx1"/>
                              </a:solidFill>
                              <a:latin typeface="Cambria Math" panose="02040503050406030204" pitchFamily="18" charset="0"/>
                            </a:rPr>
                            <m:t> </m:t>
                          </m:r>
                          <m:r>
                            <m:rPr>
                              <m:nor/>
                            </m:rPr>
                            <a:rPr lang="tr-TR" sz="1000" noProof="1">
                              <a:solidFill>
                                <a:schemeClr val="tx1"/>
                              </a:solidFill>
                            </a:rPr>
                            <m:t>A</m:t>
                          </m:r>
                          <m:r>
                            <a:rPr lang="tr-TR" sz="1000" i="1" noProof="1">
                              <a:solidFill>
                                <a:schemeClr val="tx1"/>
                              </a:solidFill>
                              <a:latin typeface="Cambria Math" panose="02040503050406030204" pitchFamily="18" charset="0"/>
                            </a:rPr>
                            <m:t> </m:t>
                          </m:r>
                        </m:e>
                      </m:rad>
                      <m:r>
                        <a:rPr lang="tr-TR" sz="1000" b="0" i="1" noProof="1" smtClean="0">
                          <a:solidFill>
                            <a:schemeClr val="tx1"/>
                          </a:solidFill>
                          <a:latin typeface="Cambria Math" panose="02040503050406030204" pitchFamily="18" charset="0"/>
                        </a:rPr>
                        <m:t>  </m:t>
                      </m:r>
                      <m:r>
                        <a:rPr lang="tr-TR" sz="1000" b="0" i="1" noProof="1" smtClean="0">
                          <a:solidFill>
                            <a:schemeClr val="tx1"/>
                          </a:solidFill>
                          <a:latin typeface="Cambria Math" panose="02040503050406030204" pitchFamily="18" charset="0"/>
                          <a:ea typeface="Cambria Math" panose="02040503050406030204" pitchFamily="18" charset="0"/>
                        </a:rPr>
                        <m:t>≅</m:t>
                      </m:r>
                      <m:r>
                        <a:rPr lang="tr-TR" sz="1000" b="0" i="1" noProof="1" smtClean="0">
                          <a:solidFill>
                            <a:schemeClr val="tx1"/>
                          </a:solidFill>
                          <a:latin typeface="Cambria Math" panose="02040503050406030204" pitchFamily="18" charset="0"/>
                        </a:rPr>
                        <m:t> </m:t>
                      </m:r>
                      <m:rad>
                        <m:radPr>
                          <m:degHide m:val="on"/>
                          <m:ctrlPr>
                            <a:rPr lang="tr-TR" sz="1000" i="1" noProof="1" smtClean="0">
                              <a:solidFill>
                                <a:schemeClr val="tx1"/>
                              </a:solidFill>
                              <a:latin typeface="Cambria Math" panose="02040503050406030204" pitchFamily="18" charset="0"/>
                            </a:rPr>
                          </m:ctrlPr>
                        </m:radPr>
                        <m:deg/>
                        <m:e>
                          <m:r>
                            <a:rPr lang="tr-TR" sz="1000" i="1" noProof="1" smtClean="0">
                              <a:solidFill>
                                <a:schemeClr val="tx1"/>
                              </a:solidFill>
                              <a:latin typeface="Cambria Math" panose="02040503050406030204" pitchFamily="18" charset="0"/>
                            </a:rPr>
                            <m:t>𝑥</m:t>
                          </m:r>
                        </m:e>
                      </m:rad>
                      <m:r>
                        <a:rPr lang="tr-TR" sz="1000" i="1" noProof="1" smtClean="0">
                          <a:solidFill>
                            <a:schemeClr val="tx1"/>
                          </a:solidFill>
                          <a:latin typeface="Cambria Math" panose="02040503050406030204" pitchFamily="18" charset="0"/>
                        </a:rPr>
                        <m:t>+</m:t>
                      </m:r>
                      <m:f>
                        <m:fPr>
                          <m:ctrlPr>
                            <a:rPr lang="tr-TR" sz="1000" i="1" noProof="1" smtClean="0">
                              <a:solidFill>
                                <a:schemeClr val="tx1"/>
                              </a:solidFill>
                              <a:latin typeface="Cambria Math" panose="02040503050406030204" pitchFamily="18" charset="0"/>
                            </a:rPr>
                          </m:ctrlPr>
                        </m:fPr>
                        <m:num>
                          <m:r>
                            <m:rPr>
                              <m:nor/>
                            </m:rPr>
                            <a:rPr lang="tr-TR" sz="1000" i="0" noProof="1" smtClean="0">
                              <a:solidFill>
                                <a:schemeClr val="tx1"/>
                              </a:solidFill>
                            </a:rPr>
                            <m:t>A</m:t>
                          </m:r>
                          <m:r>
                            <a:rPr lang="tr-TR" sz="1000" i="1" noProof="1" smtClean="0">
                              <a:solidFill>
                                <a:schemeClr val="tx1"/>
                              </a:solidFill>
                              <a:latin typeface="Cambria Math" panose="02040503050406030204" pitchFamily="18" charset="0"/>
                            </a:rPr>
                            <m:t>−</m:t>
                          </m:r>
                          <m:r>
                            <a:rPr lang="tr-TR" sz="1000" i="1" noProof="1" smtClean="0">
                              <a:solidFill>
                                <a:schemeClr val="tx1"/>
                              </a:solidFill>
                              <a:latin typeface="Cambria Math" panose="02040503050406030204" pitchFamily="18" charset="0"/>
                            </a:rPr>
                            <m:t>𝑥</m:t>
                          </m:r>
                        </m:num>
                        <m:den>
                          <m:r>
                            <a:rPr lang="tr-TR" sz="1000" i="1" noProof="1" smtClean="0">
                              <a:solidFill>
                                <a:schemeClr val="tx1"/>
                              </a:solidFill>
                              <a:latin typeface="Cambria Math" panose="02040503050406030204" pitchFamily="18" charset="0"/>
                            </a:rPr>
                            <m:t>𝑦</m:t>
                          </m:r>
                          <m:r>
                            <a:rPr lang="tr-TR" sz="1000" i="1" noProof="1" smtClean="0">
                              <a:solidFill>
                                <a:schemeClr val="tx1"/>
                              </a:solidFill>
                              <a:latin typeface="Cambria Math" panose="02040503050406030204" pitchFamily="18" charset="0"/>
                            </a:rPr>
                            <m:t>−</m:t>
                          </m:r>
                          <m:r>
                            <a:rPr lang="tr-TR" sz="1000" i="1" noProof="1" smtClean="0">
                              <a:solidFill>
                                <a:schemeClr val="tx1"/>
                              </a:solidFill>
                              <a:latin typeface="Cambria Math" panose="02040503050406030204" pitchFamily="18" charset="0"/>
                            </a:rPr>
                            <m:t>𝑥</m:t>
                          </m:r>
                        </m:den>
                      </m:f>
                    </m:oMath>
                  </m:oMathPara>
                </a14:m>
                <a:endParaRPr lang="tr-TR" sz="1000" noProof="1">
                  <a:solidFill>
                    <a:schemeClr val="tx1"/>
                  </a:solidFill>
                  <a:cs typeface="Arial" panose="020B0604020202020204" pitchFamily="34" charset="0"/>
                </a:endParaRPr>
              </a:p>
            </p:txBody>
          </p:sp>
        </mc:Choice>
        <mc:Fallback xmlns="">
          <p:sp>
            <p:nvSpPr>
              <p:cNvPr id="86" name="Metin kutusu 85">
                <a:extLst>
                  <a:ext uri="{FF2B5EF4-FFF2-40B4-BE49-F238E27FC236}">
                    <a16:creationId xmlns:a16="http://schemas.microsoft.com/office/drawing/2014/main" id="{A58FA874-F23F-4E19-8775-056F42ECA063}"/>
                  </a:ext>
                </a:extLst>
              </p:cNvPr>
              <p:cNvSpPr txBox="1">
                <a:spLocks noRot="1" noChangeAspect="1" noMove="1" noResize="1" noEditPoints="1" noAdjustHandles="1" noChangeArrowheads="1" noChangeShapeType="1" noTextEdit="1"/>
              </p:cNvSpPr>
              <p:nvPr/>
            </p:nvSpPr>
            <p:spPr>
              <a:xfrm>
                <a:off x="3575914" y="1001720"/>
                <a:ext cx="3211412" cy="1497333"/>
              </a:xfrm>
              <a:prstGeom prst="rect">
                <a:avLst/>
              </a:prstGeom>
              <a:blipFill>
                <a:blip r:embed="rId6"/>
                <a:stretch>
                  <a:fillRect/>
                </a:stretch>
              </a:blipFill>
              <a:ln>
                <a:noFill/>
              </a:ln>
              <a:effectLst>
                <a:softEdge rad="31750"/>
              </a:effectLst>
            </p:spPr>
            <p:txBody>
              <a:bodyPr/>
              <a:lstStyle/>
              <a:p>
                <a:r>
                  <a:rPr lang="tr-TR">
                    <a:noFill/>
                  </a:rPr>
                  <a:t> </a:t>
                </a:r>
              </a:p>
            </p:txBody>
          </p:sp>
        </mc:Fallback>
      </mc:AlternateContent>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034305"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9.A   10.D  11.A</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472830" y="5575574"/>
            <a:ext cx="3301999" cy="40011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tr-TR" sz="1000" noProof="1">
                <a:cs typeface="Arial" panose="020B0604020202020204" pitchFamily="34" charset="0"/>
              </a:rPr>
              <a:t>10.Soruda verilen bilgiyi referans alarak birbirlerinden bağımsız olacak şekilde 11.soruyu da cevaplandırınız.</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60" name="Metin kutusu 59">
            <a:extLst>
              <a:ext uri="{FF2B5EF4-FFF2-40B4-BE49-F238E27FC236}">
                <a16:creationId xmlns:a16="http://schemas.microsoft.com/office/drawing/2014/main" id="{19A505FA-039C-4F56-A3EB-6C970AB7AF5D}"/>
              </a:ext>
            </a:extLst>
          </p:cNvPr>
          <p:cNvSpPr txBox="1"/>
          <p:nvPr/>
        </p:nvSpPr>
        <p:spPr>
          <a:xfrm>
            <a:off x="3549585" y="459561"/>
            <a:ext cx="3308415" cy="553998"/>
          </a:xfrm>
          <a:prstGeom prst="rect">
            <a:avLst/>
          </a:prstGeom>
          <a:noFill/>
        </p:spPr>
        <p:txBody>
          <a:bodyPr wrap="square" rtlCol="0">
            <a:spAutoFit/>
          </a:bodyPr>
          <a:lstStyle/>
          <a:p>
            <a:r>
              <a:rPr lang="tr-TR" sz="1000" noProof="1">
                <a:cs typeface="Arial" panose="020B0604020202020204" pitchFamily="34" charset="0"/>
              </a:rPr>
              <a:t>Ferit öğretmen aşağıdaki makalede tarihi bir matematiksel teknik bilginin paylaşımını okumuş ve öğrencilerine de bu çalışmayı paylaşmıştır. </a:t>
            </a:r>
            <a:endParaRPr lang="tr-TR" sz="10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61" name="Metin kutusu 60">
                <a:extLst>
                  <a:ext uri="{FF2B5EF4-FFF2-40B4-BE49-F238E27FC236}">
                    <a16:creationId xmlns:a16="http://schemas.microsoft.com/office/drawing/2014/main" id="{68AF3CE8-72BE-4A4C-9A71-4E0162FB5DDC}"/>
                  </a:ext>
                </a:extLst>
              </p:cNvPr>
              <p:cNvSpPr txBox="1"/>
              <p:nvPr/>
            </p:nvSpPr>
            <p:spPr>
              <a:xfrm>
                <a:off x="3497663" y="2511047"/>
                <a:ext cx="3459729" cy="566502"/>
              </a:xfrm>
              <a:prstGeom prst="rect">
                <a:avLst/>
              </a:prstGeom>
              <a:noFill/>
            </p:spPr>
            <p:txBody>
              <a:bodyPr wrap="square" rtlCol="0">
                <a:spAutoFit/>
              </a:bodyPr>
              <a:lstStyle/>
              <a:p>
                <a:r>
                  <a:rPr lang="tr-TR" sz="1000" b="1" noProof="1">
                    <a:solidFill>
                      <a:schemeClr val="tx1"/>
                    </a:solidFill>
                    <a:cs typeface="Arial" panose="020B0604020202020204" pitchFamily="34" charset="0"/>
                  </a:rPr>
                  <a:t>Öğrencisi Abdulkadir`e </a:t>
                </a:r>
                <a14:m>
                  <m:oMath xmlns:m="http://schemas.openxmlformats.org/officeDocument/2006/math">
                    <m:rad>
                      <m:radPr>
                        <m:degHide m:val="on"/>
                        <m:ctrlPr>
                          <a:rPr lang="tr-TR" sz="1000" b="1" i="1" noProof="1" smtClean="0">
                            <a:solidFill>
                              <a:schemeClr val="tx1"/>
                            </a:solidFill>
                            <a:latin typeface="Cambria Math" panose="02040503050406030204" pitchFamily="18" charset="0"/>
                          </a:rPr>
                        </m:ctrlPr>
                      </m:radPr>
                      <m:deg/>
                      <m:e>
                        <m:r>
                          <m:rPr>
                            <m:nor/>
                          </m:rPr>
                          <a:rPr lang="tr-TR" sz="1000" b="1" i="0" noProof="1" smtClean="0">
                            <a:solidFill>
                              <a:schemeClr val="tx1"/>
                            </a:solidFill>
                          </a:rPr>
                          <m:t>11</m:t>
                        </m:r>
                        <m:r>
                          <a:rPr lang="tr-TR" sz="1000" b="1" i="1" noProof="1">
                            <a:solidFill>
                              <a:schemeClr val="tx1"/>
                            </a:solidFill>
                            <a:latin typeface="Cambria Math" panose="02040503050406030204" pitchFamily="18" charset="0"/>
                          </a:rPr>
                          <m:t> </m:t>
                        </m:r>
                      </m:e>
                    </m:rad>
                  </m:oMath>
                </a14:m>
                <a:r>
                  <a:rPr lang="tr-TR" sz="1000" b="1" noProof="1">
                    <a:solidFill>
                      <a:schemeClr val="tx1"/>
                    </a:solidFill>
                    <a:cs typeface="Arial" panose="020B0604020202020204" pitchFamily="34" charset="0"/>
                  </a:rPr>
                  <a:t> sayısının yaklaşık değerini sorduğunda öğrencisi hatasız yukarıdaki işlemleri gerçekleş-tirmiştir. Buna göre bulunan sonuç yaklaşık olarak nedir?</a:t>
                </a:r>
              </a:p>
            </p:txBody>
          </p:sp>
        </mc:Choice>
        <mc:Fallback xmlns="">
          <p:sp>
            <p:nvSpPr>
              <p:cNvPr id="61" name="Metin kutusu 60">
                <a:extLst>
                  <a:ext uri="{FF2B5EF4-FFF2-40B4-BE49-F238E27FC236}">
                    <a16:creationId xmlns:a16="http://schemas.microsoft.com/office/drawing/2014/main" id="{68AF3CE8-72BE-4A4C-9A71-4E0162FB5DDC}"/>
                  </a:ext>
                </a:extLst>
              </p:cNvPr>
              <p:cNvSpPr txBox="1">
                <a:spLocks noRot="1" noChangeAspect="1" noMove="1" noResize="1" noEditPoints="1" noAdjustHandles="1" noChangeArrowheads="1" noChangeShapeType="1" noTextEdit="1"/>
              </p:cNvSpPr>
              <p:nvPr/>
            </p:nvSpPr>
            <p:spPr>
              <a:xfrm>
                <a:off x="3497663" y="2511047"/>
                <a:ext cx="3459729" cy="566502"/>
              </a:xfrm>
              <a:prstGeom prst="rect">
                <a:avLst/>
              </a:prstGeom>
              <a:blipFill>
                <a:blip r:embed="rId7"/>
                <a:stretch>
                  <a:fillRect b="-537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3" name="Metin kutusu 62">
                <a:extLst>
                  <a:ext uri="{FF2B5EF4-FFF2-40B4-BE49-F238E27FC236}">
                    <a16:creationId xmlns:a16="http://schemas.microsoft.com/office/drawing/2014/main" id="{A7A01AAB-5CC8-4445-8ED3-42C27BFF4894}"/>
                  </a:ext>
                </a:extLst>
              </p:cNvPr>
              <p:cNvSpPr txBox="1"/>
              <p:nvPr/>
            </p:nvSpPr>
            <p:spPr>
              <a:xfrm>
                <a:off x="3513190" y="3025382"/>
                <a:ext cx="3362533" cy="651589"/>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18</m:t>
                        </m:r>
                      </m:num>
                      <m:den>
                        <m:r>
                          <m:rPr>
                            <m:nor/>
                          </m:rPr>
                          <a:rPr lang="tr-TR" sz="800" b="0" i="0" noProof="1" smtClean="0">
                            <a:latin typeface="Helvetica" panose="020B0604020202020204" pitchFamily="34" charset="0"/>
                            <a:cs typeface="Helvetica" panose="020B0604020202020204" pitchFamily="34" charset="0"/>
                          </a:rPr>
                          <m:t>7</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19 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7</m:t>
                        </m:r>
                      </m:den>
                    </m:f>
                  </m:oMath>
                </a14:m>
                <a:r>
                  <a:rPr lang="tr-TR" sz="1000" noProof="1">
                    <a:solidFill>
                      <a:schemeClr val="tx1"/>
                    </a:solidFill>
                  </a:rPr>
                  <a:t>                                    </a:t>
                </a:r>
                <a:r>
                  <a:rPr lang="tr-TR" sz="1000" noProof="1"/>
                  <a:t>C) </a:t>
                </a:r>
                <a14:m>
                  <m:oMath xmlns:m="http://schemas.openxmlformats.org/officeDocument/2006/math">
                    <m:f>
                      <m:fPr>
                        <m:ctrlPr>
                          <a:rPr lang="tr-TR" sz="800" i="1" noProof="1" smtClean="0">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20</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7</m:t>
                        </m:r>
                      </m:den>
                    </m:f>
                  </m:oMath>
                </a14:m>
                <a:endParaRPr lang="tr-TR" sz="800" noProof="1"/>
              </a:p>
              <a:p>
                <a:br>
                  <a:rPr lang="tr-TR" sz="1000" noProof="1"/>
                </a:br>
                <a:r>
                  <a:rPr lang="tr-TR" sz="1000" noProof="1"/>
                  <a:t>                         D) </a:t>
                </a:r>
                <a14:m>
                  <m:oMath xmlns:m="http://schemas.openxmlformats.org/officeDocument/2006/math">
                    <m:f>
                      <m:fPr>
                        <m:ctrlPr>
                          <a:rPr lang="tr-TR" sz="800" i="1" noProof="1" smtClean="0">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23 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7</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24</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7</m:t>
                        </m:r>
                      </m:den>
                    </m:f>
                  </m:oMath>
                </a14:m>
                <a:endParaRPr lang="tr-TR" sz="800" noProof="1"/>
              </a:p>
            </p:txBody>
          </p:sp>
        </mc:Choice>
        <mc:Fallback xmlns="">
          <p:sp>
            <p:nvSpPr>
              <p:cNvPr id="63" name="Metin kutusu 62">
                <a:extLst>
                  <a:ext uri="{FF2B5EF4-FFF2-40B4-BE49-F238E27FC236}">
                    <a16:creationId xmlns:a16="http://schemas.microsoft.com/office/drawing/2014/main" id="{A7A01AAB-5CC8-4445-8ED3-42C27BFF4894}"/>
                  </a:ext>
                </a:extLst>
              </p:cNvPr>
              <p:cNvSpPr txBox="1">
                <a:spLocks noRot="1" noChangeAspect="1" noMove="1" noResize="1" noEditPoints="1" noAdjustHandles="1" noChangeArrowheads="1" noChangeShapeType="1" noTextEdit="1"/>
              </p:cNvSpPr>
              <p:nvPr/>
            </p:nvSpPr>
            <p:spPr>
              <a:xfrm>
                <a:off x="3513190" y="3025382"/>
                <a:ext cx="3362533" cy="651589"/>
              </a:xfrm>
              <a:prstGeom prst="rect">
                <a:avLst/>
              </a:prstGeom>
              <a:blipFill>
                <a:blip r:embed="rId8"/>
                <a:stretch>
                  <a:fillRect b="-186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4" name="Metin kutusu 63">
                <a:extLst>
                  <a:ext uri="{FF2B5EF4-FFF2-40B4-BE49-F238E27FC236}">
                    <a16:creationId xmlns:a16="http://schemas.microsoft.com/office/drawing/2014/main" id="{A5B17080-CC91-4975-983E-2763C26B7122}"/>
                  </a:ext>
                </a:extLst>
              </p:cNvPr>
              <p:cNvSpPr txBox="1"/>
              <p:nvPr/>
            </p:nvSpPr>
            <p:spPr>
              <a:xfrm>
                <a:off x="3579227" y="6015572"/>
                <a:ext cx="3223396" cy="412613"/>
              </a:xfrm>
              <a:prstGeom prst="rect">
                <a:avLst/>
              </a:prstGeom>
              <a:noFill/>
            </p:spPr>
            <p:txBody>
              <a:bodyPr wrap="square">
                <a:spAutoFit/>
              </a:bodyPr>
              <a:lstStyle/>
              <a:p>
                <a14:m>
                  <m:oMath xmlns:m="http://schemas.openxmlformats.org/officeDocument/2006/math">
                    <m:rad>
                      <m:radPr>
                        <m:degHide m:val="on"/>
                        <m:ctrlPr>
                          <a:rPr lang="tr-TR" sz="1000" b="1" i="1" noProof="1" smtClean="0">
                            <a:solidFill>
                              <a:schemeClr val="tx1"/>
                            </a:solidFill>
                            <a:latin typeface="Cambria Math" panose="02040503050406030204" pitchFamily="18" charset="0"/>
                          </a:rPr>
                        </m:ctrlPr>
                      </m:radPr>
                      <m:deg/>
                      <m:e>
                        <m:r>
                          <m:rPr>
                            <m:nor/>
                          </m:rPr>
                          <a:rPr lang="tr-TR" sz="1000" b="1" i="0" noProof="1" smtClean="0">
                            <a:solidFill>
                              <a:schemeClr val="tx1"/>
                            </a:solidFill>
                          </a:rPr>
                          <m:t>13</m:t>
                        </m:r>
                        <m:r>
                          <a:rPr lang="tr-TR" sz="1000" b="1" i="1" noProof="1">
                            <a:solidFill>
                              <a:schemeClr val="tx1"/>
                            </a:solidFill>
                            <a:latin typeface="Cambria Math" panose="02040503050406030204" pitchFamily="18" charset="0"/>
                          </a:rPr>
                          <m:t> </m:t>
                        </m:r>
                      </m:e>
                    </m:rad>
                  </m:oMath>
                </a14:m>
                <a:r>
                  <a:rPr lang="tr-TR" sz="1000" b="1" dirty="0"/>
                  <a:t> ve </a:t>
                </a:r>
                <a14:m>
                  <m:oMath xmlns:m="http://schemas.openxmlformats.org/officeDocument/2006/math">
                    <m:rad>
                      <m:radPr>
                        <m:degHide m:val="on"/>
                        <m:ctrlPr>
                          <a:rPr lang="tr-TR" sz="1000" b="1" i="1" noProof="1">
                            <a:latin typeface="Cambria Math" panose="02040503050406030204" pitchFamily="18" charset="0"/>
                          </a:rPr>
                        </m:ctrlPr>
                      </m:radPr>
                      <m:deg/>
                      <m:e>
                        <m:r>
                          <m:rPr>
                            <m:nor/>
                          </m:rPr>
                          <a:rPr lang="tr-TR" sz="1000" b="1" noProof="1"/>
                          <m:t>11</m:t>
                        </m:r>
                        <m:r>
                          <a:rPr lang="tr-TR" sz="1000" b="1" i="1" noProof="1">
                            <a:latin typeface="Cambria Math" panose="02040503050406030204" pitchFamily="18" charset="0"/>
                          </a:rPr>
                          <m:t> </m:t>
                        </m:r>
                      </m:e>
                    </m:rad>
                  </m:oMath>
                </a14:m>
                <a:r>
                  <a:rPr lang="tr-TR" sz="1000" b="1" dirty="0"/>
                  <a:t> sayılarının </a:t>
                </a:r>
                <a:r>
                  <a:rPr lang="tr-TR" sz="1000" b="1" u="sng" dirty="0"/>
                  <a:t>makaledeki bilgiye göre</a:t>
                </a:r>
                <a:r>
                  <a:rPr lang="tr-TR" sz="1000" b="1" dirty="0"/>
                  <a:t> yaklaşık değerleri arasındaki fark kaçtır?</a:t>
                </a:r>
              </a:p>
            </p:txBody>
          </p:sp>
        </mc:Choice>
        <mc:Fallback xmlns="">
          <p:sp>
            <p:nvSpPr>
              <p:cNvPr id="64" name="Metin kutusu 63">
                <a:extLst>
                  <a:ext uri="{FF2B5EF4-FFF2-40B4-BE49-F238E27FC236}">
                    <a16:creationId xmlns:a16="http://schemas.microsoft.com/office/drawing/2014/main" id="{A5B17080-CC91-4975-983E-2763C26B7122}"/>
                  </a:ext>
                </a:extLst>
              </p:cNvPr>
              <p:cNvSpPr txBox="1">
                <a:spLocks noRot="1" noChangeAspect="1" noMove="1" noResize="1" noEditPoints="1" noAdjustHandles="1" noChangeArrowheads="1" noChangeShapeType="1" noTextEdit="1"/>
              </p:cNvSpPr>
              <p:nvPr/>
            </p:nvSpPr>
            <p:spPr>
              <a:xfrm>
                <a:off x="3579227" y="6015572"/>
                <a:ext cx="3223396" cy="412613"/>
              </a:xfrm>
              <a:prstGeom prst="rect">
                <a:avLst/>
              </a:prstGeom>
              <a:blipFill>
                <a:blip r:embed="rId9"/>
                <a:stretch>
                  <a:fillRect b="-8955"/>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5" name="Metin kutusu 64">
                <a:extLst>
                  <a:ext uri="{FF2B5EF4-FFF2-40B4-BE49-F238E27FC236}">
                    <a16:creationId xmlns:a16="http://schemas.microsoft.com/office/drawing/2014/main" id="{A7D58E6F-68EB-4B1D-8213-2813E8AB7FAA}"/>
                  </a:ext>
                </a:extLst>
              </p:cNvPr>
              <p:cNvSpPr txBox="1"/>
              <p:nvPr/>
            </p:nvSpPr>
            <p:spPr>
              <a:xfrm>
                <a:off x="3611550" y="6408195"/>
                <a:ext cx="3362533" cy="651589"/>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2</m:t>
                        </m:r>
                      </m:num>
                      <m:den>
                        <m:r>
                          <m:rPr>
                            <m:nor/>
                          </m:rPr>
                          <a:rPr lang="tr-TR" sz="800" b="0" i="0" noProof="1" smtClean="0">
                            <a:latin typeface="Helvetica" panose="020B0604020202020204" pitchFamily="34" charset="0"/>
                            <a:cs typeface="Helvetica" panose="020B0604020202020204" pitchFamily="34" charset="0"/>
                          </a:rPr>
                          <m:t>7</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4 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7</m:t>
                        </m:r>
                      </m:den>
                    </m:f>
                  </m:oMath>
                </a14:m>
                <a:r>
                  <a:rPr lang="tr-TR" sz="1000" noProof="1">
                    <a:solidFill>
                      <a:schemeClr val="tx1"/>
                    </a:solidFill>
                  </a:rPr>
                  <a:t>                                    </a:t>
                </a:r>
                <a:r>
                  <a:rPr lang="tr-TR" sz="1000" noProof="1"/>
                  <a:t>C) </a:t>
                </a:r>
                <a14:m>
                  <m:oMath xmlns:m="http://schemas.openxmlformats.org/officeDocument/2006/math">
                    <m:f>
                      <m:fPr>
                        <m:ctrlPr>
                          <a:rPr lang="tr-TR" sz="800" i="1" noProof="1" smtClean="0">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5</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7</m:t>
                        </m:r>
                      </m:den>
                    </m:f>
                  </m:oMath>
                </a14:m>
                <a:endParaRPr lang="tr-TR" sz="800" noProof="1"/>
              </a:p>
              <a:p>
                <a:br>
                  <a:rPr lang="tr-TR" sz="1000" noProof="1"/>
                </a:br>
                <a:r>
                  <a:rPr lang="tr-TR" sz="1000" noProof="1"/>
                  <a:t>                         D) </a:t>
                </a:r>
                <a14:m>
                  <m:oMath xmlns:m="http://schemas.openxmlformats.org/officeDocument/2006/math">
                    <m:f>
                      <m:fPr>
                        <m:ctrlPr>
                          <a:rPr lang="tr-TR" sz="800" i="1" noProof="1" smtClean="0">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3 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7</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1</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7</m:t>
                        </m:r>
                      </m:den>
                    </m:f>
                  </m:oMath>
                </a14:m>
                <a:endParaRPr lang="tr-TR" sz="800" noProof="1"/>
              </a:p>
            </p:txBody>
          </p:sp>
        </mc:Choice>
        <mc:Fallback xmlns="">
          <p:sp>
            <p:nvSpPr>
              <p:cNvPr id="65" name="Metin kutusu 64">
                <a:extLst>
                  <a:ext uri="{FF2B5EF4-FFF2-40B4-BE49-F238E27FC236}">
                    <a16:creationId xmlns:a16="http://schemas.microsoft.com/office/drawing/2014/main" id="{A7D58E6F-68EB-4B1D-8213-2813E8AB7FAA}"/>
                  </a:ext>
                </a:extLst>
              </p:cNvPr>
              <p:cNvSpPr txBox="1">
                <a:spLocks noRot="1" noChangeAspect="1" noMove="1" noResize="1" noEditPoints="1" noAdjustHandles="1" noChangeArrowheads="1" noChangeShapeType="1" noTextEdit="1"/>
              </p:cNvSpPr>
              <p:nvPr/>
            </p:nvSpPr>
            <p:spPr>
              <a:xfrm>
                <a:off x="3611550" y="6408195"/>
                <a:ext cx="3362533" cy="651589"/>
              </a:xfrm>
              <a:prstGeom prst="rect">
                <a:avLst/>
              </a:prstGeom>
              <a:blipFill>
                <a:blip r:embed="rId10"/>
                <a:stretch>
                  <a:fillRect b="-1869"/>
                </a:stretch>
              </a:blipFill>
            </p:spPr>
            <p:txBody>
              <a:bodyPr/>
              <a:lstStyle/>
              <a:p>
                <a:r>
                  <a:rPr lang="tr-TR">
                    <a:noFill/>
                  </a:rPr>
                  <a:t> </a:t>
                </a:r>
              </a:p>
            </p:txBody>
          </p:sp>
        </mc:Fallback>
      </mc:AlternateContent>
      <p:sp>
        <p:nvSpPr>
          <p:cNvPr id="66" name="Metin kutusu 65">
            <a:extLst>
              <a:ext uri="{FF2B5EF4-FFF2-40B4-BE49-F238E27FC236}">
                <a16:creationId xmlns:a16="http://schemas.microsoft.com/office/drawing/2014/main" id="{00BD4740-8BC8-42DA-8E31-6340F3161FE3}"/>
              </a:ext>
            </a:extLst>
          </p:cNvPr>
          <p:cNvSpPr txBox="1"/>
          <p:nvPr/>
        </p:nvSpPr>
        <p:spPr>
          <a:xfrm>
            <a:off x="43723" y="8352806"/>
            <a:ext cx="3301999" cy="400110"/>
          </a:xfrm>
          <a:prstGeom prst="rect">
            <a:avLst/>
          </a:prstGeom>
          <a:noFill/>
          <a:ln w="9525" cap="flat" cmpd="sng" algn="ctr">
            <a:solidFill>
              <a:srgbClr val="FF0000"/>
            </a:solidFill>
            <a:prstDash val="sys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tr-TR" sz="1000" noProof="1">
                <a:cs typeface="Arial" panose="020B0604020202020204" pitchFamily="34" charset="0"/>
              </a:rPr>
              <a:t>Yorulduysanız ara verin ama sınavda önemli bir yer tutmasa bu kadar yer vermezdik inanın, alışmanız gerekiyor!</a:t>
            </a:r>
          </a:p>
        </p:txBody>
      </p:sp>
    </p:spTree>
    <p:extLst>
      <p:ext uri="{BB962C8B-B14F-4D97-AF65-F5344CB8AC3E}">
        <p14:creationId xmlns:p14="http://schemas.microsoft.com/office/powerpoint/2010/main" val="35769781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450109" y="2429088"/>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9945" y="1145474"/>
            <a:ext cx="3349055" cy="553998"/>
          </a:xfrm>
          <a:prstGeom prst="rect">
            <a:avLst/>
          </a:prstGeom>
          <a:noFill/>
        </p:spPr>
        <p:txBody>
          <a:bodyPr wrap="square" rtlCol="0">
            <a:spAutoFit/>
          </a:bodyPr>
          <a:lstStyle/>
          <a:p>
            <a:r>
              <a:rPr lang="tr-TR" sz="1000" noProof="1"/>
              <a:t>A) 5,7,11                              B) 7,11,13                         C) 7,11,17</a:t>
            </a:r>
          </a:p>
          <a:p>
            <a:pPr marL="228600" indent="-228600">
              <a:buAutoNum type="alphaUcParenR"/>
            </a:pPr>
            <a:endParaRPr lang="tr-TR" sz="1000" noProof="1"/>
          </a:p>
          <a:p>
            <a:r>
              <a:rPr lang="tr-TR" sz="1000" noProof="1"/>
              <a:t>                      D) 11,13,17                     E) 101,103,107</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83525" y="477008"/>
            <a:ext cx="3359093" cy="707886"/>
          </a:xfrm>
          <a:prstGeom prst="rect">
            <a:avLst/>
          </a:prstGeom>
          <a:noFill/>
        </p:spPr>
        <p:txBody>
          <a:bodyPr wrap="square" rtlCol="0">
            <a:spAutoFit/>
          </a:bodyPr>
          <a:lstStyle/>
          <a:p>
            <a:r>
              <a:rPr lang="tr-TR" sz="1000" noProof="1">
                <a:cs typeface="Arial" panose="020B0604020202020204" pitchFamily="34" charset="0"/>
              </a:rPr>
              <a:t>p asal sayı olmak üzere, (p, p+2, p+6) veya (p, p+4, p+6) şeklinde sıralanan 3 asal sayıya üçüz asal sayılar denir.</a:t>
            </a:r>
          </a:p>
          <a:p>
            <a:endParaRPr lang="tr-TR" sz="1000" noProof="1">
              <a:cs typeface="Arial" panose="020B0604020202020204" pitchFamily="34" charset="0"/>
            </a:endParaRPr>
          </a:p>
          <a:p>
            <a:r>
              <a:rPr lang="tr-TR" sz="1000" b="1" noProof="1">
                <a:cs typeface="Arial" panose="020B0604020202020204" pitchFamily="34" charset="0"/>
              </a:rPr>
              <a:t>Buna göre, aşağıdakilerden hangisi üçüz asal sayı değildir?</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69029" y="559496"/>
            <a:ext cx="3202347" cy="1862048"/>
          </a:xfrm>
          <a:prstGeom prst="rect">
            <a:avLst/>
          </a:prstGeom>
          <a:solidFill>
            <a:schemeClr val="accent1">
              <a:lumMod val="20000"/>
              <a:lumOff val="80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tr-TR" sz="1500" b="1" i="1" noProof="1">
                <a:cs typeface="Arial" panose="020B0604020202020204" pitchFamily="34" charset="0"/>
              </a:rPr>
              <a:t>Smith Sayıları</a:t>
            </a:r>
          </a:p>
          <a:p>
            <a:endParaRPr lang="tr-TR" sz="1000" noProof="1">
              <a:cs typeface="Arial" panose="020B0604020202020204" pitchFamily="34" charset="0"/>
            </a:endParaRPr>
          </a:p>
          <a:p>
            <a:r>
              <a:rPr lang="tr-TR" sz="1000" noProof="1">
                <a:cs typeface="Arial" panose="020B0604020202020204" pitchFamily="34" charset="0"/>
              </a:rPr>
              <a:t>1`den büyük asal olmayan bir tam sayının rakamları toplamı, sayı asal çarpalnlarına ayrılarak yazıldığında, bu yazılışta bulunan tüm asal sayıların rakamlarının toplamına eşit oluyorsa bu sayılara </a:t>
            </a:r>
            <a:r>
              <a:rPr lang="tr-TR" sz="1000" b="1" noProof="1">
                <a:cs typeface="Arial" panose="020B0604020202020204" pitchFamily="34" charset="0"/>
              </a:rPr>
              <a:t>Smith sayıları </a:t>
            </a:r>
            <a:r>
              <a:rPr lang="tr-TR" sz="1000" noProof="1">
                <a:cs typeface="Arial" panose="020B0604020202020204" pitchFamily="34" charset="0"/>
              </a:rPr>
              <a:t>denir.</a:t>
            </a:r>
          </a:p>
          <a:p>
            <a:endParaRPr lang="tr-TR" sz="1000" noProof="1">
              <a:cs typeface="Arial" panose="020B0604020202020204" pitchFamily="34" charset="0"/>
            </a:endParaRPr>
          </a:p>
          <a:p>
            <a:r>
              <a:rPr lang="tr-TR" sz="1000" noProof="1">
                <a:cs typeface="Arial" panose="020B0604020202020204" pitchFamily="34" charset="0"/>
              </a:rPr>
              <a:t>Örneğin :  </a:t>
            </a:r>
          </a:p>
          <a:p>
            <a:endParaRPr lang="tr-TR" sz="1000" noProof="1">
              <a:cs typeface="Arial" panose="020B0604020202020204" pitchFamily="34" charset="0"/>
            </a:endParaRPr>
          </a:p>
          <a:p>
            <a:r>
              <a:rPr lang="tr-TR" sz="1000" noProof="1">
                <a:cs typeface="Arial" panose="020B0604020202020204" pitchFamily="34" charset="0"/>
              </a:rPr>
              <a:t>121 = 11 . 11</a:t>
            </a:r>
          </a:p>
          <a:p>
            <a:r>
              <a:rPr lang="tr-TR" sz="1000" noProof="1">
                <a:cs typeface="Arial" panose="020B0604020202020204" pitchFamily="34" charset="0"/>
              </a:rPr>
              <a:t>1+2+1 = 1+1+1+1  </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1.D    2.B    3.B    4.E</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176440" y="4716850"/>
            <a:ext cx="3119587" cy="40011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tr-TR" sz="1000" i="0" noProof="1">
                <a:solidFill>
                  <a:srgbClr val="333333"/>
                </a:solidFill>
                <a:effectLst/>
              </a:rPr>
              <a:t>n pozitif tam sayı olmak üzere ;  2</a:t>
            </a:r>
            <a:r>
              <a:rPr lang="tr-TR" sz="1000" i="0" baseline="30000" noProof="1">
                <a:solidFill>
                  <a:srgbClr val="333333"/>
                </a:solidFill>
                <a:effectLst/>
              </a:rPr>
              <a:t>n</a:t>
            </a:r>
            <a:r>
              <a:rPr lang="tr-TR" sz="1000" i="0" noProof="1">
                <a:solidFill>
                  <a:srgbClr val="333333"/>
                </a:solidFill>
                <a:effectLst/>
              </a:rPr>
              <a:t>.n - 1 şeklinde ifade edilebilen tam sayılara Woodall sayıları denir.</a:t>
            </a:r>
          </a:p>
        </p:txBody>
      </p:sp>
      <p:sp>
        <p:nvSpPr>
          <p:cNvPr id="36" name="Metin kutusu 35">
            <a:extLst>
              <a:ext uri="{FF2B5EF4-FFF2-40B4-BE49-F238E27FC236}">
                <a16:creationId xmlns:a16="http://schemas.microsoft.com/office/drawing/2014/main" id="{1C52979E-682D-464F-B44A-A22A4A9F42C8}"/>
              </a:ext>
            </a:extLst>
          </p:cNvPr>
          <p:cNvSpPr txBox="1"/>
          <p:nvPr/>
        </p:nvSpPr>
        <p:spPr>
          <a:xfrm>
            <a:off x="87814" y="5347270"/>
            <a:ext cx="3360642" cy="553998"/>
          </a:xfrm>
          <a:prstGeom prst="rect">
            <a:avLst/>
          </a:prstGeom>
          <a:noFill/>
        </p:spPr>
        <p:txBody>
          <a:bodyPr wrap="square" rtlCol="0">
            <a:spAutoFit/>
          </a:bodyPr>
          <a:lstStyle/>
          <a:p>
            <a:r>
              <a:rPr lang="tr-TR" sz="1000" noProof="1"/>
              <a:t>A) 1                                             B) 4                                        C) 7</a:t>
            </a:r>
          </a:p>
          <a:p>
            <a:pPr marL="228600" indent="-228600">
              <a:buAutoNum type="alphaUcParenR"/>
            </a:pPr>
            <a:endParaRPr lang="tr-TR" sz="1000" noProof="1"/>
          </a:p>
          <a:p>
            <a:r>
              <a:rPr lang="tr-TR" sz="1000" noProof="1"/>
              <a:t>                      D) 23                                        E) 63</a:t>
            </a:r>
          </a:p>
        </p:txBody>
      </p:sp>
      <p:sp>
        <p:nvSpPr>
          <p:cNvPr id="37" name="Metin kutusu 36">
            <a:extLst>
              <a:ext uri="{FF2B5EF4-FFF2-40B4-BE49-F238E27FC236}">
                <a16:creationId xmlns:a16="http://schemas.microsoft.com/office/drawing/2014/main" id="{D31D2D30-7344-4675-8033-F4454E2BF64C}"/>
              </a:ext>
            </a:extLst>
          </p:cNvPr>
          <p:cNvSpPr txBox="1"/>
          <p:nvPr/>
        </p:nvSpPr>
        <p:spPr>
          <a:xfrm>
            <a:off x="105500" y="5134757"/>
            <a:ext cx="3360642" cy="246221"/>
          </a:xfrm>
          <a:prstGeom prst="rect">
            <a:avLst/>
          </a:prstGeom>
          <a:noFill/>
        </p:spPr>
        <p:txBody>
          <a:bodyPr wrap="square" rtlCol="0">
            <a:spAutoFit/>
          </a:bodyPr>
          <a:lstStyle/>
          <a:p>
            <a:r>
              <a:rPr lang="tr-TR" sz="1000" b="1" noProof="1"/>
              <a:t>Buna göre, aşağıdakilerden hangisi woodall sayısı değildir?</a:t>
            </a:r>
          </a:p>
        </p:txBody>
      </p:sp>
      <p:sp>
        <p:nvSpPr>
          <p:cNvPr id="38" name="Metin kutusu 37">
            <a:extLst>
              <a:ext uri="{FF2B5EF4-FFF2-40B4-BE49-F238E27FC236}">
                <a16:creationId xmlns:a16="http://schemas.microsoft.com/office/drawing/2014/main" id="{05AE3FFF-38BC-4D93-8782-7A921199FE92}"/>
              </a:ext>
            </a:extLst>
          </p:cNvPr>
          <p:cNvSpPr txBox="1"/>
          <p:nvPr/>
        </p:nvSpPr>
        <p:spPr>
          <a:xfrm>
            <a:off x="3495067" y="2675637"/>
            <a:ext cx="3369212" cy="553998"/>
          </a:xfrm>
          <a:prstGeom prst="rect">
            <a:avLst/>
          </a:prstGeom>
          <a:noFill/>
        </p:spPr>
        <p:txBody>
          <a:bodyPr wrap="square" rtlCol="0">
            <a:spAutoFit/>
          </a:bodyPr>
          <a:lstStyle/>
          <a:p>
            <a:r>
              <a:rPr lang="tr-TR" sz="1000" noProof="1"/>
              <a:t>A) 22                                         B) 34                                        C) 58</a:t>
            </a:r>
          </a:p>
          <a:p>
            <a:pPr marL="228600" indent="-228600">
              <a:buAutoNum type="alphaUcParenR"/>
            </a:pPr>
            <a:endParaRPr lang="tr-TR" sz="1000" noProof="1"/>
          </a:p>
          <a:p>
            <a:r>
              <a:rPr lang="tr-TR" sz="1000" noProof="1"/>
              <a:t>                      D) 27                                        E) 85</a:t>
            </a:r>
          </a:p>
        </p:txBody>
      </p:sp>
      <p:sp>
        <p:nvSpPr>
          <p:cNvPr id="39" name="Metin kutusu 38">
            <a:extLst>
              <a:ext uri="{FF2B5EF4-FFF2-40B4-BE49-F238E27FC236}">
                <a16:creationId xmlns:a16="http://schemas.microsoft.com/office/drawing/2014/main" id="{BB40022E-4809-4FC3-849F-B1DAAA257F92}"/>
              </a:ext>
            </a:extLst>
          </p:cNvPr>
          <p:cNvSpPr txBox="1"/>
          <p:nvPr/>
        </p:nvSpPr>
        <p:spPr>
          <a:xfrm>
            <a:off x="3618078" y="2459073"/>
            <a:ext cx="3129569" cy="246221"/>
          </a:xfrm>
          <a:prstGeom prst="rect">
            <a:avLst/>
          </a:prstGeom>
          <a:noFill/>
        </p:spPr>
        <p:txBody>
          <a:bodyPr wrap="square" rtlCol="0">
            <a:spAutoFit/>
          </a:bodyPr>
          <a:lstStyle/>
          <a:p>
            <a:r>
              <a:rPr lang="tr-TR" sz="1000" b="1" noProof="1"/>
              <a:t>Aşağıdakilerden hangisi Smith sayısı değildir?</a:t>
            </a:r>
          </a:p>
        </p:txBody>
      </p:sp>
      <p:sp>
        <p:nvSpPr>
          <p:cNvPr id="55" name="Metin kutusu 54">
            <a:extLst>
              <a:ext uri="{FF2B5EF4-FFF2-40B4-BE49-F238E27FC236}">
                <a16:creationId xmlns:a16="http://schemas.microsoft.com/office/drawing/2014/main" id="{F777E3AD-9346-4A57-91E8-2709EC218350}"/>
              </a:ext>
            </a:extLst>
          </p:cNvPr>
          <p:cNvSpPr txBox="1"/>
          <p:nvPr/>
        </p:nvSpPr>
        <p:spPr>
          <a:xfrm>
            <a:off x="3545712" y="4684083"/>
            <a:ext cx="3476454" cy="1015663"/>
          </a:xfrm>
          <a:prstGeom prst="rect">
            <a:avLst/>
          </a:prstGeom>
          <a:noFill/>
        </p:spPr>
        <p:txBody>
          <a:bodyPr wrap="square">
            <a:spAutoFit/>
          </a:bodyPr>
          <a:lstStyle/>
          <a:p>
            <a:r>
              <a:rPr lang="tr-TR" sz="1000" dirty="0"/>
              <a:t>Smith sayılarının keşfinin ar­dından yapılan çalışmalarla bu sayılar arasında başka ilginç özelliklere sahip sayı grupları tanımlanmıştır. Örneğin sa­dece iki asal sayının çarpımı şeklinde ya­zılabilen Smith sayıları “Yarı Asal Smith Sayıları” adını almıştır.</a:t>
            </a:r>
          </a:p>
          <a:p>
            <a:endParaRPr lang="tr-TR" sz="1000" dirty="0"/>
          </a:p>
          <a:p>
            <a:r>
              <a:rPr lang="tr-TR" sz="1000" b="1" dirty="0"/>
              <a:t>Buna göre, aşağıdakilerden hangisi Yarı Asal Smith sayısıdır?</a:t>
            </a:r>
          </a:p>
        </p:txBody>
      </p:sp>
      <p:sp>
        <p:nvSpPr>
          <p:cNvPr id="57" name="Metin kutusu 56">
            <a:extLst>
              <a:ext uri="{FF2B5EF4-FFF2-40B4-BE49-F238E27FC236}">
                <a16:creationId xmlns:a16="http://schemas.microsoft.com/office/drawing/2014/main" id="{F6940BFB-CE92-468C-A3CE-D53A365675A9}"/>
              </a:ext>
            </a:extLst>
          </p:cNvPr>
          <p:cNvSpPr txBox="1"/>
          <p:nvPr/>
        </p:nvSpPr>
        <p:spPr>
          <a:xfrm>
            <a:off x="3510002" y="5642925"/>
            <a:ext cx="3435975" cy="246221"/>
          </a:xfrm>
          <a:prstGeom prst="rect">
            <a:avLst/>
          </a:prstGeom>
          <a:noFill/>
        </p:spPr>
        <p:txBody>
          <a:bodyPr wrap="square" rtlCol="0">
            <a:spAutoFit/>
          </a:bodyPr>
          <a:lstStyle/>
          <a:p>
            <a:r>
              <a:rPr lang="tr-TR" sz="1000" noProof="1"/>
              <a:t>A) 101             B) 117            C) 113             D) 109              E) 121                        </a:t>
            </a:r>
          </a:p>
        </p:txBody>
      </p:sp>
    </p:spTree>
    <p:extLst>
      <p:ext uri="{BB962C8B-B14F-4D97-AF65-F5344CB8AC3E}">
        <p14:creationId xmlns:p14="http://schemas.microsoft.com/office/powerpoint/2010/main" val="12892713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415347" cy="1323439"/>
          </a:xfrm>
          <a:prstGeom prst="rect">
            <a:avLst/>
          </a:prstGeom>
          <a:noFill/>
        </p:spPr>
        <p:txBody>
          <a:bodyPr wrap="square" rtlCol="0">
            <a:spAutoFit/>
          </a:bodyPr>
          <a:lstStyle/>
          <a:p>
            <a:r>
              <a:rPr lang="tr-TR" sz="1000" noProof="1">
                <a:cs typeface="Arial" panose="020B0604020202020204" pitchFamily="34" charset="0"/>
              </a:rPr>
              <a:t>Pozitif tam bölenlerinin sayısına bölünen sayma sayılarına Tau Sayıları denir.</a:t>
            </a:r>
          </a:p>
          <a:p>
            <a:endParaRPr lang="tr-TR" sz="1000" noProof="1">
              <a:cs typeface="Arial" panose="020B0604020202020204" pitchFamily="34" charset="0"/>
            </a:endParaRPr>
          </a:p>
          <a:p>
            <a:r>
              <a:rPr lang="tr-TR" sz="1000" noProof="1">
                <a:solidFill>
                  <a:srgbClr val="202020"/>
                </a:solidFill>
              </a:rPr>
              <a:t>21 sayısının pozitif tam bölenleri 21,7,3,1 yani 4 adet. 21 4`e tam bölünmediğinden ötürü Tau sayısı değildir. </a:t>
            </a:r>
          </a:p>
          <a:p>
            <a:endParaRPr lang="tr-TR" sz="1000" noProof="1">
              <a:solidFill>
                <a:srgbClr val="202020"/>
              </a:solidFill>
            </a:endParaRPr>
          </a:p>
          <a:p>
            <a:r>
              <a:rPr lang="tr-TR" sz="1000" b="1" noProof="1">
                <a:solidFill>
                  <a:srgbClr val="202020"/>
                </a:solidFill>
              </a:rPr>
              <a:t>Buna göre, aşağıdakilerden hangisi Tau sayısı değildir?</a:t>
            </a:r>
            <a:br>
              <a:rPr lang="tr-TR" sz="1000" b="1" noProof="1"/>
            </a:br>
            <a:endParaRPr lang="tr-TR" sz="1000" b="1" noProof="1">
              <a:cs typeface="Arial" panose="020B0604020202020204" pitchFamily="34" charset="0"/>
            </a:endParaRP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70905"/>
            <a:ext cx="3357543" cy="1015663"/>
          </a:xfrm>
          <a:prstGeom prst="rect">
            <a:avLst/>
          </a:prstGeom>
          <a:noFill/>
        </p:spPr>
        <p:txBody>
          <a:bodyPr wrap="square" rtlCol="0">
            <a:spAutoFit/>
          </a:bodyPr>
          <a:lstStyle/>
          <a:p>
            <a:r>
              <a:rPr lang="tr-TR" sz="1000" noProof="1">
                <a:cs typeface="Arial" panose="020B0604020202020204" pitchFamily="34" charset="0"/>
              </a:rPr>
              <a:t>İki sayı birbirinin kendisi hariç bölenleri toplamına eşitse bu sayılara </a:t>
            </a:r>
            <a:r>
              <a:rPr lang="tr-TR" sz="1000" b="1" noProof="1">
                <a:cs typeface="Arial" panose="020B0604020202020204" pitchFamily="34" charset="0"/>
              </a:rPr>
              <a:t>Arkadaş</a:t>
            </a:r>
            <a:r>
              <a:rPr lang="tr-TR" sz="1000" noProof="1">
                <a:cs typeface="Arial" panose="020B0604020202020204" pitchFamily="34" charset="0"/>
              </a:rPr>
              <a:t> sayılar denir.</a:t>
            </a:r>
          </a:p>
          <a:p>
            <a:endParaRPr lang="tr-TR" sz="1000" noProof="1">
              <a:cs typeface="Arial" panose="020B0604020202020204" pitchFamily="34" charset="0"/>
            </a:endParaRPr>
          </a:p>
          <a:p>
            <a:r>
              <a:rPr lang="tr-TR" sz="1000" b="0" i="0" dirty="0">
                <a:solidFill>
                  <a:srgbClr val="202122"/>
                </a:solidFill>
                <a:effectLst/>
                <a:latin typeface="Arial" panose="020B0604020202020204" pitchFamily="34" charset="0"/>
              </a:rPr>
              <a:t>Örneğin; 220 </a:t>
            </a:r>
            <a:r>
              <a:rPr lang="tr-TR" sz="1000" b="0" i="0" dirty="0">
                <a:solidFill>
                  <a:srgbClr val="202122"/>
                </a:solidFill>
                <a:effectLst/>
                <a:latin typeface="Arial" panose="020B0604020202020204" pitchFamily="34" charset="0"/>
                <a:sym typeface="Wingdings" panose="05000000000000000000" pitchFamily="2" charset="2"/>
              </a:rPr>
              <a:t>=</a:t>
            </a:r>
            <a:r>
              <a:rPr lang="tr-TR" sz="1000" b="0" i="0" dirty="0">
                <a:solidFill>
                  <a:srgbClr val="202122"/>
                </a:solidFill>
                <a:effectLst/>
                <a:latin typeface="Arial" panose="020B0604020202020204" pitchFamily="34" charset="0"/>
              </a:rPr>
              <a:t> 1 + 2 + 4 + 71 + 142 = 220</a:t>
            </a:r>
          </a:p>
          <a:p>
            <a:endParaRPr lang="tr-TR" sz="1000" noProof="1">
              <a:solidFill>
                <a:srgbClr val="202122"/>
              </a:solidFill>
              <a:latin typeface="Arial" panose="020B0604020202020204" pitchFamily="34" charset="0"/>
              <a:cs typeface="Arial" panose="020B0604020202020204" pitchFamily="34" charset="0"/>
            </a:endParaRPr>
          </a:p>
          <a:p>
            <a:r>
              <a:rPr lang="tr-TR" sz="1000" b="1" noProof="1">
                <a:solidFill>
                  <a:srgbClr val="202122"/>
                </a:solidFill>
                <a:latin typeface="Calibri "/>
                <a:cs typeface="Arial" panose="020B0604020202020204" pitchFamily="34" charset="0"/>
              </a:rPr>
              <a:t>Buna göre aşağıdakilerden hangisi Arkadaş sayısıdır?</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5.D    6.E    7.E    8.X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Metin kutusu 35">
            <a:extLst>
              <a:ext uri="{FF2B5EF4-FFF2-40B4-BE49-F238E27FC236}">
                <a16:creationId xmlns:a16="http://schemas.microsoft.com/office/drawing/2014/main" id="{D75E37A8-F679-42CE-BBD9-EAFB4594900E}"/>
              </a:ext>
            </a:extLst>
          </p:cNvPr>
          <p:cNvSpPr txBox="1"/>
          <p:nvPr/>
        </p:nvSpPr>
        <p:spPr>
          <a:xfrm>
            <a:off x="88104" y="4674237"/>
            <a:ext cx="3278526" cy="400110"/>
          </a:xfrm>
          <a:prstGeom prst="rect">
            <a:avLst/>
          </a:prstGeom>
          <a:noFill/>
        </p:spPr>
        <p:txBody>
          <a:bodyPr wrap="square" rtlCol="0">
            <a:spAutoFit/>
          </a:bodyPr>
          <a:lstStyle/>
          <a:p>
            <a:r>
              <a:rPr lang="tr-TR" sz="1000" b="0" dirty="0">
                <a:effectLst/>
              </a:rPr>
              <a:t>Kendi asal olmayan ama asal sayıların çarpımları şeklinde yazılabilen doğal sayılara bileşke sayılar denir.</a:t>
            </a:r>
            <a:endParaRPr lang="tr-TR" sz="1000" noProof="1">
              <a:cs typeface="Arial" panose="020B0604020202020204" pitchFamily="34" charset="0"/>
            </a:endParaRPr>
          </a:p>
        </p:txBody>
      </p:sp>
      <p:sp>
        <p:nvSpPr>
          <p:cNvPr id="37" name="Metin kutusu 36">
            <a:extLst>
              <a:ext uri="{FF2B5EF4-FFF2-40B4-BE49-F238E27FC236}">
                <a16:creationId xmlns:a16="http://schemas.microsoft.com/office/drawing/2014/main" id="{792B6B21-90C0-4F07-8C99-A48C435A0F9A}"/>
              </a:ext>
            </a:extLst>
          </p:cNvPr>
          <p:cNvSpPr txBox="1"/>
          <p:nvPr/>
        </p:nvSpPr>
        <p:spPr>
          <a:xfrm>
            <a:off x="167573" y="5066572"/>
            <a:ext cx="3119587"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tr-TR" sz="1000" noProof="1">
                <a:solidFill>
                  <a:srgbClr val="333333"/>
                </a:solidFill>
              </a:rPr>
              <a:t>Örneğin 6 sayısı 2 ve 3 ün çarpımıdır ve kendisi de asal sayı değildir. 6 sayısı bileşke sayıdır.</a:t>
            </a:r>
            <a:endParaRPr lang="tr-TR" sz="1000" i="0" noProof="1">
              <a:solidFill>
                <a:srgbClr val="333333"/>
              </a:solidFill>
              <a:effectLst/>
            </a:endParaRPr>
          </a:p>
        </p:txBody>
      </p:sp>
      <p:sp>
        <p:nvSpPr>
          <p:cNvPr id="38" name="Metin kutusu 37">
            <a:extLst>
              <a:ext uri="{FF2B5EF4-FFF2-40B4-BE49-F238E27FC236}">
                <a16:creationId xmlns:a16="http://schemas.microsoft.com/office/drawing/2014/main" id="{CD0F5514-DCE2-4C20-85A3-D4EB08F82BC3}"/>
              </a:ext>
            </a:extLst>
          </p:cNvPr>
          <p:cNvSpPr txBox="1"/>
          <p:nvPr/>
        </p:nvSpPr>
        <p:spPr>
          <a:xfrm>
            <a:off x="115179" y="5458907"/>
            <a:ext cx="3278526" cy="246221"/>
          </a:xfrm>
          <a:prstGeom prst="rect">
            <a:avLst/>
          </a:prstGeom>
          <a:noFill/>
        </p:spPr>
        <p:txBody>
          <a:bodyPr wrap="square" rtlCol="0">
            <a:spAutoFit/>
          </a:bodyPr>
          <a:lstStyle/>
          <a:p>
            <a:r>
              <a:rPr lang="tr-TR" sz="1000" b="1" dirty="0">
                <a:effectLst/>
              </a:rPr>
              <a:t>Buna göre, aşağıdakilerden hangisi bileşke sayı değildir?</a:t>
            </a:r>
            <a:endParaRPr lang="tr-TR" sz="1000" b="1" noProof="1">
              <a:cs typeface="Arial" panose="020B0604020202020204" pitchFamily="34" charset="0"/>
            </a:endParaRPr>
          </a:p>
        </p:txBody>
      </p:sp>
      <p:sp>
        <p:nvSpPr>
          <p:cNvPr id="39" name="Metin kutusu 38">
            <a:extLst>
              <a:ext uri="{FF2B5EF4-FFF2-40B4-BE49-F238E27FC236}">
                <a16:creationId xmlns:a16="http://schemas.microsoft.com/office/drawing/2014/main" id="{AF52DCC5-23C9-43C8-B9E0-A59AE4FD4FC1}"/>
              </a:ext>
            </a:extLst>
          </p:cNvPr>
          <p:cNvSpPr txBox="1"/>
          <p:nvPr/>
        </p:nvSpPr>
        <p:spPr>
          <a:xfrm>
            <a:off x="143494" y="5666889"/>
            <a:ext cx="3211380" cy="553998"/>
          </a:xfrm>
          <a:prstGeom prst="rect">
            <a:avLst/>
          </a:prstGeom>
          <a:noFill/>
        </p:spPr>
        <p:txBody>
          <a:bodyPr wrap="square" rtlCol="0">
            <a:spAutoFit/>
          </a:bodyPr>
          <a:lstStyle/>
          <a:p>
            <a:r>
              <a:rPr lang="tr-TR" sz="1000" noProof="1"/>
              <a:t>A) 12                                      B) 15                                       C) 35</a:t>
            </a:r>
          </a:p>
          <a:p>
            <a:pPr marL="228600" indent="-228600">
              <a:buAutoNum type="alphaUcParenR"/>
            </a:pPr>
            <a:endParaRPr lang="tr-TR" sz="1000" noProof="1"/>
          </a:p>
          <a:p>
            <a:r>
              <a:rPr lang="tr-TR" sz="1000" noProof="1"/>
              <a:t>                      D) 34                                        E) 17</a:t>
            </a:r>
          </a:p>
        </p:txBody>
      </p:sp>
      <p:sp>
        <p:nvSpPr>
          <p:cNvPr id="40" name="Metin kutusu 39">
            <a:extLst>
              <a:ext uri="{FF2B5EF4-FFF2-40B4-BE49-F238E27FC236}">
                <a16:creationId xmlns:a16="http://schemas.microsoft.com/office/drawing/2014/main" id="{90329E0F-DFE3-4EF7-A826-8C169D2047B7}"/>
              </a:ext>
            </a:extLst>
          </p:cNvPr>
          <p:cNvSpPr txBox="1"/>
          <p:nvPr/>
        </p:nvSpPr>
        <p:spPr>
          <a:xfrm>
            <a:off x="31197" y="1578796"/>
            <a:ext cx="3304878" cy="246221"/>
          </a:xfrm>
          <a:prstGeom prst="rect">
            <a:avLst/>
          </a:prstGeom>
          <a:noFill/>
        </p:spPr>
        <p:txBody>
          <a:bodyPr wrap="square" rtlCol="0">
            <a:spAutoFit/>
          </a:bodyPr>
          <a:lstStyle/>
          <a:p>
            <a:r>
              <a:rPr lang="tr-TR" sz="1000" noProof="1"/>
              <a:t>A) 8                B) 24               C) 42             D) 109              E) 1                        </a:t>
            </a:r>
          </a:p>
        </p:txBody>
      </p:sp>
      <p:sp>
        <p:nvSpPr>
          <p:cNvPr id="41" name="Metin kutusu 40">
            <a:extLst>
              <a:ext uri="{FF2B5EF4-FFF2-40B4-BE49-F238E27FC236}">
                <a16:creationId xmlns:a16="http://schemas.microsoft.com/office/drawing/2014/main" id="{174D902A-C6D2-4662-A53C-5AB319252D4C}"/>
              </a:ext>
            </a:extLst>
          </p:cNvPr>
          <p:cNvSpPr txBox="1"/>
          <p:nvPr/>
        </p:nvSpPr>
        <p:spPr>
          <a:xfrm>
            <a:off x="3495389" y="1418968"/>
            <a:ext cx="3357542" cy="246221"/>
          </a:xfrm>
          <a:prstGeom prst="rect">
            <a:avLst/>
          </a:prstGeom>
          <a:noFill/>
        </p:spPr>
        <p:txBody>
          <a:bodyPr wrap="square" rtlCol="0">
            <a:spAutoFit/>
          </a:bodyPr>
          <a:lstStyle/>
          <a:p>
            <a:r>
              <a:rPr lang="tr-TR" sz="1000" noProof="1"/>
              <a:t>A) 28                B) 24               C) 42             D) 108              E) 284                        </a:t>
            </a:r>
          </a:p>
        </p:txBody>
      </p:sp>
    </p:spTree>
    <p:extLst>
      <p:ext uri="{BB962C8B-B14F-4D97-AF65-F5344CB8AC3E}">
        <p14:creationId xmlns:p14="http://schemas.microsoft.com/office/powerpoint/2010/main" val="15464542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Sayı Problemleri</a:t>
            </a:r>
          </a:p>
          <a:p>
            <a:r>
              <a:rPr lang="tr-TR" sz="1000" b="1" noProof="1">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874582"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57195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Metin kutusu 20">
            <a:extLst>
              <a:ext uri="{FF2B5EF4-FFF2-40B4-BE49-F238E27FC236}">
                <a16:creationId xmlns:a16="http://schemas.microsoft.com/office/drawing/2014/main" id="{D40DB456-2D76-40E2-A280-94CECABBE4B0}"/>
              </a:ext>
            </a:extLst>
          </p:cNvPr>
          <p:cNvSpPr txBox="1"/>
          <p:nvPr/>
        </p:nvSpPr>
        <p:spPr>
          <a:xfrm>
            <a:off x="59017" y="451208"/>
            <a:ext cx="3255556" cy="323165"/>
          </a:xfrm>
          <a:prstGeom prst="rect">
            <a:avLst/>
          </a:prstGeom>
          <a:noFill/>
        </p:spPr>
        <p:txBody>
          <a:bodyPr wrap="square" rtlCol="0">
            <a:spAutoFit/>
          </a:bodyPr>
          <a:lstStyle/>
          <a:p>
            <a:pPr algn="ctr"/>
            <a:r>
              <a:rPr lang="tr-TR" sz="1500" b="1" dirty="0">
                <a:latin typeface="+mj-lt"/>
                <a:cs typeface="Arial" panose="020B0604020202020204" pitchFamily="34" charset="0"/>
              </a:rPr>
              <a:t>Bu yola beraber çıkıyoruz!</a:t>
            </a: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1</a:t>
            </a:r>
          </a:p>
        </p:txBody>
      </p:sp>
      <p:sp>
        <p:nvSpPr>
          <p:cNvPr id="24" name="Metin kutusu 23">
            <a:extLst>
              <a:ext uri="{FF2B5EF4-FFF2-40B4-BE49-F238E27FC236}">
                <a16:creationId xmlns:a16="http://schemas.microsoft.com/office/drawing/2014/main" id="{76B6D20E-D554-4B60-A44A-1C879EA6828F}"/>
              </a:ext>
            </a:extLst>
          </p:cNvPr>
          <p:cNvSpPr txBox="1"/>
          <p:nvPr/>
        </p:nvSpPr>
        <p:spPr>
          <a:xfrm>
            <a:off x="3536798" y="414817"/>
            <a:ext cx="3255556" cy="323165"/>
          </a:xfrm>
          <a:prstGeom prst="rect">
            <a:avLst/>
          </a:prstGeom>
          <a:noFill/>
        </p:spPr>
        <p:txBody>
          <a:bodyPr wrap="square" rtlCol="0">
            <a:spAutoFit/>
          </a:bodyPr>
          <a:lstStyle/>
          <a:p>
            <a:pPr algn="ctr"/>
            <a:r>
              <a:rPr lang="tr-TR" sz="1500" b="1" dirty="0">
                <a:latin typeface="+mj-lt"/>
                <a:cs typeface="Arial" panose="020B0604020202020204" pitchFamily="34" charset="0"/>
              </a:rPr>
              <a:t>Nasıl öğretmeyi planlıyoruz?</a:t>
            </a:r>
          </a:p>
        </p:txBody>
      </p:sp>
      <p:sp>
        <p:nvSpPr>
          <p:cNvPr id="25" name="Metin kutusu 24">
            <a:extLst>
              <a:ext uri="{FF2B5EF4-FFF2-40B4-BE49-F238E27FC236}">
                <a16:creationId xmlns:a16="http://schemas.microsoft.com/office/drawing/2014/main" id="{3ADA8229-814E-4014-999F-E2E494011FB5}"/>
              </a:ext>
            </a:extLst>
          </p:cNvPr>
          <p:cNvSpPr txBox="1"/>
          <p:nvPr/>
        </p:nvSpPr>
        <p:spPr>
          <a:xfrm>
            <a:off x="3557169" y="739286"/>
            <a:ext cx="3255556" cy="8094524"/>
          </a:xfrm>
          <a:prstGeom prst="rect">
            <a:avLst/>
          </a:prstGeom>
          <a:noFill/>
        </p:spPr>
        <p:txBody>
          <a:bodyPr wrap="square" rtlCol="0">
            <a:spAutoFit/>
          </a:bodyPr>
          <a:lstStyle/>
          <a:p>
            <a:r>
              <a:rPr lang="tr-TR" sz="1000" b="1" noProof="1">
                <a:cs typeface="Arial" panose="020B0604020202020204" pitchFamily="34" charset="0"/>
              </a:rPr>
              <a:t>Konu Anlatımı : </a:t>
            </a:r>
            <a:r>
              <a:rPr lang="tr-TR" sz="1000" noProof="1">
                <a:cs typeface="Arial" panose="020B0604020202020204" pitchFamily="34" charset="0"/>
              </a:rPr>
              <a:t>Öncelikle ilgili konunun anlatımı kitabımız üzerinde olacak. Konuyla alakalı önemli notlar, detaylar vurgulanarak konu anlatımını sağlamış olacağız. Opsiyon olarak bu anlatımı videolu şekilde de destekleyeceğiz. İlgili bölümlerde bulunan QR kodu okutarak aynı içeriğin video şeklini bulabileceksiniz.</a:t>
            </a:r>
          </a:p>
          <a:p>
            <a:endParaRPr lang="tr-TR" sz="1000" noProof="1">
              <a:cs typeface="Arial" panose="020B0604020202020204" pitchFamily="34" charset="0"/>
            </a:endParaRPr>
          </a:p>
          <a:p>
            <a:r>
              <a:rPr lang="tr-TR" sz="1000" b="1" noProof="1">
                <a:cs typeface="Arial" panose="020B0604020202020204" pitchFamily="34" charset="0"/>
              </a:rPr>
              <a:t>Örnek Çözümlü Sorular :  </a:t>
            </a:r>
            <a:r>
              <a:rPr lang="tr-TR" sz="1000" noProof="1">
                <a:cs typeface="Arial" panose="020B0604020202020204" pitchFamily="34" charset="0"/>
              </a:rPr>
              <a:t>Klasikleşmiş, rutin olmayan vb. olabildiğince farklı tarzdan soru konu anlatımın hemen sonrasında kitabımızın üzerinde ayrıntılı çözüm aşama-larıyla yerini alacak. Ayrıca bu soruların bazıları kalıplaşmış klasik (her kitapta bulunan ve konuyu kavratmada önemli olan) tarzda olduğundan bu soruların video halinde desteği de olacak. Benzer şekilde QR kod okutarak hızlıca erişebilirsiniz.</a:t>
            </a:r>
          </a:p>
          <a:p>
            <a:endParaRPr lang="tr-TR" sz="1000" noProof="1">
              <a:cs typeface="Arial" panose="020B0604020202020204" pitchFamily="34" charset="0"/>
            </a:endParaRPr>
          </a:p>
          <a:p>
            <a:r>
              <a:rPr lang="tr-TR" sz="1000" b="1" noProof="1">
                <a:cs typeface="Arial" panose="020B0604020202020204" pitchFamily="34" charset="0"/>
              </a:rPr>
              <a:t>Testler ve Çözümleri : </a:t>
            </a:r>
            <a:r>
              <a:rPr lang="tr-TR" sz="1000" noProof="1">
                <a:cs typeface="Arial" panose="020B0604020202020204" pitchFamily="34" charset="0"/>
              </a:rPr>
              <a:t> Testlerimiz 3 başlıkta toplanacak. Sırasıyla Tanışma Faslı testleri, Ekspres testleri, Otantik testler olacaktır. </a:t>
            </a:r>
          </a:p>
          <a:p>
            <a:endParaRPr lang="tr-TR" sz="1000" noProof="1">
              <a:cs typeface="Arial" panose="020B0604020202020204" pitchFamily="34" charset="0"/>
            </a:endParaRPr>
          </a:p>
          <a:p>
            <a:r>
              <a:rPr lang="tr-TR" sz="1000" b="1" noProof="1">
                <a:cs typeface="Arial" panose="020B0604020202020204" pitchFamily="34" charset="0"/>
              </a:rPr>
              <a:t>Tanışma Faslı Testleri :  </a:t>
            </a:r>
            <a:r>
              <a:rPr lang="tr-TR" sz="1000" noProof="1">
                <a:cs typeface="Arial" panose="020B0604020202020204" pitchFamily="34" charset="0"/>
              </a:rPr>
              <a:t>Konuyu kavratan kolay-orta sorulardan oluşan testler olacaktır.</a:t>
            </a:r>
          </a:p>
          <a:p>
            <a:endParaRPr lang="tr-TR" sz="1000" noProof="1">
              <a:cs typeface="Arial" panose="020B0604020202020204" pitchFamily="34" charset="0"/>
            </a:endParaRPr>
          </a:p>
          <a:p>
            <a:r>
              <a:rPr lang="tr-TR" sz="1000" b="1" noProof="1">
                <a:cs typeface="Arial" panose="020B0604020202020204" pitchFamily="34" charset="0"/>
              </a:rPr>
              <a:t>Ekspres Testleri : </a:t>
            </a:r>
            <a:r>
              <a:rPr lang="tr-TR" sz="1000" noProof="1">
                <a:cs typeface="Arial" panose="020B0604020202020204" pitchFamily="34" charset="0"/>
              </a:rPr>
              <a:t>Orta ve orta-zor arasında sorular bulunduran genelde sınav ayarındaki yeni nesil soruların olduğu testler olacaktır.</a:t>
            </a:r>
          </a:p>
          <a:p>
            <a:endParaRPr lang="tr-TR" sz="1000" noProof="1">
              <a:cs typeface="Arial" panose="020B0604020202020204" pitchFamily="34" charset="0"/>
            </a:endParaRPr>
          </a:p>
          <a:p>
            <a:r>
              <a:rPr lang="tr-TR" sz="1000" b="1" noProof="1">
                <a:cs typeface="Arial" panose="020B0604020202020204" pitchFamily="34" charset="0"/>
              </a:rPr>
              <a:t>Otantik Testler : </a:t>
            </a:r>
            <a:r>
              <a:rPr lang="tr-TR" sz="1000" noProof="1">
                <a:cs typeface="Arial" panose="020B0604020202020204" pitchFamily="34" charset="0"/>
              </a:rPr>
              <a:t>Özgün sorularla donatılmış, ufuk açıcı, kimi zaman sınav üstü kimi zaman bakış açısı katan nitelikli sorulardan oluşan testler olacaktır.</a:t>
            </a:r>
          </a:p>
          <a:p>
            <a:endParaRPr lang="tr-TR" sz="1000" noProof="1">
              <a:cs typeface="Arial" panose="020B0604020202020204" pitchFamily="34" charset="0"/>
            </a:endParaRPr>
          </a:p>
          <a:p>
            <a:r>
              <a:rPr lang="tr-TR" sz="1000" b="1" noProof="1">
                <a:cs typeface="Arial" panose="020B0604020202020204" pitchFamily="34" charset="0"/>
              </a:rPr>
              <a:t>Kitabın çözümleri YouTube Ahmet Çelen kanalında yayımlanacaktır. </a:t>
            </a:r>
            <a:r>
              <a:rPr lang="tr-TR" sz="1000" noProof="1">
                <a:cs typeface="Arial" panose="020B0604020202020204" pitchFamily="34" charset="0"/>
              </a:rPr>
              <a:t>YouTube platformu öğrencilerin çok sevdiği ve vakitlerinin geçirdiği bir platform olduğundan tercihimizde bu yönde olmuştur.</a:t>
            </a:r>
          </a:p>
          <a:p>
            <a:endParaRPr lang="tr-TR" sz="1000" noProof="1">
              <a:cs typeface="Arial" panose="020B0604020202020204" pitchFamily="34" charset="0"/>
            </a:endParaRPr>
          </a:p>
          <a:p>
            <a:r>
              <a:rPr lang="tr-TR" sz="1000" b="1" noProof="1">
                <a:cs typeface="Arial" panose="020B0604020202020204" pitchFamily="34" charset="0"/>
              </a:rPr>
              <a:t>Denemeler : </a:t>
            </a:r>
            <a:r>
              <a:rPr lang="tr-TR" sz="1000" noProof="1">
                <a:cs typeface="Arial" panose="020B0604020202020204" pitchFamily="34" charset="0"/>
              </a:rPr>
              <a:t>Kitabımızın finalinde sizleri tamamen sınav tarzı ne eksik ne fazla analitik düşünme yeteneğini ölçen, yeni nesil nitelikli sorularla hem tekrar hemde sizleri sınava hazırlayan denemelerimiz bulunmaktadır. Hepsi deneme kalitesindeki sorulardır ve hepsi video çözümlü ücretsiz herkese açık yayımlanacaktır.</a:t>
            </a:r>
          </a:p>
          <a:p>
            <a:endParaRPr lang="tr-TR" sz="1000" b="1" noProof="1">
              <a:cs typeface="Arial" panose="020B0604020202020204" pitchFamily="34" charset="0"/>
            </a:endParaRPr>
          </a:p>
          <a:p>
            <a:r>
              <a:rPr lang="tr-TR" sz="1000" b="1" noProof="1">
                <a:cs typeface="Arial" panose="020B0604020202020204" pitchFamily="34" charset="0"/>
              </a:rPr>
              <a:t>İleri Seviye Sorular : </a:t>
            </a:r>
            <a:r>
              <a:rPr lang="tr-TR" sz="1000" noProof="1">
                <a:cs typeface="Arial" panose="020B0604020202020204" pitchFamily="34" charset="0"/>
              </a:rPr>
              <a:t>Az sorudan oluşan fakat isminin hakkını veren ileri seviyedeki problem sorularınıda ufkunu genişletmek isteyenler için ekledik. Az olması zorluğundan ötürü daha makbul olacağı görüşündeyiz. Zaten sınavlarda belirli zorluğun üstüne çıkılmamaktadır.</a:t>
            </a:r>
          </a:p>
          <a:p>
            <a:endParaRPr lang="tr-TR" sz="1000" noProof="1">
              <a:cs typeface="Arial" panose="020B0604020202020204" pitchFamily="34" charset="0"/>
            </a:endParaRPr>
          </a:p>
          <a:p>
            <a:r>
              <a:rPr lang="tr-TR" sz="1000" b="1" noProof="1">
                <a:cs typeface="Arial" panose="020B0604020202020204" pitchFamily="34" charset="0"/>
              </a:rPr>
              <a:t>Kitap Sonu : </a:t>
            </a:r>
            <a:r>
              <a:rPr lang="tr-TR" sz="1000" noProof="1">
                <a:cs typeface="Arial" panose="020B0604020202020204" pitchFamily="34" charset="0"/>
              </a:rPr>
              <a:t>Kitabı bitirdiğinizde ve video desteklerinden en randımanlı şekilde yararlandığınızda problemlere bakış açınız değişecektir ve netlerinizin arttığını göreceksiniz.</a:t>
            </a:r>
            <a:endParaRPr lang="tr-TR" sz="1000" b="1" noProof="1">
              <a:cs typeface="Arial" panose="020B0604020202020204" pitchFamily="34" charset="0"/>
            </a:endParaRPr>
          </a:p>
        </p:txBody>
      </p:sp>
    </p:spTree>
    <p:extLst>
      <p:ext uri="{BB962C8B-B14F-4D97-AF65-F5344CB8AC3E}">
        <p14:creationId xmlns:p14="http://schemas.microsoft.com/office/powerpoint/2010/main" val="39004889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Metin kutusu 20">
            <a:extLst>
              <a:ext uri="{FF2B5EF4-FFF2-40B4-BE49-F238E27FC236}">
                <a16:creationId xmlns:a16="http://schemas.microsoft.com/office/drawing/2014/main" id="{D40DB456-2D76-40E2-A280-94CECABBE4B0}"/>
              </a:ext>
            </a:extLst>
          </p:cNvPr>
          <p:cNvSpPr txBox="1"/>
          <p:nvPr/>
        </p:nvSpPr>
        <p:spPr>
          <a:xfrm>
            <a:off x="59017" y="451208"/>
            <a:ext cx="3255556" cy="323165"/>
          </a:xfrm>
          <a:prstGeom prst="rect">
            <a:avLst/>
          </a:prstGeom>
          <a:noFill/>
        </p:spPr>
        <p:txBody>
          <a:bodyPr wrap="square" rtlCol="0">
            <a:spAutoFit/>
          </a:bodyPr>
          <a:lstStyle/>
          <a:p>
            <a:pPr algn="ctr"/>
            <a:r>
              <a:rPr lang="tr-TR" sz="1500" b="1" dirty="0">
                <a:latin typeface="+mj-lt"/>
                <a:cs typeface="Arial" panose="020B0604020202020204" pitchFamily="34" charset="0"/>
              </a:rPr>
              <a:t>Sayı Problemleri</a:t>
            </a:r>
          </a:p>
        </p:txBody>
      </p:sp>
      <p:sp>
        <p:nvSpPr>
          <p:cNvPr id="22" name="Dikdörtgen 21">
            <a:extLst>
              <a:ext uri="{FF2B5EF4-FFF2-40B4-BE49-F238E27FC236}">
                <a16:creationId xmlns:a16="http://schemas.microsoft.com/office/drawing/2014/main" id="{C6E7A506-023C-4AF7-B0E4-2C2779D8C737}"/>
              </a:ext>
            </a:extLst>
          </p:cNvPr>
          <p:cNvSpPr/>
          <p:nvPr/>
        </p:nvSpPr>
        <p:spPr>
          <a:xfrm>
            <a:off x="3566635" y="451208"/>
            <a:ext cx="3255556" cy="827311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2</a:t>
            </a:r>
          </a:p>
        </p:txBody>
      </p:sp>
      <mc:AlternateContent xmlns:mc="http://schemas.openxmlformats.org/markup-compatibility/2006" xmlns:a14="http://schemas.microsoft.com/office/drawing/2010/main">
        <mc:Choice Requires="a14">
          <p:sp>
            <p:nvSpPr>
              <p:cNvPr id="24" name="Metin kutusu 23">
                <a:extLst>
                  <a:ext uri="{FF2B5EF4-FFF2-40B4-BE49-F238E27FC236}">
                    <a16:creationId xmlns:a16="http://schemas.microsoft.com/office/drawing/2014/main" id="{FCE12CF2-9BD6-4849-854D-35FEDAE75141}"/>
                  </a:ext>
                </a:extLst>
              </p:cNvPr>
              <p:cNvSpPr txBox="1"/>
              <p:nvPr/>
            </p:nvSpPr>
            <p:spPr>
              <a:xfrm>
                <a:off x="63754" y="752415"/>
                <a:ext cx="3255556" cy="6821932"/>
              </a:xfrm>
              <a:prstGeom prst="rect">
                <a:avLst/>
              </a:prstGeom>
              <a:noFill/>
            </p:spPr>
            <p:txBody>
              <a:bodyPr wrap="square" rtlCol="0">
                <a:spAutoFit/>
              </a:bodyPr>
              <a:lstStyle/>
              <a:p>
                <a:r>
                  <a:rPr lang="tr-TR" sz="1000" b="1" noProof="1">
                    <a:solidFill>
                      <a:schemeClr val="tx1"/>
                    </a:solidFill>
                    <a:cs typeface="Arial" panose="020B0604020202020204" pitchFamily="34" charset="0"/>
                  </a:rPr>
                  <a:t>Sayı problemleri, </a:t>
                </a:r>
                <a:r>
                  <a:rPr lang="tr-TR" sz="1000" noProof="1">
                    <a:solidFill>
                      <a:schemeClr val="tx1"/>
                    </a:solidFill>
                    <a:cs typeface="Arial" panose="020B0604020202020204" pitchFamily="34" charset="0"/>
                  </a:rPr>
                  <a:t>genel olarak tüm sınavda en fazla çıkan problem başlığıdır. Sayı problemleri ve genel olarak tüm problemleri çözümleyebilmek için düzenli okuma alışkanlığı kazanmamız gerekir. Genel olarak problemler okuduğunu idrak edip işi matematiksel boyuta taşıma ve bu bağlamda gereken denklemleri ve işlemleri çözümlemektir. O yüzden ilk olarak temel seviye denklem kurma başlığı altında sizlere temel denklem kurmayı ve bilinmeyenler atayarak soruları çözmeyi öğreteceğiz. Böylelikle denklem kurma ve okuduğunuzu denkleme dökmeyi öğrenmiş olacaksınız. </a:t>
                </a:r>
              </a:p>
              <a:p>
                <a:endParaRPr lang="tr-TR" sz="1000" b="1" noProof="1">
                  <a:solidFill>
                    <a:schemeClr val="tx1"/>
                  </a:solidFill>
                  <a:cs typeface="Arial" panose="020B0604020202020204" pitchFamily="34" charset="0"/>
                </a:endParaRPr>
              </a:p>
              <a:p>
                <a:r>
                  <a:rPr lang="tr-TR" sz="1000" b="1" noProof="1">
                    <a:solidFill>
                      <a:schemeClr val="tx1"/>
                    </a:solidFill>
                    <a:cs typeface="Arial" panose="020B0604020202020204" pitchFamily="34" charset="0"/>
                  </a:rPr>
                  <a:t>Matematiksel boyuta çevirme (bir sayımız x olsun) :</a:t>
                </a:r>
              </a:p>
              <a:p>
                <a:endParaRPr lang="tr-TR" sz="1000" b="1"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4 fazlası =</a:t>
                </a:r>
                <a:r>
                  <a:rPr lang="tr-TR" sz="1000" b="1"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x+4</a:t>
                </a: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3 eksiği  = x-3</a:t>
                </a: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5 katı = 5 . X</a:t>
                </a: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üçte biri (</a:t>
                </a:r>
                <a14:m>
                  <m:oMath xmlns:m="http://schemas.openxmlformats.org/officeDocument/2006/math">
                    <m:r>
                      <a:rPr lang="tr-TR" sz="1000" b="0" i="0" noProof="1" smtClean="0">
                        <a:solidFill>
                          <a:schemeClr val="tx1"/>
                        </a:solidFill>
                        <a:latin typeface="Cambria Math" panose="02040503050406030204" pitchFamily="18" charset="0"/>
                      </a:rPr>
                      <m:t> </m:t>
                    </m:r>
                    <m:f>
                      <m:fPr>
                        <m:ctrlPr>
                          <a:rPr lang="tr-TR" sz="1000" i="1" noProof="1" smtClean="0">
                            <a:solidFill>
                              <a:schemeClr val="tx1"/>
                            </a:solidFill>
                            <a:latin typeface="Cambria Math" panose="02040503050406030204" pitchFamily="18" charset="0"/>
                          </a:rPr>
                        </m:ctrlPr>
                      </m:fPr>
                      <m:num>
                        <m:r>
                          <a:rPr lang="tr-TR" sz="1000" b="0" i="1" noProof="1" smtClean="0">
                            <a:solidFill>
                              <a:schemeClr val="tx1"/>
                            </a:solidFill>
                            <a:latin typeface="Cambria Math" panose="02040503050406030204" pitchFamily="18" charset="0"/>
                          </a:rPr>
                          <m:t> </m:t>
                        </m:r>
                        <m:r>
                          <m:rPr>
                            <m:nor/>
                          </m:rPr>
                          <a:rPr lang="tr-TR" sz="1000" b="0" i="0" noProof="1" smtClean="0">
                            <a:solidFill>
                              <a:schemeClr val="tx1"/>
                            </a:solidFill>
                            <a:latin typeface="Helvetica" panose="020B0604020202020204" pitchFamily="34" charset="0"/>
                            <a:cs typeface="Helvetica" panose="020B0604020202020204" pitchFamily="34" charset="0"/>
                          </a:rPr>
                          <m:t>1</m:t>
                        </m:r>
                        <m:r>
                          <a:rPr lang="tr-TR" sz="1000" b="0" i="1" noProof="1" smtClean="0">
                            <a:solidFill>
                              <a:schemeClr val="tx1"/>
                            </a:solidFill>
                            <a:latin typeface="Cambria Math" panose="02040503050406030204" pitchFamily="18" charset="0"/>
                          </a:rPr>
                          <m:t> </m:t>
                        </m:r>
                      </m:num>
                      <m:den>
                        <m:r>
                          <m:rPr>
                            <m:nor/>
                          </m:rPr>
                          <a:rPr lang="tr-TR" sz="1000" i="0" noProof="1" smtClean="0">
                            <a:solidFill>
                              <a:schemeClr val="tx1"/>
                            </a:solidFill>
                            <a:latin typeface="Helvetica" panose="020B0604020202020204" pitchFamily="34" charset="0"/>
                            <a:cs typeface="Helvetica" panose="020B0604020202020204" pitchFamily="34" charset="0"/>
                          </a:rPr>
                          <m:t>3</m:t>
                        </m:r>
                      </m:den>
                    </m:f>
                  </m:oMath>
                </a14:m>
                <a:r>
                  <a:rPr lang="tr-TR" sz="1000" noProof="1">
                    <a:solidFill>
                      <a:schemeClr val="tx1"/>
                    </a:solidFill>
                    <a:cs typeface="Arial" panose="020B0604020202020204" pitchFamily="34" charset="0"/>
                  </a:rPr>
                  <a:t>`ü )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i="0" noProof="1" smtClean="0">
                            <a:solidFill>
                              <a:schemeClr val="tx1"/>
                            </a:solidFill>
                            <a:latin typeface="Helvetica" panose="020B0604020202020204" pitchFamily="34" charset="0"/>
                            <a:cs typeface="Helvetica" panose="020B0604020202020204" pitchFamily="34" charset="0"/>
                          </a:rPr>
                          <m:t>3</m:t>
                        </m:r>
                      </m:den>
                    </m:f>
                  </m:oMath>
                </a14:m>
                <a:endParaRPr lang="tr-TR" sz="900" noProof="1">
                  <a:solidFill>
                    <a:schemeClr val="tx1"/>
                  </a:solidFill>
                  <a:cs typeface="Helvetica"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yarısı </a:t>
                </a:r>
                <a:r>
                  <a:rPr lang="tr-TR" sz="900" noProof="1">
                    <a:solidFill>
                      <a:schemeClr val="tx1"/>
                    </a:solidFill>
                    <a:cs typeface="Arial" panose="020B0604020202020204" pitchFamily="34" charset="0"/>
                  </a:rPr>
                  <a:t>(</a:t>
                </a:r>
                <a14:m>
                  <m:oMath xmlns:m="http://schemas.openxmlformats.org/officeDocument/2006/math">
                    <m:r>
                      <a:rPr lang="tr-TR" sz="900" b="0" i="0" noProof="1" smtClean="0">
                        <a:solidFill>
                          <a:schemeClr val="tx1"/>
                        </a:solidFill>
                        <a:latin typeface="Cambria Math" panose="02040503050406030204" pitchFamily="18" charset="0"/>
                      </a:rPr>
                      <m:t> </m:t>
                    </m:r>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1</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2</m:t>
                        </m:r>
                      </m:den>
                    </m:f>
                  </m:oMath>
                </a14:m>
                <a:r>
                  <a:rPr lang="tr-TR" sz="900" noProof="1">
                    <a:solidFill>
                      <a:schemeClr val="tx1"/>
                    </a:solidFill>
                    <a:cs typeface="Arial" panose="020B0604020202020204" pitchFamily="34" charset="0"/>
                  </a:rPr>
                  <a:t>`ü ) =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1"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x</m:t>
                        </m:r>
                        <m:r>
                          <a:rPr lang="tr-TR" sz="800" b="0" i="1"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2</m:t>
                        </m:r>
                      </m:den>
                    </m:f>
                  </m:oMath>
                </a14:m>
                <a:br>
                  <a:rPr lang="tr-TR" sz="900" noProof="1">
                    <a:solidFill>
                      <a:schemeClr val="tx1"/>
                    </a:solidFill>
                    <a:cs typeface="Arial" panose="020B0604020202020204" pitchFamily="34" charset="0"/>
                  </a:rPr>
                </a:br>
                <a:endParaRPr lang="tr-TR" sz="9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3</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2</m:t>
                        </m:r>
                      </m:den>
                    </m:f>
                  </m:oMath>
                </a14:m>
                <a:r>
                  <a:rPr lang="tr-TR" sz="9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katının 2 eksiği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Cambria Math" panose="02040503050406030204" pitchFamily="18" charset="0"/>
                          </a:rPr>
                          <m:t>3</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2</m:t>
                        </m:r>
                      </m:den>
                    </m:f>
                  </m:oMath>
                </a14:m>
                <a:r>
                  <a:rPr lang="tr-TR" sz="9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- 2</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3 katının 4 eksiği = 3x – 4</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çeyreği ile 3 de birinin toplamı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4</m:t>
                        </m:r>
                      </m:den>
                    </m:f>
                  </m:oMath>
                </a14:m>
                <a:r>
                  <a:rPr lang="tr-TR" sz="900" noProof="1">
                    <a:solidFill>
                      <a:schemeClr val="tx1"/>
                    </a:solidFill>
                    <a:cs typeface="Arial" panose="020B0604020202020204" pitchFamily="34" charset="0"/>
                  </a:rPr>
                  <a:t>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i="0" noProof="1" smtClean="0">
                            <a:solidFill>
                              <a:schemeClr val="tx1"/>
                            </a:solidFill>
                            <a:latin typeface="Helvetica" panose="020B0604020202020204" pitchFamily="34" charset="0"/>
                            <a:cs typeface="Helvetica" panose="020B0604020202020204" pitchFamily="34" charset="0"/>
                          </a:rPr>
                          <m:t>3</m:t>
                        </m:r>
                      </m:den>
                    </m:f>
                  </m:oMath>
                </a14:m>
                <a:br>
                  <a:rPr lang="tr-TR" sz="1000" noProof="1">
                    <a:solidFill>
                      <a:schemeClr val="tx1"/>
                    </a:solidFill>
                    <a:cs typeface="Arial" panose="020B0604020202020204" pitchFamily="34" charset="0"/>
                  </a:rPr>
                </a:br>
                <a:r>
                  <a:rPr lang="tr-TR" sz="1000" noProof="1">
                    <a:solidFill>
                      <a:schemeClr val="tx1"/>
                    </a:solidFill>
                    <a:cs typeface="Arial" panose="020B0604020202020204" pitchFamily="34" charset="0"/>
                  </a:rPr>
                  <a:t> </a:t>
                </a: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küpüyle karesinin farkı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m:rPr>
                            <m:nor/>
                          </m:rPr>
                          <a:rPr lang="tr-TR" sz="1000" i="0" noProof="1" smtClean="0">
                            <a:solidFill>
                              <a:schemeClr val="tx1"/>
                            </a:solidFill>
                            <a:latin typeface="Helvetica" panose="020B0604020202020204" pitchFamily="34" charset="0"/>
                            <a:cs typeface="Helvetica" panose="020B0604020202020204" pitchFamily="34" charset="0"/>
                          </a:rPr>
                          <m:t>x</m:t>
                        </m:r>
                      </m:e>
                      <m:sup>
                        <m:r>
                          <a:rPr lang="tr-TR" sz="1000" i="0" noProof="1" smtClean="0">
                            <a:solidFill>
                              <a:schemeClr val="tx1"/>
                            </a:solidFill>
                            <a:latin typeface="Cambria Math" panose="02040503050406030204" pitchFamily="18" charset="0"/>
                          </a:rPr>
                          <m:t>3</m:t>
                        </m:r>
                      </m:sup>
                    </m:sSup>
                    <m:r>
                      <a:rPr lang="tr-TR" sz="1000" i="0" noProof="1" smtClean="0">
                        <a:solidFill>
                          <a:schemeClr val="tx1"/>
                        </a:solidFill>
                        <a:latin typeface="Cambria Math" panose="02040503050406030204" pitchFamily="18" charset="0"/>
                      </a:rPr>
                      <m:t>−</m:t>
                    </m:r>
                    <m:sSup>
                      <m:sSupPr>
                        <m:ctrlPr>
                          <a:rPr lang="tr-TR" sz="1000" i="1" noProof="1" smtClean="0">
                            <a:solidFill>
                              <a:schemeClr val="tx1"/>
                            </a:solidFill>
                            <a:latin typeface="Cambria Math" panose="02040503050406030204" pitchFamily="18" charset="0"/>
                          </a:rPr>
                        </m:ctrlPr>
                      </m:sSupPr>
                      <m:e>
                        <m:r>
                          <m:rPr>
                            <m:nor/>
                          </m:rPr>
                          <a:rPr lang="tr-TR" sz="1000" i="0" noProof="1" smtClean="0">
                            <a:solidFill>
                              <a:schemeClr val="tx1"/>
                            </a:solidFill>
                            <a:latin typeface="Helvetica" panose="020B0604020202020204" pitchFamily="34" charset="0"/>
                            <a:cs typeface="Helvetica" panose="020B0604020202020204" pitchFamily="34" charset="0"/>
                          </a:rPr>
                          <m:t>x</m:t>
                        </m:r>
                      </m:e>
                      <m:sup>
                        <m:r>
                          <a:rPr lang="tr-TR" sz="1000" i="0" noProof="1" smtClean="0">
                            <a:solidFill>
                              <a:schemeClr val="tx1"/>
                            </a:solidFill>
                            <a:latin typeface="Cambria Math" panose="02040503050406030204" pitchFamily="18" charset="0"/>
                          </a:rPr>
                          <m:t>2</m:t>
                        </m:r>
                      </m:sup>
                    </m:sSup>
                  </m:oMath>
                </a14:m>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karesinden çeyreğini çıkarırsak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m:rPr>
                            <m:nor/>
                          </m:rPr>
                          <a:rPr lang="tr-TR" sz="1000" i="0" noProof="1" smtClean="0">
                            <a:solidFill>
                              <a:schemeClr val="tx1"/>
                            </a:solidFill>
                            <a:latin typeface="Helvetica" panose="020B0604020202020204" pitchFamily="34" charset="0"/>
                            <a:cs typeface="Helvetica" panose="020B0604020202020204" pitchFamily="34" charset="0"/>
                          </a:rPr>
                          <m:t>x</m:t>
                        </m:r>
                      </m:e>
                      <m:sup>
                        <m:r>
                          <a:rPr lang="tr-TR" sz="1000" i="0" noProof="1" smtClean="0">
                            <a:solidFill>
                              <a:schemeClr val="tx1"/>
                            </a:solidFill>
                            <a:latin typeface="Cambria Math" panose="02040503050406030204" pitchFamily="18" charset="0"/>
                          </a:rPr>
                          <m:t>2</m:t>
                        </m:r>
                      </m:sup>
                    </m:sSup>
                  </m:oMath>
                </a14:m>
                <a:r>
                  <a:rPr lang="tr-TR" sz="1000" noProof="1">
                    <a:solidFill>
                      <a:schemeClr val="tx1"/>
                    </a:solidFill>
                    <a:cs typeface="Arial" panose="020B0604020202020204" pitchFamily="34" charset="0"/>
                  </a:rPr>
                  <a:t>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4</m:t>
                        </m:r>
                      </m:den>
                    </m:f>
                  </m:oMath>
                </a14:m>
                <a:r>
                  <a:rPr lang="tr-TR" sz="1000" noProof="1">
                    <a:solidFill>
                      <a:schemeClr val="tx1"/>
                    </a:solidFill>
                    <a:cs typeface="Arial" panose="020B0604020202020204" pitchFamily="34" charset="0"/>
                  </a:rPr>
                  <a:t> </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2 katının 3 eksiği aynı sayının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2</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7</m:t>
                        </m:r>
                      </m:den>
                    </m:f>
                  </m:oMath>
                </a14:m>
                <a:r>
                  <a:rPr lang="tr-TR" sz="1000" noProof="1">
                    <a:solidFill>
                      <a:schemeClr val="tx1"/>
                    </a:solidFill>
                    <a:cs typeface="Arial" panose="020B0604020202020204" pitchFamily="34" charset="0"/>
                  </a:rPr>
                  <a:t>`sinin 4 fazlasına eşitse = 2x-3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2</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7</m:t>
                        </m:r>
                      </m:den>
                    </m:f>
                  </m:oMath>
                </a14:m>
                <a:r>
                  <a:rPr lang="tr-TR" sz="9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+ 4</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3</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4</m:t>
                        </m:r>
                      </m:den>
                    </m:f>
                  </m:oMath>
                </a14:m>
                <a:r>
                  <a:rPr lang="tr-TR" sz="9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ile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4</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3</m:t>
                        </m:r>
                      </m:den>
                    </m:f>
                  </m:oMath>
                </a14:m>
                <a:r>
                  <a:rPr lang="tr-TR" sz="1000" noProof="1">
                    <a:solidFill>
                      <a:schemeClr val="tx1"/>
                    </a:solidFill>
                    <a:cs typeface="Arial" panose="020B0604020202020204" pitchFamily="34" charset="0"/>
                  </a:rPr>
                  <a:t> ünün toplamı =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3</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4</m:t>
                        </m:r>
                      </m:den>
                    </m:f>
                  </m:oMath>
                </a14:m>
                <a:r>
                  <a:rPr lang="tr-TR" sz="9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4</m:t>
                        </m:r>
                        <m:r>
                          <m:rPr>
                            <m:nor/>
                          </m:rPr>
                          <a:rPr lang="tr-TR" sz="900" b="0" i="0" noProof="1" smtClean="0">
                            <a:solidFill>
                              <a:schemeClr val="tx1"/>
                            </a:solidFill>
                            <a:latin typeface="Helvetica" panose="020B0604020202020204" pitchFamily="34" charset="0"/>
                            <a:cs typeface="Helvetica" panose="020B0604020202020204" pitchFamily="34" charset="0"/>
                          </a:rPr>
                          <m:t>x</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3</m:t>
                        </m:r>
                      </m:den>
                    </m:f>
                  </m:oMath>
                </a14:m>
                <a:r>
                  <a:rPr lang="tr-TR" sz="900" noProof="1">
                    <a:solidFill>
                      <a:schemeClr val="tx1"/>
                    </a:solidFill>
                    <a:cs typeface="Arial" panose="020B0604020202020204" pitchFamily="34" charset="0"/>
                  </a:rPr>
                  <a:t> </a:t>
                </a:r>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2</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3</m:t>
                        </m:r>
                      </m:den>
                    </m:f>
                  </m:oMath>
                </a14:m>
                <a:r>
                  <a:rPr lang="tr-TR" sz="1000" noProof="1">
                    <a:solidFill>
                      <a:schemeClr val="tx1"/>
                    </a:solidFill>
                    <a:cs typeface="Arial" panose="020B0604020202020204" pitchFamily="34" charset="0"/>
                  </a:rPr>
                  <a:t>`ünün 2 fazlasının karesi aynı sayının </a:t>
                </a:r>
                <a14:m>
                  <m:oMath xmlns:m="http://schemas.openxmlformats.org/officeDocument/2006/math">
                    <m:f>
                      <m:fPr>
                        <m:ctrlPr>
                          <a:rPr lang="tr-TR" sz="900" i="1" noProof="1" smtClean="0">
                            <a:solidFill>
                              <a:schemeClr val="tx1"/>
                            </a:solidFill>
                            <a:latin typeface="Cambria Math" panose="02040503050406030204" pitchFamily="18" charset="0"/>
                          </a:rPr>
                        </m:ctrlPr>
                      </m:fPr>
                      <m:num>
                        <m:r>
                          <a:rPr lang="tr-TR" sz="900" b="0" i="1" noProof="1" smtClean="0">
                            <a:solidFill>
                              <a:schemeClr val="tx1"/>
                            </a:solidFill>
                            <a:latin typeface="Cambria Math" panose="02040503050406030204" pitchFamily="18" charset="0"/>
                          </a:rPr>
                          <m:t> </m:t>
                        </m:r>
                        <m:r>
                          <m:rPr>
                            <m:nor/>
                          </m:rPr>
                          <a:rPr lang="tr-TR" sz="900" b="0" i="0" noProof="1" smtClean="0">
                            <a:solidFill>
                              <a:schemeClr val="tx1"/>
                            </a:solidFill>
                            <a:latin typeface="Helvetica" panose="020B0604020202020204" pitchFamily="34" charset="0"/>
                            <a:cs typeface="Helvetica" panose="020B0604020202020204" pitchFamily="34" charset="0"/>
                          </a:rPr>
                          <m:t>4</m:t>
                        </m:r>
                        <m:r>
                          <a:rPr lang="tr-TR" sz="900" b="0" i="1" noProof="1" smtClean="0">
                            <a:solidFill>
                              <a:schemeClr val="tx1"/>
                            </a:solidFill>
                            <a:latin typeface="Cambria Math" panose="02040503050406030204" pitchFamily="18" charset="0"/>
                          </a:rPr>
                          <m:t> </m:t>
                        </m:r>
                      </m:num>
                      <m:den>
                        <m:r>
                          <m:rPr>
                            <m:nor/>
                          </m:rPr>
                          <a:rPr lang="tr-TR" sz="900" b="0" i="0" noProof="1" smtClean="0">
                            <a:solidFill>
                              <a:schemeClr val="tx1"/>
                            </a:solidFill>
                            <a:latin typeface="Helvetica" panose="020B0604020202020204" pitchFamily="34" charset="0"/>
                            <a:cs typeface="Helvetica" panose="020B0604020202020204" pitchFamily="34" charset="0"/>
                          </a:rPr>
                          <m:t>3</m:t>
                        </m:r>
                      </m:den>
                    </m:f>
                  </m:oMath>
                </a14:m>
                <a:r>
                  <a:rPr lang="tr-TR" sz="900" noProof="1">
                    <a:solidFill>
                      <a:schemeClr val="tx1"/>
                    </a:solidFill>
                    <a:cs typeface="Arial" panose="020B0604020202020204" pitchFamily="34" charset="0"/>
                  </a:rPr>
                  <a:t> </a:t>
                </a:r>
                <a:r>
                  <a:rPr lang="tr-TR" sz="1000" noProof="1">
                    <a:solidFill>
                      <a:schemeClr val="tx1"/>
                    </a:solidFill>
                    <a:cs typeface="Arial" panose="020B0604020202020204" pitchFamily="34" charset="0"/>
                  </a:rPr>
                  <a:t>`ünün 3 eksiğinin küpüne eşitse </a:t>
                </a:r>
              </a:p>
              <a:p>
                <a:pPr/>
                <a14:m>
                  <m:oMathPara xmlns:m="http://schemas.openxmlformats.org/officeDocument/2006/math">
                    <m:oMathParaPr>
                      <m:jc m:val="centerGroup"/>
                    </m:oMathParaPr>
                    <m:oMath xmlns:m="http://schemas.openxmlformats.org/officeDocument/2006/math">
                      <m:sSup>
                        <m:sSupPr>
                          <m:ctrlPr>
                            <a:rPr lang="tr-TR" sz="1000" i="1" noProof="1" smtClean="0">
                              <a:solidFill>
                                <a:schemeClr val="tx1"/>
                              </a:solidFill>
                              <a:latin typeface="Cambria Math" panose="02040503050406030204" pitchFamily="18" charset="0"/>
                            </a:rPr>
                          </m:ctrlPr>
                        </m:sSupPr>
                        <m:e>
                          <m:d>
                            <m:dPr>
                              <m:ctrlPr>
                                <a:rPr lang="tr-TR" sz="1000" i="1" noProof="1" smtClean="0">
                                  <a:solidFill>
                                    <a:schemeClr val="tx1"/>
                                  </a:solidFill>
                                  <a:latin typeface="Cambria Math" panose="02040503050406030204" pitchFamily="18" charset="0"/>
                                </a:rPr>
                              </m:ctrlPr>
                            </m:dPr>
                            <m:e>
                              <m:f>
                                <m:fPr>
                                  <m:ctrlPr>
                                    <a:rPr lang="tr-TR" sz="1000" i="1" noProof="1" smtClean="0">
                                      <a:solidFill>
                                        <a:schemeClr val="tx1"/>
                                      </a:solidFill>
                                      <a:latin typeface="Cambria Math" panose="02040503050406030204" pitchFamily="18" charset="0"/>
                                    </a:rPr>
                                  </m:ctrlPr>
                                </m:fPr>
                                <m:num>
                                  <m:r>
                                    <m:rPr>
                                      <m:nor/>
                                    </m:rPr>
                                    <a:rPr lang="tr-TR" sz="1000" i="0" noProof="1" smtClean="0">
                                      <a:solidFill>
                                        <a:schemeClr val="tx1"/>
                                      </a:solidFill>
                                      <a:latin typeface="Helvetica" panose="020B0604020202020204" pitchFamily="34" charset="0"/>
                                      <a:cs typeface="Helvetica" panose="020B0604020202020204" pitchFamily="34" charset="0"/>
                                    </a:rPr>
                                    <m:t>2</m:t>
                                  </m:r>
                                  <m:r>
                                    <m:rPr>
                                      <m:nor/>
                                    </m:rPr>
                                    <a:rPr lang="tr-TR" sz="1000" i="0" noProof="1" smtClean="0">
                                      <a:solidFill>
                                        <a:schemeClr val="tx1"/>
                                      </a:solidFill>
                                      <a:latin typeface="Helvetica" panose="020B0604020202020204" pitchFamily="34" charset="0"/>
                                      <a:cs typeface="Helvetica" panose="020B0604020202020204" pitchFamily="34" charset="0"/>
                                    </a:rPr>
                                    <m:t>x</m:t>
                                  </m:r>
                                </m:num>
                                <m:den>
                                  <m:r>
                                    <m:rPr>
                                      <m:nor/>
                                    </m:rPr>
                                    <a:rPr lang="tr-TR" sz="1000" i="0" noProof="1" smtClean="0">
                                      <a:solidFill>
                                        <a:schemeClr val="tx1"/>
                                      </a:solidFill>
                                      <a:latin typeface="Helvetica" panose="020B0604020202020204" pitchFamily="34" charset="0"/>
                                      <a:cs typeface="Helvetica" panose="020B0604020202020204" pitchFamily="34" charset="0"/>
                                    </a:rPr>
                                    <m:t>3</m:t>
                                  </m:r>
                                </m:den>
                              </m:f>
                              <m:r>
                                <a:rPr lang="tr-TR" sz="1000" i="1" noProof="1" smtClean="0">
                                  <a:solidFill>
                                    <a:schemeClr val="tx1"/>
                                  </a:solidFill>
                                  <a:latin typeface="Cambria Math" panose="02040503050406030204" pitchFamily="18" charset="0"/>
                                </a:rPr>
                                <m:t>+</m:t>
                              </m:r>
                              <m:r>
                                <m:rPr>
                                  <m:nor/>
                                </m:rPr>
                                <a:rPr lang="tr-TR" sz="1000" i="0" noProof="1" smtClean="0">
                                  <a:solidFill>
                                    <a:schemeClr val="tx1"/>
                                  </a:solidFill>
                                  <a:latin typeface="Helvetica" panose="020B0604020202020204" pitchFamily="34" charset="0"/>
                                  <a:cs typeface="Helvetica" panose="020B0604020202020204" pitchFamily="34" charset="0"/>
                                </a:rPr>
                                <m:t>2</m:t>
                              </m:r>
                            </m:e>
                          </m:d>
                        </m:e>
                        <m:sup>
                          <m:r>
                            <a:rPr lang="tr-TR" sz="1000" i="1" noProof="1" smtClean="0">
                              <a:solidFill>
                                <a:schemeClr val="tx1"/>
                              </a:solidFill>
                              <a:latin typeface="Cambria Math" panose="02040503050406030204" pitchFamily="18" charset="0"/>
                            </a:rPr>
                            <m:t>2</m:t>
                          </m:r>
                        </m:sup>
                      </m:sSup>
                      <m:r>
                        <a:rPr lang="tr-TR" sz="1000" i="1" noProof="1" smtClean="0">
                          <a:solidFill>
                            <a:schemeClr val="tx1"/>
                          </a:solidFill>
                          <a:latin typeface="Cambria Math" panose="02040503050406030204" pitchFamily="18" charset="0"/>
                        </a:rPr>
                        <m:t>=</m:t>
                      </m:r>
                      <m:sSup>
                        <m:sSupPr>
                          <m:ctrlPr>
                            <a:rPr lang="tr-TR" sz="1000" i="1" noProof="1" smtClean="0">
                              <a:solidFill>
                                <a:schemeClr val="tx1"/>
                              </a:solidFill>
                              <a:latin typeface="Cambria Math" panose="02040503050406030204" pitchFamily="18" charset="0"/>
                            </a:rPr>
                          </m:ctrlPr>
                        </m:sSupPr>
                        <m:e>
                          <m:d>
                            <m:dPr>
                              <m:ctrlPr>
                                <a:rPr lang="tr-TR" sz="1000" i="1" noProof="1" smtClean="0">
                                  <a:solidFill>
                                    <a:schemeClr val="tx1"/>
                                  </a:solidFill>
                                  <a:latin typeface="Cambria Math" panose="02040503050406030204" pitchFamily="18" charset="0"/>
                                </a:rPr>
                              </m:ctrlPr>
                            </m:dPr>
                            <m:e>
                              <m:f>
                                <m:fPr>
                                  <m:ctrlPr>
                                    <a:rPr lang="tr-TR" sz="1000" i="1" noProof="1" smtClean="0">
                                      <a:solidFill>
                                        <a:schemeClr val="tx1"/>
                                      </a:solidFill>
                                      <a:latin typeface="Cambria Math" panose="02040503050406030204" pitchFamily="18" charset="0"/>
                                    </a:rPr>
                                  </m:ctrlPr>
                                </m:fPr>
                                <m:num>
                                  <m:r>
                                    <m:rPr>
                                      <m:nor/>
                                    </m:rPr>
                                    <a:rPr lang="tr-TR" sz="1000" i="0" noProof="1" smtClean="0">
                                      <a:solidFill>
                                        <a:schemeClr val="tx1"/>
                                      </a:solidFill>
                                      <a:latin typeface="Helvetica" panose="020B0604020202020204" pitchFamily="34" charset="0"/>
                                      <a:cs typeface="Helvetica" panose="020B0604020202020204" pitchFamily="34" charset="0"/>
                                    </a:rPr>
                                    <m:t>4</m:t>
                                  </m:r>
                                  <m:r>
                                    <m:rPr>
                                      <m:nor/>
                                    </m:rPr>
                                    <a:rPr lang="tr-TR" sz="1000" i="0" noProof="1" smtClean="0">
                                      <a:solidFill>
                                        <a:schemeClr val="tx1"/>
                                      </a:solidFill>
                                      <a:latin typeface="Helvetica" panose="020B0604020202020204" pitchFamily="34" charset="0"/>
                                      <a:cs typeface="Helvetica" panose="020B0604020202020204" pitchFamily="34" charset="0"/>
                                    </a:rPr>
                                    <m:t>x</m:t>
                                  </m:r>
                                </m:num>
                                <m:den>
                                  <m:r>
                                    <m:rPr>
                                      <m:nor/>
                                    </m:rPr>
                                    <a:rPr lang="tr-TR" sz="1000" i="0" noProof="1" smtClean="0">
                                      <a:solidFill>
                                        <a:schemeClr val="tx1"/>
                                      </a:solidFill>
                                      <a:latin typeface="Helvetica" panose="020B0604020202020204" pitchFamily="34" charset="0"/>
                                      <a:cs typeface="Helvetica" panose="020B0604020202020204" pitchFamily="34" charset="0"/>
                                    </a:rPr>
                                    <m:t>3</m:t>
                                  </m:r>
                                </m:den>
                              </m:f>
                              <m:r>
                                <a:rPr lang="tr-TR" sz="1000" i="1" noProof="1" smtClean="0">
                                  <a:solidFill>
                                    <a:schemeClr val="tx1"/>
                                  </a:solidFill>
                                  <a:latin typeface="Cambria Math" panose="02040503050406030204" pitchFamily="18" charset="0"/>
                                </a:rPr>
                                <m:t>−3</m:t>
                              </m:r>
                            </m:e>
                          </m:d>
                        </m:e>
                        <m:sup>
                          <m:r>
                            <a:rPr lang="tr-TR" sz="1000" i="1" noProof="1" smtClean="0">
                              <a:solidFill>
                                <a:schemeClr val="tx1"/>
                              </a:solidFill>
                              <a:latin typeface="Cambria Math" panose="02040503050406030204" pitchFamily="18" charset="0"/>
                            </a:rPr>
                            <m:t>3</m:t>
                          </m:r>
                        </m:sup>
                      </m:sSup>
                    </m:oMath>
                  </m:oMathPara>
                </a14:m>
                <a:br>
                  <a:rPr lang="tr-TR" sz="1000" noProof="1">
                    <a:solidFill>
                      <a:schemeClr val="tx1"/>
                    </a:solidFill>
                    <a:cs typeface="Arial" panose="020B0604020202020204" pitchFamily="34" charset="0"/>
                  </a:rPr>
                </a:br>
                <a:endParaRPr lang="tr-TR" sz="1000" noProof="1">
                  <a:solidFill>
                    <a:schemeClr val="tx1"/>
                  </a:solidFill>
                  <a:cs typeface="Arial" panose="020B0604020202020204" pitchFamily="34" charset="0"/>
                </a:endParaRPr>
              </a:p>
            </p:txBody>
          </p:sp>
        </mc:Choice>
        <mc:Fallback xmlns="">
          <p:sp>
            <p:nvSpPr>
              <p:cNvPr id="24" name="Metin kutusu 23">
                <a:extLst>
                  <a:ext uri="{FF2B5EF4-FFF2-40B4-BE49-F238E27FC236}">
                    <a16:creationId xmlns:a16="http://schemas.microsoft.com/office/drawing/2014/main" id="{FCE12CF2-9BD6-4849-854D-35FEDAE75141}"/>
                  </a:ext>
                </a:extLst>
              </p:cNvPr>
              <p:cNvSpPr txBox="1">
                <a:spLocks noRot="1" noChangeAspect="1" noMove="1" noResize="1" noEditPoints="1" noAdjustHandles="1" noChangeArrowheads="1" noChangeShapeType="1" noTextEdit="1"/>
              </p:cNvSpPr>
              <p:nvPr/>
            </p:nvSpPr>
            <p:spPr>
              <a:xfrm>
                <a:off x="63754" y="752415"/>
                <a:ext cx="3255556" cy="6821932"/>
              </a:xfrm>
              <a:prstGeom prst="rect">
                <a:avLst/>
              </a:prstGeom>
              <a:blipFill>
                <a:blip r:embed="rId6"/>
                <a:stretch>
                  <a:fillRect/>
                </a:stretch>
              </a:blipFill>
            </p:spPr>
            <p:txBody>
              <a:bodyPr/>
              <a:lstStyle/>
              <a:p>
                <a:r>
                  <a:rPr lang="tr-TR">
                    <a:noFill/>
                  </a:rPr>
                  <a:t> </a:t>
                </a:r>
              </a:p>
            </p:txBody>
          </p:sp>
        </mc:Fallback>
      </mc:AlternateContent>
      <p:sp>
        <p:nvSpPr>
          <p:cNvPr id="25" name="Metin kutusu 24">
            <a:extLst>
              <a:ext uri="{FF2B5EF4-FFF2-40B4-BE49-F238E27FC236}">
                <a16:creationId xmlns:a16="http://schemas.microsoft.com/office/drawing/2014/main" id="{9C1BB72E-F2CF-4E1C-BEAA-5A8F221F6904}"/>
              </a:ext>
            </a:extLst>
          </p:cNvPr>
          <p:cNvSpPr txBox="1"/>
          <p:nvPr/>
        </p:nvSpPr>
        <p:spPr>
          <a:xfrm>
            <a:off x="3643513" y="419673"/>
            <a:ext cx="3255556" cy="323165"/>
          </a:xfrm>
          <a:prstGeom prst="rect">
            <a:avLst/>
          </a:prstGeom>
          <a:noFill/>
        </p:spPr>
        <p:txBody>
          <a:bodyPr wrap="square" rtlCol="0">
            <a:spAutoFit/>
          </a:bodyPr>
          <a:lstStyle/>
          <a:p>
            <a:pPr algn="ctr"/>
            <a:r>
              <a:rPr lang="tr-TR" sz="1500" b="1" dirty="0">
                <a:latin typeface="+mj-lt"/>
                <a:cs typeface="Arial" panose="020B0604020202020204" pitchFamily="34" charset="0"/>
              </a:rPr>
              <a:t>Temel Denklem Kurma Problemleri</a:t>
            </a:r>
          </a:p>
        </p:txBody>
      </p:sp>
      <p:sp>
        <p:nvSpPr>
          <p:cNvPr id="30" name="Metin kutusu 29">
            <a:extLst>
              <a:ext uri="{FF2B5EF4-FFF2-40B4-BE49-F238E27FC236}">
                <a16:creationId xmlns:a16="http://schemas.microsoft.com/office/drawing/2014/main" id="{F66A1B92-6B8E-4E41-B072-4663383CE7B8}"/>
              </a:ext>
            </a:extLst>
          </p:cNvPr>
          <p:cNvSpPr txBox="1"/>
          <p:nvPr/>
        </p:nvSpPr>
        <p:spPr>
          <a:xfrm>
            <a:off x="3604042" y="5432544"/>
            <a:ext cx="2959471" cy="707886"/>
          </a:xfrm>
          <a:prstGeom prst="rect">
            <a:avLst/>
          </a:prstGeom>
          <a:noFill/>
        </p:spPr>
        <p:txBody>
          <a:bodyPr wrap="square" rtlCol="0">
            <a:spAutoFit/>
          </a:bodyPr>
          <a:lstStyle/>
          <a:p>
            <a:r>
              <a:rPr lang="tr-TR" sz="1000" b="1" noProof="1">
                <a:cs typeface="Arial" panose="020B0604020202020204" pitchFamily="34" charset="0"/>
              </a:rPr>
              <a:t>Bir garajda siyah ve beyaz renkli araçlar bulunmak-tadır. Siyah renkli araç sayısı, beyaz renkli araç sayısından 4 fazladır. Toplamda 20 tane araç bulunduğuna göre siyah araçtan kaç tane vardır?</a:t>
            </a:r>
          </a:p>
        </p:txBody>
      </p:sp>
      <p:sp>
        <p:nvSpPr>
          <p:cNvPr id="6" name="Ok: Beşgen 5">
            <a:extLst>
              <a:ext uri="{FF2B5EF4-FFF2-40B4-BE49-F238E27FC236}">
                <a16:creationId xmlns:a16="http://schemas.microsoft.com/office/drawing/2014/main" id="{7BE1E475-ED3C-404C-A590-F0F4B50BEC20}"/>
              </a:ext>
            </a:extLst>
          </p:cNvPr>
          <p:cNvSpPr/>
          <p:nvPr/>
        </p:nvSpPr>
        <p:spPr>
          <a:xfrm>
            <a:off x="3683593" y="72878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Tüyolar</a:t>
            </a:r>
          </a:p>
        </p:txBody>
      </p:sp>
      <p:sp>
        <p:nvSpPr>
          <p:cNvPr id="34" name="Metin kutusu 33">
            <a:extLst>
              <a:ext uri="{FF2B5EF4-FFF2-40B4-BE49-F238E27FC236}">
                <a16:creationId xmlns:a16="http://schemas.microsoft.com/office/drawing/2014/main" id="{070A79C9-3AEC-47F2-9D82-7B42EB35CF09}"/>
              </a:ext>
            </a:extLst>
          </p:cNvPr>
          <p:cNvSpPr txBox="1"/>
          <p:nvPr/>
        </p:nvSpPr>
        <p:spPr>
          <a:xfrm>
            <a:off x="3640959" y="1027708"/>
            <a:ext cx="3217041" cy="3016210"/>
          </a:xfrm>
          <a:prstGeom prst="rect">
            <a:avLst/>
          </a:prstGeom>
          <a:noFill/>
        </p:spPr>
        <p:txBody>
          <a:bodyPr wrap="square" rtlCol="0">
            <a:spAutoFit/>
          </a:bodyPr>
          <a:lstStyle/>
          <a:p>
            <a:pPr marL="171450" indent="-171450">
              <a:buFont typeface="Arial" panose="020B0604020202020204" pitchFamily="34" charset="0"/>
              <a:buChar char="•"/>
            </a:pPr>
            <a:r>
              <a:rPr lang="tr-TR" sz="1000" noProof="1">
                <a:cs typeface="Arial" panose="020B0604020202020204" pitchFamily="34" charset="0"/>
              </a:rPr>
              <a:t>Denklemde ne kadar az bilinmeyen olursa o kadar çözümü kolay olacaktır.</a:t>
            </a:r>
          </a:p>
          <a:p>
            <a:pPr marL="171450" indent="-171450">
              <a:buFont typeface="Arial" panose="020B0604020202020204" pitchFamily="34" charset="0"/>
              <a:buChar char="•"/>
            </a:pPr>
            <a:r>
              <a:rPr lang="tr-TR" sz="1000" noProof="1">
                <a:cs typeface="Arial" panose="020B0604020202020204" pitchFamily="34" charset="0"/>
              </a:rPr>
              <a:t>Birbiri cinsinden yazılabilen ifadelerde farklı bilinmeyen atamak yerine birbiri cinsinden yazmamız daha kolaylık sağlayacaktır. Örneğin 2 fazlası, yarısı, 3 katının 4 eksiği gibi ifadeleri tek bilinmeyenle ifade edebiliriz ve böylelikle çözülmesi daha kolay denklemler elde ederiz.</a:t>
            </a:r>
          </a:p>
          <a:p>
            <a:pPr marL="171450" indent="-171450">
              <a:buFont typeface="Arial" panose="020B0604020202020204" pitchFamily="34" charset="0"/>
              <a:buChar char="•"/>
            </a:pPr>
            <a:r>
              <a:rPr lang="tr-TR" sz="1000" noProof="1">
                <a:cs typeface="Arial" panose="020B0604020202020204" pitchFamily="34" charset="0"/>
              </a:rPr>
              <a:t>Soruda sadece bizden istenileni bulmamız yeterli olacaktır. Soruya kendi yorumlarımızı eklerken sorudaki nesnelliği (herkes tarafından kabul edilen ve sorunun net olarak verdiği bilgiler) bozmamaya özen göstermeliyiz.  </a:t>
            </a:r>
          </a:p>
          <a:p>
            <a:pPr marL="171450" indent="-171450">
              <a:buFont typeface="Arial" panose="020B0604020202020204" pitchFamily="34" charset="0"/>
              <a:buChar char="•"/>
            </a:pPr>
            <a:r>
              <a:rPr lang="tr-TR" sz="1000" noProof="1">
                <a:cs typeface="Arial" panose="020B0604020202020204" pitchFamily="34" charset="0"/>
              </a:rPr>
              <a:t>Bazı problemlerde gerçek hayatta mümkünatı çok zor olan durumlar veya sizlere saçma (Örneğin bir dedeye yaşın kaç diye sorulduğunda dedenin yaşını tuhaf bir şekilde ifade etmesi gibi) gelen durumlar olabilir. Bu detaylara sadece eğlence amaçlı takılınız yoksa çözme hevesiniz kalmayacaktır. Olabildiğince mantıklı gerçek hayatla bağdaşan problemler sunmaya çalışacağız.</a:t>
            </a:r>
          </a:p>
        </p:txBody>
      </p:sp>
      <mc:AlternateContent xmlns:mc="http://schemas.openxmlformats.org/markup-compatibility/2006" xmlns:a14="http://schemas.microsoft.com/office/drawing/2010/main">
        <mc:Choice Requires="a14">
          <p:sp>
            <p:nvSpPr>
              <p:cNvPr id="35" name="Metin kutusu 34">
                <a:extLst>
                  <a:ext uri="{FF2B5EF4-FFF2-40B4-BE49-F238E27FC236}">
                    <a16:creationId xmlns:a16="http://schemas.microsoft.com/office/drawing/2014/main" id="{8C55BAA2-2E98-4F42-8400-CB8DF3679057}"/>
                  </a:ext>
                </a:extLst>
              </p:cNvPr>
              <p:cNvSpPr txBox="1"/>
              <p:nvPr/>
            </p:nvSpPr>
            <p:spPr>
              <a:xfrm>
                <a:off x="23622" y="7461821"/>
                <a:ext cx="3255556" cy="1420197"/>
              </a:xfrm>
              <a:prstGeom prst="rect">
                <a:avLst/>
              </a:prstGeom>
              <a:noFill/>
            </p:spPr>
            <p:txBody>
              <a:bodyPr wrap="square">
                <a:spAutoFit/>
              </a:bodyPr>
              <a:lstStyle/>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sayının çarpmaya göre tersi = </a:t>
                </a:r>
                <a14:m>
                  <m:oMath xmlns:m="http://schemas.openxmlformats.org/officeDocument/2006/math">
                    <m:f>
                      <m:fPr>
                        <m:ctrlPr>
                          <a:rPr lang="tr-TR" sz="1000" i="1" noProof="1" smtClean="0">
                            <a:solidFill>
                              <a:schemeClr val="tx1"/>
                            </a:solidFill>
                            <a:latin typeface="Cambria Math" panose="02040503050406030204" pitchFamily="18" charset="0"/>
                          </a:rPr>
                        </m:ctrlPr>
                      </m:fPr>
                      <m:num>
                        <m:r>
                          <a:rPr lang="tr-TR" sz="1000" b="0" i="1" noProof="1" smtClean="0">
                            <a:solidFill>
                              <a:schemeClr val="tx1"/>
                            </a:solidFill>
                            <a:latin typeface="Cambria Math" panose="02040503050406030204" pitchFamily="18" charset="0"/>
                          </a:rPr>
                          <m:t> </m:t>
                        </m:r>
                        <m:r>
                          <m:rPr>
                            <m:nor/>
                          </m:rPr>
                          <a:rPr lang="tr-TR" sz="1000" b="0" i="0" noProof="1" smtClean="0">
                            <a:solidFill>
                              <a:schemeClr val="tx1"/>
                            </a:solidFill>
                            <a:latin typeface="Helvetica" panose="020B0604020202020204" pitchFamily="34" charset="0"/>
                            <a:cs typeface="Helvetica" panose="020B0604020202020204" pitchFamily="34" charset="0"/>
                          </a:rPr>
                          <m:t>1</m:t>
                        </m:r>
                        <m:r>
                          <a:rPr lang="tr-TR" sz="1000" b="0" i="1" noProof="1" smtClean="0">
                            <a:solidFill>
                              <a:schemeClr val="tx1"/>
                            </a:solidFill>
                            <a:latin typeface="Cambria Math" panose="02040503050406030204" pitchFamily="18" charset="0"/>
                          </a:rPr>
                          <m:t> </m:t>
                        </m:r>
                      </m:num>
                      <m:den>
                        <m:r>
                          <m:rPr>
                            <m:nor/>
                          </m:rPr>
                          <a:rPr lang="tr-TR" sz="1000" b="0" i="0" noProof="1" smtClean="0">
                            <a:solidFill>
                              <a:schemeClr val="tx1"/>
                            </a:solidFill>
                            <a:latin typeface="Helvetica" panose="020B0604020202020204" pitchFamily="34" charset="0"/>
                            <a:cs typeface="Helvetica" panose="020B0604020202020204" pitchFamily="34" charset="0"/>
                          </a:rPr>
                          <m:t>x</m:t>
                        </m:r>
                      </m:den>
                    </m:f>
                  </m:oMath>
                </a14:m>
                <a:r>
                  <a:rPr lang="tr-TR" sz="1000" noProof="1">
                    <a:solidFill>
                      <a:schemeClr val="tx1"/>
                    </a:solidFill>
                    <a:cs typeface="Arial" panose="020B0604020202020204" pitchFamily="34" charset="0"/>
                  </a:rPr>
                  <a:t> </a:t>
                </a:r>
              </a:p>
              <a:p>
                <a:pPr marL="171450" indent="-171450">
                  <a:buFont typeface="Arial" panose="020B0604020202020204" pitchFamily="34" charset="0"/>
                  <a:buChar char="•"/>
                </a:pPr>
                <a:r>
                  <a:rPr lang="tr-TR" sz="1000" noProof="1">
                    <a:solidFill>
                      <a:schemeClr val="tx1"/>
                    </a:solidFill>
                    <a:cs typeface="Arial" panose="020B0604020202020204" pitchFamily="34" charset="0"/>
                  </a:rPr>
                  <a:t>Bir sayı x ve bu sayının toplamaya göre tersi alınmak istendiğinde bu iki sayının toplamının 0 olacağını söyleyebiliriz.  Toplamaya göre tersi de y ise şu denklemi elde edebiliriz.  x+y = 0  x= -y olacaktır. Tek bilinmeyenle çözmek istediğimizde sayımız x, toplamaya göre tersi ise –x olacaktır. Toplandığında 0 elde edilecektir.  x+(-x)= 0</a:t>
                </a:r>
              </a:p>
              <a:p>
                <a:pPr marL="171450" indent="-171450">
                  <a:buFont typeface="Arial" panose="020B0604020202020204" pitchFamily="34" charset="0"/>
                  <a:buChar char="•"/>
                </a:pPr>
                <a:endParaRPr lang="tr-TR" sz="1000" noProof="1">
                  <a:solidFill>
                    <a:schemeClr val="tx1"/>
                  </a:solidFill>
                  <a:cs typeface="Arial" panose="020B0604020202020204" pitchFamily="34" charset="0"/>
                </a:endParaRPr>
              </a:p>
            </p:txBody>
          </p:sp>
        </mc:Choice>
        <mc:Fallback xmlns="">
          <p:sp>
            <p:nvSpPr>
              <p:cNvPr id="35" name="Metin kutusu 34">
                <a:extLst>
                  <a:ext uri="{FF2B5EF4-FFF2-40B4-BE49-F238E27FC236}">
                    <a16:creationId xmlns:a16="http://schemas.microsoft.com/office/drawing/2014/main" id="{8C55BAA2-2E98-4F42-8400-CB8DF3679057}"/>
                  </a:ext>
                </a:extLst>
              </p:cNvPr>
              <p:cNvSpPr txBox="1">
                <a:spLocks noRot="1" noChangeAspect="1" noMove="1" noResize="1" noEditPoints="1" noAdjustHandles="1" noChangeArrowheads="1" noChangeShapeType="1" noTextEdit="1"/>
              </p:cNvSpPr>
              <p:nvPr/>
            </p:nvSpPr>
            <p:spPr>
              <a:xfrm>
                <a:off x="23622" y="7461821"/>
                <a:ext cx="3255556" cy="1420197"/>
              </a:xfrm>
              <a:prstGeom prst="rect">
                <a:avLst/>
              </a:prstGeom>
              <a:blipFill>
                <a:blip r:embed="rId7"/>
                <a:stretch>
                  <a:fillRect r="-375"/>
                </a:stretch>
              </a:blipFill>
            </p:spPr>
            <p:txBody>
              <a:bodyPr/>
              <a:lstStyle/>
              <a:p>
                <a:r>
                  <a:rPr lang="tr-TR">
                    <a:noFill/>
                  </a:rPr>
                  <a:t> </a:t>
                </a:r>
              </a:p>
            </p:txBody>
          </p:sp>
        </mc:Fallback>
      </mc:AlternateContent>
      <p:sp>
        <p:nvSpPr>
          <p:cNvPr id="36" name="Ok: Beşgen 35">
            <a:extLst>
              <a:ext uri="{FF2B5EF4-FFF2-40B4-BE49-F238E27FC236}">
                <a16:creationId xmlns:a16="http://schemas.microsoft.com/office/drawing/2014/main" id="{46681C16-A8CD-4ABF-A486-04B780A2013F}"/>
              </a:ext>
            </a:extLst>
          </p:cNvPr>
          <p:cNvSpPr/>
          <p:nvPr/>
        </p:nvSpPr>
        <p:spPr>
          <a:xfrm>
            <a:off x="3605123" y="695322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mc:AlternateContent xmlns:mc="http://schemas.openxmlformats.org/markup-compatibility/2006" xmlns:a14="http://schemas.microsoft.com/office/drawing/2010/main">
        <mc:Choice Requires="a14">
          <p:sp>
            <p:nvSpPr>
              <p:cNvPr id="37" name="Metin kutusu 36">
                <a:extLst>
                  <a:ext uri="{FF2B5EF4-FFF2-40B4-BE49-F238E27FC236}">
                    <a16:creationId xmlns:a16="http://schemas.microsoft.com/office/drawing/2014/main" id="{EE34481B-1E9A-4471-A28D-AD2D113DCBD6}"/>
                  </a:ext>
                </a:extLst>
              </p:cNvPr>
              <p:cNvSpPr txBox="1"/>
              <p:nvPr/>
            </p:nvSpPr>
            <p:spPr>
              <a:xfrm>
                <a:off x="3549502" y="7246997"/>
                <a:ext cx="3255556" cy="1477328"/>
              </a:xfrm>
              <a:prstGeom prst="rect">
                <a:avLst/>
              </a:prstGeom>
              <a:noFill/>
            </p:spPr>
            <p:txBody>
              <a:bodyPr wrap="square" rtlCol="0">
                <a:spAutoFit/>
              </a:bodyPr>
              <a:lstStyle/>
              <a:p>
                <a:r>
                  <a:rPr lang="tr-TR" sz="1000" noProof="1">
                    <a:cs typeface="Arial" panose="020B0604020202020204" pitchFamily="34" charset="0"/>
                  </a:rPr>
                  <a:t>Siyah araba sayısına x diyelim. Siyahlar beyazlardan 4 fazla olduğu söylenmekte dolayısıyla beyaz araba sayısı x-4 olmalıdır ki beyaza 4 ilave eklendiğinde x yani siyah elde edilebilsin. Siyah ve beyaz araç sayısını x tek bilinmeyen şeklinde bulduk. Toplam araç sayısına eşitleyelim.</a:t>
                </a:r>
              </a:p>
              <a:p>
                <a:endParaRPr lang="tr-TR" sz="1000" noProof="1">
                  <a:cs typeface="Arial" panose="020B0604020202020204" pitchFamily="34" charset="0"/>
                </a:endParaRPr>
              </a:p>
              <a:p>
                <a:r>
                  <a:rPr lang="tr-TR" sz="1000" noProof="1">
                    <a:cs typeface="Arial" panose="020B0604020202020204" pitchFamily="34" charset="0"/>
                  </a:rPr>
                  <a:t>x+(x-4) = 20 2x – 4= 20   </a:t>
                </a:r>
                <a14:m>
                  <m:oMath xmlns:m="http://schemas.openxmlformats.org/officeDocument/2006/math">
                    <m:r>
                      <a:rPr lang="tr-TR" sz="1000" i="0" noProof="1" smtClean="0">
                        <a:latin typeface="Cambria Math" panose="02040503050406030204" pitchFamily="18" charset="0"/>
                      </a:rPr>
                      <m:t>⇒</m:t>
                    </m:r>
                  </m:oMath>
                </a14:m>
                <a:r>
                  <a:rPr lang="tr-TR" sz="1000" noProof="1">
                    <a:cs typeface="Arial" panose="020B0604020202020204" pitchFamily="34" charset="0"/>
                  </a:rPr>
                  <a:t>    2x = 24 ,    </a:t>
                </a:r>
                <a:r>
                  <a:rPr lang="tr-TR" sz="1000" b="1" noProof="1">
                    <a:cs typeface="Arial" panose="020B0604020202020204" pitchFamily="34" charset="0"/>
                  </a:rPr>
                  <a:t>x=12</a:t>
                </a:r>
                <a:r>
                  <a:rPr lang="tr-TR" sz="1000" noProof="1">
                    <a:cs typeface="Arial" panose="020B0604020202020204" pitchFamily="34" charset="0"/>
                  </a:rPr>
                  <a:t> olur.</a:t>
                </a:r>
              </a:p>
              <a:p>
                <a:endParaRPr lang="tr-TR" sz="1000" noProof="1">
                  <a:cs typeface="Arial" panose="020B0604020202020204" pitchFamily="34" charset="0"/>
                </a:endParaRPr>
              </a:p>
              <a:p>
                <a:r>
                  <a:rPr lang="tr-TR" sz="1000" noProof="1">
                    <a:cs typeface="Arial" panose="020B0604020202020204" pitchFamily="34" charset="0"/>
                  </a:rPr>
                  <a:t>Sonuç olarak 12 adet siyah, 8 adet beyaz araç vardır.</a:t>
                </a:r>
              </a:p>
            </p:txBody>
          </p:sp>
        </mc:Choice>
        <mc:Fallback xmlns="">
          <p:sp>
            <p:nvSpPr>
              <p:cNvPr id="37" name="Metin kutusu 36">
                <a:extLst>
                  <a:ext uri="{FF2B5EF4-FFF2-40B4-BE49-F238E27FC236}">
                    <a16:creationId xmlns:a16="http://schemas.microsoft.com/office/drawing/2014/main" id="{EE34481B-1E9A-4471-A28D-AD2D113DCBD6}"/>
                  </a:ext>
                </a:extLst>
              </p:cNvPr>
              <p:cNvSpPr txBox="1">
                <a:spLocks noRot="1" noChangeAspect="1" noMove="1" noResize="1" noEditPoints="1" noAdjustHandles="1" noChangeArrowheads="1" noChangeShapeType="1" noTextEdit="1"/>
              </p:cNvSpPr>
              <p:nvPr/>
            </p:nvSpPr>
            <p:spPr>
              <a:xfrm>
                <a:off x="3549502" y="7246997"/>
                <a:ext cx="3255556" cy="1477328"/>
              </a:xfrm>
              <a:prstGeom prst="rect">
                <a:avLst/>
              </a:prstGeom>
              <a:blipFill>
                <a:blip r:embed="rId8"/>
                <a:stretch>
                  <a:fillRect b="-1653"/>
                </a:stretch>
              </a:blipFill>
            </p:spPr>
            <p:txBody>
              <a:bodyPr/>
              <a:lstStyle/>
              <a:p>
                <a:r>
                  <a:rPr lang="tr-TR">
                    <a:noFill/>
                  </a:rPr>
                  <a:t> </a:t>
                </a:r>
              </a:p>
            </p:txBody>
          </p:sp>
        </mc:Fallback>
      </mc:AlternateContent>
      <p:sp>
        <p:nvSpPr>
          <p:cNvPr id="38" name="Ok: Beşgen 37">
            <a:extLst>
              <a:ext uri="{FF2B5EF4-FFF2-40B4-BE49-F238E27FC236}">
                <a16:creationId xmlns:a16="http://schemas.microsoft.com/office/drawing/2014/main" id="{0B57F697-E4CA-494E-8393-0B0CB6357E87}"/>
              </a:ext>
            </a:extLst>
          </p:cNvPr>
          <p:cNvSpPr/>
          <p:nvPr/>
        </p:nvSpPr>
        <p:spPr>
          <a:xfrm>
            <a:off x="3650265" y="5151396"/>
            <a:ext cx="1622108" cy="281148"/>
          </a:xfrm>
          <a:prstGeom prst="homePlate">
            <a:avLst/>
          </a:prstGeom>
          <a:solidFill>
            <a:srgbClr val="CDFF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Çözümlü Sorular</a:t>
            </a:r>
          </a:p>
        </p:txBody>
      </p:sp>
      <p:sp>
        <p:nvSpPr>
          <p:cNvPr id="39" name="Ok: Beşgen 38">
            <a:extLst>
              <a:ext uri="{FF2B5EF4-FFF2-40B4-BE49-F238E27FC236}">
                <a16:creationId xmlns:a16="http://schemas.microsoft.com/office/drawing/2014/main" id="{C32E459E-67FE-4D96-B7E7-4832FEBADD90}"/>
              </a:ext>
            </a:extLst>
          </p:cNvPr>
          <p:cNvSpPr/>
          <p:nvPr/>
        </p:nvSpPr>
        <p:spPr>
          <a:xfrm>
            <a:off x="3658817" y="4124203"/>
            <a:ext cx="1228201" cy="409169"/>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200" dirty="0">
                <a:solidFill>
                  <a:schemeClr val="tx1"/>
                </a:solidFill>
              </a:rPr>
              <a:t>Denemeye ne dersin?</a:t>
            </a:r>
          </a:p>
        </p:txBody>
      </p:sp>
      <p:sp>
        <p:nvSpPr>
          <p:cNvPr id="40" name="Metin kutusu 39">
            <a:extLst>
              <a:ext uri="{FF2B5EF4-FFF2-40B4-BE49-F238E27FC236}">
                <a16:creationId xmlns:a16="http://schemas.microsoft.com/office/drawing/2014/main" id="{98E5F8CD-9D52-4258-A463-733D45F6E217}"/>
              </a:ext>
            </a:extLst>
          </p:cNvPr>
          <p:cNvSpPr txBox="1"/>
          <p:nvPr/>
        </p:nvSpPr>
        <p:spPr>
          <a:xfrm>
            <a:off x="4887018" y="4071936"/>
            <a:ext cx="1884511" cy="553998"/>
          </a:xfrm>
          <a:prstGeom prst="rect">
            <a:avLst/>
          </a:prstGeom>
          <a:noFill/>
        </p:spPr>
        <p:txBody>
          <a:bodyPr wrap="square" rtlCol="0">
            <a:spAutoFit/>
          </a:bodyPr>
          <a:lstStyle/>
          <a:p>
            <a:r>
              <a:rPr lang="tr-TR" sz="1000" noProof="1">
                <a:cs typeface="Arial" panose="020B0604020202020204" pitchFamily="34" charset="0"/>
              </a:rPr>
              <a:t>Her soruyu kendiniz çözmeyi deneyin ve yapamadığınız kısmı mutlaka ertelemeden öğrenin. </a:t>
            </a:r>
          </a:p>
        </p:txBody>
      </p:sp>
      <p:sp>
        <p:nvSpPr>
          <p:cNvPr id="41" name="Metin kutusu 40">
            <a:extLst>
              <a:ext uri="{FF2B5EF4-FFF2-40B4-BE49-F238E27FC236}">
                <a16:creationId xmlns:a16="http://schemas.microsoft.com/office/drawing/2014/main" id="{D7F9CAEA-37E6-4B8C-9C9F-195C59D58397}"/>
              </a:ext>
            </a:extLst>
          </p:cNvPr>
          <p:cNvSpPr txBox="1"/>
          <p:nvPr/>
        </p:nvSpPr>
        <p:spPr>
          <a:xfrm>
            <a:off x="3640538" y="4603801"/>
            <a:ext cx="3236841" cy="553998"/>
          </a:xfrm>
          <a:prstGeom prst="rect">
            <a:avLst/>
          </a:prstGeom>
          <a:noFill/>
        </p:spPr>
        <p:txBody>
          <a:bodyPr wrap="square" rtlCol="0">
            <a:spAutoFit/>
          </a:bodyPr>
          <a:lstStyle/>
          <a:p>
            <a:r>
              <a:rPr lang="tr-TR" sz="1000" noProof="1">
                <a:cs typeface="Arial" panose="020B0604020202020204" pitchFamily="34" charset="0"/>
              </a:rPr>
              <a:t>Çözümünü anladığınız soruları bile boş bıraktığımız alanlara kendiniz çözüme bakmadan çözün eğer takılırsanız çözümü öğrenin ve hiçbir kayıp olmadan ilerleyin. </a:t>
            </a:r>
          </a:p>
        </p:txBody>
      </p:sp>
      <p:sp>
        <p:nvSpPr>
          <p:cNvPr id="42" name="Akış Çizelgesi: Depolanmış Veri 41">
            <a:extLst>
              <a:ext uri="{FF2B5EF4-FFF2-40B4-BE49-F238E27FC236}">
                <a16:creationId xmlns:a16="http://schemas.microsoft.com/office/drawing/2014/main" id="{CBA7EA28-35F0-4FF6-9F5E-7B10B98BF5D2}"/>
              </a:ext>
            </a:extLst>
          </p:cNvPr>
          <p:cNvSpPr/>
          <p:nvPr/>
        </p:nvSpPr>
        <p:spPr>
          <a:xfrm rot="10800000">
            <a:off x="5520321" y="515852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Oval 42">
            <a:extLst>
              <a:ext uri="{FF2B5EF4-FFF2-40B4-BE49-F238E27FC236}">
                <a16:creationId xmlns:a16="http://schemas.microsoft.com/office/drawing/2014/main" id="{D7B7E76A-9A70-48E3-AA85-D8AE2A6AD930}"/>
              </a:ext>
            </a:extLst>
          </p:cNvPr>
          <p:cNvSpPr/>
          <p:nvPr/>
        </p:nvSpPr>
        <p:spPr>
          <a:xfrm>
            <a:off x="5370727" y="515852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4" name="Metin kutusu 43">
            <a:extLst>
              <a:ext uri="{FF2B5EF4-FFF2-40B4-BE49-F238E27FC236}">
                <a16:creationId xmlns:a16="http://schemas.microsoft.com/office/drawing/2014/main" id="{AB4B5232-A625-4C96-A750-DA8646B78CEA}"/>
              </a:ext>
            </a:extLst>
          </p:cNvPr>
          <p:cNvSpPr txBox="1"/>
          <p:nvPr/>
        </p:nvSpPr>
        <p:spPr>
          <a:xfrm>
            <a:off x="5233455" y="517391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46" name="Metin kutusu 45">
            <a:extLst>
              <a:ext uri="{FF2B5EF4-FFF2-40B4-BE49-F238E27FC236}">
                <a16:creationId xmlns:a16="http://schemas.microsoft.com/office/drawing/2014/main" id="{469E080F-99D0-4B1B-82A6-6B1533AC78FA}"/>
              </a:ext>
            </a:extLst>
          </p:cNvPr>
          <p:cNvSpPr txBox="1"/>
          <p:nvPr/>
        </p:nvSpPr>
        <p:spPr>
          <a:xfrm>
            <a:off x="5597677" y="5189304"/>
            <a:ext cx="539959" cy="266352"/>
          </a:xfrm>
          <a:prstGeom prst="rect">
            <a:avLst/>
          </a:prstGeom>
          <a:noFill/>
        </p:spPr>
        <p:txBody>
          <a:bodyPr wrap="square" lIns="80897" tIns="40448" rIns="80897" bIns="40448" rtlCol="0">
            <a:spAutoFit/>
          </a:bodyPr>
          <a:lstStyle/>
          <a:p>
            <a:pPr algn="ctr"/>
            <a:r>
              <a:rPr lang="tr-TR" sz="1200" b="1" dirty="0"/>
              <a:t>Soru</a:t>
            </a:r>
          </a:p>
        </p:txBody>
      </p:sp>
    </p:spTree>
    <p:extLst>
      <p:ext uri="{BB962C8B-B14F-4D97-AF65-F5344CB8AC3E}">
        <p14:creationId xmlns:p14="http://schemas.microsoft.com/office/powerpoint/2010/main" val="145962350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0" name="Ok: Beşgen 29">
            <a:extLst>
              <a:ext uri="{FF2B5EF4-FFF2-40B4-BE49-F238E27FC236}">
                <a16:creationId xmlns:a16="http://schemas.microsoft.com/office/drawing/2014/main" id="{E68FA587-F1D3-439D-A2F1-23A147402E6C}"/>
              </a:ext>
            </a:extLst>
          </p:cNvPr>
          <p:cNvSpPr/>
          <p:nvPr/>
        </p:nvSpPr>
        <p:spPr>
          <a:xfrm>
            <a:off x="136549" y="465132"/>
            <a:ext cx="1740685"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Nasıl Çözülemezdi?</a:t>
            </a:r>
          </a:p>
        </p:txBody>
      </p:sp>
      <p:sp>
        <p:nvSpPr>
          <p:cNvPr id="31" name="Metin kutusu 30">
            <a:extLst>
              <a:ext uri="{FF2B5EF4-FFF2-40B4-BE49-F238E27FC236}">
                <a16:creationId xmlns:a16="http://schemas.microsoft.com/office/drawing/2014/main" id="{64ACC450-DFBD-4C3D-8805-84E7A178DB2B}"/>
              </a:ext>
            </a:extLst>
          </p:cNvPr>
          <p:cNvSpPr txBox="1"/>
          <p:nvPr/>
        </p:nvSpPr>
        <p:spPr>
          <a:xfrm>
            <a:off x="48354" y="753607"/>
            <a:ext cx="3217041" cy="1200329"/>
          </a:xfrm>
          <a:prstGeom prst="rect">
            <a:avLst/>
          </a:prstGeom>
          <a:noFill/>
        </p:spPr>
        <p:txBody>
          <a:bodyPr wrap="square" rtlCol="0">
            <a:spAutoFit/>
          </a:bodyPr>
          <a:lstStyle/>
          <a:p>
            <a:pPr marL="171450" indent="-171450">
              <a:buFont typeface="Arial" panose="020B0604020202020204" pitchFamily="34" charset="0"/>
              <a:buChar char="•"/>
            </a:pPr>
            <a:r>
              <a:rPr lang="tr-TR" sz="900" noProof="1">
                <a:cs typeface="Arial" panose="020B0604020202020204" pitchFamily="34" charset="0"/>
              </a:rPr>
              <a:t>Siyah araba sayısına x, beyaza y dersek x+y=20 olur.</a:t>
            </a:r>
          </a:p>
          <a:p>
            <a:pPr marL="171450" indent="-171450">
              <a:buFont typeface="Arial" panose="020B0604020202020204" pitchFamily="34" charset="0"/>
              <a:buChar char="•"/>
            </a:pPr>
            <a:r>
              <a:rPr lang="tr-TR" sz="900" noProof="1">
                <a:cs typeface="Arial" panose="020B0604020202020204" pitchFamily="34" charset="0"/>
              </a:rPr>
              <a:t>İki bilinmeyenli denklemi soruda verilenlerle çözümleyemeyiz ve soruda verdiği bilgiyi kullanmadan soruyu çözmek (soruda bilgi açığı yoksa) genellikle hatalı çözümdür. Sorularda tıkandığınız kısımlarda verilen ama kullanmadığınız bilgileri kullanmaya özen gösterin. Her soruda işinize yarayacaktır fakat genelde geometri sorularında bu durumun aklınızda kalması iyi olacaktır.</a:t>
            </a:r>
          </a:p>
        </p:txBody>
      </p:sp>
      <mc:AlternateContent xmlns:mc="http://schemas.openxmlformats.org/markup-compatibility/2006" xmlns:a14="http://schemas.microsoft.com/office/drawing/2010/main">
        <mc:Choice Requires="a14">
          <p:sp>
            <p:nvSpPr>
              <p:cNvPr id="25" name="Metin kutusu 24">
                <a:extLst>
                  <a:ext uri="{FF2B5EF4-FFF2-40B4-BE49-F238E27FC236}">
                    <a16:creationId xmlns:a16="http://schemas.microsoft.com/office/drawing/2014/main" id="{669E9B31-D6D9-428E-AD56-FF54766791DA}"/>
                  </a:ext>
                </a:extLst>
              </p:cNvPr>
              <p:cNvSpPr txBox="1"/>
              <p:nvPr/>
            </p:nvSpPr>
            <p:spPr>
              <a:xfrm>
                <a:off x="44617" y="2212829"/>
                <a:ext cx="3212178" cy="6740307"/>
              </a:xfrm>
              <a:prstGeom prst="rect">
                <a:avLst/>
              </a:prstGeom>
              <a:noFill/>
            </p:spPr>
            <p:txBody>
              <a:bodyPr wrap="square" rtlCol="0">
                <a:spAutoFit/>
              </a:bodyPr>
              <a:lstStyle/>
              <a:p>
                <a:r>
                  <a:rPr lang="tr-TR" sz="1000" b="1" noProof="1">
                    <a:cs typeface="Arial" panose="020B0604020202020204" pitchFamily="34" charset="0"/>
                  </a:rPr>
                  <a:t>Bir sınıftaki toplam öğrenci sayısı erkek öğrenci sayısının 5 katıdır. Buna göre, kız öğrenci sayısı erkek öğrenci sayısının kaç katıdır?</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br>
                  <a:rPr lang="tr-TR" sz="1000" noProof="1">
                    <a:cs typeface="Arial" panose="020B0604020202020204" pitchFamily="34" charset="0"/>
                  </a:rPr>
                </a:br>
                <a:r>
                  <a:rPr lang="tr-TR" sz="1000" noProof="1">
                    <a:cs typeface="Arial" panose="020B0604020202020204" pitchFamily="34" charset="0"/>
                  </a:rPr>
                  <a:t>Erkek öğrenci sayısına x dersek toplam sınıf mevcudu 5 katı olduğundan 5x olacaktır. x erkek olduğu için toplam mevcuttan çıkardığımızda 5x-x = 4x kız mevcut vardır.</a:t>
                </a:r>
              </a:p>
              <a:p>
                <a:r>
                  <a:rPr lang="tr-TR" sz="1000" b="1" noProof="1">
                    <a:cs typeface="Arial" panose="020B0604020202020204" pitchFamily="34" charset="0"/>
                  </a:rPr>
                  <a:t>Erkek öğrenci x , kız öğrenci 4x olduğundan 4 katıdır.</a:t>
                </a:r>
              </a:p>
              <a:p>
                <a:endParaRPr lang="tr-TR" sz="1000" b="1" noProof="1">
                  <a:cs typeface="Arial" panose="020B0604020202020204" pitchFamily="34" charset="0"/>
                </a:endParaRPr>
              </a:p>
              <a:p>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r>
                  <a:rPr lang="tr-TR" sz="1000" b="1" noProof="1">
                    <a:cs typeface="Arial" panose="020B0604020202020204" pitchFamily="34" charset="0"/>
                  </a:rPr>
                  <a:t>Bir kurşun kalem ile pilot kalemin fiyatı 11 TL`dir. İki kurşun kalem ile üç pilot kalemin fiyatı 29 TL olduğuna göre birim fiyatları nedir?</a:t>
                </a:r>
                <a:br>
                  <a:rPr lang="tr-TR" sz="1000" b="1" noProof="1">
                    <a:cs typeface="Arial" panose="020B0604020202020204" pitchFamily="34" charset="0"/>
                  </a:rPr>
                </a:br>
                <a:br>
                  <a:rPr lang="tr-TR" sz="1000" b="1" noProof="1">
                    <a:cs typeface="Arial" panose="020B0604020202020204" pitchFamily="34" charset="0"/>
                  </a:rPr>
                </a:br>
                <a:br>
                  <a:rPr lang="tr-TR" sz="1000" b="1" noProof="1">
                    <a:cs typeface="Arial" panose="020B0604020202020204" pitchFamily="34" charset="0"/>
                  </a:rPr>
                </a:br>
                <a:br>
                  <a:rPr lang="tr-TR" sz="1000" b="1" noProof="1">
                    <a:cs typeface="Arial" panose="020B0604020202020204" pitchFamily="34" charset="0"/>
                  </a:rPr>
                </a:br>
                <a:br>
                  <a:rPr lang="tr-TR" sz="1000" b="1" noProof="1">
                    <a:cs typeface="Arial" panose="020B0604020202020204" pitchFamily="34" charset="0"/>
                  </a:rPr>
                </a:br>
                <a:br>
                  <a:rPr lang="tr-TR" sz="1000" b="1" noProof="1">
                    <a:cs typeface="Arial" panose="020B0604020202020204" pitchFamily="34" charset="0"/>
                  </a:rPr>
                </a:br>
                <a:br>
                  <a:rPr lang="tr-TR" sz="1000" b="1" noProof="1">
                    <a:cs typeface="Arial" panose="020B0604020202020204" pitchFamily="34" charset="0"/>
                  </a:rPr>
                </a:br>
                <a:br>
                  <a:rPr lang="tr-TR" sz="1000" b="1" noProof="1">
                    <a:cs typeface="Arial" panose="020B0604020202020204" pitchFamily="34" charset="0"/>
                  </a:rPr>
                </a:br>
                <a:r>
                  <a:rPr lang="tr-TR" sz="900" noProof="1">
                    <a:cs typeface="Arial" panose="020B0604020202020204" pitchFamily="34" charset="0"/>
                  </a:rPr>
                  <a:t>Bu problemi çözmek için iki adet bilinmeyen kullanmalı ve bu denklemi çözmek için bir bilinmeyeni yok edecek şekilde genişletmeliyiz. Kurşun kaleme x, pilota y TL demiş olalım.</a:t>
                </a:r>
              </a:p>
              <a:p>
                <a:endParaRPr lang="tr-TR" sz="1000" noProof="1">
                  <a:cs typeface="Arial" panose="020B0604020202020204" pitchFamily="34" charset="0"/>
                </a:endParaRPr>
              </a:p>
              <a:p>
                <a:r>
                  <a:rPr lang="tr-TR" sz="900" noProof="1">
                    <a:cs typeface="Arial" panose="020B0604020202020204" pitchFamily="34" charset="0"/>
                  </a:rPr>
                  <a:t>İlk Denklem            x +   y = 11   </a:t>
                </a:r>
                <a:br>
                  <a:rPr lang="tr-TR" sz="900" noProof="1">
                    <a:cs typeface="Arial" panose="020B0604020202020204" pitchFamily="34" charset="0"/>
                  </a:rPr>
                </a:br>
                <a:r>
                  <a:rPr lang="tr-TR" sz="900" noProof="1">
                    <a:cs typeface="Arial" panose="020B0604020202020204" pitchFamily="34" charset="0"/>
                  </a:rPr>
                  <a:t>İkinci Denklem    2x + 3y = 29</a:t>
                </a:r>
                <a:endParaRPr lang="tr-TR" sz="1000" noProof="1">
                  <a:cs typeface="Arial" panose="020B0604020202020204" pitchFamily="34" charset="0"/>
                </a:endParaRPr>
              </a:p>
              <a:p>
                <a:r>
                  <a:rPr lang="tr-TR" sz="900" noProof="1">
                    <a:cs typeface="Arial" panose="020B0604020202020204" pitchFamily="34" charset="0"/>
                  </a:rPr>
                  <a:t>Tercih farketmez x i yok etmeye çalışalım ve böylelikle y yi bulmuş olacağız. x i yok etmek için ilk denklemin tamamını -2 ile çarptığımızda </a:t>
                </a:r>
                <a:br>
                  <a:rPr lang="tr-TR" sz="900" noProof="1">
                    <a:cs typeface="Arial" panose="020B0604020202020204" pitchFamily="34" charset="0"/>
                  </a:rPr>
                </a:br>
                <a:endParaRPr lang="tr-TR" sz="1000" noProof="1">
                  <a:cs typeface="Arial" panose="020B0604020202020204" pitchFamily="34" charset="0"/>
                </a:endParaRPr>
              </a:p>
              <a:p>
                <a:r>
                  <a:rPr lang="tr-TR" sz="1000" noProof="1">
                    <a:cs typeface="Arial" panose="020B0604020202020204" pitchFamily="34" charset="0"/>
                  </a:rPr>
                  <a:t>-2x – 2y = -22</a:t>
                </a:r>
              </a:p>
              <a:p>
                <a:r>
                  <a:rPr lang="tr-TR" sz="1000" noProof="1">
                    <a:cs typeface="Arial" panose="020B0604020202020204" pitchFamily="34" charset="0"/>
                  </a:rPr>
                  <a:t>  2x + 3y = 29     taraf tarafa topladığımızda y = 7 olarak bulunur. x i bulmak için ilk denklemde yani x+y = 11 de </a:t>
                </a:r>
                <a:r>
                  <a:rPr lang="tr-TR" sz="1000" b="1" noProof="1">
                    <a:cs typeface="Arial" panose="020B0604020202020204" pitchFamily="34" charset="0"/>
                  </a:rPr>
                  <a:t>y=7 </a:t>
                </a:r>
                <a:r>
                  <a:rPr lang="tr-TR" sz="1000" noProof="1">
                    <a:cs typeface="Arial" panose="020B0604020202020204" pitchFamily="34" charset="0"/>
                  </a:rPr>
                  <a:t>bulmuştuk x+7 = 11 </a:t>
                </a:r>
                <a14:m>
                  <m:oMath xmlns:m="http://schemas.openxmlformats.org/officeDocument/2006/math">
                    <m:r>
                      <a:rPr lang="tr-TR" sz="1000" i="0" noProof="1" smtClean="0">
                        <a:latin typeface="Cambria Math" panose="02040503050406030204" pitchFamily="18" charset="0"/>
                      </a:rPr>
                      <m:t>⇒</m:t>
                    </m:r>
                  </m:oMath>
                </a14:m>
                <a:r>
                  <a:rPr lang="tr-TR" sz="1000" noProof="1">
                    <a:cs typeface="Arial" panose="020B0604020202020204" pitchFamily="34" charset="0"/>
                  </a:rPr>
                  <a:t>  </a:t>
                </a:r>
                <a:r>
                  <a:rPr lang="tr-TR" sz="1000" b="1" noProof="1">
                    <a:cs typeface="Arial" panose="020B0604020202020204" pitchFamily="34" charset="0"/>
                  </a:rPr>
                  <a:t>x= 4 </a:t>
                </a:r>
                <a:r>
                  <a:rPr lang="tr-TR" sz="1000" noProof="1">
                    <a:cs typeface="Arial" panose="020B0604020202020204" pitchFamily="34" charset="0"/>
                  </a:rPr>
                  <a:t>olarak bulunur.  Birim fiyatlar x ve y olarak belirledik kurşun 4 TL, pilot 7 TL`dir.</a:t>
                </a:r>
              </a:p>
            </p:txBody>
          </p:sp>
        </mc:Choice>
        <mc:Fallback xmlns="">
          <p:sp>
            <p:nvSpPr>
              <p:cNvPr id="25" name="Metin kutusu 24">
                <a:extLst>
                  <a:ext uri="{FF2B5EF4-FFF2-40B4-BE49-F238E27FC236}">
                    <a16:creationId xmlns:a16="http://schemas.microsoft.com/office/drawing/2014/main" id="{669E9B31-D6D9-428E-AD56-FF54766791DA}"/>
                  </a:ext>
                </a:extLst>
              </p:cNvPr>
              <p:cNvSpPr txBox="1">
                <a:spLocks noRot="1" noChangeAspect="1" noMove="1" noResize="1" noEditPoints="1" noAdjustHandles="1" noChangeArrowheads="1" noChangeShapeType="1" noTextEdit="1"/>
              </p:cNvSpPr>
              <p:nvPr/>
            </p:nvSpPr>
            <p:spPr>
              <a:xfrm>
                <a:off x="44617" y="2212829"/>
                <a:ext cx="3212178" cy="6740307"/>
              </a:xfrm>
              <a:prstGeom prst="rect">
                <a:avLst/>
              </a:prstGeom>
              <a:blipFill>
                <a:blip r:embed="rId6"/>
                <a:stretch>
                  <a:fillRect r="-19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5" name="Metin kutusu 34">
                <a:extLst>
                  <a:ext uri="{FF2B5EF4-FFF2-40B4-BE49-F238E27FC236}">
                    <a16:creationId xmlns:a16="http://schemas.microsoft.com/office/drawing/2014/main" id="{B4649111-C453-4839-9112-A089CC059EA6}"/>
                  </a:ext>
                </a:extLst>
              </p:cNvPr>
              <p:cNvSpPr txBox="1"/>
              <p:nvPr/>
            </p:nvSpPr>
            <p:spPr>
              <a:xfrm>
                <a:off x="3550987" y="415417"/>
                <a:ext cx="3255553" cy="8402300"/>
              </a:xfrm>
              <a:prstGeom prst="rect">
                <a:avLst/>
              </a:prstGeom>
              <a:noFill/>
            </p:spPr>
            <p:txBody>
              <a:bodyPr wrap="square" rtlCol="0">
                <a:spAutoFit/>
              </a:bodyPr>
              <a:lstStyle/>
              <a:p>
                <a:r>
                  <a:rPr lang="tr-TR" sz="1000" b="1" noProof="1">
                    <a:solidFill>
                      <a:srgbClr val="C00000"/>
                    </a:solidFill>
                    <a:cs typeface="Arial" panose="020B0604020202020204" pitchFamily="34" charset="0"/>
                  </a:rPr>
                  <a:t>Soru 4 </a:t>
                </a:r>
                <a:r>
                  <a:rPr lang="tr-TR" sz="1000" b="1" noProof="1">
                    <a:cs typeface="Arial" panose="020B0604020202020204" pitchFamily="34" charset="0"/>
                  </a:rPr>
                  <a:t>: Gökhan girdiği sınavda 40 soruyu yanıtlamıştır. Her doğrusu için 4 puan kazanmakta, her yanlışı için 1 puan kaybetmektedir. Gökhan 80 puan aldığına göre, doğru sayısı yanlış sayısından kaç fazladır?</a:t>
                </a:r>
              </a:p>
              <a:p>
                <a:endParaRPr lang="tr-TR" sz="1000" b="1" noProof="1">
                  <a:cs typeface="Arial" panose="020B0604020202020204" pitchFamily="34" charset="0"/>
                </a:endParaRPr>
              </a:p>
              <a:p>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r>
                  <a:rPr lang="tr-TR" sz="1000" b="1" noProof="1">
                    <a:solidFill>
                      <a:srgbClr val="C00000"/>
                    </a:solidFill>
                    <a:cs typeface="Arial" panose="020B0604020202020204" pitchFamily="34" charset="0"/>
                  </a:rPr>
                  <a:t>Çözüm :  </a:t>
                </a:r>
                <a:r>
                  <a:rPr lang="tr-TR" sz="1000" noProof="1">
                    <a:cs typeface="Arial" panose="020B0604020202020204" pitchFamily="34" charset="0"/>
                  </a:rPr>
                  <a:t>Doğru sayısına x dersek, toplamda 40 soru olacağından yanlış sayısı (40-x) olmalıdır ki toplandığında 40 elde edilebilsin. Tek bilinmeyenle pratik yolla gidiyoruz. Doğru sayısını 4 ile çarpacağız, yanlış sayısını ise -1 ile çarpacağız çünkü doğru sayısı bize pozitif katkı, yanlış sayısı puan kaybına neden olmaktadır. Yanlış sayısını – 1 ile çarpacağımız için paranteze dikkat etmeliyiz.</a:t>
                </a:r>
              </a:p>
              <a:p>
                <a:endParaRPr lang="tr-TR" sz="1000" noProof="1">
                  <a:cs typeface="Arial" panose="020B0604020202020204" pitchFamily="34" charset="0"/>
                </a:endParaRPr>
              </a:p>
              <a:p>
                <a:r>
                  <a:rPr lang="tr-TR" sz="1000" noProof="1">
                    <a:cs typeface="Arial" panose="020B0604020202020204" pitchFamily="34" charset="0"/>
                  </a:rPr>
                  <a:t>4x </a:t>
                </a:r>
                <a:r>
                  <a:rPr lang="tr-TR" sz="1000" noProof="1">
                    <a:solidFill>
                      <a:srgbClr val="C00000"/>
                    </a:solidFill>
                    <a:cs typeface="Arial" panose="020B0604020202020204" pitchFamily="34" charset="0"/>
                  </a:rPr>
                  <a:t>–</a:t>
                </a:r>
                <a:r>
                  <a:rPr lang="tr-TR" sz="1000" noProof="1">
                    <a:cs typeface="Arial" panose="020B0604020202020204" pitchFamily="34" charset="0"/>
                  </a:rPr>
                  <a:t> (40-x) = 80     4x – 40 + x = 80       5x = 120 ,   x=24 </a:t>
                </a:r>
              </a:p>
              <a:p>
                <a:endParaRPr lang="tr-TR" sz="1000" noProof="1">
                  <a:cs typeface="Arial" panose="020B0604020202020204" pitchFamily="34" charset="0"/>
                </a:endParaRPr>
              </a:p>
              <a:p>
                <a:r>
                  <a:rPr lang="tr-TR" sz="1000" noProof="1">
                    <a:cs typeface="Arial" panose="020B0604020202020204" pitchFamily="34" charset="0"/>
                  </a:rPr>
                  <a:t>x=24 ise toplamları 40 olması için yanlış sayısı 16 olur.</a:t>
                </a:r>
              </a:p>
              <a:p>
                <a:endParaRPr lang="tr-TR" sz="1000" noProof="1">
                  <a:cs typeface="Arial" panose="020B0604020202020204" pitchFamily="34" charset="0"/>
                </a:endParaRPr>
              </a:p>
              <a:p>
                <a:r>
                  <a:rPr lang="tr-TR" sz="1000" noProof="1">
                    <a:cs typeface="Arial" panose="020B0604020202020204" pitchFamily="34" charset="0"/>
                  </a:rPr>
                  <a:t>24-16 = 8 daha fazladır</a:t>
                </a:r>
                <a:endParaRPr lang="tr-TR" sz="1000" b="1" noProof="1">
                  <a:solidFill>
                    <a:srgbClr val="C00000"/>
                  </a:solidFill>
                  <a:cs typeface="Arial" panose="020B0604020202020204" pitchFamily="34" charset="0"/>
                </a:endParaRPr>
              </a:p>
              <a:p>
                <a:endParaRPr lang="tr-TR" sz="1000" b="1" noProof="1">
                  <a:solidFill>
                    <a:srgbClr val="C00000"/>
                  </a:solidFill>
                  <a:cs typeface="Arial" panose="020B0604020202020204" pitchFamily="34" charset="0"/>
                </a:endParaRPr>
              </a:p>
              <a:p>
                <a:r>
                  <a:rPr lang="tr-TR" sz="1000" b="1" noProof="1">
                    <a:solidFill>
                      <a:srgbClr val="C00000"/>
                    </a:solidFill>
                    <a:cs typeface="Arial" panose="020B0604020202020204" pitchFamily="34" charset="0"/>
                  </a:rPr>
                  <a:t>Soru 5 </a:t>
                </a:r>
                <a:r>
                  <a:rPr lang="tr-TR" sz="1000" b="1" noProof="1">
                    <a:cs typeface="Arial" panose="020B0604020202020204" pitchFamily="34" charset="0"/>
                  </a:rPr>
                  <a:t>:  Kerim`in parası Gamze`nin parasından 60 TL fazladır. Kerim parasının yarısını gamzeye verdiğinde paraları eşitleniyor. Son durumda ikisinin paraları toplamı kaç TL`dir?</a:t>
                </a:r>
              </a:p>
              <a:p>
                <a:endParaRPr lang="tr-TR" sz="1000" b="1" noProof="1">
                  <a:cs typeface="Arial" panose="020B0604020202020204" pitchFamily="34" charset="0"/>
                </a:endParaRPr>
              </a:p>
              <a:p>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br>
                  <a:rPr lang="tr-TR" sz="1000" b="1" noProof="1">
                    <a:solidFill>
                      <a:srgbClr val="C00000"/>
                    </a:solidFill>
                    <a:cs typeface="Arial" panose="020B0604020202020204" pitchFamily="34" charset="0"/>
                  </a:rPr>
                </a:br>
                <a:r>
                  <a:rPr lang="tr-TR" sz="1000" b="1" noProof="1">
                    <a:solidFill>
                      <a:srgbClr val="C00000"/>
                    </a:solidFill>
                    <a:cs typeface="Arial" panose="020B0604020202020204" pitchFamily="34" charset="0"/>
                  </a:rPr>
                  <a:t>Çözüm : </a:t>
                </a:r>
                <a:r>
                  <a:rPr lang="tr-TR" sz="1000" noProof="1">
                    <a:cs typeface="Arial" panose="020B0604020202020204" pitchFamily="34" charset="0"/>
                  </a:rPr>
                  <a:t>İfadede yarısını verme ibaresi geçtiğinden ötürü sayımıza x dersek x/2 ile uğraşmamız gerekir uğraşmamak için Kerim`in parasına 2x diyelim yarısınıda kolaylıkla x olarak alabiliriz.</a:t>
                </a:r>
              </a:p>
              <a:p>
                <a:endParaRPr lang="tr-TR" sz="1000" noProof="1">
                  <a:cs typeface="Arial" panose="020B0604020202020204" pitchFamily="34" charset="0"/>
                </a:endParaRPr>
              </a:p>
              <a:p>
                <a:r>
                  <a:rPr lang="tr-TR" sz="1000" noProof="1">
                    <a:cs typeface="Arial" panose="020B0604020202020204" pitchFamily="34" charset="0"/>
                  </a:rPr>
                  <a:t>Kerim = 2x       Gamze = 2x-60 olmalıdır ki 60 fazlası alındığında Kerim`in parasına eşit olmuş olsun.  Kerim parasının yarısını verdiğinde Gamze`nin parası artacak, Kerim para verdiğinden ötürü parası azalacaktır. </a:t>
                </a:r>
              </a:p>
              <a:p>
                <a:endParaRPr lang="tr-TR" sz="1000" noProof="1">
                  <a:cs typeface="Arial" panose="020B0604020202020204" pitchFamily="34" charset="0"/>
                </a:endParaRPr>
              </a:p>
              <a:p>
                <a:r>
                  <a:rPr lang="tr-TR" sz="1000" noProof="1">
                    <a:cs typeface="Arial" panose="020B0604020202020204" pitchFamily="34" charset="0"/>
                  </a:rPr>
                  <a:t>Kerim = 2x – x    Gamze = 2x- 60 + x paraları eşitleyelim</a:t>
                </a:r>
              </a:p>
              <a:p>
                <a:endParaRPr lang="tr-TR" sz="1000" noProof="1">
                  <a:cs typeface="Arial" panose="020B0604020202020204" pitchFamily="34" charset="0"/>
                </a:endParaRPr>
              </a:p>
              <a:p>
                <a:r>
                  <a:rPr lang="tr-TR" sz="1000" b="1" noProof="1">
                    <a:cs typeface="Arial" panose="020B0604020202020204" pitchFamily="34" charset="0"/>
                  </a:rPr>
                  <a:t>x = 3x -60 ,   2x = 60 </a:t>
                </a:r>
                <a14:m>
                  <m:oMath xmlns:m="http://schemas.openxmlformats.org/officeDocument/2006/math">
                    <m:r>
                      <a:rPr lang="tr-TR" sz="1000" b="1" i="0" noProof="1" smtClean="0">
                        <a:latin typeface="Cambria Math" panose="02040503050406030204" pitchFamily="18" charset="0"/>
                      </a:rPr>
                      <m:t>⇒</m:t>
                    </m:r>
                  </m:oMath>
                </a14:m>
                <a:r>
                  <a:rPr lang="tr-TR" sz="1000" b="1" noProof="1">
                    <a:cs typeface="Arial" panose="020B0604020202020204" pitchFamily="34" charset="0"/>
                  </a:rPr>
                  <a:t>   x = 30 olarak bulunur. İkisininde </a:t>
                </a:r>
              </a:p>
              <a:p>
                <a:endParaRPr lang="tr-TR" sz="1000" b="1" noProof="1">
                  <a:cs typeface="Arial" panose="020B0604020202020204" pitchFamily="34" charset="0"/>
                </a:endParaRPr>
              </a:p>
              <a:p>
                <a:r>
                  <a:rPr lang="tr-TR" sz="1000" b="1" noProof="1">
                    <a:cs typeface="Arial" panose="020B0604020202020204" pitchFamily="34" charset="0"/>
                  </a:rPr>
                  <a:t>x=30 olduğundan ötürü paraları 30 TL dir ve eşittir. Eşit olduğundan ötürü 2 adet 30 TL vardır. Toplamda 60 TL</a:t>
                </a:r>
              </a:p>
            </p:txBody>
          </p:sp>
        </mc:Choice>
        <mc:Fallback xmlns="">
          <p:sp>
            <p:nvSpPr>
              <p:cNvPr id="35" name="Metin kutusu 34">
                <a:extLst>
                  <a:ext uri="{FF2B5EF4-FFF2-40B4-BE49-F238E27FC236}">
                    <a16:creationId xmlns:a16="http://schemas.microsoft.com/office/drawing/2014/main" id="{B4649111-C453-4839-9112-A089CC059EA6}"/>
                  </a:ext>
                </a:extLst>
              </p:cNvPr>
              <p:cNvSpPr txBox="1">
                <a:spLocks noRot="1" noChangeAspect="1" noMove="1" noResize="1" noEditPoints="1" noAdjustHandles="1" noChangeArrowheads="1" noChangeShapeType="1" noTextEdit="1"/>
              </p:cNvSpPr>
              <p:nvPr/>
            </p:nvSpPr>
            <p:spPr>
              <a:xfrm>
                <a:off x="3550987" y="415417"/>
                <a:ext cx="3255553" cy="8402300"/>
              </a:xfrm>
              <a:prstGeom prst="rect">
                <a:avLst/>
              </a:prstGeom>
              <a:blipFill>
                <a:blip r:embed="rId7"/>
                <a:stretch>
                  <a:fillRect r="-187"/>
                </a:stretch>
              </a:blipFill>
            </p:spPr>
            <p:txBody>
              <a:bodyPr/>
              <a:lstStyle/>
              <a:p>
                <a:r>
                  <a:rPr lang="tr-TR">
                    <a:noFill/>
                  </a:rPr>
                  <a:t> </a:t>
                </a:r>
              </a:p>
            </p:txBody>
          </p:sp>
        </mc:Fallback>
      </mc:AlternateContent>
      <p:sp>
        <p:nvSpPr>
          <p:cNvPr id="32" name="Akış Çizelgesi: Depolanmış Veri 31">
            <a:extLst>
              <a:ext uri="{FF2B5EF4-FFF2-40B4-BE49-F238E27FC236}">
                <a16:creationId xmlns:a16="http://schemas.microsoft.com/office/drawing/2014/main" id="{AC91C43E-6E58-48D1-8231-E3610540950D}"/>
              </a:ext>
            </a:extLst>
          </p:cNvPr>
          <p:cNvSpPr/>
          <p:nvPr/>
        </p:nvSpPr>
        <p:spPr>
          <a:xfrm rot="10800000">
            <a:off x="243375" y="196694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34" name="Metin kutusu 33">
            <a:extLst>
              <a:ext uri="{FF2B5EF4-FFF2-40B4-BE49-F238E27FC236}">
                <a16:creationId xmlns:a16="http://schemas.microsoft.com/office/drawing/2014/main" id="{5B7C09B7-3C40-4AD0-A3C1-5CD085EC4055}"/>
              </a:ext>
            </a:extLst>
          </p:cNvPr>
          <p:cNvSpPr txBox="1"/>
          <p:nvPr/>
        </p:nvSpPr>
        <p:spPr>
          <a:xfrm>
            <a:off x="285056" y="198549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C451E11F-833B-4958-A324-17979AC2B205}"/>
              </a:ext>
            </a:extLst>
          </p:cNvPr>
          <p:cNvSpPr/>
          <p:nvPr/>
        </p:nvSpPr>
        <p:spPr>
          <a:xfrm>
            <a:off x="93781" y="196694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latin typeface="Arial Narrow" panose="020B0606020202030204" pitchFamily="34" charset="0"/>
            </a:endParaRPr>
          </a:p>
        </p:txBody>
      </p:sp>
      <p:sp>
        <p:nvSpPr>
          <p:cNvPr id="37" name="Akış Çizelgesi: Depolanmış Veri 36">
            <a:extLst>
              <a:ext uri="{FF2B5EF4-FFF2-40B4-BE49-F238E27FC236}">
                <a16:creationId xmlns:a16="http://schemas.microsoft.com/office/drawing/2014/main" id="{8799A928-3952-43A1-A876-FC8BB2A550BD}"/>
              </a:ext>
            </a:extLst>
          </p:cNvPr>
          <p:cNvSpPr/>
          <p:nvPr/>
        </p:nvSpPr>
        <p:spPr>
          <a:xfrm rot="10800000">
            <a:off x="236645" y="4644008"/>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8" name="Metin kutusu 37">
            <a:extLst>
              <a:ext uri="{FF2B5EF4-FFF2-40B4-BE49-F238E27FC236}">
                <a16:creationId xmlns:a16="http://schemas.microsoft.com/office/drawing/2014/main" id="{838E8102-9CC6-4B3E-8178-6229C066AF82}"/>
              </a:ext>
            </a:extLst>
          </p:cNvPr>
          <p:cNvSpPr txBox="1"/>
          <p:nvPr/>
        </p:nvSpPr>
        <p:spPr>
          <a:xfrm>
            <a:off x="278326" y="4662559"/>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9" name="Oval 38">
            <a:extLst>
              <a:ext uri="{FF2B5EF4-FFF2-40B4-BE49-F238E27FC236}">
                <a16:creationId xmlns:a16="http://schemas.microsoft.com/office/drawing/2014/main" id="{C2BFB28F-F8A2-4920-AC36-77A8ED9ED394}"/>
              </a:ext>
            </a:extLst>
          </p:cNvPr>
          <p:cNvSpPr/>
          <p:nvPr/>
        </p:nvSpPr>
        <p:spPr>
          <a:xfrm>
            <a:off x="87051" y="4644008"/>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0" name="Metin kutusu 39">
            <a:extLst>
              <a:ext uri="{FF2B5EF4-FFF2-40B4-BE49-F238E27FC236}">
                <a16:creationId xmlns:a16="http://schemas.microsoft.com/office/drawing/2014/main" id="{158A0709-E85D-4567-8CC4-DDC2386824A1}"/>
              </a:ext>
            </a:extLst>
          </p:cNvPr>
          <p:cNvSpPr txBox="1"/>
          <p:nvPr/>
        </p:nvSpPr>
        <p:spPr>
          <a:xfrm>
            <a:off x="-50221" y="4650332"/>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41" name="Metin kutusu 40">
            <a:extLst>
              <a:ext uri="{FF2B5EF4-FFF2-40B4-BE49-F238E27FC236}">
                <a16:creationId xmlns:a16="http://schemas.microsoft.com/office/drawing/2014/main" id="{EEC67287-82FB-4AA6-9777-E97EED31564C}"/>
              </a:ext>
            </a:extLst>
          </p:cNvPr>
          <p:cNvSpPr txBox="1"/>
          <p:nvPr/>
        </p:nvSpPr>
        <p:spPr>
          <a:xfrm>
            <a:off x="-32342" y="199772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Tree>
    <p:extLst>
      <p:ext uri="{BB962C8B-B14F-4D97-AF65-F5344CB8AC3E}">
        <p14:creationId xmlns:p14="http://schemas.microsoft.com/office/powerpoint/2010/main" val="33144884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4</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13716"/>
            <a:ext cx="3212178" cy="553998"/>
          </a:xfrm>
          <a:prstGeom prst="rect">
            <a:avLst/>
          </a:prstGeom>
          <a:noFill/>
        </p:spPr>
        <p:txBody>
          <a:bodyPr wrap="square" rtlCol="0">
            <a:spAutoFit/>
          </a:bodyPr>
          <a:lstStyle/>
          <a:p>
            <a:r>
              <a:rPr lang="tr-TR" sz="1000" b="1" noProof="1">
                <a:cs typeface="Arial" panose="020B0604020202020204" pitchFamily="34" charset="0"/>
              </a:rPr>
              <a:t>Bir torbada 12 mavi,  7 yeşil, 3 adet sarı bilye bulunmak-tadır.  Torbadan </a:t>
            </a:r>
            <a:r>
              <a:rPr lang="tr-TR" sz="1000" b="1" u="sng" noProof="1">
                <a:cs typeface="Arial" panose="020B0604020202020204" pitchFamily="34" charset="0"/>
              </a:rPr>
              <a:t>en az </a:t>
            </a:r>
            <a:r>
              <a:rPr lang="tr-TR" sz="1000" b="1" noProof="1">
                <a:cs typeface="Arial" panose="020B0604020202020204" pitchFamily="34" charset="0"/>
              </a:rPr>
              <a:t>kaç tane bilye alınırsa en az her renkten </a:t>
            </a:r>
            <a:r>
              <a:rPr lang="tr-TR" sz="1000" b="1" u="sng" noProof="1">
                <a:cs typeface="Arial" panose="020B0604020202020204" pitchFamily="34" charset="0"/>
              </a:rPr>
              <a:t>kesinlikle</a:t>
            </a:r>
            <a:r>
              <a:rPr lang="tr-TR" sz="1000" b="1" noProof="1">
                <a:cs typeface="Arial" panose="020B0604020202020204" pitchFamily="34" charset="0"/>
              </a:rPr>
              <a:t> bir tane alınmış olur?</a:t>
            </a:r>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39" name="Metin kutusu 38">
            <a:extLst>
              <a:ext uri="{FF2B5EF4-FFF2-40B4-BE49-F238E27FC236}">
                <a16:creationId xmlns:a16="http://schemas.microsoft.com/office/drawing/2014/main" id="{8D27DD3A-29CC-42A5-A7B6-45744AA5083F}"/>
              </a:ext>
            </a:extLst>
          </p:cNvPr>
          <p:cNvSpPr txBox="1"/>
          <p:nvPr/>
        </p:nvSpPr>
        <p:spPr>
          <a:xfrm>
            <a:off x="34267" y="2561001"/>
            <a:ext cx="3212178" cy="1938992"/>
          </a:xfrm>
          <a:prstGeom prst="rect">
            <a:avLst/>
          </a:prstGeom>
          <a:noFill/>
        </p:spPr>
        <p:txBody>
          <a:bodyPr wrap="square" rtlCol="0">
            <a:spAutoFit/>
          </a:bodyPr>
          <a:lstStyle/>
          <a:p>
            <a:r>
              <a:rPr lang="tr-TR" sz="1000" noProof="1">
                <a:cs typeface="Arial" panose="020B0604020202020204" pitchFamily="34" charset="0"/>
              </a:rPr>
              <a:t>Genellikle bu sorunun çözümünde öğrenciler hata yapar ve bu cevabı 11 diye bulurlar. 7+3 ve 1 mavi seçimidir fakat bu tarz sorularda en şanssız ihtimalimiz düşünülme-lidir. Kesinlik sorduğundan ötürü şanssız durumumuzu değerlendirip en garanti sonucu sunmamız gerekir. </a:t>
            </a:r>
          </a:p>
          <a:p>
            <a:endParaRPr lang="tr-TR" sz="1000" noProof="1">
              <a:cs typeface="Arial" panose="020B0604020202020204" pitchFamily="34" charset="0"/>
            </a:endParaRPr>
          </a:p>
          <a:p>
            <a:r>
              <a:rPr lang="tr-TR" sz="1000" noProof="1">
                <a:cs typeface="Arial" panose="020B0604020202020204" pitchFamily="34" charset="0"/>
              </a:rPr>
              <a:t>O yüzden en fazla bilye sayısından hepsi alınır 12 mavi alınır, ondan sonra 7 yeşilin tamamı alınır ve 1 adet sarı alındığında en kötü seçimimizde şartı sağlamış oluruz. Soru köküne yani kesinlikle sorduğuna dikkat etmeliyiz.</a:t>
            </a:r>
          </a:p>
          <a:p>
            <a:endParaRPr lang="tr-TR" sz="1000" noProof="1">
              <a:cs typeface="Arial" panose="020B0604020202020204" pitchFamily="34" charset="0"/>
            </a:endParaRPr>
          </a:p>
          <a:p>
            <a:r>
              <a:rPr lang="tr-TR" sz="1000" b="1" noProof="1">
                <a:cs typeface="Arial" panose="020B0604020202020204" pitchFamily="34" charset="0"/>
              </a:rPr>
              <a:t>Cevabımız = 12 + 7 + 1 = 20 olacaktır.</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7</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8</a:t>
            </a:r>
          </a:p>
        </p:txBody>
      </p:sp>
      <p:sp>
        <p:nvSpPr>
          <p:cNvPr id="48" name="Metin kutusu 47">
            <a:extLst>
              <a:ext uri="{FF2B5EF4-FFF2-40B4-BE49-F238E27FC236}">
                <a16:creationId xmlns:a16="http://schemas.microsoft.com/office/drawing/2014/main" id="{7D5A05B2-A3E8-4935-B46C-27D375E7F8E3}"/>
              </a:ext>
            </a:extLst>
          </p:cNvPr>
          <p:cNvSpPr txBox="1"/>
          <p:nvPr/>
        </p:nvSpPr>
        <p:spPr>
          <a:xfrm>
            <a:off x="61810" y="4811154"/>
            <a:ext cx="3212178" cy="861774"/>
          </a:xfrm>
          <a:prstGeom prst="rect">
            <a:avLst/>
          </a:prstGeom>
          <a:noFill/>
        </p:spPr>
        <p:txBody>
          <a:bodyPr wrap="square" rtlCol="0">
            <a:spAutoFit/>
          </a:bodyPr>
          <a:lstStyle/>
          <a:p>
            <a:r>
              <a:rPr lang="tr-TR" sz="1000" noProof="1">
                <a:cs typeface="Arial" panose="020B0604020202020204" pitchFamily="34" charset="0"/>
              </a:rPr>
              <a:t>Melih, elindeki parayla 15 tam bilet 10 öğrenci bileti yada tamamen 40 öğrenci bileti alabilmektedir. </a:t>
            </a:r>
          </a:p>
          <a:p>
            <a:endParaRPr lang="tr-TR" sz="1000" b="1" noProof="1">
              <a:cs typeface="Arial" panose="020B0604020202020204" pitchFamily="34" charset="0"/>
            </a:endParaRPr>
          </a:p>
          <a:p>
            <a:r>
              <a:rPr lang="tr-TR" sz="1000" b="1" noProof="1">
                <a:cs typeface="Arial" panose="020B0604020202020204" pitchFamily="34" charset="0"/>
              </a:rPr>
              <a:t>Buna göre, Melih elindeki paranın tamamıyla kaç tane tam bilet alabilir?</a:t>
            </a:r>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1" name="Metin kutusu 50">
            <a:extLst>
              <a:ext uri="{FF2B5EF4-FFF2-40B4-BE49-F238E27FC236}">
                <a16:creationId xmlns:a16="http://schemas.microsoft.com/office/drawing/2014/main" id="{196F6F26-132D-4757-A123-46098B5A7896}"/>
              </a:ext>
            </a:extLst>
          </p:cNvPr>
          <p:cNvSpPr txBox="1"/>
          <p:nvPr/>
        </p:nvSpPr>
        <p:spPr>
          <a:xfrm>
            <a:off x="41902" y="6759518"/>
            <a:ext cx="3255556" cy="1938992"/>
          </a:xfrm>
          <a:prstGeom prst="rect">
            <a:avLst/>
          </a:prstGeom>
          <a:noFill/>
        </p:spPr>
        <p:txBody>
          <a:bodyPr wrap="square" rtlCol="0">
            <a:spAutoFit/>
          </a:bodyPr>
          <a:lstStyle/>
          <a:p>
            <a:r>
              <a:rPr lang="tr-TR" sz="1000" noProof="1">
                <a:cs typeface="Arial" panose="020B0604020202020204" pitchFamily="34" charset="0"/>
              </a:rPr>
              <a:t>Fiyatlar için tam bilete x, öğrenciye y demiş olalım.  Buna göre 15 x + 10 y = 40 y olacaktır.   15x=30y  her iki tarafı 15 e böldüğümüzde x = 2y olacaktır. Yani burdan da anlıyoruz ki tam bilet daha pahalı ve öğrencinin iki katı olacaktır. </a:t>
            </a:r>
          </a:p>
          <a:p>
            <a:endParaRPr lang="tr-TR" sz="1000" noProof="1">
              <a:cs typeface="Arial" panose="020B0604020202020204" pitchFamily="34" charset="0"/>
            </a:endParaRPr>
          </a:p>
          <a:p>
            <a:r>
              <a:rPr lang="tr-TR" sz="1000" noProof="1">
                <a:cs typeface="Arial" panose="020B0604020202020204" pitchFamily="34" charset="0"/>
              </a:rPr>
              <a:t>40y kadar paramız var (</a:t>
            </a:r>
            <a:r>
              <a:rPr lang="tr-TR" sz="900" noProof="1">
                <a:cs typeface="Arial" panose="020B0604020202020204" pitchFamily="34" charset="0"/>
              </a:rPr>
              <a:t>tamamen 40 öğrenci bileti alabiliyoruz</a:t>
            </a:r>
            <a:r>
              <a:rPr lang="tr-TR" sz="1000" noProof="1">
                <a:cs typeface="Arial" panose="020B0604020202020204" pitchFamily="34" charset="0"/>
              </a:rPr>
              <a:t>)</a:t>
            </a:r>
          </a:p>
          <a:p>
            <a:endParaRPr lang="tr-TR" sz="1000" noProof="1">
              <a:cs typeface="Arial" panose="020B0604020202020204" pitchFamily="34" charset="0"/>
            </a:endParaRPr>
          </a:p>
          <a:p>
            <a:r>
              <a:rPr lang="tr-TR" sz="1000" noProof="1">
                <a:cs typeface="Arial" panose="020B0604020202020204" pitchFamily="34" charset="0"/>
              </a:rPr>
              <a:t>x=2y ise 40 y elde edebilmemiz için her iki tarafı 20 ile çarparız böylelikle paramıza tekabül eden tam bileti de bulmuş oluruz. </a:t>
            </a:r>
          </a:p>
          <a:p>
            <a:endParaRPr lang="tr-TR" sz="1000" noProof="1">
              <a:cs typeface="Arial" panose="020B0604020202020204" pitchFamily="34" charset="0"/>
            </a:endParaRPr>
          </a:p>
          <a:p>
            <a:r>
              <a:rPr lang="tr-TR" sz="1000" noProof="1">
                <a:cs typeface="Arial" panose="020B0604020202020204" pitchFamily="34" charset="0"/>
              </a:rPr>
              <a:t>x=2y ise  20x=40 y olacaktır x tam bilet fiyatı, </a:t>
            </a:r>
            <a:r>
              <a:rPr lang="tr-TR" sz="1000" b="1" noProof="1">
                <a:cs typeface="Arial" panose="020B0604020202020204" pitchFamily="34" charset="0"/>
              </a:rPr>
              <a:t>20 tane alınır.</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9</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3611555" y="768767"/>
            <a:ext cx="3212178" cy="553998"/>
          </a:xfrm>
          <a:prstGeom prst="rect">
            <a:avLst/>
          </a:prstGeom>
          <a:noFill/>
        </p:spPr>
        <p:txBody>
          <a:bodyPr wrap="square" rtlCol="0">
            <a:spAutoFit/>
          </a:bodyPr>
          <a:lstStyle/>
          <a:p>
            <a:r>
              <a:rPr lang="tr-TR" sz="1000" b="1" noProof="1">
                <a:cs typeface="Arial" panose="020B0604020202020204" pitchFamily="34" charset="0"/>
              </a:rPr>
              <a:t>Bir bakkal her 4 gazoz kapağına 1 tane gazoz bedava verilmektedir. 58 tane gazoz alan Mehmet, kaç tane bedava gazoz almış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6349" y="200231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7" name="Metin kutusu 56">
            <a:extLst>
              <a:ext uri="{FF2B5EF4-FFF2-40B4-BE49-F238E27FC236}">
                <a16:creationId xmlns:a16="http://schemas.microsoft.com/office/drawing/2014/main" id="{B8048C09-6621-4BB7-B528-F881697850E7}"/>
              </a:ext>
            </a:extLst>
          </p:cNvPr>
          <p:cNvSpPr txBox="1"/>
          <p:nvPr/>
        </p:nvSpPr>
        <p:spPr>
          <a:xfrm>
            <a:off x="3611555" y="2295568"/>
            <a:ext cx="3212178" cy="1938992"/>
          </a:xfrm>
          <a:prstGeom prst="rect">
            <a:avLst/>
          </a:prstGeom>
          <a:noFill/>
        </p:spPr>
        <p:txBody>
          <a:bodyPr wrap="square" rtlCol="0">
            <a:spAutoFit/>
          </a:bodyPr>
          <a:lstStyle/>
          <a:p>
            <a:r>
              <a:rPr lang="tr-TR" sz="1000" noProof="1">
                <a:cs typeface="Arial" panose="020B0604020202020204" pitchFamily="34" charset="0"/>
              </a:rPr>
              <a:t>58 sayısını 4`e bölelim ve kalanıda not edelim. Çünkü her kalan gazoz bize avantaj sağlamaktadır. 58 = 14.4 + 2 dir</a:t>
            </a:r>
          </a:p>
          <a:p>
            <a:r>
              <a:rPr lang="tr-TR" sz="1000" noProof="1">
                <a:cs typeface="Arial" panose="020B0604020202020204" pitchFamily="34" charset="0"/>
              </a:rPr>
              <a:t>yani </a:t>
            </a:r>
            <a:r>
              <a:rPr lang="tr-TR" sz="1000" noProof="1">
                <a:solidFill>
                  <a:srgbClr val="0070C0"/>
                </a:solidFill>
                <a:cs typeface="Arial" panose="020B0604020202020204" pitchFamily="34" charset="0"/>
              </a:rPr>
              <a:t>14 tane bedava</a:t>
            </a:r>
            <a:r>
              <a:rPr lang="tr-TR" sz="1000" noProof="1">
                <a:cs typeface="Arial" panose="020B0604020202020204" pitchFamily="34" charset="0"/>
              </a:rPr>
              <a:t> gazoz alabilmekteyiz. Bu aldığımız 14 gazozda da 14 tane kapak olacaktır. 2 adet te ilk başta not olarak belirttiğimiz gazoz kapağı vardı. 16 kapağımız oldu ve her 4 kapakta bir gazoz alabiliyorsak 16/4 = </a:t>
            </a:r>
            <a:r>
              <a:rPr lang="tr-TR" sz="1000" noProof="1">
                <a:solidFill>
                  <a:srgbClr val="0070C0"/>
                </a:solidFill>
                <a:cs typeface="Arial" panose="020B0604020202020204" pitchFamily="34" charset="0"/>
              </a:rPr>
              <a:t>4 adet daha bedava</a:t>
            </a:r>
            <a:r>
              <a:rPr lang="tr-TR" sz="1000" noProof="1">
                <a:cs typeface="Arial" panose="020B0604020202020204" pitchFamily="34" charset="0"/>
              </a:rPr>
              <a:t> alabilmekteyiz. Bu 4 adet gazozda 4 kapak kazandırmış olacaktır ve son olarak 4/4 den </a:t>
            </a:r>
            <a:r>
              <a:rPr lang="tr-TR" sz="1000" noProof="1">
                <a:solidFill>
                  <a:srgbClr val="0070C0"/>
                </a:solidFill>
                <a:cs typeface="Arial" panose="020B0604020202020204" pitchFamily="34" charset="0"/>
              </a:rPr>
              <a:t>1 adet daha bedava gazoz </a:t>
            </a:r>
            <a:r>
              <a:rPr lang="tr-TR" sz="1000" noProof="1">
                <a:cs typeface="Arial" panose="020B0604020202020204" pitchFamily="34" charset="0"/>
              </a:rPr>
              <a:t>almış oluruz. 1 Kapak ile gazoz alamadığımız için alabileceğimiz en fazla gazozu almış oluruz.</a:t>
            </a:r>
          </a:p>
          <a:p>
            <a:endParaRPr lang="tr-TR" sz="1000" b="1" noProof="1">
              <a:cs typeface="Arial" panose="020B0604020202020204" pitchFamily="34" charset="0"/>
            </a:endParaRPr>
          </a:p>
          <a:p>
            <a:r>
              <a:rPr lang="tr-TR" sz="1000" b="1" noProof="1">
                <a:cs typeface="Arial" panose="020B0604020202020204" pitchFamily="34" charset="0"/>
              </a:rPr>
              <a:t>Toplamda 14 + 4 + 1 = 19 adet bedava gazoz almış oluruz.</a:t>
            </a:r>
          </a:p>
        </p:txBody>
      </p:sp>
      <p:sp>
        <p:nvSpPr>
          <p:cNvPr id="58" name="Metin kutusu 57">
            <a:extLst>
              <a:ext uri="{FF2B5EF4-FFF2-40B4-BE49-F238E27FC236}">
                <a16:creationId xmlns:a16="http://schemas.microsoft.com/office/drawing/2014/main" id="{1CA6FEF4-4E2B-40E4-BEB8-7902B32B70DD}"/>
              </a:ext>
            </a:extLst>
          </p:cNvPr>
          <p:cNvSpPr txBox="1"/>
          <p:nvPr/>
        </p:nvSpPr>
        <p:spPr>
          <a:xfrm>
            <a:off x="3558771" y="4542345"/>
            <a:ext cx="3212178" cy="707886"/>
          </a:xfrm>
          <a:prstGeom prst="rect">
            <a:avLst/>
          </a:prstGeom>
          <a:noFill/>
        </p:spPr>
        <p:txBody>
          <a:bodyPr wrap="square" rtlCol="0">
            <a:spAutoFit/>
          </a:bodyPr>
          <a:lstStyle/>
          <a:p>
            <a:r>
              <a:rPr lang="tr-TR" sz="1000" noProof="1">
                <a:cs typeface="Arial" panose="020B0604020202020204" pitchFamily="34" charset="0"/>
              </a:rPr>
              <a:t>Bir partide 28 erkek 10 kadın vardır.  </a:t>
            </a:r>
          </a:p>
          <a:p>
            <a:endParaRPr lang="tr-TR" sz="1000" noProof="1">
              <a:cs typeface="Arial" panose="020B0604020202020204" pitchFamily="34" charset="0"/>
            </a:endParaRPr>
          </a:p>
          <a:p>
            <a:r>
              <a:rPr lang="tr-TR" sz="1000" b="1" noProof="1">
                <a:cs typeface="Arial" panose="020B0604020202020204" pitchFamily="34" charset="0"/>
              </a:rPr>
              <a:t>Bu partiye kaç tane evli çift (karı-koca) gelirse kadın sayısı erkek sayısının yarısı kadar olmuş olur?  </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3B937F94-20A5-49B2-B62A-008740D22FD4}"/>
                  </a:ext>
                </a:extLst>
              </p:cNvPr>
              <p:cNvSpPr txBox="1"/>
              <p:nvPr/>
            </p:nvSpPr>
            <p:spPr>
              <a:xfrm>
                <a:off x="3536598" y="6841699"/>
                <a:ext cx="3297105" cy="1785104"/>
              </a:xfrm>
              <a:prstGeom prst="rect">
                <a:avLst/>
              </a:prstGeom>
              <a:noFill/>
            </p:spPr>
            <p:txBody>
              <a:bodyPr wrap="square" rtlCol="0">
                <a:spAutoFit/>
              </a:bodyPr>
              <a:lstStyle/>
              <a:p>
                <a:r>
                  <a:rPr lang="tr-TR" sz="1000" noProof="1">
                    <a:cs typeface="Arial" panose="020B0604020202020204" pitchFamily="34" charset="0"/>
                  </a:rPr>
                  <a:t>Erkek sayısı kadın sayısının </a:t>
                </a:r>
                <a:r>
                  <a:rPr lang="tr-TR" sz="1000" noProof="1">
                    <a:solidFill>
                      <a:srgbClr val="C00000"/>
                    </a:solidFill>
                    <a:cs typeface="Arial" panose="020B0604020202020204" pitchFamily="34" charset="0"/>
                  </a:rPr>
                  <a:t>2 katı</a:t>
                </a:r>
                <a:r>
                  <a:rPr lang="tr-TR" sz="1000" noProof="1">
                    <a:cs typeface="Arial" panose="020B0604020202020204" pitchFamily="34" charset="0"/>
                  </a:rPr>
                  <a:t> olan durumu arıyoruz.</a:t>
                </a:r>
              </a:p>
              <a:p>
                <a:endParaRPr lang="tr-TR" sz="1000" b="1" noProof="1">
                  <a:cs typeface="Arial" panose="020B0604020202020204" pitchFamily="34" charset="0"/>
                </a:endParaRPr>
              </a:p>
              <a:p>
                <a:r>
                  <a:rPr lang="tr-TR" sz="1000" b="1" noProof="1">
                    <a:cs typeface="Arial" panose="020B0604020202020204" pitchFamily="34" charset="0"/>
                  </a:rPr>
                  <a:t>Erkekleri bir tarafta kadınları bir tarafta değerlendirelim. Evli çift geldiğinde salona 1 adet kadın, 1 erkek gelmiş olacaktır.</a:t>
                </a:r>
              </a:p>
              <a:p>
                <a:endParaRPr lang="tr-TR" sz="1000" b="1" noProof="1">
                  <a:cs typeface="Arial" panose="020B0604020202020204" pitchFamily="34" charset="0"/>
                </a:endParaRPr>
              </a:p>
              <a:p>
                <a:r>
                  <a:rPr lang="tr-TR" sz="1000" noProof="1">
                    <a:cs typeface="Arial" panose="020B0604020202020204" pitchFamily="34" charset="0"/>
                  </a:rPr>
                  <a:t>Erkekler =  28 + x  ,  Kadınların (10+x) , 2 katını alıp eşleyelim</a:t>
                </a:r>
              </a:p>
              <a:p>
                <a:endParaRPr lang="tr-TR" sz="1000" b="1" noProof="1">
                  <a:cs typeface="Arial" panose="020B0604020202020204" pitchFamily="34" charset="0"/>
                </a:endParaRPr>
              </a:p>
              <a:p>
                <a:r>
                  <a:rPr lang="tr-TR" sz="1000" b="1" noProof="1">
                    <a:solidFill>
                      <a:srgbClr val="C00000"/>
                    </a:solidFill>
                    <a:cs typeface="Arial" panose="020B0604020202020204" pitchFamily="34" charset="0"/>
                  </a:rPr>
                  <a:t>28+x = 2</a:t>
                </a:r>
                <a:r>
                  <a:rPr lang="tr-TR" sz="1000" b="1" noProof="1">
                    <a:cs typeface="Arial" panose="020B0604020202020204" pitchFamily="34" charset="0"/>
                  </a:rPr>
                  <a:t> (10+x)   , 28+x = 20 + 2x </a:t>
                </a:r>
                <a14:m>
                  <m:oMath xmlns:m="http://schemas.openxmlformats.org/officeDocument/2006/math">
                    <m:r>
                      <a:rPr lang="tr-TR" sz="1000" b="1" i="0" noProof="1" smtClean="0">
                        <a:latin typeface="Cambria Math" panose="02040503050406030204" pitchFamily="18" charset="0"/>
                      </a:rPr>
                      <m:t>⇒</m:t>
                    </m:r>
                  </m:oMath>
                </a14:m>
                <a:r>
                  <a:rPr lang="tr-TR" sz="1000" b="1" noProof="1">
                    <a:cs typeface="Arial" panose="020B0604020202020204" pitchFamily="34" charset="0"/>
                  </a:rPr>
                  <a:t> x=8 olarak bulunur.</a:t>
                </a:r>
              </a:p>
              <a:p>
                <a:endParaRPr lang="tr-TR" sz="1000" b="1" noProof="1">
                  <a:cs typeface="Arial" panose="020B0604020202020204" pitchFamily="34" charset="0"/>
                </a:endParaRPr>
              </a:p>
              <a:p>
                <a:r>
                  <a:rPr lang="tr-TR" sz="1000" b="1" noProof="1">
                    <a:cs typeface="Arial" panose="020B0604020202020204" pitchFamily="34" charset="0"/>
                  </a:rPr>
                  <a:t>8 tane çift geldiğinde koşul sağlanmış olacaktır.  </a:t>
                </a:r>
              </a:p>
            </p:txBody>
          </p:sp>
        </mc:Choice>
        <mc:Fallback xmlns="">
          <p:sp>
            <p:nvSpPr>
              <p:cNvPr id="60" name="Metin kutusu 59">
                <a:extLst>
                  <a:ext uri="{FF2B5EF4-FFF2-40B4-BE49-F238E27FC236}">
                    <a16:creationId xmlns:a16="http://schemas.microsoft.com/office/drawing/2014/main" id="{3B937F94-20A5-49B2-B62A-008740D22FD4}"/>
                  </a:ext>
                </a:extLst>
              </p:cNvPr>
              <p:cNvSpPr txBox="1">
                <a:spLocks noRot="1" noChangeAspect="1" noMove="1" noResize="1" noEditPoints="1" noAdjustHandles="1" noChangeArrowheads="1" noChangeShapeType="1" noTextEdit="1"/>
              </p:cNvSpPr>
              <p:nvPr/>
            </p:nvSpPr>
            <p:spPr>
              <a:xfrm>
                <a:off x="3536598" y="6841699"/>
                <a:ext cx="3297105" cy="1785104"/>
              </a:xfrm>
              <a:prstGeom prst="rect">
                <a:avLst/>
              </a:prstGeom>
              <a:blipFill>
                <a:blip r:embed="rId6"/>
                <a:stretch>
                  <a:fillRect b="-1365"/>
                </a:stretch>
              </a:blipFill>
            </p:spPr>
            <p:txBody>
              <a:bodyPr/>
              <a:lstStyle/>
              <a:p>
                <a:r>
                  <a:rPr lang="tr-TR">
                    <a:noFill/>
                  </a:rPr>
                  <a:t> </a:t>
                </a:r>
              </a:p>
            </p:txBody>
          </p:sp>
        </mc:Fallback>
      </mc:AlternateContent>
      <p:sp>
        <p:nvSpPr>
          <p:cNvPr id="61" name="Kaydırma: Yatay 60">
            <a:extLst>
              <a:ext uri="{FF2B5EF4-FFF2-40B4-BE49-F238E27FC236}">
                <a16:creationId xmlns:a16="http://schemas.microsoft.com/office/drawing/2014/main" id="{2C215531-9C0E-4FFF-BBED-378D371A7B97}"/>
              </a:ext>
            </a:extLst>
          </p:cNvPr>
          <p:cNvSpPr/>
          <p:nvPr/>
        </p:nvSpPr>
        <p:spPr>
          <a:xfrm>
            <a:off x="908720" y="468737"/>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2" name="Metin kutusu 61">
            <a:extLst>
              <a:ext uri="{FF2B5EF4-FFF2-40B4-BE49-F238E27FC236}">
                <a16:creationId xmlns:a16="http://schemas.microsoft.com/office/drawing/2014/main" id="{7DE88730-9455-409D-94EE-8553470A2C3A}"/>
              </a:ext>
            </a:extLst>
          </p:cNvPr>
          <p:cNvSpPr txBox="1"/>
          <p:nvPr/>
        </p:nvSpPr>
        <p:spPr>
          <a:xfrm>
            <a:off x="933700" y="487056"/>
            <a:ext cx="2191914" cy="307777"/>
          </a:xfrm>
          <a:prstGeom prst="rect">
            <a:avLst/>
          </a:prstGeom>
          <a:noFill/>
        </p:spPr>
        <p:txBody>
          <a:bodyPr wrap="square">
            <a:spAutoFit/>
          </a:bodyPr>
          <a:lstStyle/>
          <a:p>
            <a:r>
              <a:rPr lang="tr-TR" sz="700" b="1" i="0" noProof="1">
                <a:solidFill>
                  <a:schemeClr val="bg1"/>
                </a:solidFill>
                <a:effectLst/>
                <a:latin typeface="Arial Narrow" panose="020B0606020202030204" pitchFamily="34" charset="0"/>
              </a:rPr>
              <a:t>“Bilginin efendisi olmak için çalışmanın uşağı olmak şarttır.”  - Honore De Balzac</a:t>
            </a:r>
            <a:endParaRPr lang="tr-TR" sz="700" noProof="1">
              <a:solidFill>
                <a:schemeClr val="bg1"/>
              </a:solidFill>
              <a:latin typeface="Arial Narrow" panose="020B0606020202030204" pitchFamily="34" charset="0"/>
            </a:endParaRPr>
          </a:p>
        </p:txBody>
      </p:sp>
    </p:spTree>
    <p:extLst>
      <p:ext uri="{BB962C8B-B14F-4D97-AF65-F5344CB8AC3E}">
        <p14:creationId xmlns:p14="http://schemas.microsoft.com/office/powerpoint/2010/main" val="629300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81606" y="423301"/>
            <a:ext cx="3201388" cy="822505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980" y="422142"/>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5</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180338" y="4356626"/>
            <a:ext cx="600067" cy="297129"/>
          </a:xfrm>
          <a:prstGeom prst="flowChartOnlineStorage">
            <a:avLst/>
          </a:prstGeom>
          <a:solidFill>
            <a:srgbClr val="B59FE1"/>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44831" y="4379725"/>
            <a:ext cx="591474" cy="266352"/>
          </a:xfrm>
          <a:prstGeom prst="rect">
            <a:avLst/>
          </a:prstGeom>
          <a:noFill/>
        </p:spPr>
        <p:txBody>
          <a:bodyPr wrap="square" lIns="80897" tIns="40448" rIns="80897" bIns="40448" rtlCol="0">
            <a:spAutoFit/>
          </a:bodyPr>
          <a:lstStyle/>
          <a:p>
            <a:pPr algn="ctr"/>
            <a:r>
              <a:rPr lang="tr-TR" sz="1200" b="1" dirty="0"/>
              <a:t>Dikkat</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8967" y="411935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802147" y="413845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9373" y="411935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mc:AlternateContent xmlns:mc="http://schemas.openxmlformats.org/markup-compatibility/2006" xmlns:a14="http://schemas.microsoft.com/office/drawing/2010/main">
        <mc:Choice Requires="a14">
          <p:sp>
            <p:nvSpPr>
              <p:cNvPr id="55" name="Metin kutusu 54">
                <a:extLst>
                  <a:ext uri="{FF2B5EF4-FFF2-40B4-BE49-F238E27FC236}">
                    <a16:creationId xmlns:a16="http://schemas.microsoft.com/office/drawing/2014/main" id="{03B28319-59E9-4BA9-A2EF-6A80AE8036A2}"/>
                  </a:ext>
                </a:extLst>
              </p:cNvPr>
              <p:cNvSpPr txBox="1"/>
              <p:nvPr/>
            </p:nvSpPr>
            <p:spPr>
              <a:xfrm>
                <a:off x="51719" y="789252"/>
                <a:ext cx="3212178" cy="771301"/>
              </a:xfrm>
              <a:prstGeom prst="rect">
                <a:avLst/>
              </a:prstGeom>
              <a:noFill/>
            </p:spPr>
            <p:txBody>
              <a:bodyPr wrap="square" rtlCol="0">
                <a:spAutoFit/>
              </a:bodyPr>
              <a:lstStyle/>
              <a:p>
                <a:r>
                  <a:rPr lang="tr-TR" sz="1000" noProof="1">
                    <a:cs typeface="Arial" panose="020B0604020202020204" pitchFamily="34" charset="0"/>
                  </a:rPr>
                  <a:t>Ozan`ın kalemlerinin sayısı, Esra`nın kalemlerinin sayısının </a:t>
                </a:r>
                <a14:m>
                  <m:oMath xmlns:m="http://schemas.openxmlformats.org/officeDocument/2006/math">
                    <m:f>
                      <m:fPr>
                        <m:ctrlPr>
                          <a:rPr lang="tr-TR" sz="850" i="1" noProof="1" smtClean="0">
                            <a:solidFill>
                              <a:schemeClr val="tx1"/>
                            </a:solidFill>
                            <a:latin typeface="Cambria Math" panose="02040503050406030204" pitchFamily="18" charset="0"/>
                          </a:rPr>
                        </m:ctrlPr>
                      </m:fPr>
                      <m:num>
                        <m:r>
                          <m:rPr>
                            <m:nor/>
                          </m:rPr>
                          <a:rPr lang="tr-TR" sz="850" i="0" noProof="1" smtClean="0">
                            <a:solidFill>
                              <a:schemeClr val="tx1"/>
                            </a:solidFill>
                            <a:latin typeface="Cambria Math" panose="02040503050406030204" pitchFamily="18" charset="0"/>
                          </a:rPr>
                          <m:t> </m:t>
                        </m:r>
                        <m:r>
                          <m:rPr>
                            <m:nor/>
                          </m:rPr>
                          <a:rPr lang="tr-TR" sz="850" i="0" noProof="1" smtClean="0">
                            <a:solidFill>
                              <a:schemeClr val="tx1"/>
                            </a:solidFill>
                            <a:latin typeface="Helvetica" panose="020B0604020202020204" pitchFamily="34" charset="0"/>
                            <a:cs typeface="Helvetica" panose="020B0604020202020204" pitchFamily="34" charset="0"/>
                          </a:rPr>
                          <m:t>1</m:t>
                        </m:r>
                        <m:r>
                          <m:rPr>
                            <m:nor/>
                          </m:rPr>
                          <a:rPr lang="tr-TR" sz="850" i="0" noProof="1" smtClean="0">
                            <a:solidFill>
                              <a:schemeClr val="tx1"/>
                            </a:solidFill>
                            <a:latin typeface="Cambria Math" panose="02040503050406030204" pitchFamily="18" charset="0"/>
                          </a:rPr>
                          <m:t> </m:t>
                        </m:r>
                      </m:num>
                      <m:den>
                        <m:r>
                          <m:rPr>
                            <m:nor/>
                          </m:rPr>
                          <a:rPr lang="tr-TR" sz="850" i="0" noProof="1" smtClean="0">
                            <a:solidFill>
                              <a:schemeClr val="tx1"/>
                            </a:solidFill>
                            <a:latin typeface="Helvetica" panose="020B0604020202020204" pitchFamily="34" charset="0"/>
                            <a:cs typeface="Helvetica" panose="020B0604020202020204" pitchFamily="34" charset="0"/>
                          </a:rPr>
                          <m:t>3</m:t>
                        </m:r>
                      </m:den>
                    </m:f>
                    <m:r>
                      <a:rPr lang="tr-TR" sz="850" b="0" i="0" noProof="1" smtClean="0">
                        <a:solidFill>
                          <a:schemeClr val="tx1"/>
                        </a:solidFill>
                        <a:latin typeface="Cambria Math" panose="02040503050406030204" pitchFamily="18" charset="0"/>
                      </a:rPr>
                      <m:t>`</m:t>
                    </m:r>
                  </m:oMath>
                </a14:m>
                <a:r>
                  <a:rPr lang="tr-TR" sz="1000" noProof="1">
                    <a:cs typeface="Arial" panose="020B0604020202020204" pitchFamily="34" charset="0"/>
                  </a:rPr>
                  <a:t>ü kadardır. Esra; Ozan`a 12 adet misket verdiğinde, Ozan`ın misket sayısının 2 katının 12 eksiği Esra`nın misket sayısı oluyor.  </a:t>
                </a:r>
                <a:r>
                  <a:rPr lang="tr-TR" sz="1000" b="1" noProof="1">
                    <a:cs typeface="Arial" panose="020B0604020202020204" pitchFamily="34" charset="0"/>
                  </a:rPr>
                  <a:t>Son durumda Esra`nın misket sayısı kaçtır?</a:t>
                </a:r>
              </a:p>
            </p:txBody>
          </p:sp>
        </mc:Choice>
        <mc:Fallback xmlns="">
          <p:sp>
            <p:nvSpPr>
              <p:cNvPr id="55" name="Metin kutusu 54">
                <a:extLst>
                  <a:ext uri="{FF2B5EF4-FFF2-40B4-BE49-F238E27FC236}">
                    <a16:creationId xmlns:a16="http://schemas.microsoft.com/office/drawing/2014/main" id="{03B28319-59E9-4BA9-A2EF-6A80AE8036A2}"/>
                  </a:ext>
                </a:extLst>
              </p:cNvPr>
              <p:cNvSpPr txBox="1">
                <a:spLocks noRot="1" noChangeAspect="1" noMove="1" noResize="1" noEditPoints="1" noAdjustHandles="1" noChangeArrowheads="1" noChangeShapeType="1" noTextEdit="1"/>
              </p:cNvSpPr>
              <p:nvPr/>
            </p:nvSpPr>
            <p:spPr>
              <a:xfrm>
                <a:off x="51719" y="789252"/>
                <a:ext cx="3212178" cy="771301"/>
              </a:xfrm>
              <a:prstGeom prst="rect">
                <a:avLst/>
              </a:prstGeom>
              <a:blipFill>
                <a:blip r:embed="rId6"/>
                <a:stretch>
                  <a:fillRect b="-3937"/>
                </a:stretch>
              </a:blipFill>
            </p:spPr>
            <p:txBody>
              <a:bodyPr/>
              <a:lstStyle/>
              <a:p>
                <a:r>
                  <a:rPr lang="tr-TR">
                    <a:noFill/>
                  </a:rPr>
                  <a:t> </a:t>
                </a:r>
              </a:p>
            </p:txBody>
          </p:sp>
        </mc:Fallback>
      </mc:AlternateContent>
      <p:sp>
        <p:nvSpPr>
          <p:cNvPr id="56" name="Ok: Beşgen 55">
            <a:extLst>
              <a:ext uri="{FF2B5EF4-FFF2-40B4-BE49-F238E27FC236}">
                <a16:creationId xmlns:a16="http://schemas.microsoft.com/office/drawing/2014/main" id="{D327283C-46A4-4C86-A990-995946C89AA1}"/>
              </a:ext>
            </a:extLst>
          </p:cNvPr>
          <p:cNvSpPr/>
          <p:nvPr/>
        </p:nvSpPr>
        <p:spPr>
          <a:xfrm>
            <a:off x="3618614" y="233949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34068" y="6173183"/>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72366" y="4128054"/>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mc:AlternateContent xmlns:mc="http://schemas.openxmlformats.org/markup-compatibility/2006" xmlns:a14="http://schemas.microsoft.com/office/drawing/2010/main">
        <mc:Choice Requires="a14">
          <p:sp>
            <p:nvSpPr>
              <p:cNvPr id="48" name="Metin kutusu 47">
                <a:extLst>
                  <a:ext uri="{FF2B5EF4-FFF2-40B4-BE49-F238E27FC236}">
                    <a16:creationId xmlns:a16="http://schemas.microsoft.com/office/drawing/2014/main" id="{27DA0587-86E2-4EAF-9E8D-501A758D8FB8}"/>
                  </a:ext>
                </a:extLst>
              </p:cNvPr>
              <p:cNvSpPr txBox="1"/>
              <p:nvPr/>
            </p:nvSpPr>
            <p:spPr>
              <a:xfrm>
                <a:off x="15440" y="2539173"/>
                <a:ext cx="3212178" cy="1785104"/>
              </a:xfrm>
              <a:prstGeom prst="rect">
                <a:avLst/>
              </a:prstGeom>
              <a:noFill/>
            </p:spPr>
            <p:txBody>
              <a:bodyPr wrap="square" rtlCol="0">
                <a:spAutoFit/>
              </a:bodyPr>
              <a:lstStyle/>
              <a:p>
                <a:r>
                  <a:rPr lang="tr-TR" sz="1000" b="1" noProof="1">
                    <a:cs typeface="Arial" panose="020B0604020202020204" pitchFamily="34" charset="0"/>
                  </a:rPr>
                  <a:t>İlk Durum                   Ozan                         Esra</a:t>
                </a:r>
                <a:br>
                  <a:rPr lang="tr-TR" sz="1000" b="1" noProof="1">
                    <a:cs typeface="Arial" panose="020B0604020202020204" pitchFamily="34" charset="0"/>
                  </a:rPr>
                </a:br>
                <a:r>
                  <a:rPr lang="tr-TR" sz="1000" b="1" noProof="1">
                    <a:cs typeface="Arial" panose="020B0604020202020204" pitchFamily="34" charset="0"/>
                  </a:rPr>
                  <a:t>                                        x                               3x</a:t>
                </a:r>
                <a:br>
                  <a:rPr lang="tr-TR" sz="1000" b="1" noProof="1">
                    <a:cs typeface="Arial" panose="020B0604020202020204" pitchFamily="34" charset="0"/>
                  </a:rPr>
                </a:br>
                <a:r>
                  <a:rPr lang="tr-TR" sz="1000" b="1" noProof="1">
                    <a:cs typeface="Arial" panose="020B0604020202020204" pitchFamily="34" charset="0"/>
                  </a:rPr>
                  <a:t>   </a:t>
                </a:r>
                <a:br>
                  <a:rPr lang="tr-TR" sz="1000" b="1" noProof="1">
                    <a:cs typeface="Arial" panose="020B0604020202020204" pitchFamily="34" charset="0"/>
                  </a:rPr>
                </a:br>
                <a:r>
                  <a:rPr lang="tr-TR" sz="1000" b="1" noProof="1">
                    <a:cs typeface="Arial" panose="020B0604020202020204" pitchFamily="34" charset="0"/>
                  </a:rPr>
                  <a:t>Son Durum                 x+12                       3x-12</a:t>
                </a:r>
              </a:p>
              <a:p>
                <a:endParaRPr lang="tr-TR" sz="1000" b="1" noProof="1">
                  <a:cs typeface="Arial" panose="020B0604020202020204" pitchFamily="34" charset="0"/>
                </a:endParaRPr>
              </a:p>
              <a:p>
                <a:r>
                  <a:rPr lang="tr-TR" sz="1000" noProof="1">
                    <a:cs typeface="Arial" panose="020B0604020202020204" pitchFamily="34" charset="0"/>
                  </a:rPr>
                  <a:t>Ozan ` ın misket sayısını 2 ile çarpıp sonda 12 çıkaracağız. Sonra Esra`nın kalem sayısına eşileyeceğiz.</a:t>
                </a:r>
              </a:p>
              <a:p>
                <a:endParaRPr lang="tr-TR" sz="1000" noProof="1">
                  <a:cs typeface="Arial" panose="020B0604020202020204" pitchFamily="34" charset="0"/>
                </a:endParaRPr>
              </a:p>
              <a:p>
                <a:r>
                  <a:rPr lang="tr-TR" sz="1000" noProof="1">
                    <a:cs typeface="Arial" panose="020B0604020202020204" pitchFamily="34" charset="0"/>
                  </a:rPr>
                  <a:t>2 (x+12) – 12 = 3x - 12  ,     2x+24 = 3x </a:t>
                </a:r>
                <a14:m>
                  <m:oMath xmlns:m="http://schemas.openxmlformats.org/officeDocument/2006/math">
                    <m:r>
                      <a:rPr lang="tr-TR" sz="1000" b="0" i="0" noProof="1" smtClean="0">
                        <a:latin typeface="Cambria Math" panose="02040503050406030204" pitchFamily="18" charset="0"/>
                      </a:rPr>
                      <m:t> ⇒</m:t>
                    </m:r>
                  </m:oMath>
                </a14:m>
                <a:r>
                  <a:rPr lang="tr-TR" sz="1000" noProof="1">
                    <a:cs typeface="Arial" panose="020B0604020202020204" pitchFamily="34" charset="0"/>
                  </a:rPr>
                  <a:t>   x=24</a:t>
                </a:r>
              </a:p>
              <a:p>
                <a:endParaRPr lang="tr-TR" sz="1000" b="1" noProof="1">
                  <a:cs typeface="Arial" panose="020B0604020202020204" pitchFamily="34" charset="0"/>
                </a:endParaRPr>
              </a:p>
              <a:p>
                <a:r>
                  <a:rPr lang="tr-TR" sz="1000" b="1" noProof="1">
                    <a:cs typeface="Arial" panose="020B0604020202020204" pitchFamily="34" charset="0"/>
                  </a:rPr>
                  <a:t>Esra`nın misket sayısı 3.24 – 12 =  60 tane kalemi vardır.                    </a:t>
                </a:r>
              </a:p>
            </p:txBody>
          </p:sp>
        </mc:Choice>
        <mc:Fallback xmlns="">
          <p:sp>
            <p:nvSpPr>
              <p:cNvPr id="48" name="Metin kutusu 47">
                <a:extLst>
                  <a:ext uri="{FF2B5EF4-FFF2-40B4-BE49-F238E27FC236}">
                    <a16:creationId xmlns:a16="http://schemas.microsoft.com/office/drawing/2014/main" id="{27DA0587-86E2-4EAF-9E8D-501A758D8FB8}"/>
                  </a:ext>
                </a:extLst>
              </p:cNvPr>
              <p:cNvSpPr txBox="1">
                <a:spLocks noRot="1" noChangeAspect="1" noMove="1" noResize="1" noEditPoints="1" noAdjustHandles="1" noChangeArrowheads="1" noChangeShapeType="1" noTextEdit="1"/>
              </p:cNvSpPr>
              <p:nvPr/>
            </p:nvSpPr>
            <p:spPr>
              <a:xfrm>
                <a:off x="15440" y="2539173"/>
                <a:ext cx="3212178" cy="1785104"/>
              </a:xfrm>
              <a:prstGeom prst="rect">
                <a:avLst/>
              </a:prstGeom>
              <a:blipFill>
                <a:blip r:embed="rId7"/>
                <a:stretch>
                  <a:fillRect r="-14639" b="-1370"/>
                </a:stretch>
              </a:blipFill>
            </p:spPr>
            <p:txBody>
              <a:bodyPr/>
              <a:lstStyle/>
              <a:p>
                <a:r>
                  <a:rPr lang="tr-TR">
                    <a:noFill/>
                  </a:rPr>
                  <a:t> </a:t>
                </a:r>
              </a:p>
            </p:txBody>
          </p:sp>
        </mc:Fallback>
      </mc:AlternateContent>
      <p:cxnSp>
        <p:nvCxnSpPr>
          <p:cNvPr id="6" name="Düz Bağlayıcı 5">
            <a:extLst>
              <a:ext uri="{FF2B5EF4-FFF2-40B4-BE49-F238E27FC236}">
                <a16:creationId xmlns:a16="http://schemas.microsoft.com/office/drawing/2014/main" id="{16ACA052-4BBC-4DCE-8DBC-F17A134BF0B8}"/>
              </a:ext>
            </a:extLst>
          </p:cNvPr>
          <p:cNvCxnSpPr/>
          <p:nvPr/>
        </p:nvCxnSpPr>
        <p:spPr>
          <a:xfrm>
            <a:off x="1072945" y="2730990"/>
            <a:ext cx="504056" cy="0"/>
          </a:xfrm>
          <a:prstGeom prst="line">
            <a:avLst/>
          </a:prstGeom>
        </p:spPr>
        <p:style>
          <a:lnRef idx="1">
            <a:schemeClr val="dk1"/>
          </a:lnRef>
          <a:fillRef idx="0">
            <a:schemeClr val="dk1"/>
          </a:fillRef>
          <a:effectRef idx="0">
            <a:schemeClr val="dk1"/>
          </a:effectRef>
          <a:fontRef idx="minor">
            <a:schemeClr val="tx1"/>
          </a:fontRef>
        </p:style>
      </p:cxnSp>
      <p:cxnSp>
        <p:nvCxnSpPr>
          <p:cNvPr id="51" name="Düz Bağlayıcı 50">
            <a:extLst>
              <a:ext uri="{FF2B5EF4-FFF2-40B4-BE49-F238E27FC236}">
                <a16:creationId xmlns:a16="http://schemas.microsoft.com/office/drawing/2014/main" id="{D2A8CC01-2F36-4BCF-B427-FC942CBCDE7B}"/>
              </a:ext>
            </a:extLst>
          </p:cNvPr>
          <p:cNvCxnSpPr/>
          <p:nvPr/>
        </p:nvCxnSpPr>
        <p:spPr>
          <a:xfrm>
            <a:off x="2009049" y="2730990"/>
            <a:ext cx="504056" cy="0"/>
          </a:xfrm>
          <a:prstGeom prst="line">
            <a:avLst/>
          </a:prstGeom>
        </p:spPr>
        <p:style>
          <a:lnRef idx="1">
            <a:schemeClr val="dk1"/>
          </a:lnRef>
          <a:fillRef idx="0">
            <a:schemeClr val="dk1"/>
          </a:fillRef>
          <a:effectRef idx="0">
            <a:schemeClr val="dk1"/>
          </a:effectRef>
          <a:fontRef idx="minor">
            <a:schemeClr val="tx1"/>
          </a:fontRef>
        </p:style>
      </p:cxnSp>
      <p:pic>
        <p:nvPicPr>
          <p:cNvPr id="57" name="Picture 4" descr="C:\Users\Pc\AppData\Local\Microsoft\Windows\Temporary Internet Files\Content.IE5\GRK5B6ZB\Alert-PNG-HD[1].png">
            <a:extLst>
              <a:ext uri="{FF2B5EF4-FFF2-40B4-BE49-F238E27FC236}">
                <a16:creationId xmlns:a16="http://schemas.microsoft.com/office/drawing/2014/main" id="{9BA7CAD3-B101-4A5B-8C93-1BABAEC28DB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745" y="4354063"/>
            <a:ext cx="244135" cy="299692"/>
          </a:xfrm>
          <a:prstGeom prst="rect">
            <a:avLst/>
          </a:prstGeom>
          <a:noFill/>
          <a:extLst>
            <a:ext uri="{909E8E84-426E-40DD-AFC4-6F175D3DCCD1}">
              <a14:hiddenFill xmlns:a14="http://schemas.microsoft.com/office/drawing/2010/main">
                <a:solidFill>
                  <a:srgbClr val="FFFFFF"/>
                </a:solidFill>
              </a14:hiddenFill>
            </a:ext>
          </a:extLst>
        </p:spPr>
      </p:pic>
      <p:sp>
        <p:nvSpPr>
          <p:cNvPr id="58" name="Metin kutusu 57">
            <a:extLst>
              <a:ext uri="{FF2B5EF4-FFF2-40B4-BE49-F238E27FC236}">
                <a16:creationId xmlns:a16="http://schemas.microsoft.com/office/drawing/2014/main" id="{E4F462A2-9516-4E01-AFE6-A0EE3CBC347C}"/>
              </a:ext>
            </a:extLst>
          </p:cNvPr>
          <p:cNvSpPr txBox="1"/>
          <p:nvPr/>
        </p:nvSpPr>
        <p:spPr>
          <a:xfrm>
            <a:off x="794772" y="4302235"/>
            <a:ext cx="2343207" cy="400110"/>
          </a:xfrm>
          <a:prstGeom prst="rect">
            <a:avLst/>
          </a:prstGeom>
          <a:noFill/>
        </p:spPr>
        <p:txBody>
          <a:bodyPr wrap="square" rtlCol="0">
            <a:spAutoFit/>
          </a:bodyPr>
          <a:lstStyle/>
          <a:p>
            <a:r>
              <a:rPr lang="tr-TR" sz="1000" b="1" noProof="1">
                <a:cs typeface="Arial" panose="020B0604020202020204" pitchFamily="34" charset="0"/>
              </a:rPr>
              <a:t>Denklem eşitliğinde her iki tarafta da aynı ifadeler varsa birbirlerini götürürler.</a:t>
            </a:r>
          </a:p>
        </p:txBody>
      </p:sp>
      <p:sp>
        <p:nvSpPr>
          <p:cNvPr id="60" name="Metin kutusu 59">
            <a:extLst>
              <a:ext uri="{FF2B5EF4-FFF2-40B4-BE49-F238E27FC236}">
                <a16:creationId xmlns:a16="http://schemas.microsoft.com/office/drawing/2014/main" id="{31FF09B1-A673-42BE-8695-973C155BB28E}"/>
              </a:ext>
            </a:extLst>
          </p:cNvPr>
          <p:cNvSpPr txBox="1"/>
          <p:nvPr/>
        </p:nvSpPr>
        <p:spPr>
          <a:xfrm>
            <a:off x="28791" y="4687914"/>
            <a:ext cx="3281608" cy="1061829"/>
          </a:xfrm>
          <a:prstGeom prst="rect">
            <a:avLst/>
          </a:prstGeom>
          <a:noFill/>
        </p:spPr>
        <p:txBody>
          <a:bodyPr wrap="square" rtlCol="0">
            <a:spAutoFit/>
          </a:bodyPr>
          <a:lstStyle/>
          <a:p>
            <a:r>
              <a:rPr lang="tr-TR" sz="900" noProof="1">
                <a:cs typeface="Arial" panose="020B0604020202020204" pitchFamily="34" charset="0"/>
              </a:rPr>
              <a:t>Örneğin =   3x – 4 =  y – 4  her iki taraftanda 4 çıkarılmış yani birbirlerini götürürler. Sonuç  3x = y olur. Şöyle de düşünebilirsiniz; aynı dershaneye ve sınıfa giden iki arkadaş, aynı dersleri aynı hocadan dinlemiş olacaklardır. Fakat sınavdaki başarıları farkları kendi çalışmalarının farklarıdır. Karşılaştırma gibi durumlarda aynı faktörler değil farklılıklar değerlendirilir, denklemde de aynı faktörler olduğunda nihai olarak en sade halini elde etmiş oluruz.</a:t>
            </a:r>
          </a:p>
        </p:txBody>
      </p:sp>
      <p:sp>
        <p:nvSpPr>
          <p:cNvPr id="62" name="Akış Çizelgesi: Depolanmış Veri 61">
            <a:extLst>
              <a:ext uri="{FF2B5EF4-FFF2-40B4-BE49-F238E27FC236}">
                <a16:creationId xmlns:a16="http://schemas.microsoft.com/office/drawing/2014/main" id="{A450A92F-1D9C-42C7-9354-E1B5F609627F}"/>
              </a:ext>
            </a:extLst>
          </p:cNvPr>
          <p:cNvSpPr/>
          <p:nvPr/>
        </p:nvSpPr>
        <p:spPr>
          <a:xfrm rot="10800000">
            <a:off x="178385" y="5871804"/>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63" name="Metin kutusu 62">
            <a:extLst>
              <a:ext uri="{FF2B5EF4-FFF2-40B4-BE49-F238E27FC236}">
                <a16:creationId xmlns:a16="http://schemas.microsoft.com/office/drawing/2014/main" id="{F3E871E6-2A7F-4225-850F-BE761CD7A2C0}"/>
              </a:ext>
            </a:extLst>
          </p:cNvPr>
          <p:cNvSpPr txBox="1"/>
          <p:nvPr/>
        </p:nvSpPr>
        <p:spPr>
          <a:xfrm>
            <a:off x="220066" y="5890355"/>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66" name="Oval 65">
            <a:extLst>
              <a:ext uri="{FF2B5EF4-FFF2-40B4-BE49-F238E27FC236}">
                <a16:creationId xmlns:a16="http://schemas.microsoft.com/office/drawing/2014/main" id="{3AAE465B-1A0C-4E90-888B-0BFB2E554C85}"/>
              </a:ext>
            </a:extLst>
          </p:cNvPr>
          <p:cNvSpPr/>
          <p:nvPr/>
        </p:nvSpPr>
        <p:spPr>
          <a:xfrm>
            <a:off x="28791" y="5871804"/>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67" name="Metin kutusu 66">
            <a:extLst>
              <a:ext uri="{FF2B5EF4-FFF2-40B4-BE49-F238E27FC236}">
                <a16:creationId xmlns:a16="http://schemas.microsoft.com/office/drawing/2014/main" id="{35D96F3F-37B3-4687-8E68-7C94C88F6F68}"/>
              </a:ext>
            </a:extLst>
          </p:cNvPr>
          <p:cNvSpPr txBox="1"/>
          <p:nvPr/>
        </p:nvSpPr>
        <p:spPr>
          <a:xfrm>
            <a:off x="-108481" y="5878128"/>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8" name="Metin kutusu 67">
            <a:extLst>
              <a:ext uri="{FF2B5EF4-FFF2-40B4-BE49-F238E27FC236}">
                <a16:creationId xmlns:a16="http://schemas.microsoft.com/office/drawing/2014/main" id="{AE0148B4-C65A-45C9-BFD5-A336A5C9ADB1}"/>
              </a:ext>
            </a:extLst>
          </p:cNvPr>
          <p:cNvSpPr txBox="1"/>
          <p:nvPr/>
        </p:nvSpPr>
        <p:spPr>
          <a:xfrm>
            <a:off x="6896" y="6181864"/>
            <a:ext cx="3212178" cy="400110"/>
          </a:xfrm>
          <a:prstGeom prst="rect">
            <a:avLst/>
          </a:prstGeom>
          <a:noFill/>
        </p:spPr>
        <p:txBody>
          <a:bodyPr wrap="square" rtlCol="0">
            <a:spAutoFit/>
          </a:bodyPr>
          <a:lstStyle/>
          <a:p>
            <a:r>
              <a:rPr lang="tr-TR" sz="1000" noProof="1">
                <a:cs typeface="Arial" panose="020B0604020202020204" pitchFamily="34" charset="0"/>
              </a:rPr>
              <a:t>Ahmet`in elinde 2x düzine gül, 2x-2 deste papatya vardır.</a:t>
            </a:r>
          </a:p>
          <a:p>
            <a:r>
              <a:rPr lang="tr-TR" sz="1000" noProof="1">
                <a:cs typeface="Arial" panose="020B0604020202020204" pitchFamily="34" charset="0"/>
              </a:rPr>
              <a:t>Gül sayısı papatya sayısından 44 fazlaysa x kaçtır?</a:t>
            </a:r>
            <a:endParaRPr lang="tr-TR" sz="1000" b="1" noProof="1">
              <a:cs typeface="Arial" panose="020B0604020202020204" pitchFamily="34" charset="0"/>
            </a:endParaRPr>
          </a:p>
        </p:txBody>
      </p:sp>
      <p:sp>
        <p:nvSpPr>
          <p:cNvPr id="69" name="Ok: Beşgen 68">
            <a:extLst>
              <a:ext uri="{FF2B5EF4-FFF2-40B4-BE49-F238E27FC236}">
                <a16:creationId xmlns:a16="http://schemas.microsoft.com/office/drawing/2014/main" id="{AACDF589-9D21-4AC4-8A54-73A933B83F9D}"/>
              </a:ext>
            </a:extLst>
          </p:cNvPr>
          <p:cNvSpPr/>
          <p:nvPr/>
        </p:nvSpPr>
        <p:spPr>
          <a:xfrm>
            <a:off x="89060" y="770106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70" name="Metin kutusu 69">
            <a:extLst>
              <a:ext uri="{FF2B5EF4-FFF2-40B4-BE49-F238E27FC236}">
                <a16:creationId xmlns:a16="http://schemas.microsoft.com/office/drawing/2014/main" id="{28C181CE-A480-4D93-B2BA-C4117A172274}"/>
              </a:ext>
            </a:extLst>
          </p:cNvPr>
          <p:cNvSpPr txBox="1"/>
          <p:nvPr/>
        </p:nvSpPr>
        <p:spPr>
          <a:xfrm>
            <a:off x="935391" y="7644644"/>
            <a:ext cx="2271929" cy="400110"/>
          </a:xfrm>
          <a:prstGeom prst="rect">
            <a:avLst/>
          </a:prstGeom>
          <a:noFill/>
        </p:spPr>
        <p:txBody>
          <a:bodyPr wrap="square" rtlCol="0">
            <a:spAutoFit/>
          </a:bodyPr>
          <a:lstStyle/>
          <a:p>
            <a:r>
              <a:rPr lang="tr-TR" sz="1000" noProof="1">
                <a:cs typeface="Arial" panose="020B0604020202020204" pitchFamily="34" charset="0"/>
              </a:rPr>
              <a:t>Bir destede 10 adet, düzine 12 adet vardır. Denklemimizi kuralım. </a:t>
            </a:r>
            <a:endParaRPr lang="tr-TR" sz="10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71" name="Metin kutusu 70">
                <a:extLst>
                  <a:ext uri="{FF2B5EF4-FFF2-40B4-BE49-F238E27FC236}">
                    <a16:creationId xmlns:a16="http://schemas.microsoft.com/office/drawing/2014/main" id="{45EA827F-B86C-4C45-9C38-FD0D1C89DF14}"/>
                  </a:ext>
                </a:extLst>
              </p:cNvPr>
              <p:cNvSpPr txBox="1"/>
              <p:nvPr/>
            </p:nvSpPr>
            <p:spPr>
              <a:xfrm>
                <a:off x="61810" y="8075810"/>
                <a:ext cx="3059075" cy="553998"/>
              </a:xfrm>
              <a:prstGeom prst="rect">
                <a:avLst/>
              </a:prstGeom>
              <a:noFill/>
            </p:spPr>
            <p:txBody>
              <a:bodyPr wrap="square" rtlCol="0">
                <a:spAutoFit/>
              </a:bodyPr>
              <a:lstStyle/>
              <a:p>
                <a:r>
                  <a:rPr lang="tr-TR" sz="1000" noProof="1">
                    <a:cs typeface="Arial" panose="020B0604020202020204" pitchFamily="34" charset="0"/>
                  </a:rPr>
                  <a:t>2x . 12 = 10 (2x-2) + 44</a:t>
                </a:r>
              </a:p>
              <a:p>
                <a:endParaRPr lang="tr-TR" sz="1000" b="1" noProof="1">
                  <a:cs typeface="Arial" panose="020B0604020202020204" pitchFamily="34" charset="0"/>
                </a:endParaRPr>
              </a:p>
              <a:p>
                <a:r>
                  <a:rPr lang="tr-TR" sz="1000" noProof="1">
                    <a:cs typeface="Arial" panose="020B0604020202020204" pitchFamily="34" charset="0"/>
                  </a:rPr>
                  <a:t>24x = 20x – 20 + 44 ,   </a:t>
                </a:r>
                <a:r>
                  <a:rPr lang="tr-TR" sz="1000" b="1" noProof="1">
                    <a:cs typeface="Arial" panose="020B0604020202020204" pitchFamily="34" charset="0"/>
                  </a:rPr>
                  <a:t>4x = 24 </a:t>
                </a:r>
                <a14:m>
                  <m:oMath xmlns:m="http://schemas.openxmlformats.org/officeDocument/2006/math">
                    <m:r>
                      <a:rPr lang="tr-TR" sz="1000" b="1" i="0" noProof="1" smtClean="0">
                        <a:latin typeface="Cambria Math" panose="02040503050406030204" pitchFamily="18" charset="0"/>
                      </a:rPr>
                      <m:t>⇒</m:t>
                    </m:r>
                  </m:oMath>
                </a14:m>
                <a:r>
                  <a:rPr lang="tr-TR" sz="1000" b="1" noProof="1">
                    <a:cs typeface="Arial" panose="020B0604020202020204" pitchFamily="34" charset="0"/>
                  </a:rPr>
                  <a:t>  x=6 olarak bulunur.   </a:t>
                </a:r>
              </a:p>
            </p:txBody>
          </p:sp>
        </mc:Choice>
        <mc:Fallback xmlns="">
          <p:sp>
            <p:nvSpPr>
              <p:cNvPr id="71" name="Metin kutusu 70">
                <a:extLst>
                  <a:ext uri="{FF2B5EF4-FFF2-40B4-BE49-F238E27FC236}">
                    <a16:creationId xmlns:a16="http://schemas.microsoft.com/office/drawing/2014/main" id="{45EA827F-B86C-4C45-9C38-FD0D1C89DF14}"/>
                  </a:ext>
                </a:extLst>
              </p:cNvPr>
              <p:cNvSpPr txBox="1">
                <a:spLocks noRot="1" noChangeAspect="1" noMove="1" noResize="1" noEditPoints="1" noAdjustHandles="1" noChangeArrowheads="1" noChangeShapeType="1" noTextEdit="1"/>
              </p:cNvSpPr>
              <p:nvPr/>
            </p:nvSpPr>
            <p:spPr>
              <a:xfrm>
                <a:off x="61810" y="8075810"/>
                <a:ext cx="3059075" cy="553998"/>
              </a:xfrm>
              <a:prstGeom prst="rect">
                <a:avLst/>
              </a:prstGeom>
              <a:blipFill>
                <a:blip r:embed="rId9"/>
                <a:stretch>
                  <a:fillRect b="-5495"/>
                </a:stretch>
              </a:blipFill>
            </p:spPr>
            <p:txBody>
              <a:bodyPr/>
              <a:lstStyle/>
              <a:p>
                <a:r>
                  <a:rPr lang="tr-TR">
                    <a:noFill/>
                  </a:rPr>
                  <a:t> </a:t>
                </a:r>
              </a:p>
            </p:txBody>
          </p:sp>
        </mc:Fallback>
      </mc:AlternateContent>
      <p:sp>
        <p:nvSpPr>
          <p:cNvPr id="72" name="Metin kutusu 71">
            <a:extLst>
              <a:ext uri="{FF2B5EF4-FFF2-40B4-BE49-F238E27FC236}">
                <a16:creationId xmlns:a16="http://schemas.microsoft.com/office/drawing/2014/main" id="{520D788E-546B-430F-A91D-04921A671399}"/>
              </a:ext>
            </a:extLst>
          </p:cNvPr>
          <p:cNvSpPr txBox="1"/>
          <p:nvPr/>
        </p:nvSpPr>
        <p:spPr>
          <a:xfrm>
            <a:off x="3567115" y="734534"/>
            <a:ext cx="3212178" cy="707886"/>
          </a:xfrm>
          <a:prstGeom prst="rect">
            <a:avLst/>
          </a:prstGeom>
          <a:noFill/>
        </p:spPr>
        <p:txBody>
          <a:bodyPr wrap="square" rtlCol="0">
            <a:spAutoFit/>
          </a:bodyPr>
          <a:lstStyle/>
          <a:p>
            <a:r>
              <a:rPr lang="tr-TR" sz="1000" noProof="1">
                <a:cs typeface="Arial" panose="020B0604020202020204" pitchFamily="34" charset="0"/>
              </a:rPr>
              <a:t>Bir merdivenin basamaklarının üçer üçer çıkıp, ikişer ikişer inen Merve`nin inerken attığı adım sayısı çıkarkenki adım sayısından 12 fazla olduğuna göre, bu merdiven kaç basamaklıdır?</a:t>
            </a:r>
            <a:endParaRPr lang="tr-TR" sz="10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73" name="Metin kutusu 72">
                <a:extLst>
                  <a:ext uri="{FF2B5EF4-FFF2-40B4-BE49-F238E27FC236}">
                    <a16:creationId xmlns:a16="http://schemas.microsoft.com/office/drawing/2014/main" id="{4856C98D-ACAC-4F77-9F6A-4B03F71707AE}"/>
                  </a:ext>
                </a:extLst>
              </p:cNvPr>
              <p:cNvSpPr txBox="1"/>
              <p:nvPr/>
            </p:nvSpPr>
            <p:spPr>
              <a:xfrm>
                <a:off x="3567115" y="2613586"/>
                <a:ext cx="3212178" cy="1374159"/>
              </a:xfrm>
              <a:prstGeom prst="rect">
                <a:avLst/>
              </a:prstGeom>
              <a:noFill/>
            </p:spPr>
            <p:txBody>
              <a:bodyPr wrap="square" rtlCol="0">
                <a:spAutoFit/>
              </a:bodyPr>
              <a:lstStyle/>
              <a:p>
                <a:r>
                  <a:rPr lang="tr-TR" sz="1000" noProof="1">
                    <a:cs typeface="Arial" panose="020B0604020202020204" pitchFamily="34" charset="0"/>
                  </a:rPr>
                  <a:t>Basamak sayımız soruda verilen tüm rakamlara tam bölünebilmesi ve kolaylık için 6x olmuş olsun. İnerken ikişerli iniyorsa </a:t>
                </a:r>
                <a14:m>
                  <m:oMath xmlns:m="http://schemas.openxmlformats.org/officeDocument/2006/math">
                    <m:f>
                      <m:fPr>
                        <m:ctrlPr>
                          <a:rPr lang="tr-TR" sz="800" i="1" noProof="1" smtClean="0">
                            <a:solidFill>
                              <a:schemeClr val="tx1"/>
                            </a:solidFill>
                            <a:latin typeface="Cambria Math" panose="02040503050406030204" pitchFamily="18" charset="0"/>
                          </a:rPr>
                        </m:ctrlPr>
                      </m:fPr>
                      <m:num>
                        <m:r>
                          <m:rPr>
                            <m:nor/>
                          </m:rPr>
                          <a:rPr lang="tr-TR" sz="800" i="0" noProof="1" smtClean="0">
                            <a:solidFill>
                              <a:schemeClr val="tx1"/>
                            </a:solidFill>
                            <a:latin typeface="Cambria Math" panose="02040503050406030204" pitchFamily="18" charset="0"/>
                          </a:rPr>
                          <m:t> </m:t>
                        </m:r>
                        <m:r>
                          <m:rPr>
                            <m:nor/>
                          </m:rPr>
                          <a:rPr lang="tr-TR" sz="800" b="0" i="0" noProof="1" smtClean="0">
                            <a:solidFill>
                              <a:schemeClr val="tx1"/>
                            </a:solidFill>
                            <a:latin typeface="Helvetica" panose="020B0604020202020204" pitchFamily="34" charset="0"/>
                            <a:cs typeface="Helvetica" panose="020B0604020202020204" pitchFamily="34" charset="0"/>
                          </a:rPr>
                          <m:t>6</m:t>
                        </m:r>
                        <m:r>
                          <m:rPr>
                            <m:nor/>
                          </m:rPr>
                          <a:rPr lang="tr-TR" sz="800" b="0" i="0" noProof="1" smtClean="0">
                            <a:solidFill>
                              <a:schemeClr val="tx1"/>
                            </a:solidFill>
                            <a:latin typeface="Helvetica" panose="020B0604020202020204" pitchFamily="34" charset="0"/>
                            <a:cs typeface="Helvetica" panose="020B0604020202020204" pitchFamily="34" charset="0"/>
                          </a:rPr>
                          <m:t>x</m:t>
                        </m:r>
                        <m:r>
                          <m:rPr>
                            <m:nor/>
                          </m:rPr>
                          <a:rPr lang="tr-TR" sz="80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2</m:t>
                        </m:r>
                      </m:den>
                    </m:f>
                  </m:oMath>
                </a14:m>
                <a:r>
                  <a:rPr lang="tr-TR" sz="800" noProof="1"/>
                  <a:t> </a:t>
                </a:r>
                <a:r>
                  <a:rPr lang="tr-TR" sz="1000" noProof="1"/>
                  <a:t>= 3x , çıkarken üçerli çıktığına göre </a:t>
                </a:r>
                <a14:m>
                  <m:oMath xmlns:m="http://schemas.openxmlformats.org/officeDocument/2006/math">
                    <m:f>
                      <m:fPr>
                        <m:ctrlPr>
                          <a:rPr lang="tr-TR" sz="800" i="1" noProof="1">
                            <a:latin typeface="Cambria Math" panose="02040503050406030204" pitchFamily="18" charset="0"/>
                          </a:rPr>
                        </m:ctrlPr>
                      </m:fPr>
                      <m:num>
                        <m:r>
                          <m:rPr>
                            <m:nor/>
                          </m:rPr>
                          <a:rPr lang="tr-TR" sz="800" noProof="1">
                            <a:latin typeface="Cambria Math" panose="02040503050406030204" pitchFamily="18" charset="0"/>
                          </a:rPr>
                          <m:t> </m:t>
                        </m:r>
                        <m:r>
                          <m:rPr>
                            <m:nor/>
                          </m:rPr>
                          <a:rPr lang="tr-TR" sz="800" noProof="1">
                            <a:latin typeface="Helvetica" panose="020B0604020202020204" pitchFamily="34" charset="0"/>
                            <a:cs typeface="Helvetica" panose="020B0604020202020204" pitchFamily="34" charset="0"/>
                          </a:rPr>
                          <m:t>6</m:t>
                        </m:r>
                        <m:r>
                          <m:rPr>
                            <m:nor/>
                          </m:rPr>
                          <a:rPr lang="tr-TR" sz="800" noProof="1">
                            <a:latin typeface="Helvetica" panose="020B0604020202020204" pitchFamily="34" charset="0"/>
                            <a:cs typeface="Helvetica" panose="020B0604020202020204" pitchFamily="34" charset="0"/>
                          </a:rPr>
                          <m:t>x</m:t>
                        </m:r>
                        <m:r>
                          <m:rPr>
                            <m:nor/>
                          </m:rP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r>
                  <a:rPr lang="tr-TR" sz="800" b="1" noProof="1">
                    <a:cs typeface="Arial" panose="020B0604020202020204" pitchFamily="34" charset="0"/>
                  </a:rPr>
                  <a:t> = </a:t>
                </a:r>
                <a:r>
                  <a:rPr lang="tr-TR" sz="1000" noProof="1">
                    <a:cs typeface="Arial" panose="020B0604020202020204" pitchFamily="34" charset="0"/>
                  </a:rPr>
                  <a:t>2x olur bu fark 12 basamağa tekabül ettiğine göre x=12 olur. Basamak sayısı 6x  6.12 = </a:t>
                </a:r>
                <a:r>
                  <a:rPr lang="tr-TR" sz="1000" b="1" noProof="1">
                    <a:cs typeface="Arial" panose="020B0604020202020204" pitchFamily="34" charset="0"/>
                  </a:rPr>
                  <a:t>72 olarak bulunur. </a:t>
                </a:r>
              </a:p>
              <a:p>
                <a:endParaRPr lang="tr-TR" sz="1000" b="1" noProof="1">
                  <a:cs typeface="Arial" panose="020B0604020202020204" pitchFamily="34" charset="0"/>
                </a:endParaRPr>
              </a:p>
              <a:p>
                <a:r>
                  <a:rPr lang="tr-TR" sz="1000" noProof="1">
                    <a:cs typeface="Arial" panose="020B0604020202020204" pitchFamily="34" charset="0"/>
                  </a:rPr>
                  <a:t>Basamak sayısına x deseydik eğer x/2 ve x/3 şeklinde işlem yapmamız gerekirdi daha kolay çözmüş olduk biz.</a:t>
                </a:r>
              </a:p>
            </p:txBody>
          </p:sp>
        </mc:Choice>
        <mc:Fallback xmlns="">
          <p:sp>
            <p:nvSpPr>
              <p:cNvPr id="73" name="Metin kutusu 72">
                <a:extLst>
                  <a:ext uri="{FF2B5EF4-FFF2-40B4-BE49-F238E27FC236}">
                    <a16:creationId xmlns:a16="http://schemas.microsoft.com/office/drawing/2014/main" id="{4856C98D-ACAC-4F77-9F6A-4B03F71707AE}"/>
                  </a:ext>
                </a:extLst>
              </p:cNvPr>
              <p:cNvSpPr txBox="1">
                <a:spLocks noRot="1" noChangeAspect="1" noMove="1" noResize="1" noEditPoints="1" noAdjustHandles="1" noChangeArrowheads="1" noChangeShapeType="1" noTextEdit="1"/>
              </p:cNvSpPr>
              <p:nvPr/>
            </p:nvSpPr>
            <p:spPr>
              <a:xfrm>
                <a:off x="3567115" y="2613586"/>
                <a:ext cx="3212178" cy="1374159"/>
              </a:xfrm>
              <a:prstGeom prst="rect">
                <a:avLst/>
              </a:prstGeom>
              <a:blipFill>
                <a:blip r:embed="rId10"/>
                <a:stretch>
                  <a:fillRect b="-1778"/>
                </a:stretch>
              </a:blipFill>
            </p:spPr>
            <p:txBody>
              <a:bodyPr/>
              <a:lstStyle/>
              <a:p>
                <a:r>
                  <a:rPr lang="tr-TR">
                    <a:noFill/>
                  </a:rPr>
                  <a:t> </a:t>
                </a:r>
              </a:p>
            </p:txBody>
          </p:sp>
        </mc:Fallback>
      </mc:AlternateContent>
      <p:sp>
        <p:nvSpPr>
          <p:cNvPr id="74" name="Metin kutusu 73">
            <a:extLst>
              <a:ext uri="{FF2B5EF4-FFF2-40B4-BE49-F238E27FC236}">
                <a16:creationId xmlns:a16="http://schemas.microsoft.com/office/drawing/2014/main" id="{3EF54BC3-BDD8-4AEA-8B7E-EC5A60B598C1}"/>
              </a:ext>
            </a:extLst>
          </p:cNvPr>
          <p:cNvSpPr txBox="1"/>
          <p:nvPr/>
        </p:nvSpPr>
        <p:spPr>
          <a:xfrm>
            <a:off x="3567115" y="4425346"/>
            <a:ext cx="3255556" cy="707886"/>
          </a:xfrm>
          <a:prstGeom prst="rect">
            <a:avLst/>
          </a:prstGeom>
          <a:noFill/>
        </p:spPr>
        <p:txBody>
          <a:bodyPr wrap="square" rtlCol="0">
            <a:spAutoFit/>
          </a:bodyPr>
          <a:lstStyle/>
          <a:p>
            <a:r>
              <a:rPr lang="tr-TR" sz="1000" noProof="1">
                <a:cs typeface="Arial" panose="020B0604020202020204" pitchFamily="34" charset="0"/>
              </a:rPr>
              <a:t>Bir sınıfta öğrenciler sıralara üçer üçer oturduklarında 12 kişi ayakta kalıyor, beşer beşer oturduklarında ise sıra sayısı 3 sıra boşta kalıyor ve 3 kişi de beşerli oturamadığı için ayakta kalıyor.  </a:t>
            </a:r>
            <a:r>
              <a:rPr lang="tr-TR" sz="1000" b="1" noProof="1">
                <a:cs typeface="Arial" panose="020B0604020202020204" pitchFamily="34" charset="0"/>
              </a:rPr>
              <a:t>Buna göre sınıf mevcutu kaç kişidir?</a:t>
            </a:r>
          </a:p>
        </p:txBody>
      </p:sp>
      <p:sp>
        <p:nvSpPr>
          <p:cNvPr id="75" name="Metin kutusu 74">
            <a:extLst>
              <a:ext uri="{FF2B5EF4-FFF2-40B4-BE49-F238E27FC236}">
                <a16:creationId xmlns:a16="http://schemas.microsoft.com/office/drawing/2014/main" id="{66D7103E-972C-4321-86B4-0D4B60771AD6}"/>
              </a:ext>
            </a:extLst>
          </p:cNvPr>
          <p:cNvSpPr txBox="1"/>
          <p:nvPr/>
        </p:nvSpPr>
        <p:spPr>
          <a:xfrm>
            <a:off x="4532792" y="6144480"/>
            <a:ext cx="2230373" cy="33855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tr-TR" sz="800" noProof="1">
                <a:cs typeface="Arial" panose="020B0604020202020204" pitchFamily="34" charset="0"/>
              </a:rPr>
              <a:t>Daha çok sıra problemi çözeceğiz, pekiştirmeye çalışın gayret gösterin soru kaçırmayacaksınız </a:t>
            </a:r>
            <a:r>
              <a:rPr lang="tr-TR" sz="800" noProof="1">
                <a:cs typeface="Arial" panose="020B0604020202020204" pitchFamily="34" charset="0"/>
                <a:sym typeface="Wingdings" panose="05000000000000000000" pitchFamily="2" charset="2"/>
              </a:rPr>
              <a:t></a:t>
            </a:r>
            <a:endParaRPr lang="tr-TR" sz="8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76" name="Metin kutusu 75">
                <a:extLst>
                  <a:ext uri="{FF2B5EF4-FFF2-40B4-BE49-F238E27FC236}">
                    <a16:creationId xmlns:a16="http://schemas.microsoft.com/office/drawing/2014/main" id="{3E11AE04-7592-4F15-B23D-D62A7016849B}"/>
                  </a:ext>
                </a:extLst>
              </p:cNvPr>
              <p:cNvSpPr txBox="1"/>
              <p:nvPr/>
            </p:nvSpPr>
            <p:spPr>
              <a:xfrm>
                <a:off x="3567114" y="6473457"/>
                <a:ext cx="3196051" cy="2246769"/>
              </a:xfrm>
              <a:prstGeom prst="rect">
                <a:avLst/>
              </a:prstGeom>
              <a:noFill/>
            </p:spPr>
            <p:txBody>
              <a:bodyPr wrap="square" rtlCol="0">
                <a:spAutoFit/>
              </a:bodyPr>
              <a:lstStyle/>
              <a:p>
                <a:r>
                  <a:rPr lang="tr-TR" sz="1000" noProof="1">
                    <a:cs typeface="Arial" panose="020B0604020202020204" pitchFamily="34" charset="0"/>
                  </a:rPr>
                  <a:t>Sıra problemlerinde değişmeyen şey sıra sayısıdır. Sıra sayımıza x diyelim. Üçer üçer oturmak her sırada 3 kişinin olması demektir dolayısıyla başlangıçta 3x kişi oturuyor oluyor ve 12 kişide ayaktadır 3x+12 sınıf mevcududur.</a:t>
                </a:r>
              </a:p>
              <a:p>
                <a:endParaRPr lang="tr-TR" sz="1000" noProof="1">
                  <a:cs typeface="Arial" panose="020B0604020202020204" pitchFamily="34" charset="0"/>
                </a:endParaRPr>
              </a:p>
              <a:p>
                <a:r>
                  <a:rPr lang="tr-TR" sz="1000" noProof="1">
                    <a:cs typeface="Arial" panose="020B0604020202020204" pitchFamily="34" charset="0"/>
                  </a:rPr>
                  <a:t>Beşerli oturduklarında 5x olur fakat sıra sayısının 3 eksik olduğu belirtiliyor. Dolayısıyla 5.(x-3) olmalıdır. Ayrıca 3 kişide beşerli oturamadığından ayakta kalmış bunlarıda mevcudu belirlemek için eklemeliyiz. 5.(x-3) + 3</a:t>
                </a:r>
              </a:p>
              <a:p>
                <a:endParaRPr lang="tr-TR" sz="1000" noProof="1">
                  <a:cs typeface="Arial" panose="020B0604020202020204" pitchFamily="34" charset="0"/>
                </a:endParaRPr>
              </a:p>
              <a:p>
                <a:r>
                  <a:rPr lang="tr-TR" sz="1000" noProof="1">
                    <a:cs typeface="Arial" panose="020B0604020202020204" pitchFamily="34" charset="0"/>
                  </a:rPr>
                  <a:t>Eşitleyelim  3x + 12 = 5 (x-3) + 3   Çözümlersek </a:t>
                </a:r>
              </a:p>
              <a:p>
                <a:endParaRPr lang="tr-TR" sz="1000" noProof="1">
                  <a:cs typeface="Arial" panose="020B0604020202020204" pitchFamily="34" charset="0"/>
                </a:endParaRPr>
              </a:p>
              <a:p>
                <a:r>
                  <a:rPr lang="tr-TR" sz="1000" noProof="1">
                    <a:cs typeface="Arial" panose="020B0604020202020204" pitchFamily="34" charset="0"/>
                  </a:rPr>
                  <a:t>Sade hali  2x = 24 </a:t>
                </a:r>
                <a14:m>
                  <m:oMath xmlns:m="http://schemas.openxmlformats.org/officeDocument/2006/math">
                    <m:r>
                      <a:rPr lang="tr-TR" sz="1000" b="0" i="0" noProof="1" smtClean="0">
                        <a:latin typeface="Cambria Math" panose="02040503050406030204" pitchFamily="18" charset="0"/>
                      </a:rPr>
                      <m:t>⇒</m:t>
                    </m:r>
                  </m:oMath>
                </a14:m>
                <a:r>
                  <a:rPr lang="tr-TR" sz="1000" noProof="1">
                    <a:cs typeface="Arial" panose="020B0604020202020204" pitchFamily="34" charset="0"/>
                  </a:rPr>
                  <a:t> 12 olacaktır.  Mevcut için herhangi bir denklem seçebiliriz. 3x + 12 olursa  </a:t>
                </a:r>
                <a:r>
                  <a:rPr lang="tr-TR" sz="1000" b="1" noProof="1">
                    <a:cs typeface="Arial" panose="020B0604020202020204" pitchFamily="34" charset="0"/>
                  </a:rPr>
                  <a:t>3.12 + 12 = 48 olur.</a:t>
                </a:r>
              </a:p>
            </p:txBody>
          </p:sp>
        </mc:Choice>
        <mc:Fallback xmlns="">
          <p:sp>
            <p:nvSpPr>
              <p:cNvPr id="76" name="Metin kutusu 75">
                <a:extLst>
                  <a:ext uri="{FF2B5EF4-FFF2-40B4-BE49-F238E27FC236}">
                    <a16:creationId xmlns:a16="http://schemas.microsoft.com/office/drawing/2014/main" id="{3E11AE04-7592-4F15-B23D-D62A7016849B}"/>
                  </a:ext>
                </a:extLst>
              </p:cNvPr>
              <p:cNvSpPr txBox="1">
                <a:spLocks noRot="1" noChangeAspect="1" noMove="1" noResize="1" noEditPoints="1" noAdjustHandles="1" noChangeArrowheads="1" noChangeShapeType="1" noTextEdit="1"/>
              </p:cNvSpPr>
              <p:nvPr/>
            </p:nvSpPr>
            <p:spPr>
              <a:xfrm>
                <a:off x="3567114" y="6473457"/>
                <a:ext cx="3196051" cy="2246769"/>
              </a:xfrm>
              <a:prstGeom prst="rect">
                <a:avLst/>
              </a:prstGeom>
              <a:blipFill>
                <a:blip r:embed="rId11"/>
                <a:stretch>
                  <a:fillRect r="-191" b="-815"/>
                </a:stretch>
              </a:blipFill>
            </p:spPr>
            <p:txBody>
              <a:bodyPr/>
              <a:lstStyle/>
              <a:p>
                <a:r>
                  <a:rPr lang="tr-TR">
                    <a:noFill/>
                  </a:rPr>
                  <a:t> </a:t>
                </a:r>
              </a:p>
            </p:txBody>
          </p:sp>
        </mc:Fallback>
      </mc:AlternateContent>
      <p:sp>
        <p:nvSpPr>
          <p:cNvPr id="77" name="Kaydırma: Yatay 76">
            <a:extLst>
              <a:ext uri="{FF2B5EF4-FFF2-40B4-BE49-F238E27FC236}">
                <a16:creationId xmlns:a16="http://schemas.microsoft.com/office/drawing/2014/main" id="{5158951C-37B5-4462-8FD8-C78D4FDD6E69}"/>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8" name="Metin kutusu 77">
            <a:extLst>
              <a:ext uri="{FF2B5EF4-FFF2-40B4-BE49-F238E27FC236}">
                <a16:creationId xmlns:a16="http://schemas.microsoft.com/office/drawing/2014/main" id="{10B07633-F210-4984-BB03-8DC574A07B89}"/>
              </a:ext>
            </a:extLst>
          </p:cNvPr>
          <p:cNvSpPr txBox="1"/>
          <p:nvPr/>
        </p:nvSpPr>
        <p:spPr>
          <a:xfrm>
            <a:off x="933700" y="476011"/>
            <a:ext cx="2191914" cy="307777"/>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“Sadece büyük ölçüde başarısız olmaya cesaret edenler büyük ölçüde başarabilirler.”  - Robert F. Kennedy</a:t>
            </a:r>
            <a:endParaRPr lang="tr-TR" sz="7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4542853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6</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08929" y="4038248"/>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50610" y="4056799"/>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59335" y="4038248"/>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100719" y="659510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4624" y="797274"/>
            <a:ext cx="3212178" cy="553998"/>
          </a:xfrm>
          <a:prstGeom prst="rect">
            <a:avLst/>
          </a:prstGeom>
          <a:noFill/>
        </p:spPr>
        <p:txBody>
          <a:bodyPr wrap="square" rtlCol="0">
            <a:spAutoFit/>
          </a:bodyPr>
          <a:lstStyle/>
          <a:p>
            <a:r>
              <a:rPr lang="tr-TR" sz="1000" noProof="1">
                <a:cs typeface="Arial" panose="020B0604020202020204" pitchFamily="34" charset="0"/>
              </a:rPr>
              <a:t>58 yolcusu bulunan bir otobüste 5 erkek indiğinde, 7 kadın yolcu bindiğinde kadın yolcu sayısı erkek yolcu sayısının 2 katı olmuş oluyor. </a:t>
            </a:r>
            <a:r>
              <a:rPr lang="tr-TR" sz="1000" b="1" noProof="1">
                <a:cs typeface="Arial" panose="020B0604020202020204" pitchFamily="34" charset="0"/>
              </a:rPr>
              <a:t>İlk başta kaç kadın yolcu vardır?</a:t>
            </a:r>
          </a:p>
        </p:txBody>
      </p:sp>
      <p:sp>
        <p:nvSpPr>
          <p:cNvPr id="56" name="Ok: Beşgen 55">
            <a:extLst>
              <a:ext uri="{FF2B5EF4-FFF2-40B4-BE49-F238E27FC236}">
                <a16:creationId xmlns:a16="http://schemas.microsoft.com/office/drawing/2014/main" id="{D327283C-46A4-4C86-A990-995946C89AA1}"/>
              </a:ext>
            </a:extLst>
          </p:cNvPr>
          <p:cNvSpPr/>
          <p:nvPr/>
        </p:nvSpPr>
        <p:spPr>
          <a:xfrm>
            <a:off x="3666349" y="200231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40836" y="637967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14.</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72078" y="404864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15.</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16.</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2759" y="42639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17.</a:t>
            </a:r>
          </a:p>
        </p:txBody>
      </p:sp>
      <p:sp>
        <p:nvSpPr>
          <p:cNvPr id="4" name="Kaydırma: Yatay 3">
            <a:extLst>
              <a:ext uri="{FF2B5EF4-FFF2-40B4-BE49-F238E27FC236}">
                <a16:creationId xmlns:a16="http://schemas.microsoft.com/office/drawing/2014/main" id="{0E04D564-7191-4F0C-AA0E-EBA35AF9F5C1}"/>
              </a:ext>
            </a:extLst>
          </p:cNvPr>
          <p:cNvSpPr/>
          <p:nvPr/>
        </p:nvSpPr>
        <p:spPr>
          <a:xfrm>
            <a:off x="897185" y="387752"/>
            <a:ext cx="2372910" cy="496609"/>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51" name="Metin kutusu 50">
                <a:extLst>
                  <a:ext uri="{FF2B5EF4-FFF2-40B4-BE49-F238E27FC236}">
                    <a16:creationId xmlns:a16="http://schemas.microsoft.com/office/drawing/2014/main" id="{84E49DA0-A5F3-44F6-9EE9-0A78F34D754D}"/>
                  </a:ext>
                </a:extLst>
              </p:cNvPr>
              <p:cNvSpPr txBox="1"/>
              <p:nvPr/>
            </p:nvSpPr>
            <p:spPr>
              <a:xfrm>
                <a:off x="21208" y="2547910"/>
                <a:ext cx="3263776" cy="1477328"/>
              </a:xfrm>
              <a:prstGeom prst="rect">
                <a:avLst/>
              </a:prstGeom>
              <a:noFill/>
            </p:spPr>
            <p:txBody>
              <a:bodyPr wrap="square" rtlCol="0">
                <a:spAutoFit/>
              </a:bodyPr>
              <a:lstStyle/>
              <a:p>
                <a:r>
                  <a:rPr lang="tr-TR" sz="1000" noProof="1">
                    <a:cs typeface="Arial" panose="020B0604020202020204" pitchFamily="34" charset="0"/>
                  </a:rPr>
                  <a:t>Toplamda 58 yolcu var, kadın sayısına x dersek toplamları 58 olacağından 58-x adet erkek yolcu vardır. 5 erkek indiğinde (58-x) – 5 yani 53 –x erkek olur son durumda.</a:t>
                </a:r>
              </a:p>
              <a:p>
                <a:endParaRPr lang="tr-TR" sz="1000" b="1" noProof="1">
                  <a:cs typeface="Arial" panose="020B0604020202020204" pitchFamily="34" charset="0"/>
                </a:endParaRPr>
              </a:p>
              <a:p>
                <a:r>
                  <a:rPr lang="tr-TR" sz="1000" noProof="1">
                    <a:cs typeface="Arial" panose="020B0604020202020204" pitchFamily="34" charset="0"/>
                  </a:rPr>
                  <a:t>7 kadın yolcu daha geldiğinde x+7 yolcu olmuş oluyor. Eşitlemek için erkek yolcu sayısının 2 katını alıp kadın yolculara eşitleriz.     2(53-x) = x+7       106 – 2x =  x + 7</a:t>
                </a:r>
              </a:p>
              <a:p>
                <a:endParaRPr lang="tr-TR" sz="1000" b="1" noProof="1">
                  <a:cs typeface="Arial" panose="020B0604020202020204" pitchFamily="34" charset="0"/>
                </a:endParaRPr>
              </a:p>
              <a:p>
                <a:r>
                  <a:rPr lang="tr-TR" sz="1000" noProof="1">
                    <a:cs typeface="Arial" panose="020B0604020202020204" pitchFamily="34" charset="0"/>
                  </a:rPr>
                  <a:t>99 = 3x </a:t>
                </a:r>
                <a14:m>
                  <m:oMath xmlns:m="http://schemas.openxmlformats.org/officeDocument/2006/math">
                    <m:r>
                      <a:rPr lang="tr-TR" sz="1000" b="0" i="0" noProof="1" smtClean="0">
                        <a:latin typeface="Cambria Math" panose="02040503050406030204" pitchFamily="18" charset="0"/>
                      </a:rPr>
                      <m:t>⇒</m:t>
                    </m:r>
                  </m:oMath>
                </a14:m>
                <a:r>
                  <a:rPr lang="tr-TR" sz="1000" noProof="1">
                    <a:cs typeface="Arial" panose="020B0604020202020204" pitchFamily="34" charset="0"/>
                  </a:rPr>
                  <a:t>  x=33 olarak bulunur. </a:t>
                </a:r>
                <a:r>
                  <a:rPr lang="tr-TR" sz="900" b="1" noProof="1">
                    <a:cs typeface="Arial" panose="020B0604020202020204" pitchFamily="34" charset="0"/>
                  </a:rPr>
                  <a:t>Başlangıçta 33 kadın vardır. </a:t>
                </a:r>
              </a:p>
            </p:txBody>
          </p:sp>
        </mc:Choice>
        <mc:Fallback xmlns="">
          <p:sp>
            <p:nvSpPr>
              <p:cNvPr id="51" name="Metin kutusu 50">
                <a:extLst>
                  <a:ext uri="{FF2B5EF4-FFF2-40B4-BE49-F238E27FC236}">
                    <a16:creationId xmlns:a16="http://schemas.microsoft.com/office/drawing/2014/main" id="{84E49DA0-A5F3-44F6-9EE9-0A78F34D754D}"/>
                  </a:ext>
                </a:extLst>
              </p:cNvPr>
              <p:cNvSpPr txBox="1">
                <a:spLocks noRot="1" noChangeAspect="1" noMove="1" noResize="1" noEditPoints="1" noAdjustHandles="1" noChangeArrowheads="1" noChangeShapeType="1" noTextEdit="1"/>
              </p:cNvSpPr>
              <p:nvPr/>
            </p:nvSpPr>
            <p:spPr>
              <a:xfrm>
                <a:off x="21208" y="2547910"/>
                <a:ext cx="3263776" cy="1477328"/>
              </a:xfrm>
              <a:prstGeom prst="rect">
                <a:avLst/>
              </a:prstGeom>
              <a:blipFill>
                <a:blip r:embed="rId6"/>
                <a:stretch>
                  <a:fillRect b="-1653"/>
                </a:stretch>
              </a:blipFill>
            </p:spPr>
            <p:txBody>
              <a:bodyPr/>
              <a:lstStyle/>
              <a:p>
                <a:r>
                  <a:rPr lang="tr-TR">
                    <a:noFill/>
                  </a:rPr>
                  <a:t> </a:t>
                </a:r>
              </a:p>
            </p:txBody>
          </p:sp>
        </mc:Fallback>
      </mc:AlternateContent>
      <p:sp>
        <p:nvSpPr>
          <p:cNvPr id="57" name="Metin kutusu 56">
            <a:extLst>
              <a:ext uri="{FF2B5EF4-FFF2-40B4-BE49-F238E27FC236}">
                <a16:creationId xmlns:a16="http://schemas.microsoft.com/office/drawing/2014/main" id="{18FB0777-0105-469C-97F4-DE0E65B401DD}"/>
              </a:ext>
            </a:extLst>
          </p:cNvPr>
          <p:cNvSpPr txBox="1"/>
          <p:nvPr/>
        </p:nvSpPr>
        <p:spPr>
          <a:xfrm>
            <a:off x="17854" y="4332595"/>
            <a:ext cx="3263776" cy="1323439"/>
          </a:xfrm>
          <a:prstGeom prst="rect">
            <a:avLst/>
          </a:prstGeom>
          <a:noFill/>
        </p:spPr>
        <p:txBody>
          <a:bodyPr wrap="square" rtlCol="0">
            <a:spAutoFit/>
          </a:bodyPr>
          <a:lstStyle/>
          <a:p>
            <a:r>
              <a:rPr lang="tr-TR" sz="1000" noProof="1">
                <a:cs typeface="Arial" panose="020B0604020202020204" pitchFamily="34" charset="0"/>
              </a:rPr>
              <a:t>Üç arkadaş Hande, Cihan, Mahir ortaya eşit para koyarak şirket kurmayı düşünmektedirler fakat arkadaşlar arasında borçlanma olmuştur. Hande sadece ödemesi gerekeni ödemiştir. </a:t>
            </a:r>
          </a:p>
          <a:p>
            <a:endParaRPr lang="tr-TR" sz="1000" noProof="1">
              <a:cs typeface="Arial" panose="020B0604020202020204" pitchFamily="34" charset="0"/>
            </a:endParaRPr>
          </a:p>
          <a:p>
            <a:r>
              <a:rPr lang="tr-TR" sz="1000" b="1" noProof="1">
                <a:cs typeface="Arial" panose="020B0604020202020204" pitchFamily="34" charset="0"/>
              </a:rPr>
              <a:t>Mahir`in ödediği para, Cihan`ın ödediği paranın 3 katıdır. Şirket toplam 60.000 TL bütçe ile kurulduğuna göre; Mahir, Cihan`dan kaç TL fazla ödemiştir? </a:t>
            </a:r>
            <a:endParaRPr lang="tr-TR" sz="900" b="1" noProof="1">
              <a:cs typeface="Arial" panose="020B0604020202020204" pitchFamily="34" charset="0"/>
            </a:endParaRPr>
          </a:p>
        </p:txBody>
      </p:sp>
      <p:sp>
        <p:nvSpPr>
          <p:cNvPr id="58" name="Metin kutusu 57">
            <a:extLst>
              <a:ext uri="{FF2B5EF4-FFF2-40B4-BE49-F238E27FC236}">
                <a16:creationId xmlns:a16="http://schemas.microsoft.com/office/drawing/2014/main" id="{CD187C75-5CA5-405B-A3BD-E18A41B16F8A}"/>
              </a:ext>
            </a:extLst>
          </p:cNvPr>
          <p:cNvSpPr txBox="1"/>
          <p:nvPr/>
        </p:nvSpPr>
        <p:spPr>
          <a:xfrm>
            <a:off x="898501" y="6625651"/>
            <a:ext cx="2384615" cy="230832"/>
          </a:xfrm>
          <a:prstGeom prst="rect">
            <a:avLst/>
          </a:prstGeom>
          <a:noFill/>
        </p:spPr>
        <p:txBody>
          <a:bodyPr wrap="square" rtlCol="0">
            <a:spAutoFit/>
          </a:bodyPr>
          <a:lstStyle/>
          <a:p>
            <a:r>
              <a:rPr lang="tr-TR" sz="900" noProof="1">
                <a:cs typeface="Arial" panose="020B0604020202020204" pitchFamily="34" charset="0"/>
              </a:rPr>
              <a:t>Kişi başı 60.000 / 3 = 20.000 TL ödenmelidir.</a:t>
            </a:r>
            <a:endParaRPr lang="tr-TR" sz="900" b="1" noProof="1">
              <a:cs typeface="Arial" panose="020B0604020202020204" pitchFamily="34" charset="0"/>
            </a:endParaRPr>
          </a:p>
        </p:txBody>
      </p:sp>
      <p:sp>
        <p:nvSpPr>
          <p:cNvPr id="60" name="Metin kutusu 59">
            <a:extLst>
              <a:ext uri="{FF2B5EF4-FFF2-40B4-BE49-F238E27FC236}">
                <a16:creationId xmlns:a16="http://schemas.microsoft.com/office/drawing/2014/main" id="{2FD1BB3F-D8A9-448F-BBDD-315DF8D3F370}"/>
              </a:ext>
            </a:extLst>
          </p:cNvPr>
          <p:cNvSpPr txBox="1"/>
          <p:nvPr/>
        </p:nvSpPr>
        <p:spPr>
          <a:xfrm>
            <a:off x="32008" y="6845891"/>
            <a:ext cx="3263776" cy="1169551"/>
          </a:xfrm>
          <a:prstGeom prst="rect">
            <a:avLst/>
          </a:prstGeom>
          <a:noFill/>
        </p:spPr>
        <p:txBody>
          <a:bodyPr wrap="square" rtlCol="0">
            <a:spAutoFit/>
          </a:bodyPr>
          <a:lstStyle/>
          <a:p>
            <a:r>
              <a:rPr lang="tr-TR" sz="1000" noProof="1">
                <a:cs typeface="Arial" panose="020B0604020202020204" pitchFamily="34" charset="0"/>
              </a:rPr>
              <a:t>Hande 20.000 (ödemesi gerekeni) ödediğine göre, Cihan ve Mahir toplamda 40.000 ödemişlerdir. Mahirin parasına 3x dersek Cihan`ın parasına x demiş oluruz ki 3 kat oranını sağlatalım. Yani 4x = 40.000   x=10.000 olmuştur. </a:t>
            </a:r>
          </a:p>
          <a:p>
            <a:endParaRPr lang="tr-TR" sz="1000" noProof="1">
              <a:cs typeface="Arial" panose="020B0604020202020204" pitchFamily="34" charset="0"/>
            </a:endParaRPr>
          </a:p>
          <a:p>
            <a:r>
              <a:rPr lang="tr-TR" sz="1000" b="1" noProof="1">
                <a:cs typeface="Arial" panose="020B0604020202020204" pitchFamily="34" charset="0"/>
              </a:rPr>
              <a:t>Mahir 30.000 TL , Cihan 10.000 TL ödemiştir. Mahir Cihan`dan 20.000 TL fazla ödemiştir.</a:t>
            </a:r>
            <a:endParaRPr lang="tr-TR" sz="900" b="1" noProof="1">
              <a:cs typeface="Arial" panose="020B0604020202020204" pitchFamily="34" charset="0"/>
            </a:endParaRPr>
          </a:p>
        </p:txBody>
      </p:sp>
      <p:sp>
        <p:nvSpPr>
          <p:cNvPr id="70" name="Akış Çizelgesi: Depolanmış Veri 69">
            <a:extLst>
              <a:ext uri="{FF2B5EF4-FFF2-40B4-BE49-F238E27FC236}">
                <a16:creationId xmlns:a16="http://schemas.microsoft.com/office/drawing/2014/main" id="{C748474F-408E-4E54-82C9-8C182C6942B5}"/>
              </a:ext>
            </a:extLst>
          </p:cNvPr>
          <p:cNvSpPr/>
          <p:nvPr/>
        </p:nvSpPr>
        <p:spPr>
          <a:xfrm rot="10800000">
            <a:off x="172152" y="8003173"/>
            <a:ext cx="600067" cy="297129"/>
          </a:xfrm>
          <a:prstGeom prst="flowChartOnlineStorage">
            <a:avLst/>
          </a:prstGeom>
          <a:solidFill>
            <a:srgbClr val="B59FE1"/>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71" name="Metin kutusu 70">
            <a:extLst>
              <a:ext uri="{FF2B5EF4-FFF2-40B4-BE49-F238E27FC236}">
                <a16:creationId xmlns:a16="http://schemas.microsoft.com/office/drawing/2014/main" id="{5E0018D4-7563-4DC0-8834-82F232F594AF}"/>
              </a:ext>
            </a:extLst>
          </p:cNvPr>
          <p:cNvSpPr txBox="1"/>
          <p:nvPr/>
        </p:nvSpPr>
        <p:spPr>
          <a:xfrm>
            <a:off x="236645" y="8026272"/>
            <a:ext cx="591474" cy="266352"/>
          </a:xfrm>
          <a:prstGeom prst="rect">
            <a:avLst/>
          </a:prstGeom>
          <a:noFill/>
        </p:spPr>
        <p:txBody>
          <a:bodyPr wrap="square" lIns="80897" tIns="40448" rIns="80897" bIns="40448" rtlCol="0">
            <a:spAutoFit/>
          </a:bodyPr>
          <a:lstStyle/>
          <a:p>
            <a:pPr algn="ctr"/>
            <a:r>
              <a:rPr lang="tr-TR" sz="1200" b="1" dirty="0"/>
              <a:t>NOT</a:t>
            </a:r>
          </a:p>
        </p:txBody>
      </p:sp>
      <p:pic>
        <p:nvPicPr>
          <p:cNvPr id="72" name="Picture 4" descr="C:\Users\Pc\AppData\Local\Microsoft\Windows\Temporary Internet Files\Content.IE5\GRK5B6ZB\Alert-PNG-HD[1].png">
            <a:extLst>
              <a:ext uri="{FF2B5EF4-FFF2-40B4-BE49-F238E27FC236}">
                <a16:creationId xmlns:a16="http://schemas.microsoft.com/office/drawing/2014/main" id="{6E97C1DC-87A3-4535-9503-445CEEF0B4D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2559" y="8000610"/>
            <a:ext cx="244135" cy="299692"/>
          </a:xfrm>
          <a:prstGeom prst="rect">
            <a:avLst/>
          </a:prstGeom>
          <a:noFill/>
          <a:extLst>
            <a:ext uri="{909E8E84-426E-40DD-AFC4-6F175D3DCCD1}">
              <a14:hiddenFill xmlns:a14="http://schemas.microsoft.com/office/drawing/2010/main">
                <a:solidFill>
                  <a:srgbClr val="FFFFFF"/>
                </a:solidFill>
              </a14:hiddenFill>
            </a:ext>
          </a:extLst>
        </p:spPr>
      </p:pic>
      <p:sp>
        <p:nvSpPr>
          <p:cNvPr id="73" name="Metin kutusu 72">
            <a:extLst>
              <a:ext uri="{FF2B5EF4-FFF2-40B4-BE49-F238E27FC236}">
                <a16:creationId xmlns:a16="http://schemas.microsoft.com/office/drawing/2014/main" id="{4877FCDE-A878-4A37-871F-F5EB0C91E513}"/>
              </a:ext>
            </a:extLst>
          </p:cNvPr>
          <p:cNvSpPr txBox="1"/>
          <p:nvPr/>
        </p:nvSpPr>
        <p:spPr>
          <a:xfrm>
            <a:off x="734571" y="7969871"/>
            <a:ext cx="2563980" cy="369332"/>
          </a:xfrm>
          <a:prstGeom prst="rect">
            <a:avLst/>
          </a:prstGeom>
          <a:noFill/>
        </p:spPr>
        <p:txBody>
          <a:bodyPr wrap="square" rtlCol="0">
            <a:spAutoFit/>
          </a:bodyPr>
          <a:lstStyle/>
          <a:p>
            <a:r>
              <a:rPr lang="tr-TR" sz="900" noProof="1">
                <a:cs typeface="Arial" panose="020B0604020202020204" pitchFamily="34" charset="0"/>
              </a:rPr>
              <a:t>Büyük sayıları daha net okuyabilmek için sondan başlayarak 3 basamakta bir nokta konulabilir.</a:t>
            </a:r>
          </a:p>
        </p:txBody>
      </p:sp>
      <p:sp>
        <p:nvSpPr>
          <p:cNvPr id="74" name="Metin kutusu 73">
            <a:extLst>
              <a:ext uri="{FF2B5EF4-FFF2-40B4-BE49-F238E27FC236}">
                <a16:creationId xmlns:a16="http://schemas.microsoft.com/office/drawing/2014/main" id="{C5E8104D-4D0E-4E84-966A-696C11A6D921}"/>
              </a:ext>
            </a:extLst>
          </p:cNvPr>
          <p:cNvSpPr txBox="1"/>
          <p:nvPr/>
        </p:nvSpPr>
        <p:spPr>
          <a:xfrm>
            <a:off x="50798" y="8300302"/>
            <a:ext cx="3263775" cy="369332"/>
          </a:xfrm>
          <a:prstGeom prst="rect">
            <a:avLst/>
          </a:prstGeom>
          <a:noFill/>
        </p:spPr>
        <p:txBody>
          <a:bodyPr wrap="square" rtlCol="0">
            <a:spAutoFit/>
          </a:bodyPr>
          <a:lstStyle/>
          <a:p>
            <a:r>
              <a:rPr lang="tr-TR" sz="900" noProof="1">
                <a:cs typeface="Arial" panose="020B0604020202020204" pitchFamily="34" charset="0"/>
              </a:rPr>
              <a:t>Bu nokta çarpma anlamına gelmez örneğin 12.976.000 gibi daha kolay seçilebilirlik ve netlik için gösterilebilmektedir. </a:t>
            </a:r>
          </a:p>
        </p:txBody>
      </p:sp>
      <p:sp>
        <p:nvSpPr>
          <p:cNvPr id="75" name="Kaydırma: Yatay 74">
            <a:extLst>
              <a:ext uri="{FF2B5EF4-FFF2-40B4-BE49-F238E27FC236}">
                <a16:creationId xmlns:a16="http://schemas.microsoft.com/office/drawing/2014/main" id="{D1C3B68C-67D3-4C8E-AD45-613178E3E5DA}"/>
              </a:ext>
            </a:extLst>
          </p:cNvPr>
          <p:cNvSpPr/>
          <p:nvPr/>
        </p:nvSpPr>
        <p:spPr>
          <a:xfrm>
            <a:off x="4382592" y="438535"/>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6" name="Metin kutusu 75">
            <a:extLst>
              <a:ext uri="{FF2B5EF4-FFF2-40B4-BE49-F238E27FC236}">
                <a16:creationId xmlns:a16="http://schemas.microsoft.com/office/drawing/2014/main" id="{8C7B55C2-361E-4B33-96B4-04152D46F503}"/>
              </a:ext>
            </a:extLst>
          </p:cNvPr>
          <p:cNvSpPr txBox="1"/>
          <p:nvPr/>
        </p:nvSpPr>
        <p:spPr>
          <a:xfrm>
            <a:off x="4407572" y="456854"/>
            <a:ext cx="2191914" cy="307777"/>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“Problem çözmek idrak edip çözüme kavuşturmadır. Bol bol kitap okunmalıdır. ”   Yazar notu -  Ahmet Çelen</a:t>
            </a:r>
            <a:endParaRPr lang="tr-TR" sz="700" dirty="0">
              <a:solidFill>
                <a:schemeClr val="bg1"/>
              </a:solidFill>
              <a:latin typeface="Arial Narrow" panose="020B0606020202030204" pitchFamily="34" charset="0"/>
            </a:endParaRPr>
          </a:p>
        </p:txBody>
      </p:sp>
      <p:sp>
        <p:nvSpPr>
          <p:cNvPr id="77" name="Metin kutusu 76">
            <a:extLst>
              <a:ext uri="{FF2B5EF4-FFF2-40B4-BE49-F238E27FC236}">
                <a16:creationId xmlns:a16="http://schemas.microsoft.com/office/drawing/2014/main" id="{41A61234-51EC-40A9-92B3-27FE17E791BB}"/>
              </a:ext>
            </a:extLst>
          </p:cNvPr>
          <p:cNvSpPr txBox="1"/>
          <p:nvPr/>
        </p:nvSpPr>
        <p:spPr>
          <a:xfrm>
            <a:off x="3599518" y="750243"/>
            <a:ext cx="3212178" cy="553998"/>
          </a:xfrm>
          <a:prstGeom prst="rect">
            <a:avLst/>
          </a:prstGeom>
          <a:noFill/>
        </p:spPr>
        <p:txBody>
          <a:bodyPr wrap="square" rtlCol="0">
            <a:spAutoFit/>
          </a:bodyPr>
          <a:lstStyle/>
          <a:p>
            <a:r>
              <a:rPr lang="tr-TR" sz="1000" noProof="1">
                <a:cs typeface="Arial" panose="020B0604020202020204" pitchFamily="34" charset="0"/>
              </a:rPr>
              <a:t>Bir otoparka 14 otomobil, 4 otobüs veya 6 otobüs 9 otomobil sığmaktadır. Buna göre, otoparka en fazla kaç otomobil sığabilir?</a:t>
            </a:r>
            <a:endParaRPr lang="tr-TR" sz="1000" b="1" noProof="1">
              <a:cs typeface="Arial" panose="020B0604020202020204" pitchFamily="34" charset="0"/>
            </a:endParaRPr>
          </a:p>
        </p:txBody>
      </p:sp>
      <p:sp>
        <p:nvSpPr>
          <p:cNvPr id="62" name="Metin kutusu 61">
            <a:extLst>
              <a:ext uri="{FF2B5EF4-FFF2-40B4-BE49-F238E27FC236}">
                <a16:creationId xmlns:a16="http://schemas.microsoft.com/office/drawing/2014/main" id="{D571A09A-D3AF-49A9-9CAA-4824FEB605B0}"/>
              </a:ext>
            </a:extLst>
          </p:cNvPr>
          <p:cNvSpPr txBox="1"/>
          <p:nvPr/>
        </p:nvSpPr>
        <p:spPr>
          <a:xfrm>
            <a:off x="3568177" y="2283459"/>
            <a:ext cx="3369024" cy="2092881"/>
          </a:xfrm>
          <a:prstGeom prst="rect">
            <a:avLst/>
          </a:prstGeom>
          <a:noFill/>
        </p:spPr>
        <p:txBody>
          <a:bodyPr wrap="square" rtlCol="0">
            <a:spAutoFit/>
          </a:bodyPr>
          <a:lstStyle/>
          <a:p>
            <a:r>
              <a:rPr lang="tr-TR" sz="1000" noProof="1">
                <a:cs typeface="Arial" panose="020B0604020202020204" pitchFamily="34" charset="0"/>
              </a:rPr>
              <a:t>Otomobilin kapladığı alana x, otobüse y diyelim.</a:t>
            </a:r>
          </a:p>
          <a:p>
            <a:r>
              <a:rPr lang="tr-TR" sz="1000" noProof="1">
                <a:cs typeface="Arial" panose="020B0604020202020204" pitchFamily="34" charset="0"/>
              </a:rPr>
              <a:t>14x + 4 y = 9x + 6y  veya durumunu</a:t>
            </a:r>
            <a:r>
              <a:rPr lang="tr-TR" sz="900" noProof="1">
                <a:cs typeface="Arial" panose="020B0604020202020204" pitchFamily="34" charset="0"/>
              </a:rPr>
              <a:t> </a:t>
            </a:r>
            <a:r>
              <a:rPr lang="tr-TR" sz="1000" noProof="1">
                <a:cs typeface="Arial" panose="020B0604020202020204" pitchFamily="34" charset="0"/>
              </a:rPr>
              <a:t>eş</a:t>
            </a:r>
            <a:r>
              <a:rPr lang="tr-TR" sz="900" noProof="1">
                <a:cs typeface="Arial" panose="020B0604020202020204" pitchFamily="34" charset="0"/>
              </a:rPr>
              <a:t> </a:t>
            </a:r>
            <a:r>
              <a:rPr lang="tr-TR" sz="1000" noProof="1">
                <a:cs typeface="Arial" panose="020B0604020202020204" pitchFamily="34" charset="0"/>
              </a:rPr>
              <a:t>olarak</a:t>
            </a:r>
            <a:r>
              <a:rPr lang="tr-TR" sz="900" noProof="1">
                <a:cs typeface="Arial" panose="020B0604020202020204" pitchFamily="34" charset="0"/>
              </a:rPr>
              <a:t> </a:t>
            </a:r>
            <a:r>
              <a:rPr lang="tr-TR" sz="1000" noProof="1">
                <a:cs typeface="Arial" panose="020B0604020202020204" pitchFamily="34" charset="0"/>
              </a:rPr>
              <a:t>değerlendirdik.</a:t>
            </a:r>
          </a:p>
          <a:p>
            <a:endParaRPr lang="tr-TR" sz="1000" noProof="1">
              <a:cs typeface="Arial" panose="020B0604020202020204" pitchFamily="34" charset="0"/>
            </a:endParaRPr>
          </a:p>
          <a:p>
            <a:r>
              <a:rPr lang="tr-TR" sz="1000" noProof="1">
                <a:cs typeface="Arial" panose="020B0604020202020204" pitchFamily="34" charset="0"/>
              </a:rPr>
              <a:t>Buradan 5x = 2y olacaktır. Farketmez fakat bir durum seçelim böylelikle otoparkın kapasitesini sadece otomobillerin kapladığı alan ile bulalım. İkinci denklemde 2y gördüğümüz her yere 5x yazabildiğimizi bulduk. 6y (3 katı) olduğundan bizde toplamda 15x yazabiliriz. </a:t>
            </a:r>
          </a:p>
          <a:p>
            <a:endParaRPr lang="tr-TR" sz="1000" noProof="1">
              <a:cs typeface="Arial" panose="020B0604020202020204" pitchFamily="34" charset="0"/>
            </a:endParaRPr>
          </a:p>
          <a:p>
            <a:r>
              <a:rPr lang="tr-TR" sz="1000" b="1" noProof="1">
                <a:cs typeface="Arial" panose="020B0604020202020204" pitchFamily="34" charset="0"/>
              </a:rPr>
              <a:t>9x de otomobil olarak direkt ifade edilen vardı toplamları 24x olacaktır. x burada otomobilin kapladığı alandır 24 ise otomobil sayısıdır.</a:t>
            </a:r>
            <a:br>
              <a:rPr lang="tr-TR" sz="1000" b="1" noProof="1">
                <a:cs typeface="Arial" panose="020B0604020202020204" pitchFamily="34" charset="0"/>
              </a:rPr>
            </a:br>
            <a:endParaRPr lang="tr-TR" sz="1000" b="1" noProof="1">
              <a:cs typeface="Arial" panose="020B0604020202020204" pitchFamily="34" charset="0"/>
            </a:endParaRPr>
          </a:p>
        </p:txBody>
      </p:sp>
      <p:sp>
        <p:nvSpPr>
          <p:cNvPr id="66" name="Metin kutusu 65">
            <a:extLst>
              <a:ext uri="{FF2B5EF4-FFF2-40B4-BE49-F238E27FC236}">
                <a16:creationId xmlns:a16="http://schemas.microsoft.com/office/drawing/2014/main" id="{787C1049-FC9C-4B49-BEE1-CD623560CDB7}"/>
              </a:ext>
            </a:extLst>
          </p:cNvPr>
          <p:cNvSpPr txBox="1"/>
          <p:nvPr/>
        </p:nvSpPr>
        <p:spPr>
          <a:xfrm>
            <a:off x="3564105" y="4559234"/>
            <a:ext cx="3322866" cy="861774"/>
          </a:xfrm>
          <a:prstGeom prst="rect">
            <a:avLst/>
          </a:prstGeom>
          <a:noFill/>
        </p:spPr>
        <p:txBody>
          <a:bodyPr wrap="square" rtlCol="0">
            <a:spAutoFit/>
          </a:bodyPr>
          <a:lstStyle/>
          <a:p>
            <a:r>
              <a:rPr lang="tr-TR" sz="1000" noProof="1">
                <a:cs typeface="Arial" panose="020B0604020202020204" pitchFamily="34" charset="0"/>
              </a:rPr>
              <a:t>Ahmet ile Banu sırasıyla 2 hisse ve 3 hisse alarak bir ortaklık kuruyorlar. Daha sonra Memduh`u da aralarına alarak üçü eşit prensibe sahip ortak oluyorlar. Bu ortaklığın gerçekleşebilmesi için Memduh; 30.000 TL ödediğine göre, bu paradan Banu Ahmet`den kaç TL </a:t>
            </a:r>
            <a:r>
              <a:rPr lang="tr-TR" sz="1000" u="sng" noProof="1">
                <a:cs typeface="Arial" panose="020B0604020202020204" pitchFamily="34" charset="0"/>
              </a:rPr>
              <a:t>fazla</a:t>
            </a:r>
            <a:r>
              <a:rPr lang="tr-TR" sz="1000" noProof="1">
                <a:cs typeface="Arial" panose="020B0604020202020204" pitchFamily="34" charset="0"/>
              </a:rPr>
              <a:t> para geri almıştır? </a:t>
            </a:r>
            <a:endParaRPr lang="tr-TR" sz="1000" b="1" noProof="1">
              <a:cs typeface="Arial" panose="020B0604020202020204" pitchFamily="34" charset="0"/>
            </a:endParaRPr>
          </a:p>
        </p:txBody>
      </p:sp>
      <p:sp>
        <p:nvSpPr>
          <p:cNvPr id="67" name="Metin kutusu 66">
            <a:extLst>
              <a:ext uri="{FF2B5EF4-FFF2-40B4-BE49-F238E27FC236}">
                <a16:creationId xmlns:a16="http://schemas.microsoft.com/office/drawing/2014/main" id="{C0A7AA29-D2C4-4F94-AB0F-12D3DB8CC995}"/>
              </a:ext>
            </a:extLst>
          </p:cNvPr>
          <p:cNvSpPr txBox="1"/>
          <p:nvPr/>
        </p:nvSpPr>
        <p:spPr>
          <a:xfrm>
            <a:off x="3599663" y="6722408"/>
            <a:ext cx="3241259" cy="1938992"/>
          </a:xfrm>
          <a:prstGeom prst="rect">
            <a:avLst/>
          </a:prstGeom>
          <a:noFill/>
        </p:spPr>
        <p:txBody>
          <a:bodyPr wrap="square" rtlCol="0">
            <a:spAutoFit/>
          </a:bodyPr>
          <a:lstStyle/>
          <a:p>
            <a:r>
              <a:rPr lang="tr-TR" sz="1000" noProof="1">
                <a:cs typeface="Arial" panose="020B0604020202020204" pitchFamily="34" charset="0"/>
              </a:rPr>
              <a:t>Önce Ahmet 2 hisse, Banu 3 hisse toplam 5 hisseyle şirketi toplam 5 hisse ile kuracaktı. Kolaylık olması açısından 6 ile çarpalım hepsini. Ahmet 12, Banu 18, toplam 30 hisse olsun. 30 Hisse toplam ve 3 kişi olduğundan her kişiye 10 hisse düşecektir. 10 hisse için Memduh 30.000 TL ödediğine göre 1 hisse = 3000 TL`dir. </a:t>
            </a:r>
          </a:p>
          <a:p>
            <a:endParaRPr lang="tr-TR" sz="1000" noProof="1">
              <a:cs typeface="Arial" panose="020B0604020202020204" pitchFamily="34" charset="0"/>
            </a:endParaRPr>
          </a:p>
          <a:p>
            <a:r>
              <a:rPr lang="tr-TR" sz="1000" noProof="1">
                <a:cs typeface="Arial" panose="020B0604020202020204" pitchFamily="34" charset="0"/>
              </a:rPr>
              <a:t>Herkes 10 hisse vermesi gerektiği halde fazla verenler parasını geri alacaktır. Ahmet 12 hisse, Banu 18 hisse koyduğundan ötürü Ahmet 2, Banu 8 hisse geri alacaktır. Bu fark bize soruluyor. </a:t>
            </a:r>
            <a:r>
              <a:rPr lang="tr-TR" sz="1000" b="1" noProof="1">
                <a:cs typeface="Arial" panose="020B0604020202020204" pitchFamily="34" charset="0"/>
              </a:rPr>
              <a:t>6 hisse fark olacaktır. Bir hissede 3000 TL olduğundan ötürü bu fark 18.000 TL`dir.</a:t>
            </a:r>
          </a:p>
        </p:txBody>
      </p:sp>
      <p:sp>
        <p:nvSpPr>
          <p:cNvPr id="69" name="Metin kutusu 68">
            <a:extLst>
              <a:ext uri="{FF2B5EF4-FFF2-40B4-BE49-F238E27FC236}">
                <a16:creationId xmlns:a16="http://schemas.microsoft.com/office/drawing/2014/main" id="{7764DB8E-E055-4103-A819-9C2F72171EE0}"/>
              </a:ext>
            </a:extLst>
          </p:cNvPr>
          <p:cNvSpPr txBox="1"/>
          <p:nvPr/>
        </p:nvSpPr>
        <p:spPr>
          <a:xfrm>
            <a:off x="912176" y="425777"/>
            <a:ext cx="2466064" cy="415498"/>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“Mesleki eğilim ve  ilgiyi 9.sınıftan itibaren oluşturmaya çalışın. </a:t>
            </a:r>
            <a:r>
              <a:rPr lang="tr-TR" sz="700" b="1" dirty="0">
                <a:solidFill>
                  <a:schemeClr val="bg1"/>
                </a:solidFill>
                <a:latin typeface="Arial Narrow" panose="020B0606020202030204" pitchFamily="34" charset="0"/>
              </a:rPr>
              <a:t>Bu 15 günlük tercih dönemine sıkıştırılacak bir karar değildir. Böylelikle çalışmalarınız için rota oluşturabilirsiniz.</a:t>
            </a:r>
            <a:r>
              <a:rPr lang="tr-TR" sz="700" b="1" i="0" dirty="0">
                <a:solidFill>
                  <a:schemeClr val="bg1"/>
                </a:solidFill>
                <a:effectLst/>
                <a:latin typeface="Arial Narrow" panose="020B0606020202030204" pitchFamily="34" charset="0"/>
              </a:rPr>
              <a:t> ”</a:t>
            </a:r>
            <a:endParaRPr lang="tr-TR" sz="7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1270379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38767" y="893677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7</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18623" y="1010244"/>
            <a:ext cx="3292397" cy="707886"/>
          </a:xfrm>
          <a:prstGeom prst="rect">
            <a:avLst/>
          </a:prstGeom>
          <a:noFill/>
        </p:spPr>
        <p:txBody>
          <a:bodyPr wrap="square" rtlCol="0">
            <a:spAutoFit/>
          </a:bodyPr>
          <a:lstStyle/>
          <a:p>
            <a:r>
              <a:rPr lang="tr-TR" sz="1000" noProof="1">
                <a:cs typeface="Arial" panose="020B0604020202020204" pitchFamily="34" charset="0"/>
              </a:rPr>
              <a:t>Bir miktar ceviz 24 çocuk arasında eşit olarak dağıtılacaktır. Çocuk sayısının çeyreğinin 2 fazlası kadar çocuk hakkından vazgeçerse ilk başa göre hakkından vazgeçmeyen her çocuk ilk duruma göre 5 fazla ceviz alıyor. Ceviz sayısı kaçtır?</a:t>
            </a:r>
            <a:endParaRPr lang="tr-TR" sz="1000" b="1" noProof="1">
              <a:cs typeface="Arial" panose="020B0604020202020204" pitchFamily="34" charset="0"/>
            </a:endParaRPr>
          </a:p>
        </p:txBody>
      </p:sp>
      <p:sp>
        <p:nvSpPr>
          <p:cNvPr id="56" name="Ok: Beşgen 55">
            <a:extLst>
              <a:ext uri="{FF2B5EF4-FFF2-40B4-BE49-F238E27FC236}">
                <a16:creationId xmlns:a16="http://schemas.microsoft.com/office/drawing/2014/main" id="{D327283C-46A4-4C86-A990-995946C89AA1}"/>
              </a:ext>
            </a:extLst>
          </p:cNvPr>
          <p:cNvSpPr/>
          <p:nvPr/>
        </p:nvSpPr>
        <p:spPr>
          <a:xfrm>
            <a:off x="3662165" y="218113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58930" y="4938913"/>
            <a:ext cx="3157657" cy="281148"/>
          </a:xfrm>
          <a:prstGeom prst="homePlate">
            <a:avLst/>
          </a:prstGeom>
          <a:solidFill>
            <a:srgbClr val="99CCFF"/>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Konu Anlatımlar ve Video Çözümler</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18.</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19.</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20.</a:t>
            </a:r>
          </a:p>
        </p:txBody>
      </p:sp>
      <p:sp>
        <p:nvSpPr>
          <p:cNvPr id="4" name="Kaydırma: Yatay 3">
            <a:extLst>
              <a:ext uri="{FF2B5EF4-FFF2-40B4-BE49-F238E27FC236}">
                <a16:creationId xmlns:a16="http://schemas.microsoft.com/office/drawing/2014/main" id="{0E04D564-7191-4F0C-AA0E-EBA35AF9F5C1}"/>
              </a:ext>
            </a:extLst>
          </p:cNvPr>
          <p:cNvSpPr/>
          <p:nvPr/>
        </p:nvSpPr>
        <p:spPr>
          <a:xfrm>
            <a:off x="948067" y="431733"/>
            <a:ext cx="2297800" cy="640851"/>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51" name="Metin kutusu 50">
                <a:extLst>
                  <a:ext uri="{FF2B5EF4-FFF2-40B4-BE49-F238E27FC236}">
                    <a16:creationId xmlns:a16="http://schemas.microsoft.com/office/drawing/2014/main" id="{8FB63928-D2A7-409F-A54A-B9D42B7BEBA3}"/>
                  </a:ext>
                </a:extLst>
              </p:cNvPr>
              <p:cNvSpPr txBox="1"/>
              <p:nvPr/>
            </p:nvSpPr>
            <p:spPr>
              <a:xfrm>
                <a:off x="22174" y="2539720"/>
                <a:ext cx="3292397" cy="1591526"/>
              </a:xfrm>
              <a:prstGeom prst="rect">
                <a:avLst/>
              </a:prstGeom>
              <a:noFill/>
            </p:spPr>
            <p:txBody>
              <a:bodyPr wrap="square" rtlCol="0">
                <a:spAutoFit/>
              </a:bodyPr>
              <a:lstStyle/>
              <a:p>
                <a:r>
                  <a:rPr lang="tr-TR" sz="1000" noProof="1">
                    <a:cs typeface="Arial" panose="020B0604020202020204" pitchFamily="34" charset="0"/>
                  </a:rPr>
                  <a:t>Ceviz sayısı x adet olmuş olsun. Her çocuğa eşit dağıtılıyorsa x/24 tane ceviz almış olur her çocuk ilk durum için. Çocuk sayısının çeyreği 24/4 = 6 dır 2 fazlası 8 dir. 24-8 = 16 çocuğa eşit ceviz dağıtılacaktır. Ceviz sayısı değişmedi x/16 = ilk duruma göre 5 fazlaymış. </a:t>
                </a:r>
              </a:p>
              <a:p>
                <a:endParaRPr lang="tr-TR" sz="1000" b="1" noProof="1">
                  <a:cs typeface="Arial" panose="020B0604020202020204" pitchFamily="34" charset="0"/>
                </a:endParaRPr>
              </a:p>
              <a:p>
                <a14:m>
                  <m:oMath xmlns:m="http://schemas.openxmlformats.org/officeDocument/2006/math">
                    <m:f>
                      <m:fPr>
                        <m:ctrlPr>
                          <a:rPr lang="tr-TR" sz="900" b="1" i="1" noProof="1" smtClean="0">
                            <a:solidFill>
                              <a:schemeClr val="tx1"/>
                            </a:solidFill>
                            <a:latin typeface="Cambria Math" panose="02040503050406030204" pitchFamily="18" charset="0"/>
                          </a:rPr>
                        </m:ctrlPr>
                      </m:fPr>
                      <m:num>
                        <m:r>
                          <m:rPr>
                            <m:nor/>
                          </m:rPr>
                          <a:rPr lang="tr-TR" sz="900" noProof="1" smtClean="0">
                            <a:solidFill>
                              <a:schemeClr val="tx1"/>
                            </a:solidFill>
                            <a:latin typeface="Helvetica" panose="020B0604020202020204" pitchFamily="34" charset="0"/>
                            <a:cs typeface="Helvetica" panose="020B0604020202020204" pitchFamily="34" charset="0"/>
                          </a:rPr>
                          <m:t>x</m:t>
                        </m:r>
                      </m:num>
                      <m:den>
                        <m:r>
                          <m:rPr>
                            <m:nor/>
                          </m:rPr>
                          <a:rPr lang="tr-TR" sz="900" noProof="1" smtClean="0">
                            <a:solidFill>
                              <a:schemeClr val="tx1"/>
                            </a:solidFill>
                            <a:latin typeface="Helvetica" panose="020B0604020202020204" pitchFamily="34" charset="0"/>
                            <a:cs typeface="Helvetica" panose="020B0604020202020204" pitchFamily="34" charset="0"/>
                          </a:rPr>
                          <m:t>24</m:t>
                        </m:r>
                      </m:den>
                    </m:f>
                    <m:r>
                      <a:rPr lang="tr-TR" sz="900" b="1" i="0" noProof="1" smtClean="0">
                        <a:solidFill>
                          <a:schemeClr val="tx1"/>
                        </a:solidFill>
                        <a:latin typeface="Cambria Math" panose="02040503050406030204" pitchFamily="18" charset="0"/>
                      </a:rPr>
                      <m:t>+</m:t>
                    </m:r>
                    <m:r>
                      <m:rPr>
                        <m:nor/>
                      </m:rPr>
                      <a:rPr lang="tr-TR" sz="900" noProof="1" smtClean="0">
                        <a:solidFill>
                          <a:schemeClr val="tx1"/>
                        </a:solidFill>
                        <a:latin typeface="Helvetica" panose="020B0604020202020204" pitchFamily="34" charset="0"/>
                        <a:cs typeface="Helvetica" panose="020B0604020202020204" pitchFamily="34" charset="0"/>
                      </a:rPr>
                      <m:t>5</m:t>
                    </m:r>
                    <m:r>
                      <a:rPr lang="tr-TR" sz="900" b="1" i="0" noProof="1" smtClean="0">
                        <a:solidFill>
                          <a:schemeClr val="tx1"/>
                        </a:solidFill>
                        <a:latin typeface="Cambria Math" panose="02040503050406030204" pitchFamily="18" charset="0"/>
                      </a:rPr>
                      <m:t>=</m:t>
                    </m:r>
                    <m:f>
                      <m:fPr>
                        <m:ctrlPr>
                          <a:rPr lang="tr-TR" sz="900" b="1" i="1" noProof="1" smtClean="0">
                            <a:solidFill>
                              <a:schemeClr val="tx1"/>
                            </a:solidFill>
                            <a:latin typeface="Cambria Math" panose="02040503050406030204" pitchFamily="18" charset="0"/>
                          </a:rPr>
                        </m:ctrlPr>
                      </m:fPr>
                      <m:num>
                        <m:r>
                          <m:rPr>
                            <m:nor/>
                          </m:rPr>
                          <a:rPr lang="tr-TR" sz="900" noProof="1" smtClean="0">
                            <a:solidFill>
                              <a:schemeClr val="tx1"/>
                            </a:solidFill>
                            <a:latin typeface="Helvetica" panose="020B0604020202020204" pitchFamily="34" charset="0"/>
                            <a:cs typeface="Helvetica" panose="020B0604020202020204" pitchFamily="34" charset="0"/>
                          </a:rPr>
                          <m:t>x</m:t>
                        </m:r>
                      </m:num>
                      <m:den>
                        <m:r>
                          <m:rPr>
                            <m:nor/>
                          </m:rPr>
                          <a:rPr lang="tr-TR" sz="900" noProof="1" smtClean="0">
                            <a:solidFill>
                              <a:schemeClr val="tx1"/>
                            </a:solidFill>
                            <a:latin typeface="Helvetica" panose="020B0604020202020204" pitchFamily="34" charset="0"/>
                            <a:cs typeface="Helvetica" panose="020B0604020202020204" pitchFamily="34" charset="0"/>
                          </a:rPr>
                          <m:t>16</m:t>
                        </m:r>
                      </m:den>
                    </m:f>
                  </m:oMath>
                </a14:m>
                <a:r>
                  <a:rPr lang="tr-TR" sz="900" b="1" noProof="1">
                    <a:cs typeface="Arial" panose="020B0604020202020204" pitchFamily="34" charset="0"/>
                  </a:rPr>
                  <a:t>            5 = </a:t>
                </a:r>
                <a14:m>
                  <m:oMath xmlns:m="http://schemas.openxmlformats.org/officeDocument/2006/math">
                    <m:f>
                      <m:fPr>
                        <m:ctrlPr>
                          <a:rPr lang="tr-TR" sz="900" b="1" i="1" noProof="1">
                            <a:latin typeface="Cambria Math" panose="02040503050406030204" pitchFamily="18" charset="0"/>
                          </a:rPr>
                        </m:ctrlPr>
                      </m:fPr>
                      <m:num>
                        <m:r>
                          <m:rPr>
                            <m:nor/>
                          </m:rPr>
                          <a:rPr lang="tr-TR" sz="900" noProof="1">
                            <a:latin typeface="Helvetica" panose="020B0604020202020204" pitchFamily="34" charset="0"/>
                            <a:cs typeface="Helvetica" panose="020B0604020202020204" pitchFamily="34" charset="0"/>
                          </a:rPr>
                          <m:t>x</m:t>
                        </m:r>
                      </m:num>
                      <m:den>
                        <m:r>
                          <m:rPr>
                            <m:nor/>
                          </m:rPr>
                          <a:rPr lang="tr-TR" sz="900" noProof="1">
                            <a:latin typeface="Helvetica" panose="020B0604020202020204" pitchFamily="34" charset="0"/>
                            <a:cs typeface="Helvetica" panose="020B0604020202020204" pitchFamily="34" charset="0"/>
                          </a:rPr>
                          <m:t>16</m:t>
                        </m:r>
                      </m:den>
                    </m:f>
                  </m:oMath>
                </a14:m>
                <a:r>
                  <a:rPr lang="tr-TR" sz="900" b="1" noProof="1">
                    <a:cs typeface="Arial" panose="020B0604020202020204" pitchFamily="34" charset="0"/>
                  </a:rPr>
                  <a:t> - </a:t>
                </a:r>
                <a14:m>
                  <m:oMath xmlns:m="http://schemas.openxmlformats.org/officeDocument/2006/math">
                    <m:f>
                      <m:fPr>
                        <m:ctrlPr>
                          <a:rPr lang="tr-TR" sz="900" b="1" i="1" noProof="1">
                            <a:latin typeface="Cambria Math" panose="02040503050406030204" pitchFamily="18" charset="0"/>
                          </a:rPr>
                        </m:ctrlPr>
                      </m:fPr>
                      <m:num>
                        <m:r>
                          <m:rPr>
                            <m:nor/>
                          </m:rPr>
                          <a:rPr lang="tr-TR" sz="900" noProof="1">
                            <a:latin typeface="Helvetica" panose="020B0604020202020204" pitchFamily="34" charset="0"/>
                            <a:cs typeface="Helvetica" panose="020B0604020202020204" pitchFamily="34" charset="0"/>
                          </a:rPr>
                          <m:t>x</m:t>
                        </m:r>
                      </m:num>
                      <m:den>
                        <m:r>
                          <m:rPr>
                            <m:nor/>
                          </m:rPr>
                          <a:rPr lang="tr-TR" sz="900" noProof="1">
                            <a:latin typeface="Helvetica" panose="020B0604020202020204" pitchFamily="34" charset="0"/>
                            <a:cs typeface="Helvetica" panose="020B0604020202020204" pitchFamily="34" charset="0"/>
                          </a:rPr>
                          <m:t>24</m:t>
                        </m:r>
                      </m:den>
                    </m:f>
                  </m:oMath>
                </a14:m>
                <a:r>
                  <a:rPr lang="tr-TR" sz="900" b="1" noProof="1">
                    <a:cs typeface="Arial" panose="020B0604020202020204" pitchFamily="34" charset="0"/>
                  </a:rPr>
                  <a:t>         </a:t>
                </a:r>
                <a14:m>
                  <m:oMath xmlns:m="http://schemas.openxmlformats.org/officeDocument/2006/math">
                    <m:f>
                      <m:fPr>
                        <m:ctrlPr>
                          <a:rPr lang="tr-TR" sz="900" b="1" i="1" noProof="1">
                            <a:latin typeface="Cambria Math" panose="02040503050406030204" pitchFamily="18" charset="0"/>
                          </a:rPr>
                        </m:ctrlPr>
                      </m:fPr>
                      <m:num>
                        <m:r>
                          <m:rPr>
                            <m:nor/>
                          </m:rPr>
                          <a:rPr lang="tr-TR" sz="900" b="0" i="0" noProof="1" smtClean="0">
                            <a:latin typeface="Cambria Math" panose="02040503050406030204" pitchFamily="18" charset="0"/>
                          </a:rPr>
                          <m:t>3</m:t>
                        </m:r>
                        <m:r>
                          <m:rPr>
                            <m:nor/>
                          </m:rPr>
                          <a:rPr lang="tr-TR" sz="900" noProof="1">
                            <a:latin typeface="Helvetica" panose="020B0604020202020204" pitchFamily="34" charset="0"/>
                            <a:cs typeface="Helvetica" panose="020B0604020202020204" pitchFamily="34" charset="0"/>
                          </a:rPr>
                          <m:t>x</m:t>
                        </m:r>
                        <m:r>
                          <m:rPr>
                            <m:nor/>
                          </m:rPr>
                          <a:rPr lang="tr-TR" sz="900" b="0" i="0" noProof="1" smtClean="0">
                            <a:latin typeface="Helvetica" panose="020B0604020202020204" pitchFamily="34" charset="0"/>
                            <a:cs typeface="Helvetica" panose="020B0604020202020204" pitchFamily="34" charset="0"/>
                          </a:rPr>
                          <m:t>−2</m:t>
                        </m:r>
                        <m:r>
                          <m:rPr>
                            <m:nor/>
                          </m:rPr>
                          <a:rPr lang="tr-TR" sz="900" b="0" i="0" noProof="1" smtClean="0">
                            <a:latin typeface="Helvetica" panose="020B0604020202020204" pitchFamily="34" charset="0"/>
                            <a:cs typeface="Helvetica" panose="020B0604020202020204" pitchFamily="34" charset="0"/>
                          </a:rPr>
                          <m:t>x</m:t>
                        </m:r>
                      </m:num>
                      <m:den>
                        <m:r>
                          <m:rPr>
                            <m:nor/>
                          </m:rPr>
                          <a:rPr lang="tr-TR" sz="900" b="0" i="0" noProof="1" smtClean="0">
                            <a:latin typeface="Helvetica" panose="020B0604020202020204" pitchFamily="34" charset="0"/>
                            <a:cs typeface="Helvetica" panose="020B0604020202020204" pitchFamily="34" charset="0"/>
                          </a:rPr>
                          <m:t>48</m:t>
                        </m:r>
                      </m:den>
                    </m:f>
                  </m:oMath>
                </a14:m>
                <a:r>
                  <a:rPr lang="tr-TR" sz="900" b="1" noProof="1">
                    <a:cs typeface="Arial" panose="020B0604020202020204" pitchFamily="34" charset="0"/>
                  </a:rPr>
                  <a:t>  = 5 </a:t>
                </a:r>
                <a:br>
                  <a:rPr lang="tr-TR" sz="900" b="1" noProof="1">
                    <a:cs typeface="Arial" panose="020B0604020202020204" pitchFamily="34" charset="0"/>
                  </a:rPr>
                </a:br>
                <a:br>
                  <a:rPr lang="tr-TR" sz="900" b="1" noProof="1">
                    <a:cs typeface="Arial" panose="020B0604020202020204" pitchFamily="34" charset="0"/>
                  </a:rPr>
                </a:br>
                <a14:m>
                  <m:oMath xmlns:m="http://schemas.openxmlformats.org/officeDocument/2006/math">
                    <m:f>
                      <m:fPr>
                        <m:ctrlPr>
                          <a:rPr lang="tr-TR" sz="900" b="1" i="1" noProof="1">
                            <a:latin typeface="Cambria Math" panose="02040503050406030204" pitchFamily="18" charset="0"/>
                          </a:rPr>
                        </m:ctrlPr>
                      </m:fPr>
                      <m:num>
                        <m:r>
                          <m:rPr>
                            <m:nor/>
                          </m:rPr>
                          <a:rPr lang="tr-TR" sz="900" noProof="1">
                            <a:latin typeface="Helvetica" panose="020B0604020202020204" pitchFamily="34" charset="0"/>
                            <a:cs typeface="Helvetica" panose="020B0604020202020204" pitchFamily="34" charset="0"/>
                          </a:rPr>
                          <m:t>x</m:t>
                        </m:r>
                      </m:num>
                      <m:den>
                        <m:r>
                          <m:rPr>
                            <m:nor/>
                          </m:rPr>
                          <a:rPr lang="tr-TR" sz="900" b="0" i="0" noProof="1" smtClean="0">
                            <a:latin typeface="Helvetica" panose="020B0604020202020204" pitchFamily="34" charset="0"/>
                            <a:cs typeface="Helvetica" panose="020B0604020202020204" pitchFamily="34" charset="0"/>
                          </a:rPr>
                          <m:t>48</m:t>
                        </m:r>
                      </m:den>
                    </m:f>
                  </m:oMath>
                </a14:m>
                <a:r>
                  <a:rPr lang="tr-TR" sz="900" b="1" noProof="1">
                    <a:cs typeface="Arial" panose="020B0604020202020204" pitchFamily="34" charset="0"/>
                  </a:rPr>
                  <a:t> = 5   içler dışlar çarpımından 5.48 = 240 Ceviz sayısıdır.  </a:t>
                </a:r>
              </a:p>
            </p:txBody>
          </p:sp>
        </mc:Choice>
        <mc:Fallback xmlns="">
          <p:sp>
            <p:nvSpPr>
              <p:cNvPr id="51" name="Metin kutusu 50">
                <a:extLst>
                  <a:ext uri="{FF2B5EF4-FFF2-40B4-BE49-F238E27FC236}">
                    <a16:creationId xmlns:a16="http://schemas.microsoft.com/office/drawing/2014/main" id="{8FB63928-D2A7-409F-A54A-B9D42B7BEBA3}"/>
                  </a:ext>
                </a:extLst>
              </p:cNvPr>
              <p:cNvSpPr txBox="1">
                <a:spLocks noRot="1" noChangeAspect="1" noMove="1" noResize="1" noEditPoints="1" noAdjustHandles="1" noChangeArrowheads="1" noChangeShapeType="1" noTextEdit="1"/>
              </p:cNvSpPr>
              <p:nvPr/>
            </p:nvSpPr>
            <p:spPr>
              <a:xfrm>
                <a:off x="22174" y="2539720"/>
                <a:ext cx="3292397" cy="1591526"/>
              </a:xfrm>
              <a:prstGeom prst="rect">
                <a:avLst/>
              </a:prstGeom>
              <a:blipFill>
                <a:blip r:embed="rId6"/>
                <a:stretch>
                  <a:fillRect r="-185"/>
                </a:stretch>
              </a:blipFill>
            </p:spPr>
            <p:txBody>
              <a:bodyPr/>
              <a:lstStyle/>
              <a:p>
                <a:r>
                  <a:rPr lang="tr-TR">
                    <a:noFill/>
                  </a:rPr>
                  <a:t> </a:t>
                </a:r>
              </a:p>
            </p:txBody>
          </p:sp>
        </mc:Fallback>
      </mc:AlternateContent>
      <p:sp>
        <p:nvSpPr>
          <p:cNvPr id="57" name="Metin kutusu 56">
            <a:extLst>
              <a:ext uri="{FF2B5EF4-FFF2-40B4-BE49-F238E27FC236}">
                <a16:creationId xmlns:a16="http://schemas.microsoft.com/office/drawing/2014/main" id="{88D4A4D4-A247-4677-B31C-CBA71ECBABD4}"/>
              </a:ext>
            </a:extLst>
          </p:cNvPr>
          <p:cNvSpPr txBox="1"/>
          <p:nvPr/>
        </p:nvSpPr>
        <p:spPr>
          <a:xfrm>
            <a:off x="71134" y="4780450"/>
            <a:ext cx="3348857" cy="553998"/>
          </a:xfrm>
          <a:prstGeom prst="rect">
            <a:avLst/>
          </a:prstGeom>
          <a:noFill/>
        </p:spPr>
        <p:txBody>
          <a:bodyPr wrap="square" rtlCol="0">
            <a:spAutoFit/>
          </a:bodyPr>
          <a:lstStyle/>
          <a:p>
            <a:r>
              <a:rPr lang="tr-TR" sz="1000" noProof="1">
                <a:cs typeface="Arial" panose="020B0604020202020204" pitchFamily="34" charset="0"/>
              </a:rPr>
              <a:t>Rıfat Dede`nin bahçesinde tavuk ve tavşanlar bulunmaktadır. Toplam 48 tane hayvan ve 120 ayak bulunduğuna göre tavuk sayısı tavşan sayısından kaç fazladır?</a:t>
            </a:r>
            <a:endParaRPr lang="tr-TR" sz="900" b="1" noProof="1">
              <a:cs typeface="Arial" panose="020B0604020202020204" pitchFamily="34" charset="0"/>
            </a:endParaRPr>
          </a:p>
        </p:txBody>
      </p:sp>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7F054A46-A7CC-4D6E-A899-8781DBF66AA9}"/>
                  </a:ext>
                </a:extLst>
              </p:cNvPr>
              <p:cNvSpPr txBox="1"/>
              <p:nvPr/>
            </p:nvSpPr>
            <p:spPr>
              <a:xfrm>
                <a:off x="-6057" y="6756663"/>
                <a:ext cx="3348857" cy="1938992"/>
              </a:xfrm>
              <a:prstGeom prst="rect">
                <a:avLst/>
              </a:prstGeom>
              <a:noFill/>
            </p:spPr>
            <p:txBody>
              <a:bodyPr wrap="square" rtlCol="0">
                <a:spAutoFit/>
              </a:bodyPr>
              <a:lstStyle/>
              <a:p>
                <a:r>
                  <a:rPr lang="tr-TR" sz="1000" noProof="1">
                    <a:cs typeface="Arial" panose="020B0604020202020204" pitchFamily="34" charset="0"/>
                  </a:rPr>
                  <a:t>Tavşanda 4, tavukta 2 ayak bulunur. Tavşan sayısına x dersek, toplamları 48 olduğundan tavuk sayısına 48-x dememiz gerekir. </a:t>
                </a:r>
                <a:r>
                  <a:rPr lang="tr-TR" sz="1000" b="1" noProof="1">
                    <a:cs typeface="Arial" panose="020B0604020202020204" pitchFamily="34" charset="0"/>
                  </a:rPr>
                  <a:t> </a:t>
                </a:r>
                <a:r>
                  <a:rPr lang="tr-TR" sz="1000" noProof="1">
                    <a:cs typeface="Arial" panose="020B0604020202020204" pitchFamily="34" charset="0"/>
                  </a:rPr>
                  <a:t>Tavşanda 4 ayak olduğu için 4 ile , tavuk sayısınıda 2 ayaklı olduğundan 2 ile çarparak toplam ayak sayısını bulalım.</a:t>
                </a:r>
              </a:p>
              <a:p>
                <a:endParaRPr lang="tr-TR" sz="1000" noProof="1">
                  <a:cs typeface="Arial" panose="020B0604020202020204" pitchFamily="34" charset="0"/>
                </a:endParaRPr>
              </a:p>
              <a:p>
                <a:r>
                  <a:rPr lang="tr-TR" sz="1000" noProof="1">
                    <a:cs typeface="Arial" panose="020B0604020202020204" pitchFamily="34" charset="0"/>
                  </a:rPr>
                  <a:t>4.x + 2 (48-x) = 120     2x + 96 = 120    2x = 24 </a:t>
                </a:r>
                <a14:m>
                  <m:oMath xmlns:m="http://schemas.openxmlformats.org/officeDocument/2006/math">
                    <m:r>
                      <a:rPr lang="tr-TR" sz="1000" b="0" i="0" noProof="1" smtClean="0">
                        <a:latin typeface="Cambria Math" panose="02040503050406030204" pitchFamily="18" charset="0"/>
                      </a:rPr>
                      <m:t>⇒</m:t>
                    </m:r>
                  </m:oMath>
                </a14:m>
                <a:r>
                  <a:rPr lang="tr-TR" sz="1000" noProof="1">
                    <a:cs typeface="Arial" panose="020B0604020202020204" pitchFamily="34" charset="0"/>
                  </a:rPr>
                  <a:t>  x=12 dir.</a:t>
                </a:r>
              </a:p>
              <a:p>
                <a:endParaRPr lang="tr-TR" sz="1000" noProof="1">
                  <a:cs typeface="Arial" panose="020B0604020202020204" pitchFamily="34" charset="0"/>
                </a:endParaRPr>
              </a:p>
              <a:p>
                <a:r>
                  <a:rPr lang="tr-TR" sz="1000" noProof="1">
                    <a:cs typeface="Arial" panose="020B0604020202020204" pitchFamily="34" charset="0"/>
                  </a:rPr>
                  <a:t>Tavuk sayısı 48-12 = 36      Tavşan sayısı 12  </a:t>
                </a:r>
                <a:r>
                  <a:rPr lang="tr-TR" sz="1000" b="1" noProof="1">
                    <a:cs typeface="Arial" panose="020B0604020202020204" pitchFamily="34" charset="0"/>
                  </a:rPr>
                  <a:t>farkları 24. </a:t>
                </a:r>
              </a:p>
              <a:p>
                <a:endParaRPr lang="tr-TR" sz="1000" b="1" noProof="1">
                  <a:cs typeface="Arial" panose="020B0604020202020204" pitchFamily="34" charset="0"/>
                </a:endParaRPr>
              </a:p>
              <a:p>
                <a14:m>
                  <m:oMath xmlns:m="http://schemas.openxmlformats.org/officeDocument/2006/math">
                    <m:r>
                      <a:rPr lang="tr-TR" sz="1000" b="0" i="0" noProof="1" smtClean="0">
                        <a:latin typeface="Cambria Math" panose="02040503050406030204" pitchFamily="18" charset="0"/>
                      </a:rPr>
                      <m:t>⇒</m:t>
                    </m:r>
                  </m:oMath>
                </a14:m>
                <a:r>
                  <a:rPr lang="tr-TR" sz="1000" b="1" noProof="1">
                    <a:cs typeface="Arial" panose="020B0604020202020204" pitchFamily="34" charset="0"/>
                  </a:rPr>
                  <a:t> sembolünü belki merak etmişsinizdir, bilmiyorsanız şuan öğrenmiş olacaksınız. Mantık konusunda daha çok kullanılır </a:t>
                </a:r>
                <a:r>
                  <a:rPr lang="tr-TR" sz="800" b="1" dirty="0">
                    <a:latin typeface="Arial Narrow" panose="020B0606020202030204" pitchFamily="34" charset="0"/>
                  </a:rPr>
                  <a:t>“</a:t>
                </a:r>
                <a:r>
                  <a:rPr lang="tr-TR" sz="1000" b="1" dirty="0">
                    <a:solidFill>
                      <a:srgbClr val="C00000"/>
                    </a:solidFill>
                    <a:latin typeface="+mj-lt"/>
                  </a:rPr>
                  <a:t>ise</a:t>
                </a:r>
                <a:r>
                  <a:rPr lang="tr-TR" sz="800" b="1" dirty="0">
                    <a:latin typeface="Arial Narrow" panose="020B0606020202030204" pitchFamily="34" charset="0"/>
                  </a:rPr>
                  <a:t>”</a:t>
                </a:r>
                <a:r>
                  <a:rPr lang="tr-TR" sz="1000" b="1" noProof="1">
                    <a:cs typeface="Arial" panose="020B0604020202020204" pitchFamily="34" charset="0"/>
                  </a:rPr>
                  <a:t> anlamındadır ve bir bağlaçtır.</a:t>
                </a:r>
              </a:p>
            </p:txBody>
          </p:sp>
        </mc:Choice>
        <mc:Fallback xmlns="">
          <p:sp>
            <p:nvSpPr>
              <p:cNvPr id="58" name="Metin kutusu 57">
                <a:extLst>
                  <a:ext uri="{FF2B5EF4-FFF2-40B4-BE49-F238E27FC236}">
                    <a16:creationId xmlns:a16="http://schemas.microsoft.com/office/drawing/2014/main" id="{7F054A46-A7CC-4D6E-A899-8781DBF66AA9}"/>
                  </a:ext>
                </a:extLst>
              </p:cNvPr>
              <p:cNvSpPr txBox="1">
                <a:spLocks noRot="1" noChangeAspect="1" noMove="1" noResize="1" noEditPoints="1" noAdjustHandles="1" noChangeArrowheads="1" noChangeShapeType="1" noTextEdit="1"/>
              </p:cNvSpPr>
              <p:nvPr/>
            </p:nvSpPr>
            <p:spPr>
              <a:xfrm>
                <a:off x="-6057" y="6756663"/>
                <a:ext cx="3348857" cy="1938992"/>
              </a:xfrm>
              <a:prstGeom prst="rect">
                <a:avLst/>
              </a:prstGeom>
              <a:blipFill>
                <a:blip r:embed="rId7"/>
                <a:stretch>
                  <a:fillRect b="-1258"/>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EAA2ECFC-E337-48FB-8883-7B129F35FCE1}"/>
              </a:ext>
            </a:extLst>
          </p:cNvPr>
          <p:cNvSpPr txBox="1"/>
          <p:nvPr/>
        </p:nvSpPr>
        <p:spPr>
          <a:xfrm>
            <a:off x="3565603" y="739652"/>
            <a:ext cx="3292397" cy="861774"/>
          </a:xfrm>
          <a:prstGeom prst="rect">
            <a:avLst/>
          </a:prstGeom>
          <a:noFill/>
        </p:spPr>
        <p:txBody>
          <a:bodyPr wrap="square" rtlCol="0">
            <a:spAutoFit/>
          </a:bodyPr>
          <a:lstStyle/>
          <a:p>
            <a:r>
              <a:rPr lang="tr-TR" sz="1000" noProof="1">
                <a:cs typeface="Arial" panose="020B0604020202020204" pitchFamily="34" charset="0"/>
              </a:rPr>
              <a:t>Bir kütüphane kitap ve dergiler için sırasıyla 14 ve 21 gün geri iade süresi sunmaktadır. Bu süre aşıldığında kitap ve dergi için sırasıyla günlük 1 TL ve 0,75 kuruş ücretlendiril-mektedir. Onur, toplamda 21 TL gecikme ücreti ödediğine göre kitabı kaç gün geciktirmiştir?</a:t>
            </a:r>
          </a:p>
        </p:txBody>
      </p:sp>
      <mc:AlternateContent xmlns:mc="http://schemas.openxmlformats.org/markup-compatibility/2006" xmlns:a14="http://schemas.microsoft.com/office/drawing/2010/main">
        <mc:Choice Requires="a14">
          <p:sp>
            <p:nvSpPr>
              <p:cNvPr id="62" name="Metin kutusu 61">
                <a:extLst>
                  <a:ext uri="{FF2B5EF4-FFF2-40B4-BE49-F238E27FC236}">
                    <a16:creationId xmlns:a16="http://schemas.microsoft.com/office/drawing/2014/main" id="{2D0BCC3F-4124-45B1-A564-9CC92172A6A3}"/>
                  </a:ext>
                </a:extLst>
              </p:cNvPr>
              <p:cNvSpPr txBox="1"/>
              <p:nvPr/>
            </p:nvSpPr>
            <p:spPr>
              <a:xfrm>
                <a:off x="3582474" y="2440887"/>
                <a:ext cx="3292397" cy="2524345"/>
              </a:xfrm>
              <a:prstGeom prst="rect">
                <a:avLst/>
              </a:prstGeom>
              <a:noFill/>
            </p:spPr>
            <p:txBody>
              <a:bodyPr wrap="square" rtlCol="0">
                <a:spAutoFit/>
              </a:bodyPr>
              <a:lstStyle/>
              <a:p>
                <a:r>
                  <a:rPr lang="tr-TR" sz="1000" noProof="1">
                    <a:cs typeface="Arial" panose="020B0604020202020204" pitchFamily="34" charset="0"/>
                  </a:rPr>
                  <a:t>Gecikme ücretleri ödendiğine göre 14 ve 21 gün teslim sürelerinin her ikiside aşılmıştır. x günde geri götürülmüş olsun x &gt; 21 diyebiliriz. </a:t>
                </a:r>
              </a:p>
              <a:p>
                <a:endParaRPr lang="tr-TR" sz="1000" noProof="1">
                  <a:cs typeface="Arial" panose="020B0604020202020204" pitchFamily="34" charset="0"/>
                </a:endParaRPr>
              </a:p>
              <a:p>
                <a:r>
                  <a:rPr lang="tr-TR" sz="1000" noProof="1">
                    <a:cs typeface="Arial" panose="020B0604020202020204" pitchFamily="34" charset="0"/>
                  </a:rPr>
                  <a:t>Kitap için gecikme günü (x-14)</a:t>
                </a:r>
              </a:p>
              <a:p>
                <a:r>
                  <a:rPr lang="tr-TR" sz="1000" noProof="1">
                    <a:cs typeface="Arial" panose="020B0604020202020204" pitchFamily="34" charset="0"/>
                  </a:rPr>
                  <a:t>Dergi için gecikme günü (x-21) olacaktır. 0,75 kuruşu TL ye çevirirsek 3/4 yapacaktır.  Kitap gecikmesini 1 ile, dergi gecikme gününü 3/4 ile çarpıp 21 TL`ye eşitleriz. </a:t>
                </a:r>
              </a:p>
              <a:p>
                <a:endParaRPr lang="tr-TR" sz="1000" noProof="1">
                  <a:cs typeface="Arial" panose="020B0604020202020204" pitchFamily="34" charset="0"/>
                </a:endParaRPr>
              </a:p>
              <a:p>
                <a:r>
                  <a:rPr lang="tr-TR" sz="1000" noProof="1">
                    <a:cs typeface="Arial" panose="020B0604020202020204" pitchFamily="34" charset="0"/>
                  </a:rPr>
                  <a:t>(x-14) . 1 +  (x-21) . </a:t>
                </a:r>
                <a:r>
                  <a:rPr lang="tr-TR" sz="1000" b="1" noProof="1"/>
                  <a:t> </a:t>
                </a:r>
                <a14:m>
                  <m:oMath xmlns:m="http://schemas.openxmlformats.org/officeDocument/2006/math">
                    <m:f>
                      <m:fPr>
                        <m:ctrlPr>
                          <a:rPr lang="tr-TR" sz="700" b="1" i="1" noProof="1">
                            <a:latin typeface="Cambria Math" panose="02040503050406030204" pitchFamily="18" charset="0"/>
                          </a:rPr>
                        </m:ctrlPr>
                      </m:fPr>
                      <m:num>
                        <m:r>
                          <m:rPr>
                            <m:nor/>
                          </m:rPr>
                          <a:rPr lang="tr-TR" sz="700" noProof="1" smtClean="0">
                            <a:latin typeface="Helvetica" panose="020B0604020202020204" pitchFamily="34" charset="0"/>
                            <a:cs typeface="Helvetica" panose="020B0604020202020204" pitchFamily="34" charset="0"/>
                          </a:rPr>
                          <m:t>3</m:t>
                        </m:r>
                      </m:num>
                      <m:den>
                        <m:r>
                          <m:rPr>
                            <m:nor/>
                          </m:rPr>
                          <a:rPr lang="tr-TR" sz="700" b="0" i="0" noProof="1" smtClean="0">
                            <a:latin typeface="Helvetica" panose="020B0604020202020204" pitchFamily="34" charset="0"/>
                            <a:cs typeface="Helvetica" panose="020B0604020202020204" pitchFamily="34" charset="0"/>
                          </a:rPr>
                          <m:t>4</m:t>
                        </m:r>
                      </m:den>
                    </m:f>
                  </m:oMath>
                </a14:m>
                <a:r>
                  <a:rPr lang="tr-TR" sz="700" noProof="1">
                    <a:cs typeface="Arial" panose="020B0604020202020204" pitchFamily="34" charset="0"/>
                  </a:rPr>
                  <a:t> = </a:t>
                </a:r>
                <a:r>
                  <a:rPr lang="tr-TR" sz="1000" noProof="1">
                    <a:cs typeface="Arial" panose="020B0604020202020204" pitchFamily="34" charset="0"/>
                  </a:rPr>
                  <a:t>21</a:t>
                </a:r>
              </a:p>
              <a:p>
                <a:endParaRPr lang="tr-TR" sz="1000" noProof="1">
                  <a:cs typeface="Arial" panose="020B0604020202020204" pitchFamily="34" charset="0"/>
                </a:endParaRPr>
              </a:p>
              <a:p>
                <a14:m>
                  <m:oMath xmlns:m="http://schemas.openxmlformats.org/officeDocument/2006/math">
                    <m:f>
                      <m:fPr>
                        <m:ctrlPr>
                          <a:rPr lang="tr-TR" sz="1000" i="1" noProof="1" smtClean="0">
                            <a:solidFill>
                              <a:schemeClr val="tx1"/>
                            </a:solidFill>
                            <a:latin typeface="Cambria Math" panose="02040503050406030204" pitchFamily="18" charset="0"/>
                          </a:rPr>
                        </m:ctrlPr>
                      </m:fPr>
                      <m:num>
                        <m:r>
                          <m:rPr>
                            <m:nor/>
                          </m:rPr>
                          <a:rPr lang="tr-TR" sz="1000" i="0" noProof="1" smtClean="0">
                            <a:solidFill>
                              <a:schemeClr val="tx1"/>
                            </a:solidFill>
                            <a:latin typeface="Helvetica" panose="020B0604020202020204" pitchFamily="34" charset="0"/>
                            <a:cs typeface="Helvetica" panose="020B0604020202020204" pitchFamily="34" charset="0"/>
                          </a:rPr>
                          <m:t>4</m:t>
                        </m:r>
                        <m:r>
                          <m:rPr>
                            <m:nor/>
                          </m:rPr>
                          <a:rPr lang="tr-TR" sz="1000" i="0" noProof="1" smtClean="0">
                            <a:solidFill>
                              <a:schemeClr val="tx1"/>
                            </a:solidFill>
                            <a:latin typeface="Helvetica" panose="020B0604020202020204" pitchFamily="34" charset="0"/>
                            <a:cs typeface="Helvetica" panose="020B0604020202020204" pitchFamily="34" charset="0"/>
                          </a:rPr>
                          <m:t>x</m:t>
                        </m:r>
                        <m:r>
                          <m:rPr>
                            <m:nor/>
                          </m:rPr>
                          <a:rPr lang="tr-TR" sz="1000" i="0" noProof="1" smtClean="0">
                            <a:solidFill>
                              <a:schemeClr val="tx1"/>
                            </a:solidFill>
                            <a:latin typeface="Helvetica" panose="020B0604020202020204" pitchFamily="34" charset="0"/>
                            <a:cs typeface="Helvetica" panose="020B0604020202020204" pitchFamily="34" charset="0"/>
                          </a:rPr>
                          <m:t>−56+3</m:t>
                        </m:r>
                        <m:r>
                          <m:rPr>
                            <m:nor/>
                          </m:rPr>
                          <a:rPr lang="tr-TR" sz="1000" i="0" noProof="1" smtClean="0">
                            <a:solidFill>
                              <a:schemeClr val="tx1"/>
                            </a:solidFill>
                            <a:latin typeface="Helvetica" panose="020B0604020202020204" pitchFamily="34" charset="0"/>
                            <a:cs typeface="Helvetica" panose="020B0604020202020204" pitchFamily="34" charset="0"/>
                          </a:rPr>
                          <m:t>x</m:t>
                        </m:r>
                        <m:r>
                          <m:rPr>
                            <m:nor/>
                          </m:rPr>
                          <a:rPr lang="tr-TR" sz="1000" i="0" noProof="1" smtClean="0">
                            <a:solidFill>
                              <a:schemeClr val="tx1"/>
                            </a:solidFill>
                            <a:latin typeface="Helvetica" panose="020B0604020202020204" pitchFamily="34" charset="0"/>
                            <a:cs typeface="Helvetica" panose="020B0604020202020204" pitchFamily="34" charset="0"/>
                          </a:rPr>
                          <m:t>−63</m:t>
                        </m:r>
                      </m:num>
                      <m:den>
                        <m:r>
                          <m:rPr>
                            <m:nor/>
                          </m:rPr>
                          <a:rPr lang="tr-TR" sz="1000" i="0" noProof="1" smtClean="0">
                            <a:solidFill>
                              <a:schemeClr val="tx1"/>
                            </a:solidFill>
                            <a:latin typeface="Helvetica" panose="020B0604020202020204" pitchFamily="34" charset="0"/>
                            <a:cs typeface="Helvetica" panose="020B0604020202020204" pitchFamily="34" charset="0"/>
                          </a:rPr>
                          <m:t>4</m:t>
                        </m:r>
                      </m:den>
                    </m:f>
                    <m:r>
                      <a:rPr lang="tr-TR" sz="1000" i="1" noProof="1" smtClean="0">
                        <a:latin typeface="Cambria Math" panose="02040503050406030204" pitchFamily="18" charset="0"/>
                      </a:rPr>
                      <m:t>=</m:t>
                    </m:r>
                    <m:r>
                      <m:rPr>
                        <m:nor/>
                      </m:rPr>
                      <a:rPr lang="tr-TR" sz="1000" b="1" i="0" noProof="1" smtClean="0">
                        <a:latin typeface="+mj-lt"/>
                      </a:rPr>
                      <m:t>21</m:t>
                    </m:r>
                  </m:oMath>
                </a14:m>
                <a:r>
                  <a:rPr lang="tr-TR" sz="1000" noProof="1">
                    <a:cs typeface="Arial" panose="020B0604020202020204" pitchFamily="34" charset="0"/>
                  </a:rPr>
                  <a:t>       </a:t>
                </a:r>
                <a14:m>
                  <m:oMath xmlns:m="http://schemas.openxmlformats.org/officeDocument/2006/math">
                    <m:r>
                      <m:rPr>
                        <m:nor/>
                      </m:rPr>
                      <a:rPr lang="tr-TR" sz="1000" noProof="1"/>
                      <m:t>7</m:t>
                    </m:r>
                    <m:r>
                      <m:rPr>
                        <m:nor/>
                      </m:rPr>
                      <a:rPr lang="tr-TR" sz="1000" noProof="1"/>
                      <m:t>x</m:t>
                    </m:r>
                    <m:r>
                      <m:rPr>
                        <m:nor/>
                      </m:rPr>
                      <a:rPr lang="tr-TR" sz="1000" noProof="1"/>
                      <m:t>−119=84</m:t>
                    </m:r>
                  </m:oMath>
                </a14:m>
                <a:r>
                  <a:rPr lang="tr-TR" sz="1000" noProof="1">
                    <a:cs typeface="Arial" panose="020B0604020202020204" pitchFamily="34" charset="0"/>
                  </a:rPr>
                  <a:t>    7x = 203  , x = 29</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29 gün sonra götürmüş olduğunu anlamış olduk. 14 günden sonraki her gün cezalandırılıyor kitap için. 29-14 = 15 sonuç. </a:t>
                </a:r>
              </a:p>
            </p:txBody>
          </p:sp>
        </mc:Choice>
        <mc:Fallback xmlns="">
          <p:sp>
            <p:nvSpPr>
              <p:cNvPr id="62" name="Metin kutusu 61">
                <a:extLst>
                  <a:ext uri="{FF2B5EF4-FFF2-40B4-BE49-F238E27FC236}">
                    <a16:creationId xmlns:a16="http://schemas.microsoft.com/office/drawing/2014/main" id="{2D0BCC3F-4124-45B1-A564-9CC92172A6A3}"/>
                  </a:ext>
                </a:extLst>
              </p:cNvPr>
              <p:cNvSpPr txBox="1">
                <a:spLocks noRot="1" noChangeAspect="1" noMove="1" noResize="1" noEditPoints="1" noAdjustHandles="1" noChangeArrowheads="1" noChangeShapeType="1" noTextEdit="1"/>
              </p:cNvSpPr>
              <p:nvPr/>
            </p:nvSpPr>
            <p:spPr>
              <a:xfrm>
                <a:off x="3582474" y="2440887"/>
                <a:ext cx="3292397" cy="2524345"/>
              </a:xfrm>
              <a:prstGeom prst="rect">
                <a:avLst/>
              </a:prstGeom>
              <a:blipFill>
                <a:blip r:embed="rId8"/>
                <a:stretch>
                  <a:fillRect b="-482"/>
                </a:stretch>
              </a:blipFill>
            </p:spPr>
            <p:txBody>
              <a:bodyPr/>
              <a:lstStyle/>
              <a:p>
                <a:r>
                  <a:rPr lang="tr-TR">
                    <a:noFill/>
                  </a:rPr>
                  <a:t> </a:t>
                </a:r>
              </a:p>
            </p:txBody>
          </p:sp>
        </mc:Fallback>
      </mc:AlternateContent>
      <p:sp>
        <p:nvSpPr>
          <p:cNvPr id="6" name="Dikdörtgen: Köşeleri Yuvarlatılmış 5">
            <a:extLst>
              <a:ext uri="{FF2B5EF4-FFF2-40B4-BE49-F238E27FC236}">
                <a16:creationId xmlns:a16="http://schemas.microsoft.com/office/drawing/2014/main" id="{562DC78D-C84C-4493-9ACA-4D35C7948187}"/>
              </a:ext>
            </a:extLst>
          </p:cNvPr>
          <p:cNvSpPr/>
          <p:nvPr/>
        </p:nvSpPr>
        <p:spPr>
          <a:xfrm>
            <a:off x="3596404" y="5321169"/>
            <a:ext cx="3114353" cy="2375524"/>
          </a:xfrm>
          <a:prstGeom prst="roundRect">
            <a:avLst/>
          </a:prstGeom>
          <a:solidFill>
            <a:schemeClr val="accent4">
              <a:lumMod val="20000"/>
              <a:lumOff val="8000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Ok: Aşağı 68">
            <a:extLst>
              <a:ext uri="{FF2B5EF4-FFF2-40B4-BE49-F238E27FC236}">
                <a16:creationId xmlns:a16="http://schemas.microsoft.com/office/drawing/2014/main" id="{2A1BC1CB-5D89-4E6A-A118-56681219B013}"/>
              </a:ext>
            </a:extLst>
          </p:cNvPr>
          <p:cNvSpPr/>
          <p:nvPr/>
        </p:nvSpPr>
        <p:spPr>
          <a:xfrm rot="16200000">
            <a:off x="4997410" y="5359007"/>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0" name="Ok: Aşağı 69">
            <a:extLst>
              <a:ext uri="{FF2B5EF4-FFF2-40B4-BE49-F238E27FC236}">
                <a16:creationId xmlns:a16="http://schemas.microsoft.com/office/drawing/2014/main" id="{A2AF1C51-882F-4224-8B05-97DE7B151A11}"/>
              </a:ext>
            </a:extLst>
          </p:cNvPr>
          <p:cNvSpPr/>
          <p:nvPr/>
        </p:nvSpPr>
        <p:spPr>
          <a:xfrm rot="16200000">
            <a:off x="4997410" y="6121746"/>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1" name="Ok: Aşağı 70">
            <a:extLst>
              <a:ext uri="{FF2B5EF4-FFF2-40B4-BE49-F238E27FC236}">
                <a16:creationId xmlns:a16="http://schemas.microsoft.com/office/drawing/2014/main" id="{1776A184-D5E2-459E-985A-59B2574A6858}"/>
              </a:ext>
            </a:extLst>
          </p:cNvPr>
          <p:cNvSpPr/>
          <p:nvPr/>
        </p:nvSpPr>
        <p:spPr>
          <a:xfrm rot="16200000">
            <a:off x="4994595" y="6860784"/>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3" name="Akış Çizelgesi: Depolanmış Veri 72">
            <a:extLst>
              <a:ext uri="{FF2B5EF4-FFF2-40B4-BE49-F238E27FC236}">
                <a16:creationId xmlns:a16="http://schemas.microsoft.com/office/drawing/2014/main" id="{D22329AA-B5C2-48B2-B3D6-BDC3D18504F4}"/>
              </a:ext>
            </a:extLst>
          </p:cNvPr>
          <p:cNvSpPr/>
          <p:nvPr/>
        </p:nvSpPr>
        <p:spPr>
          <a:xfrm rot="10800000">
            <a:off x="3717031" y="5568381"/>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74" name="Akış Çizelgesi: Depolanmış Veri 73">
            <a:extLst>
              <a:ext uri="{FF2B5EF4-FFF2-40B4-BE49-F238E27FC236}">
                <a16:creationId xmlns:a16="http://schemas.microsoft.com/office/drawing/2014/main" id="{EA835BB7-E225-41E8-80A5-637C877DBA76}"/>
              </a:ext>
            </a:extLst>
          </p:cNvPr>
          <p:cNvSpPr/>
          <p:nvPr/>
        </p:nvSpPr>
        <p:spPr>
          <a:xfrm rot="10800000">
            <a:off x="3713671" y="6292331"/>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75" name="Akış Çizelgesi: Depolanmış Veri 74">
            <a:extLst>
              <a:ext uri="{FF2B5EF4-FFF2-40B4-BE49-F238E27FC236}">
                <a16:creationId xmlns:a16="http://schemas.microsoft.com/office/drawing/2014/main" id="{27F6DC7E-39BC-4FFC-9564-D2A6F3DA2B30}"/>
              </a:ext>
            </a:extLst>
          </p:cNvPr>
          <p:cNvSpPr/>
          <p:nvPr/>
        </p:nvSpPr>
        <p:spPr>
          <a:xfrm rot="10800000">
            <a:off x="3711705" y="7010123"/>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76" name="Metin kutusu 75">
            <a:extLst>
              <a:ext uri="{FF2B5EF4-FFF2-40B4-BE49-F238E27FC236}">
                <a16:creationId xmlns:a16="http://schemas.microsoft.com/office/drawing/2014/main" id="{E0BE850A-35AF-44A2-8D9E-6B4149AA847B}"/>
              </a:ext>
            </a:extLst>
          </p:cNvPr>
          <p:cNvSpPr txBox="1"/>
          <p:nvPr/>
        </p:nvSpPr>
        <p:spPr>
          <a:xfrm>
            <a:off x="3776662" y="5565481"/>
            <a:ext cx="929948" cy="400110"/>
          </a:xfrm>
          <a:prstGeom prst="rect">
            <a:avLst/>
          </a:prstGeom>
          <a:noFill/>
        </p:spPr>
        <p:txBody>
          <a:bodyPr wrap="square" rtlCol="0">
            <a:spAutoFit/>
          </a:bodyPr>
          <a:lstStyle/>
          <a:p>
            <a:pPr algn="ctr"/>
            <a:r>
              <a:rPr lang="tr-TR" sz="1000" b="1" noProof="1">
                <a:cs typeface="Arial" panose="020B0604020202020204" pitchFamily="34" charset="0"/>
              </a:rPr>
              <a:t>Konu</a:t>
            </a:r>
          </a:p>
          <a:p>
            <a:pPr algn="ctr"/>
            <a:r>
              <a:rPr lang="tr-TR" sz="1000" b="1" noProof="1">
                <a:cs typeface="Arial" panose="020B0604020202020204" pitchFamily="34" charset="0"/>
              </a:rPr>
              <a:t> Anlatım</a:t>
            </a:r>
            <a:endParaRPr lang="tr-TR" sz="900" b="1" noProof="1">
              <a:cs typeface="Arial" panose="020B0604020202020204" pitchFamily="34" charset="0"/>
            </a:endParaRPr>
          </a:p>
        </p:txBody>
      </p:sp>
      <p:sp>
        <p:nvSpPr>
          <p:cNvPr id="77" name="Metin kutusu 76">
            <a:extLst>
              <a:ext uri="{FF2B5EF4-FFF2-40B4-BE49-F238E27FC236}">
                <a16:creationId xmlns:a16="http://schemas.microsoft.com/office/drawing/2014/main" id="{1FCF251D-5EDC-48F4-968B-E38882E5666E}"/>
              </a:ext>
            </a:extLst>
          </p:cNvPr>
          <p:cNvSpPr txBox="1"/>
          <p:nvPr/>
        </p:nvSpPr>
        <p:spPr>
          <a:xfrm>
            <a:off x="3776662" y="6286173"/>
            <a:ext cx="929948" cy="400110"/>
          </a:xfrm>
          <a:prstGeom prst="rect">
            <a:avLst/>
          </a:prstGeom>
          <a:noFill/>
        </p:spPr>
        <p:txBody>
          <a:bodyPr wrap="square" rtlCol="0">
            <a:spAutoFit/>
          </a:bodyPr>
          <a:lstStyle/>
          <a:p>
            <a:pPr algn="ctr"/>
            <a:r>
              <a:rPr lang="tr-TR" sz="1000" b="1" noProof="1">
                <a:cs typeface="Arial" panose="020B0604020202020204" pitchFamily="34" charset="0"/>
              </a:rPr>
              <a:t>1-10.Sorular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78" name="Metin kutusu 77">
            <a:extLst>
              <a:ext uri="{FF2B5EF4-FFF2-40B4-BE49-F238E27FC236}">
                <a16:creationId xmlns:a16="http://schemas.microsoft.com/office/drawing/2014/main" id="{51FCABEA-ED5B-4C8C-89D5-F394FEC4F816}"/>
              </a:ext>
            </a:extLst>
          </p:cNvPr>
          <p:cNvSpPr txBox="1"/>
          <p:nvPr/>
        </p:nvSpPr>
        <p:spPr>
          <a:xfrm>
            <a:off x="3802645" y="6997463"/>
            <a:ext cx="929948" cy="400110"/>
          </a:xfrm>
          <a:prstGeom prst="rect">
            <a:avLst/>
          </a:prstGeom>
          <a:noFill/>
        </p:spPr>
        <p:txBody>
          <a:bodyPr wrap="square" rtlCol="0">
            <a:spAutoFit/>
          </a:bodyPr>
          <a:lstStyle/>
          <a:p>
            <a:pPr algn="ctr"/>
            <a:r>
              <a:rPr lang="tr-TR" sz="1000" b="1" noProof="1">
                <a:cs typeface="Arial" panose="020B0604020202020204" pitchFamily="34" charset="0"/>
              </a:rPr>
              <a:t>11-20.Sorular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79" name="Metin kutusu 78">
            <a:extLst>
              <a:ext uri="{FF2B5EF4-FFF2-40B4-BE49-F238E27FC236}">
                <a16:creationId xmlns:a16="http://schemas.microsoft.com/office/drawing/2014/main" id="{DEC1199B-E117-4BF4-ACCF-81599C168C5B}"/>
              </a:ext>
            </a:extLst>
          </p:cNvPr>
          <p:cNvSpPr txBox="1"/>
          <p:nvPr/>
        </p:nvSpPr>
        <p:spPr>
          <a:xfrm>
            <a:off x="3567986" y="7677209"/>
            <a:ext cx="3290014" cy="1061829"/>
          </a:xfrm>
          <a:prstGeom prst="rect">
            <a:avLst/>
          </a:prstGeom>
          <a:noFill/>
        </p:spPr>
        <p:txBody>
          <a:bodyPr wrap="square" rtlCol="0">
            <a:spAutoFit/>
          </a:bodyPr>
          <a:lstStyle/>
          <a:p>
            <a:r>
              <a:rPr lang="tr-TR" sz="900" noProof="1">
                <a:cs typeface="Arial" panose="020B0604020202020204" pitchFamily="34" charset="0"/>
              </a:rPr>
              <a:t>Olabildiğince açıklayıcı çözümler sunduk fakat tercih olarak</a:t>
            </a:r>
          </a:p>
          <a:p>
            <a:r>
              <a:rPr lang="tr-TR" sz="900" noProof="1">
                <a:cs typeface="Arial" panose="020B0604020202020204" pitchFamily="34" charset="0"/>
              </a:rPr>
              <a:t>Video çözümünü isteyenler olacaktır. Farklı çözümler olmayacak aşağı yukarı aynı yollardan videolu çözümler izlemek isteyenler yukardaki QR kodları okutarak videolara ücretsiz ulaşabilirler. İlk baştaki tüm soruların çözümlerini video desteğiyle sunacağız. YouTube Ahmet Çelen kanalından izleyebilirsiniz. Bundan sonraki tüm testler sadece video çözümlüdür. İyi çalışmalar diliyorum.</a:t>
            </a:r>
          </a:p>
        </p:txBody>
      </p:sp>
      <p:sp>
        <p:nvSpPr>
          <p:cNvPr id="84" name="Metin kutusu 83">
            <a:extLst>
              <a:ext uri="{FF2B5EF4-FFF2-40B4-BE49-F238E27FC236}">
                <a16:creationId xmlns:a16="http://schemas.microsoft.com/office/drawing/2014/main" id="{24FAB04E-7297-48A5-8AED-6559E4EE1779}"/>
              </a:ext>
            </a:extLst>
          </p:cNvPr>
          <p:cNvSpPr txBox="1"/>
          <p:nvPr/>
        </p:nvSpPr>
        <p:spPr>
          <a:xfrm>
            <a:off x="1025458" y="497438"/>
            <a:ext cx="2293784" cy="523220"/>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“Gereği kadar öğrenin, aşırıya kaçmak yaratıcılığı öldürüyor. Okumanın yanı sıra düşünmek için de kendinize zaman ayırın. Eğitim ve araştırma için yurt dışına çıkın ama sonra muhakkak ülkenize dönün. ”  ~ Aziz Sancar </a:t>
            </a:r>
            <a:endParaRPr lang="tr-TR" sz="700" dirty="0">
              <a:solidFill>
                <a:schemeClr val="bg1"/>
              </a:solidFill>
              <a:latin typeface="Arial Narrow" panose="020B0606020202030204" pitchFamily="34" charset="0"/>
            </a:endParaRPr>
          </a:p>
        </p:txBody>
      </p:sp>
      <p:pic>
        <p:nvPicPr>
          <p:cNvPr id="30" name="Grafik 29">
            <a:extLst>
              <a:ext uri="{FF2B5EF4-FFF2-40B4-BE49-F238E27FC236}">
                <a16:creationId xmlns:a16="http://schemas.microsoft.com/office/drawing/2014/main" id="{27CAA84A-88BC-4D9D-9D4B-F35CC09403F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33256" y="5418356"/>
            <a:ext cx="645654" cy="645654"/>
          </a:xfrm>
          <a:prstGeom prst="rect">
            <a:avLst/>
          </a:prstGeom>
        </p:spPr>
      </p:pic>
      <p:pic>
        <p:nvPicPr>
          <p:cNvPr id="65" name="Grafik 64">
            <a:extLst>
              <a:ext uri="{FF2B5EF4-FFF2-40B4-BE49-F238E27FC236}">
                <a16:creationId xmlns:a16="http://schemas.microsoft.com/office/drawing/2014/main" id="{E9E0D12E-DAFA-4815-8522-B3B06ABE7EF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33256" y="6161197"/>
            <a:ext cx="645654" cy="645654"/>
          </a:xfrm>
          <a:prstGeom prst="rect">
            <a:avLst/>
          </a:prstGeom>
        </p:spPr>
      </p:pic>
      <p:pic>
        <p:nvPicPr>
          <p:cNvPr id="66" name="Grafik 65">
            <a:extLst>
              <a:ext uri="{FF2B5EF4-FFF2-40B4-BE49-F238E27FC236}">
                <a16:creationId xmlns:a16="http://schemas.microsoft.com/office/drawing/2014/main" id="{438EEF5A-AFB0-4674-B82F-7C9694DAAD2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30675" y="6919203"/>
            <a:ext cx="645654" cy="645654"/>
          </a:xfrm>
          <a:prstGeom prst="rect">
            <a:avLst/>
          </a:prstGeom>
        </p:spPr>
      </p:pic>
    </p:spTree>
    <p:extLst>
      <p:ext uri="{BB962C8B-B14F-4D97-AF65-F5344CB8AC3E}">
        <p14:creationId xmlns:p14="http://schemas.microsoft.com/office/powerpoint/2010/main" val="5854150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32633" y="270246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28813" y="641717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2759" y="42639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 name="Dikdörtgen: Köşeleri Yuvarlatılmış 5">
            <a:extLst>
              <a:ext uri="{FF2B5EF4-FFF2-40B4-BE49-F238E27FC236}">
                <a16:creationId xmlns:a16="http://schemas.microsoft.com/office/drawing/2014/main" id="{1D1E4F25-BC99-496A-9048-FC55BA2A1248}"/>
              </a:ext>
            </a:extLst>
          </p:cNvPr>
          <p:cNvSpPr/>
          <p:nvPr/>
        </p:nvSpPr>
        <p:spPr>
          <a:xfrm>
            <a:off x="121831" y="521655"/>
            <a:ext cx="3116280" cy="8111432"/>
          </a:xfrm>
          <a:prstGeom prst="roundRect">
            <a:avLst/>
          </a:prstGeom>
          <a:solidFill>
            <a:schemeClr val="accent4">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261465" y="507495"/>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Özel Tanımlı Sayılar</a:t>
            </a:r>
          </a:p>
        </p:txBody>
      </p:sp>
      <p:sp>
        <p:nvSpPr>
          <p:cNvPr id="58" name="Metin kutusu 57">
            <a:extLst>
              <a:ext uri="{FF2B5EF4-FFF2-40B4-BE49-F238E27FC236}">
                <a16:creationId xmlns:a16="http://schemas.microsoft.com/office/drawing/2014/main" id="{68DE1E1F-54F3-428C-A2CB-30EBB711C765}"/>
              </a:ext>
            </a:extLst>
          </p:cNvPr>
          <p:cNvSpPr txBox="1"/>
          <p:nvPr/>
        </p:nvSpPr>
        <p:spPr>
          <a:xfrm>
            <a:off x="3565603" y="762469"/>
            <a:ext cx="3292397" cy="1169551"/>
          </a:xfrm>
          <a:prstGeom prst="rect">
            <a:avLst/>
          </a:prstGeom>
          <a:noFill/>
        </p:spPr>
        <p:txBody>
          <a:bodyPr wrap="square" rtlCol="0">
            <a:spAutoFit/>
          </a:bodyPr>
          <a:lstStyle/>
          <a:p>
            <a:r>
              <a:rPr lang="tr-TR" sz="1000" noProof="1">
                <a:cs typeface="Arial" panose="020B0604020202020204" pitchFamily="34" charset="0"/>
              </a:rPr>
              <a:t>Herhangi pozitif iki basamaklı bir sayıda rakamlar toplamı bir sayının onlar veya birler basamağında bulunabiliyorsa o </a:t>
            </a:r>
            <a:br>
              <a:rPr lang="tr-TR" sz="1000" noProof="1">
                <a:cs typeface="Arial" panose="020B0604020202020204" pitchFamily="34" charset="0"/>
              </a:rPr>
            </a:br>
            <a:r>
              <a:rPr lang="tr-TR" sz="1000" noProof="1">
                <a:cs typeface="Arial" panose="020B0604020202020204" pitchFamily="34" charset="0"/>
              </a:rPr>
              <a:t>sayılara</a:t>
            </a:r>
            <a:r>
              <a:rPr lang="tr-TR" sz="800" noProof="1">
                <a:cs typeface="Arial" panose="020B0604020202020204" pitchFamily="34" charset="0"/>
              </a:rPr>
              <a:t> </a:t>
            </a:r>
            <a:r>
              <a:rPr lang="tr-TR" sz="800" b="1" i="0" dirty="0">
                <a:effectLst/>
                <a:latin typeface="Arial Narrow" panose="020B0606020202030204" pitchFamily="34" charset="0"/>
              </a:rPr>
              <a:t>“ </a:t>
            </a:r>
            <a:r>
              <a:rPr lang="tr-TR" sz="1000" b="1" noProof="1">
                <a:cs typeface="Arial" panose="020B0604020202020204" pitchFamily="34" charset="0"/>
              </a:rPr>
              <a:t>pozitifizim</a:t>
            </a:r>
            <a:r>
              <a:rPr lang="tr-TR" sz="800" b="1" i="0" dirty="0">
                <a:solidFill>
                  <a:schemeClr val="bg1"/>
                </a:solidFill>
                <a:effectLst/>
                <a:latin typeface="Arial Narrow" panose="020B0606020202030204" pitchFamily="34" charset="0"/>
              </a:rPr>
              <a:t> </a:t>
            </a:r>
            <a:r>
              <a:rPr lang="tr-TR" sz="1000" b="1" noProof="1">
                <a:cs typeface="Arial" panose="020B0604020202020204" pitchFamily="34" charset="0"/>
              </a:rPr>
              <a:t>sayıları</a:t>
            </a:r>
            <a:r>
              <a:rPr lang="tr-TR" sz="1000" b="1" i="0" dirty="0">
                <a:effectLst/>
                <a:latin typeface="Arial Narrow" panose="020B0606020202030204" pitchFamily="34" charset="0"/>
              </a:rPr>
              <a:t> ”</a:t>
            </a:r>
            <a:r>
              <a:rPr lang="tr-TR" sz="1000" noProof="1">
                <a:cs typeface="Arial" panose="020B0604020202020204" pitchFamily="34" charset="0"/>
              </a:rPr>
              <a:t> denir.</a:t>
            </a:r>
          </a:p>
          <a:p>
            <a:endParaRPr lang="tr-TR" sz="1000" noProof="1">
              <a:cs typeface="Arial" panose="020B0604020202020204" pitchFamily="34" charset="0"/>
            </a:endParaRPr>
          </a:p>
          <a:p>
            <a:r>
              <a:rPr lang="tr-TR" sz="1000" b="1" noProof="1">
                <a:cs typeface="Arial" panose="020B0604020202020204" pitchFamily="34" charset="0"/>
              </a:rPr>
              <a:t>Örneğin = 70 bir pozitifizim sayısıdır rakamlar toplamı 7 dir ve onlar basamağında bulunur. Buna göre, kaç tane pozitivizm sayısı vardır?</a:t>
            </a:r>
          </a:p>
        </p:txBody>
      </p:sp>
      <p:sp>
        <p:nvSpPr>
          <p:cNvPr id="60" name="Metin kutusu 59">
            <a:extLst>
              <a:ext uri="{FF2B5EF4-FFF2-40B4-BE49-F238E27FC236}">
                <a16:creationId xmlns:a16="http://schemas.microsoft.com/office/drawing/2014/main" id="{1B77C945-EE9A-4EBA-8A27-D5C766ED120F}"/>
              </a:ext>
            </a:extLst>
          </p:cNvPr>
          <p:cNvSpPr txBox="1"/>
          <p:nvPr/>
        </p:nvSpPr>
        <p:spPr>
          <a:xfrm>
            <a:off x="3562342" y="2961747"/>
            <a:ext cx="3292397" cy="1169551"/>
          </a:xfrm>
          <a:prstGeom prst="rect">
            <a:avLst/>
          </a:prstGeom>
          <a:noFill/>
        </p:spPr>
        <p:txBody>
          <a:bodyPr wrap="square" rtlCol="0">
            <a:spAutoFit/>
          </a:bodyPr>
          <a:lstStyle/>
          <a:p>
            <a:r>
              <a:rPr lang="tr-TR" sz="1000" noProof="1">
                <a:cs typeface="Arial" panose="020B0604020202020204" pitchFamily="34" charset="0"/>
              </a:rPr>
              <a:t>Tanımı verilen sayının elde edilebilmesi için sayının kesinlikle birler basamağında 0 olmalıdır. Onlar basamağında 0 olursa iki basamaklı sayı elde etmez. Sayının rakamlar toplamının birler veya onlar basamağında yer alması toplamada etkisiz elamanla sağlanır. Örneğin 71 sayısının rakamlar toplamı 8 dir ve hiçbir şekilde sayıda bulunmaz. Aradığımız sayılar</a:t>
            </a:r>
          </a:p>
          <a:p>
            <a:r>
              <a:rPr lang="tr-TR" sz="1000" noProof="1">
                <a:cs typeface="Arial" panose="020B0604020202020204" pitchFamily="34" charset="0"/>
              </a:rPr>
              <a:t>10,20,30,40,50,60,70,80,90 sayılarıdır.</a:t>
            </a:r>
          </a:p>
        </p:txBody>
      </p:sp>
      <p:sp>
        <p:nvSpPr>
          <p:cNvPr id="62" name="Metin kutusu 61">
            <a:extLst>
              <a:ext uri="{FF2B5EF4-FFF2-40B4-BE49-F238E27FC236}">
                <a16:creationId xmlns:a16="http://schemas.microsoft.com/office/drawing/2014/main" id="{759B6CB9-9D92-4946-A587-61FDABEEE24B}"/>
              </a:ext>
            </a:extLst>
          </p:cNvPr>
          <p:cNvSpPr txBox="1"/>
          <p:nvPr/>
        </p:nvSpPr>
        <p:spPr>
          <a:xfrm>
            <a:off x="3582474" y="4562666"/>
            <a:ext cx="3304497" cy="1015663"/>
          </a:xfrm>
          <a:prstGeom prst="rect">
            <a:avLst/>
          </a:prstGeom>
          <a:noFill/>
        </p:spPr>
        <p:txBody>
          <a:bodyPr wrap="square" rtlCol="0">
            <a:spAutoFit/>
          </a:bodyPr>
          <a:lstStyle/>
          <a:p>
            <a:r>
              <a:rPr lang="tr-TR" sz="1000" b="1" noProof="1">
                <a:cs typeface="Arial" panose="020B0604020202020204" pitchFamily="34" charset="0"/>
              </a:rPr>
              <a:t>Herhangi iki adet; iki basamaklı sayının rakamlar toplamının karesi, 100 yapıyorsa bu sayılara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yardımsever</a:t>
            </a:r>
            <a:r>
              <a:rPr lang="tr-TR" sz="1000" b="1" i="0" dirty="0">
                <a:effectLst/>
                <a:latin typeface="Arial Narrow" panose="020B0606020202030204" pitchFamily="34" charset="0"/>
              </a:rPr>
              <a:t>”</a:t>
            </a:r>
            <a:r>
              <a:rPr lang="tr-TR" sz="1000" b="1" noProof="1">
                <a:cs typeface="Arial" panose="020B0604020202020204" pitchFamily="34" charset="0"/>
              </a:rPr>
              <a:t> sayılar denir. Buna göre ikili sayı gruplarından hangileri yardımsever sayı grubundandır?</a:t>
            </a:r>
          </a:p>
          <a:p>
            <a:endParaRPr lang="tr-TR" sz="1000" noProof="1">
              <a:cs typeface="Arial" panose="020B0604020202020204" pitchFamily="34" charset="0"/>
            </a:endParaRPr>
          </a:p>
          <a:p>
            <a:r>
              <a:rPr lang="tr-TR" sz="1000" noProof="1">
                <a:cs typeface="Arial" panose="020B0604020202020204" pitchFamily="34" charset="0"/>
              </a:rPr>
              <a:t>A) 12,48          B) 34,59         C) 69,11        D) 28,49    E)15,26</a:t>
            </a:r>
          </a:p>
        </p:txBody>
      </p:sp>
      <mc:AlternateContent xmlns:mc="http://schemas.openxmlformats.org/markup-compatibility/2006" xmlns:a14="http://schemas.microsoft.com/office/drawing/2010/main">
        <mc:Choice Requires="a14">
          <p:sp>
            <p:nvSpPr>
              <p:cNvPr id="66" name="Metin kutusu 65">
                <a:extLst>
                  <a:ext uri="{FF2B5EF4-FFF2-40B4-BE49-F238E27FC236}">
                    <a16:creationId xmlns:a16="http://schemas.microsoft.com/office/drawing/2014/main" id="{750034EE-15F3-4ABA-A1F5-5B9E9C2A5881}"/>
                  </a:ext>
                </a:extLst>
              </p:cNvPr>
              <p:cNvSpPr txBox="1"/>
              <p:nvPr/>
            </p:nvSpPr>
            <p:spPr>
              <a:xfrm>
                <a:off x="3583074" y="6694095"/>
                <a:ext cx="3286161" cy="1938992"/>
              </a:xfrm>
              <a:prstGeom prst="rect">
                <a:avLst/>
              </a:prstGeom>
              <a:noFill/>
            </p:spPr>
            <p:txBody>
              <a:bodyPr wrap="square">
                <a:spAutoFit/>
              </a:bodyPr>
              <a:lstStyle/>
              <a:p>
                <a:r>
                  <a:rPr lang="tr-TR" sz="1000" noProof="1">
                    <a:cs typeface="Arial" panose="020B0604020202020204" pitchFamily="34" charset="0"/>
                  </a:rPr>
                  <a:t>A şıkkına baktığımızda 12 rakamlar toplamı 3 karesi 9, 48 rakamlar toplamı 12 karesi 144   144+9 </a:t>
                </a:r>
                <a14:m>
                  <m:oMath xmlns:m="http://schemas.openxmlformats.org/officeDocument/2006/math">
                    <m:r>
                      <a:rPr lang="tr-TR" sz="1000"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noProof="1">
                    <a:cs typeface="Arial" panose="020B0604020202020204" pitchFamily="34" charset="0"/>
                  </a:rPr>
                  <a:t> 100 dir.</a:t>
                </a:r>
              </a:p>
              <a:p>
                <a:endParaRPr lang="tr-TR" sz="1000" noProof="1">
                  <a:cs typeface="Arial" panose="020B0604020202020204" pitchFamily="34" charset="0"/>
                </a:endParaRPr>
              </a:p>
              <a:p>
                <a:r>
                  <a:rPr lang="tr-TR" sz="1000" noProof="1">
                    <a:cs typeface="Arial" panose="020B0604020202020204" pitchFamily="34" charset="0"/>
                  </a:rPr>
                  <a:t>B için : 49+196 ,    C  için : 225+4  ,  D için :  100+169 ,  </a:t>
                </a:r>
              </a:p>
              <a:p>
                <a:endParaRPr lang="tr-TR" sz="1000" noProof="1">
                  <a:solidFill>
                    <a:srgbClr val="C00000"/>
                  </a:solidFill>
                  <a:cs typeface="Arial" panose="020B0604020202020204" pitchFamily="34" charset="0"/>
                </a:endParaRPr>
              </a:p>
              <a:p>
                <a:r>
                  <a:rPr lang="tr-TR" sz="1000" noProof="1">
                    <a:solidFill>
                      <a:srgbClr val="C00000"/>
                    </a:solidFill>
                    <a:cs typeface="Arial" panose="020B0604020202020204" pitchFamily="34" charset="0"/>
                  </a:rPr>
                  <a:t>E için : 36+64 = 100</a:t>
                </a:r>
              </a:p>
              <a:p>
                <a:br>
                  <a:rPr lang="tr-TR" sz="1000" noProof="1">
                    <a:cs typeface="Arial" panose="020B0604020202020204" pitchFamily="34" charset="0"/>
                  </a:rPr>
                </a:br>
                <a:r>
                  <a:rPr lang="tr-TR" sz="1000" noProof="1">
                    <a:cs typeface="Arial" panose="020B0604020202020204" pitchFamily="34" charset="0"/>
                  </a:rPr>
                  <a:t>Hızlı davranalım, rakamlar toplamı eğer 10 ve üstüne çıkmışsa zaten 100`ü geçmiştir bir daha elde edilemez.</a:t>
                </a:r>
              </a:p>
              <a:p>
                <a:r>
                  <a:rPr lang="tr-TR" sz="1000" noProof="1">
                    <a:cs typeface="Arial" panose="020B0604020202020204" pitchFamily="34" charset="0"/>
                  </a:rPr>
                  <a:t>Çünkü bir rakamın karesi yani pozitif bir sayıyla toplayacağız.</a:t>
                </a:r>
              </a:p>
              <a:p>
                <a:r>
                  <a:rPr lang="tr-TR" sz="1000" noProof="1">
                    <a:cs typeface="Arial" panose="020B0604020202020204" pitchFamily="34" charset="0"/>
                  </a:rPr>
                  <a:t>Soru çeşitliliği bol olabilir, soruda iki basamaklı diye vurgu yaptığınıda unutmayalım. Doğru yanıt E şıkkıdır.</a:t>
                </a:r>
              </a:p>
            </p:txBody>
          </p:sp>
        </mc:Choice>
        <mc:Fallback xmlns="">
          <p:sp>
            <p:nvSpPr>
              <p:cNvPr id="66" name="Metin kutusu 65">
                <a:extLst>
                  <a:ext uri="{FF2B5EF4-FFF2-40B4-BE49-F238E27FC236}">
                    <a16:creationId xmlns:a16="http://schemas.microsoft.com/office/drawing/2014/main" id="{750034EE-15F3-4ABA-A1F5-5B9E9C2A5881}"/>
                  </a:ext>
                </a:extLst>
              </p:cNvPr>
              <p:cNvSpPr txBox="1">
                <a:spLocks noRot="1" noChangeAspect="1" noMove="1" noResize="1" noEditPoints="1" noAdjustHandles="1" noChangeArrowheads="1" noChangeShapeType="1" noTextEdit="1"/>
              </p:cNvSpPr>
              <p:nvPr/>
            </p:nvSpPr>
            <p:spPr>
              <a:xfrm>
                <a:off x="3583074" y="6694095"/>
                <a:ext cx="3286161" cy="1938992"/>
              </a:xfrm>
              <a:prstGeom prst="rect">
                <a:avLst/>
              </a:prstGeom>
              <a:blipFill>
                <a:blip r:embed="rId6"/>
                <a:stretch>
                  <a:fillRect b="-1258"/>
                </a:stretch>
              </a:blipFill>
            </p:spPr>
            <p:txBody>
              <a:bodyPr/>
              <a:lstStyle/>
              <a:p>
                <a:r>
                  <a:rPr lang="tr-TR">
                    <a:noFill/>
                  </a:rPr>
                  <a:t> </a:t>
                </a:r>
              </a:p>
            </p:txBody>
          </p:sp>
        </mc:Fallback>
      </mc:AlternateContent>
      <p:sp>
        <p:nvSpPr>
          <p:cNvPr id="38" name="Metin kutusu 37">
            <a:extLst>
              <a:ext uri="{FF2B5EF4-FFF2-40B4-BE49-F238E27FC236}">
                <a16:creationId xmlns:a16="http://schemas.microsoft.com/office/drawing/2014/main" id="{CEF9C7C6-26A9-4608-8328-4A45909D7B67}"/>
              </a:ext>
            </a:extLst>
          </p:cNvPr>
          <p:cNvSpPr txBox="1"/>
          <p:nvPr/>
        </p:nvSpPr>
        <p:spPr>
          <a:xfrm>
            <a:off x="121831" y="756145"/>
            <a:ext cx="3096345" cy="7802136"/>
          </a:xfrm>
          <a:prstGeom prst="rect">
            <a:avLst/>
          </a:prstGeom>
          <a:noFill/>
        </p:spPr>
        <p:txBody>
          <a:bodyPr wrap="square" rtlCol="0">
            <a:spAutoFit/>
          </a:bodyPr>
          <a:lstStyle/>
          <a:p>
            <a:r>
              <a:rPr lang="tr-TR" sz="1000" noProof="1">
                <a:cs typeface="Arial" panose="020B0604020202020204" pitchFamily="34" charset="0"/>
              </a:rPr>
              <a:t>Son yıllarda sınavların vazgeçilmez haline gelen Özel Tanımlı Sayılar hemen hemen her sınavda yerini almaya başlıyor. Peki nedir bu Özel Tanımlı Sayılar?</a:t>
            </a:r>
          </a:p>
          <a:p>
            <a:endParaRPr lang="tr-TR" sz="1000" b="1" noProof="1">
              <a:cs typeface="Arial" panose="020B0604020202020204" pitchFamily="34" charset="0"/>
            </a:endParaRPr>
          </a:p>
          <a:p>
            <a:r>
              <a:rPr lang="tr-TR" sz="1000" noProof="1">
                <a:cs typeface="Arial" panose="020B0604020202020204" pitchFamily="34" charset="0"/>
              </a:rPr>
              <a:t>Özel Tanımlı Sayılar ; gerçekte herhangi bir ismi olan ya da olmayan, uygun koşullarda  ifadede belirtilen şartları yerine getiren sayılardır. Kitabımızda sizlere hepsi sınav ayarı sorular sunacağız. Böylelikle sınavda veya deneme sınavlarınızda gördüğünüz bu soru tarzıyla yabancı kalmayacak ve çözümü için bir fikriniz olacağını temenni ediyoruz. Belirli şartları belirterek yani bir tanım yaparken bazen sorudaki tanım herkes tarafından anlaşılmayabilir. Uygunsa eğer ki piyasadaki soruların %95`inde çıkmış sorularada baktığımızda da soruda anlatılmak istenen örnekle açıklanır ve böylelikle anlatılmak istenen anlaşılmış ve sorunun çözümüne geçiş mümkün hale gelmektedir. </a:t>
            </a:r>
          </a:p>
          <a:p>
            <a:endParaRPr lang="tr-TR" sz="1000" noProof="1">
              <a:cs typeface="Arial" panose="020B0604020202020204" pitchFamily="34" charset="0"/>
            </a:endParaRPr>
          </a:p>
          <a:p>
            <a:r>
              <a:rPr lang="tr-TR" sz="1000" b="1" noProof="1">
                <a:cs typeface="Arial" panose="020B0604020202020204" pitchFamily="34" charset="0"/>
              </a:rPr>
              <a:t>Peki bu sayıların isimleri nereden geliyor?  </a:t>
            </a:r>
            <a:r>
              <a:rPr lang="tr-TR" sz="1000" noProof="1">
                <a:cs typeface="Arial" panose="020B0604020202020204" pitchFamily="34" charset="0"/>
              </a:rPr>
              <a:t>Bu sayıların isimleri genelde uydurma olur yani gerçekte böyle sayılar yoktur fakat hepsi için genelleme yapamayız. Özel tanımlı sayılar gerçekten vardır. Sınavlarda artık çok çok sorulduğundan ötürü bizde kitabımızda bu konuya gereken ağırlığı vereceğiz. Bu tarz soruları hızlıca çözebilmek için pratiklik gerekebilir ve bu pratikliği size testlerimiz ve çözümlü sorularımızla kazandırmış olacağız. </a:t>
            </a:r>
          </a:p>
          <a:p>
            <a:endParaRPr lang="tr-TR" sz="1000" noProof="1">
              <a:cs typeface="Arial" panose="020B0604020202020204" pitchFamily="34" charset="0"/>
            </a:endParaRPr>
          </a:p>
          <a:p>
            <a:r>
              <a:rPr lang="tr-TR" sz="1100" b="1" noProof="1">
                <a:cs typeface="Arial" panose="020B0604020202020204" pitchFamily="34" charset="0"/>
              </a:rPr>
              <a:t>Bu soruların çözümü için gereksinimler nelerdir? </a:t>
            </a:r>
          </a:p>
          <a:p>
            <a:endParaRPr lang="tr-TR" sz="1000" noProof="1">
              <a:cs typeface="Arial" panose="020B0604020202020204" pitchFamily="34" charset="0"/>
            </a:endParaRPr>
          </a:p>
          <a:p>
            <a:pPr marL="171450" indent="-171450">
              <a:buFont typeface="Arial" panose="020B0604020202020204" pitchFamily="34" charset="0"/>
              <a:buChar char="•"/>
            </a:pPr>
            <a:r>
              <a:rPr lang="tr-TR" sz="1000" noProof="1">
                <a:cs typeface="Arial" panose="020B0604020202020204" pitchFamily="34" charset="0"/>
              </a:rPr>
              <a:t>Öncelikle soruda verilen tanım anlaşılmalıdır.</a:t>
            </a:r>
          </a:p>
          <a:p>
            <a:pPr marL="171450" indent="-171450">
              <a:buFont typeface="Arial" panose="020B0604020202020204" pitchFamily="34" charset="0"/>
              <a:buChar char="•"/>
            </a:pPr>
            <a:r>
              <a:rPr lang="tr-TR" sz="1000" noProof="1">
                <a:cs typeface="Arial" panose="020B0604020202020204" pitchFamily="34" charset="0"/>
              </a:rPr>
              <a:t>Tanımı ve uygun koşullarda istenilen bulunur. </a:t>
            </a:r>
          </a:p>
          <a:p>
            <a:pPr marL="171450" indent="-171450">
              <a:buFont typeface="Arial" panose="020B0604020202020204" pitchFamily="34" charset="0"/>
              <a:buChar char="•"/>
            </a:pPr>
            <a:r>
              <a:rPr lang="tr-TR" sz="1000" noProof="1">
                <a:cs typeface="Arial" panose="020B0604020202020204" pitchFamily="34" charset="0"/>
              </a:rPr>
              <a:t>İstenileni bulduğunuza emin olmalısınız çoğu zaman en büyük iki basamaklı, en küçük üç basamaklı veya kaç tane bu sayıdan vardır gibi soru kalıplarında soruda verdiği tanımı uygun dikkatli kontroller sağlayarak çözümler yapılmalıdır. En çok ihmal edilen kriterlerden biriside tanımda sayının rakamlarının birbirinden farklı olup olmadığıdır. Bu statüye dikkat ederek çözüm yapılmalıdır.</a:t>
            </a:r>
          </a:p>
          <a:p>
            <a:pPr marL="171450" indent="-171450">
              <a:buFont typeface="Arial" panose="020B0604020202020204" pitchFamily="34" charset="0"/>
              <a:buChar char="•"/>
            </a:pPr>
            <a:r>
              <a:rPr lang="tr-TR" sz="1000" noProof="1">
                <a:cs typeface="Arial" panose="020B0604020202020204" pitchFamily="34" charset="0"/>
              </a:rPr>
              <a:t>Soruda verdiği tanım sadece problem bilgisi istemiyor temel kavramlar gibi bağlantılı konularıda bilmek gerekiyor olabilir, kitabımızda belki bunu açıklayamayız fakat videolarımızı izlerseniz bilmesenizde öğrenmiş olursunuz. </a:t>
            </a:r>
          </a:p>
          <a:p>
            <a:pPr marL="171450" indent="-171450">
              <a:buFont typeface="Arial" panose="020B0604020202020204" pitchFamily="34" charset="0"/>
              <a:buChar char="•"/>
            </a:pPr>
            <a:r>
              <a:rPr lang="tr-TR" sz="1000" noProof="1">
                <a:cs typeface="Arial" panose="020B0604020202020204" pitchFamily="34" charset="0"/>
              </a:rPr>
              <a:t>Zaten problemler diye bir konu yoktur sadece okuduklarımızı idrak edip matematiksel dilde ifade edip gerekli işlemleri sağlamaktır. O yüzden temel kavramlar konusunuda biliyor olmanızın faydası olacaktır.</a:t>
            </a:r>
          </a:p>
        </p:txBody>
      </p:sp>
    </p:spTree>
    <p:extLst>
      <p:ext uri="{BB962C8B-B14F-4D97-AF65-F5344CB8AC3E}">
        <p14:creationId xmlns:p14="http://schemas.microsoft.com/office/powerpoint/2010/main" val="29285872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57781" y="6110"/>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3677" y="33140"/>
            <a:ext cx="1706878" cy="207963"/>
          </a:xfrm>
          <a:prstGeom prst="rect">
            <a:avLst/>
          </a:prstGeom>
        </p:spPr>
      </p:pic>
      <p:sp>
        <p:nvSpPr>
          <p:cNvPr id="14" name="Beşgen 13"/>
          <p:cNvSpPr/>
          <p:nvPr/>
        </p:nvSpPr>
        <p:spPr>
          <a:xfrm>
            <a:off x="54661" y="37841"/>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3551" y="22066"/>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54661" y="329275"/>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10037" y="-18615"/>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22526" y="329275"/>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32623" y="4769409"/>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4222" y="3955024"/>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60904" y="8938478"/>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31325" y="8951100"/>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16933" y="8842304"/>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46682" y="8873865"/>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84733" y="8802437"/>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1302" y="22742"/>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906" y="33139"/>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69054" y="417448"/>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44039" y="4018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51005" y="8815368"/>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26870" y="47702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68551" y="49557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77276" y="477026"/>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99098" y="224912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22750" y="504922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64431" y="506777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63248" y="5052388"/>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59662" y="44040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801343" y="45895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10068" y="44040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9098" y="680298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9662" y="4423435"/>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801343" y="4441986"/>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9289" y="4428342"/>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55750" y="759979"/>
            <a:ext cx="3358182" cy="707886"/>
          </a:xfrm>
          <a:prstGeom prst="rect">
            <a:avLst/>
          </a:prstGeom>
          <a:noFill/>
        </p:spPr>
        <p:txBody>
          <a:bodyPr wrap="square" rtlCol="0">
            <a:spAutoFit/>
          </a:bodyPr>
          <a:lstStyle/>
          <a:p>
            <a:r>
              <a:rPr lang="tr-TR" sz="1000" noProof="1">
                <a:cs typeface="Arial" panose="020B0604020202020204" pitchFamily="34" charset="0"/>
              </a:rPr>
              <a:t>Rakamları farklı bir sayı asal çarpanlarına ayrıldığında en küçük </a:t>
            </a:r>
            <a:r>
              <a:rPr lang="tr-TR" sz="1000" u="sng" noProof="1">
                <a:cs typeface="Arial" panose="020B0604020202020204" pitchFamily="34" charset="0"/>
              </a:rPr>
              <a:t>asal böleninin kuvveti  </a:t>
            </a:r>
            <a:r>
              <a:rPr lang="tr-TR" sz="1000" noProof="1">
                <a:cs typeface="Arial" panose="020B0604020202020204" pitchFamily="34" charset="0"/>
              </a:rPr>
              <a:t>sayıyı tam bölüyorsa, o sayılara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asaletli sayılar</a:t>
            </a:r>
            <a:r>
              <a:rPr lang="tr-TR" sz="1000" b="1" i="0" dirty="0">
                <a:effectLst/>
                <a:latin typeface="Arial Narrow" panose="020B0606020202030204" pitchFamily="34" charset="0"/>
              </a:rPr>
              <a:t>”</a:t>
            </a:r>
            <a:r>
              <a:rPr lang="tr-TR" sz="1000" noProof="1">
                <a:cs typeface="Arial" panose="020B0604020202020204" pitchFamily="34" charset="0"/>
              </a:rPr>
              <a:t> denir. Buna göre, iki basamaklı onlar basamağı 9 olan kaç tane asaletli sayı vardır?</a:t>
            </a:r>
          </a:p>
        </p:txBody>
      </p:sp>
      <p:sp>
        <p:nvSpPr>
          <p:cNvPr id="56" name="Ok: Beşgen 55">
            <a:extLst>
              <a:ext uri="{FF2B5EF4-FFF2-40B4-BE49-F238E27FC236}">
                <a16:creationId xmlns:a16="http://schemas.microsoft.com/office/drawing/2014/main" id="{D327283C-46A4-4C86-A990-995946C89AA1}"/>
              </a:ext>
            </a:extLst>
          </p:cNvPr>
          <p:cNvSpPr/>
          <p:nvPr/>
        </p:nvSpPr>
        <p:spPr>
          <a:xfrm>
            <a:off x="3676386" y="19836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72202" y="646848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50090" y="48497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58257" y="5059619"/>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72796" y="44672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71562" y="443158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6.</a:t>
            </a:r>
          </a:p>
        </p:txBody>
      </p:sp>
      <p:sp>
        <p:nvSpPr>
          <p:cNvPr id="4" name="Kaydırma: Yatay 3">
            <a:extLst>
              <a:ext uri="{FF2B5EF4-FFF2-40B4-BE49-F238E27FC236}">
                <a16:creationId xmlns:a16="http://schemas.microsoft.com/office/drawing/2014/main" id="{0E04D564-7191-4F0C-AA0E-EBA35AF9F5C1}"/>
              </a:ext>
            </a:extLst>
          </p:cNvPr>
          <p:cNvSpPr/>
          <p:nvPr/>
        </p:nvSpPr>
        <p:spPr>
          <a:xfrm>
            <a:off x="918757" y="439077"/>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8" name="Metin kutusu 47">
            <a:extLst>
              <a:ext uri="{FF2B5EF4-FFF2-40B4-BE49-F238E27FC236}">
                <a16:creationId xmlns:a16="http://schemas.microsoft.com/office/drawing/2014/main" id="{87206DB5-0584-4056-92A8-2B7C49F4E6C8}"/>
              </a:ext>
            </a:extLst>
          </p:cNvPr>
          <p:cNvSpPr txBox="1"/>
          <p:nvPr/>
        </p:nvSpPr>
        <p:spPr>
          <a:xfrm>
            <a:off x="943737" y="457396"/>
            <a:ext cx="2191914" cy="307777"/>
          </a:xfrm>
          <a:prstGeom prst="rect">
            <a:avLst/>
          </a:prstGeom>
          <a:noFill/>
        </p:spPr>
        <p:txBody>
          <a:bodyPr wrap="square">
            <a:spAutoFit/>
          </a:bodyPr>
          <a:lstStyle/>
          <a:p>
            <a:r>
              <a:rPr lang="tr-TR" sz="700" b="1" i="0" noProof="1">
                <a:solidFill>
                  <a:schemeClr val="bg1"/>
                </a:solidFill>
                <a:effectLst/>
                <a:latin typeface="Arial Narrow" panose="020B0606020202030204" pitchFamily="34" charset="0"/>
              </a:rPr>
              <a:t>“Başarısızlığın nasıl hissettirdiğini anladığınızda, kararlılık başarının peşine düşer.”  - Kobe Bryant</a:t>
            </a:r>
            <a:endParaRPr lang="tr-TR" sz="700" noProof="1">
              <a:solidFill>
                <a:schemeClr val="bg1"/>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51" name="Metin kutusu 50">
                <a:extLst>
                  <a:ext uri="{FF2B5EF4-FFF2-40B4-BE49-F238E27FC236}">
                    <a16:creationId xmlns:a16="http://schemas.microsoft.com/office/drawing/2014/main" id="{9875BED9-87FB-4D7B-8877-7EC800D22E98}"/>
                  </a:ext>
                </a:extLst>
              </p:cNvPr>
              <p:cNvSpPr txBox="1"/>
              <p:nvPr/>
            </p:nvSpPr>
            <p:spPr>
              <a:xfrm>
                <a:off x="32095" y="2521570"/>
                <a:ext cx="3212178" cy="2554545"/>
              </a:xfrm>
              <a:prstGeom prst="rect">
                <a:avLst/>
              </a:prstGeom>
              <a:noFill/>
            </p:spPr>
            <p:txBody>
              <a:bodyPr wrap="square" rtlCol="0">
                <a:spAutoFit/>
              </a:bodyPr>
              <a:lstStyle/>
              <a:p>
                <a:r>
                  <a:rPr lang="tr-TR" sz="1000" noProof="1">
                    <a:solidFill>
                      <a:schemeClr val="tx1"/>
                    </a:solidFill>
                    <a:cs typeface="Arial" panose="020B0604020202020204" pitchFamily="34" charset="0"/>
                  </a:rPr>
                  <a:t>Sayıları sırasıyla asal bölenlerine ayıralım ve asal bölenlerin kuvvetlerini inceleyelim. En küçük asal böleni başa yazacağız ve onun kuvveti eğer 1 se kesin bölünecektir. Çünkü her iki basamaklı sayı 1`e bölünür. 1`den farklı değerler için kontrol edeceğiz.</a:t>
                </a:r>
              </a:p>
              <a:p>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90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i="1" noProof="1" smtClean="0">
                            <a:solidFill>
                              <a:schemeClr val="tx1"/>
                            </a:solidFill>
                            <a:latin typeface="Cambria Math" panose="02040503050406030204" pitchFamily="18" charset="0"/>
                          </a:rPr>
                          <m:t>2</m:t>
                        </m:r>
                      </m:e>
                      <m:sup>
                        <m:r>
                          <a:rPr lang="tr-TR" sz="1000" b="0" i="0" noProof="1" smtClean="0">
                            <a:solidFill>
                              <a:srgbClr val="FF0000"/>
                            </a:solidFill>
                            <a:latin typeface="Cambria Math" panose="02040503050406030204" pitchFamily="18" charset="0"/>
                          </a:rPr>
                          <m:t>1</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m:t>
                        </m:r>
                        <m:r>
                          <a:rPr lang="tr-TR" sz="1000" i="1" noProof="1" smtClean="0">
                            <a:solidFill>
                              <a:schemeClr val="tx1"/>
                            </a:solidFill>
                            <a:latin typeface="Cambria Math" panose="02040503050406030204" pitchFamily="18" charset="0"/>
                          </a:rPr>
                          <m:t>3</m:t>
                        </m:r>
                      </m:e>
                      <m:sup>
                        <m:r>
                          <a:rPr lang="tr-TR" sz="1000" i="1" noProof="1" smtClean="0">
                            <a:solidFill>
                              <a:schemeClr val="tx1"/>
                            </a:solidFill>
                            <a:latin typeface="Cambria Math" panose="02040503050406030204" pitchFamily="18" charset="0"/>
                          </a:rPr>
                          <m:t>2</m:t>
                        </m:r>
                      </m:sup>
                    </m:sSup>
                    <m:r>
                      <a:rPr lang="tr-TR" sz="1000" b="0" i="1" noProof="1" smtClean="0">
                        <a:solidFill>
                          <a:schemeClr val="tx1"/>
                        </a:solidFill>
                        <a:latin typeface="Cambria Math" panose="02040503050406030204" pitchFamily="18" charset="0"/>
                      </a:rPr>
                      <m:t>.</m:t>
                    </m:r>
                    <m:sSup>
                      <m:sSupPr>
                        <m:ctrlPr>
                          <a:rPr lang="tr-TR" sz="1000" i="1" noProof="1" smtClean="0">
                            <a:solidFill>
                              <a:schemeClr val="tx1"/>
                            </a:solidFill>
                            <a:latin typeface="Cambria Math" panose="02040503050406030204" pitchFamily="18" charset="0"/>
                          </a:rPr>
                        </m:ctrlPr>
                      </m:sSupPr>
                      <m:e>
                        <m:r>
                          <a:rPr lang="tr-TR" sz="1000" i="1" noProof="1" smtClean="0">
                            <a:solidFill>
                              <a:schemeClr val="tx1"/>
                            </a:solidFill>
                            <a:latin typeface="Cambria Math" panose="02040503050406030204" pitchFamily="18" charset="0"/>
                          </a:rPr>
                          <m:t>5</m:t>
                        </m:r>
                      </m:e>
                      <m:sup>
                        <m:r>
                          <a:rPr lang="tr-TR" sz="1000" i="1" noProof="1" smtClean="0">
                            <a:solidFill>
                              <a:schemeClr val="tx1"/>
                            </a:solidFill>
                            <a:latin typeface="Cambria Math" panose="02040503050406030204" pitchFamily="18" charset="0"/>
                          </a:rPr>
                          <m:t>1</m:t>
                        </m:r>
                      </m:sup>
                    </m:sSup>
                  </m:oMath>
                </a14:m>
                <a:r>
                  <a:rPr lang="tr-TR" sz="1000" noProof="1">
                    <a:solidFill>
                      <a:schemeClr val="tx1"/>
                    </a:solidFill>
                    <a:cs typeface="Arial" panose="020B0604020202020204" pitchFamily="34" charset="0"/>
                  </a:rPr>
                  <a:t>    </a:t>
                </a:r>
              </a:p>
              <a:p>
                <a:r>
                  <a:rPr lang="tr-TR" sz="1000" noProof="1">
                    <a:solidFill>
                      <a:schemeClr val="tx1"/>
                    </a:solidFill>
                    <a:cs typeface="Arial" panose="020B0604020202020204" pitchFamily="34" charset="0"/>
                  </a:rPr>
                  <a:t>91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7</m:t>
                        </m:r>
                      </m:e>
                      <m:sup>
                        <m:r>
                          <a:rPr lang="tr-TR" sz="1000" b="0" i="0" noProof="1" smtClean="0">
                            <a:solidFill>
                              <a:srgbClr val="FF0000"/>
                            </a:solidFill>
                            <a:latin typeface="Cambria Math" panose="02040503050406030204" pitchFamily="18" charset="0"/>
                          </a:rPr>
                          <m:t>1</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1</m:t>
                        </m:r>
                        <m:r>
                          <a:rPr lang="tr-TR" sz="1000" i="1" noProof="1" smtClean="0">
                            <a:solidFill>
                              <a:schemeClr val="tx1"/>
                            </a:solidFill>
                            <a:latin typeface="Cambria Math" panose="02040503050406030204" pitchFamily="18" charset="0"/>
                          </a:rPr>
                          <m:t>3</m:t>
                        </m:r>
                      </m:e>
                      <m:sup>
                        <m:r>
                          <a:rPr lang="tr-TR" sz="1000" b="0" i="1" noProof="1" smtClean="0">
                            <a:solidFill>
                              <a:schemeClr val="tx1"/>
                            </a:solidFill>
                            <a:latin typeface="Cambria Math" panose="02040503050406030204" pitchFamily="18" charset="0"/>
                          </a:rPr>
                          <m:t>1</m:t>
                        </m:r>
                      </m:sup>
                    </m:sSup>
                  </m:oMath>
                </a14:m>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92 =</a:t>
                </a:r>
                <a:r>
                  <a:rPr lang="tr-TR" sz="1000" noProof="1">
                    <a:solidFill>
                      <a:schemeClr val="tx1"/>
                    </a:solidFill>
                  </a:rPr>
                  <a:t>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i="1" noProof="1" smtClean="0">
                            <a:solidFill>
                              <a:schemeClr val="tx1"/>
                            </a:solidFill>
                            <a:latin typeface="Cambria Math" panose="02040503050406030204" pitchFamily="18" charset="0"/>
                          </a:rPr>
                          <m:t>2</m:t>
                        </m:r>
                      </m:e>
                      <m:sup>
                        <m:r>
                          <a:rPr lang="tr-TR" sz="1000" b="0" i="0" noProof="1" smtClean="0">
                            <a:solidFill>
                              <a:srgbClr val="FF0000"/>
                            </a:solidFill>
                            <a:latin typeface="Cambria Math" panose="02040503050406030204" pitchFamily="18" charset="0"/>
                          </a:rPr>
                          <m:t>2</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23</m:t>
                        </m:r>
                      </m:e>
                      <m:sup>
                        <m:r>
                          <a:rPr lang="tr-TR" sz="1000" b="0" i="1" noProof="1" smtClean="0">
                            <a:solidFill>
                              <a:schemeClr val="tx1"/>
                            </a:solidFill>
                            <a:latin typeface="Cambria Math" panose="02040503050406030204" pitchFamily="18" charset="0"/>
                          </a:rPr>
                          <m:t>1</m:t>
                        </m:r>
                      </m:sup>
                    </m:sSup>
                  </m:oMath>
                </a14:m>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93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3</m:t>
                        </m:r>
                      </m:e>
                      <m:sup>
                        <m:r>
                          <a:rPr lang="tr-TR" sz="1000" b="0" i="0" noProof="1" smtClean="0">
                            <a:solidFill>
                              <a:srgbClr val="FF0000"/>
                            </a:solidFill>
                            <a:latin typeface="Cambria Math" panose="02040503050406030204" pitchFamily="18" charset="0"/>
                          </a:rPr>
                          <m:t>1</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31</m:t>
                        </m:r>
                      </m:e>
                      <m:sup>
                        <m:r>
                          <a:rPr lang="tr-TR" sz="1000" b="0" i="1" noProof="1" smtClean="0">
                            <a:solidFill>
                              <a:schemeClr val="tx1"/>
                            </a:solidFill>
                            <a:latin typeface="Cambria Math" panose="02040503050406030204" pitchFamily="18" charset="0"/>
                          </a:rPr>
                          <m:t>1</m:t>
                        </m:r>
                      </m:sup>
                    </m:sSup>
                  </m:oMath>
                </a14:m>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94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2</m:t>
                        </m:r>
                      </m:e>
                      <m:sup>
                        <m:r>
                          <a:rPr lang="tr-TR" sz="1000" b="0" i="0" noProof="1" smtClean="0">
                            <a:solidFill>
                              <a:srgbClr val="FF0000"/>
                            </a:solidFill>
                            <a:latin typeface="Cambria Math" panose="02040503050406030204" pitchFamily="18" charset="0"/>
                          </a:rPr>
                          <m:t>1</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47</m:t>
                        </m:r>
                      </m:e>
                      <m:sup>
                        <m:r>
                          <a:rPr lang="tr-TR" sz="1000" b="0" i="1" noProof="1" smtClean="0">
                            <a:solidFill>
                              <a:schemeClr val="tx1"/>
                            </a:solidFill>
                            <a:latin typeface="Cambria Math" panose="02040503050406030204" pitchFamily="18" charset="0"/>
                          </a:rPr>
                          <m:t>1</m:t>
                        </m:r>
                      </m:sup>
                    </m:sSup>
                  </m:oMath>
                </a14:m>
                <a:br>
                  <a:rPr lang="tr-TR" sz="1000" noProof="1">
                    <a:solidFill>
                      <a:schemeClr val="tx1"/>
                    </a:solidFill>
                    <a:cs typeface="Arial" panose="020B0604020202020204" pitchFamily="34" charset="0"/>
                  </a:rPr>
                </a:br>
                <a:br>
                  <a:rPr lang="tr-TR" sz="1000" noProof="1">
                    <a:solidFill>
                      <a:schemeClr val="tx1"/>
                    </a:solidFill>
                    <a:cs typeface="Arial" panose="020B0604020202020204" pitchFamily="34" charset="0"/>
                  </a:rPr>
                </a:br>
                <a:r>
                  <a:rPr lang="tr-TR" sz="1000" b="1" noProof="1">
                    <a:solidFill>
                      <a:schemeClr val="tx1"/>
                    </a:solidFill>
                    <a:cs typeface="Arial" panose="020B0604020202020204" pitchFamily="34" charset="0"/>
                  </a:rPr>
                  <a:t>90,91,92,93,94,95,97,98 asaletli sayıdır. 96 sayısının en küçük asal bölenin kuvveti 5 dir ve 96 5`e tam bölünmez. 99 sayısıda rakamları birbirinden farklı değildir, soruda rakamları farklı istenmektedir. 8 tane asaletli sayı vardır.</a:t>
                </a:r>
              </a:p>
            </p:txBody>
          </p:sp>
        </mc:Choice>
        <mc:Fallback xmlns="">
          <p:sp>
            <p:nvSpPr>
              <p:cNvPr id="51" name="Metin kutusu 50">
                <a:extLst>
                  <a:ext uri="{FF2B5EF4-FFF2-40B4-BE49-F238E27FC236}">
                    <a16:creationId xmlns:a16="http://schemas.microsoft.com/office/drawing/2014/main" id="{9875BED9-87FB-4D7B-8877-7EC800D22E98}"/>
                  </a:ext>
                </a:extLst>
              </p:cNvPr>
              <p:cNvSpPr txBox="1">
                <a:spLocks noRot="1" noChangeAspect="1" noMove="1" noResize="1" noEditPoints="1" noAdjustHandles="1" noChangeArrowheads="1" noChangeShapeType="1" noTextEdit="1"/>
              </p:cNvSpPr>
              <p:nvPr/>
            </p:nvSpPr>
            <p:spPr>
              <a:xfrm>
                <a:off x="32095" y="2521570"/>
                <a:ext cx="3212178" cy="2554545"/>
              </a:xfrm>
              <a:prstGeom prst="rect">
                <a:avLst/>
              </a:prstGeom>
              <a:blipFill>
                <a:blip r:embed="rId6"/>
                <a:stretch>
                  <a:fillRect b="-47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7C46F760-A84D-4A07-8739-E047EC91B252}"/>
                  </a:ext>
                </a:extLst>
              </p:cNvPr>
              <p:cNvSpPr txBox="1"/>
              <p:nvPr/>
            </p:nvSpPr>
            <p:spPr>
              <a:xfrm>
                <a:off x="1134781" y="3432261"/>
                <a:ext cx="864096" cy="884986"/>
              </a:xfrm>
              <a:prstGeom prst="rect">
                <a:avLst/>
              </a:prstGeom>
              <a:noFill/>
            </p:spPr>
            <p:txBody>
              <a:bodyPr wrap="square">
                <a:spAutoFit/>
              </a:bodyPr>
              <a:lstStyle/>
              <a:p>
                <a:r>
                  <a:rPr lang="tr-TR" sz="1000" noProof="1">
                    <a:solidFill>
                      <a:schemeClr val="tx1"/>
                    </a:solidFill>
                    <a:cs typeface="Arial" panose="020B0604020202020204" pitchFamily="34" charset="0"/>
                  </a:rPr>
                  <a:t>95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5</m:t>
                        </m:r>
                      </m:e>
                      <m:sup>
                        <m:r>
                          <a:rPr lang="tr-TR" sz="1000" b="0" i="0" noProof="1" smtClean="0">
                            <a:solidFill>
                              <a:srgbClr val="FF0000"/>
                            </a:solidFill>
                            <a:latin typeface="Cambria Math" panose="02040503050406030204" pitchFamily="18" charset="0"/>
                          </a:rPr>
                          <m:t>1</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19</m:t>
                        </m:r>
                      </m:e>
                      <m:sup>
                        <m:r>
                          <a:rPr lang="tr-TR" sz="1000" b="0" i="1" noProof="1" smtClean="0">
                            <a:solidFill>
                              <a:schemeClr val="tx1"/>
                            </a:solidFill>
                            <a:latin typeface="Cambria Math" panose="02040503050406030204" pitchFamily="18" charset="0"/>
                          </a:rPr>
                          <m:t>1</m:t>
                        </m:r>
                      </m:sup>
                    </m:sSup>
                  </m:oMath>
                </a14:m>
                <a:r>
                  <a:rPr lang="tr-TR" sz="1000" noProof="1">
                    <a:solidFill>
                      <a:schemeClr val="tx1"/>
                    </a:solidFill>
                    <a:cs typeface="Arial" panose="020B0604020202020204" pitchFamily="34" charset="0"/>
                  </a:rPr>
                  <a:t> </a:t>
                </a:r>
              </a:p>
              <a:p>
                <a:r>
                  <a:rPr lang="tr-TR" sz="1000" noProof="1">
                    <a:solidFill>
                      <a:schemeClr val="tx1"/>
                    </a:solidFill>
                    <a:cs typeface="Arial" panose="020B0604020202020204" pitchFamily="34" charset="0"/>
                  </a:rPr>
                  <a:t>96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2</m:t>
                        </m:r>
                      </m:e>
                      <m:sup>
                        <m:r>
                          <a:rPr lang="tr-TR" sz="1000" b="0" i="0" noProof="1" smtClean="0">
                            <a:solidFill>
                              <a:srgbClr val="FF0000"/>
                            </a:solidFill>
                            <a:latin typeface="Cambria Math" panose="02040503050406030204" pitchFamily="18" charset="0"/>
                          </a:rPr>
                          <m:t>5</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3</m:t>
                        </m:r>
                      </m:e>
                      <m:sup>
                        <m:r>
                          <a:rPr lang="tr-TR" sz="1000" b="0" i="1" noProof="1" smtClean="0">
                            <a:solidFill>
                              <a:schemeClr val="tx1"/>
                            </a:solidFill>
                            <a:latin typeface="Cambria Math" panose="02040503050406030204" pitchFamily="18" charset="0"/>
                          </a:rPr>
                          <m:t>1</m:t>
                        </m:r>
                      </m:sup>
                    </m:sSup>
                  </m:oMath>
                </a14:m>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97 =</a:t>
                </a:r>
                <a:r>
                  <a:rPr lang="tr-TR" sz="1000" noProof="1">
                    <a:solidFill>
                      <a:schemeClr val="tx1"/>
                    </a:solidFill>
                  </a:rPr>
                  <a:t>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97</m:t>
                        </m:r>
                      </m:e>
                      <m:sup>
                        <m:r>
                          <a:rPr lang="tr-TR" sz="1000" b="0" i="0" noProof="1" smtClean="0">
                            <a:solidFill>
                              <a:srgbClr val="FF0000"/>
                            </a:solidFill>
                            <a:latin typeface="Cambria Math" panose="02040503050406030204" pitchFamily="18" charset="0"/>
                          </a:rPr>
                          <m:t>1</m:t>
                        </m:r>
                      </m:sup>
                    </m:sSup>
                  </m:oMath>
                </a14:m>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98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2</m:t>
                        </m:r>
                      </m:e>
                      <m:sup>
                        <m:r>
                          <a:rPr lang="tr-TR" sz="1000" b="0" i="0" noProof="1" smtClean="0">
                            <a:solidFill>
                              <a:srgbClr val="FF0000"/>
                            </a:solidFill>
                            <a:latin typeface="Cambria Math" panose="02040503050406030204" pitchFamily="18" charset="0"/>
                          </a:rPr>
                          <m:t>1</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7</m:t>
                        </m:r>
                      </m:e>
                      <m:sup>
                        <m:r>
                          <a:rPr lang="tr-TR" sz="1000" b="0" i="1" noProof="1" smtClean="0">
                            <a:solidFill>
                              <a:schemeClr val="tx1"/>
                            </a:solidFill>
                            <a:latin typeface="Cambria Math" panose="02040503050406030204" pitchFamily="18" charset="0"/>
                          </a:rPr>
                          <m:t>2</m:t>
                        </m:r>
                      </m:sup>
                    </m:sSup>
                  </m:oMath>
                </a14:m>
                <a:endParaRPr lang="tr-TR" sz="1000" noProof="1">
                  <a:solidFill>
                    <a:schemeClr val="tx1"/>
                  </a:solidFill>
                  <a:cs typeface="Arial" panose="020B0604020202020204" pitchFamily="34" charset="0"/>
                </a:endParaRPr>
              </a:p>
              <a:p>
                <a:r>
                  <a:rPr lang="tr-TR" sz="1000" noProof="1">
                    <a:solidFill>
                      <a:schemeClr val="tx1"/>
                    </a:solidFill>
                    <a:cs typeface="Arial" panose="020B0604020202020204" pitchFamily="34" charset="0"/>
                  </a:rPr>
                  <a:t>99 = </a:t>
                </a:r>
                <a14:m>
                  <m:oMath xmlns:m="http://schemas.openxmlformats.org/officeDocument/2006/math">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3</m:t>
                        </m:r>
                      </m:e>
                      <m:sup>
                        <m:r>
                          <a:rPr lang="tr-TR" sz="1000" b="0" i="0" noProof="1" smtClean="0">
                            <a:solidFill>
                              <a:srgbClr val="FF0000"/>
                            </a:solidFill>
                            <a:latin typeface="Cambria Math" panose="02040503050406030204" pitchFamily="18" charset="0"/>
                          </a:rPr>
                          <m:t>2</m:t>
                        </m:r>
                      </m:sup>
                    </m:sSup>
                    <m:sSup>
                      <m:sSupPr>
                        <m:ctrlPr>
                          <a:rPr lang="tr-TR" sz="1000" i="1" noProof="1" smtClean="0">
                            <a:solidFill>
                              <a:schemeClr val="tx1"/>
                            </a:solidFill>
                            <a:latin typeface="Cambria Math" panose="02040503050406030204" pitchFamily="18" charset="0"/>
                          </a:rPr>
                        </m:ctrlPr>
                      </m:sSupPr>
                      <m:e>
                        <m:r>
                          <a:rPr lang="tr-TR" sz="1000" b="0" i="1" noProof="1" smtClean="0">
                            <a:solidFill>
                              <a:schemeClr val="tx1"/>
                            </a:solidFill>
                            <a:latin typeface="Cambria Math" panose="02040503050406030204" pitchFamily="18" charset="0"/>
                          </a:rPr>
                          <m:t>. 11</m:t>
                        </m:r>
                      </m:e>
                      <m:sup>
                        <m:r>
                          <a:rPr lang="tr-TR" sz="1000" b="0" i="1" noProof="1" smtClean="0">
                            <a:solidFill>
                              <a:schemeClr val="tx1"/>
                            </a:solidFill>
                            <a:latin typeface="Cambria Math" panose="02040503050406030204" pitchFamily="18" charset="0"/>
                          </a:rPr>
                          <m:t>1</m:t>
                        </m:r>
                      </m:sup>
                    </m:sSup>
                  </m:oMath>
                </a14:m>
                <a:endParaRPr lang="tr-TR" sz="1000" noProof="1">
                  <a:solidFill>
                    <a:schemeClr val="tx1"/>
                  </a:solidFill>
                  <a:cs typeface="Arial" panose="020B0604020202020204" pitchFamily="34" charset="0"/>
                </a:endParaRPr>
              </a:p>
            </p:txBody>
          </p:sp>
        </mc:Choice>
        <mc:Fallback xmlns="">
          <p:sp>
            <p:nvSpPr>
              <p:cNvPr id="57" name="Metin kutusu 56">
                <a:extLst>
                  <a:ext uri="{FF2B5EF4-FFF2-40B4-BE49-F238E27FC236}">
                    <a16:creationId xmlns:a16="http://schemas.microsoft.com/office/drawing/2014/main" id="{7C46F760-A84D-4A07-8739-E047EC91B252}"/>
                  </a:ext>
                </a:extLst>
              </p:cNvPr>
              <p:cNvSpPr txBox="1">
                <a:spLocks noRot="1" noChangeAspect="1" noMove="1" noResize="1" noEditPoints="1" noAdjustHandles="1" noChangeArrowheads="1" noChangeShapeType="1" noTextEdit="1"/>
              </p:cNvSpPr>
              <p:nvPr/>
            </p:nvSpPr>
            <p:spPr>
              <a:xfrm>
                <a:off x="1134781" y="3432261"/>
                <a:ext cx="864096" cy="884986"/>
              </a:xfrm>
              <a:prstGeom prst="rect">
                <a:avLst/>
              </a:prstGeom>
              <a:blipFill>
                <a:blip r:embed="rId7"/>
                <a:stretch>
                  <a:fillRect b="-1379"/>
                </a:stretch>
              </a:blipFill>
            </p:spPr>
            <p:txBody>
              <a:bodyPr/>
              <a:lstStyle/>
              <a:p>
                <a:r>
                  <a:rPr lang="tr-TR">
                    <a:noFill/>
                  </a:rPr>
                  <a:t> </a:t>
                </a:r>
              </a:p>
            </p:txBody>
          </p:sp>
        </mc:Fallback>
      </mc:AlternateContent>
      <p:sp>
        <p:nvSpPr>
          <p:cNvPr id="58" name="Metin kutusu 57">
            <a:extLst>
              <a:ext uri="{FF2B5EF4-FFF2-40B4-BE49-F238E27FC236}">
                <a16:creationId xmlns:a16="http://schemas.microsoft.com/office/drawing/2014/main" id="{287C2F9D-9283-4416-9341-E85B09AFC924}"/>
              </a:ext>
            </a:extLst>
          </p:cNvPr>
          <p:cNvSpPr txBox="1"/>
          <p:nvPr/>
        </p:nvSpPr>
        <p:spPr>
          <a:xfrm>
            <a:off x="54661" y="5333202"/>
            <a:ext cx="3212178" cy="861774"/>
          </a:xfrm>
          <a:prstGeom prst="rect">
            <a:avLst/>
          </a:prstGeom>
          <a:noFill/>
        </p:spPr>
        <p:txBody>
          <a:bodyPr wrap="square" rtlCol="0">
            <a:spAutoFit/>
          </a:bodyPr>
          <a:lstStyle/>
          <a:p>
            <a:r>
              <a:rPr lang="tr-TR" sz="1000" noProof="1">
                <a:solidFill>
                  <a:schemeClr val="tx1"/>
                </a:solidFill>
                <a:cs typeface="Arial" panose="020B0604020202020204" pitchFamily="34" charset="0"/>
              </a:rPr>
              <a:t>Bir asal sayıdan, rakamları çarpımı çıkarıldığında tekrar asal bir sayı elde ediliyorsa bu sayılara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i="0" noProof="1">
                <a:effectLst/>
                <a:latin typeface="Arial Narrow" panose="020B0606020202030204" pitchFamily="34" charset="0"/>
                <a:cs typeface="Arial" panose="020B0604020202020204" pitchFamily="34" charset="0"/>
              </a:rPr>
              <a:t>çifte</a:t>
            </a:r>
            <a:r>
              <a:rPr lang="tr-TR" sz="1000" b="1" noProof="1">
                <a:cs typeface="Arial" panose="020B0604020202020204" pitchFamily="34" charset="0"/>
              </a:rPr>
              <a:t> asal</a:t>
            </a:r>
            <a:r>
              <a:rPr lang="tr-TR" sz="1000" b="1" i="0" dirty="0">
                <a:effectLst/>
                <a:latin typeface="Arial Narrow" panose="020B0606020202030204" pitchFamily="34" charset="0"/>
              </a:rPr>
              <a:t>”</a:t>
            </a:r>
            <a:r>
              <a:rPr lang="tr-TR" sz="1000" noProof="1">
                <a:cs typeface="Arial" panose="020B0604020202020204" pitchFamily="34" charset="0"/>
              </a:rPr>
              <a:t> sayılar denir.</a:t>
            </a:r>
          </a:p>
          <a:p>
            <a:endParaRPr lang="tr-TR" sz="1000" noProof="1">
              <a:solidFill>
                <a:schemeClr val="tx1"/>
              </a:solidFill>
              <a:cs typeface="Arial" panose="020B0604020202020204" pitchFamily="34" charset="0"/>
            </a:endParaRPr>
          </a:p>
          <a:p>
            <a:r>
              <a:rPr lang="tr-TR" sz="1000" b="1" noProof="1">
                <a:cs typeface="Arial" panose="020B0604020202020204" pitchFamily="34" charset="0"/>
              </a:rPr>
              <a:t>Buna göre; iki basamaklı en küçük çifte asal ile, en küçük üç basamaklı çifte asal sayının toplamı kaçtır?</a:t>
            </a:r>
            <a:endParaRPr lang="tr-TR" sz="1000" b="1" noProof="1">
              <a:solidFill>
                <a:schemeClr val="tx1"/>
              </a:solidFill>
              <a:cs typeface="Arial" panose="020B0604020202020204" pitchFamily="34" charset="0"/>
            </a:endParaRPr>
          </a:p>
        </p:txBody>
      </p:sp>
      <p:sp>
        <p:nvSpPr>
          <p:cNvPr id="60" name="Metin kutusu 59">
            <a:extLst>
              <a:ext uri="{FF2B5EF4-FFF2-40B4-BE49-F238E27FC236}">
                <a16:creationId xmlns:a16="http://schemas.microsoft.com/office/drawing/2014/main" id="{21FB6EC4-4384-4301-98DD-AAB7F7FDE5D1}"/>
              </a:ext>
            </a:extLst>
          </p:cNvPr>
          <p:cNvSpPr txBox="1"/>
          <p:nvPr/>
        </p:nvSpPr>
        <p:spPr>
          <a:xfrm>
            <a:off x="32095" y="7071490"/>
            <a:ext cx="3277253" cy="1631216"/>
          </a:xfrm>
          <a:prstGeom prst="rect">
            <a:avLst/>
          </a:prstGeom>
          <a:noFill/>
        </p:spPr>
        <p:txBody>
          <a:bodyPr wrap="square" rtlCol="0">
            <a:spAutoFit/>
          </a:bodyPr>
          <a:lstStyle/>
          <a:p>
            <a:r>
              <a:rPr lang="tr-TR" sz="1000" noProof="1">
                <a:solidFill>
                  <a:schemeClr val="tx1"/>
                </a:solidFill>
                <a:cs typeface="Arial" panose="020B0604020202020204" pitchFamily="34" charset="0"/>
              </a:rPr>
              <a:t>Deneme yanılma yaparak bulmamız gerekir.</a:t>
            </a:r>
          </a:p>
          <a:p>
            <a:endParaRPr lang="tr-TR" sz="1000" noProof="1">
              <a:cs typeface="Arial" panose="020B0604020202020204" pitchFamily="34" charset="0"/>
            </a:endParaRPr>
          </a:p>
          <a:p>
            <a:r>
              <a:rPr lang="tr-TR" sz="1000" noProof="1">
                <a:solidFill>
                  <a:schemeClr val="tx1"/>
                </a:solidFill>
                <a:cs typeface="Arial" panose="020B0604020202020204" pitchFamily="34" charset="0"/>
              </a:rPr>
              <a:t>Öncelikle asal sayı bulmamız gerekir. En küçük üç basamaklı asal sayı 101`dir rakamlar çarpımı 0 ve çıkardığımızda tekrardan aynı sayı ve bir asal sayıdır. </a:t>
            </a:r>
          </a:p>
          <a:p>
            <a:endParaRPr lang="tr-TR" sz="1000" noProof="1">
              <a:cs typeface="Arial" panose="020B0604020202020204" pitchFamily="34" charset="0"/>
            </a:endParaRPr>
          </a:p>
          <a:p>
            <a:r>
              <a:rPr lang="tr-TR" sz="1000" noProof="1">
                <a:solidFill>
                  <a:schemeClr val="tx1"/>
                </a:solidFill>
                <a:cs typeface="Arial" panose="020B0604020202020204" pitchFamily="34" charset="0"/>
              </a:rPr>
              <a:t>Uzatmadan deneyelim : </a:t>
            </a:r>
            <a:r>
              <a:rPr lang="tr-TR" sz="1000" noProof="1">
                <a:cs typeface="Arial" panose="020B0604020202020204" pitchFamily="34" charset="0"/>
              </a:rPr>
              <a:t> 11 – 1 = 10 ,   13 – 3 = 0,  17 – 7 = 0</a:t>
            </a:r>
          </a:p>
          <a:p>
            <a:r>
              <a:rPr lang="tr-TR" sz="1000" noProof="1">
                <a:solidFill>
                  <a:schemeClr val="tx1"/>
                </a:solidFill>
                <a:cs typeface="Arial" panose="020B0604020202020204" pitchFamily="34" charset="0"/>
              </a:rPr>
              <a:t>18 – 8 = 10,  19-9 </a:t>
            </a:r>
            <a:r>
              <a:rPr lang="tr-TR" sz="1000" noProof="1">
                <a:cs typeface="Arial" panose="020B0604020202020204" pitchFamily="34" charset="0"/>
              </a:rPr>
              <a:t>= 0 ,  </a:t>
            </a:r>
            <a:r>
              <a:rPr lang="tr-TR" sz="1000" b="1" noProof="1">
                <a:cs typeface="Arial" panose="020B0604020202020204" pitchFamily="34" charset="0"/>
              </a:rPr>
              <a:t>23 – 6 = 17  </a:t>
            </a:r>
          </a:p>
          <a:p>
            <a:endParaRPr lang="tr-TR" sz="1000" b="1" noProof="1">
              <a:solidFill>
                <a:schemeClr val="tx1"/>
              </a:solidFill>
              <a:cs typeface="Arial" panose="020B0604020202020204" pitchFamily="34" charset="0"/>
            </a:endParaRPr>
          </a:p>
          <a:p>
            <a:r>
              <a:rPr lang="tr-TR" sz="1000" b="1" noProof="1">
                <a:cs typeface="Arial" panose="020B0604020202020204" pitchFamily="34" charset="0"/>
              </a:rPr>
              <a:t>101 + 23 = 124 olarak bulunur.</a:t>
            </a:r>
          </a:p>
        </p:txBody>
      </p:sp>
      <p:sp>
        <p:nvSpPr>
          <p:cNvPr id="62" name="Metin kutusu 61">
            <a:extLst>
              <a:ext uri="{FF2B5EF4-FFF2-40B4-BE49-F238E27FC236}">
                <a16:creationId xmlns:a16="http://schemas.microsoft.com/office/drawing/2014/main" id="{059BC3BA-728B-4292-87B8-4739A267955E}"/>
              </a:ext>
            </a:extLst>
          </p:cNvPr>
          <p:cNvSpPr txBox="1"/>
          <p:nvPr/>
        </p:nvSpPr>
        <p:spPr>
          <a:xfrm>
            <a:off x="3578213" y="713077"/>
            <a:ext cx="3272745" cy="861774"/>
          </a:xfrm>
          <a:prstGeom prst="rect">
            <a:avLst/>
          </a:prstGeom>
          <a:noFill/>
        </p:spPr>
        <p:txBody>
          <a:bodyPr wrap="square" rtlCol="0">
            <a:spAutoFit/>
          </a:bodyPr>
          <a:lstStyle/>
          <a:p>
            <a:r>
              <a:rPr lang="tr-TR" sz="1000" noProof="1">
                <a:cs typeface="Arial" panose="020B0604020202020204" pitchFamily="34" charset="0"/>
              </a:rPr>
              <a:t>Rakamları birbirinden farklı, iki basamaklı asal sayıların rakamlar toplamıda bir asal sayıysa bu sayılara </a:t>
            </a:r>
            <a:br>
              <a:rPr lang="tr-TR" sz="1000" noProof="1">
                <a:cs typeface="Arial" panose="020B0604020202020204" pitchFamily="34" charset="0"/>
              </a:rPr>
            </a:b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asalak sayılar</a:t>
            </a:r>
            <a:r>
              <a:rPr lang="tr-TR" sz="1000" b="1" i="0" dirty="0">
                <a:effectLst/>
                <a:latin typeface="Arial Narrow" panose="020B0606020202030204" pitchFamily="34" charset="0"/>
              </a:rPr>
              <a:t>” </a:t>
            </a:r>
            <a:r>
              <a:rPr lang="tr-TR" sz="1000" i="0" dirty="0">
                <a:effectLst/>
                <a:latin typeface="Arial Narrow" panose="020B0606020202030204" pitchFamily="34" charset="0"/>
              </a:rPr>
              <a:t>denir</a:t>
            </a:r>
            <a:r>
              <a:rPr lang="tr-TR" sz="1000" b="1" i="1" dirty="0">
                <a:effectLst/>
                <a:latin typeface="Arial Narrow" panose="020B0606020202030204" pitchFamily="34" charset="0"/>
              </a:rPr>
              <a:t>.</a:t>
            </a:r>
          </a:p>
          <a:p>
            <a:endParaRPr lang="tr-TR" sz="1000" b="1" i="1" noProof="1">
              <a:latin typeface="Arial Narrow" panose="020B0606020202030204" pitchFamily="34" charset="0"/>
              <a:cs typeface="Arial" panose="020B0604020202020204" pitchFamily="34" charset="0"/>
            </a:endParaRPr>
          </a:p>
          <a:p>
            <a:r>
              <a:rPr lang="tr-TR" sz="1000" b="1" noProof="1">
                <a:latin typeface="Calibri (Gövde)"/>
                <a:cs typeface="Arial" panose="020B0604020202020204" pitchFamily="34" charset="0"/>
              </a:rPr>
              <a:t>Buna göre, 34`den küçük kaç tane asalak sayı vardır?</a:t>
            </a:r>
          </a:p>
        </p:txBody>
      </p:sp>
      <p:sp>
        <p:nvSpPr>
          <p:cNvPr id="66" name="Metin kutusu 65">
            <a:extLst>
              <a:ext uri="{FF2B5EF4-FFF2-40B4-BE49-F238E27FC236}">
                <a16:creationId xmlns:a16="http://schemas.microsoft.com/office/drawing/2014/main" id="{475E0201-1501-41C6-B181-DBA7DFBF4083}"/>
              </a:ext>
            </a:extLst>
          </p:cNvPr>
          <p:cNvSpPr txBox="1"/>
          <p:nvPr/>
        </p:nvSpPr>
        <p:spPr>
          <a:xfrm>
            <a:off x="3559487" y="2279835"/>
            <a:ext cx="3272745" cy="246221"/>
          </a:xfrm>
          <a:prstGeom prst="rect">
            <a:avLst/>
          </a:prstGeom>
          <a:noFill/>
        </p:spPr>
        <p:txBody>
          <a:bodyPr wrap="square" rtlCol="0">
            <a:spAutoFit/>
          </a:bodyPr>
          <a:lstStyle/>
          <a:p>
            <a:r>
              <a:rPr lang="tr-TR" sz="1000" noProof="1">
                <a:cs typeface="Arial" panose="020B0604020202020204" pitchFamily="34" charset="0"/>
              </a:rPr>
              <a:t>Rakamları birbirinden farklı dediği için 11 sayısını almıyoruz.</a:t>
            </a:r>
          </a:p>
        </p:txBody>
      </p:sp>
      <p:graphicFrame>
        <p:nvGraphicFramePr>
          <p:cNvPr id="10" name="Tablo 11">
            <a:extLst>
              <a:ext uri="{FF2B5EF4-FFF2-40B4-BE49-F238E27FC236}">
                <a16:creationId xmlns:a16="http://schemas.microsoft.com/office/drawing/2014/main" id="{D7D42301-AEF6-4970-BBC8-0D21B6BC7703}"/>
              </a:ext>
            </a:extLst>
          </p:cNvPr>
          <p:cNvGraphicFramePr>
            <a:graphicFrameLocks noGrp="1"/>
          </p:cNvGraphicFramePr>
          <p:nvPr>
            <p:extLst>
              <p:ext uri="{D42A27DB-BD31-4B8C-83A1-F6EECF244321}">
                <p14:modId xmlns:p14="http://schemas.microsoft.com/office/powerpoint/2010/main" val="1233466235"/>
              </p:ext>
            </p:extLst>
          </p:nvPr>
        </p:nvGraphicFramePr>
        <p:xfrm>
          <a:off x="3645024" y="2500976"/>
          <a:ext cx="3163995" cy="1859280"/>
        </p:xfrm>
        <a:graphic>
          <a:graphicData uri="http://schemas.openxmlformats.org/drawingml/2006/table">
            <a:tbl>
              <a:tblPr firstRow="1" bandRow="1">
                <a:tableStyleId>{21E4AEA4-8DFA-4A89-87EB-49C32662AFE0}</a:tableStyleId>
              </a:tblPr>
              <a:tblGrid>
                <a:gridCol w="586101">
                  <a:extLst>
                    <a:ext uri="{9D8B030D-6E8A-4147-A177-3AD203B41FA5}">
                      <a16:colId xmlns:a16="http://schemas.microsoft.com/office/drawing/2014/main" val="3888209448"/>
                    </a:ext>
                  </a:extLst>
                </a:gridCol>
                <a:gridCol w="1368125">
                  <a:extLst>
                    <a:ext uri="{9D8B030D-6E8A-4147-A177-3AD203B41FA5}">
                      <a16:colId xmlns:a16="http://schemas.microsoft.com/office/drawing/2014/main" val="2365397765"/>
                    </a:ext>
                  </a:extLst>
                </a:gridCol>
                <a:gridCol w="504083">
                  <a:extLst>
                    <a:ext uri="{9D8B030D-6E8A-4147-A177-3AD203B41FA5}">
                      <a16:colId xmlns:a16="http://schemas.microsoft.com/office/drawing/2014/main" val="3278664511"/>
                    </a:ext>
                  </a:extLst>
                </a:gridCol>
                <a:gridCol w="705686">
                  <a:extLst>
                    <a:ext uri="{9D8B030D-6E8A-4147-A177-3AD203B41FA5}">
                      <a16:colId xmlns:a16="http://schemas.microsoft.com/office/drawing/2014/main" val="3213649607"/>
                    </a:ext>
                  </a:extLst>
                </a:gridCol>
              </a:tblGrid>
              <a:tr h="388434">
                <a:tc>
                  <a:txBody>
                    <a:bodyPr/>
                    <a:lstStyle/>
                    <a:p>
                      <a:pPr algn="ctr"/>
                      <a:r>
                        <a:rPr lang="tr-TR" sz="1000" dirty="0">
                          <a:latin typeface="Arial Narrow" panose="020B0606020202030204" pitchFamily="34" charset="0"/>
                        </a:rPr>
                        <a:t>Asal Sayı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Rakamlar Toplamı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tr-TR" sz="1000" dirty="0">
                          <a:latin typeface="Arial Narrow" panose="020B0606020202030204" pitchFamily="34" charset="0"/>
                        </a:rPr>
                        <a:t>Sonuç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Asalak mı?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0193557"/>
                  </a:ext>
                </a:extLst>
              </a:tr>
              <a:tr h="233250">
                <a:tc>
                  <a:txBody>
                    <a:bodyPr/>
                    <a:lstStyle/>
                    <a:p>
                      <a:pPr algn="ctr"/>
                      <a:r>
                        <a:rPr lang="tr-TR" sz="1000" dirty="0">
                          <a:solidFill>
                            <a:schemeClr val="tx1"/>
                          </a:solidFill>
                          <a:latin typeface="Arial Narrow" panose="020B0606020202030204" pitchFamily="34"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5575940"/>
                  </a:ext>
                </a:extLst>
              </a:tr>
              <a:tr h="233250">
                <a:tc>
                  <a:txBody>
                    <a:bodyPr/>
                    <a:lstStyle/>
                    <a:p>
                      <a:pPr algn="ctr"/>
                      <a:r>
                        <a:rPr lang="tr-TR" sz="1000" dirty="0">
                          <a:solidFill>
                            <a:schemeClr val="tx1"/>
                          </a:solidFill>
                          <a:latin typeface="Arial Narrow" panose="020B0606020202030204" pitchFamily="34"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2360066"/>
                  </a:ext>
                </a:extLst>
              </a:tr>
              <a:tr h="233250">
                <a:tc>
                  <a:txBody>
                    <a:bodyPr/>
                    <a:lstStyle/>
                    <a:p>
                      <a:pPr algn="ctr"/>
                      <a:r>
                        <a:rPr lang="tr-TR" sz="1000" dirty="0">
                          <a:solidFill>
                            <a:schemeClr val="tx1"/>
                          </a:solidFill>
                          <a:latin typeface="Arial Narrow" panose="020B0606020202030204" pitchFamily="34"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8522642"/>
                  </a:ext>
                </a:extLst>
              </a:tr>
              <a:tr h="233250">
                <a:tc>
                  <a:txBody>
                    <a:bodyPr/>
                    <a:lstStyle/>
                    <a:p>
                      <a:pPr algn="ctr"/>
                      <a:r>
                        <a:rPr lang="tr-TR" sz="1000" dirty="0">
                          <a:solidFill>
                            <a:schemeClr val="tx1"/>
                          </a:solidFill>
                          <a:latin typeface="Arial Narrow" panose="020B0606020202030204" pitchFamily="34"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7000442"/>
                  </a:ext>
                </a:extLst>
              </a:tr>
              <a:tr h="233250">
                <a:tc>
                  <a:txBody>
                    <a:bodyPr/>
                    <a:lstStyle/>
                    <a:p>
                      <a:pPr algn="ctr"/>
                      <a:r>
                        <a:rPr lang="tr-TR" sz="1000" dirty="0">
                          <a:solidFill>
                            <a:schemeClr val="tx1"/>
                          </a:solidFill>
                          <a:latin typeface="Arial Narrow" panose="020B0606020202030204" pitchFamily="34" charset="0"/>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8909748"/>
                  </a:ext>
                </a:extLst>
              </a:tr>
              <a:tr h="233250">
                <a:tc>
                  <a:txBody>
                    <a:bodyPr/>
                    <a:lstStyle/>
                    <a:p>
                      <a:pPr algn="ctr"/>
                      <a:r>
                        <a:rPr lang="tr-TR" sz="1000" dirty="0">
                          <a:solidFill>
                            <a:schemeClr val="tx1"/>
                          </a:solidFill>
                          <a:latin typeface="Arial Narrow" panose="020B0606020202030204" pitchFamily="34" charset="0"/>
                        </a:rPr>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3469333"/>
                  </a:ext>
                </a:extLst>
              </a:tr>
            </a:tbl>
          </a:graphicData>
        </a:graphic>
      </p:graphicFrame>
      <p:sp>
        <p:nvSpPr>
          <p:cNvPr id="12" name="Çarpım İşareti 11">
            <a:extLst>
              <a:ext uri="{FF2B5EF4-FFF2-40B4-BE49-F238E27FC236}">
                <a16:creationId xmlns:a16="http://schemas.microsoft.com/office/drawing/2014/main" id="{DE36FB10-C1FF-4EB4-BAD5-A26E85024C4B}"/>
              </a:ext>
            </a:extLst>
          </p:cNvPr>
          <p:cNvSpPr/>
          <p:nvPr/>
        </p:nvSpPr>
        <p:spPr>
          <a:xfrm>
            <a:off x="6288037" y="3140114"/>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5" name="Resim 14">
            <a:extLst>
              <a:ext uri="{FF2B5EF4-FFF2-40B4-BE49-F238E27FC236}">
                <a16:creationId xmlns:a16="http://schemas.microsoft.com/office/drawing/2014/main" id="{E338520D-C638-4AAA-831B-9797CB986298}"/>
              </a:ext>
            </a:extLst>
          </p:cNvPr>
          <p:cNvPicPr>
            <a:picLocks noChangeAspect="1"/>
          </p:cNvPicPr>
          <p:nvPr/>
        </p:nvPicPr>
        <p:blipFill>
          <a:blip r:embed="rId8" cstate="print">
            <a:duotone>
              <a:prstClr val="black"/>
              <a:schemeClr val="accent6">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6328173" y="3400242"/>
            <a:ext cx="201566" cy="203635"/>
          </a:xfrm>
          <a:prstGeom prst="rect">
            <a:avLst/>
          </a:prstGeom>
        </p:spPr>
      </p:pic>
      <p:pic>
        <p:nvPicPr>
          <p:cNvPr id="67" name="Resim 66">
            <a:extLst>
              <a:ext uri="{FF2B5EF4-FFF2-40B4-BE49-F238E27FC236}">
                <a16:creationId xmlns:a16="http://schemas.microsoft.com/office/drawing/2014/main" id="{3E5645B6-BA3D-4C46-93A4-8D3B873E75BD}"/>
              </a:ext>
            </a:extLst>
          </p:cNvPr>
          <p:cNvPicPr>
            <a:picLocks noChangeAspect="1"/>
          </p:cNvPicPr>
          <p:nvPr/>
        </p:nvPicPr>
        <p:blipFill>
          <a:blip r:embed="rId8" cstate="print">
            <a:duotone>
              <a:prstClr val="black"/>
              <a:schemeClr val="accent6">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6328173" y="2902145"/>
            <a:ext cx="201566" cy="203635"/>
          </a:xfrm>
          <a:prstGeom prst="rect">
            <a:avLst/>
          </a:prstGeom>
        </p:spPr>
      </p:pic>
      <p:sp>
        <p:nvSpPr>
          <p:cNvPr id="68" name="Çarpım İşareti 67">
            <a:extLst>
              <a:ext uri="{FF2B5EF4-FFF2-40B4-BE49-F238E27FC236}">
                <a16:creationId xmlns:a16="http://schemas.microsoft.com/office/drawing/2014/main" id="{466AE240-3B82-4E0F-A0AC-C34F2647230D}"/>
              </a:ext>
            </a:extLst>
          </p:cNvPr>
          <p:cNvSpPr/>
          <p:nvPr/>
        </p:nvSpPr>
        <p:spPr>
          <a:xfrm>
            <a:off x="6288037" y="3641468"/>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Çarpım İşareti 68">
            <a:extLst>
              <a:ext uri="{FF2B5EF4-FFF2-40B4-BE49-F238E27FC236}">
                <a16:creationId xmlns:a16="http://schemas.microsoft.com/office/drawing/2014/main" id="{FAB2F123-24BD-4A5E-854B-96BBC5E92B4D}"/>
              </a:ext>
            </a:extLst>
          </p:cNvPr>
          <p:cNvSpPr/>
          <p:nvPr/>
        </p:nvSpPr>
        <p:spPr>
          <a:xfrm>
            <a:off x="6288037" y="3874754"/>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0" name="Çarpım İşareti 69">
            <a:extLst>
              <a:ext uri="{FF2B5EF4-FFF2-40B4-BE49-F238E27FC236}">
                <a16:creationId xmlns:a16="http://schemas.microsoft.com/office/drawing/2014/main" id="{4664CF4A-4C1E-4891-87DB-F8533DDB01A4}"/>
              </a:ext>
            </a:extLst>
          </p:cNvPr>
          <p:cNvSpPr/>
          <p:nvPr/>
        </p:nvSpPr>
        <p:spPr>
          <a:xfrm>
            <a:off x="6288037" y="4117061"/>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701097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57781" y="6110"/>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3677" y="33140"/>
            <a:ext cx="1706878" cy="207963"/>
          </a:xfrm>
          <a:prstGeom prst="rect">
            <a:avLst/>
          </a:prstGeom>
        </p:spPr>
      </p:pic>
      <p:sp>
        <p:nvSpPr>
          <p:cNvPr id="14" name="Beşgen 13"/>
          <p:cNvSpPr/>
          <p:nvPr/>
        </p:nvSpPr>
        <p:spPr>
          <a:xfrm>
            <a:off x="54661" y="37841"/>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3551" y="22066"/>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54661" y="329275"/>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10037" y="-18615"/>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22526" y="329275"/>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32623" y="4769409"/>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4222" y="3955024"/>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60904" y="8938478"/>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31325" y="8951100"/>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16933" y="8842304"/>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46682" y="8873865"/>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84733" y="8802437"/>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41302" y="22742"/>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906" y="33139"/>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69054" y="417448"/>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44039" y="4018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51005" y="8815368"/>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26870" y="47702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68551" y="49557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77276" y="477026"/>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99098" y="224912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22750" y="504922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64431" y="506777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63248" y="5052388"/>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59662" y="44040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801343" y="45895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10068" y="44040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9098" y="680298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9662" y="4423435"/>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801343" y="4441986"/>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9289" y="4428342"/>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55750" y="759979"/>
            <a:ext cx="3358182" cy="861774"/>
          </a:xfrm>
          <a:prstGeom prst="rect">
            <a:avLst/>
          </a:prstGeom>
          <a:noFill/>
        </p:spPr>
        <p:txBody>
          <a:bodyPr wrap="square" rtlCol="0">
            <a:spAutoFit/>
          </a:bodyPr>
          <a:lstStyle/>
          <a:p>
            <a:r>
              <a:rPr lang="tr-TR" sz="1000" b="1" noProof="1">
                <a:latin typeface="Calibri (Gövde)"/>
                <a:cs typeface="Arial" panose="020B0604020202020204" pitchFamily="34" charset="0"/>
              </a:rPr>
              <a:t>a,b pozitif rakamlar olmak üzere, ab iki basamaklı sayısı ile ba iki basamaklı sayısı ikiside asalsa ab iki basamaklı sayısına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dubleks asalı</a:t>
            </a:r>
            <a:r>
              <a:rPr lang="tr-TR" sz="1000" b="1" i="0" dirty="0">
                <a:effectLst/>
                <a:latin typeface="Arial Narrow" panose="020B0606020202030204" pitchFamily="34" charset="0"/>
              </a:rPr>
              <a:t>” denir</a:t>
            </a:r>
            <a:r>
              <a:rPr lang="tr-TR" sz="1000" b="1" i="1" dirty="0">
                <a:effectLst/>
                <a:latin typeface="Arial Narrow" panose="020B0606020202030204" pitchFamily="34" charset="0"/>
              </a:rPr>
              <a:t>.</a:t>
            </a:r>
            <a:r>
              <a:rPr lang="tr-TR" sz="1000" b="1" i="1" noProof="1">
                <a:effectLst/>
                <a:latin typeface="Calibri (Gövde)"/>
                <a:cs typeface="Arial" panose="020B0604020202020204" pitchFamily="34" charset="0"/>
              </a:rPr>
              <a:t> </a:t>
            </a:r>
          </a:p>
          <a:p>
            <a:endParaRPr lang="tr-TR" sz="1000" b="1" i="1" noProof="1">
              <a:latin typeface="Calibri (Gövde)"/>
              <a:cs typeface="Arial" panose="020B0604020202020204" pitchFamily="34" charset="0"/>
            </a:endParaRPr>
          </a:p>
          <a:p>
            <a:r>
              <a:rPr lang="tr-TR" sz="1000" b="1" noProof="1">
                <a:latin typeface="Calibri (Gövde)"/>
                <a:cs typeface="Arial" panose="020B0604020202020204" pitchFamily="34" charset="0"/>
              </a:rPr>
              <a:t>Buna göre, iki basamaklı kaç tane </a:t>
            </a:r>
            <a:r>
              <a:rPr lang="tr-TR" sz="1000" b="1" noProof="1">
                <a:cs typeface="Arial" panose="020B0604020202020204" pitchFamily="34" charset="0"/>
              </a:rPr>
              <a:t>dubleks asalı </a:t>
            </a:r>
            <a:r>
              <a:rPr lang="tr-TR" sz="1000" b="1" noProof="1">
                <a:latin typeface="Calibri (Gövde)"/>
                <a:cs typeface="Arial" panose="020B0604020202020204" pitchFamily="34" charset="0"/>
              </a:rPr>
              <a:t>vardır?</a:t>
            </a:r>
            <a:endParaRPr lang="tr-TR" sz="1000" b="1" dirty="0">
              <a:effectLst/>
              <a:latin typeface="Arial Narrow" panose="020B0606020202030204" pitchFamily="34" charset="0"/>
            </a:endParaRPr>
          </a:p>
        </p:txBody>
      </p:sp>
      <p:sp>
        <p:nvSpPr>
          <p:cNvPr id="56" name="Ok: Beşgen 55">
            <a:extLst>
              <a:ext uri="{FF2B5EF4-FFF2-40B4-BE49-F238E27FC236}">
                <a16:creationId xmlns:a16="http://schemas.microsoft.com/office/drawing/2014/main" id="{D327283C-46A4-4C86-A990-995946C89AA1}"/>
              </a:ext>
            </a:extLst>
          </p:cNvPr>
          <p:cNvSpPr/>
          <p:nvPr/>
        </p:nvSpPr>
        <p:spPr>
          <a:xfrm>
            <a:off x="3676386" y="19836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72202" y="646848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50090" y="48497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7.</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58257" y="5059619"/>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72796" y="44672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71562" y="4431583"/>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6.</a:t>
            </a:r>
          </a:p>
        </p:txBody>
      </p:sp>
      <p:sp>
        <p:nvSpPr>
          <p:cNvPr id="4" name="Kaydırma: Yatay 3">
            <a:extLst>
              <a:ext uri="{FF2B5EF4-FFF2-40B4-BE49-F238E27FC236}">
                <a16:creationId xmlns:a16="http://schemas.microsoft.com/office/drawing/2014/main" id="{0E04D564-7191-4F0C-AA0E-EBA35AF9F5C1}"/>
              </a:ext>
            </a:extLst>
          </p:cNvPr>
          <p:cNvSpPr/>
          <p:nvPr/>
        </p:nvSpPr>
        <p:spPr>
          <a:xfrm>
            <a:off x="896900" y="434770"/>
            <a:ext cx="2412448"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8" name="Metin kutusu 47">
            <a:extLst>
              <a:ext uri="{FF2B5EF4-FFF2-40B4-BE49-F238E27FC236}">
                <a16:creationId xmlns:a16="http://schemas.microsoft.com/office/drawing/2014/main" id="{87206DB5-0584-4056-92A8-2B7C49F4E6C8}"/>
              </a:ext>
            </a:extLst>
          </p:cNvPr>
          <p:cNvSpPr txBox="1"/>
          <p:nvPr/>
        </p:nvSpPr>
        <p:spPr>
          <a:xfrm>
            <a:off x="872774" y="508151"/>
            <a:ext cx="2724078" cy="200055"/>
          </a:xfrm>
          <a:prstGeom prst="rect">
            <a:avLst/>
          </a:prstGeom>
          <a:noFill/>
        </p:spPr>
        <p:txBody>
          <a:bodyPr wrap="square">
            <a:spAutoFit/>
          </a:bodyPr>
          <a:lstStyle/>
          <a:p>
            <a:r>
              <a:rPr lang="tr-TR" sz="700" i="0" noProof="1">
                <a:solidFill>
                  <a:schemeClr val="bg1"/>
                </a:solidFill>
                <a:effectLst/>
                <a:latin typeface="Arial Narrow" panose="020B0606020202030204" pitchFamily="34" charset="0"/>
              </a:rPr>
              <a:t>“Düşmekten korkuyorsanız, muhtemelen düşeceksiniz.”  - Kobe Bryant</a:t>
            </a:r>
            <a:endParaRPr lang="tr-TR" sz="700" noProof="1">
              <a:solidFill>
                <a:schemeClr val="bg1"/>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51" name="Metin kutusu 50">
                <a:extLst>
                  <a:ext uri="{FF2B5EF4-FFF2-40B4-BE49-F238E27FC236}">
                    <a16:creationId xmlns:a16="http://schemas.microsoft.com/office/drawing/2014/main" id="{9875BED9-87FB-4D7B-8877-7EC800D22E98}"/>
                  </a:ext>
                </a:extLst>
              </p:cNvPr>
              <p:cNvSpPr txBox="1"/>
              <p:nvPr/>
            </p:nvSpPr>
            <p:spPr>
              <a:xfrm>
                <a:off x="32095" y="2521570"/>
                <a:ext cx="3354344" cy="1938992"/>
              </a:xfrm>
              <a:prstGeom prst="rect">
                <a:avLst/>
              </a:prstGeom>
              <a:noFill/>
            </p:spPr>
            <p:txBody>
              <a:bodyPr wrap="square" rtlCol="0">
                <a:spAutoFit/>
              </a:bodyPr>
              <a:lstStyle/>
              <a:p>
                <a:r>
                  <a:rPr lang="tr-TR" sz="1000" noProof="1">
                    <a:solidFill>
                      <a:schemeClr val="tx1"/>
                    </a:solidFill>
                    <a:cs typeface="Arial" panose="020B0604020202020204" pitchFamily="34" charset="0"/>
                  </a:rPr>
                  <a:t>İki basamaklı asal sayıları rakamlar yer değiştirerek sırasıyla yazalım. Dubleks asallara tik işareti,olmayana çarpı koyalım.</a:t>
                </a:r>
              </a:p>
              <a:p>
                <a:endParaRPr lang="tr-TR" sz="1000" b="1" noProof="1">
                  <a:cs typeface="Arial" panose="020B0604020202020204" pitchFamily="34" charset="0"/>
                </a:endParaRPr>
              </a:p>
              <a:p>
                <a:r>
                  <a:rPr lang="tr-TR" sz="1000" b="1" noProof="1">
                    <a:solidFill>
                      <a:schemeClr val="tx1"/>
                    </a:solidFill>
                    <a:cs typeface="Arial" panose="020B0604020202020204" pitchFamily="34" charset="0"/>
                  </a:rPr>
                  <a:t>11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11</a:t>
                </a:r>
              </a:p>
              <a:p>
                <a:r>
                  <a:rPr lang="tr-TR" sz="1000" b="1" noProof="1">
                    <a:cs typeface="Arial" panose="020B0604020202020204" pitchFamily="34" charset="0"/>
                  </a:rPr>
                  <a:t>13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31</a:t>
                </a:r>
              </a:p>
              <a:p>
                <a:r>
                  <a:rPr lang="tr-TR" sz="1000" b="1" noProof="1">
                    <a:cs typeface="Arial" panose="020B0604020202020204" pitchFamily="34" charset="0"/>
                  </a:rPr>
                  <a:t>17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71</a:t>
                </a:r>
              </a:p>
              <a:p>
                <a:r>
                  <a:rPr lang="tr-TR" sz="1000" b="1" noProof="1">
                    <a:cs typeface="Arial" panose="020B0604020202020204" pitchFamily="34" charset="0"/>
                  </a:rPr>
                  <a:t>19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91</a:t>
                </a:r>
              </a:p>
              <a:p>
                <a:r>
                  <a:rPr lang="tr-TR" sz="1000" b="1" noProof="1">
                    <a:cs typeface="Arial" panose="020B0604020202020204" pitchFamily="34" charset="0"/>
                  </a:rPr>
                  <a:t>23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32</a:t>
                </a:r>
                <a:endParaRPr lang="tr-TR" sz="1000" b="1" noProof="1">
                  <a:solidFill>
                    <a:schemeClr val="tx1"/>
                  </a:solidFill>
                  <a:cs typeface="Arial" panose="020B0604020202020204" pitchFamily="34" charset="0"/>
                </a:endParaRPr>
              </a:p>
              <a:p>
                <a:r>
                  <a:rPr lang="tr-TR" sz="1000" b="1" noProof="1">
                    <a:cs typeface="Arial" panose="020B0604020202020204" pitchFamily="34" charset="0"/>
                  </a:rPr>
                  <a:t>29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92</a:t>
                </a:r>
                <a:endParaRPr lang="tr-TR" sz="1000" b="1" noProof="1">
                  <a:solidFill>
                    <a:schemeClr val="tx1"/>
                  </a:solidFill>
                  <a:cs typeface="Arial" panose="020B0604020202020204" pitchFamily="34" charset="0"/>
                </a:endParaRPr>
              </a:p>
              <a:p>
                <a:r>
                  <a:rPr lang="tr-TR" sz="1000" b="1" noProof="1">
                    <a:cs typeface="Arial" panose="020B0604020202020204" pitchFamily="34" charset="0"/>
                  </a:rPr>
                  <a:t>31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13</a:t>
                </a:r>
              </a:p>
              <a:p>
                <a:r>
                  <a:rPr lang="tr-TR" sz="1000" b="1" noProof="1">
                    <a:cs typeface="Arial" panose="020B0604020202020204" pitchFamily="34" charset="0"/>
                  </a:rPr>
                  <a:t>37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73</a:t>
                </a:r>
                <a:br>
                  <a:rPr lang="tr-TR" sz="1000" b="1" noProof="1">
                    <a:cs typeface="Arial" panose="020B0604020202020204" pitchFamily="34" charset="0"/>
                  </a:rPr>
                </a:br>
                <a:r>
                  <a:rPr lang="tr-TR" sz="1000" b="1" noProof="1">
                    <a:cs typeface="Arial" panose="020B0604020202020204" pitchFamily="34" charset="0"/>
                  </a:rPr>
                  <a:t>41 </a:t>
                </a:r>
                <a14:m>
                  <m:oMath xmlns:m="http://schemas.openxmlformats.org/officeDocument/2006/math">
                    <m:r>
                      <a:rPr lang="tr-TR" sz="1000" b="1"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cs typeface="Arial" panose="020B0604020202020204" pitchFamily="34" charset="0"/>
                  </a:rPr>
                  <a:t> 14</a:t>
                </a:r>
              </a:p>
            </p:txBody>
          </p:sp>
        </mc:Choice>
        <mc:Fallback xmlns="">
          <p:sp>
            <p:nvSpPr>
              <p:cNvPr id="51" name="Metin kutusu 50">
                <a:extLst>
                  <a:ext uri="{FF2B5EF4-FFF2-40B4-BE49-F238E27FC236}">
                    <a16:creationId xmlns:a16="http://schemas.microsoft.com/office/drawing/2014/main" id="{9875BED9-87FB-4D7B-8877-7EC800D22E98}"/>
                  </a:ext>
                </a:extLst>
              </p:cNvPr>
              <p:cNvSpPr txBox="1">
                <a:spLocks noRot="1" noChangeAspect="1" noMove="1" noResize="1" noEditPoints="1" noAdjustHandles="1" noChangeArrowheads="1" noChangeShapeType="1" noTextEdit="1"/>
              </p:cNvSpPr>
              <p:nvPr/>
            </p:nvSpPr>
            <p:spPr>
              <a:xfrm>
                <a:off x="32095" y="2521570"/>
                <a:ext cx="3354344" cy="1938992"/>
              </a:xfrm>
              <a:prstGeom prst="rect">
                <a:avLst/>
              </a:prstGeom>
              <a:blipFill>
                <a:blip r:embed="rId6"/>
                <a:stretch>
                  <a:fillRect b="-943"/>
                </a:stretch>
              </a:blipFill>
            </p:spPr>
            <p:txBody>
              <a:bodyPr/>
              <a:lstStyle/>
              <a:p>
                <a:r>
                  <a:rPr lang="tr-TR">
                    <a:noFill/>
                  </a:rPr>
                  <a:t> </a:t>
                </a:r>
              </a:p>
            </p:txBody>
          </p:sp>
        </mc:Fallback>
      </mc:AlternateContent>
      <p:sp>
        <p:nvSpPr>
          <p:cNvPr id="58" name="Metin kutusu 57">
            <a:extLst>
              <a:ext uri="{FF2B5EF4-FFF2-40B4-BE49-F238E27FC236}">
                <a16:creationId xmlns:a16="http://schemas.microsoft.com/office/drawing/2014/main" id="{287C2F9D-9283-4416-9341-E85B09AFC924}"/>
              </a:ext>
            </a:extLst>
          </p:cNvPr>
          <p:cNvSpPr txBox="1"/>
          <p:nvPr/>
        </p:nvSpPr>
        <p:spPr>
          <a:xfrm>
            <a:off x="54661" y="5333202"/>
            <a:ext cx="3212178" cy="861774"/>
          </a:xfrm>
          <a:prstGeom prst="rect">
            <a:avLst/>
          </a:prstGeom>
          <a:noFill/>
        </p:spPr>
        <p:txBody>
          <a:bodyPr wrap="square" rtlCol="0">
            <a:spAutoFit/>
          </a:bodyPr>
          <a:lstStyle/>
          <a:p>
            <a:r>
              <a:rPr lang="tr-TR" sz="1000" noProof="1">
                <a:solidFill>
                  <a:schemeClr val="tx1"/>
                </a:solidFill>
                <a:cs typeface="Arial" panose="020B0604020202020204" pitchFamily="34" charset="0"/>
              </a:rPr>
              <a:t>Bir asal sayıdan, rakamları çarpımı çıkarıldığında tekrar asal bir sayı elde ediliyorsa bu sayılara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i="0" noProof="1">
                <a:effectLst/>
                <a:latin typeface="Arial Narrow" panose="020B0606020202030204" pitchFamily="34" charset="0"/>
                <a:cs typeface="Arial" panose="020B0604020202020204" pitchFamily="34" charset="0"/>
              </a:rPr>
              <a:t>çifte</a:t>
            </a:r>
            <a:r>
              <a:rPr lang="tr-TR" sz="1000" b="1" noProof="1">
                <a:cs typeface="Arial" panose="020B0604020202020204" pitchFamily="34" charset="0"/>
              </a:rPr>
              <a:t> asal</a:t>
            </a:r>
            <a:r>
              <a:rPr lang="tr-TR" sz="1000" b="1" i="0" dirty="0">
                <a:effectLst/>
                <a:latin typeface="Arial Narrow" panose="020B0606020202030204" pitchFamily="34" charset="0"/>
              </a:rPr>
              <a:t>”</a:t>
            </a:r>
            <a:r>
              <a:rPr lang="tr-TR" sz="1000" noProof="1">
                <a:cs typeface="Arial" panose="020B0604020202020204" pitchFamily="34" charset="0"/>
              </a:rPr>
              <a:t> sayılar denir.</a:t>
            </a:r>
          </a:p>
          <a:p>
            <a:endParaRPr lang="tr-TR" sz="1000" noProof="1">
              <a:solidFill>
                <a:schemeClr val="tx1"/>
              </a:solidFill>
              <a:cs typeface="Arial" panose="020B0604020202020204" pitchFamily="34" charset="0"/>
            </a:endParaRPr>
          </a:p>
          <a:p>
            <a:r>
              <a:rPr lang="tr-TR" sz="1000" b="1" noProof="1">
                <a:cs typeface="Arial" panose="020B0604020202020204" pitchFamily="34" charset="0"/>
              </a:rPr>
              <a:t>Buna göre; iki basamaklı en küçük çifte asal ile, en küçük üç basamaklı çifte asal sayının toplamı kaçtır?</a:t>
            </a:r>
            <a:endParaRPr lang="tr-TR" sz="1000" b="1" noProof="1">
              <a:solidFill>
                <a:schemeClr val="tx1"/>
              </a:solidFill>
              <a:cs typeface="Arial" panose="020B0604020202020204" pitchFamily="34" charset="0"/>
            </a:endParaRPr>
          </a:p>
        </p:txBody>
      </p:sp>
      <p:sp>
        <p:nvSpPr>
          <p:cNvPr id="60" name="Metin kutusu 59">
            <a:extLst>
              <a:ext uri="{FF2B5EF4-FFF2-40B4-BE49-F238E27FC236}">
                <a16:creationId xmlns:a16="http://schemas.microsoft.com/office/drawing/2014/main" id="{21FB6EC4-4384-4301-98DD-AAB7F7FDE5D1}"/>
              </a:ext>
            </a:extLst>
          </p:cNvPr>
          <p:cNvSpPr txBox="1"/>
          <p:nvPr/>
        </p:nvSpPr>
        <p:spPr>
          <a:xfrm>
            <a:off x="32095" y="7071490"/>
            <a:ext cx="3277253" cy="1631216"/>
          </a:xfrm>
          <a:prstGeom prst="rect">
            <a:avLst/>
          </a:prstGeom>
          <a:noFill/>
        </p:spPr>
        <p:txBody>
          <a:bodyPr wrap="square" rtlCol="0">
            <a:spAutoFit/>
          </a:bodyPr>
          <a:lstStyle/>
          <a:p>
            <a:r>
              <a:rPr lang="tr-TR" sz="1000" noProof="1">
                <a:solidFill>
                  <a:schemeClr val="tx1"/>
                </a:solidFill>
                <a:cs typeface="Arial" panose="020B0604020202020204" pitchFamily="34" charset="0"/>
              </a:rPr>
              <a:t>Deneme yanılma yaparak bulmamız gerekir.</a:t>
            </a:r>
          </a:p>
          <a:p>
            <a:endParaRPr lang="tr-TR" sz="1000" noProof="1">
              <a:cs typeface="Arial" panose="020B0604020202020204" pitchFamily="34" charset="0"/>
            </a:endParaRPr>
          </a:p>
          <a:p>
            <a:r>
              <a:rPr lang="tr-TR" sz="1000" noProof="1">
                <a:solidFill>
                  <a:schemeClr val="tx1"/>
                </a:solidFill>
                <a:cs typeface="Arial" panose="020B0604020202020204" pitchFamily="34" charset="0"/>
              </a:rPr>
              <a:t>Öncelikle asal sayı bulmamız gerekir. En küçük üç basamaklı asal sayı 101`dir rakamlar çarpımı 0 ve çıkardığımızda tekrardan aynı sayı ve bir asal sayıdır. </a:t>
            </a:r>
          </a:p>
          <a:p>
            <a:endParaRPr lang="tr-TR" sz="1000" noProof="1">
              <a:cs typeface="Arial" panose="020B0604020202020204" pitchFamily="34" charset="0"/>
            </a:endParaRPr>
          </a:p>
          <a:p>
            <a:r>
              <a:rPr lang="tr-TR" sz="1000" noProof="1">
                <a:solidFill>
                  <a:schemeClr val="tx1"/>
                </a:solidFill>
                <a:cs typeface="Arial" panose="020B0604020202020204" pitchFamily="34" charset="0"/>
              </a:rPr>
              <a:t>Uzatmadan deneyelim : </a:t>
            </a:r>
            <a:r>
              <a:rPr lang="tr-TR" sz="1000" noProof="1">
                <a:cs typeface="Arial" panose="020B0604020202020204" pitchFamily="34" charset="0"/>
              </a:rPr>
              <a:t> 11 – 1 = 10 ,   13 – 3 = 0,  17 – 7 = 0</a:t>
            </a:r>
          </a:p>
          <a:p>
            <a:r>
              <a:rPr lang="tr-TR" sz="1000" noProof="1">
                <a:solidFill>
                  <a:schemeClr val="tx1"/>
                </a:solidFill>
                <a:cs typeface="Arial" panose="020B0604020202020204" pitchFamily="34" charset="0"/>
              </a:rPr>
              <a:t>18 – 8 = 10,  19-9 </a:t>
            </a:r>
            <a:r>
              <a:rPr lang="tr-TR" sz="1000" noProof="1">
                <a:cs typeface="Arial" panose="020B0604020202020204" pitchFamily="34" charset="0"/>
              </a:rPr>
              <a:t>= 0 ,  </a:t>
            </a:r>
            <a:r>
              <a:rPr lang="tr-TR" sz="1000" b="1" noProof="1">
                <a:cs typeface="Arial" panose="020B0604020202020204" pitchFamily="34" charset="0"/>
              </a:rPr>
              <a:t>23 – 6 = 17  </a:t>
            </a:r>
          </a:p>
          <a:p>
            <a:endParaRPr lang="tr-TR" sz="1000" b="1" noProof="1">
              <a:solidFill>
                <a:schemeClr val="tx1"/>
              </a:solidFill>
              <a:cs typeface="Arial" panose="020B0604020202020204" pitchFamily="34" charset="0"/>
            </a:endParaRPr>
          </a:p>
          <a:p>
            <a:r>
              <a:rPr lang="tr-TR" sz="1000" b="1" noProof="1">
                <a:cs typeface="Arial" panose="020B0604020202020204" pitchFamily="34" charset="0"/>
              </a:rPr>
              <a:t>101 + 23 = 124 olarak bulunur.</a:t>
            </a:r>
          </a:p>
        </p:txBody>
      </p:sp>
      <p:sp>
        <p:nvSpPr>
          <p:cNvPr id="62" name="Metin kutusu 61">
            <a:extLst>
              <a:ext uri="{FF2B5EF4-FFF2-40B4-BE49-F238E27FC236}">
                <a16:creationId xmlns:a16="http://schemas.microsoft.com/office/drawing/2014/main" id="{059BC3BA-728B-4292-87B8-4739A267955E}"/>
              </a:ext>
            </a:extLst>
          </p:cNvPr>
          <p:cNvSpPr txBox="1"/>
          <p:nvPr/>
        </p:nvSpPr>
        <p:spPr>
          <a:xfrm>
            <a:off x="3578213" y="713077"/>
            <a:ext cx="3272745" cy="861774"/>
          </a:xfrm>
          <a:prstGeom prst="rect">
            <a:avLst/>
          </a:prstGeom>
          <a:noFill/>
        </p:spPr>
        <p:txBody>
          <a:bodyPr wrap="square" rtlCol="0">
            <a:spAutoFit/>
          </a:bodyPr>
          <a:lstStyle/>
          <a:p>
            <a:r>
              <a:rPr lang="tr-TR" sz="1000" noProof="1">
                <a:cs typeface="Arial" panose="020B0604020202020204" pitchFamily="34" charset="0"/>
              </a:rPr>
              <a:t>Rakamları birbirinden farklı, iki basamaklı asal sayıların rakamlar toplamıda bir asal sayıysa bu sayılara </a:t>
            </a:r>
            <a:br>
              <a:rPr lang="tr-TR" sz="1000" noProof="1">
                <a:cs typeface="Arial" panose="020B0604020202020204" pitchFamily="34" charset="0"/>
              </a:rPr>
            </a:b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asalak sayılar</a:t>
            </a:r>
            <a:r>
              <a:rPr lang="tr-TR" sz="1000" b="1" i="0" dirty="0">
                <a:effectLst/>
                <a:latin typeface="Arial Narrow" panose="020B0606020202030204" pitchFamily="34" charset="0"/>
              </a:rPr>
              <a:t>” </a:t>
            </a:r>
            <a:r>
              <a:rPr lang="tr-TR" sz="1000" i="0" dirty="0">
                <a:effectLst/>
                <a:latin typeface="Arial Narrow" panose="020B0606020202030204" pitchFamily="34" charset="0"/>
              </a:rPr>
              <a:t>denir</a:t>
            </a:r>
            <a:r>
              <a:rPr lang="tr-TR" sz="1000" b="1" i="1" dirty="0">
                <a:effectLst/>
                <a:latin typeface="Arial Narrow" panose="020B0606020202030204" pitchFamily="34" charset="0"/>
              </a:rPr>
              <a:t>.</a:t>
            </a:r>
          </a:p>
          <a:p>
            <a:endParaRPr lang="tr-TR" sz="1000" b="1" i="1" noProof="1">
              <a:latin typeface="Arial Narrow" panose="020B0606020202030204" pitchFamily="34" charset="0"/>
              <a:cs typeface="Arial" panose="020B0604020202020204" pitchFamily="34" charset="0"/>
            </a:endParaRPr>
          </a:p>
          <a:p>
            <a:r>
              <a:rPr lang="tr-TR" sz="1000" b="1" noProof="1">
                <a:latin typeface="Calibri (Gövde)"/>
                <a:cs typeface="Arial" panose="020B0604020202020204" pitchFamily="34" charset="0"/>
              </a:rPr>
              <a:t>Buna göre, 34`den küçük kaç tane asalak sayı vardır?</a:t>
            </a:r>
          </a:p>
        </p:txBody>
      </p:sp>
      <p:sp>
        <p:nvSpPr>
          <p:cNvPr id="66" name="Metin kutusu 65">
            <a:extLst>
              <a:ext uri="{FF2B5EF4-FFF2-40B4-BE49-F238E27FC236}">
                <a16:creationId xmlns:a16="http://schemas.microsoft.com/office/drawing/2014/main" id="{475E0201-1501-41C6-B181-DBA7DFBF4083}"/>
              </a:ext>
            </a:extLst>
          </p:cNvPr>
          <p:cNvSpPr txBox="1"/>
          <p:nvPr/>
        </p:nvSpPr>
        <p:spPr>
          <a:xfrm>
            <a:off x="3559487" y="2279835"/>
            <a:ext cx="3272745" cy="246221"/>
          </a:xfrm>
          <a:prstGeom prst="rect">
            <a:avLst/>
          </a:prstGeom>
          <a:noFill/>
        </p:spPr>
        <p:txBody>
          <a:bodyPr wrap="square" rtlCol="0">
            <a:spAutoFit/>
          </a:bodyPr>
          <a:lstStyle/>
          <a:p>
            <a:r>
              <a:rPr lang="tr-TR" sz="1000" noProof="1">
                <a:cs typeface="Arial" panose="020B0604020202020204" pitchFamily="34" charset="0"/>
              </a:rPr>
              <a:t>Rakamları birbirinden farklı dediği için 11 sayısını almıyoruz.</a:t>
            </a:r>
          </a:p>
        </p:txBody>
      </p:sp>
      <p:graphicFrame>
        <p:nvGraphicFramePr>
          <p:cNvPr id="10" name="Tablo 11">
            <a:extLst>
              <a:ext uri="{FF2B5EF4-FFF2-40B4-BE49-F238E27FC236}">
                <a16:creationId xmlns:a16="http://schemas.microsoft.com/office/drawing/2014/main" id="{D7D42301-AEF6-4970-BBC8-0D21B6BC7703}"/>
              </a:ext>
            </a:extLst>
          </p:cNvPr>
          <p:cNvGraphicFramePr>
            <a:graphicFrameLocks noGrp="1"/>
          </p:cNvGraphicFramePr>
          <p:nvPr/>
        </p:nvGraphicFramePr>
        <p:xfrm>
          <a:off x="3645024" y="2500976"/>
          <a:ext cx="3163995" cy="1859280"/>
        </p:xfrm>
        <a:graphic>
          <a:graphicData uri="http://schemas.openxmlformats.org/drawingml/2006/table">
            <a:tbl>
              <a:tblPr firstRow="1" bandRow="1">
                <a:tableStyleId>{21E4AEA4-8DFA-4A89-87EB-49C32662AFE0}</a:tableStyleId>
              </a:tblPr>
              <a:tblGrid>
                <a:gridCol w="586101">
                  <a:extLst>
                    <a:ext uri="{9D8B030D-6E8A-4147-A177-3AD203B41FA5}">
                      <a16:colId xmlns:a16="http://schemas.microsoft.com/office/drawing/2014/main" val="3888209448"/>
                    </a:ext>
                  </a:extLst>
                </a:gridCol>
                <a:gridCol w="1368125">
                  <a:extLst>
                    <a:ext uri="{9D8B030D-6E8A-4147-A177-3AD203B41FA5}">
                      <a16:colId xmlns:a16="http://schemas.microsoft.com/office/drawing/2014/main" val="2365397765"/>
                    </a:ext>
                  </a:extLst>
                </a:gridCol>
                <a:gridCol w="504083">
                  <a:extLst>
                    <a:ext uri="{9D8B030D-6E8A-4147-A177-3AD203B41FA5}">
                      <a16:colId xmlns:a16="http://schemas.microsoft.com/office/drawing/2014/main" val="3278664511"/>
                    </a:ext>
                  </a:extLst>
                </a:gridCol>
                <a:gridCol w="705686">
                  <a:extLst>
                    <a:ext uri="{9D8B030D-6E8A-4147-A177-3AD203B41FA5}">
                      <a16:colId xmlns:a16="http://schemas.microsoft.com/office/drawing/2014/main" val="3213649607"/>
                    </a:ext>
                  </a:extLst>
                </a:gridCol>
              </a:tblGrid>
              <a:tr h="388434">
                <a:tc>
                  <a:txBody>
                    <a:bodyPr/>
                    <a:lstStyle/>
                    <a:p>
                      <a:pPr algn="ctr"/>
                      <a:r>
                        <a:rPr lang="tr-TR" sz="1000" dirty="0">
                          <a:latin typeface="Arial Narrow" panose="020B0606020202030204" pitchFamily="34" charset="0"/>
                        </a:rPr>
                        <a:t>Asal Sayı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Rakamlar Toplamı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tr-TR" sz="1000" dirty="0">
                          <a:latin typeface="Arial Narrow" panose="020B0606020202030204" pitchFamily="34" charset="0"/>
                        </a:rPr>
                        <a:t>Sonuç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Asalak mı?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0193557"/>
                  </a:ext>
                </a:extLst>
              </a:tr>
              <a:tr h="233250">
                <a:tc>
                  <a:txBody>
                    <a:bodyPr/>
                    <a:lstStyle/>
                    <a:p>
                      <a:pPr algn="ctr"/>
                      <a:r>
                        <a:rPr lang="tr-TR" sz="1000" dirty="0">
                          <a:solidFill>
                            <a:schemeClr val="tx1"/>
                          </a:solidFill>
                          <a:latin typeface="Arial Narrow" panose="020B0606020202030204" pitchFamily="34"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5575940"/>
                  </a:ext>
                </a:extLst>
              </a:tr>
              <a:tr h="233250">
                <a:tc>
                  <a:txBody>
                    <a:bodyPr/>
                    <a:lstStyle/>
                    <a:p>
                      <a:pPr algn="ctr"/>
                      <a:r>
                        <a:rPr lang="tr-TR" sz="1000" dirty="0">
                          <a:solidFill>
                            <a:schemeClr val="tx1"/>
                          </a:solidFill>
                          <a:latin typeface="Arial Narrow" panose="020B0606020202030204" pitchFamily="34"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2360066"/>
                  </a:ext>
                </a:extLst>
              </a:tr>
              <a:tr h="233250">
                <a:tc>
                  <a:txBody>
                    <a:bodyPr/>
                    <a:lstStyle/>
                    <a:p>
                      <a:pPr algn="ctr"/>
                      <a:r>
                        <a:rPr lang="tr-TR" sz="1000" dirty="0">
                          <a:solidFill>
                            <a:schemeClr val="tx1"/>
                          </a:solidFill>
                          <a:latin typeface="Arial Narrow" panose="020B0606020202030204" pitchFamily="34"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8522642"/>
                  </a:ext>
                </a:extLst>
              </a:tr>
              <a:tr h="233250">
                <a:tc>
                  <a:txBody>
                    <a:bodyPr/>
                    <a:lstStyle/>
                    <a:p>
                      <a:pPr algn="ctr"/>
                      <a:r>
                        <a:rPr lang="tr-TR" sz="1000" dirty="0">
                          <a:solidFill>
                            <a:schemeClr val="tx1"/>
                          </a:solidFill>
                          <a:latin typeface="Arial Narrow" panose="020B0606020202030204" pitchFamily="34"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7000442"/>
                  </a:ext>
                </a:extLst>
              </a:tr>
              <a:tr h="233250">
                <a:tc>
                  <a:txBody>
                    <a:bodyPr/>
                    <a:lstStyle/>
                    <a:p>
                      <a:pPr algn="ctr"/>
                      <a:r>
                        <a:rPr lang="tr-TR" sz="1000" dirty="0">
                          <a:solidFill>
                            <a:schemeClr val="tx1"/>
                          </a:solidFill>
                          <a:latin typeface="Arial Narrow" panose="020B0606020202030204" pitchFamily="34" charset="0"/>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8909748"/>
                  </a:ext>
                </a:extLst>
              </a:tr>
              <a:tr h="233250">
                <a:tc>
                  <a:txBody>
                    <a:bodyPr/>
                    <a:lstStyle/>
                    <a:p>
                      <a:pPr algn="ctr"/>
                      <a:r>
                        <a:rPr lang="tr-TR" sz="1000" dirty="0">
                          <a:solidFill>
                            <a:schemeClr val="tx1"/>
                          </a:solidFill>
                          <a:latin typeface="Arial Narrow" panose="020B0606020202030204" pitchFamily="34" charset="0"/>
                        </a:rPr>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tr-TR" sz="1000"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3469333"/>
                  </a:ext>
                </a:extLst>
              </a:tr>
            </a:tbl>
          </a:graphicData>
        </a:graphic>
      </p:graphicFrame>
      <p:sp>
        <p:nvSpPr>
          <p:cNvPr id="12" name="Çarpım İşareti 11">
            <a:extLst>
              <a:ext uri="{FF2B5EF4-FFF2-40B4-BE49-F238E27FC236}">
                <a16:creationId xmlns:a16="http://schemas.microsoft.com/office/drawing/2014/main" id="{DE36FB10-C1FF-4EB4-BAD5-A26E85024C4B}"/>
              </a:ext>
            </a:extLst>
          </p:cNvPr>
          <p:cNvSpPr/>
          <p:nvPr/>
        </p:nvSpPr>
        <p:spPr>
          <a:xfrm>
            <a:off x="6288037" y="3140114"/>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5" name="Resim 14">
            <a:extLst>
              <a:ext uri="{FF2B5EF4-FFF2-40B4-BE49-F238E27FC236}">
                <a16:creationId xmlns:a16="http://schemas.microsoft.com/office/drawing/2014/main" id="{E338520D-C638-4AAA-831B-9797CB986298}"/>
              </a:ext>
            </a:extLst>
          </p:cNvPr>
          <p:cNvPicPr>
            <a:picLocks noChangeAspect="1"/>
          </p:cNvPicPr>
          <p:nvPr/>
        </p:nvPicPr>
        <p:blipFill>
          <a:blip r:embed="rId7" cstate="print">
            <a:duotone>
              <a:prstClr val="black"/>
              <a:schemeClr val="accent6">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328173" y="3400242"/>
            <a:ext cx="201566" cy="203635"/>
          </a:xfrm>
          <a:prstGeom prst="rect">
            <a:avLst/>
          </a:prstGeom>
        </p:spPr>
      </p:pic>
      <p:pic>
        <p:nvPicPr>
          <p:cNvPr id="67" name="Resim 66">
            <a:extLst>
              <a:ext uri="{FF2B5EF4-FFF2-40B4-BE49-F238E27FC236}">
                <a16:creationId xmlns:a16="http://schemas.microsoft.com/office/drawing/2014/main" id="{3E5645B6-BA3D-4C46-93A4-8D3B873E75BD}"/>
              </a:ext>
            </a:extLst>
          </p:cNvPr>
          <p:cNvPicPr>
            <a:picLocks noChangeAspect="1"/>
          </p:cNvPicPr>
          <p:nvPr/>
        </p:nvPicPr>
        <p:blipFill>
          <a:blip r:embed="rId7" cstate="print">
            <a:duotone>
              <a:prstClr val="black"/>
              <a:schemeClr val="accent6">
                <a:lumMod val="75000"/>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328173" y="2902145"/>
            <a:ext cx="201566" cy="203635"/>
          </a:xfrm>
          <a:prstGeom prst="rect">
            <a:avLst/>
          </a:prstGeom>
        </p:spPr>
      </p:pic>
      <p:sp>
        <p:nvSpPr>
          <p:cNvPr id="68" name="Çarpım İşareti 67">
            <a:extLst>
              <a:ext uri="{FF2B5EF4-FFF2-40B4-BE49-F238E27FC236}">
                <a16:creationId xmlns:a16="http://schemas.microsoft.com/office/drawing/2014/main" id="{466AE240-3B82-4E0F-A0AC-C34F2647230D}"/>
              </a:ext>
            </a:extLst>
          </p:cNvPr>
          <p:cNvSpPr/>
          <p:nvPr/>
        </p:nvSpPr>
        <p:spPr>
          <a:xfrm>
            <a:off x="6288037" y="3641468"/>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Çarpım İşareti 68">
            <a:extLst>
              <a:ext uri="{FF2B5EF4-FFF2-40B4-BE49-F238E27FC236}">
                <a16:creationId xmlns:a16="http://schemas.microsoft.com/office/drawing/2014/main" id="{FAB2F123-24BD-4A5E-854B-96BBC5E92B4D}"/>
              </a:ext>
            </a:extLst>
          </p:cNvPr>
          <p:cNvSpPr/>
          <p:nvPr/>
        </p:nvSpPr>
        <p:spPr>
          <a:xfrm>
            <a:off x="6288037" y="3874754"/>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0" name="Çarpım İşareti 69">
            <a:extLst>
              <a:ext uri="{FF2B5EF4-FFF2-40B4-BE49-F238E27FC236}">
                <a16:creationId xmlns:a16="http://schemas.microsoft.com/office/drawing/2014/main" id="{4664CF4A-4C1E-4891-87DB-F8533DDB01A4}"/>
              </a:ext>
            </a:extLst>
          </p:cNvPr>
          <p:cNvSpPr/>
          <p:nvPr/>
        </p:nvSpPr>
        <p:spPr>
          <a:xfrm>
            <a:off x="6288037" y="4117061"/>
            <a:ext cx="264230" cy="225793"/>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1" name="Metin kutusu 70">
            <a:extLst>
              <a:ext uri="{FF2B5EF4-FFF2-40B4-BE49-F238E27FC236}">
                <a16:creationId xmlns:a16="http://schemas.microsoft.com/office/drawing/2014/main" id="{2F4D8B8D-8A62-4246-AF5F-639E58E36951}"/>
              </a:ext>
            </a:extLst>
          </p:cNvPr>
          <p:cNvSpPr txBox="1"/>
          <p:nvPr/>
        </p:nvSpPr>
        <p:spPr>
          <a:xfrm>
            <a:off x="3571835" y="4726570"/>
            <a:ext cx="3272745" cy="861774"/>
          </a:xfrm>
          <a:prstGeom prst="rect">
            <a:avLst/>
          </a:prstGeom>
          <a:noFill/>
        </p:spPr>
        <p:txBody>
          <a:bodyPr wrap="square" rtlCol="0">
            <a:spAutoFit/>
          </a:bodyPr>
          <a:lstStyle/>
          <a:p>
            <a:r>
              <a:rPr lang="tr-TR" sz="1000" b="1" noProof="1">
                <a:latin typeface="Calibri (Gövde)"/>
                <a:cs typeface="Arial" panose="020B0604020202020204" pitchFamily="34" charset="0"/>
              </a:rPr>
              <a:t>a,b pozitif rakamlar olmak üzere, ab iki basamaklı sayısı ile ba iki basamaklı sayısı asalsa bu sayılara </a:t>
            </a:r>
            <a:r>
              <a:rPr lang="tr-TR" sz="1000" b="1" i="0" dirty="0">
                <a:effectLst/>
                <a:latin typeface="Arial Narrow" panose="020B0606020202030204" pitchFamily="34" charset="0"/>
              </a:rPr>
              <a:t>“</a:t>
            </a:r>
            <a:r>
              <a:rPr lang="tr-TR" sz="800" b="1" i="0" dirty="0">
                <a:effectLst/>
                <a:latin typeface="Arial Narrow" panose="020B0606020202030204" pitchFamily="34" charset="0"/>
              </a:rPr>
              <a:t> </a:t>
            </a:r>
            <a:r>
              <a:rPr lang="tr-TR" sz="1000" b="1" noProof="1">
                <a:cs typeface="Arial" panose="020B0604020202020204" pitchFamily="34" charset="0"/>
              </a:rPr>
              <a:t>ultra asal sayılar</a:t>
            </a:r>
            <a:r>
              <a:rPr lang="tr-TR" sz="1000" b="1" i="0" dirty="0">
                <a:effectLst/>
                <a:latin typeface="Arial Narrow" panose="020B0606020202030204" pitchFamily="34" charset="0"/>
              </a:rPr>
              <a:t>” denir</a:t>
            </a:r>
            <a:r>
              <a:rPr lang="tr-TR" sz="1000" b="1" i="1" dirty="0">
                <a:effectLst/>
                <a:latin typeface="Arial Narrow" panose="020B0606020202030204" pitchFamily="34" charset="0"/>
              </a:rPr>
              <a:t>.</a:t>
            </a:r>
            <a:r>
              <a:rPr lang="tr-TR" sz="1000" b="1" i="1" noProof="1">
                <a:effectLst/>
                <a:latin typeface="Calibri (Gövde)"/>
                <a:cs typeface="Arial" panose="020B0604020202020204" pitchFamily="34" charset="0"/>
              </a:rPr>
              <a:t> </a:t>
            </a:r>
          </a:p>
          <a:p>
            <a:endParaRPr lang="tr-TR" sz="1000" b="1" i="1" noProof="1">
              <a:latin typeface="Calibri (Gövde)"/>
              <a:cs typeface="Arial" panose="020B0604020202020204" pitchFamily="34" charset="0"/>
            </a:endParaRPr>
          </a:p>
          <a:p>
            <a:r>
              <a:rPr lang="tr-TR" sz="1000" b="1" noProof="1">
                <a:latin typeface="Calibri (Gövde)"/>
                <a:cs typeface="Arial" panose="020B0604020202020204" pitchFamily="34" charset="0"/>
              </a:rPr>
              <a:t>Buna göre, iki basamaklı kaç tane ultra asal sayısı vardır?</a:t>
            </a:r>
            <a:endParaRPr lang="tr-TR" sz="1000" b="1" dirty="0">
              <a:effectLst/>
              <a:latin typeface="Arial Narrow" panose="020B0606020202030204" pitchFamily="34" charset="0"/>
            </a:endParaRPr>
          </a:p>
        </p:txBody>
      </p:sp>
      <mc:AlternateContent xmlns:mc="http://schemas.openxmlformats.org/markup-compatibility/2006" xmlns:a14="http://schemas.microsoft.com/office/drawing/2010/main">
        <mc:Choice Requires="a14">
          <p:sp>
            <p:nvSpPr>
              <p:cNvPr id="73" name="Metin kutusu 72">
                <a:extLst>
                  <a:ext uri="{FF2B5EF4-FFF2-40B4-BE49-F238E27FC236}">
                    <a16:creationId xmlns:a16="http://schemas.microsoft.com/office/drawing/2014/main" id="{664E1143-ACA0-4EDB-924B-6C581B1D5992}"/>
                  </a:ext>
                </a:extLst>
              </p:cNvPr>
              <p:cNvSpPr txBox="1"/>
              <p:nvPr/>
            </p:nvSpPr>
            <p:spPr>
              <a:xfrm>
                <a:off x="1189746" y="2833117"/>
                <a:ext cx="665115" cy="1616702"/>
              </a:xfrm>
              <a:prstGeom prst="rect">
                <a:avLst/>
              </a:prstGeom>
              <a:noFill/>
            </p:spPr>
            <p:txBody>
              <a:bodyPr wrap="square" rtlCol="0">
                <a:spAutoFit/>
              </a:bodyPr>
              <a:lstStyle/>
              <a:p>
                <a:endParaRPr lang="tr-TR" sz="1000" b="1" noProof="1">
                  <a:cs typeface="Arial" panose="020B0604020202020204" pitchFamily="34" charset="0"/>
                </a:endParaRPr>
              </a:p>
              <a:p>
                <a:r>
                  <a:rPr lang="tr-TR" sz="1000" b="1" noProof="1">
                    <a:solidFill>
                      <a:schemeClr val="tx1"/>
                    </a:solidFill>
                    <a:cs typeface="Arial" panose="020B0604020202020204" pitchFamily="34" charset="0"/>
                  </a:rPr>
                  <a:t>43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34</a:t>
                </a:r>
              </a:p>
              <a:p>
                <a:r>
                  <a:rPr lang="tr-TR" sz="1000" b="1" noProof="1">
                    <a:cs typeface="Arial" panose="020B0604020202020204" pitchFamily="34" charset="0"/>
                  </a:rPr>
                  <a:t>47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31</a:t>
                </a:r>
              </a:p>
              <a:p>
                <a:r>
                  <a:rPr lang="tr-TR" sz="1000" b="1" noProof="1">
                    <a:cs typeface="Arial" panose="020B0604020202020204" pitchFamily="34" charset="0"/>
                  </a:rPr>
                  <a:t>53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35</a:t>
                </a:r>
              </a:p>
              <a:p>
                <a:r>
                  <a:rPr lang="tr-TR" sz="1000" b="1" noProof="1">
                    <a:cs typeface="Arial" panose="020B0604020202020204" pitchFamily="34" charset="0"/>
                  </a:rPr>
                  <a:t>59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95</a:t>
                </a:r>
              </a:p>
              <a:p>
                <a:r>
                  <a:rPr lang="tr-TR" sz="1000" b="1" noProof="1">
                    <a:cs typeface="Arial" panose="020B0604020202020204" pitchFamily="34" charset="0"/>
                  </a:rPr>
                  <a:t>61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16</a:t>
                </a:r>
                <a:endParaRPr lang="tr-TR" sz="1000" b="1" noProof="1">
                  <a:solidFill>
                    <a:schemeClr val="tx1"/>
                  </a:solidFill>
                  <a:cs typeface="Arial" panose="020B0604020202020204" pitchFamily="34" charset="0"/>
                </a:endParaRPr>
              </a:p>
              <a:p>
                <a:r>
                  <a:rPr lang="tr-TR" sz="1000" b="1" noProof="1">
                    <a:cs typeface="Arial" panose="020B0604020202020204" pitchFamily="34" charset="0"/>
                  </a:rPr>
                  <a:t>67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73</a:t>
                </a:r>
                <a:endParaRPr lang="tr-TR" sz="1000" b="1" noProof="1">
                  <a:solidFill>
                    <a:schemeClr val="tx1"/>
                  </a:solidFill>
                  <a:cs typeface="Arial" panose="020B0604020202020204" pitchFamily="34" charset="0"/>
                </a:endParaRPr>
              </a:p>
              <a:p>
                <a:r>
                  <a:rPr lang="tr-TR" sz="1000" b="1" noProof="1">
                    <a:cs typeface="Arial" panose="020B0604020202020204" pitchFamily="34" charset="0"/>
                  </a:rPr>
                  <a:t>71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17</a:t>
                </a:r>
              </a:p>
              <a:p>
                <a:r>
                  <a:rPr lang="tr-TR" sz="1000" b="1" noProof="1">
                    <a:cs typeface="Arial" panose="020B0604020202020204" pitchFamily="34" charset="0"/>
                  </a:rPr>
                  <a:t>73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37</a:t>
                </a:r>
                <a:br>
                  <a:rPr lang="tr-TR" sz="1000" b="1" noProof="1">
                    <a:cs typeface="Arial" panose="020B0604020202020204" pitchFamily="34" charset="0"/>
                  </a:rPr>
                </a:br>
                <a:r>
                  <a:rPr lang="tr-TR" sz="1000" b="1" noProof="1">
                    <a:cs typeface="Arial" panose="020B0604020202020204" pitchFamily="34" charset="0"/>
                  </a:rPr>
                  <a:t>79 </a:t>
                </a:r>
                <a14:m>
                  <m:oMath xmlns:m="http://schemas.openxmlformats.org/officeDocument/2006/math">
                    <m:r>
                      <a:rPr lang="tr-TR" sz="1000" b="1" i="1" noProof="1">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cs typeface="Arial" panose="020B0604020202020204" pitchFamily="34" charset="0"/>
                  </a:rPr>
                  <a:t> 97</a:t>
                </a:r>
              </a:p>
            </p:txBody>
          </p:sp>
        </mc:Choice>
        <mc:Fallback xmlns="">
          <p:sp>
            <p:nvSpPr>
              <p:cNvPr id="73" name="Metin kutusu 72">
                <a:extLst>
                  <a:ext uri="{FF2B5EF4-FFF2-40B4-BE49-F238E27FC236}">
                    <a16:creationId xmlns:a16="http://schemas.microsoft.com/office/drawing/2014/main" id="{664E1143-ACA0-4EDB-924B-6C581B1D5992}"/>
                  </a:ext>
                </a:extLst>
              </p:cNvPr>
              <p:cNvSpPr txBox="1">
                <a:spLocks noRot="1" noChangeAspect="1" noMove="1" noResize="1" noEditPoints="1" noAdjustHandles="1" noChangeArrowheads="1" noChangeShapeType="1" noTextEdit="1"/>
              </p:cNvSpPr>
              <p:nvPr/>
            </p:nvSpPr>
            <p:spPr>
              <a:xfrm>
                <a:off x="1189746" y="2833117"/>
                <a:ext cx="665115" cy="1616702"/>
              </a:xfrm>
              <a:prstGeom prst="rect">
                <a:avLst/>
              </a:prstGeom>
              <a:blipFill>
                <a:blip r:embed="rId9"/>
                <a:stretch>
                  <a:fillRect b="-226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4" name="Metin kutusu 73">
                <a:extLst>
                  <a:ext uri="{FF2B5EF4-FFF2-40B4-BE49-F238E27FC236}">
                    <a16:creationId xmlns:a16="http://schemas.microsoft.com/office/drawing/2014/main" id="{51A96E38-FBED-465A-805A-5873B3FF190E}"/>
                  </a:ext>
                </a:extLst>
              </p:cNvPr>
              <p:cNvSpPr txBox="1"/>
              <p:nvPr/>
            </p:nvSpPr>
            <p:spPr>
              <a:xfrm>
                <a:off x="2311135" y="2833117"/>
                <a:ext cx="665115" cy="707886"/>
              </a:xfrm>
              <a:prstGeom prst="rect">
                <a:avLst/>
              </a:prstGeom>
              <a:noFill/>
            </p:spPr>
            <p:txBody>
              <a:bodyPr wrap="square" rtlCol="0">
                <a:spAutoFit/>
              </a:bodyPr>
              <a:lstStyle/>
              <a:p>
                <a:endParaRPr lang="tr-TR" sz="1000" b="1" noProof="1">
                  <a:cs typeface="Arial" panose="020B0604020202020204" pitchFamily="34" charset="0"/>
                </a:endParaRPr>
              </a:p>
              <a:p>
                <a:r>
                  <a:rPr lang="tr-TR" sz="1000" b="1" noProof="1">
                    <a:cs typeface="Arial" panose="020B0604020202020204" pitchFamily="34" charset="0"/>
                  </a:rPr>
                  <a:t>83</a:t>
                </a:r>
                <a:r>
                  <a:rPr lang="tr-TR" sz="1000" b="1" noProof="1">
                    <a:solidFill>
                      <a:schemeClr val="tx1"/>
                    </a:solidFill>
                    <a:cs typeface="Arial" panose="020B0604020202020204" pitchFamily="34" charset="0"/>
                  </a:rPr>
                  <a:t>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38</a:t>
                </a:r>
              </a:p>
              <a:p>
                <a:r>
                  <a:rPr lang="tr-TR" sz="1000" b="1" noProof="1">
                    <a:cs typeface="Arial" panose="020B0604020202020204" pitchFamily="34" charset="0"/>
                  </a:rPr>
                  <a:t>89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98</a:t>
                </a:r>
              </a:p>
              <a:p>
                <a:r>
                  <a:rPr lang="tr-TR" sz="1000" b="1" noProof="1">
                    <a:cs typeface="Arial" panose="020B0604020202020204" pitchFamily="34" charset="0"/>
                  </a:rPr>
                  <a:t>97 </a:t>
                </a:r>
                <a14:m>
                  <m:oMath xmlns:m="http://schemas.openxmlformats.org/officeDocument/2006/math">
                    <m:r>
                      <a:rPr lang="tr-TR" sz="1000" b="1" i="1" noProof="1" smtClean="0">
                        <a:latin typeface="Cambria Math" panose="02040503050406030204" pitchFamily="18" charset="0"/>
                        <a:ea typeface="Cambria Math" panose="02040503050406030204" pitchFamily="18" charset="0"/>
                        <a:cs typeface="Arial" panose="020B0604020202020204" pitchFamily="34" charset="0"/>
                      </a:rPr>
                      <m:t>→</m:t>
                    </m:r>
                  </m:oMath>
                </a14:m>
                <a:r>
                  <a:rPr lang="tr-TR" sz="1000" b="1" noProof="1">
                    <a:solidFill>
                      <a:schemeClr val="tx1"/>
                    </a:solidFill>
                    <a:cs typeface="Arial" panose="020B0604020202020204" pitchFamily="34" charset="0"/>
                  </a:rPr>
                  <a:t> </a:t>
                </a:r>
                <a:r>
                  <a:rPr lang="tr-TR" sz="1000" b="1" noProof="1">
                    <a:cs typeface="Arial" panose="020B0604020202020204" pitchFamily="34" charset="0"/>
                  </a:rPr>
                  <a:t>79</a:t>
                </a:r>
                <a:endParaRPr lang="tr-TR" sz="1000" b="1" noProof="1">
                  <a:solidFill>
                    <a:schemeClr val="tx1"/>
                  </a:solidFill>
                  <a:cs typeface="Arial" panose="020B0604020202020204" pitchFamily="34" charset="0"/>
                </a:endParaRPr>
              </a:p>
            </p:txBody>
          </p:sp>
        </mc:Choice>
        <mc:Fallback xmlns="">
          <p:sp>
            <p:nvSpPr>
              <p:cNvPr id="74" name="Metin kutusu 73">
                <a:extLst>
                  <a:ext uri="{FF2B5EF4-FFF2-40B4-BE49-F238E27FC236}">
                    <a16:creationId xmlns:a16="http://schemas.microsoft.com/office/drawing/2014/main" id="{51A96E38-FBED-465A-805A-5873B3FF190E}"/>
                  </a:ext>
                </a:extLst>
              </p:cNvPr>
              <p:cNvSpPr txBox="1">
                <a:spLocks noRot="1" noChangeAspect="1" noMove="1" noResize="1" noEditPoints="1" noAdjustHandles="1" noChangeArrowheads="1" noChangeShapeType="1" noTextEdit="1"/>
              </p:cNvSpPr>
              <p:nvPr/>
            </p:nvSpPr>
            <p:spPr>
              <a:xfrm>
                <a:off x="2311135" y="2833117"/>
                <a:ext cx="665115" cy="707886"/>
              </a:xfrm>
              <a:prstGeom prst="rect">
                <a:avLst/>
              </a:prstGeom>
              <a:blipFill>
                <a:blip r:embed="rId10"/>
                <a:stretch>
                  <a:fillRect b="-4310"/>
                </a:stretch>
              </a:blipFill>
            </p:spPr>
            <p:txBody>
              <a:bodyPr/>
              <a:lstStyle/>
              <a:p>
                <a:r>
                  <a:rPr lang="tr-TR">
                    <a:noFill/>
                  </a:rPr>
                  <a:t> </a:t>
                </a:r>
              </a:p>
            </p:txBody>
          </p:sp>
        </mc:Fallback>
      </mc:AlternateContent>
      <p:sp>
        <p:nvSpPr>
          <p:cNvPr id="75" name="Çarpım İşareti 74">
            <a:extLst>
              <a:ext uri="{FF2B5EF4-FFF2-40B4-BE49-F238E27FC236}">
                <a16:creationId xmlns:a16="http://schemas.microsoft.com/office/drawing/2014/main" id="{D0C4682A-7662-4BCF-8811-D90A0A9E3C88}"/>
              </a:ext>
            </a:extLst>
          </p:cNvPr>
          <p:cNvSpPr/>
          <p:nvPr/>
        </p:nvSpPr>
        <p:spPr>
          <a:xfrm>
            <a:off x="562731" y="3502059"/>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6" name="Çarpım İşareti 75">
            <a:extLst>
              <a:ext uri="{FF2B5EF4-FFF2-40B4-BE49-F238E27FC236}">
                <a16:creationId xmlns:a16="http://schemas.microsoft.com/office/drawing/2014/main" id="{15482CBB-B90C-4869-AB6D-A29DC4537754}"/>
              </a:ext>
            </a:extLst>
          </p:cNvPr>
          <p:cNvSpPr/>
          <p:nvPr/>
        </p:nvSpPr>
        <p:spPr>
          <a:xfrm>
            <a:off x="562731" y="3650783"/>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7" name="Çarpım İşareti 76">
            <a:extLst>
              <a:ext uri="{FF2B5EF4-FFF2-40B4-BE49-F238E27FC236}">
                <a16:creationId xmlns:a16="http://schemas.microsoft.com/office/drawing/2014/main" id="{C5E65326-3C4F-4A64-A94E-494A1AED30A6}"/>
              </a:ext>
            </a:extLst>
          </p:cNvPr>
          <p:cNvSpPr/>
          <p:nvPr/>
        </p:nvSpPr>
        <p:spPr>
          <a:xfrm>
            <a:off x="562731" y="3800312"/>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8" name="Çarpım İşareti 77">
            <a:extLst>
              <a:ext uri="{FF2B5EF4-FFF2-40B4-BE49-F238E27FC236}">
                <a16:creationId xmlns:a16="http://schemas.microsoft.com/office/drawing/2014/main" id="{08225FD1-9B81-483F-97CE-56B957253645}"/>
              </a:ext>
            </a:extLst>
          </p:cNvPr>
          <p:cNvSpPr/>
          <p:nvPr/>
        </p:nvSpPr>
        <p:spPr>
          <a:xfrm>
            <a:off x="562731" y="4274272"/>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9" name="Çarpım İşareti 78">
            <a:extLst>
              <a:ext uri="{FF2B5EF4-FFF2-40B4-BE49-F238E27FC236}">
                <a16:creationId xmlns:a16="http://schemas.microsoft.com/office/drawing/2014/main" id="{80C51A0E-D172-4CE4-9488-B18126E44548}"/>
              </a:ext>
            </a:extLst>
          </p:cNvPr>
          <p:cNvSpPr/>
          <p:nvPr/>
        </p:nvSpPr>
        <p:spPr>
          <a:xfrm>
            <a:off x="1722265" y="3647316"/>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0" name="Çarpım İşareti 79">
            <a:extLst>
              <a:ext uri="{FF2B5EF4-FFF2-40B4-BE49-F238E27FC236}">
                <a16:creationId xmlns:a16="http://schemas.microsoft.com/office/drawing/2014/main" id="{0D24A209-A9D1-489D-93F4-9FE991976E73}"/>
              </a:ext>
            </a:extLst>
          </p:cNvPr>
          <p:cNvSpPr/>
          <p:nvPr/>
        </p:nvSpPr>
        <p:spPr>
          <a:xfrm>
            <a:off x="1709267" y="3043252"/>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1" name="Çarpım İşareti 80">
            <a:extLst>
              <a:ext uri="{FF2B5EF4-FFF2-40B4-BE49-F238E27FC236}">
                <a16:creationId xmlns:a16="http://schemas.microsoft.com/office/drawing/2014/main" id="{BD1B82D0-3107-40BA-AFEC-7FF0630F1D3B}"/>
              </a:ext>
            </a:extLst>
          </p:cNvPr>
          <p:cNvSpPr/>
          <p:nvPr/>
        </p:nvSpPr>
        <p:spPr>
          <a:xfrm>
            <a:off x="1709267" y="3354668"/>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2" name="Çarpım İşareti 81">
            <a:extLst>
              <a:ext uri="{FF2B5EF4-FFF2-40B4-BE49-F238E27FC236}">
                <a16:creationId xmlns:a16="http://schemas.microsoft.com/office/drawing/2014/main" id="{4362C5C5-04AA-41C1-85FB-F1875CA07B72}"/>
              </a:ext>
            </a:extLst>
          </p:cNvPr>
          <p:cNvSpPr/>
          <p:nvPr/>
        </p:nvSpPr>
        <p:spPr>
          <a:xfrm>
            <a:off x="1709267" y="3505798"/>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3" name="Çarpım İşareti 82">
            <a:extLst>
              <a:ext uri="{FF2B5EF4-FFF2-40B4-BE49-F238E27FC236}">
                <a16:creationId xmlns:a16="http://schemas.microsoft.com/office/drawing/2014/main" id="{FE0D4517-01A9-43ED-BA99-C929687D601A}"/>
              </a:ext>
            </a:extLst>
          </p:cNvPr>
          <p:cNvSpPr/>
          <p:nvPr/>
        </p:nvSpPr>
        <p:spPr>
          <a:xfrm>
            <a:off x="2841693" y="3043252"/>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4" name="Çarpım İşareti 83">
            <a:extLst>
              <a:ext uri="{FF2B5EF4-FFF2-40B4-BE49-F238E27FC236}">
                <a16:creationId xmlns:a16="http://schemas.microsoft.com/office/drawing/2014/main" id="{061BCC49-1040-48F0-8C8D-C9400A530E17}"/>
              </a:ext>
            </a:extLst>
          </p:cNvPr>
          <p:cNvSpPr/>
          <p:nvPr/>
        </p:nvSpPr>
        <p:spPr>
          <a:xfrm>
            <a:off x="2841693" y="3198884"/>
            <a:ext cx="121036" cy="121104"/>
          </a:xfrm>
          <a:prstGeom prst="mathMultiply">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Dikdörtgen 5">
            <a:extLst>
              <a:ext uri="{FF2B5EF4-FFF2-40B4-BE49-F238E27FC236}">
                <a16:creationId xmlns:a16="http://schemas.microsoft.com/office/drawing/2014/main" id="{7E1F087A-F880-4F01-9C5F-735019FE1BC8}"/>
              </a:ext>
            </a:extLst>
          </p:cNvPr>
          <p:cNvSpPr/>
          <p:nvPr/>
        </p:nvSpPr>
        <p:spPr>
          <a:xfrm>
            <a:off x="99098" y="4460562"/>
            <a:ext cx="3148839" cy="506108"/>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5" name="Metin kutusu 84">
            <a:extLst>
              <a:ext uri="{FF2B5EF4-FFF2-40B4-BE49-F238E27FC236}">
                <a16:creationId xmlns:a16="http://schemas.microsoft.com/office/drawing/2014/main" id="{30CB8BED-A6E5-41DB-899E-A43025604A99}"/>
              </a:ext>
            </a:extLst>
          </p:cNvPr>
          <p:cNvSpPr txBox="1"/>
          <p:nvPr/>
        </p:nvSpPr>
        <p:spPr>
          <a:xfrm>
            <a:off x="80504" y="4448889"/>
            <a:ext cx="3228844" cy="553998"/>
          </a:xfrm>
          <a:prstGeom prst="rect">
            <a:avLst/>
          </a:prstGeom>
          <a:noFill/>
        </p:spPr>
        <p:txBody>
          <a:bodyPr wrap="square" rtlCol="0">
            <a:spAutoFit/>
          </a:bodyPr>
          <a:lstStyle/>
          <a:p>
            <a:r>
              <a:rPr lang="tr-TR" sz="1000" b="1" noProof="1">
                <a:solidFill>
                  <a:srgbClr val="00B0F0"/>
                </a:solidFill>
                <a:cs typeface="Arial" panose="020B0604020202020204" pitchFamily="34" charset="0"/>
              </a:rPr>
              <a:t>Pratik : </a:t>
            </a:r>
            <a:r>
              <a:rPr lang="tr-TR" sz="1000" noProof="1">
                <a:cs typeface="Arial" panose="020B0604020202020204" pitchFamily="34" charset="0"/>
              </a:rPr>
              <a:t>Onlar basamağı birler basamağıyla yer değişeceğinden onlar basamağı 5 olanlar ve çift olan sayılar kesinlikle asal sayı olmayacaktır. </a:t>
            </a:r>
            <a:endParaRPr lang="tr-TR" sz="1000" noProof="1">
              <a:solidFill>
                <a:schemeClr val="tx1"/>
              </a:solidFill>
              <a:cs typeface="Arial" panose="020B0604020202020204" pitchFamily="34" charset="0"/>
            </a:endParaRPr>
          </a:p>
        </p:txBody>
      </p:sp>
      <p:pic>
        <p:nvPicPr>
          <p:cNvPr id="8" name="Grafik 7">
            <a:extLst>
              <a:ext uri="{FF2B5EF4-FFF2-40B4-BE49-F238E27FC236}">
                <a16:creationId xmlns:a16="http://schemas.microsoft.com/office/drawing/2014/main" id="{99A77854-7390-4E7B-903B-71603E305BE2}"/>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91058" y="3045262"/>
            <a:ext cx="121036" cy="121036"/>
          </a:xfrm>
          <a:prstGeom prst="rect">
            <a:avLst/>
          </a:prstGeom>
        </p:spPr>
      </p:pic>
      <p:pic>
        <p:nvPicPr>
          <p:cNvPr id="97" name="Grafik 96">
            <a:extLst>
              <a:ext uri="{FF2B5EF4-FFF2-40B4-BE49-F238E27FC236}">
                <a16:creationId xmlns:a16="http://schemas.microsoft.com/office/drawing/2014/main" id="{B2CD8ECC-B463-4F55-B278-3EC6321BE26B}"/>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8204" y="3196632"/>
            <a:ext cx="121036" cy="121036"/>
          </a:xfrm>
          <a:prstGeom prst="rect">
            <a:avLst/>
          </a:prstGeom>
        </p:spPr>
      </p:pic>
      <p:pic>
        <p:nvPicPr>
          <p:cNvPr id="98" name="Grafik 97">
            <a:extLst>
              <a:ext uri="{FF2B5EF4-FFF2-40B4-BE49-F238E27FC236}">
                <a16:creationId xmlns:a16="http://schemas.microsoft.com/office/drawing/2014/main" id="{B3004A1A-4BEC-4F58-B33C-0B011D02B0AB}"/>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8204" y="3346273"/>
            <a:ext cx="121036" cy="121036"/>
          </a:xfrm>
          <a:prstGeom prst="rect">
            <a:avLst/>
          </a:prstGeom>
        </p:spPr>
      </p:pic>
      <p:pic>
        <p:nvPicPr>
          <p:cNvPr id="99" name="Grafik 98">
            <a:extLst>
              <a:ext uri="{FF2B5EF4-FFF2-40B4-BE49-F238E27FC236}">
                <a16:creationId xmlns:a16="http://schemas.microsoft.com/office/drawing/2014/main" id="{F71866CE-0042-491E-B795-067551D633BA}"/>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23935" y="3817413"/>
            <a:ext cx="121036" cy="121036"/>
          </a:xfrm>
          <a:prstGeom prst="rect">
            <a:avLst/>
          </a:prstGeom>
        </p:spPr>
      </p:pic>
      <p:pic>
        <p:nvPicPr>
          <p:cNvPr id="100" name="Grafik 99">
            <a:extLst>
              <a:ext uri="{FF2B5EF4-FFF2-40B4-BE49-F238E27FC236}">
                <a16:creationId xmlns:a16="http://schemas.microsoft.com/office/drawing/2014/main" id="{8C8A1845-2F70-427E-BCE0-FDEA6ECB127F}"/>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21081" y="3968783"/>
            <a:ext cx="121036" cy="121036"/>
          </a:xfrm>
          <a:prstGeom prst="rect">
            <a:avLst/>
          </a:prstGeom>
        </p:spPr>
      </p:pic>
      <p:pic>
        <p:nvPicPr>
          <p:cNvPr id="101" name="Grafik 100">
            <a:extLst>
              <a:ext uri="{FF2B5EF4-FFF2-40B4-BE49-F238E27FC236}">
                <a16:creationId xmlns:a16="http://schemas.microsoft.com/office/drawing/2014/main" id="{BCDD3490-2305-4867-B19C-1E54A045F739}"/>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21081" y="4118424"/>
            <a:ext cx="121036" cy="121036"/>
          </a:xfrm>
          <a:prstGeom prst="rect">
            <a:avLst/>
          </a:prstGeom>
        </p:spPr>
      </p:pic>
      <p:pic>
        <p:nvPicPr>
          <p:cNvPr id="102" name="Grafik 101">
            <a:extLst>
              <a:ext uri="{FF2B5EF4-FFF2-40B4-BE49-F238E27FC236}">
                <a16:creationId xmlns:a16="http://schemas.microsoft.com/office/drawing/2014/main" id="{43F133E3-6273-41E3-8C1E-8BC67064CFF2}"/>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4640" y="3960993"/>
            <a:ext cx="121036" cy="121036"/>
          </a:xfrm>
          <a:prstGeom prst="rect">
            <a:avLst/>
          </a:prstGeom>
        </p:spPr>
      </p:pic>
      <p:pic>
        <p:nvPicPr>
          <p:cNvPr id="103" name="Grafik 102">
            <a:extLst>
              <a:ext uri="{FF2B5EF4-FFF2-40B4-BE49-F238E27FC236}">
                <a16:creationId xmlns:a16="http://schemas.microsoft.com/office/drawing/2014/main" id="{3A698867-BE51-4BED-9733-1957862883E0}"/>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2731" y="4117019"/>
            <a:ext cx="121036" cy="121036"/>
          </a:xfrm>
          <a:prstGeom prst="rect">
            <a:avLst/>
          </a:prstGeom>
        </p:spPr>
      </p:pic>
      <p:pic>
        <p:nvPicPr>
          <p:cNvPr id="104" name="Grafik 103">
            <a:extLst>
              <a:ext uri="{FF2B5EF4-FFF2-40B4-BE49-F238E27FC236}">
                <a16:creationId xmlns:a16="http://schemas.microsoft.com/office/drawing/2014/main" id="{7EFF1F13-2389-4091-87AE-CBFF49A37B57}"/>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16023" y="3198467"/>
            <a:ext cx="121036" cy="121036"/>
          </a:xfrm>
          <a:prstGeom prst="rect">
            <a:avLst/>
          </a:prstGeom>
        </p:spPr>
      </p:pic>
      <p:pic>
        <p:nvPicPr>
          <p:cNvPr id="105" name="Grafik 104">
            <a:extLst>
              <a:ext uri="{FF2B5EF4-FFF2-40B4-BE49-F238E27FC236}">
                <a16:creationId xmlns:a16="http://schemas.microsoft.com/office/drawing/2014/main" id="{239062E2-5023-4B28-A4C0-FCA859B0DE96}"/>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23935" y="4274272"/>
            <a:ext cx="121036" cy="121036"/>
          </a:xfrm>
          <a:prstGeom prst="rect">
            <a:avLst/>
          </a:prstGeom>
        </p:spPr>
      </p:pic>
      <p:pic>
        <p:nvPicPr>
          <p:cNvPr id="106" name="Grafik 105">
            <a:extLst>
              <a:ext uri="{FF2B5EF4-FFF2-40B4-BE49-F238E27FC236}">
                <a16:creationId xmlns:a16="http://schemas.microsoft.com/office/drawing/2014/main" id="{666666B1-7873-4E3D-882D-413CA3309602}"/>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843067" y="3354070"/>
            <a:ext cx="121036" cy="121036"/>
          </a:xfrm>
          <a:prstGeom prst="rect">
            <a:avLst/>
          </a:prstGeom>
        </p:spPr>
      </p:pic>
    </p:spTree>
    <p:extLst>
      <p:ext uri="{BB962C8B-B14F-4D97-AF65-F5344CB8AC3E}">
        <p14:creationId xmlns:p14="http://schemas.microsoft.com/office/powerpoint/2010/main" val="20237765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34702" y="782432"/>
            <a:ext cx="3212178" cy="553998"/>
          </a:xfrm>
          <a:prstGeom prst="rect">
            <a:avLst/>
          </a:prstGeom>
          <a:noFill/>
        </p:spPr>
        <p:txBody>
          <a:bodyPr wrap="square" rtlCol="0">
            <a:spAutoFit/>
          </a:bodyPr>
          <a:lstStyle/>
          <a:p>
            <a:r>
              <a:rPr lang="tr-TR" sz="1000" b="1" noProof="1">
                <a:cs typeface="Arial" panose="020B0604020202020204" pitchFamily="34" charset="0"/>
              </a:rPr>
              <a:t>Bir bakkal her 4 gazoz kapağına 1 tane gazoz bedava verilmektedir. 58 tane gazoz alan Mehmet, kaç tane bedava gazoz almış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6349" y="200231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2759" y="42639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33700" y="476011"/>
            <a:ext cx="2191914" cy="307777"/>
          </a:xfrm>
          <a:prstGeom prst="rect">
            <a:avLst/>
          </a:prstGeom>
          <a:noFill/>
        </p:spPr>
        <p:txBody>
          <a:bodyPr wrap="square">
            <a:spAutoFit/>
          </a:bodyPr>
          <a:lstStyle/>
          <a:p>
            <a:r>
              <a:rPr lang="tr-TR" sz="700" i="0" noProof="1">
                <a:solidFill>
                  <a:schemeClr val="bg1"/>
                </a:solidFill>
                <a:effectLst/>
                <a:latin typeface="Arial Narrow" panose="020B0606020202030204" pitchFamily="34" charset="0"/>
              </a:rPr>
              <a:t>“Her zaman mükemmeli yakalamaya çalış, o zaman başarı zaten seni kovalar.”  - Aamir Khan</a:t>
            </a:r>
            <a:endParaRPr lang="tr-TR" sz="700" noProof="1">
              <a:solidFill>
                <a:schemeClr val="bg1"/>
              </a:solidFill>
              <a:latin typeface="Arial Narrow" panose="020B0606020202030204" pitchFamily="34" charset="0"/>
            </a:endParaRPr>
          </a:p>
        </p:txBody>
      </p:sp>
    </p:spTree>
    <p:extLst>
      <p:ext uri="{BB962C8B-B14F-4D97-AF65-F5344CB8AC3E}">
        <p14:creationId xmlns:p14="http://schemas.microsoft.com/office/powerpoint/2010/main" val="13586527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Net – Puan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16833" y="556156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58514" y="558011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67239" y="556156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11436" y="816404"/>
            <a:ext cx="3472946" cy="553998"/>
          </a:xfrm>
          <a:prstGeom prst="rect">
            <a:avLst/>
          </a:prstGeom>
          <a:noFill/>
        </p:spPr>
        <p:txBody>
          <a:bodyPr wrap="square" rtlCol="0">
            <a:spAutoFit/>
          </a:bodyPr>
          <a:lstStyle/>
          <a:p>
            <a:r>
              <a:rPr lang="tr-TR" sz="1000" b="1" noProof="1">
                <a:cs typeface="Arial" panose="020B0604020202020204" pitchFamily="34" charset="0"/>
              </a:rPr>
              <a:t>20 soruluk bir sınavda, 5 doğruyu 15 yanlış götürmektedir. </a:t>
            </a:r>
            <a:r>
              <a:rPr lang="tr-TR" sz="900" b="1" noProof="1">
                <a:cs typeface="Arial" panose="020B0604020202020204" pitchFamily="34" charset="0"/>
              </a:rPr>
              <a:t>Net</a:t>
            </a:r>
            <a:r>
              <a:rPr lang="tr-TR" sz="1000" b="1" noProof="1">
                <a:cs typeface="Arial" panose="020B0604020202020204" pitchFamily="34" charset="0"/>
              </a:rPr>
              <a:t> doğru sayısı 0,5 katsayısı ile çarpılmaktadır. Sınavdan 6 puan alan ve boş soru bırakmayan Sedef`in kaç doğrusu vardır?</a:t>
            </a:r>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64174" y="5571954"/>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76839" y="466599"/>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867169" y="419321"/>
            <a:ext cx="2389633" cy="467852"/>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81505" y="448998"/>
            <a:ext cx="2522389" cy="415498"/>
          </a:xfrm>
          <a:prstGeom prst="rect">
            <a:avLst/>
          </a:prstGeom>
          <a:noFill/>
        </p:spPr>
        <p:txBody>
          <a:bodyPr wrap="square">
            <a:spAutoFit/>
          </a:bodyPr>
          <a:lstStyle/>
          <a:p>
            <a:r>
              <a:rPr lang="tr-TR" sz="700" i="0" dirty="0">
                <a:solidFill>
                  <a:schemeClr val="bg1"/>
                </a:solidFill>
                <a:effectLst/>
                <a:latin typeface="Arial Narrow" panose="020B0606020202030204" pitchFamily="34" charset="0"/>
              </a:rPr>
              <a:t>“Saygı istiyorsanız, önce kendinize saygı göstereceksiniz. Herkesten üstün değiliz ama kimseden de aşağı değiliz. Kendimizle iftihar edelim ki başkası da bize saygı göstersin.”  - Aziz Sancar</a:t>
            </a:r>
            <a:endParaRPr lang="tr-TR" sz="700" dirty="0">
              <a:solidFill>
                <a:schemeClr val="bg1"/>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E5377FDD-7A35-4879-9D2C-32710A24EA70}"/>
                  </a:ext>
                </a:extLst>
              </p:cNvPr>
              <p:cNvSpPr txBox="1"/>
              <p:nvPr/>
            </p:nvSpPr>
            <p:spPr>
              <a:xfrm>
                <a:off x="37118" y="2534772"/>
                <a:ext cx="3366775" cy="2392514"/>
              </a:xfrm>
              <a:prstGeom prst="rect">
                <a:avLst/>
              </a:prstGeom>
              <a:noFill/>
            </p:spPr>
            <p:txBody>
              <a:bodyPr wrap="square" rtlCol="0">
                <a:spAutoFit/>
              </a:bodyPr>
              <a:lstStyle/>
              <a:p>
                <a:r>
                  <a:rPr lang="tr-TR" sz="1000" noProof="1">
                    <a:cs typeface="Arial" panose="020B0604020202020204" pitchFamily="34" charset="0"/>
                  </a:rPr>
                  <a:t>5 doğru 15 yanlışı götürüyorsa bir doğruyu kaç yanlışın götürdüğünü bulmak için her iki tarafı 5`e bölelim.</a:t>
                </a:r>
              </a:p>
              <a:p>
                <a:endParaRPr lang="tr-TR" sz="1000" noProof="1">
                  <a:cs typeface="Arial" panose="020B0604020202020204" pitchFamily="34" charset="0"/>
                </a:endParaRPr>
              </a:p>
              <a:p>
                <a:r>
                  <a:rPr lang="tr-TR" sz="1000" noProof="1">
                    <a:cs typeface="Arial" panose="020B0604020202020204" pitchFamily="34" charset="0"/>
                  </a:rPr>
                  <a:t>1 doğruyu 3 yanlış götürecektir. Doğru yaptıklarımızın </a:t>
                </a:r>
              </a:p>
              <a:p>
                <a:r>
                  <a:rPr lang="tr-TR" sz="1000" noProof="1">
                    <a:cs typeface="Arial" panose="020B0604020202020204" pitchFamily="34" charset="0"/>
                  </a:rPr>
                  <a:t>sayısına x dersek, boş sorumuzda olmadığına göre ve toplam 20 soru olduğuna göre yanlış sayımız 20-x olacaktır.  Her 3 yanlış bir doğruyu götürdüğünden yanlış sayısını 3`e bölerek kaç doğruyu götürdüğünü bulalım.  </a:t>
                </a:r>
                <a14:m>
                  <m:oMath xmlns:m="http://schemas.openxmlformats.org/officeDocument/2006/math">
                    <m:f>
                      <m:fPr>
                        <m:ctrlPr>
                          <a:rPr lang="tr-TR" sz="800" i="1" noProof="1" smtClean="0">
                            <a:solidFill>
                              <a:schemeClr val="tx1"/>
                            </a:solidFill>
                            <a:latin typeface="Cambria Math" panose="02040503050406030204" pitchFamily="18" charset="0"/>
                          </a:rPr>
                        </m:ctrlPr>
                      </m:fPr>
                      <m:num>
                        <m:r>
                          <m:rPr>
                            <m:nor/>
                          </m:rPr>
                          <a:rPr lang="tr-TR" sz="800" b="0" i="0" noProof="1" smtClean="0">
                            <a:solidFill>
                              <a:schemeClr val="tx1"/>
                            </a:solidFill>
                            <a:latin typeface="Helvetica" panose="020B0604020202020204" pitchFamily="34" charset="0"/>
                            <a:cs typeface="Helvetica" panose="020B0604020202020204" pitchFamily="34" charset="0"/>
                          </a:rPr>
                          <m:t>(</m:t>
                        </m:r>
                        <m:r>
                          <m:rPr>
                            <m:nor/>
                          </m:rPr>
                          <a:rPr lang="tr-TR" sz="800" i="0" noProof="1" smtClean="0">
                            <a:solidFill>
                              <a:schemeClr val="tx1"/>
                            </a:solidFill>
                            <a:latin typeface="Helvetica" panose="020B0604020202020204" pitchFamily="34" charset="0"/>
                            <a:cs typeface="Helvetica" panose="020B0604020202020204" pitchFamily="34" charset="0"/>
                          </a:rPr>
                          <m:t>20</m:t>
                        </m:r>
                        <m:r>
                          <a:rPr lang="tr-TR" sz="800" i="0" noProof="1" smtClean="0">
                            <a:solidFill>
                              <a:schemeClr val="tx1"/>
                            </a:solidFill>
                            <a:latin typeface="Cambria Math" panose="02040503050406030204" pitchFamily="18" charset="0"/>
                          </a:rPr>
                          <m:t>−</m:t>
                        </m:r>
                        <m:r>
                          <m:rPr>
                            <m:nor/>
                          </m:rPr>
                          <a:rPr lang="tr-TR" sz="800" i="0" noProof="1" smtClean="0">
                            <a:solidFill>
                              <a:schemeClr val="tx1"/>
                            </a:solidFill>
                            <a:latin typeface="Helvetica" panose="020B0604020202020204" pitchFamily="34" charset="0"/>
                            <a:cs typeface="Helvetica" panose="020B0604020202020204" pitchFamily="34" charset="0"/>
                          </a:rPr>
                          <m:t>x</m:t>
                        </m:r>
                        <m:r>
                          <m:rPr>
                            <m:nor/>
                          </m:rPr>
                          <a:rPr lang="tr-TR" sz="800" b="0" i="0" noProof="1" smtClean="0">
                            <a:solidFill>
                              <a:schemeClr val="tx1"/>
                            </a:solidFill>
                            <a:latin typeface="Helvetica" panose="020B0604020202020204" pitchFamily="34" charset="0"/>
                            <a:cs typeface="Helvetica" panose="020B0604020202020204" pitchFamily="34" charset="0"/>
                          </a:rPr>
                          <m:t>)</m:t>
                        </m:r>
                      </m:num>
                      <m:den>
                        <m:r>
                          <m:rPr>
                            <m:nor/>
                          </m:rPr>
                          <a:rPr lang="tr-TR" sz="800" i="0" noProof="1" smtClean="0">
                            <a:solidFill>
                              <a:schemeClr val="tx1"/>
                            </a:solidFill>
                            <a:latin typeface="Helvetica" panose="020B0604020202020204" pitchFamily="34" charset="0"/>
                            <a:cs typeface="Helvetica" panose="020B0604020202020204" pitchFamily="34" charset="0"/>
                          </a:rPr>
                          <m:t>3</m:t>
                        </m:r>
                      </m:den>
                    </m:f>
                  </m:oMath>
                </a14:m>
                <a:r>
                  <a:rPr lang="tr-TR" sz="1000" noProof="1">
                    <a:cs typeface="Arial" panose="020B0604020202020204" pitchFamily="34" charset="0"/>
                  </a:rPr>
                  <a:t>  doğru sayısından çıkaralım ve net sayımızı büyük parantez içinde belirterek 0,5 ile çarpalım yani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m:t>
                        </m:r>
                        <m:r>
                          <a:rPr lang="tr-TR" sz="800" b="0" i="0" noProof="1" smtClean="0">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2</m:t>
                        </m:r>
                      </m:den>
                    </m:f>
                  </m:oMath>
                </a14:m>
                <a:r>
                  <a:rPr lang="tr-TR" sz="1000" noProof="1">
                    <a:cs typeface="Arial" panose="020B0604020202020204" pitchFamily="34" charset="0"/>
                  </a:rPr>
                  <a:t> ile çarpmış oluyoruz.  </a:t>
                </a:r>
                <a:r>
                  <a:rPr lang="tr-TR" sz="1600" noProof="1">
                    <a:cs typeface="Arial" panose="020B0604020202020204" pitchFamily="34" charset="0"/>
                  </a:rPr>
                  <a:t>(</a:t>
                </a:r>
                <a:r>
                  <a:rPr lang="tr-TR" sz="1000" noProof="1">
                    <a:cs typeface="Arial" panose="020B0604020202020204" pitchFamily="34" charset="0"/>
                  </a:rPr>
                  <a:t>x - </a:t>
                </a:r>
                <a14:m>
                  <m:oMath xmlns:m="http://schemas.openxmlformats.org/officeDocument/2006/math">
                    <m:f>
                      <m:fPr>
                        <m:ctrlPr>
                          <a:rPr lang="tr-TR" sz="800" i="1" noProof="1">
                            <a:latin typeface="Cambria Math" panose="02040503050406030204" pitchFamily="18" charset="0"/>
                          </a:rPr>
                        </m:ctrlPr>
                      </m:fPr>
                      <m:num>
                        <m:r>
                          <m:rPr>
                            <m:nor/>
                          </m:rPr>
                          <a:rPr lang="tr-TR" sz="800" b="0" i="0" noProof="1" smtClean="0">
                            <a:latin typeface="Helvetica" panose="020B0604020202020204" pitchFamily="34" charset="0"/>
                            <a:cs typeface="Helvetica" panose="020B0604020202020204" pitchFamily="34" charset="0"/>
                          </a:rPr>
                          <m:t>(</m:t>
                        </m:r>
                        <m:r>
                          <m:rPr>
                            <m:nor/>
                          </m:rPr>
                          <a:rPr lang="tr-TR" sz="800" i="0" noProof="1">
                            <a:latin typeface="Helvetica" panose="020B0604020202020204" pitchFamily="34" charset="0"/>
                            <a:cs typeface="Helvetica" panose="020B0604020202020204" pitchFamily="34" charset="0"/>
                          </a:rPr>
                          <m:t>20</m:t>
                        </m:r>
                        <m:r>
                          <a:rPr lang="tr-TR" sz="800" noProof="1">
                            <a:latin typeface="Cambria Math" panose="02040503050406030204" pitchFamily="18" charset="0"/>
                          </a:rPr>
                          <m:t>−</m:t>
                        </m:r>
                        <m:r>
                          <m:rPr>
                            <m:nor/>
                          </m:rPr>
                          <a:rPr lang="tr-TR" sz="800" i="0" noProof="1">
                            <a:latin typeface="Helvetica" panose="020B0604020202020204" pitchFamily="34" charset="0"/>
                            <a:cs typeface="Helvetica" panose="020B0604020202020204" pitchFamily="34" charset="0"/>
                          </a:rPr>
                          <m:t>x</m:t>
                        </m:r>
                        <m:r>
                          <m:rPr>
                            <m:nor/>
                          </m:rPr>
                          <a:rPr lang="tr-TR" sz="800" b="0" i="0" noProof="1" smtClean="0">
                            <a:latin typeface="Helvetica" panose="020B0604020202020204" pitchFamily="34" charset="0"/>
                            <a:cs typeface="Helvetica" panose="020B0604020202020204" pitchFamily="34" charset="0"/>
                          </a:rPr>
                          <m:t>)</m:t>
                        </m:r>
                      </m:num>
                      <m:den>
                        <m:r>
                          <m:rPr>
                            <m:nor/>
                          </m:rPr>
                          <a:rPr lang="tr-TR" sz="800" i="0" noProof="1">
                            <a:latin typeface="Helvetica" panose="020B0604020202020204" pitchFamily="34" charset="0"/>
                            <a:cs typeface="Helvetica" panose="020B0604020202020204" pitchFamily="34" charset="0"/>
                          </a:rPr>
                          <m:t>3</m:t>
                        </m:r>
                      </m:den>
                    </m:f>
                  </m:oMath>
                </a14:m>
                <a:r>
                  <a:rPr lang="tr-TR" sz="1000" noProof="1">
                    <a:cs typeface="Arial" panose="020B0604020202020204" pitchFamily="34" charset="0"/>
                  </a:rPr>
                  <a:t> </a:t>
                </a:r>
                <a:r>
                  <a:rPr lang="tr-TR" sz="1600" noProof="1">
                    <a:cs typeface="Arial" panose="020B0604020202020204" pitchFamily="34" charset="0"/>
                  </a:rPr>
                  <a:t>)</a:t>
                </a:r>
                <a:r>
                  <a:rPr lang="tr-TR" sz="1000" noProof="1">
                    <a:cs typeface="Arial" panose="020B0604020202020204" pitchFamily="34" charset="0"/>
                  </a:rPr>
                  <a:t> . 0,5   eşittir  </a:t>
                </a:r>
                <a:r>
                  <a:rPr lang="tr-TR" sz="1600" noProof="1">
                    <a:cs typeface="Arial" panose="020B0604020202020204" pitchFamily="34" charset="0"/>
                  </a:rPr>
                  <a:t>(</a:t>
                </a:r>
                <a:r>
                  <a:rPr lang="tr-TR" sz="1000" noProof="1">
                    <a:cs typeface="Arial" panose="020B0604020202020204" pitchFamily="34" charset="0"/>
                  </a:rPr>
                  <a:t> x - </a:t>
                </a:r>
                <a14:m>
                  <m:oMath xmlns:m="http://schemas.openxmlformats.org/officeDocument/2006/math">
                    <m:f>
                      <m:fPr>
                        <m:ctrlPr>
                          <a:rPr lang="tr-TR" sz="800" i="1" noProof="1">
                            <a:latin typeface="Cambria Math" panose="02040503050406030204" pitchFamily="18" charset="0"/>
                          </a:rPr>
                        </m:ctrlPr>
                      </m:fPr>
                      <m:num>
                        <m:r>
                          <m:rPr>
                            <m:nor/>
                          </m:rPr>
                          <a:rPr lang="tr-TR" sz="800" b="0" i="0" noProof="1" smtClean="0">
                            <a:latin typeface="Helvetica" panose="020B0604020202020204" pitchFamily="34" charset="0"/>
                            <a:cs typeface="Helvetica" panose="020B0604020202020204" pitchFamily="34" charset="0"/>
                          </a:rPr>
                          <m:t>(</m:t>
                        </m:r>
                        <m:r>
                          <m:rPr>
                            <m:nor/>
                          </m:rPr>
                          <a:rPr lang="tr-TR" sz="800" i="0" noProof="1">
                            <a:latin typeface="Helvetica" panose="020B0604020202020204" pitchFamily="34" charset="0"/>
                            <a:cs typeface="Helvetica" panose="020B0604020202020204" pitchFamily="34" charset="0"/>
                          </a:rPr>
                          <m:t>20−</m:t>
                        </m:r>
                        <m:r>
                          <m:rPr>
                            <m:nor/>
                          </m:rPr>
                          <a:rPr lang="tr-TR" sz="800" i="0" noProof="1">
                            <a:latin typeface="Helvetica" panose="020B0604020202020204" pitchFamily="34" charset="0"/>
                            <a:cs typeface="Helvetica" panose="020B0604020202020204" pitchFamily="34" charset="0"/>
                          </a:rPr>
                          <m:t>x</m:t>
                        </m:r>
                        <m:r>
                          <m:rPr>
                            <m:nor/>
                          </m:rPr>
                          <a:rPr lang="tr-TR" sz="800" b="0" i="0" noProof="1" smtClean="0">
                            <a:latin typeface="Helvetica" panose="020B0604020202020204" pitchFamily="34" charset="0"/>
                            <a:cs typeface="Helvetica" panose="020B0604020202020204" pitchFamily="34" charset="0"/>
                          </a:rPr>
                          <m:t>)</m:t>
                        </m:r>
                      </m:num>
                      <m:den>
                        <m:r>
                          <m:rPr>
                            <m:nor/>
                          </m:rPr>
                          <a:rPr lang="tr-TR" sz="800" i="0" noProof="1">
                            <a:latin typeface="Helvetica" panose="020B0604020202020204" pitchFamily="34" charset="0"/>
                            <a:cs typeface="Helvetica" panose="020B0604020202020204" pitchFamily="34" charset="0"/>
                          </a:rPr>
                          <m:t>3</m:t>
                        </m:r>
                      </m:den>
                    </m:f>
                  </m:oMath>
                </a14:m>
                <a:r>
                  <a:rPr lang="tr-TR" sz="1000" noProof="1">
                    <a:cs typeface="Arial" panose="020B0604020202020204" pitchFamily="34" charset="0"/>
                  </a:rPr>
                  <a:t> </a:t>
                </a:r>
                <a:r>
                  <a:rPr lang="tr-TR" sz="1600" noProof="1">
                    <a:cs typeface="Arial" panose="020B0604020202020204" pitchFamily="34" charset="0"/>
                  </a:rPr>
                  <a:t>)</a:t>
                </a:r>
                <a:r>
                  <a:rPr lang="tr-TR" sz="1000" noProof="1">
                    <a:cs typeface="Arial" panose="020B0604020202020204" pitchFamily="34" charset="0"/>
                  </a:rPr>
                  <a:t> .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1</m:t>
                        </m:r>
                        <m:r>
                          <a:rPr lang="tr-TR" sz="80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cs typeface="Arial" panose="020B0604020202020204" pitchFamily="34" charset="0"/>
                  </a:rPr>
                  <a:t> = 6   içler dışlar yapalım son olarak </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4x – 20 = 36    4x=56    x = 14  doğru sayısıdır.</a:t>
                </a:r>
              </a:p>
            </p:txBody>
          </p:sp>
        </mc:Choice>
        <mc:Fallback xmlns="">
          <p:sp>
            <p:nvSpPr>
              <p:cNvPr id="57" name="Metin kutusu 56">
                <a:extLst>
                  <a:ext uri="{FF2B5EF4-FFF2-40B4-BE49-F238E27FC236}">
                    <a16:creationId xmlns:a16="http://schemas.microsoft.com/office/drawing/2014/main" id="{E5377FDD-7A35-4879-9D2C-32710A24EA70}"/>
                  </a:ext>
                </a:extLst>
              </p:cNvPr>
              <p:cNvSpPr txBox="1">
                <a:spLocks noRot="1" noChangeAspect="1" noMove="1" noResize="1" noEditPoints="1" noAdjustHandles="1" noChangeArrowheads="1" noChangeShapeType="1" noTextEdit="1"/>
              </p:cNvSpPr>
              <p:nvPr/>
            </p:nvSpPr>
            <p:spPr>
              <a:xfrm>
                <a:off x="37118" y="2534772"/>
                <a:ext cx="3366775" cy="2392514"/>
              </a:xfrm>
              <a:prstGeom prst="rect">
                <a:avLst/>
              </a:prstGeom>
              <a:blipFill>
                <a:blip r:embed="rId6"/>
                <a:stretch>
                  <a:fillRect/>
                </a:stretch>
              </a:blipFill>
            </p:spPr>
            <p:txBody>
              <a:bodyPr/>
              <a:lstStyle/>
              <a:p>
                <a:r>
                  <a:rPr lang="tr-TR">
                    <a:noFill/>
                  </a:rPr>
                  <a:t> </a:t>
                </a:r>
              </a:p>
            </p:txBody>
          </p:sp>
        </mc:Fallback>
      </mc:AlternateContent>
      <p:sp>
        <p:nvSpPr>
          <p:cNvPr id="4" name="Dikdörtgen: Köşeleri Yuvarlatılmış 3">
            <a:extLst>
              <a:ext uri="{FF2B5EF4-FFF2-40B4-BE49-F238E27FC236}">
                <a16:creationId xmlns:a16="http://schemas.microsoft.com/office/drawing/2014/main" id="{F33D9F57-BE3E-4F62-B5D4-BFBEEC07AED1}"/>
              </a:ext>
            </a:extLst>
          </p:cNvPr>
          <p:cNvSpPr/>
          <p:nvPr/>
        </p:nvSpPr>
        <p:spPr>
          <a:xfrm>
            <a:off x="116632" y="4843853"/>
            <a:ext cx="3129754" cy="648083"/>
          </a:xfrm>
          <a:prstGeom prst="roundRect">
            <a:avLst/>
          </a:prstGeom>
          <a:solidFill>
            <a:srgbClr val="CDFFFF"/>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8" name="Metin kutusu 57">
            <a:extLst>
              <a:ext uri="{FF2B5EF4-FFF2-40B4-BE49-F238E27FC236}">
                <a16:creationId xmlns:a16="http://schemas.microsoft.com/office/drawing/2014/main" id="{111EA173-F5C2-4713-BF08-1C3CAA62C465}"/>
              </a:ext>
            </a:extLst>
          </p:cNvPr>
          <p:cNvSpPr txBox="1"/>
          <p:nvPr/>
        </p:nvSpPr>
        <p:spPr>
          <a:xfrm>
            <a:off x="133821" y="4838697"/>
            <a:ext cx="3122981" cy="646331"/>
          </a:xfrm>
          <a:prstGeom prst="rect">
            <a:avLst/>
          </a:prstGeom>
          <a:noFill/>
        </p:spPr>
        <p:txBody>
          <a:bodyPr wrap="square" rtlCol="0">
            <a:spAutoFit/>
          </a:bodyPr>
          <a:lstStyle/>
          <a:p>
            <a:r>
              <a:rPr lang="tr-TR" sz="900" noProof="1">
                <a:latin typeface="Arial Narrow" panose="020B0606020202030204" pitchFamily="34" charset="0"/>
                <a:cs typeface="Arial" panose="020B0604020202020204" pitchFamily="34" charset="0"/>
              </a:rPr>
              <a:t>Bu kitaptaki sorular ; üzerindeki ve videolu çözümler, sizleri zoruyla kolayıyla sınavdaki her türlü senaryoya hazırlayacaktır. Kimi zaman belki sert sorularla başlayacağız, ama sonu mükemmel olacak. Fakat unutmayın ki bu kitap sadece bir araçtır, iş sizde biter kaptan sizsiniz !</a:t>
            </a:r>
          </a:p>
        </p:txBody>
      </p:sp>
      <p:sp>
        <p:nvSpPr>
          <p:cNvPr id="60" name="Metin kutusu 59">
            <a:extLst>
              <a:ext uri="{FF2B5EF4-FFF2-40B4-BE49-F238E27FC236}">
                <a16:creationId xmlns:a16="http://schemas.microsoft.com/office/drawing/2014/main" id="{2EA1B321-BEA1-41AA-BFEF-A1C85845E917}"/>
              </a:ext>
            </a:extLst>
          </p:cNvPr>
          <p:cNvSpPr txBox="1"/>
          <p:nvPr/>
        </p:nvSpPr>
        <p:spPr>
          <a:xfrm>
            <a:off x="0" y="5861343"/>
            <a:ext cx="3489472" cy="507831"/>
          </a:xfrm>
          <a:prstGeom prst="rect">
            <a:avLst/>
          </a:prstGeom>
          <a:noFill/>
        </p:spPr>
        <p:txBody>
          <a:bodyPr wrap="square" rtlCol="0">
            <a:spAutoFit/>
          </a:bodyPr>
          <a:lstStyle/>
          <a:p>
            <a:r>
              <a:rPr lang="tr-TR" sz="900" b="1" noProof="1">
                <a:cs typeface="Arial" panose="020B0604020202020204" pitchFamily="34" charset="0"/>
              </a:rPr>
              <a:t>4 yanlış cevabın 1 doğruyu götürdüğü; her net puan için </a:t>
            </a:r>
          </a:p>
          <a:p>
            <a:r>
              <a:rPr lang="tr-TR" sz="900" b="1" noProof="1">
                <a:cs typeface="Arial" panose="020B0604020202020204" pitchFamily="34" charset="0"/>
              </a:rPr>
              <a:t>5 katsayısı ile çarpılan, 32 soruluk sınava giren öğrencilerin notlarını inceleyiniz ve kendiniz hesaplayınız. </a:t>
            </a:r>
            <a:r>
              <a:rPr lang="tr-TR" sz="900" noProof="1">
                <a:cs typeface="Arial" panose="020B0604020202020204" pitchFamily="34" charset="0"/>
              </a:rPr>
              <a:t>(boş sorular etkisizdir.)</a:t>
            </a:r>
          </a:p>
        </p:txBody>
      </p:sp>
      <p:graphicFrame>
        <p:nvGraphicFramePr>
          <p:cNvPr id="67" name="Tablo 11">
            <a:extLst>
              <a:ext uri="{FF2B5EF4-FFF2-40B4-BE49-F238E27FC236}">
                <a16:creationId xmlns:a16="http://schemas.microsoft.com/office/drawing/2014/main" id="{6BA34BA7-3F5C-45EF-8B6F-F83F10ECF774}"/>
              </a:ext>
            </a:extLst>
          </p:cNvPr>
          <p:cNvGraphicFramePr>
            <a:graphicFrameLocks noGrp="1"/>
          </p:cNvGraphicFramePr>
          <p:nvPr>
            <p:extLst>
              <p:ext uri="{D42A27DB-BD31-4B8C-83A1-F6EECF244321}">
                <p14:modId xmlns:p14="http://schemas.microsoft.com/office/powerpoint/2010/main" val="4234693308"/>
              </p:ext>
            </p:extLst>
          </p:nvPr>
        </p:nvGraphicFramePr>
        <p:xfrm>
          <a:off x="122903" y="6411087"/>
          <a:ext cx="3133899" cy="1706880"/>
        </p:xfrm>
        <a:graphic>
          <a:graphicData uri="http://schemas.openxmlformats.org/drawingml/2006/table">
            <a:tbl>
              <a:tblPr firstRow="1" bandRow="1">
                <a:tableStyleId>{21E4AEA4-8DFA-4A89-87EB-49C32662AFE0}</a:tableStyleId>
              </a:tblPr>
              <a:tblGrid>
                <a:gridCol w="641801">
                  <a:extLst>
                    <a:ext uri="{9D8B030D-6E8A-4147-A177-3AD203B41FA5}">
                      <a16:colId xmlns:a16="http://schemas.microsoft.com/office/drawing/2014/main" val="3888209448"/>
                    </a:ext>
                  </a:extLst>
                </a:gridCol>
                <a:gridCol w="504056">
                  <a:extLst>
                    <a:ext uri="{9D8B030D-6E8A-4147-A177-3AD203B41FA5}">
                      <a16:colId xmlns:a16="http://schemas.microsoft.com/office/drawing/2014/main" val="2365397765"/>
                    </a:ext>
                  </a:extLst>
                </a:gridCol>
                <a:gridCol w="504056">
                  <a:extLst>
                    <a:ext uri="{9D8B030D-6E8A-4147-A177-3AD203B41FA5}">
                      <a16:colId xmlns:a16="http://schemas.microsoft.com/office/drawing/2014/main" val="3278664511"/>
                    </a:ext>
                  </a:extLst>
                </a:gridCol>
                <a:gridCol w="576064">
                  <a:extLst>
                    <a:ext uri="{9D8B030D-6E8A-4147-A177-3AD203B41FA5}">
                      <a16:colId xmlns:a16="http://schemas.microsoft.com/office/drawing/2014/main" val="3213649607"/>
                    </a:ext>
                  </a:extLst>
                </a:gridCol>
                <a:gridCol w="907922">
                  <a:extLst>
                    <a:ext uri="{9D8B030D-6E8A-4147-A177-3AD203B41FA5}">
                      <a16:colId xmlns:a16="http://schemas.microsoft.com/office/drawing/2014/main" val="186588002"/>
                    </a:ext>
                  </a:extLst>
                </a:gridCol>
              </a:tblGrid>
              <a:tr h="214345">
                <a:tc>
                  <a:txBody>
                    <a:bodyPr/>
                    <a:lstStyle/>
                    <a:p>
                      <a:pPr algn="ctr"/>
                      <a:r>
                        <a:rPr lang="tr-TR" sz="1000" dirty="0">
                          <a:latin typeface="Arial Narrow" panose="020B0606020202030204" pitchFamily="34" charset="0"/>
                        </a:rPr>
                        <a:t>Öğrenci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Doğru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tr-TR" sz="1000" dirty="0">
                          <a:latin typeface="Arial Narrow" panose="020B0606020202030204" pitchFamily="34" charset="0"/>
                        </a:rPr>
                        <a:t>Yanlış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latin typeface="Arial Narrow" panose="020B0606020202030204" pitchFamily="34" charset="0"/>
                        </a:rPr>
                        <a:t>Puan (</a:t>
                      </a:r>
                      <a:r>
                        <a:rPr lang="tr-TR" sz="600" dirty="0">
                          <a:latin typeface="Arial Narrow" panose="020B0606020202030204" pitchFamily="34" charset="0"/>
                        </a:rPr>
                        <a:t>x</a:t>
                      </a:r>
                      <a:r>
                        <a:rPr lang="tr-TR" sz="1000" dirty="0">
                          <a:latin typeface="Arial Narrow" panose="020B060602020203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0193557"/>
                  </a:ext>
                </a:extLst>
              </a:tr>
              <a:tr h="131905">
                <a:tc>
                  <a:txBody>
                    <a:bodyPr/>
                    <a:lstStyle/>
                    <a:p>
                      <a:pPr algn="ctr"/>
                      <a:r>
                        <a:rPr lang="tr-TR" sz="1000" dirty="0">
                          <a:solidFill>
                            <a:schemeClr val="tx1"/>
                          </a:solidFill>
                          <a:latin typeface="Arial Narrow" panose="020B0606020202030204" pitchFamily="34" charset="0"/>
                        </a:rPr>
                        <a:t>Eda 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5575940"/>
                  </a:ext>
                </a:extLst>
              </a:tr>
              <a:tr h="131905">
                <a:tc>
                  <a:txBody>
                    <a:bodyPr/>
                    <a:lstStyle/>
                    <a:p>
                      <a:pPr algn="ctr"/>
                      <a:r>
                        <a:rPr lang="tr-TR" sz="1000" noProof="1">
                          <a:solidFill>
                            <a:schemeClr val="tx1"/>
                          </a:solidFill>
                          <a:latin typeface="Arial Narrow" panose="020B0606020202030204" pitchFamily="34" charset="0"/>
                        </a:rPr>
                        <a:t>Niran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103,75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2360066"/>
                  </a:ext>
                </a:extLst>
              </a:tr>
              <a:tr h="131905">
                <a:tc>
                  <a:txBody>
                    <a:bodyPr/>
                    <a:lstStyle/>
                    <a:p>
                      <a:pPr algn="ctr"/>
                      <a:r>
                        <a:rPr lang="tr-TR" sz="1000" dirty="0">
                          <a:solidFill>
                            <a:schemeClr val="tx1"/>
                          </a:solidFill>
                          <a:latin typeface="Arial Narrow" panose="020B0606020202030204" pitchFamily="34" charset="0"/>
                        </a:rPr>
                        <a:t>Eyüp 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8522642"/>
                  </a:ext>
                </a:extLst>
              </a:tr>
              <a:tr h="131905">
                <a:tc>
                  <a:txBody>
                    <a:bodyPr/>
                    <a:lstStyle/>
                    <a:p>
                      <a:pPr algn="ctr"/>
                      <a:r>
                        <a:rPr lang="tr-TR" sz="1000" dirty="0">
                          <a:solidFill>
                            <a:schemeClr val="tx1"/>
                          </a:solidFill>
                          <a:latin typeface="Arial Narrow" panose="020B0606020202030204" pitchFamily="34" charset="0"/>
                        </a:rPr>
                        <a:t>Resul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29,50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147,5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7000442"/>
                  </a:ext>
                </a:extLst>
              </a:tr>
              <a:tr h="131905">
                <a:tc>
                  <a:txBody>
                    <a:bodyPr/>
                    <a:lstStyle/>
                    <a:p>
                      <a:pPr algn="ctr"/>
                      <a:r>
                        <a:rPr lang="tr-TR" sz="1000" dirty="0">
                          <a:solidFill>
                            <a:schemeClr val="tx1"/>
                          </a:solidFill>
                          <a:latin typeface="Arial Narrow" panose="020B0606020202030204" pitchFamily="34" charset="0"/>
                        </a:rPr>
                        <a:t>Onur 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62,5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8909748"/>
                  </a:ext>
                </a:extLst>
              </a:tr>
              <a:tr h="131905">
                <a:tc>
                  <a:txBody>
                    <a:bodyPr/>
                    <a:lstStyle/>
                    <a:p>
                      <a:pPr algn="ctr"/>
                      <a:r>
                        <a:rPr lang="tr-TR" sz="1000" dirty="0">
                          <a:solidFill>
                            <a:schemeClr val="tx1"/>
                          </a:solidFill>
                          <a:latin typeface="Arial Narrow" panose="020B0606020202030204" pitchFamily="34" charset="0"/>
                        </a:rPr>
                        <a:t>M. Ali 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11,75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sz="1000" dirty="0">
                          <a:solidFill>
                            <a:schemeClr val="tx1"/>
                          </a:solidFill>
                          <a:latin typeface="Arial Narrow" panose="020B0606020202030204" pitchFamily="34" charset="0"/>
                        </a:rPr>
                        <a:t>58,75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3469333"/>
                  </a:ext>
                </a:extLst>
              </a:tr>
            </a:tbl>
          </a:graphicData>
        </a:graphic>
      </p:graphicFrame>
      <p:sp>
        <p:nvSpPr>
          <p:cNvPr id="68" name="Metin kutusu 67">
            <a:extLst>
              <a:ext uri="{FF2B5EF4-FFF2-40B4-BE49-F238E27FC236}">
                <a16:creationId xmlns:a16="http://schemas.microsoft.com/office/drawing/2014/main" id="{87BD3703-0FF0-4E71-ADDF-C130C4A7D97F}"/>
              </a:ext>
            </a:extLst>
          </p:cNvPr>
          <p:cNvSpPr txBox="1"/>
          <p:nvPr/>
        </p:nvSpPr>
        <p:spPr>
          <a:xfrm>
            <a:off x="53957" y="8141004"/>
            <a:ext cx="3269950" cy="553998"/>
          </a:xfrm>
          <a:prstGeom prst="rect">
            <a:avLst/>
          </a:prstGeom>
          <a:noFill/>
        </p:spPr>
        <p:txBody>
          <a:bodyPr wrap="square" rtlCol="0">
            <a:spAutoFit/>
          </a:bodyPr>
          <a:lstStyle/>
          <a:p>
            <a:r>
              <a:rPr lang="tr-TR" sz="1000" b="1" noProof="1">
                <a:cs typeface="Arial" panose="020B0604020202020204" pitchFamily="34" charset="0"/>
              </a:rPr>
              <a:t>1 yanlış 0,25 doğruyu götürmektedir. Doğru sayısından götürülenler çıkarıldığında net doğru sayısı bulunur. Net sayısı belirtilen katsayı ile çarpıldığında puan elde edilir.</a:t>
            </a:r>
          </a:p>
        </p:txBody>
      </p:sp>
      <p:sp>
        <p:nvSpPr>
          <p:cNvPr id="69" name="Metin kutusu 68">
            <a:extLst>
              <a:ext uri="{FF2B5EF4-FFF2-40B4-BE49-F238E27FC236}">
                <a16:creationId xmlns:a16="http://schemas.microsoft.com/office/drawing/2014/main" id="{EB6906BA-D2FA-4ED6-A4A8-28BEE1E21F8D}"/>
              </a:ext>
            </a:extLst>
          </p:cNvPr>
          <p:cNvSpPr txBox="1"/>
          <p:nvPr/>
        </p:nvSpPr>
        <p:spPr>
          <a:xfrm>
            <a:off x="3576774" y="755318"/>
            <a:ext cx="3255556" cy="646331"/>
          </a:xfrm>
          <a:prstGeom prst="rect">
            <a:avLst/>
          </a:prstGeom>
          <a:noFill/>
        </p:spPr>
        <p:txBody>
          <a:bodyPr wrap="square" rtlCol="0">
            <a:spAutoFit/>
          </a:bodyPr>
          <a:lstStyle/>
          <a:p>
            <a:r>
              <a:rPr lang="tr-TR" sz="900" b="1" noProof="1">
                <a:cs typeface="Arial" panose="020B0604020202020204" pitchFamily="34" charset="0"/>
              </a:rPr>
              <a:t>A denemesinden Mehmet 25 doğru 4 yanlış çıkararak 24,50 neti olmuştur. B denemesinden 30 doğru 12 yanlış çıkaran Deniz`in neti 24 olduğu biliniyor. Buna göre, A denemesinde ve B denemesinde kaç yanlışın 1 doğruyu getirdiğini bulunuz. </a:t>
            </a:r>
          </a:p>
        </p:txBody>
      </p:sp>
      <p:sp>
        <p:nvSpPr>
          <p:cNvPr id="70" name="Metin kutusu 69">
            <a:extLst>
              <a:ext uri="{FF2B5EF4-FFF2-40B4-BE49-F238E27FC236}">
                <a16:creationId xmlns:a16="http://schemas.microsoft.com/office/drawing/2014/main" id="{BEE6797D-501C-46CE-AA35-B1308A203FE9}"/>
              </a:ext>
            </a:extLst>
          </p:cNvPr>
          <p:cNvSpPr txBox="1"/>
          <p:nvPr/>
        </p:nvSpPr>
        <p:spPr>
          <a:xfrm>
            <a:off x="3510406" y="2500355"/>
            <a:ext cx="3446986" cy="1338828"/>
          </a:xfrm>
          <a:prstGeom prst="rect">
            <a:avLst/>
          </a:prstGeom>
          <a:noFill/>
        </p:spPr>
        <p:txBody>
          <a:bodyPr wrap="square" rtlCol="0">
            <a:spAutoFit/>
          </a:bodyPr>
          <a:lstStyle/>
          <a:p>
            <a:r>
              <a:rPr lang="tr-TR" sz="900" b="1" noProof="1">
                <a:cs typeface="Arial" panose="020B0604020202020204" pitchFamily="34" charset="0"/>
              </a:rPr>
              <a:t>Doğru sayısı ve net sayısının farkı bizim kaybımız olacaktır. Bu kaybı kaç yanlış yapmışsak denemede ona böldüğümüzde kaç yanlışın bir doğruyu götürdüğünü bulmuş oluruz. O halde : </a:t>
            </a:r>
          </a:p>
          <a:p>
            <a:endParaRPr lang="tr-TR" sz="900" b="1" noProof="1">
              <a:cs typeface="Arial" panose="020B0604020202020204" pitchFamily="34" charset="0"/>
            </a:endParaRPr>
          </a:p>
          <a:p>
            <a:r>
              <a:rPr lang="tr-TR" sz="900" b="1" noProof="1">
                <a:cs typeface="Arial" panose="020B0604020202020204" pitchFamily="34" charset="0"/>
              </a:rPr>
              <a:t>25 – 24,50 = 0,50      0,50 / 4  = 0, 12.5 </a:t>
            </a:r>
            <a:r>
              <a:rPr lang="tr-TR" sz="900" noProof="1">
                <a:cs typeface="Arial" panose="020B0604020202020204" pitchFamily="34" charset="0"/>
              </a:rPr>
              <a:t>(Yüzde 12 buçuk)  A Denemesi</a:t>
            </a:r>
          </a:p>
          <a:p>
            <a:br>
              <a:rPr lang="tr-TR" sz="900" b="1" noProof="1">
                <a:cs typeface="Arial" panose="020B0604020202020204" pitchFamily="34" charset="0"/>
              </a:rPr>
            </a:br>
            <a:r>
              <a:rPr lang="tr-TR" sz="900" b="1" noProof="1">
                <a:cs typeface="Arial" panose="020B0604020202020204" pitchFamily="34" charset="0"/>
              </a:rPr>
              <a:t>30 – 24 = 6     6 / 12 =   0,5 </a:t>
            </a:r>
            <a:r>
              <a:rPr lang="tr-TR" sz="900" noProof="1">
                <a:cs typeface="Arial" panose="020B0604020202020204" pitchFamily="34" charset="0"/>
              </a:rPr>
              <a:t>(yani 1/2 yarım)   B  Denemesidir.</a:t>
            </a:r>
          </a:p>
          <a:p>
            <a:endParaRPr lang="tr-TR" sz="900" noProof="1">
              <a:cs typeface="Arial" panose="020B0604020202020204" pitchFamily="34" charset="0"/>
            </a:endParaRPr>
          </a:p>
          <a:p>
            <a:endParaRPr lang="tr-TR" sz="900" noProof="1">
              <a:cs typeface="Arial" panose="020B0604020202020204" pitchFamily="34" charset="0"/>
            </a:endParaRPr>
          </a:p>
        </p:txBody>
      </p:sp>
      <p:sp>
        <p:nvSpPr>
          <p:cNvPr id="71" name="Dikdörtgen: Köşeleri Yuvarlatılmış 70">
            <a:extLst>
              <a:ext uri="{FF2B5EF4-FFF2-40B4-BE49-F238E27FC236}">
                <a16:creationId xmlns:a16="http://schemas.microsoft.com/office/drawing/2014/main" id="{9E5A5633-8CAA-4CCF-AC47-D8023A395AFD}"/>
              </a:ext>
            </a:extLst>
          </p:cNvPr>
          <p:cNvSpPr/>
          <p:nvPr/>
        </p:nvSpPr>
        <p:spPr>
          <a:xfrm>
            <a:off x="3632471" y="3612618"/>
            <a:ext cx="3133488" cy="1967494"/>
          </a:xfrm>
          <a:prstGeom prst="roundRect">
            <a:avLst>
              <a:gd name="adj" fmla="val 3885"/>
            </a:avLst>
          </a:prstGeom>
          <a:solidFill>
            <a:srgbClr val="CDFFFF"/>
          </a:solidFill>
          <a:ln w="635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2" name="Metin kutusu 71">
            <a:extLst>
              <a:ext uri="{FF2B5EF4-FFF2-40B4-BE49-F238E27FC236}">
                <a16:creationId xmlns:a16="http://schemas.microsoft.com/office/drawing/2014/main" id="{B6325143-58A3-494D-A684-75600C11DCFF}"/>
              </a:ext>
            </a:extLst>
          </p:cNvPr>
          <p:cNvSpPr txBox="1"/>
          <p:nvPr/>
        </p:nvSpPr>
        <p:spPr>
          <a:xfrm>
            <a:off x="3676490" y="3642849"/>
            <a:ext cx="2494358" cy="1938992"/>
          </a:xfrm>
          <a:prstGeom prst="rect">
            <a:avLst/>
          </a:prstGeom>
          <a:noFill/>
        </p:spPr>
        <p:txBody>
          <a:bodyPr wrap="square" rtlCol="0">
            <a:spAutoFit/>
          </a:bodyPr>
          <a:lstStyle/>
          <a:p>
            <a:r>
              <a:rPr lang="tr-TR" sz="1000" noProof="1">
                <a:latin typeface="Arial Narrow" panose="020B0606020202030204" pitchFamily="34" charset="0"/>
                <a:cs typeface="Arial" panose="020B0604020202020204" pitchFamily="34" charset="0"/>
              </a:rPr>
              <a:t>Virgüllü, ondalık sayılarla aranız iyi değilse üzülmeyin! Bunuda düşündük. Yandaki üç adet QR kodu okutun,videoyu izleyerek ondalık işlem hesabı hakkında destek videomuzu ücretsiz izleyebilirsiniz. </a:t>
            </a:r>
            <a:r>
              <a:rPr lang="tr-TR" sz="1000" noProof="1">
                <a:latin typeface="Arial Narrow" panose="020B0606020202030204" pitchFamily="34" charset="0"/>
                <a:cs typeface="Arial" panose="020B0604020202020204" pitchFamily="34" charset="0"/>
                <a:sym typeface="Wingdings" panose="05000000000000000000" pitchFamily="2" charset="2"/>
              </a:rPr>
              <a:t>Sayısal öğrencisiyseniz ayrıca kimyada mol hesaplarında  çok işinize yarayacaktır.</a:t>
            </a:r>
            <a:r>
              <a:rPr lang="tr-TR" sz="1000" noProof="1">
                <a:latin typeface="Arial Narrow" panose="020B0606020202030204" pitchFamily="34" charset="0"/>
                <a:cs typeface="Arial" panose="020B0604020202020204" pitchFamily="34" charset="0"/>
              </a:rPr>
              <a:t> Unutmayın bilmemek ayıp değil, öğrenmemek ayıptır </a:t>
            </a:r>
            <a:r>
              <a:rPr lang="tr-TR" sz="1000" noProof="1">
                <a:latin typeface="Arial Narrow" panose="020B0606020202030204" pitchFamily="34" charset="0"/>
                <a:cs typeface="Arial" panose="020B0604020202020204" pitchFamily="34" charset="0"/>
                <a:sym typeface="Wingdings" panose="05000000000000000000" pitchFamily="2" charset="2"/>
              </a:rPr>
              <a:t> </a:t>
            </a:r>
            <a:br>
              <a:rPr lang="tr-TR" sz="1000" noProof="1">
                <a:latin typeface="Arial Narrow" panose="020B0606020202030204" pitchFamily="34" charset="0"/>
                <a:cs typeface="Arial" panose="020B0604020202020204" pitchFamily="34" charset="0"/>
                <a:sym typeface="Wingdings" panose="05000000000000000000" pitchFamily="2" charset="2"/>
              </a:rPr>
            </a:br>
            <a:br>
              <a:rPr lang="tr-TR" sz="1000" noProof="1">
                <a:latin typeface="Arial Narrow" panose="020B0606020202030204" pitchFamily="34" charset="0"/>
                <a:cs typeface="Arial" panose="020B0604020202020204" pitchFamily="34" charset="0"/>
                <a:sym typeface="Wingdings" panose="05000000000000000000" pitchFamily="2" charset="2"/>
              </a:rPr>
            </a:br>
            <a:r>
              <a:rPr lang="tr-TR" sz="1000" noProof="1">
                <a:latin typeface="Arial Narrow" panose="020B0606020202030204" pitchFamily="34" charset="0"/>
                <a:cs typeface="Arial" panose="020B0604020202020204" pitchFamily="34" charset="0"/>
                <a:sym typeface="Wingdings" panose="05000000000000000000" pitchFamily="2" charset="2"/>
              </a:rPr>
              <a:t>Ayrıca bu tarz hesaplarla günlük hayatta da karşılaşmaktayız, bir makine yardımı olmadan yapabilmemizde fayda olacaktır.</a:t>
            </a:r>
          </a:p>
        </p:txBody>
      </p:sp>
      <p:sp>
        <p:nvSpPr>
          <p:cNvPr id="74" name="Dikdörtgen 73">
            <a:extLst>
              <a:ext uri="{FF2B5EF4-FFF2-40B4-BE49-F238E27FC236}">
                <a16:creationId xmlns:a16="http://schemas.microsoft.com/office/drawing/2014/main" id="{734BF0B4-6880-4BC3-BDA2-A2342C449089}"/>
              </a:ext>
            </a:extLst>
          </p:cNvPr>
          <p:cNvSpPr/>
          <p:nvPr/>
        </p:nvSpPr>
        <p:spPr>
          <a:xfrm>
            <a:off x="6038252" y="3660068"/>
            <a:ext cx="559099" cy="569111"/>
          </a:xfrm>
          <a:prstGeom prst="rect">
            <a:avLst/>
          </a:prstGeom>
          <a:noFill/>
          <a:ln w="952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8" name="Dikdörtgen 77">
            <a:extLst>
              <a:ext uri="{FF2B5EF4-FFF2-40B4-BE49-F238E27FC236}">
                <a16:creationId xmlns:a16="http://schemas.microsoft.com/office/drawing/2014/main" id="{0FD389C0-1593-4621-8641-A8E66A899F56}"/>
              </a:ext>
            </a:extLst>
          </p:cNvPr>
          <p:cNvSpPr/>
          <p:nvPr/>
        </p:nvSpPr>
        <p:spPr>
          <a:xfrm>
            <a:off x="6038252" y="4285802"/>
            <a:ext cx="559099" cy="569111"/>
          </a:xfrm>
          <a:prstGeom prst="rect">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8" name="Resim 7">
            <a:extLst>
              <a:ext uri="{FF2B5EF4-FFF2-40B4-BE49-F238E27FC236}">
                <a16:creationId xmlns:a16="http://schemas.microsoft.com/office/drawing/2014/main" id="{F40C6D99-A1E1-4540-A70A-FF7B719AA88E}"/>
              </a:ext>
            </a:extLst>
          </p:cNvPr>
          <p:cNvPicPr>
            <a:picLocks noChangeAspect="1"/>
          </p:cNvPicPr>
          <p:nvPr/>
        </p:nvPicPr>
        <p:blipFill>
          <a:blip r:embed="rId7"/>
          <a:stretch>
            <a:fillRect/>
          </a:stretch>
        </p:blipFill>
        <p:spPr>
          <a:xfrm>
            <a:off x="6047417" y="4295839"/>
            <a:ext cx="540767" cy="547527"/>
          </a:xfrm>
          <a:prstGeom prst="rect">
            <a:avLst/>
          </a:prstGeom>
        </p:spPr>
      </p:pic>
      <p:pic>
        <p:nvPicPr>
          <p:cNvPr id="79" name="Resim 78">
            <a:extLst>
              <a:ext uri="{FF2B5EF4-FFF2-40B4-BE49-F238E27FC236}">
                <a16:creationId xmlns:a16="http://schemas.microsoft.com/office/drawing/2014/main" id="{8599C25A-B9D2-44F3-A7AB-E62841352BB2}"/>
              </a:ext>
            </a:extLst>
          </p:cNvPr>
          <p:cNvPicPr>
            <a:picLocks noChangeAspect="1"/>
          </p:cNvPicPr>
          <p:nvPr/>
        </p:nvPicPr>
        <p:blipFill>
          <a:blip r:embed="rId7"/>
          <a:stretch>
            <a:fillRect/>
          </a:stretch>
        </p:blipFill>
        <p:spPr>
          <a:xfrm>
            <a:off x="6047417" y="3668883"/>
            <a:ext cx="540767" cy="547527"/>
          </a:xfrm>
          <a:prstGeom prst="rect">
            <a:avLst/>
          </a:prstGeom>
        </p:spPr>
      </p:pic>
      <p:sp>
        <p:nvSpPr>
          <p:cNvPr id="81" name="Dikdörtgen 80">
            <a:extLst>
              <a:ext uri="{FF2B5EF4-FFF2-40B4-BE49-F238E27FC236}">
                <a16:creationId xmlns:a16="http://schemas.microsoft.com/office/drawing/2014/main" id="{88114B0F-C12C-47E5-A75D-D461EC835E95}"/>
              </a:ext>
            </a:extLst>
          </p:cNvPr>
          <p:cNvSpPr/>
          <p:nvPr/>
        </p:nvSpPr>
        <p:spPr>
          <a:xfrm>
            <a:off x="6047287" y="4941409"/>
            <a:ext cx="559099" cy="569111"/>
          </a:xfrm>
          <a:prstGeom prst="rect">
            <a:avLst/>
          </a:prstGeom>
          <a:noFill/>
          <a:ln w="952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82" name="Resim 81">
            <a:extLst>
              <a:ext uri="{FF2B5EF4-FFF2-40B4-BE49-F238E27FC236}">
                <a16:creationId xmlns:a16="http://schemas.microsoft.com/office/drawing/2014/main" id="{A494EBAC-9A99-4DAB-954F-62160BCCC081}"/>
              </a:ext>
            </a:extLst>
          </p:cNvPr>
          <p:cNvPicPr>
            <a:picLocks noChangeAspect="1"/>
          </p:cNvPicPr>
          <p:nvPr/>
        </p:nvPicPr>
        <p:blipFill>
          <a:blip r:embed="rId7"/>
          <a:stretch>
            <a:fillRect/>
          </a:stretch>
        </p:blipFill>
        <p:spPr>
          <a:xfrm>
            <a:off x="6056452" y="4951446"/>
            <a:ext cx="540767" cy="547527"/>
          </a:xfrm>
          <a:prstGeom prst="rect">
            <a:avLst/>
          </a:prstGeom>
        </p:spPr>
      </p:pic>
      <p:sp>
        <p:nvSpPr>
          <p:cNvPr id="83" name="Dikdörtgen: Köşeleri Yuvarlatılmış 82">
            <a:extLst>
              <a:ext uri="{FF2B5EF4-FFF2-40B4-BE49-F238E27FC236}">
                <a16:creationId xmlns:a16="http://schemas.microsoft.com/office/drawing/2014/main" id="{101791C5-2D4B-40B6-AD8A-3E8678BEBF4E}"/>
              </a:ext>
            </a:extLst>
          </p:cNvPr>
          <p:cNvSpPr/>
          <p:nvPr/>
        </p:nvSpPr>
        <p:spPr>
          <a:xfrm>
            <a:off x="3622098" y="5646622"/>
            <a:ext cx="3133488" cy="3065608"/>
          </a:xfrm>
          <a:prstGeom prst="roundRect">
            <a:avLst>
              <a:gd name="adj" fmla="val 3885"/>
            </a:avLst>
          </a:prstGeom>
          <a:solidFill>
            <a:srgbClr val="CCCCFF"/>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tr-TR" dirty="0"/>
          </a:p>
        </p:txBody>
      </p:sp>
      <p:sp>
        <p:nvSpPr>
          <p:cNvPr id="84" name="Metin kutusu 83">
            <a:extLst>
              <a:ext uri="{FF2B5EF4-FFF2-40B4-BE49-F238E27FC236}">
                <a16:creationId xmlns:a16="http://schemas.microsoft.com/office/drawing/2014/main" id="{89A10163-0C67-4CFC-B082-73A9F471407B}"/>
              </a:ext>
            </a:extLst>
          </p:cNvPr>
          <p:cNvSpPr txBox="1"/>
          <p:nvPr/>
        </p:nvSpPr>
        <p:spPr>
          <a:xfrm>
            <a:off x="3636563" y="5617363"/>
            <a:ext cx="3118784" cy="3093154"/>
          </a:xfrm>
          <a:prstGeom prst="rect">
            <a:avLst/>
          </a:prstGeom>
          <a:noFill/>
        </p:spPr>
        <p:txBody>
          <a:bodyPr wrap="square" rtlCol="0">
            <a:spAutoFit/>
          </a:bodyPr>
          <a:lstStyle/>
          <a:p>
            <a:r>
              <a:rPr lang="tr-TR" sz="1500" b="1" noProof="1">
                <a:latin typeface="Arial Narrow" panose="020B0606020202030204" pitchFamily="34" charset="0"/>
                <a:cs typeface="Arial" panose="020B0604020202020204" pitchFamily="34" charset="0"/>
              </a:rPr>
              <a:t>Problemlerin Günlük Hayattaki Yeri</a:t>
            </a:r>
          </a:p>
          <a:p>
            <a:r>
              <a:rPr lang="tr-TR" sz="1000" noProof="1">
                <a:latin typeface="Arial Narrow" panose="020B0606020202030204" pitchFamily="34" charset="0"/>
                <a:cs typeface="Arial" panose="020B0604020202020204" pitchFamily="34" charset="0"/>
                <a:sym typeface="Wingdings" panose="05000000000000000000" pitchFamily="2" charset="2"/>
              </a:rPr>
              <a:t>Problemler, matematik olarak değerlendirdiğimizde çok çok hayatımızda yerinin olduğu görmekteyiz. Kitabımızdaki geçmiş sorulardan hatırlarsanız ; şirket kurma problemleri ile hisseler, herhangi bir şey paylaştırma, öğrenci ve tam biletler, otopark kapasiteleri , zamanında yapmadığımız önemli sorumlulukların hükümlülükleri gibi daha bir çok günlük hayat örneği vardır.</a:t>
            </a:r>
          </a:p>
          <a:p>
            <a:endParaRPr lang="tr-TR" sz="1000" noProof="1">
              <a:latin typeface="Arial Narrow" panose="020B0606020202030204" pitchFamily="34" charset="0"/>
              <a:cs typeface="Arial" panose="020B0604020202020204" pitchFamily="34" charset="0"/>
              <a:sym typeface="Wingdings" panose="05000000000000000000" pitchFamily="2" charset="2"/>
            </a:endParaRPr>
          </a:p>
          <a:p>
            <a:r>
              <a:rPr lang="tr-TR" sz="1000" noProof="1">
                <a:latin typeface="Arial Narrow" panose="020B0606020202030204" pitchFamily="34" charset="0"/>
                <a:cs typeface="Arial" panose="020B0604020202020204" pitchFamily="34" charset="0"/>
                <a:sym typeface="Wingdings" panose="05000000000000000000" pitchFamily="2" charset="2"/>
              </a:rPr>
              <a:t>Sınav net-puan problemleri ise zaten bizlerin en çok alakadar olduğumuz problem çeşidi olabilir, düzenli deneme sınavlarına girmek, eğitim-öğretim hayatımız boyunca puan hesaplamak, </a:t>
            </a:r>
            <a:br>
              <a:rPr lang="tr-TR" sz="1000" noProof="1">
                <a:latin typeface="Arial Narrow" panose="020B0606020202030204" pitchFamily="34" charset="0"/>
                <a:cs typeface="Arial" panose="020B0604020202020204" pitchFamily="34" charset="0"/>
                <a:sym typeface="Wingdings" panose="05000000000000000000" pitchFamily="2" charset="2"/>
              </a:rPr>
            </a:br>
            <a:r>
              <a:rPr lang="tr-TR" sz="1000" noProof="1">
                <a:latin typeface="Arial Narrow" panose="020B0606020202030204" pitchFamily="34" charset="0"/>
                <a:cs typeface="Arial" panose="020B0604020202020204" pitchFamily="34" charset="0"/>
                <a:sym typeface="Wingdings" panose="05000000000000000000" pitchFamily="2" charset="2"/>
              </a:rPr>
              <a:t>e-Okulda öğretmenlerimizin bizlere şu notu verse şu kadar ortalamam oluyor diye hesabını yapmak gibi bir çok geçmişimiz olabilir. Sınavlarda net hesabının bilincinde olmak, yanlışların bizlere ne tür kayıplara neden olduğunu bilerek hareket etmek bizi sorumluluk sahini kılar. Böylelikle daha iyi tutumlar izleyerek, stratejik planlar yaparak daha başarılı olabiliriz. Kitabımızda kalıplaşmış bu tarz problem başlıklarını ayrıca inceleyeceğiz ve bol soruyla destekleyeceğiz.</a:t>
            </a:r>
          </a:p>
        </p:txBody>
      </p:sp>
    </p:spTree>
    <p:extLst>
      <p:ext uri="{BB962C8B-B14F-4D97-AF65-F5344CB8AC3E}">
        <p14:creationId xmlns:p14="http://schemas.microsoft.com/office/powerpoint/2010/main" val="28177483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Net – Puan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1769"/>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806821" y="47636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67239" y="5228612"/>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5" name="Metin kutusu 54">
            <a:extLst>
              <a:ext uri="{FF2B5EF4-FFF2-40B4-BE49-F238E27FC236}">
                <a16:creationId xmlns:a16="http://schemas.microsoft.com/office/drawing/2014/main" id="{03B28319-59E9-4BA9-A2EF-6A80AE8036A2}"/>
              </a:ext>
            </a:extLst>
          </p:cNvPr>
          <p:cNvSpPr txBox="1"/>
          <p:nvPr/>
        </p:nvSpPr>
        <p:spPr>
          <a:xfrm>
            <a:off x="59017" y="784693"/>
            <a:ext cx="3212178" cy="553998"/>
          </a:xfrm>
          <a:prstGeom prst="rect">
            <a:avLst/>
          </a:prstGeom>
          <a:noFill/>
        </p:spPr>
        <p:txBody>
          <a:bodyPr wrap="square" rtlCol="0">
            <a:spAutoFit/>
          </a:bodyPr>
          <a:lstStyle/>
          <a:p>
            <a:r>
              <a:rPr lang="tr-TR" sz="1000" noProof="1">
                <a:cs typeface="Arial" panose="020B0604020202020204" pitchFamily="34" charset="0"/>
              </a:rPr>
              <a:t>Dikey Geçiş Sınavı (DGS) sınavında Sayısal, Eşit Ağırlık ve Sözel puan türünden 3 farklı puan vardır. puanlandırma koşulları aşağıdaki gibidir.</a:t>
            </a:r>
          </a:p>
        </p:txBody>
      </p:sp>
      <p:sp>
        <p:nvSpPr>
          <p:cNvPr id="56" name="Ok: Beşgen 55">
            <a:extLst>
              <a:ext uri="{FF2B5EF4-FFF2-40B4-BE49-F238E27FC236}">
                <a16:creationId xmlns:a16="http://schemas.microsoft.com/office/drawing/2014/main" id="{D327283C-46A4-4C86-A990-995946C89AA1}"/>
              </a:ext>
            </a:extLst>
          </p:cNvPr>
          <p:cNvSpPr/>
          <p:nvPr/>
        </p:nvSpPr>
        <p:spPr>
          <a:xfrm>
            <a:off x="3642336" y="3254889"/>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23755" y="5373009"/>
            <a:ext cx="3144400" cy="1013316"/>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tr-TR" sz="1000" dirty="0">
                <a:solidFill>
                  <a:schemeClr val="tx1"/>
                </a:solidFill>
              </a:rPr>
              <a:t>Sizleri fazla sıkmamak adına, sadece bu verilenlerle ilgili 2 soru sormayı uygun gördük, daha çok soru yazılabilirdi fakat artık sorular okuduğunu anlamaya yönelik sorulmakta sınavlarda. Fakat işlem yapmayı da tabi ki bilmemiz gerekmekte o yüzden yerinde bırakmak daha doğru olacaktır. </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4.</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5.</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890738" y="467484"/>
            <a:ext cx="2299827" cy="338554"/>
          </a:xfrm>
          <a:prstGeom prst="rect">
            <a:avLst/>
          </a:prstGeom>
          <a:noFill/>
        </p:spPr>
        <p:txBody>
          <a:bodyPr wrap="square">
            <a:spAutoFit/>
          </a:bodyPr>
          <a:lstStyle/>
          <a:p>
            <a:r>
              <a:rPr lang="tr-TR" sz="800" b="1" i="0" dirty="0">
                <a:solidFill>
                  <a:schemeClr val="bg1"/>
                </a:solidFill>
                <a:effectLst/>
                <a:latin typeface="Arial Narrow" panose="020B0606020202030204" pitchFamily="34" charset="0"/>
              </a:rPr>
              <a:t>Bu sayfadaki tüm soruları aşağıdaki bilgileri referans alarak </a:t>
            </a:r>
            <a:r>
              <a:rPr lang="tr-TR" sz="800" b="1" i="0" u="sng" dirty="0">
                <a:solidFill>
                  <a:schemeClr val="bg1"/>
                </a:solidFill>
                <a:effectLst/>
                <a:latin typeface="Arial Narrow" panose="020B0606020202030204" pitchFamily="34" charset="0"/>
              </a:rPr>
              <a:t>birbirinden bağımsız</a:t>
            </a:r>
            <a:r>
              <a:rPr lang="tr-TR" sz="800" b="1" i="0" dirty="0">
                <a:solidFill>
                  <a:schemeClr val="bg1"/>
                </a:solidFill>
                <a:effectLst/>
                <a:latin typeface="Arial Narrow" panose="020B0606020202030204" pitchFamily="34" charset="0"/>
              </a:rPr>
              <a:t> cevaplandırınız.</a:t>
            </a:r>
            <a:endParaRPr lang="tr-TR" sz="800" dirty="0">
              <a:solidFill>
                <a:schemeClr val="bg1"/>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F5F0885E-65C0-4BD5-B8CA-969EB15448ED}"/>
                  </a:ext>
                </a:extLst>
              </p:cNvPr>
              <p:cNvSpPr txBox="1"/>
              <p:nvPr/>
            </p:nvSpPr>
            <p:spPr>
              <a:xfrm>
                <a:off x="93732" y="1329082"/>
                <a:ext cx="3212178" cy="19389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r>
                  <a:rPr lang="tr-TR" sz="900" b="1" i="0" dirty="0">
                    <a:solidFill>
                      <a:schemeClr val="tx1"/>
                    </a:solidFill>
                    <a:effectLst/>
                    <a:latin typeface="Arial Narrow" panose="020B0606020202030204" pitchFamily="34" charset="0"/>
                  </a:rPr>
                  <a:t>SAYISAL Puan </a:t>
                </a:r>
                <a:r>
                  <a:rPr lang="tr-TR" sz="900" b="0" i="0" dirty="0">
                    <a:solidFill>
                      <a:schemeClr val="tx1"/>
                    </a:solidFill>
                    <a:effectLst/>
                    <a:latin typeface="Arial Narrow" panose="020B0606020202030204" pitchFamily="34" charset="0"/>
                  </a:rPr>
                  <a:t> </a:t>
                </a:r>
                <a:r>
                  <a:rPr lang="tr-TR" sz="1000" b="0" i="0" dirty="0">
                    <a:solidFill>
                      <a:schemeClr val="tx1"/>
                    </a:solidFill>
                    <a:effectLst/>
                    <a:latin typeface="Arial Narrow" panose="020B0606020202030204" pitchFamily="34" charset="0"/>
                  </a:rPr>
                  <a:t>= (3 </a:t>
                </a:r>
                <a14:m>
                  <m:oMath xmlns:m="http://schemas.openxmlformats.org/officeDocument/2006/math">
                    <m:r>
                      <a:rPr lang="tr-TR" sz="1000" b="0" i="1" dirty="0" smtClean="0">
                        <a:solidFill>
                          <a:schemeClr val="tx1"/>
                        </a:solidFill>
                        <a:effectLst/>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Sayısal SP) + (0.6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Sözel SP) + (0.6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OBP)</a:t>
                </a:r>
                <a:br>
                  <a:rPr lang="tr-TR" sz="1000" dirty="0">
                    <a:solidFill>
                      <a:schemeClr val="tx1"/>
                    </a:solidFill>
                    <a:latin typeface="Arial Narrow" panose="020B0606020202030204" pitchFamily="34" charset="0"/>
                  </a:rPr>
                </a:br>
                <a:r>
                  <a:rPr lang="tr-TR" sz="900" b="1" i="0" dirty="0">
                    <a:solidFill>
                      <a:schemeClr val="tx1"/>
                    </a:solidFill>
                    <a:effectLst/>
                    <a:latin typeface="Arial Narrow" panose="020B0606020202030204" pitchFamily="34" charset="0"/>
                  </a:rPr>
                  <a:t>SÖZEL Puan </a:t>
                </a:r>
                <a:r>
                  <a:rPr lang="tr-TR" sz="900" b="0" i="0" dirty="0">
                    <a:solidFill>
                      <a:schemeClr val="tx1"/>
                    </a:solidFill>
                    <a:effectLst/>
                    <a:latin typeface="Arial Narrow" panose="020B0606020202030204" pitchFamily="34" charset="0"/>
                  </a:rPr>
                  <a:t> </a:t>
                </a:r>
                <a:r>
                  <a:rPr lang="tr-TR" sz="1000" b="0" i="0" dirty="0">
                    <a:solidFill>
                      <a:schemeClr val="tx1"/>
                    </a:solidFill>
                    <a:effectLst/>
                    <a:latin typeface="Arial Narrow" panose="020B0606020202030204" pitchFamily="34" charset="0"/>
                  </a:rPr>
                  <a:t>= (0.6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Sayısal SP) + (3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Sözel SP) + (0.6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OBP)</a:t>
                </a:r>
                <a:br>
                  <a:rPr lang="tr-TR" sz="1000" dirty="0">
                    <a:solidFill>
                      <a:schemeClr val="tx1"/>
                    </a:solidFill>
                    <a:latin typeface="Arial Narrow" panose="020B0606020202030204" pitchFamily="34" charset="0"/>
                  </a:rPr>
                </a:br>
                <a:r>
                  <a:rPr lang="tr-TR" sz="900" b="1" i="0" dirty="0">
                    <a:solidFill>
                      <a:schemeClr val="tx1"/>
                    </a:solidFill>
                    <a:effectLst/>
                    <a:latin typeface="Arial Narrow" panose="020B0606020202030204" pitchFamily="34" charset="0"/>
                  </a:rPr>
                  <a:t>EA Puan </a:t>
                </a:r>
                <a:r>
                  <a:rPr lang="tr-TR" sz="1000" b="0" i="0" dirty="0">
                    <a:solidFill>
                      <a:schemeClr val="tx1"/>
                    </a:solidFill>
                    <a:effectLst/>
                    <a:latin typeface="Arial Narrow" panose="020B0606020202030204" pitchFamily="34" charset="0"/>
                  </a:rPr>
                  <a:t>= (1.8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Sayısal SP) + (1.8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Sözel SP) + (0.6 </a:t>
                </a:r>
                <a14:m>
                  <m:oMath xmlns:m="http://schemas.openxmlformats.org/officeDocument/2006/math">
                    <m:r>
                      <a:rPr lang="tr-TR" sz="1000" i="1" dirty="0">
                        <a:solidFill>
                          <a:schemeClr val="tx1"/>
                        </a:solidFill>
                        <a:latin typeface="Cambria Math" panose="02040503050406030204" pitchFamily="18" charset="0"/>
                        <a:ea typeface="Cambria Math" panose="02040503050406030204" pitchFamily="18" charset="0"/>
                      </a:rPr>
                      <m:t>∙</m:t>
                    </m:r>
                  </m:oMath>
                </a14:m>
                <a:r>
                  <a:rPr lang="tr-TR" sz="1000" b="0" i="0" dirty="0">
                    <a:solidFill>
                      <a:schemeClr val="tx1"/>
                    </a:solidFill>
                    <a:effectLst/>
                    <a:latin typeface="Arial Narrow" panose="020B0606020202030204" pitchFamily="34" charset="0"/>
                  </a:rPr>
                  <a:t> OBP)</a:t>
                </a:r>
              </a:p>
              <a:p>
                <a:endParaRPr lang="tr-TR" sz="1000" dirty="0">
                  <a:solidFill>
                    <a:schemeClr val="tx1"/>
                  </a:solidFill>
                  <a:latin typeface="Arial Narrow" panose="020B0606020202030204" pitchFamily="34" charset="0"/>
                </a:endParaRPr>
              </a:p>
              <a:p>
                <a:r>
                  <a:rPr lang="tr-TR" sz="1000" b="0" i="0" dirty="0">
                    <a:solidFill>
                      <a:schemeClr val="tx1"/>
                    </a:solidFill>
                    <a:effectLst/>
                    <a:latin typeface="Arial Narrow" panose="020B0606020202030204" pitchFamily="34" charset="0"/>
                  </a:rPr>
                  <a:t>OBP : Ön Lisans Başarı Puanı , SP : Standart Puan </a:t>
                </a:r>
                <a:br>
                  <a:rPr lang="tr-TR" sz="1000" b="0" i="0" dirty="0">
                    <a:solidFill>
                      <a:schemeClr val="tx1"/>
                    </a:solidFill>
                    <a:effectLst/>
                    <a:latin typeface="Arial Narrow" panose="020B0606020202030204" pitchFamily="34" charset="0"/>
                  </a:rPr>
                </a:br>
                <a:br>
                  <a:rPr lang="tr-TR" sz="1000" b="0" i="0" dirty="0">
                    <a:solidFill>
                      <a:schemeClr val="tx1"/>
                    </a:solidFill>
                    <a:effectLst/>
                    <a:latin typeface="Arial Narrow" panose="020B0606020202030204" pitchFamily="34" charset="0"/>
                  </a:rPr>
                </a:br>
                <a:r>
                  <a:rPr lang="tr-TR" sz="1000" b="0" i="0" dirty="0">
                    <a:solidFill>
                      <a:schemeClr val="tx1"/>
                    </a:solidFill>
                    <a:effectLst/>
                    <a:latin typeface="Arial Narrow" panose="020B0606020202030204" pitchFamily="34" charset="0"/>
                  </a:rPr>
                  <a:t>Formül ve yeterli bilgiler verilerek sorular sorulmaktadır. Geçmiş yıllarda çıkmış bu tarz sorulara rastlayabilirsiniz. Bizde ufak antrenman niteliğinde çalışmalar yapacağız. Standart sapma nedeniyle her sene bu puanlar değişeceğinden net olarak hesaplayamayacağız. Sadece verileri kullanabilmeyi ölçmekteyiz ve standart puanları </a:t>
                </a:r>
                <a:r>
                  <a:rPr lang="tr-TR" sz="1000" b="0" i="0" u="sng" dirty="0">
                    <a:solidFill>
                      <a:schemeClr val="tx1"/>
                    </a:solidFill>
                    <a:effectLst/>
                    <a:latin typeface="Arial Narrow" panose="020B0606020202030204" pitchFamily="34" charset="0"/>
                  </a:rPr>
                  <a:t>rastgele</a:t>
                </a:r>
                <a:r>
                  <a:rPr lang="tr-TR" sz="1000" b="0" i="0" dirty="0">
                    <a:solidFill>
                      <a:schemeClr val="tx1"/>
                    </a:solidFill>
                    <a:effectLst/>
                    <a:latin typeface="Arial Narrow" panose="020B0606020202030204" pitchFamily="34" charset="0"/>
                  </a:rPr>
                  <a:t> sorularda vereceğiz.</a:t>
                </a:r>
                <a:endParaRPr lang="tr-TR" sz="1000" dirty="0">
                  <a:solidFill>
                    <a:schemeClr val="tx1"/>
                  </a:solidFill>
                  <a:latin typeface="Arial Narrow" panose="020B0606020202030204" pitchFamily="34" charset="0"/>
                </a:endParaRPr>
              </a:p>
            </p:txBody>
          </p:sp>
        </mc:Choice>
        <mc:Fallback xmlns="">
          <p:sp>
            <p:nvSpPr>
              <p:cNvPr id="57" name="Metin kutusu 56">
                <a:extLst>
                  <a:ext uri="{FF2B5EF4-FFF2-40B4-BE49-F238E27FC236}">
                    <a16:creationId xmlns:a16="http://schemas.microsoft.com/office/drawing/2014/main" id="{F5F0885E-65C0-4BD5-B8CA-969EB15448ED}"/>
                  </a:ext>
                </a:extLst>
              </p:cNvPr>
              <p:cNvSpPr txBox="1">
                <a:spLocks noRot="1" noChangeAspect="1" noMove="1" noResize="1" noEditPoints="1" noAdjustHandles="1" noChangeArrowheads="1" noChangeShapeType="1" noTextEdit="1"/>
              </p:cNvSpPr>
              <p:nvPr/>
            </p:nvSpPr>
            <p:spPr>
              <a:xfrm>
                <a:off x="93732" y="1329082"/>
                <a:ext cx="3212178" cy="1938992"/>
              </a:xfrm>
              <a:prstGeom prst="rect">
                <a:avLst/>
              </a:prstGeom>
              <a:blipFill>
                <a:blip r:embed="rId6"/>
                <a:stretch>
                  <a:fillRect b="-313"/>
                </a:stretch>
              </a:blipFill>
              <a:ln w="9525" cap="flat" cmpd="sng" algn="ctr">
                <a:solidFill>
                  <a:schemeClr val="accent1"/>
                </a:solidFill>
                <a:prstDash val="solid"/>
                <a:round/>
                <a:headEnd type="none" w="med" len="med"/>
                <a:tailEnd type="none" w="med" len="med"/>
              </a:ln>
            </p:spPr>
            <p:txBody>
              <a:bodyPr/>
              <a:lstStyle/>
              <a:p>
                <a:r>
                  <a:rPr lang="tr-TR">
                    <a:noFill/>
                  </a:rPr>
                  <a:t> </a:t>
                </a:r>
              </a:p>
            </p:txBody>
          </p:sp>
        </mc:Fallback>
      </mc:AlternateContent>
      <p:sp>
        <p:nvSpPr>
          <p:cNvPr id="58" name="Metin kutusu 57">
            <a:extLst>
              <a:ext uri="{FF2B5EF4-FFF2-40B4-BE49-F238E27FC236}">
                <a16:creationId xmlns:a16="http://schemas.microsoft.com/office/drawing/2014/main" id="{1E3AF56C-EFEC-4CE4-8EBA-20025EE20BD6}"/>
              </a:ext>
            </a:extLst>
          </p:cNvPr>
          <p:cNvSpPr txBox="1"/>
          <p:nvPr/>
        </p:nvSpPr>
        <p:spPr>
          <a:xfrm>
            <a:off x="71817" y="3265763"/>
            <a:ext cx="3242755" cy="707886"/>
          </a:xfrm>
          <a:prstGeom prst="rect">
            <a:avLst/>
          </a:prstGeom>
          <a:noFill/>
        </p:spPr>
        <p:txBody>
          <a:bodyPr wrap="square" rtlCol="0">
            <a:spAutoFit/>
          </a:bodyPr>
          <a:lstStyle/>
          <a:p>
            <a:r>
              <a:rPr lang="tr-TR" sz="1000" b="1" noProof="1">
                <a:cs typeface="Arial" panose="020B0604020202020204" pitchFamily="34" charset="0"/>
              </a:rPr>
              <a:t>Yukarıda verilen puan hesaplama sistemine göre, </a:t>
            </a:r>
            <a:br>
              <a:rPr lang="tr-TR" sz="1000" b="1" noProof="1">
                <a:cs typeface="Arial" panose="020B0604020202020204" pitchFamily="34" charset="0"/>
              </a:rPr>
            </a:br>
            <a:r>
              <a:rPr lang="tr-TR" sz="1000" b="1" noProof="1">
                <a:cs typeface="Arial" panose="020B0604020202020204" pitchFamily="34" charset="0"/>
              </a:rPr>
              <a:t>Ezgi`nin ; sayısal standart puanı, sözel standart puanından 20 daha eksiktir.  OBP puanı 80 ve EA puanı 228 olduğu biliniyor. Buna göre,  sayısal standart puanı kaçtır?</a:t>
            </a:r>
          </a:p>
        </p:txBody>
      </p:sp>
      <mc:AlternateContent xmlns:mc="http://schemas.openxmlformats.org/markup-compatibility/2006" xmlns:a14="http://schemas.microsoft.com/office/drawing/2010/main">
        <mc:Choice Requires="a14">
          <p:sp>
            <p:nvSpPr>
              <p:cNvPr id="60" name="Metin kutusu 59">
                <a:extLst>
                  <a:ext uri="{FF2B5EF4-FFF2-40B4-BE49-F238E27FC236}">
                    <a16:creationId xmlns:a16="http://schemas.microsoft.com/office/drawing/2014/main" id="{E7B259D2-983F-4A1F-978C-EE7D7592A5F9}"/>
                  </a:ext>
                </a:extLst>
              </p:cNvPr>
              <p:cNvSpPr txBox="1"/>
              <p:nvPr/>
            </p:nvSpPr>
            <p:spPr>
              <a:xfrm>
                <a:off x="44624" y="5509760"/>
                <a:ext cx="3255556" cy="1391215"/>
              </a:xfrm>
              <a:prstGeom prst="rect">
                <a:avLst/>
              </a:prstGeom>
              <a:noFill/>
            </p:spPr>
            <p:txBody>
              <a:bodyPr wrap="square">
                <a:spAutoFit/>
              </a:bodyPr>
              <a:lstStyle/>
              <a:p>
                <a:r>
                  <a:rPr lang="tr-TR" sz="1000" noProof="1">
                    <a:cs typeface="Arial" panose="020B0604020202020204" pitchFamily="34" charset="0"/>
                  </a:rPr>
                  <a:t>1,8</a:t>
                </a:r>
                <a:r>
                  <a:rPr lang="tr-TR" sz="1000" b="1" noProof="1">
                    <a:cs typeface="Arial" panose="020B0604020202020204" pitchFamily="34" charset="0"/>
                  </a:rPr>
                  <a:t> </a:t>
                </a:r>
                <a:r>
                  <a:rPr lang="tr-TR" sz="1000" noProof="1">
                    <a:cs typeface="Arial" panose="020B0604020202020204" pitchFamily="34" charset="0"/>
                  </a:rPr>
                  <a:t>=</a:t>
                </a:r>
                <a:r>
                  <a:rPr lang="tr-TR" sz="1000" b="1" noProof="1">
                    <a:cs typeface="Arial" panose="020B0604020202020204" pitchFamily="34" charset="0"/>
                  </a:rPr>
                  <a:t> </a:t>
                </a:r>
                <a14:m>
                  <m:oMath xmlns:m="http://schemas.openxmlformats.org/officeDocument/2006/math">
                    <m:f>
                      <m:fPr>
                        <m:ctrlPr>
                          <a:rPr lang="tr-TR" sz="850" b="1" i="1" noProof="1" smtClean="0">
                            <a:latin typeface="Cambria Math" panose="02040503050406030204" pitchFamily="18" charset="0"/>
                          </a:rPr>
                        </m:ctrlPr>
                      </m:fPr>
                      <m:num>
                        <m:r>
                          <m:rPr>
                            <m:nor/>
                          </m:rPr>
                          <a:rPr lang="tr-TR" sz="850" b="0" i="0" noProof="1" smtClean="0">
                            <a:latin typeface="Helvetica" panose="020B0604020202020204" pitchFamily="34" charset="0"/>
                            <a:cs typeface="Helvetica" panose="020B0604020202020204" pitchFamily="34" charset="0"/>
                          </a:rPr>
                          <m:t>18</m:t>
                        </m:r>
                      </m:num>
                      <m:den>
                        <m:r>
                          <m:rPr>
                            <m:nor/>
                          </m:rPr>
                          <a:rPr lang="tr-TR" sz="850" b="0" i="0" noProof="1" smtClean="0">
                            <a:latin typeface="Helvetica" panose="020B0604020202020204" pitchFamily="34" charset="0"/>
                            <a:cs typeface="Helvetica" panose="020B0604020202020204" pitchFamily="34" charset="0"/>
                          </a:rPr>
                          <m:t>10</m:t>
                        </m:r>
                      </m:den>
                    </m:f>
                  </m:oMath>
                </a14:m>
                <a:r>
                  <a:rPr lang="tr-TR" sz="1000" b="1" noProof="1">
                    <a:cs typeface="Arial" panose="020B0604020202020204" pitchFamily="34" charset="0"/>
                  </a:rPr>
                  <a:t> </a:t>
                </a:r>
                <a:r>
                  <a:rPr lang="tr-TR" sz="1000" noProof="1">
                    <a:cs typeface="Arial" panose="020B0604020202020204" pitchFamily="34" charset="0"/>
                  </a:rPr>
                  <a:t>=</a:t>
                </a:r>
                <a:r>
                  <a:rPr lang="tr-TR" sz="1000" b="1" noProof="1"/>
                  <a:t> </a:t>
                </a:r>
                <a14:m>
                  <m:oMath xmlns:m="http://schemas.openxmlformats.org/officeDocument/2006/math">
                    <m:f>
                      <m:fPr>
                        <m:ctrlPr>
                          <a:rPr lang="tr-TR" sz="900" b="1" i="1" noProof="1">
                            <a:latin typeface="Cambria Math" panose="02040503050406030204" pitchFamily="18" charset="0"/>
                          </a:rPr>
                        </m:ctrlPr>
                      </m:fPr>
                      <m:num>
                        <m:r>
                          <m:rPr>
                            <m:nor/>
                          </m:rPr>
                          <a:rPr lang="tr-TR" sz="900" b="0" i="0" noProof="1" smtClean="0">
                            <a:latin typeface="Helvetica" panose="020B0604020202020204" pitchFamily="34" charset="0"/>
                            <a:cs typeface="Helvetica" panose="020B0604020202020204" pitchFamily="34" charset="0"/>
                          </a:rPr>
                          <m:t>9</m:t>
                        </m:r>
                      </m:num>
                      <m:den>
                        <m:r>
                          <m:rPr>
                            <m:nor/>
                          </m:rPr>
                          <a:rPr lang="tr-TR" sz="900" b="0" i="0" noProof="1" smtClean="0">
                            <a:latin typeface="Helvetica" panose="020B0604020202020204" pitchFamily="34" charset="0"/>
                            <a:cs typeface="Helvetica" panose="020B0604020202020204" pitchFamily="34" charset="0"/>
                          </a:rPr>
                          <m:t>5</m:t>
                        </m:r>
                      </m:den>
                    </m:f>
                  </m:oMath>
                </a14:m>
                <a:r>
                  <a:rPr lang="tr-TR" sz="900" b="1" noProof="1">
                    <a:cs typeface="Arial" panose="020B0604020202020204" pitchFamily="34" charset="0"/>
                  </a:rPr>
                  <a:t>     </a:t>
                </a:r>
                <a:r>
                  <a:rPr lang="tr-TR" sz="1000" noProof="1">
                    <a:cs typeface="Arial" panose="020B0604020202020204" pitchFamily="34" charset="0"/>
                  </a:rPr>
                  <a:t>0,6 = </a:t>
                </a:r>
                <a14:m>
                  <m:oMath xmlns:m="http://schemas.openxmlformats.org/officeDocument/2006/math">
                    <m:f>
                      <m:fPr>
                        <m:ctrlPr>
                          <a:rPr lang="tr-TR" sz="850" b="1" i="1" noProof="1">
                            <a:latin typeface="Cambria Math" panose="02040503050406030204" pitchFamily="18" charset="0"/>
                          </a:rPr>
                        </m:ctrlPr>
                      </m:fPr>
                      <m:num>
                        <m:r>
                          <m:rPr>
                            <m:nor/>
                          </m:rPr>
                          <a:rPr lang="tr-TR" sz="850" b="0" i="0" noProof="1" smtClean="0">
                            <a:latin typeface="Helvetica" panose="020B0604020202020204" pitchFamily="34" charset="0"/>
                            <a:cs typeface="Helvetica" panose="020B0604020202020204" pitchFamily="34" charset="0"/>
                          </a:rPr>
                          <m:t>6</m:t>
                        </m:r>
                      </m:num>
                      <m:den>
                        <m:r>
                          <m:rPr>
                            <m:nor/>
                          </m:rPr>
                          <a:rPr lang="tr-TR" sz="850" noProof="1">
                            <a:latin typeface="Helvetica" panose="020B0604020202020204" pitchFamily="34" charset="0"/>
                            <a:cs typeface="Helvetica" panose="020B0604020202020204" pitchFamily="34" charset="0"/>
                          </a:rPr>
                          <m:t>10</m:t>
                        </m:r>
                      </m:den>
                    </m:f>
                  </m:oMath>
                </a14:m>
                <a:r>
                  <a:rPr lang="tr-TR" sz="1000" b="1" noProof="1">
                    <a:cs typeface="Arial" panose="020B0604020202020204" pitchFamily="34" charset="0"/>
                  </a:rPr>
                  <a:t> </a:t>
                </a:r>
                <a:r>
                  <a:rPr lang="tr-TR" sz="1000" noProof="1">
                    <a:cs typeface="Arial" panose="020B0604020202020204" pitchFamily="34" charset="0"/>
                  </a:rPr>
                  <a:t>=</a:t>
                </a:r>
                <a:r>
                  <a:rPr lang="tr-TR" sz="1000" b="1" noProof="1"/>
                  <a:t> </a:t>
                </a:r>
                <a14:m>
                  <m:oMath xmlns:m="http://schemas.openxmlformats.org/officeDocument/2006/math">
                    <m:f>
                      <m:fPr>
                        <m:ctrlPr>
                          <a:rPr lang="tr-TR" sz="900" b="1" i="1" noProof="1">
                            <a:latin typeface="Cambria Math" panose="02040503050406030204" pitchFamily="18" charset="0"/>
                          </a:rPr>
                        </m:ctrlPr>
                      </m:fPr>
                      <m:num>
                        <m:r>
                          <m:rPr>
                            <m:nor/>
                          </m:rPr>
                          <a:rPr lang="tr-TR" sz="900" b="0" i="0" noProof="1" smtClean="0">
                            <a:latin typeface="Helvetica" panose="020B0604020202020204" pitchFamily="34" charset="0"/>
                            <a:cs typeface="Helvetica" panose="020B0604020202020204" pitchFamily="34" charset="0"/>
                          </a:rPr>
                          <m:t>3</m:t>
                        </m:r>
                      </m:num>
                      <m:den>
                        <m:r>
                          <m:rPr>
                            <m:nor/>
                          </m:rPr>
                          <a:rPr lang="tr-TR" sz="900" b="0" i="0" noProof="1" smtClean="0">
                            <a:latin typeface="Helvetica" panose="020B0604020202020204" pitchFamily="34" charset="0"/>
                            <a:cs typeface="Helvetica" panose="020B0604020202020204" pitchFamily="34" charset="0"/>
                          </a:rPr>
                          <m:t>5</m:t>
                        </m:r>
                      </m:den>
                    </m:f>
                  </m:oMath>
                </a14:m>
                <a:r>
                  <a:rPr lang="tr-TR" sz="500" b="1" noProof="1">
                    <a:cs typeface="Arial" panose="020B0604020202020204" pitchFamily="34" charset="0"/>
                  </a:rPr>
                  <a:t>  </a:t>
                </a:r>
                <a:r>
                  <a:rPr lang="tr-TR" sz="900" noProof="1">
                    <a:cs typeface="Arial" panose="020B0604020202020204" pitchFamily="34" charset="0"/>
                  </a:rPr>
                  <a:t>rasyonel şekilde çarpalım kolaylık olacaktır. Sade halleriyle yazarsak daha pratik işlem yaparız.</a:t>
                </a:r>
              </a:p>
              <a:p>
                <a:endParaRPr lang="tr-TR" sz="900" b="1" noProof="1">
                  <a:cs typeface="Arial" panose="020B0604020202020204" pitchFamily="34" charset="0"/>
                </a:endParaRPr>
              </a:p>
              <a:p>
                <a:r>
                  <a:rPr lang="tr-TR" sz="1000" noProof="1">
                    <a:cs typeface="Arial" panose="020B0604020202020204" pitchFamily="34" charset="0"/>
                  </a:rPr>
                  <a:t>Sayısal SP = x+20 ,  Sözel SP = x olur.</a:t>
                </a:r>
                <a:r>
                  <a:rPr lang="tr-TR" sz="900" noProof="1">
                    <a:cs typeface="Arial" panose="020B0604020202020204" pitchFamily="34" charset="0"/>
                  </a:rPr>
                  <a:t> </a:t>
                </a:r>
              </a:p>
              <a:p>
                <a:endParaRPr lang="tr-TR" sz="900" noProof="1">
                  <a:cs typeface="Arial" panose="020B0604020202020204" pitchFamily="34" charset="0"/>
                </a:endParaRPr>
              </a:p>
              <a:p>
                <a14:m>
                  <m:oMath xmlns:m="http://schemas.openxmlformats.org/officeDocument/2006/math">
                    <m:d>
                      <m:dPr>
                        <m:ctrlPr>
                          <a:rPr lang="tr-TR" sz="900" i="1" noProof="1" smtClean="0">
                            <a:solidFill>
                              <a:schemeClr val="tx1"/>
                            </a:solidFill>
                            <a:latin typeface="Cambria Math" panose="02040503050406030204" pitchFamily="18" charset="0"/>
                          </a:rPr>
                        </m:ctrlPr>
                      </m:dPr>
                      <m:e>
                        <m:r>
                          <m:rPr>
                            <m:sty m:val="p"/>
                          </m:rPr>
                          <a:rPr lang="tr-TR" sz="900" i="0" noProof="1" smtClean="0">
                            <a:solidFill>
                              <a:schemeClr val="tx1"/>
                            </a:solidFill>
                            <a:latin typeface="Cambria Math" panose="02040503050406030204" pitchFamily="18" charset="0"/>
                          </a:rPr>
                          <m:t>x</m:t>
                        </m:r>
                        <m:r>
                          <a:rPr lang="tr-TR" sz="900" i="0" noProof="1" smtClean="0">
                            <a:solidFill>
                              <a:schemeClr val="tx1"/>
                            </a:solidFill>
                            <a:latin typeface="Cambria Math" panose="02040503050406030204" pitchFamily="18" charset="0"/>
                          </a:rPr>
                          <m:t>+20</m:t>
                        </m:r>
                      </m:e>
                    </m:d>
                    <m:r>
                      <a:rPr lang="tr-TR" sz="900" i="0" noProof="1" smtClean="0">
                        <a:solidFill>
                          <a:schemeClr val="tx1"/>
                        </a:solidFill>
                        <a:latin typeface="Cambria Math" panose="02040503050406030204" pitchFamily="18" charset="0"/>
                      </a:rPr>
                      <m:t>⋅</m:t>
                    </m:r>
                    <m:f>
                      <m:fPr>
                        <m:ctrlPr>
                          <a:rPr lang="tr-TR" sz="900" i="1" noProof="1" smtClean="0">
                            <a:solidFill>
                              <a:schemeClr val="tx1"/>
                            </a:solidFill>
                            <a:latin typeface="Cambria Math" panose="02040503050406030204" pitchFamily="18" charset="0"/>
                          </a:rPr>
                        </m:ctrlPr>
                      </m:fPr>
                      <m:num>
                        <m:r>
                          <a:rPr lang="tr-TR" sz="900" b="0" i="0" noProof="1" smtClean="0">
                            <a:solidFill>
                              <a:schemeClr val="tx1"/>
                            </a:solidFill>
                            <a:latin typeface="Cambria Math" panose="02040503050406030204" pitchFamily="18" charset="0"/>
                          </a:rPr>
                          <m:t>9</m:t>
                        </m:r>
                      </m:num>
                      <m:den>
                        <m:r>
                          <a:rPr lang="tr-TR" sz="900" b="0" i="0" noProof="1" smtClean="0">
                            <a:solidFill>
                              <a:schemeClr val="tx1"/>
                            </a:solidFill>
                            <a:latin typeface="Cambria Math" panose="02040503050406030204" pitchFamily="18" charset="0"/>
                          </a:rPr>
                          <m:t>5</m:t>
                        </m:r>
                      </m:den>
                    </m:f>
                    <m:r>
                      <a:rPr lang="tr-TR" sz="900" i="0" noProof="1" smtClean="0">
                        <a:solidFill>
                          <a:schemeClr val="tx1"/>
                        </a:solidFill>
                        <a:latin typeface="Cambria Math" panose="02040503050406030204" pitchFamily="18" charset="0"/>
                      </a:rPr>
                      <m:t>+</m:t>
                    </m:r>
                    <m:r>
                      <a:rPr lang="tr-TR" sz="900" b="0" i="0" noProof="1" smtClean="0">
                        <a:solidFill>
                          <a:schemeClr val="tx1"/>
                        </a:solidFill>
                        <a:latin typeface="Cambria Math" panose="02040503050406030204" pitchFamily="18" charset="0"/>
                      </a:rPr>
                      <m:t>   </m:t>
                    </m:r>
                    <m:r>
                      <m:rPr>
                        <m:sty m:val="p"/>
                      </m:rPr>
                      <a:rPr lang="tr-TR" sz="900" b="0" i="0" noProof="1" smtClean="0">
                        <a:solidFill>
                          <a:schemeClr val="tx1"/>
                        </a:solidFill>
                        <a:latin typeface="Cambria Math" panose="02040503050406030204" pitchFamily="18" charset="0"/>
                      </a:rPr>
                      <m:t>x</m:t>
                    </m:r>
                    <m:r>
                      <a:rPr lang="tr-TR" sz="900" i="0" noProof="1" smtClean="0">
                        <a:solidFill>
                          <a:schemeClr val="tx1"/>
                        </a:solidFill>
                        <a:latin typeface="Cambria Math" panose="02040503050406030204" pitchFamily="18" charset="0"/>
                      </a:rPr>
                      <m:t>⋅</m:t>
                    </m:r>
                    <m:f>
                      <m:fPr>
                        <m:ctrlPr>
                          <a:rPr lang="tr-TR" sz="900" i="1" noProof="1" smtClean="0">
                            <a:solidFill>
                              <a:schemeClr val="tx1"/>
                            </a:solidFill>
                            <a:latin typeface="Cambria Math" panose="02040503050406030204" pitchFamily="18" charset="0"/>
                          </a:rPr>
                        </m:ctrlPr>
                      </m:fPr>
                      <m:num>
                        <m:r>
                          <a:rPr lang="tr-TR" sz="900" b="0" i="0" noProof="1" smtClean="0">
                            <a:solidFill>
                              <a:schemeClr val="tx1"/>
                            </a:solidFill>
                            <a:latin typeface="Cambria Math" panose="02040503050406030204" pitchFamily="18" charset="0"/>
                          </a:rPr>
                          <m:t>3</m:t>
                        </m:r>
                      </m:num>
                      <m:den>
                        <m:r>
                          <a:rPr lang="tr-TR" sz="900" b="0" i="0" noProof="1" smtClean="0">
                            <a:solidFill>
                              <a:schemeClr val="tx1"/>
                            </a:solidFill>
                            <a:latin typeface="Cambria Math" panose="02040503050406030204" pitchFamily="18" charset="0"/>
                          </a:rPr>
                          <m:t>5</m:t>
                        </m:r>
                      </m:den>
                    </m:f>
                    <m:r>
                      <a:rPr lang="tr-TR" sz="900" b="0" i="0" noProof="1" smtClean="0">
                        <a:solidFill>
                          <a:schemeClr val="tx1"/>
                        </a:solidFill>
                        <a:latin typeface="Cambria Math" panose="02040503050406030204" pitchFamily="18" charset="0"/>
                      </a:rPr>
                      <m:t>   </m:t>
                    </m:r>
                    <m:r>
                      <a:rPr lang="tr-TR" sz="900" i="0" noProof="1" smtClean="0">
                        <a:solidFill>
                          <a:schemeClr val="tx1"/>
                        </a:solidFill>
                        <a:latin typeface="Cambria Math" panose="02040503050406030204" pitchFamily="18" charset="0"/>
                      </a:rPr>
                      <m:t>+80⋅</m:t>
                    </m:r>
                    <m:f>
                      <m:fPr>
                        <m:ctrlPr>
                          <a:rPr lang="tr-TR" sz="900" i="1" noProof="1" smtClean="0">
                            <a:solidFill>
                              <a:schemeClr val="tx1"/>
                            </a:solidFill>
                            <a:latin typeface="Cambria Math" panose="02040503050406030204" pitchFamily="18" charset="0"/>
                          </a:rPr>
                        </m:ctrlPr>
                      </m:fPr>
                      <m:num>
                        <m:r>
                          <a:rPr lang="tr-TR" sz="900" b="0" i="0" noProof="1" smtClean="0">
                            <a:solidFill>
                              <a:schemeClr val="tx1"/>
                            </a:solidFill>
                            <a:latin typeface="Cambria Math" panose="02040503050406030204" pitchFamily="18" charset="0"/>
                          </a:rPr>
                          <m:t>3</m:t>
                        </m:r>
                      </m:num>
                      <m:den>
                        <m:r>
                          <a:rPr lang="tr-TR" sz="900" b="0" i="0" noProof="1" smtClean="0">
                            <a:solidFill>
                              <a:schemeClr val="tx1"/>
                            </a:solidFill>
                            <a:latin typeface="Cambria Math" panose="02040503050406030204" pitchFamily="18" charset="0"/>
                          </a:rPr>
                          <m:t>5</m:t>
                        </m:r>
                      </m:den>
                    </m:f>
                  </m:oMath>
                </a14:m>
                <a:r>
                  <a:rPr lang="tr-TR" sz="900" noProof="1">
                    <a:solidFill>
                      <a:schemeClr val="tx1"/>
                    </a:solidFill>
                    <a:cs typeface="Arial" panose="020B0604020202020204" pitchFamily="34" charset="0"/>
                  </a:rPr>
                  <a:t> = 184   x=40 olarak bulunur.</a:t>
                </a:r>
              </a:p>
              <a:p>
                <a:endParaRPr lang="tr-TR" sz="900" noProof="1">
                  <a:cs typeface="Arial" panose="020B0604020202020204" pitchFamily="34" charset="0"/>
                </a:endParaRPr>
              </a:p>
              <a:p>
                <a:r>
                  <a:rPr lang="tr-TR" sz="900" noProof="1">
                    <a:solidFill>
                      <a:schemeClr val="tx1"/>
                    </a:solidFill>
                    <a:cs typeface="Arial" panose="020B0604020202020204" pitchFamily="34" charset="0"/>
                  </a:rPr>
                  <a:t>Sayısal Standart Puan (SP) x+20 = 60 olmuş olur.</a:t>
                </a:r>
              </a:p>
            </p:txBody>
          </p:sp>
        </mc:Choice>
        <mc:Fallback xmlns="">
          <p:sp>
            <p:nvSpPr>
              <p:cNvPr id="60" name="Metin kutusu 59">
                <a:extLst>
                  <a:ext uri="{FF2B5EF4-FFF2-40B4-BE49-F238E27FC236}">
                    <a16:creationId xmlns:a16="http://schemas.microsoft.com/office/drawing/2014/main" id="{E7B259D2-983F-4A1F-978C-EE7D7592A5F9}"/>
                  </a:ext>
                </a:extLst>
              </p:cNvPr>
              <p:cNvSpPr txBox="1">
                <a:spLocks noRot="1" noChangeAspect="1" noMove="1" noResize="1" noEditPoints="1" noAdjustHandles="1" noChangeArrowheads="1" noChangeShapeType="1" noTextEdit="1"/>
              </p:cNvSpPr>
              <p:nvPr/>
            </p:nvSpPr>
            <p:spPr>
              <a:xfrm>
                <a:off x="44624" y="5509760"/>
                <a:ext cx="3255556" cy="1391215"/>
              </a:xfrm>
              <a:prstGeom prst="rect">
                <a:avLst/>
              </a:prstGeom>
              <a:blipFill>
                <a:blip r:embed="rId7"/>
                <a:stretch>
                  <a:fillRect/>
                </a:stretch>
              </a:blipFill>
            </p:spPr>
            <p:txBody>
              <a:bodyPr/>
              <a:lstStyle/>
              <a:p>
                <a:r>
                  <a:rPr lang="tr-TR">
                    <a:noFill/>
                  </a:rPr>
                  <a:t> </a:t>
                </a:r>
              </a:p>
            </p:txBody>
          </p:sp>
        </mc:Fallback>
      </mc:AlternateContent>
      <p:sp>
        <p:nvSpPr>
          <p:cNvPr id="62" name="Metin kutusu 61">
            <a:extLst>
              <a:ext uri="{FF2B5EF4-FFF2-40B4-BE49-F238E27FC236}">
                <a16:creationId xmlns:a16="http://schemas.microsoft.com/office/drawing/2014/main" id="{038D34C5-4CE0-464B-9CAE-4F4D93BFAE34}"/>
              </a:ext>
            </a:extLst>
          </p:cNvPr>
          <p:cNvSpPr txBox="1"/>
          <p:nvPr/>
        </p:nvSpPr>
        <p:spPr>
          <a:xfrm>
            <a:off x="3533625" y="738016"/>
            <a:ext cx="3347594" cy="861774"/>
          </a:xfrm>
          <a:prstGeom prst="rect">
            <a:avLst/>
          </a:prstGeom>
          <a:noFill/>
        </p:spPr>
        <p:txBody>
          <a:bodyPr wrap="square" rtlCol="0">
            <a:spAutoFit/>
          </a:bodyPr>
          <a:lstStyle/>
          <a:p>
            <a:r>
              <a:rPr lang="tr-TR" sz="1000" noProof="1">
                <a:cs typeface="Arial" panose="020B0604020202020204" pitchFamily="34" charset="0"/>
              </a:rPr>
              <a:t>Sayısal standart puanı 60, sözel standart puanı x olan bir öğrencinin OBP puanı 60`dır.  </a:t>
            </a:r>
            <a:br>
              <a:rPr lang="tr-TR" sz="1000" noProof="1">
                <a:cs typeface="Arial" panose="020B0604020202020204" pitchFamily="34" charset="0"/>
              </a:rPr>
            </a:br>
            <a:br>
              <a:rPr lang="tr-TR" sz="1000" noProof="1">
                <a:cs typeface="Arial" panose="020B0604020202020204" pitchFamily="34" charset="0"/>
              </a:rPr>
            </a:br>
            <a:r>
              <a:rPr lang="tr-TR" sz="1000" b="1" noProof="1">
                <a:cs typeface="Arial" panose="020B0604020202020204" pitchFamily="34" charset="0"/>
              </a:rPr>
              <a:t>Sayısal puanı, sözel puanından  84 fazla olduğuna göre, sözel standart puanı kaçtır?</a:t>
            </a:r>
          </a:p>
        </p:txBody>
      </p:sp>
      <mc:AlternateContent xmlns:mc="http://schemas.openxmlformats.org/markup-compatibility/2006" xmlns:a14="http://schemas.microsoft.com/office/drawing/2010/main">
        <mc:Choice Requires="a14">
          <p:sp>
            <p:nvSpPr>
              <p:cNvPr id="66" name="Metin kutusu 65">
                <a:extLst>
                  <a:ext uri="{FF2B5EF4-FFF2-40B4-BE49-F238E27FC236}">
                    <a16:creationId xmlns:a16="http://schemas.microsoft.com/office/drawing/2014/main" id="{AB549AE7-22BF-448D-B5DF-6704A99DAD68}"/>
                  </a:ext>
                </a:extLst>
              </p:cNvPr>
              <p:cNvSpPr txBox="1"/>
              <p:nvPr/>
            </p:nvSpPr>
            <p:spPr>
              <a:xfrm>
                <a:off x="3582474" y="3482799"/>
                <a:ext cx="3269851" cy="1933734"/>
              </a:xfrm>
              <a:prstGeom prst="rect">
                <a:avLst/>
              </a:prstGeom>
              <a:noFill/>
            </p:spPr>
            <p:txBody>
              <a:bodyPr wrap="square" rtlCol="0">
                <a:spAutoFit/>
              </a:bodyPr>
              <a:lstStyle/>
              <a:p>
                <a:r>
                  <a:rPr lang="tr-TR" sz="1000" b="1" noProof="1"/>
                  <a:t>Sayısal Puan = </a:t>
                </a:r>
                <a14:m>
                  <m:oMath xmlns:m="http://schemas.openxmlformats.org/officeDocument/2006/math">
                    <m:r>
                      <a:rPr lang="tr-TR" sz="1000" b="0" i="0" noProof="1" smtClean="0">
                        <a:latin typeface="Cambria Math" panose="02040503050406030204" pitchFamily="18" charset="0"/>
                      </a:rPr>
                      <m:t>60.3+</m:t>
                    </m:r>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latin typeface="Helvetica" panose="020B0604020202020204" pitchFamily="34" charset="0"/>
                            <a:cs typeface="Helvetica" panose="020B0604020202020204" pitchFamily="34" charset="0"/>
                          </a:rPr>
                          <m:t>6</m:t>
                        </m:r>
                      </m:num>
                      <m:den>
                        <m:r>
                          <m:rPr>
                            <m:nor/>
                          </m:rPr>
                          <a:rPr lang="tr-TR" sz="1000" b="0" i="0" noProof="1" smtClean="0">
                            <a:solidFill>
                              <a:schemeClr val="tx1"/>
                            </a:solidFill>
                            <a:latin typeface="Helvetica" panose="020B0604020202020204" pitchFamily="34" charset="0"/>
                            <a:cs typeface="Helvetica" panose="020B0604020202020204" pitchFamily="34" charset="0"/>
                          </a:rPr>
                          <m:t>10</m:t>
                        </m:r>
                      </m:den>
                    </m:f>
                    <m:r>
                      <a:rPr lang="tr-TR" sz="1000" b="0" i="0" noProof="1" smtClean="0">
                        <a:latin typeface="Cambria Math" panose="02040503050406030204" pitchFamily="18" charset="0"/>
                      </a:rPr>
                      <m:t>⋅</m:t>
                    </m:r>
                    <m:r>
                      <m:rPr>
                        <m:sty m:val="p"/>
                      </m:rPr>
                      <a:rPr lang="tr-TR" sz="1000" b="0" i="0" noProof="1" smtClean="0">
                        <a:latin typeface="Cambria Math" panose="02040503050406030204" pitchFamily="18" charset="0"/>
                      </a:rPr>
                      <m:t>x</m:t>
                    </m:r>
                    <m:r>
                      <a:rPr lang="tr-TR" sz="1000" b="0" i="0" noProof="1" smtClean="0">
                        <a:latin typeface="Cambria Math" panose="02040503050406030204" pitchFamily="18" charset="0"/>
                      </a:rPr>
                      <m:t>+60⋅</m:t>
                    </m:r>
                    <m:f>
                      <m:fPr>
                        <m:ctrlPr>
                          <a:rPr lang="tr-TR" sz="1000" i="1" noProof="1" smtClean="0">
                            <a:solidFill>
                              <a:srgbClr val="836967"/>
                            </a:solidFill>
                            <a:latin typeface="Cambria Math" panose="02040503050406030204" pitchFamily="18" charset="0"/>
                          </a:rPr>
                        </m:ctrlPr>
                      </m:fPr>
                      <m:num>
                        <m:r>
                          <m:rPr>
                            <m:nor/>
                          </m:rPr>
                          <a:rPr lang="tr-TR" sz="1000" b="0" i="0" noProof="1" smtClean="0">
                            <a:latin typeface="Helvetica" panose="020B0604020202020204" pitchFamily="34" charset="0"/>
                            <a:cs typeface="Helvetica" panose="020B0604020202020204" pitchFamily="34" charset="0"/>
                          </a:rPr>
                          <m:t>6</m:t>
                        </m:r>
                      </m:num>
                      <m:den>
                        <m:r>
                          <m:rPr>
                            <m:nor/>
                          </m:rPr>
                          <a:rPr lang="tr-TR" sz="1000" b="0" i="0" noProof="1" smtClean="0">
                            <a:latin typeface="Helvetica" panose="020B0604020202020204" pitchFamily="34" charset="0"/>
                            <a:cs typeface="Helvetica" panose="020B0604020202020204" pitchFamily="34" charset="0"/>
                          </a:rPr>
                          <m:t>10</m:t>
                        </m:r>
                      </m:den>
                    </m:f>
                  </m:oMath>
                </a14:m>
                <a:br>
                  <a:rPr lang="tr-TR" sz="1000" b="1" noProof="1">
                    <a:cs typeface="Arial" panose="020B0604020202020204" pitchFamily="34" charset="0"/>
                  </a:rPr>
                </a:br>
                <a:br>
                  <a:rPr lang="tr-TR" sz="1000" b="1" noProof="1">
                    <a:cs typeface="Arial" panose="020B0604020202020204" pitchFamily="34" charset="0"/>
                  </a:rPr>
                </a:br>
                <a:r>
                  <a:rPr lang="tr-TR" sz="1000" b="1" noProof="1">
                    <a:cs typeface="Arial" panose="020B0604020202020204" pitchFamily="34" charset="0"/>
                  </a:rPr>
                  <a:t>Sözel Puan =   </a:t>
                </a:r>
                <a14:m>
                  <m:oMath xmlns:m="http://schemas.openxmlformats.org/officeDocument/2006/math">
                    <m:r>
                      <a:rPr lang="tr-TR" sz="1000" b="0" i="0" noProof="1" smtClean="0">
                        <a:latin typeface="Cambria Math" panose="02040503050406030204" pitchFamily="18" charset="0"/>
                      </a:rPr>
                      <m:t>60⋅</m:t>
                    </m:r>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latin typeface="Helvetica" panose="020B0604020202020204" pitchFamily="34" charset="0"/>
                            <a:cs typeface="Helvetica" panose="020B0604020202020204" pitchFamily="34" charset="0"/>
                          </a:rPr>
                          <m:t>6</m:t>
                        </m:r>
                      </m:num>
                      <m:den>
                        <m:r>
                          <m:rPr>
                            <m:nor/>
                          </m:rPr>
                          <a:rPr lang="tr-TR" sz="1000" b="0" i="0" noProof="1" smtClean="0">
                            <a:solidFill>
                              <a:schemeClr val="tx1"/>
                            </a:solidFill>
                            <a:latin typeface="Helvetica" panose="020B0604020202020204" pitchFamily="34" charset="0"/>
                            <a:cs typeface="Helvetica" panose="020B0604020202020204" pitchFamily="34" charset="0"/>
                          </a:rPr>
                          <m:t>10</m:t>
                        </m:r>
                      </m:den>
                    </m:f>
                    <m:r>
                      <a:rPr lang="tr-TR" sz="1000" b="0" i="0" noProof="1" smtClean="0">
                        <a:latin typeface="Cambria Math" panose="02040503050406030204" pitchFamily="18" charset="0"/>
                      </a:rPr>
                      <m:t>+</m:t>
                    </m:r>
                    <m:r>
                      <a:rPr lang="tr-TR" sz="1000" b="0" i="0" noProof="1" smtClean="0">
                        <a:solidFill>
                          <a:schemeClr val="tx1"/>
                        </a:solidFill>
                        <a:latin typeface="Cambria Math" panose="02040503050406030204" pitchFamily="18" charset="0"/>
                      </a:rPr>
                      <m:t>3 </m:t>
                    </m:r>
                    <m:r>
                      <m:rPr>
                        <m:sty m:val="p"/>
                      </m:rPr>
                      <a:rPr lang="tr-TR" sz="1000" b="0" i="0" noProof="1" smtClean="0">
                        <a:solidFill>
                          <a:schemeClr val="tx1"/>
                        </a:solidFill>
                        <a:latin typeface="Cambria Math" panose="02040503050406030204" pitchFamily="18" charset="0"/>
                      </a:rPr>
                      <m:t>x</m:t>
                    </m:r>
                    <m:r>
                      <a:rPr lang="tr-TR" sz="1000" b="0" i="0" noProof="1" smtClean="0">
                        <a:latin typeface="Cambria Math" panose="02040503050406030204" pitchFamily="18" charset="0"/>
                      </a:rPr>
                      <m:t>+6⋅</m:t>
                    </m:r>
                    <m:f>
                      <m:fPr>
                        <m:ctrlPr>
                          <a:rPr lang="tr-TR" sz="1000" i="1" noProof="1" smtClean="0">
                            <a:solidFill>
                              <a:schemeClr val="tx1"/>
                            </a:solidFill>
                            <a:latin typeface="Cambria Math" panose="02040503050406030204" pitchFamily="18" charset="0"/>
                          </a:rPr>
                        </m:ctrlPr>
                      </m:fPr>
                      <m:num>
                        <m:r>
                          <m:rPr>
                            <m:nor/>
                          </m:rPr>
                          <a:rPr lang="tr-TR" sz="1000" b="0" i="0" noProof="1" smtClean="0">
                            <a:solidFill>
                              <a:schemeClr val="tx1"/>
                            </a:solidFill>
                            <a:latin typeface="Helvetica" panose="020B0604020202020204" pitchFamily="34" charset="0"/>
                            <a:cs typeface="Helvetica" panose="020B0604020202020204" pitchFamily="34" charset="0"/>
                          </a:rPr>
                          <m:t>6</m:t>
                        </m:r>
                      </m:num>
                      <m:den>
                        <m:r>
                          <m:rPr>
                            <m:nor/>
                          </m:rPr>
                          <a:rPr lang="tr-TR" sz="1000" b="0" i="0" noProof="1" smtClean="0">
                            <a:solidFill>
                              <a:schemeClr val="tx1"/>
                            </a:solidFill>
                            <a:latin typeface="Helvetica" panose="020B0604020202020204" pitchFamily="34" charset="0"/>
                            <a:cs typeface="Helvetica" panose="020B0604020202020204" pitchFamily="34" charset="0"/>
                          </a:rPr>
                          <m:t>10</m:t>
                        </m:r>
                      </m:den>
                    </m:f>
                  </m:oMath>
                </a14:m>
                <a:r>
                  <a:rPr lang="tr-TR" sz="1000" b="1" noProof="1">
                    <a:cs typeface="Arial" panose="020B0604020202020204" pitchFamily="34" charset="0"/>
                  </a:rPr>
                  <a:t>  </a:t>
                </a:r>
                <a:br>
                  <a:rPr lang="tr-TR" sz="1000" b="1" noProof="1">
                    <a:cs typeface="Arial" panose="020B0604020202020204" pitchFamily="34" charset="0"/>
                  </a:rPr>
                </a:br>
                <a:br>
                  <a:rPr lang="tr-TR" sz="1000" b="1" noProof="1">
                    <a:cs typeface="Arial" panose="020B0604020202020204" pitchFamily="34" charset="0"/>
                  </a:rPr>
                </a:br>
                <a:r>
                  <a:rPr lang="tr-TR" sz="1000" b="1" noProof="1">
                    <a:cs typeface="Arial" panose="020B0604020202020204" pitchFamily="34" charset="0"/>
                  </a:rPr>
                  <a:t>OBP ortak olduğundan ötürü denklemlerden çıkarabiliriz sözel puanına 84 eklediğimizde sayısala eşitlemiş oluruz.</a:t>
                </a:r>
              </a:p>
              <a:p>
                <a:endParaRPr lang="tr-TR" sz="1000" b="1" noProof="1">
                  <a:cs typeface="Arial" panose="020B0604020202020204" pitchFamily="34" charset="0"/>
                </a:endParaRPr>
              </a:p>
              <a:p>
                <a:r>
                  <a:rPr lang="tr-TR" sz="1000" noProof="1">
                    <a:solidFill>
                      <a:schemeClr val="tx1"/>
                    </a:solidFill>
                    <a:cs typeface="Arial" panose="020B0604020202020204" pitchFamily="34" charset="0"/>
                  </a:rPr>
                  <a:t>180 + </a:t>
                </a:r>
                <a14:m>
                  <m:oMath xmlns:m="http://schemas.openxmlformats.org/officeDocument/2006/math">
                    <m:f>
                      <m:fPr>
                        <m:ctrlPr>
                          <a:rPr lang="tr-TR" sz="800" i="1" noProof="1" smtClean="0">
                            <a:solidFill>
                              <a:schemeClr val="tx1"/>
                            </a:solidFill>
                            <a:latin typeface="Cambria Math" panose="02040503050406030204" pitchFamily="18" charset="0"/>
                          </a:rPr>
                        </m:ctrlPr>
                      </m:fPr>
                      <m:num>
                        <m:r>
                          <m:rPr>
                            <m:nor/>
                          </m:rPr>
                          <a:rPr lang="tr-TR" sz="800" b="0" i="0" noProof="1" smtClean="0">
                            <a:solidFill>
                              <a:schemeClr val="tx1"/>
                            </a:solidFill>
                            <a:latin typeface="Helvetica" panose="020B0604020202020204" pitchFamily="34" charset="0"/>
                            <a:cs typeface="Helvetica" panose="020B0604020202020204" pitchFamily="34" charset="0"/>
                          </a:rPr>
                          <m:t>3</m:t>
                        </m:r>
                      </m:num>
                      <m:den>
                        <m:r>
                          <m:rPr>
                            <m:nor/>
                          </m:rPr>
                          <a:rPr lang="tr-TR" sz="800" b="0" i="0" noProof="1" smtClean="0">
                            <a:solidFill>
                              <a:schemeClr val="tx1"/>
                            </a:solidFill>
                            <a:latin typeface="Helvetica" panose="020B0604020202020204" pitchFamily="34" charset="0"/>
                            <a:cs typeface="Helvetica" panose="020B0604020202020204" pitchFamily="34" charset="0"/>
                          </a:rPr>
                          <m:t>5</m:t>
                        </m:r>
                      </m:den>
                    </m:f>
                  </m:oMath>
                </a14:m>
                <a:r>
                  <a:rPr lang="tr-TR" sz="1000" noProof="1">
                    <a:solidFill>
                      <a:schemeClr val="tx1"/>
                    </a:solidFill>
                    <a:cs typeface="Arial" panose="020B0604020202020204" pitchFamily="34" charset="0"/>
                  </a:rPr>
                  <a:t> x  = 84 + 36 + 3x </a:t>
                </a:r>
                <a:br>
                  <a:rPr lang="tr-TR" sz="1000" noProof="1">
                    <a:solidFill>
                      <a:schemeClr val="tx1"/>
                    </a:solidFill>
                    <a:cs typeface="Arial" panose="020B0604020202020204" pitchFamily="34" charset="0"/>
                  </a:rPr>
                </a:br>
                <a:br>
                  <a:rPr lang="tr-TR" sz="1000" noProof="1">
                    <a:solidFill>
                      <a:schemeClr val="tx1"/>
                    </a:solidFill>
                    <a:cs typeface="Arial" panose="020B0604020202020204" pitchFamily="34" charset="0"/>
                  </a:rPr>
                </a:br>
                <a:r>
                  <a:rPr lang="tr-TR" sz="1000" noProof="1">
                    <a:solidFill>
                      <a:schemeClr val="tx1"/>
                    </a:solidFill>
                    <a:cs typeface="Arial" panose="020B0604020202020204" pitchFamily="34" charset="0"/>
                  </a:rPr>
                  <a:t> 60 = </a:t>
                </a:r>
                <a14:m>
                  <m:oMath xmlns:m="http://schemas.openxmlformats.org/officeDocument/2006/math">
                    <m:f>
                      <m:fPr>
                        <m:ctrlPr>
                          <a:rPr lang="tr-TR" sz="800" i="1" noProof="1" smtClean="0">
                            <a:solidFill>
                              <a:schemeClr val="tx1"/>
                            </a:solidFill>
                            <a:latin typeface="Cambria Math" panose="02040503050406030204" pitchFamily="18" charset="0"/>
                          </a:rPr>
                        </m:ctrlPr>
                      </m:fPr>
                      <m:num>
                        <m:r>
                          <m:rPr>
                            <m:nor/>
                          </m:rPr>
                          <a:rPr lang="tr-TR" sz="800" i="0" noProof="1" smtClean="0">
                            <a:solidFill>
                              <a:schemeClr val="tx1"/>
                            </a:solidFill>
                            <a:latin typeface="Helvetica" panose="020B0604020202020204" pitchFamily="34" charset="0"/>
                            <a:cs typeface="Helvetica" panose="020B0604020202020204" pitchFamily="34" charset="0"/>
                          </a:rPr>
                          <m:t>12</m:t>
                        </m:r>
                        <m:r>
                          <m:rPr>
                            <m:nor/>
                          </m:rPr>
                          <a:rPr lang="tr-TR" sz="800" i="0" noProof="1" smtClean="0">
                            <a:solidFill>
                              <a:schemeClr val="tx1"/>
                            </a:solidFill>
                            <a:latin typeface="Helvetica" panose="020B0604020202020204" pitchFamily="34" charset="0"/>
                            <a:cs typeface="Helvetica" panose="020B0604020202020204" pitchFamily="34" charset="0"/>
                          </a:rPr>
                          <m:t>x</m:t>
                        </m:r>
                      </m:num>
                      <m:den>
                        <m:r>
                          <m:rPr>
                            <m:nor/>
                          </m:rPr>
                          <a:rPr lang="tr-TR" sz="800" i="0" noProof="1" smtClean="0">
                            <a:solidFill>
                              <a:schemeClr val="tx1"/>
                            </a:solidFill>
                            <a:latin typeface="Helvetica" panose="020B0604020202020204" pitchFamily="34" charset="0"/>
                            <a:cs typeface="Helvetica" panose="020B0604020202020204" pitchFamily="34" charset="0"/>
                          </a:rPr>
                          <m:t>5</m:t>
                        </m:r>
                      </m:den>
                    </m:f>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rPr>
                      <m:t>12</m:t>
                    </m:r>
                    <m:r>
                      <m:rPr>
                        <m:nor/>
                      </m:rPr>
                      <a:rPr lang="tr-TR" sz="800" i="0" noProof="1" smtClean="0">
                        <a:solidFill>
                          <a:schemeClr val="tx1"/>
                        </a:solidFill>
                      </a:rPr>
                      <m:t>x</m:t>
                    </m:r>
                    <m:r>
                      <m:rPr>
                        <m:nor/>
                      </m:rPr>
                      <a:rPr lang="tr-TR" sz="800" b="0" i="0" noProof="1" smtClean="0">
                        <a:solidFill>
                          <a:schemeClr val="tx1"/>
                        </a:solidFill>
                      </a:rPr>
                      <m:t> = </m:t>
                    </m:r>
                    <m:r>
                      <m:rPr>
                        <m:nor/>
                      </m:rPr>
                      <a:rPr lang="tr-TR" sz="800" i="0" noProof="1" smtClean="0">
                        <a:solidFill>
                          <a:schemeClr val="tx1"/>
                        </a:solidFill>
                      </a:rPr>
                      <m:t>300</m:t>
                    </m:r>
                    <m:r>
                      <m:rPr>
                        <m:nor/>
                      </m:rPr>
                      <a:rPr lang="tr-TR" sz="800" b="0" i="0" noProof="1" smtClean="0">
                        <a:solidFill>
                          <a:schemeClr val="tx1"/>
                        </a:solidFill>
                      </a:rPr>
                      <m:t> </m:t>
                    </m:r>
                    <m:r>
                      <m:rPr>
                        <m:nor/>
                      </m:rPr>
                      <a:rPr lang="tr-TR" sz="800" i="0" noProof="1" smtClean="0">
                        <a:solidFill>
                          <a:schemeClr val="tx1"/>
                        </a:solidFill>
                      </a:rPr>
                      <m:t>⇒</m:t>
                    </m:r>
                    <m:r>
                      <m:rPr>
                        <m:nor/>
                      </m:rPr>
                      <a:rPr lang="tr-TR" sz="800" b="0" i="0" noProof="1" smtClean="0">
                        <a:solidFill>
                          <a:schemeClr val="tx1"/>
                        </a:solidFill>
                      </a:rPr>
                      <m:t>  </m:t>
                    </m:r>
                    <m:r>
                      <m:rPr>
                        <m:nor/>
                      </m:rPr>
                      <a:rPr lang="tr-TR" sz="800" i="0" noProof="1" smtClean="0">
                        <a:solidFill>
                          <a:schemeClr val="tx1"/>
                        </a:solidFill>
                      </a:rPr>
                      <m:t>x</m:t>
                    </m:r>
                    <m:r>
                      <m:rPr>
                        <m:nor/>
                      </m:rPr>
                      <a:rPr lang="tr-TR" sz="800" b="0" i="0" noProof="1" smtClean="0">
                        <a:solidFill>
                          <a:schemeClr val="tx1"/>
                        </a:solidFill>
                      </a:rPr>
                      <m:t>  </m:t>
                    </m:r>
                    <m:r>
                      <m:rPr>
                        <m:nor/>
                      </m:rPr>
                      <a:rPr lang="tr-TR" sz="800" i="0" noProof="1" smtClean="0">
                        <a:solidFill>
                          <a:schemeClr val="tx1"/>
                        </a:solidFill>
                      </a:rPr>
                      <m:t>=</m:t>
                    </m:r>
                    <m:r>
                      <m:rPr>
                        <m:nor/>
                      </m:rPr>
                      <a:rPr lang="tr-TR" sz="800" b="0" i="0" noProof="1" smtClean="0">
                        <a:solidFill>
                          <a:schemeClr val="tx1"/>
                        </a:solidFill>
                      </a:rPr>
                      <m:t> </m:t>
                    </m:r>
                    <m:r>
                      <m:rPr>
                        <m:nor/>
                      </m:rPr>
                      <a:rPr lang="tr-TR" sz="800" i="0" noProof="1" smtClean="0">
                        <a:solidFill>
                          <a:schemeClr val="tx1"/>
                        </a:solidFill>
                      </a:rPr>
                      <m:t>25</m:t>
                    </m:r>
                  </m:oMath>
                </a14:m>
                <a:endParaRPr lang="tr-TR" sz="800" noProof="1">
                  <a:solidFill>
                    <a:schemeClr val="tx1"/>
                  </a:solidFill>
                  <a:cs typeface="Arial" panose="020B0604020202020204" pitchFamily="34" charset="0"/>
                </a:endParaRPr>
              </a:p>
            </p:txBody>
          </p:sp>
        </mc:Choice>
        <mc:Fallback xmlns="">
          <p:sp>
            <p:nvSpPr>
              <p:cNvPr id="66" name="Metin kutusu 65">
                <a:extLst>
                  <a:ext uri="{FF2B5EF4-FFF2-40B4-BE49-F238E27FC236}">
                    <a16:creationId xmlns:a16="http://schemas.microsoft.com/office/drawing/2014/main" id="{AB549AE7-22BF-448D-B5DF-6704A99DAD68}"/>
                  </a:ext>
                </a:extLst>
              </p:cNvPr>
              <p:cNvSpPr txBox="1">
                <a:spLocks noRot="1" noChangeAspect="1" noMove="1" noResize="1" noEditPoints="1" noAdjustHandles="1" noChangeArrowheads="1" noChangeShapeType="1" noTextEdit="1"/>
              </p:cNvSpPr>
              <p:nvPr/>
            </p:nvSpPr>
            <p:spPr>
              <a:xfrm>
                <a:off x="3582474" y="3482799"/>
                <a:ext cx="3269851" cy="1933734"/>
              </a:xfrm>
              <a:prstGeom prst="rect">
                <a:avLst/>
              </a:prstGeom>
              <a:blipFill>
                <a:blip r:embed="rId8"/>
                <a:stretch>
                  <a:fillRect/>
                </a:stretch>
              </a:blipFill>
            </p:spPr>
            <p:txBody>
              <a:bodyPr/>
              <a:lstStyle/>
              <a:p>
                <a:r>
                  <a:rPr lang="tr-TR">
                    <a:noFill/>
                  </a:rPr>
                  <a:t> </a:t>
                </a:r>
              </a:p>
            </p:txBody>
          </p:sp>
        </mc:Fallback>
      </mc:AlternateContent>
      <p:sp>
        <p:nvSpPr>
          <p:cNvPr id="6" name="Akış Çizelgesi: Belge 5">
            <a:extLst>
              <a:ext uri="{FF2B5EF4-FFF2-40B4-BE49-F238E27FC236}">
                <a16:creationId xmlns:a16="http://schemas.microsoft.com/office/drawing/2014/main" id="{90A988FB-3EA6-4AE1-9052-25C5865A59B7}"/>
              </a:ext>
            </a:extLst>
          </p:cNvPr>
          <p:cNvSpPr/>
          <p:nvPr/>
        </p:nvSpPr>
        <p:spPr>
          <a:xfrm>
            <a:off x="3642336" y="6444208"/>
            <a:ext cx="3099032" cy="2223428"/>
          </a:xfrm>
          <a:prstGeom prst="flowChartDocumen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7" name="Metin kutusu 66">
            <a:extLst>
              <a:ext uri="{FF2B5EF4-FFF2-40B4-BE49-F238E27FC236}">
                <a16:creationId xmlns:a16="http://schemas.microsoft.com/office/drawing/2014/main" id="{17D3E38E-C10F-45D9-8B55-108B0A74DB01}"/>
              </a:ext>
            </a:extLst>
          </p:cNvPr>
          <p:cNvSpPr txBox="1"/>
          <p:nvPr/>
        </p:nvSpPr>
        <p:spPr>
          <a:xfrm>
            <a:off x="3611882" y="6433838"/>
            <a:ext cx="3204260" cy="276999"/>
          </a:xfrm>
          <a:prstGeom prst="rect">
            <a:avLst/>
          </a:prstGeom>
          <a:noFill/>
        </p:spPr>
        <p:txBody>
          <a:bodyPr wrap="square" rtlCol="0">
            <a:spAutoFit/>
          </a:bodyPr>
          <a:lstStyle/>
          <a:p>
            <a:r>
              <a:rPr lang="tr-TR" sz="1200" b="1" noProof="1">
                <a:cs typeface="Arial" panose="020B0604020202020204" pitchFamily="34" charset="0"/>
              </a:rPr>
              <a:t>Günümüz sınavlarında başarılı olmanın yolları :</a:t>
            </a:r>
          </a:p>
        </p:txBody>
      </p:sp>
      <p:sp>
        <p:nvSpPr>
          <p:cNvPr id="68" name="Metin kutusu 67">
            <a:extLst>
              <a:ext uri="{FF2B5EF4-FFF2-40B4-BE49-F238E27FC236}">
                <a16:creationId xmlns:a16="http://schemas.microsoft.com/office/drawing/2014/main" id="{621041A9-9D68-482E-87CD-20643B71D6E5}"/>
              </a:ext>
            </a:extLst>
          </p:cNvPr>
          <p:cNvSpPr txBox="1"/>
          <p:nvPr/>
        </p:nvSpPr>
        <p:spPr>
          <a:xfrm>
            <a:off x="3644640" y="6613214"/>
            <a:ext cx="3099032" cy="1992853"/>
          </a:xfrm>
          <a:prstGeom prst="rect">
            <a:avLst/>
          </a:prstGeom>
          <a:noFill/>
        </p:spPr>
        <p:txBody>
          <a:bodyPr wrap="square" rtlCol="0">
            <a:spAutoFit/>
          </a:bodyPr>
          <a:lstStyle/>
          <a:p>
            <a:pPr marL="171450" indent="-171450">
              <a:buFont typeface="Arial" panose="020B0604020202020204" pitchFamily="34" charset="0"/>
              <a:buChar char="•"/>
            </a:pPr>
            <a:r>
              <a:rPr lang="tr-TR" sz="950" noProof="1">
                <a:cs typeface="Arial" panose="020B0604020202020204" pitchFamily="34" charset="0"/>
              </a:rPr>
              <a:t>Bol bol didaktik içerikli kitap ansiklopedi okumak.</a:t>
            </a:r>
          </a:p>
          <a:p>
            <a:pPr marL="171450" indent="-171450">
              <a:buFont typeface="Arial" panose="020B0604020202020204" pitchFamily="34" charset="0"/>
              <a:buChar char="•"/>
            </a:pPr>
            <a:r>
              <a:rPr lang="tr-TR" sz="950" noProof="1">
                <a:cs typeface="Arial" panose="020B0604020202020204" pitchFamily="34" charset="0"/>
              </a:rPr>
              <a:t>Bilimsel ve ilgi alanınızla makale, dergi okumak.</a:t>
            </a:r>
          </a:p>
          <a:p>
            <a:pPr marL="171450" indent="-171450">
              <a:buFont typeface="Arial" panose="020B0604020202020204" pitchFamily="34" charset="0"/>
              <a:buChar char="•"/>
            </a:pPr>
            <a:r>
              <a:rPr lang="tr-TR" sz="950" noProof="1">
                <a:cs typeface="Arial" panose="020B0604020202020204" pitchFamily="34" charset="0"/>
              </a:rPr>
              <a:t>Matematik için farklı tarzda sorular çözmek </a:t>
            </a:r>
          </a:p>
          <a:p>
            <a:pPr marL="171450" indent="-171450">
              <a:buFont typeface="Arial" panose="020B0604020202020204" pitchFamily="34" charset="0"/>
              <a:buChar char="•"/>
            </a:pPr>
            <a:r>
              <a:rPr lang="tr-TR" sz="950" noProof="1">
                <a:cs typeface="Arial" panose="020B0604020202020204" pitchFamily="34" charset="0"/>
              </a:rPr>
              <a:t>Deneme yanılma soruları için pratiklik sağlamak</a:t>
            </a:r>
          </a:p>
          <a:p>
            <a:pPr marL="171450" indent="-171450">
              <a:buFont typeface="Arial" panose="020B0604020202020204" pitchFamily="34" charset="0"/>
              <a:buChar char="•"/>
            </a:pPr>
            <a:r>
              <a:rPr lang="tr-TR" sz="950" noProof="1">
                <a:cs typeface="Arial" panose="020B0604020202020204" pitchFamily="34" charset="0"/>
              </a:rPr>
              <a:t>Aklı ve zihni dinç tutan, geliştiren hobiler bulmak.</a:t>
            </a:r>
          </a:p>
          <a:p>
            <a:pPr marL="171450" indent="-171450">
              <a:buFont typeface="Arial" panose="020B0604020202020204" pitchFamily="34" charset="0"/>
              <a:buChar char="•"/>
            </a:pPr>
            <a:r>
              <a:rPr lang="tr-TR" sz="950" noProof="1">
                <a:cs typeface="Arial" panose="020B0604020202020204" pitchFamily="34" charset="0"/>
              </a:rPr>
              <a:t>Sevdiğimiz ve örnek aldığımız kimselerin hazırlamış olduğu video ve eğitsel tüm ögeleri hobi veya zaman ayırarak incelemek, çok ve verimli çalışmak.  </a:t>
            </a:r>
          </a:p>
          <a:p>
            <a:endParaRPr lang="tr-TR" sz="950" noProof="1">
              <a:cs typeface="Arial" panose="020B0604020202020204" pitchFamily="34" charset="0"/>
            </a:endParaRPr>
          </a:p>
          <a:p>
            <a:r>
              <a:rPr lang="tr-TR" sz="950" noProof="1">
                <a:cs typeface="Arial" panose="020B0604020202020204" pitchFamily="34" charset="0"/>
              </a:rPr>
              <a:t>Okumak sizleri sıkıyorsa,  kısa kısa program yapın.</a:t>
            </a:r>
          </a:p>
          <a:p>
            <a:r>
              <a:rPr lang="tr-TR" sz="950" noProof="1">
                <a:cs typeface="Arial" panose="020B0604020202020204" pitchFamily="34" charset="0"/>
              </a:rPr>
              <a:t>5 dk okudunuz, işlerinizi yaptınız sonra tekrar 5 </a:t>
            </a:r>
          </a:p>
          <a:p>
            <a:r>
              <a:rPr lang="tr-TR" sz="950" noProof="1">
                <a:cs typeface="Arial" panose="020B0604020202020204" pitchFamily="34" charset="0"/>
              </a:rPr>
              <a:t>dk ve bu süreyi arttırmaya çalışın.</a:t>
            </a:r>
          </a:p>
          <a:p>
            <a:r>
              <a:rPr lang="tr-TR" sz="950" noProof="1">
                <a:cs typeface="Arial" panose="020B0604020202020204" pitchFamily="34" charset="0"/>
              </a:rPr>
              <a:t>Rutininizi koruyun.</a:t>
            </a:r>
          </a:p>
        </p:txBody>
      </p:sp>
      <p:sp>
        <p:nvSpPr>
          <p:cNvPr id="43" name="Metin kutusu 42">
            <a:extLst>
              <a:ext uri="{FF2B5EF4-FFF2-40B4-BE49-F238E27FC236}">
                <a16:creationId xmlns:a16="http://schemas.microsoft.com/office/drawing/2014/main" id="{C674B5BC-1D4B-41F5-B045-8203E6476588}"/>
              </a:ext>
            </a:extLst>
          </p:cNvPr>
          <p:cNvSpPr txBox="1"/>
          <p:nvPr/>
        </p:nvSpPr>
        <p:spPr>
          <a:xfrm>
            <a:off x="5362493" y="8343861"/>
            <a:ext cx="1439917" cy="384721"/>
          </a:xfrm>
          <a:prstGeom prst="rect">
            <a:avLst/>
          </a:prstGeom>
          <a:noFill/>
        </p:spPr>
        <p:txBody>
          <a:bodyPr wrap="square" rtlCol="0">
            <a:spAutoFit/>
          </a:bodyPr>
          <a:lstStyle/>
          <a:p>
            <a:pPr algn="ctr"/>
            <a:r>
              <a:rPr lang="tr-TR" sz="950" b="1" noProof="1">
                <a:cs typeface="Arial" panose="020B0604020202020204" pitchFamily="34" charset="0"/>
              </a:rPr>
              <a:t>Yazar Tavsiyeleri</a:t>
            </a:r>
            <a:br>
              <a:rPr lang="tr-TR" sz="950" b="1" noProof="1">
                <a:cs typeface="Arial" panose="020B0604020202020204" pitchFamily="34" charset="0"/>
              </a:rPr>
            </a:br>
            <a:r>
              <a:rPr lang="tr-TR" sz="950" b="1" noProof="1">
                <a:cs typeface="Arial" panose="020B0604020202020204" pitchFamily="34" charset="0"/>
              </a:rPr>
              <a:t>Ahmet Çelen</a:t>
            </a:r>
          </a:p>
        </p:txBody>
      </p:sp>
    </p:spTree>
    <p:extLst>
      <p:ext uri="{BB962C8B-B14F-4D97-AF65-F5344CB8AC3E}">
        <p14:creationId xmlns:p14="http://schemas.microsoft.com/office/powerpoint/2010/main" val="37798807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Kuyruktaki Kişi Sayıları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6" name="Ok: Beşgen 55">
            <a:extLst>
              <a:ext uri="{FF2B5EF4-FFF2-40B4-BE49-F238E27FC236}">
                <a16:creationId xmlns:a16="http://schemas.microsoft.com/office/drawing/2014/main" id="{D327283C-46A4-4C86-A990-995946C89AA1}"/>
              </a:ext>
            </a:extLst>
          </p:cNvPr>
          <p:cNvSpPr/>
          <p:nvPr/>
        </p:nvSpPr>
        <p:spPr>
          <a:xfrm>
            <a:off x="3632633" y="2702468"/>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01453" y="6974287"/>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2759" y="42639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2.</a:t>
            </a:r>
          </a:p>
        </p:txBody>
      </p:sp>
      <p:sp>
        <p:nvSpPr>
          <p:cNvPr id="6" name="Dikdörtgen: Köşeleri Yuvarlatılmış 5">
            <a:extLst>
              <a:ext uri="{FF2B5EF4-FFF2-40B4-BE49-F238E27FC236}">
                <a16:creationId xmlns:a16="http://schemas.microsoft.com/office/drawing/2014/main" id="{1D1E4F25-BC99-496A-9048-FC55BA2A1248}"/>
              </a:ext>
            </a:extLst>
          </p:cNvPr>
          <p:cNvSpPr/>
          <p:nvPr/>
        </p:nvSpPr>
        <p:spPr>
          <a:xfrm>
            <a:off x="121831" y="521655"/>
            <a:ext cx="3116280" cy="7578737"/>
          </a:xfrm>
          <a:prstGeom prst="roundRect">
            <a:avLst/>
          </a:prstGeom>
          <a:solidFill>
            <a:schemeClr val="accent4">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D4C0641-152A-4221-9833-AC686245ABFB}"/>
              </a:ext>
            </a:extLst>
          </p:cNvPr>
          <p:cNvSpPr txBox="1"/>
          <p:nvPr/>
        </p:nvSpPr>
        <p:spPr>
          <a:xfrm>
            <a:off x="261465" y="507495"/>
            <a:ext cx="2879503"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Kuyruktaki Kişi Sayısı Problemleri</a:t>
            </a:r>
          </a:p>
        </p:txBody>
      </p:sp>
      <p:sp>
        <p:nvSpPr>
          <p:cNvPr id="57" name="Metin kutusu 56">
            <a:extLst>
              <a:ext uri="{FF2B5EF4-FFF2-40B4-BE49-F238E27FC236}">
                <a16:creationId xmlns:a16="http://schemas.microsoft.com/office/drawing/2014/main" id="{A10988F9-C6CB-4201-BB70-F949F7591248}"/>
              </a:ext>
            </a:extLst>
          </p:cNvPr>
          <p:cNvSpPr txBox="1"/>
          <p:nvPr/>
        </p:nvSpPr>
        <p:spPr>
          <a:xfrm>
            <a:off x="121831" y="756145"/>
            <a:ext cx="3096345" cy="1015663"/>
          </a:xfrm>
          <a:prstGeom prst="rect">
            <a:avLst/>
          </a:prstGeom>
          <a:noFill/>
        </p:spPr>
        <p:txBody>
          <a:bodyPr wrap="square" rtlCol="0">
            <a:spAutoFit/>
          </a:bodyPr>
          <a:lstStyle/>
          <a:p>
            <a:r>
              <a:rPr lang="tr-TR" sz="1000" noProof="1">
                <a:cs typeface="Arial" panose="020B0604020202020204" pitchFamily="34" charset="0"/>
              </a:rPr>
              <a:t>Kuyruktaki kişi sayısı problemleri, problemlerin mantığını kavramamızda ve sorulara genel olarak bakış açısı katarak bizlere yardımcı olan bir alt başlıktır. </a:t>
            </a:r>
          </a:p>
          <a:p>
            <a:endParaRPr lang="tr-TR" sz="1000" noProof="1">
              <a:cs typeface="Arial" panose="020B0604020202020204" pitchFamily="34" charset="0"/>
            </a:endParaRPr>
          </a:p>
          <a:p>
            <a:r>
              <a:rPr lang="tr-TR" sz="1000" noProof="1">
                <a:cs typeface="Arial" panose="020B0604020202020204" pitchFamily="34" charset="0"/>
              </a:rPr>
              <a:t>Aynı zamanda, günlük hayatla da bir o kadar ilişkili olan bu alt başlıktaki problemler</a:t>
            </a:r>
          </a:p>
        </p:txBody>
      </p:sp>
      <p:sp>
        <p:nvSpPr>
          <p:cNvPr id="58" name="Metin kutusu 57">
            <a:extLst>
              <a:ext uri="{FF2B5EF4-FFF2-40B4-BE49-F238E27FC236}">
                <a16:creationId xmlns:a16="http://schemas.microsoft.com/office/drawing/2014/main" id="{68DE1E1F-54F3-428C-A2CB-30EBB711C765}"/>
              </a:ext>
            </a:extLst>
          </p:cNvPr>
          <p:cNvSpPr txBox="1"/>
          <p:nvPr/>
        </p:nvSpPr>
        <p:spPr>
          <a:xfrm>
            <a:off x="3565429" y="746115"/>
            <a:ext cx="3292397" cy="861774"/>
          </a:xfrm>
          <a:prstGeom prst="rect">
            <a:avLst/>
          </a:prstGeom>
          <a:noFill/>
        </p:spPr>
        <p:txBody>
          <a:bodyPr wrap="square" rtlCol="0">
            <a:spAutoFit/>
          </a:bodyPr>
          <a:lstStyle/>
          <a:p>
            <a:r>
              <a:rPr lang="tr-TR" sz="1000" noProof="1">
                <a:cs typeface="Arial" panose="020B0604020202020204" pitchFamily="34" charset="0"/>
              </a:rPr>
              <a:t>Ömer; bilet kontrol sırasında önünde 10 kişi olduğunu, arkadaşında ise 4 kişi olduğunu görebiliyor.</a:t>
            </a:r>
          </a:p>
          <a:p>
            <a:endParaRPr lang="tr-TR" sz="1000" b="1" noProof="1">
              <a:cs typeface="Arial" panose="020B0604020202020204" pitchFamily="34" charset="0"/>
            </a:endParaRPr>
          </a:p>
          <a:p>
            <a:r>
              <a:rPr lang="tr-TR" sz="1000" b="1" noProof="1">
                <a:cs typeface="Arial" panose="020B0604020202020204" pitchFamily="34" charset="0"/>
              </a:rPr>
              <a:t>Ömer kuyruğun tamamını görebildiğine göre, kuyruktaki kişi sayısı kaçtır?</a:t>
            </a:r>
          </a:p>
        </p:txBody>
      </p:sp>
      <p:sp>
        <p:nvSpPr>
          <p:cNvPr id="60" name="Metin kutusu 59">
            <a:extLst>
              <a:ext uri="{FF2B5EF4-FFF2-40B4-BE49-F238E27FC236}">
                <a16:creationId xmlns:a16="http://schemas.microsoft.com/office/drawing/2014/main" id="{1B77C945-EE9A-4EBA-8A27-D5C766ED120F}"/>
              </a:ext>
            </a:extLst>
          </p:cNvPr>
          <p:cNvSpPr txBox="1"/>
          <p:nvPr/>
        </p:nvSpPr>
        <p:spPr>
          <a:xfrm>
            <a:off x="5195955" y="2987824"/>
            <a:ext cx="555459" cy="246221"/>
          </a:xfrm>
          <a:prstGeom prst="rect">
            <a:avLst/>
          </a:prstGeom>
          <a:noFill/>
        </p:spPr>
        <p:txBody>
          <a:bodyPr wrap="square" rtlCol="0">
            <a:spAutoFit/>
          </a:bodyPr>
          <a:lstStyle/>
          <a:p>
            <a:r>
              <a:rPr lang="tr-TR" sz="1000" noProof="1">
                <a:cs typeface="Arial" panose="020B0604020202020204" pitchFamily="34" charset="0"/>
              </a:rPr>
              <a:t>Ömer</a:t>
            </a:r>
          </a:p>
        </p:txBody>
      </p:sp>
      <p:sp>
        <p:nvSpPr>
          <p:cNvPr id="62" name="Metin kutusu 61">
            <a:extLst>
              <a:ext uri="{FF2B5EF4-FFF2-40B4-BE49-F238E27FC236}">
                <a16:creationId xmlns:a16="http://schemas.microsoft.com/office/drawing/2014/main" id="{759B6CB9-9D92-4946-A587-61FDABEEE24B}"/>
              </a:ext>
            </a:extLst>
          </p:cNvPr>
          <p:cNvSpPr txBox="1"/>
          <p:nvPr/>
        </p:nvSpPr>
        <p:spPr>
          <a:xfrm>
            <a:off x="3550988" y="4531077"/>
            <a:ext cx="3343541" cy="1169551"/>
          </a:xfrm>
          <a:prstGeom prst="rect">
            <a:avLst/>
          </a:prstGeom>
          <a:noFill/>
        </p:spPr>
        <p:txBody>
          <a:bodyPr wrap="square" rtlCol="0">
            <a:spAutoFit/>
          </a:bodyPr>
          <a:lstStyle/>
          <a:p>
            <a:r>
              <a:rPr lang="tr-TR" sz="1000" noProof="1">
                <a:cs typeface="Arial" panose="020B0604020202020204" pitchFamily="34" charset="0"/>
              </a:rPr>
              <a:t>Osman Aga, ramazan pidesi kuyruğuna girmiştir. Osman aga erkeklere kızan, kızlara ise kızçe şeklinde tabir etmektedir.</a:t>
            </a:r>
          </a:p>
          <a:p>
            <a:endParaRPr lang="tr-TR" sz="1000" noProof="1">
              <a:cs typeface="Arial" panose="020B0604020202020204" pitchFamily="34" charset="0"/>
            </a:endParaRPr>
          </a:p>
          <a:p>
            <a:r>
              <a:rPr lang="tr-TR" sz="1000" b="1" noProof="1">
                <a:cs typeface="Arial" panose="020B0604020202020204" pitchFamily="34" charset="0"/>
              </a:rPr>
              <a:t>Arif, Osman Aga`ya ne zamana geliyorsun diye sorduğunda </a:t>
            </a:r>
            <a:r>
              <a:rPr lang="tr-TR" sz="1000" b="1" i="0" dirty="0">
                <a:effectLst/>
                <a:latin typeface="Arial Narrow" panose="020B0606020202030204" pitchFamily="34" charset="0"/>
              </a:rPr>
              <a:t>“</a:t>
            </a:r>
            <a:r>
              <a:rPr lang="tr-TR" sz="1000" b="1" noProof="1">
                <a:latin typeface="Arial Narrow" panose="020B0606020202030204" pitchFamily="34" charset="0"/>
                <a:cs typeface="Arial" panose="020B0604020202020204" pitchFamily="34" charset="0"/>
              </a:rPr>
              <a:t>Ö</a:t>
            </a:r>
            <a:r>
              <a:rPr lang="tr-TR" sz="1000" b="1" noProof="1">
                <a:cs typeface="Arial" panose="020B0604020202020204" pitchFamily="34" charset="0"/>
              </a:rPr>
              <a:t>nümde 5 kızan 6 kızçe var,kuyruğun sondan 4.cüsüyüm.</a:t>
            </a:r>
            <a:r>
              <a:rPr lang="tr-TR" sz="1000" b="1" i="0" dirty="0">
                <a:effectLst/>
                <a:latin typeface="Arial Narrow" panose="020B0606020202030204" pitchFamily="34" charset="0"/>
              </a:rPr>
              <a:t>”</a:t>
            </a:r>
          </a:p>
          <a:p>
            <a:r>
              <a:rPr lang="tr-TR" sz="1000" b="1" noProof="1">
                <a:latin typeface="Calibri (Gövde)"/>
                <a:cs typeface="Arial" panose="020B0604020202020204" pitchFamily="34" charset="0"/>
              </a:rPr>
              <a:t>diyerek gecikeceğini söylemiştir. Buna göre, bu kuyrukta kaç kişi olabilir?</a:t>
            </a:r>
          </a:p>
        </p:txBody>
      </p:sp>
      <p:sp>
        <p:nvSpPr>
          <p:cNvPr id="66" name="Metin kutusu 65">
            <a:extLst>
              <a:ext uri="{FF2B5EF4-FFF2-40B4-BE49-F238E27FC236}">
                <a16:creationId xmlns:a16="http://schemas.microsoft.com/office/drawing/2014/main" id="{750034EE-15F3-4ABA-A1F5-5B9E9C2A5881}"/>
              </a:ext>
            </a:extLst>
          </p:cNvPr>
          <p:cNvSpPr txBox="1"/>
          <p:nvPr/>
        </p:nvSpPr>
        <p:spPr>
          <a:xfrm>
            <a:off x="3538069" y="7245634"/>
            <a:ext cx="3261052" cy="1477328"/>
          </a:xfrm>
          <a:prstGeom prst="rect">
            <a:avLst/>
          </a:prstGeom>
          <a:noFill/>
        </p:spPr>
        <p:txBody>
          <a:bodyPr wrap="square">
            <a:spAutoFit/>
          </a:bodyPr>
          <a:lstStyle/>
          <a:p>
            <a:r>
              <a:rPr lang="tr-TR" sz="1000" noProof="1">
                <a:cs typeface="Arial" panose="020B0604020202020204" pitchFamily="34" charset="0"/>
              </a:rPr>
              <a:t>Konuşmadan anladığımız üzere Osman Aga`nın önünde toplamda 11 (5+6) kişi olduğunu bulabiliyoruz. Dolayısıyla Osman aga baştan 12.sıradadır.</a:t>
            </a:r>
            <a:br>
              <a:rPr lang="tr-TR" sz="1000" noProof="1">
                <a:cs typeface="Arial" panose="020B0604020202020204" pitchFamily="34" charset="0"/>
              </a:rPr>
            </a:br>
            <a:r>
              <a:rPr lang="tr-TR" sz="1000" noProof="1">
                <a:cs typeface="Arial" panose="020B0604020202020204" pitchFamily="34" charset="0"/>
              </a:rPr>
              <a:t>Yuvarlaklara baktığımız üzere sondan 4.olan yuvarlağın arkasında 3 kişi vardır. Dolayısıyla Osman Aga`nında arkasında üç kişi vardır.</a:t>
            </a:r>
            <a:br>
              <a:rPr lang="tr-TR" sz="1000" noProof="1">
                <a:cs typeface="Arial" panose="020B0604020202020204" pitchFamily="34" charset="0"/>
              </a:rPr>
            </a:br>
            <a:br>
              <a:rPr lang="tr-TR" sz="1000" noProof="1">
                <a:cs typeface="Arial" panose="020B0604020202020204" pitchFamily="34" charset="0"/>
              </a:rPr>
            </a:br>
            <a:r>
              <a:rPr lang="tr-TR" sz="1000" noProof="1">
                <a:cs typeface="Arial" panose="020B0604020202020204" pitchFamily="34" charset="0"/>
              </a:rPr>
              <a:t>Osman Aga baştan 12.sıradaydı, arkadaşında da 3 kişi olduğu için bu kuyrukta 15 kişi bulunmaktadır.</a:t>
            </a:r>
          </a:p>
        </p:txBody>
      </p:sp>
      <p:sp>
        <p:nvSpPr>
          <p:cNvPr id="4" name="Sağ Ayraç 3">
            <a:extLst>
              <a:ext uri="{FF2B5EF4-FFF2-40B4-BE49-F238E27FC236}">
                <a16:creationId xmlns:a16="http://schemas.microsoft.com/office/drawing/2014/main" id="{92FFB9B9-C182-4C31-9DEC-59A653EB2552}"/>
              </a:ext>
            </a:extLst>
          </p:cNvPr>
          <p:cNvSpPr/>
          <p:nvPr/>
        </p:nvSpPr>
        <p:spPr>
          <a:xfrm rot="5400000">
            <a:off x="4295983" y="2401163"/>
            <a:ext cx="196049" cy="152636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39" name="Sağ Ayraç 38">
            <a:extLst>
              <a:ext uri="{FF2B5EF4-FFF2-40B4-BE49-F238E27FC236}">
                <a16:creationId xmlns:a16="http://schemas.microsoft.com/office/drawing/2014/main" id="{07551064-20C1-4212-A11A-7DCE7E1D6A1B}"/>
              </a:ext>
            </a:extLst>
          </p:cNvPr>
          <p:cNvSpPr/>
          <p:nvPr/>
        </p:nvSpPr>
        <p:spPr>
          <a:xfrm rot="5400000">
            <a:off x="6147021" y="2608085"/>
            <a:ext cx="196049" cy="1148147"/>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41" name="Metin kutusu 40">
            <a:extLst>
              <a:ext uri="{FF2B5EF4-FFF2-40B4-BE49-F238E27FC236}">
                <a16:creationId xmlns:a16="http://schemas.microsoft.com/office/drawing/2014/main" id="{AC0F3850-CF00-4069-9047-DE4DE1D7ED66}"/>
              </a:ext>
            </a:extLst>
          </p:cNvPr>
          <p:cNvSpPr txBox="1"/>
          <p:nvPr/>
        </p:nvSpPr>
        <p:spPr>
          <a:xfrm>
            <a:off x="4149080" y="3295088"/>
            <a:ext cx="831230" cy="246221"/>
          </a:xfrm>
          <a:prstGeom prst="rect">
            <a:avLst/>
          </a:prstGeom>
          <a:noFill/>
        </p:spPr>
        <p:txBody>
          <a:bodyPr wrap="square" rtlCol="0">
            <a:spAutoFit/>
          </a:bodyPr>
          <a:lstStyle/>
          <a:p>
            <a:r>
              <a:rPr lang="tr-TR" sz="1000" b="1" noProof="1">
                <a:cs typeface="Arial" panose="020B0604020202020204" pitchFamily="34" charset="0"/>
              </a:rPr>
              <a:t>10 Kişi</a:t>
            </a:r>
          </a:p>
        </p:txBody>
      </p:sp>
      <p:sp>
        <p:nvSpPr>
          <p:cNvPr id="42" name="Metin kutusu 41">
            <a:extLst>
              <a:ext uri="{FF2B5EF4-FFF2-40B4-BE49-F238E27FC236}">
                <a16:creationId xmlns:a16="http://schemas.microsoft.com/office/drawing/2014/main" id="{68C3D498-CF47-448F-832B-8FF0829D4F7E}"/>
              </a:ext>
            </a:extLst>
          </p:cNvPr>
          <p:cNvSpPr txBox="1"/>
          <p:nvPr/>
        </p:nvSpPr>
        <p:spPr>
          <a:xfrm>
            <a:off x="6017840" y="3289882"/>
            <a:ext cx="831230" cy="246221"/>
          </a:xfrm>
          <a:prstGeom prst="rect">
            <a:avLst/>
          </a:prstGeom>
          <a:noFill/>
        </p:spPr>
        <p:txBody>
          <a:bodyPr wrap="square" rtlCol="0">
            <a:spAutoFit/>
          </a:bodyPr>
          <a:lstStyle/>
          <a:p>
            <a:r>
              <a:rPr lang="tr-TR" sz="1000" b="1" noProof="1">
                <a:cs typeface="Arial" panose="020B0604020202020204" pitchFamily="34" charset="0"/>
              </a:rPr>
              <a:t>4 Kişi</a:t>
            </a:r>
          </a:p>
        </p:txBody>
      </p:sp>
      <p:sp>
        <p:nvSpPr>
          <p:cNvPr id="43" name="Metin kutusu 42">
            <a:extLst>
              <a:ext uri="{FF2B5EF4-FFF2-40B4-BE49-F238E27FC236}">
                <a16:creationId xmlns:a16="http://schemas.microsoft.com/office/drawing/2014/main" id="{BA9585D1-853F-496C-86A1-EF7A92E973C0}"/>
              </a:ext>
            </a:extLst>
          </p:cNvPr>
          <p:cNvSpPr txBox="1"/>
          <p:nvPr/>
        </p:nvSpPr>
        <p:spPr>
          <a:xfrm>
            <a:off x="5158014" y="3448561"/>
            <a:ext cx="831230" cy="246221"/>
          </a:xfrm>
          <a:prstGeom prst="rect">
            <a:avLst/>
          </a:prstGeom>
          <a:noFill/>
        </p:spPr>
        <p:txBody>
          <a:bodyPr wrap="square" rtlCol="0">
            <a:spAutoFit/>
          </a:bodyPr>
          <a:lstStyle/>
          <a:p>
            <a:r>
              <a:rPr lang="tr-TR" sz="1000" b="1" noProof="1">
                <a:cs typeface="Arial" panose="020B0604020202020204" pitchFamily="34" charset="0"/>
              </a:rPr>
              <a:t>11. Kişi</a:t>
            </a:r>
          </a:p>
        </p:txBody>
      </p:sp>
      <p:cxnSp>
        <p:nvCxnSpPr>
          <p:cNvPr id="9" name="Düz Ok Bağlayıcısı 8">
            <a:extLst>
              <a:ext uri="{FF2B5EF4-FFF2-40B4-BE49-F238E27FC236}">
                <a16:creationId xmlns:a16="http://schemas.microsoft.com/office/drawing/2014/main" id="{D64F624A-4A4F-4B47-9C0D-7541D0CC3E6B}"/>
              </a:ext>
            </a:extLst>
          </p:cNvPr>
          <p:cNvCxnSpPr>
            <a:cxnSpLocks/>
          </p:cNvCxnSpPr>
          <p:nvPr/>
        </p:nvCxnSpPr>
        <p:spPr>
          <a:xfrm flipH="1">
            <a:off x="5433462" y="3189065"/>
            <a:ext cx="1" cy="2578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Metin kutusu 47">
            <a:extLst>
              <a:ext uri="{FF2B5EF4-FFF2-40B4-BE49-F238E27FC236}">
                <a16:creationId xmlns:a16="http://schemas.microsoft.com/office/drawing/2014/main" id="{1AE75C75-F6D2-4500-B42E-77F746084937}"/>
              </a:ext>
            </a:extLst>
          </p:cNvPr>
          <p:cNvSpPr txBox="1"/>
          <p:nvPr/>
        </p:nvSpPr>
        <p:spPr>
          <a:xfrm>
            <a:off x="3539857" y="3667128"/>
            <a:ext cx="3343542" cy="553998"/>
          </a:xfrm>
          <a:prstGeom prst="rect">
            <a:avLst/>
          </a:prstGeom>
          <a:noFill/>
        </p:spPr>
        <p:txBody>
          <a:bodyPr wrap="square" rtlCol="0">
            <a:spAutoFit/>
          </a:bodyPr>
          <a:lstStyle/>
          <a:p>
            <a:r>
              <a:rPr lang="tr-TR" sz="1000" noProof="1">
                <a:cs typeface="Arial" panose="020B0604020202020204" pitchFamily="34" charset="0"/>
              </a:rPr>
              <a:t>Ömer`in önünde 10 kişi olduğundan ötürü Ömer 11.sıradadır. Arkadasında 4 kişi olduğu için kuyruğun sonundaki 15.sırada ve sonuncudur. </a:t>
            </a:r>
            <a:r>
              <a:rPr lang="tr-TR" sz="1000" b="1" noProof="1">
                <a:cs typeface="Arial" panose="020B0604020202020204" pitchFamily="34" charset="0"/>
              </a:rPr>
              <a:t>Yani kuyrukta 15 kişi vardır. </a:t>
            </a:r>
          </a:p>
        </p:txBody>
      </p:sp>
      <p:sp>
        <p:nvSpPr>
          <p:cNvPr id="49" name="Oval 48">
            <a:extLst>
              <a:ext uri="{FF2B5EF4-FFF2-40B4-BE49-F238E27FC236}">
                <a16:creationId xmlns:a16="http://schemas.microsoft.com/office/drawing/2014/main" id="{F911A0B8-8C48-46BE-BF8F-5CAC9365E1CC}"/>
              </a:ext>
            </a:extLst>
          </p:cNvPr>
          <p:cNvSpPr/>
          <p:nvPr/>
        </p:nvSpPr>
        <p:spPr>
          <a:xfrm>
            <a:off x="5330434" y="7611710"/>
            <a:ext cx="137270" cy="144016"/>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5" name="Oval 54">
            <a:extLst>
              <a:ext uri="{FF2B5EF4-FFF2-40B4-BE49-F238E27FC236}">
                <a16:creationId xmlns:a16="http://schemas.microsoft.com/office/drawing/2014/main" id="{23FE3473-6B96-4AE3-B798-8930992518F2}"/>
              </a:ext>
            </a:extLst>
          </p:cNvPr>
          <p:cNvSpPr/>
          <p:nvPr/>
        </p:nvSpPr>
        <p:spPr>
          <a:xfrm>
            <a:off x="5507056" y="7611562"/>
            <a:ext cx="137270"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1" name="Oval 60">
            <a:extLst>
              <a:ext uri="{FF2B5EF4-FFF2-40B4-BE49-F238E27FC236}">
                <a16:creationId xmlns:a16="http://schemas.microsoft.com/office/drawing/2014/main" id="{88B6E4B7-9C90-4FF9-BB27-A06D3A717465}"/>
              </a:ext>
            </a:extLst>
          </p:cNvPr>
          <p:cNvSpPr/>
          <p:nvPr/>
        </p:nvSpPr>
        <p:spPr>
          <a:xfrm>
            <a:off x="5683235" y="7611562"/>
            <a:ext cx="137270"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3" name="Oval 62">
            <a:extLst>
              <a:ext uri="{FF2B5EF4-FFF2-40B4-BE49-F238E27FC236}">
                <a16:creationId xmlns:a16="http://schemas.microsoft.com/office/drawing/2014/main" id="{D7F15C25-EDC1-4796-9387-6CB300AA38F5}"/>
              </a:ext>
            </a:extLst>
          </p:cNvPr>
          <p:cNvSpPr/>
          <p:nvPr/>
        </p:nvSpPr>
        <p:spPr>
          <a:xfrm>
            <a:off x="5853210" y="7612468"/>
            <a:ext cx="137270"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73175778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Net – Puan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46319" y="808378"/>
            <a:ext cx="3212178" cy="553998"/>
          </a:xfrm>
          <a:prstGeom prst="rect">
            <a:avLst/>
          </a:prstGeom>
          <a:noFill/>
        </p:spPr>
        <p:txBody>
          <a:bodyPr wrap="square" rtlCol="0">
            <a:spAutoFit/>
          </a:bodyPr>
          <a:lstStyle/>
          <a:p>
            <a:r>
              <a:rPr lang="tr-TR" sz="1000" b="1" noProof="1">
                <a:cs typeface="Arial" panose="020B0604020202020204" pitchFamily="34" charset="0"/>
              </a:rPr>
              <a:t>Bir bakkal her 4 gazoz kapağına 1 tane gazoz bedava verilmektedir. 58 tane gazoz alan Mehmet, kaç tane bedava gazoz almış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3.</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33700" y="476011"/>
            <a:ext cx="2191914" cy="307777"/>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“Daimi öğretmen hayattır. Bizlere her zaman usanmadan bir şeyler öğretmeye devam eder…”  - Ahmet Çelen</a:t>
            </a:r>
            <a:endParaRPr lang="tr-TR" sz="7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622593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Net – Puan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61810" y="835472"/>
            <a:ext cx="3212178" cy="553998"/>
          </a:xfrm>
          <a:prstGeom prst="rect">
            <a:avLst/>
          </a:prstGeom>
          <a:noFill/>
        </p:spPr>
        <p:txBody>
          <a:bodyPr wrap="square" rtlCol="0">
            <a:spAutoFit/>
          </a:bodyPr>
          <a:lstStyle/>
          <a:p>
            <a:r>
              <a:rPr lang="tr-TR" sz="1000" b="1" noProof="1">
                <a:cs typeface="Arial" panose="020B0604020202020204" pitchFamily="34" charset="0"/>
              </a:rPr>
              <a:t>Bir bakkal her 4 gazoz kapağına 1 tane gazoz bedava verilmektedir. 58 tane gazoz alan Mehmet, kaç tane bedava gazoz almış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175213" cy="344414"/>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33700" y="476011"/>
            <a:ext cx="2191914" cy="307777"/>
          </a:xfrm>
          <a:prstGeom prst="rect">
            <a:avLst/>
          </a:prstGeom>
          <a:noFill/>
        </p:spPr>
        <p:txBody>
          <a:bodyPr wrap="square">
            <a:spAutoFit/>
          </a:bodyPr>
          <a:lstStyle/>
          <a:p>
            <a:r>
              <a:rPr lang="tr-TR" sz="700" b="1" i="0" dirty="0">
                <a:solidFill>
                  <a:schemeClr val="bg1"/>
                </a:solidFill>
                <a:effectLst/>
                <a:latin typeface="Arial Narrow" panose="020B0606020202030204" pitchFamily="34" charset="0"/>
              </a:rPr>
              <a:t>“Sadece büyük ölçüde başarısız olmaya cesaret edenler büyük ölçüde başarabilirler.”  - Robert F. Kennedy</a:t>
            </a:r>
            <a:endParaRPr lang="tr-TR" sz="7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7972374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Net – Puan Problemleri</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49610"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1291"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0016"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59017" y="773036"/>
            <a:ext cx="3212178" cy="553998"/>
          </a:xfrm>
          <a:prstGeom prst="rect">
            <a:avLst/>
          </a:prstGeom>
          <a:noFill/>
        </p:spPr>
        <p:txBody>
          <a:bodyPr wrap="square" rtlCol="0">
            <a:spAutoFit/>
          </a:bodyPr>
          <a:lstStyle/>
          <a:p>
            <a:r>
              <a:rPr lang="tr-TR" sz="1000" b="1" noProof="1">
                <a:cs typeface="Arial" panose="020B0604020202020204" pitchFamily="34" charset="0"/>
              </a:rPr>
              <a:t>Bir bakkal her 4 gazoz kapağına 1 tane gazoz bedava verilmektedir. 58 tane gazoz alan Mehmet, kaç tane bedava gazoz almış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1359" y="2207910"/>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1510" y="4503591"/>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p:sp>
        <p:nvSpPr>
          <p:cNvPr id="48" name="Kaydırma: Yatay 47">
            <a:extLst>
              <a:ext uri="{FF2B5EF4-FFF2-40B4-BE49-F238E27FC236}">
                <a16:creationId xmlns:a16="http://schemas.microsoft.com/office/drawing/2014/main" id="{C9097C83-F29A-4ED3-A3C7-E0881902A2E2}"/>
              </a:ext>
            </a:extLst>
          </p:cNvPr>
          <p:cNvSpPr/>
          <p:nvPr/>
        </p:nvSpPr>
        <p:spPr>
          <a:xfrm>
            <a:off x="908720" y="457692"/>
            <a:ext cx="2394329" cy="369892"/>
          </a:xfrm>
          <a:prstGeom prst="horizontalScroll">
            <a:avLst/>
          </a:prstGeom>
          <a:solidFill>
            <a:schemeClr val="tx2">
              <a:lumMod val="60000"/>
              <a:lumOff val="40000"/>
            </a:schemeClr>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1" name="Metin kutusu 50">
            <a:extLst>
              <a:ext uri="{FF2B5EF4-FFF2-40B4-BE49-F238E27FC236}">
                <a16:creationId xmlns:a16="http://schemas.microsoft.com/office/drawing/2014/main" id="{53D168A8-6FF3-4C1C-9F01-AC8DB1DA5F9B}"/>
              </a:ext>
            </a:extLst>
          </p:cNvPr>
          <p:cNvSpPr txBox="1"/>
          <p:nvPr/>
        </p:nvSpPr>
        <p:spPr>
          <a:xfrm>
            <a:off x="917617" y="476011"/>
            <a:ext cx="2385432" cy="200055"/>
          </a:xfrm>
          <a:prstGeom prst="rect">
            <a:avLst/>
          </a:prstGeom>
          <a:noFill/>
        </p:spPr>
        <p:txBody>
          <a:bodyPr wrap="square">
            <a:spAutoFit/>
          </a:bodyPr>
          <a:lstStyle/>
          <a:p>
            <a:r>
              <a:rPr lang="tr-TR" sz="700" i="0" dirty="0">
                <a:solidFill>
                  <a:schemeClr val="bg1"/>
                </a:solidFill>
                <a:effectLst/>
                <a:latin typeface="Arial Narrow" panose="020B0606020202030204" pitchFamily="34" charset="0"/>
              </a:rPr>
              <a:t>“Hiçbir eğitim kurumu size iş garantisi sunmaz. Aynı zamanda </a:t>
            </a:r>
            <a:endParaRPr lang="tr-TR" sz="7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2967528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Sayı Problemleri</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258514" y="514192"/>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85229"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000" dirty="0"/>
          </a:p>
        </p:txBody>
      </p:sp>
      <p:sp>
        <p:nvSpPr>
          <p:cNvPr id="38" name="Ok: Beşgen 37">
            <a:extLst>
              <a:ext uri="{FF2B5EF4-FFF2-40B4-BE49-F238E27FC236}">
                <a16:creationId xmlns:a16="http://schemas.microsoft.com/office/drawing/2014/main" id="{56D93F0B-CF0D-4144-9236-2C7D81D4DC0A}"/>
              </a:ext>
            </a:extLst>
          </p:cNvPr>
          <p:cNvSpPr/>
          <p:nvPr/>
        </p:nvSpPr>
        <p:spPr>
          <a:xfrm>
            <a:off x="89061" y="2267744"/>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42" name="Akış Çizelgesi: Depolanmış Veri 41">
            <a:extLst>
              <a:ext uri="{FF2B5EF4-FFF2-40B4-BE49-F238E27FC236}">
                <a16:creationId xmlns:a16="http://schemas.microsoft.com/office/drawing/2014/main" id="{C724F5E8-60D6-460A-9BC1-BC83EC69917C}"/>
              </a:ext>
            </a:extLst>
          </p:cNvPr>
          <p:cNvSpPr/>
          <p:nvPr/>
        </p:nvSpPr>
        <p:spPr>
          <a:xfrm rot="10800000">
            <a:off x="236645" y="4495443"/>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3" name="Metin kutusu 42">
            <a:extLst>
              <a:ext uri="{FF2B5EF4-FFF2-40B4-BE49-F238E27FC236}">
                <a16:creationId xmlns:a16="http://schemas.microsoft.com/office/drawing/2014/main" id="{B640C522-82E6-4AEA-9475-AC33AE524495}"/>
              </a:ext>
            </a:extLst>
          </p:cNvPr>
          <p:cNvSpPr txBox="1"/>
          <p:nvPr/>
        </p:nvSpPr>
        <p:spPr>
          <a:xfrm>
            <a:off x="278326" y="4513994"/>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4" name="Oval 43">
            <a:extLst>
              <a:ext uri="{FF2B5EF4-FFF2-40B4-BE49-F238E27FC236}">
                <a16:creationId xmlns:a16="http://schemas.microsoft.com/office/drawing/2014/main" id="{6CC6AD0C-5AB0-4FC4-8D5F-A98C8C53F162}"/>
              </a:ext>
            </a:extLst>
          </p:cNvPr>
          <p:cNvSpPr/>
          <p:nvPr/>
        </p:nvSpPr>
        <p:spPr>
          <a:xfrm>
            <a:off x="87051" y="4495443"/>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5" name="Akış Çizelgesi: Depolanmış Veri 44">
            <a:extLst>
              <a:ext uri="{FF2B5EF4-FFF2-40B4-BE49-F238E27FC236}">
                <a16:creationId xmlns:a16="http://schemas.microsoft.com/office/drawing/2014/main" id="{075CCA95-13C4-4F6E-868E-7D729AA3E626}"/>
              </a:ext>
            </a:extLst>
          </p:cNvPr>
          <p:cNvSpPr/>
          <p:nvPr/>
        </p:nvSpPr>
        <p:spPr>
          <a:xfrm rot="10800000">
            <a:off x="3749625" y="459016"/>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6" name="Metin kutusu 45">
            <a:extLst>
              <a:ext uri="{FF2B5EF4-FFF2-40B4-BE49-F238E27FC236}">
                <a16:creationId xmlns:a16="http://schemas.microsoft.com/office/drawing/2014/main" id="{CE99F060-DCFD-4BAF-AD69-6E3BDABF7AAA}"/>
              </a:ext>
            </a:extLst>
          </p:cNvPr>
          <p:cNvSpPr txBox="1"/>
          <p:nvPr/>
        </p:nvSpPr>
        <p:spPr>
          <a:xfrm>
            <a:off x="3791306" y="477567"/>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47" name="Oval 46">
            <a:extLst>
              <a:ext uri="{FF2B5EF4-FFF2-40B4-BE49-F238E27FC236}">
                <a16:creationId xmlns:a16="http://schemas.microsoft.com/office/drawing/2014/main" id="{AC8EA411-34F7-4F33-8929-089EA8A35F84}"/>
              </a:ext>
            </a:extLst>
          </p:cNvPr>
          <p:cNvSpPr/>
          <p:nvPr/>
        </p:nvSpPr>
        <p:spPr>
          <a:xfrm>
            <a:off x="3600031" y="459016"/>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49" name="Ok: Beşgen 48">
            <a:extLst>
              <a:ext uri="{FF2B5EF4-FFF2-40B4-BE49-F238E27FC236}">
                <a16:creationId xmlns:a16="http://schemas.microsoft.com/office/drawing/2014/main" id="{A7EE8BB4-3E36-4F04-818E-7D545DC5CD40}"/>
              </a:ext>
            </a:extLst>
          </p:cNvPr>
          <p:cNvSpPr/>
          <p:nvPr/>
        </p:nvSpPr>
        <p:spPr>
          <a:xfrm>
            <a:off x="96696" y="646626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2" name="Akış Çizelgesi: Depolanmış Veri 51">
            <a:extLst>
              <a:ext uri="{FF2B5EF4-FFF2-40B4-BE49-F238E27FC236}">
                <a16:creationId xmlns:a16="http://schemas.microsoft.com/office/drawing/2014/main" id="{F4F668AC-77B3-4893-8506-9514E98EDF6B}"/>
              </a:ext>
            </a:extLst>
          </p:cNvPr>
          <p:cNvSpPr/>
          <p:nvPr/>
        </p:nvSpPr>
        <p:spPr>
          <a:xfrm rot="10800000">
            <a:off x="3750859" y="4255837"/>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53" name="Metin kutusu 52">
            <a:extLst>
              <a:ext uri="{FF2B5EF4-FFF2-40B4-BE49-F238E27FC236}">
                <a16:creationId xmlns:a16="http://schemas.microsoft.com/office/drawing/2014/main" id="{A21F73F4-810B-46E8-B059-2B3534183E6B}"/>
              </a:ext>
            </a:extLst>
          </p:cNvPr>
          <p:cNvSpPr txBox="1"/>
          <p:nvPr/>
        </p:nvSpPr>
        <p:spPr>
          <a:xfrm>
            <a:off x="3792540" y="4274388"/>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54" name="Oval 53">
            <a:extLst>
              <a:ext uri="{FF2B5EF4-FFF2-40B4-BE49-F238E27FC236}">
                <a16:creationId xmlns:a16="http://schemas.microsoft.com/office/drawing/2014/main" id="{602E8A4B-08DC-4F6E-8C53-29761675FD85}"/>
              </a:ext>
            </a:extLst>
          </p:cNvPr>
          <p:cNvSpPr/>
          <p:nvPr/>
        </p:nvSpPr>
        <p:spPr>
          <a:xfrm>
            <a:off x="3601265" y="4255837"/>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endParaRPr lang="tr-TR" sz="1200" dirty="0"/>
          </a:p>
        </p:txBody>
      </p:sp>
      <p:sp>
        <p:nvSpPr>
          <p:cNvPr id="55" name="Metin kutusu 54">
            <a:extLst>
              <a:ext uri="{FF2B5EF4-FFF2-40B4-BE49-F238E27FC236}">
                <a16:creationId xmlns:a16="http://schemas.microsoft.com/office/drawing/2014/main" id="{03B28319-59E9-4BA9-A2EF-6A80AE8036A2}"/>
              </a:ext>
            </a:extLst>
          </p:cNvPr>
          <p:cNvSpPr txBox="1"/>
          <p:nvPr/>
        </p:nvSpPr>
        <p:spPr>
          <a:xfrm>
            <a:off x="61810" y="837459"/>
            <a:ext cx="3212178" cy="553998"/>
          </a:xfrm>
          <a:prstGeom prst="rect">
            <a:avLst/>
          </a:prstGeom>
          <a:noFill/>
        </p:spPr>
        <p:txBody>
          <a:bodyPr wrap="square" rtlCol="0">
            <a:spAutoFit/>
          </a:bodyPr>
          <a:lstStyle/>
          <a:p>
            <a:r>
              <a:rPr lang="tr-TR" sz="1000" b="1" noProof="1">
                <a:cs typeface="Arial" panose="020B0604020202020204" pitchFamily="34" charset="0"/>
              </a:rPr>
              <a:t>Bir bakkal her 4 gazoz kapağına 1 tane gazoz bedava verilmektedir. 58 tane gazoz alan Mehmet, kaç tane bedava gazoz almış olur?</a:t>
            </a:r>
          </a:p>
        </p:txBody>
      </p:sp>
      <p:sp>
        <p:nvSpPr>
          <p:cNvPr id="56" name="Ok: Beşgen 55">
            <a:extLst>
              <a:ext uri="{FF2B5EF4-FFF2-40B4-BE49-F238E27FC236}">
                <a16:creationId xmlns:a16="http://schemas.microsoft.com/office/drawing/2014/main" id="{D327283C-46A4-4C86-A990-995946C89AA1}"/>
              </a:ext>
            </a:extLst>
          </p:cNvPr>
          <p:cNvSpPr/>
          <p:nvPr/>
        </p:nvSpPr>
        <p:spPr>
          <a:xfrm>
            <a:off x="3666349" y="2002311"/>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59" name="Ok: Beşgen 58">
            <a:extLst>
              <a:ext uri="{FF2B5EF4-FFF2-40B4-BE49-F238E27FC236}">
                <a16:creationId xmlns:a16="http://schemas.microsoft.com/office/drawing/2014/main" id="{A129DA11-0AC2-45F3-8B23-433A1D371D79}"/>
              </a:ext>
            </a:extLst>
          </p:cNvPr>
          <p:cNvSpPr/>
          <p:nvPr/>
        </p:nvSpPr>
        <p:spPr>
          <a:xfrm>
            <a:off x="3662165" y="6487096"/>
            <a:ext cx="840897" cy="281148"/>
          </a:xfrm>
          <a:prstGeom prst="homePlate">
            <a:avLst/>
          </a:prstGeom>
          <a:solidFill>
            <a:schemeClr val="accent4">
              <a:lumMod val="40000"/>
              <a:lumOff val="60000"/>
            </a:schemeClr>
          </a:solidFill>
          <a:ln w="31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tr-TR" sz="1500" dirty="0">
                <a:solidFill>
                  <a:schemeClr val="tx1"/>
                </a:solidFill>
              </a:rPr>
              <a:t>Çözüm</a:t>
            </a:r>
          </a:p>
        </p:txBody>
      </p:sp>
      <p:sp>
        <p:nvSpPr>
          <p:cNvPr id="61" name="Metin kutusu 60">
            <a:extLst>
              <a:ext uri="{FF2B5EF4-FFF2-40B4-BE49-F238E27FC236}">
                <a16:creationId xmlns:a16="http://schemas.microsoft.com/office/drawing/2014/main" id="{D854CA61-084E-49F9-BE9F-C6AC8841B8BC}"/>
              </a:ext>
            </a:extLst>
          </p:cNvPr>
          <p:cNvSpPr txBox="1"/>
          <p:nvPr/>
        </p:nvSpPr>
        <p:spPr>
          <a:xfrm>
            <a:off x="-60127" y="5035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10.</a:t>
            </a:r>
          </a:p>
        </p:txBody>
      </p:sp>
      <p:sp>
        <p:nvSpPr>
          <p:cNvPr id="63" name="Metin kutusu 62">
            <a:extLst>
              <a:ext uri="{FF2B5EF4-FFF2-40B4-BE49-F238E27FC236}">
                <a16:creationId xmlns:a16="http://schemas.microsoft.com/office/drawing/2014/main" id="{B3F32F45-9950-4A61-BCC1-9E5ED32AC26E}"/>
              </a:ext>
            </a:extLst>
          </p:cNvPr>
          <p:cNvSpPr txBox="1"/>
          <p:nvPr/>
        </p:nvSpPr>
        <p:spPr>
          <a:xfrm>
            <a:off x="-44362" y="4505836"/>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11.</a:t>
            </a:r>
          </a:p>
        </p:txBody>
      </p:sp>
      <p:sp>
        <p:nvSpPr>
          <p:cNvPr id="64" name="Metin kutusu 63">
            <a:extLst>
              <a:ext uri="{FF2B5EF4-FFF2-40B4-BE49-F238E27FC236}">
                <a16:creationId xmlns:a16="http://schemas.microsoft.com/office/drawing/2014/main" id="{63A502E0-C562-4139-A147-D947554ED050}"/>
              </a:ext>
            </a:extLst>
          </p:cNvPr>
          <p:cNvSpPr txBox="1"/>
          <p:nvPr/>
        </p:nvSpPr>
        <p:spPr>
          <a:xfrm>
            <a:off x="3462759" y="465340"/>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12.</a:t>
            </a:r>
          </a:p>
        </p:txBody>
      </p:sp>
      <p:sp>
        <p:nvSpPr>
          <p:cNvPr id="65" name="Metin kutusu 64">
            <a:extLst>
              <a:ext uri="{FF2B5EF4-FFF2-40B4-BE49-F238E27FC236}">
                <a16:creationId xmlns:a16="http://schemas.microsoft.com/office/drawing/2014/main" id="{FF3E282D-9BD6-4D9B-BADF-D7D1A5C28BB7}"/>
              </a:ext>
            </a:extLst>
          </p:cNvPr>
          <p:cNvSpPr txBox="1"/>
          <p:nvPr/>
        </p:nvSpPr>
        <p:spPr>
          <a:xfrm>
            <a:off x="3462759" y="4263985"/>
            <a:ext cx="539959" cy="266352"/>
          </a:xfrm>
          <a:prstGeom prst="rect">
            <a:avLst/>
          </a:prstGeom>
          <a:noFill/>
        </p:spPr>
        <p:txBody>
          <a:bodyPr wrap="square" lIns="80897" tIns="40448" rIns="80897" bIns="40448" rtlCol="0">
            <a:spAutoFit/>
          </a:bodyPr>
          <a:lstStyle/>
          <a:p>
            <a:pPr algn="ctr"/>
            <a:r>
              <a:rPr lang="tr-TR" sz="1200" b="1" dirty="0">
                <a:solidFill>
                  <a:schemeClr val="bg1"/>
                </a:solidFill>
                <a:latin typeface="Arial Narrow" panose="020B0606020202030204" pitchFamily="34" charset="0"/>
              </a:rPr>
              <a:t>13.</a:t>
            </a:r>
          </a:p>
        </p:txBody>
      </p:sp>
    </p:spTree>
    <p:extLst>
      <p:ext uri="{BB962C8B-B14F-4D97-AF65-F5344CB8AC3E}">
        <p14:creationId xmlns:p14="http://schemas.microsoft.com/office/powerpoint/2010/main" val="174860774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354213381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26817227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266210845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127394409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40617266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13368650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25" name="Akış Çizelgesi: Belge 24">
            <a:extLst>
              <a:ext uri="{FF2B5EF4-FFF2-40B4-BE49-F238E27FC236}">
                <a16:creationId xmlns:a16="http://schemas.microsoft.com/office/drawing/2014/main" id="{C73C6F97-11CB-418E-9A01-D1A6C37B6F9C}"/>
              </a:ext>
            </a:extLst>
          </p:cNvPr>
          <p:cNvSpPr/>
          <p:nvPr/>
        </p:nvSpPr>
        <p:spPr>
          <a:xfrm>
            <a:off x="124218" y="542926"/>
            <a:ext cx="3099032" cy="2223428"/>
          </a:xfrm>
          <a:prstGeom prst="flowChartDocumen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a:extLst>
              <a:ext uri="{FF2B5EF4-FFF2-40B4-BE49-F238E27FC236}">
                <a16:creationId xmlns:a16="http://schemas.microsoft.com/office/drawing/2014/main" id="{22B5DF16-C721-49FF-B4A3-FA50BAD94B77}"/>
              </a:ext>
            </a:extLst>
          </p:cNvPr>
          <p:cNvSpPr txBox="1"/>
          <p:nvPr/>
        </p:nvSpPr>
        <p:spPr>
          <a:xfrm>
            <a:off x="93764" y="532556"/>
            <a:ext cx="3204260" cy="276999"/>
          </a:xfrm>
          <a:prstGeom prst="rect">
            <a:avLst/>
          </a:prstGeom>
          <a:noFill/>
        </p:spPr>
        <p:txBody>
          <a:bodyPr wrap="square" rtlCol="0">
            <a:spAutoFit/>
          </a:bodyPr>
          <a:lstStyle/>
          <a:p>
            <a:r>
              <a:rPr lang="tr-TR" sz="1200" b="1" noProof="1">
                <a:cs typeface="Arial" panose="020B0604020202020204" pitchFamily="34" charset="0"/>
              </a:rPr>
              <a:t>Eğri Oturup Düz Konuşmanın Vakti Geldi </a:t>
            </a:r>
          </a:p>
        </p:txBody>
      </p:sp>
      <p:sp>
        <p:nvSpPr>
          <p:cNvPr id="31" name="Metin kutusu 30">
            <a:extLst>
              <a:ext uri="{FF2B5EF4-FFF2-40B4-BE49-F238E27FC236}">
                <a16:creationId xmlns:a16="http://schemas.microsoft.com/office/drawing/2014/main" id="{C5A70E3E-CC0F-4A32-BAB3-9747A6716B27}"/>
              </a:ext>
            </a:extLst>
          </p:cNvPr>
          <p:cNvSpPr txBox="1"/>
          <p:nvPr/>
        </p:nvSpPr>
        <p:spPr>
          <a:xfrm>
            <a:off x="126522" y="711932"/>
            <a:ext cx="3099032" cy="1992853"/>
          </a:xfrm>
          <a:prstGeom prst="rect">
            <a:avLst/>
          </a:prstGeom>
          <a:noFill/>
        </p:spPr>
        <p:txBody>
          <a:bodyPr wrap="square" rtlCol="0">
            <a:spAutoFit/>
          </a:bodyPr>
          <a:lstStyle/>
          <a:p>
            <a:pPr marL="171450" indent="-171450">
              <a:buFont typeface="Arial" panose="020B0604020202020204" pitchFamily="34" charset="0"/>
              <a:buChar char="•"/>
            </a:pPr>
            <a:r>
              <a:rPr lang="tr-TR" sz="950" noProof="1">
                <a:cs typeface="Arial" panose="020B0604020202020204" pitchFamily="34" charset="0"/>
              </a:rPr>
              <a:t>Bol bol didaktik içerikli kitap okumak.</a:t>
            </a:r>
          </a:p>
          <a:p>
            <a:pPr marL="171450" indent="-171450">
              <a:buFont typeface="Arial" panose="020B0604020202020204" pitchFamily="34" charset="0"/>
              <a:buChar char="•"/>
            </a:pPr>
            <a:r>
              <a:rPr lang="tr-TR" sz="950" noProof="1">
                <a:cs typeface="Arial" panose="020B0604020202020204" pitchFamily="34" charset="0"/>
              </a:rPr>
              <a:t>Bilimsel ve ilgi alanınızla makale, dergi okumak.</a:t>
            </a:r>
          </a:p>
          <a:p>
            <a:pPr marL="171450" indent="-171450">
              <a:buFont typeface="Arial" panose="020B0604020202020204" pitchFamily="34" charset="0"/>
              <a:buChar char="•"/>
            </a:pPr>
            <a:r>
              <a:rPr lang="tr-TR" sz="950" noProof="1">
                <a:cs typeface="Arial" panose="020B0604020202020204" pitchFamily="34" charset="0"/>
              </a:rPr>
              <a:t>Matematik için farklı tarzda sorular çözmek </a:t>
            </a:r>
          </a:p>
          <a:p>
            <a:pPr marL="171450" indent="-171450">
              <a:buFont typeface="Arial" panose="020B0604020202020204" pitchFamily="34" charset="0"/>
              <a:buChar char="•"/>
            </a:pPr>
            <a:r>
              <a:rPr lang="tr-TR" sz="950" noProof="1">
                <a:cs typeface="Arial" panose="020B0604020202020204" pitchFamily="34" charset="0"/>
              </a:rPr>
              <a:t>Deneme yanılma soruları için pratiklik sağlamak</a:t>
            </a:r>
          </a:p>
          <a:p>
            <a:pPr marL="171450" indent="-171450">
              <a:buFont typeface="Arial" panose="020B0604020202020204" pitchFamily="34" charset="0"/>
              <a:buChar char="•"/>
            </a:pPr>
            <a:r>
              <a:rPr lang="tr-TR" sz="950" noProof="1">
                <a:cs typeface="Arial" panose="020B0604020202020204" pitchFamily="34" charset="0"/>
              </a:rPr>
              <a:t>Aklı ve zihni dinç tutan, geliştiren hobiler bulmak.</a:t>
            </a:r>
          </a:p>
          <a:p>
            <a:pPr marL="171450" indent="-171450">
              <a:buFont typeface="Arial" panose="020B0604020202020204" pitchFamily="34" charset="0"/>
              <a:buChar char="•"/>
            </a:pPr>
            <a:r>
              <a:rPr lang="tr-TR" sz="950" noProof="1">
                <a:cs typeface="Arial" panose="020B0604020202020204" pitchFamily="34" charset="0"/>
              </a:rPr>
              <a:t>Sevdiğimiz ve örnek aldığımız kimselerin hazırlamış olduğu video ve eğitsel tüm ögeleri hobi veya zaman ayırarak incelemek, çok ve verimli çalışmak.  </a:t>
            </a:r>
          </a:p>
          <a:p>
            <a:endParaRPr lang="tr-TR" sz="950" noProof="1">
              <a:cs typeface="Arial" panose="020B0604020202020204" pitchFamily="34" charset="0"/>
            </a:endParaRPr>
          </a:p>
          <a:p>
            <a:r>
              <a:rPr lang="tr-TR" sz="950" noProof="1">
                <a:cs typeface="Arial" panose="020B0604020202020204" pitchFamily="34" charset="0"/>
              </a:rPr>
              <a:t>Okumak sizleri sıkıyorsa,  kısa kısa program yapın.</a:t>
            </a:r>
          </a:p>
          <a:p>
            <a:r>
              <a:rPr lang="tr-TR" sz="950" noProof="1">
                <a:cs typeface="Arial" panose="020B0604020202020204" pitchFamily="34" charset="0"/>
              </a:rPr>
              <a:t>5 dk okudunuz, işlerinizi yaptınız sonra tekrar 5 </a:t>
            </a:r>
          </a:p>
          <a:p>
            <a:r>
              <a:rPr lang="tr-TR" sz="950" noProof="1">
                <a:cs typeface="Arial" panose="020B0604020202020204" pitchFamily="34" charset="0"/>
              </a:rPr>
              <a:t>dk ve bu süreyi arttırmaya çalışın.</a:t>
            </a:r>
          </a:p>
          <a:p>
            <a:r>
              <a:rPr lang="tr-TR" sz="950" noProof="1">
                <a:cs typeface="Arial" panose="020B0604020202020204" pitchFamily="34" charset="0"/>
              </a:rPr>
              <a:t>Rutininizi koruyun.</a:t>
            </a:r>
          </a:p>
        </p:txBody>
      </p:sp>
    </p:spTree>
    <p:extLst>
      <p:ext uri="{BB962C8B-B14F-4D97-AF65-F5344CB8AC3E}">
        <p14:creationId xmlns:p14="http://schemas.microsoft.com/office/powerpoint/2010/main" val="31311586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55</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7909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7" name="Dikdörtgen 46">
            <a:extLst>
              <a:ext uri="{FF2B5EF4-FFF2-40B4-BE49-F238E27FC236}">
                <a16:creationId xmlns:a16="http://schemas.microsoft.com/office/drawing/2014/main" id="{0A297E1F-FE2B-42F3-B2F8-391247E33991}"/>
              </a:ext>
            </a:extLst>
          </p:cNvPr>
          <p:cNvSpPr/>
          <p:nvPr/>
        </p:nvSpPr>
        <p:spPr>
          <a:xfrm>
            <a:off x="1545162"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B82E1891-E19B-4792-8D6A-9E3A416C2186}"/>
                  </a:ext>
                </a:extLst>
              </p:cNvPr>
              <p:cNvSpPr txBox="1"/>
              <p:nvPr/>
            </p:nvSpPr>
            <p:spPr>
              <a:xfrm>
                <a:off x="100053" y="466976"/>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3" name="Metin kutusu 52">
                <a:extLst>
                  <a:ext uri="{FF2B5EF4-FFF2-40B4-BE49-F238E27FC236}">
                    <a16:creationId xmlns:a16="http://schemas.microsoft.com/office/drawing/2014/main" id="{B82E1891-E19B-4792-8D6A-9E3A416C2186}"/>
                  </a:ext>
                </a:extLst>
              </p:cNvPr>
              <p:cNvSpPr txBox="1">
                <a:spLocks noRot="1" noChangeAspect="1" noMove="1" noResize="1" noEditPoints="1" noAdjustHandles="1" noChangeArrowheads="1" noChangeShapeType="1" noTextEdit="1"/>
              </p:cNvSpPr>
              <p:nvPr/>
            </p:nvSpPr>
            <p:spPr>
              <a:xfrm>
                <a:off x="100053" y="466976"/>
                <a:ext cx="3242609" cy="276422"/>
              </a:xfrm>
              <a:prstGeom prst="rect">
                <a:avLst/>
              </a:prstGeom>
              <a:blipFill>
                <a:blip r:embed="rId5"/>
                <a:stretch>
                  <a:fillRect b="-4444"/>
                </a:stretch>
              </a:blipFill>
            </p:spPr>
            <p:txBody>
              <a:bodyPr/>
              <a:lstStyle/>
              <a:p>
                <a:r>
                  <a:rPr lang="tr-TR">
                    <a:noFill/>
                  </a:rPr>
                  <a:t> </a:t>
                </a:r>
              </a:p>
            </p:txBody>
          </p:sp>
        </mc:Fallback>
      </mc:AlternateContent>
      <p:sp>
        <p:nvSpPr>
          <p:cNvPr id="54" name="Metin kutusu 53">
            <a:extLst>
              <a:ext uri="{FF2B5EF4-FFF2-40B4-BE49-F238E27FC236}">
                <a16:creationId xmlns:a16="http://schemas.microsoft.com/office/drawing/2014/main" id="{6F571631-C11B-45EE-8A46-C84A1F97ADD2}"/>
              </a:ext>
            </a:extLst>
          </p:cNvPr>
          <p:cNvSpPr txBox="1"/>
          <p:nvPr/>
        </p:nvSpPr>
        <p:spPr>
          <a:xfrm>
            <a:off x="130290" y="1182425"/>
            <a:ext cx="3242609"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5" name="Dikdörtgen 54">
            <a:extLst>
              <a:ext uri="{FF2B5EF4-FFF2-40B4-BE49-F238E27FC236}">
                <a16:creationId xmlns:a16="http://schemas.microsoft.com/office/drawing/2014/main" id="{60057654-B723-41D9-BB6B-053ABEC224DE}"/>
              </a:ext>
            </a:extLst>
          </p:cNvPr>
          <p:cNvSpPr/>
          <p:nvPr/>
        </p:nvSpPr>
        <p:spPr>
          <a:xfrm>
            <a:off x="207340" y="5446562"/>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6" name="Metin kutusu 55">
                <a:extLst>
                  <a:ext uri="{FF2B5EF4-FFF2-40B4-BE49-F238E27FC236}">
                    <a16:creationId xmlns:a16="http://schemas.microsoft.com/office/drawing/2014/main" id="{FE808314-3229-48D7-98E6-513795AE49C4}"/>
                  </a:ext>
                </a:extLst>
              </p:cNvPr>
              <p:cNvSpPr txBox="1"/>
              <p:nvPr/>
            </p:nvSpPr>
            <p:spPr>
              <a:xfrm>
                <a:off x="91742" y="4736045"/>
                <a:ext cx="3286993"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6" name="Metin kutusu 55">
                <a:extLst>
                  <a:ext uri="{FF2B5EF4-FFF2-40B4-BE49-F238E27FC236}">
                    <a16:creationId xmlns:a16="http://schemas.microsoft.com/office/drawing/2014/main" id="{FE808314-3229-48D7-98E6-513795AE49C4}"/>
                  </a:ext>
                </a:extLst>
              </p:cNvPr>
              <p:cNvSpPr txBox="1">
                <a:spLocks noRot="1" noChangeAspect="1" noMove="1" noResize="1" noEditPoints="1" noAdjustHandles="1" noChangeArrowheads="1" noChangeShapeType="1" noTextEdit="1"/>
              </p:cNvSpPr>
              <p:nvPr/>
            </p:nvSpPr>
            <p:spPr>
              <a:xfrm>
                <a:off x="91742" y="4736045"/>
                <a:ext cx="3286993"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BC1E34C2-F2E4-4462-A599-B05FDF8A9639}"/>
                  </a:ext>
                </a:extLst>
              </p:cNvPr>
              <p:cNvSpPr txBox="1"/>
              <p:nvPr/>
            </p:nvSpPr>
            <p:spPr>
              <a:xfrm>
                <a:off x="3522906" y="4729188"/>
                <a:ext cx="3283605"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7" name="Metin kutusu 56">
                <a:extLst>
                  <a:ext uri="{FF2B5EF4-FFF2-40B4-BE49-F238E27FC236}">
                    <a16:creationId xmlns:a16="http://schemas.microsoft.com/office/drawing/2014/main" id="{BC1E34C2-F2E4-4462-A599-B05FDF8A9639}"/>
                  </a:ext>
                </a:extLst>
              </p:cNvPr>
              <p:cNvSpPr txBox="1">
                <a:spLocks noRot="1" noChangeAspect="1" noMove="1" noResize="1" noEditPoints="1" noAdjustHandles="1" noChangeArrowheads="1" noChangeShapeType="1" noTextEdit="1"/>
              </p:cNvSpPr>
              <p:nvPr/>
            </p:nvSpPr>
            <p:spPr>
              <a:xfrm>
                <a:off x="3522906" y="4729188"/>
                <a:ext cx="3283605"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502526" y="462949"/>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502526" y="462949"/>
                <a:ext cx="3242609" cy="276422"/>
              </a:xfrm>
              <a:prstGeom prst="rect">
                <a:avLst/>
              </a:prstGeom>
              <a:blipFill>
                <a:blip r:embed="rId7"/>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483443" y="5309409"/>
                <a:ext cx="3362533" cy="653512"/>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1−3</m:t>
                        </m:r>
                        <m:r>
                          <m:rPr>
                            <m:nor/>
                          </m:rPr>
                          <a:rPr lang="tr-TR" sz="800" i="0" noProof="1">
                            <a:latin typeface="Helvetica" panose="020B0604020202020204" pitchFamily="34" charset="0"/>
                            <a:cs typeface="Helvetica" panose="020B0604020202020204" pitchFamily="34" charset="0"/>
                          </a:rPr>
                          <m:t>A</m:t>
                        </m:r>
                        <m:r>
                          <m:rPr>
                            <m:nor/>
                          </m:rPr>
                          <a:rPr lang="tr-TR" sz="800" i="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m:rPr>
                            <m:nor/>
                          </m:rPr>
                          <a:rPr lang="tr-TR" sz="800" b="0" i="0" noProof="1" smtClean="0">
                            <a:solidFill>
                              <a:schemeClr val="tx1"/>
                            </a:solidFill>
                            <a:latin typeface="Helvetica" panose="020B0604020202020204" pitchFamily="34"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endParaRPr lang="tr-TR" sz="800" noProof="1"/>
              </a:p>
              <a:p>
                <a:br>
                  <a:rPr lang="tr-TR" sz="10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m:rPr>
                            <m:nor/>
                          </m:rPr>
                          <a:rPr lang="tr-TR" sz="800" b="0" i="0" noProof="1" smtClean="0">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483443" y="5309409"/>
                <a:ext cx="3362533" cy="653512"/>
              </a:xfrm>
              <a:prstGeom prst="rect">
                <a:avLst/>
              </a:prstGeom>
              <a:blipFill>
                <a:blip r:embed="rId8"/>
                <a:stretch>
                  <a:fillRect b="-93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380CFD8B-A448-4F49-ACCE-E2A9557B7206}"/>
              </a:ext>
            </a:extLst>
          </p:cNvPr>
          <p:cNvSpPr txBox="1"/>
          <p:nvPr/>
        </p:nvSpPr>
        <p:spPr>
          <a:xfrm>
            <a:off x="3529147" y="1182425"/>
            <a:ext cx="3284216"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5217" y="8839682"/>
            <a:ext cx="198135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1.x    2.x    3.x    4.x    5.x    6.x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Tree>
    <p:extLst>
      <p:ext uri="{BB962C8B-B14F-4D97-AF65-F5344CB8AC3E}">
        <p14:creationId xmlns:p14="http://schemas.microsoft.com/office/powerpoint/2010/main" val="11561709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55</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7909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7" name="Dikdörtgen 46">
            <a:extLst>
              <a:ext uri="{FF2B5EF4-FFF2-40B4-BE49-F238E27FC236}">
                <a16:creationId xmlns:a16="http://schemas.microsoft.com/office/drawing/2014/main" id="{0A297E1F-FE2B-42F3-B2F8-391247E33991}"/>
              </a:ext>
            </a:extLst>
          </p:cNvPr>
          <p:cNvSpPr/>
          <p:nvPr/>
        </p:nvSpPr>
        <p:spPr>
          <a:xfrm>
            <a:off x="1545162"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70235" y="4702995"/>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5" y="4702379"/>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B82E1891-E19B-4792-8D6A-9E3A416C2186}"/>
                  </a:ext>
                </a:extLst>
              </p:cNvPr>
              <p:cNvSpPr txBox="1"/>
              <p:nvPr/>
            </p:nvSpPr>
            <p:spPr>
              <a:xfrm>
                <a:off x="100053" y="466976"/>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3" name="Metin kutusu 52">
                <a:extLst>
                  <a:ext uri="{FF2B5EF4-FFF2-40B4-BE49-F238E27FC236}">
                    <a16:creationId xmlns:a16="http://schemas.microsoft.com/office/drawing/2014/main" id="{B82E1891-E19B-4792-8D6A-9E3A416C2186}"/>
                  </a:ext>
                </a:extLst>
              </p:cNvPr>
              <p:cNvSpPr txBox="1">
                <a:spLocks noRot="1" noChangeAspect="1" noMove="1" noResize="1" noEditPoints="1" noAdjustHandles="1" noChangeArrowheads="1" noChangeShapeType="1" noTextEdit="1"/>
              </p:cNvSpPr>
              <p:nvPr/>
            </p:nvSpPr>
            <p:spPr>
              <a:xfrm>
                <a:off x="100053" y="466976"/>
                <a:ext cx="3242609" cy="276422"/>
              </a:xfrm>
              <a:prstGeom prst="rect">
                <a:avLst/>
              </a:prstGeom>
              <a:blipFill>
                <a:blip r:embed="rId5"/>
                <a:stretch>
                  <a:fillRect b="-4444"/>
                </a:stretch>
              </a:blipFill>
            </p:spPr>
            <p:txBody>
              <a:bodyPr/>
              <a:lstStyle/>
              <a:p>
                <a:r>
                  <a:rPr lang="tr-TR">
                    <a:noFill/>
                  </a:rPr>
                  <a:t> </a:t>
                </a:r>
              </a:p>
            </p:txBody>
          </p:sp>
        </mc:Fallback>
      </mc:AlternateContent>
      <p:sp>
        <p:nvSpPr>
          <p:cNvPr id="54" name="Metin kutusu 53">
            <a:extLst>
              <a:ext uri="{FF2B5EF4-FFF2-40B4-BE49-F238E27FC236}">
                <a16:creationId xmlns:a16="http://schemas.microsoft.com/office/drawing/2014/main" id="{6F571631-C11B-45EE-8A46-C84A1F97ADD2}"/>
              </a:ext>
            </a:extLst>
          </p:cNvPr>
          <p:cNvSpPr txBox="1"/>
          <p:nvPr/>
        </p:nvSpPr>
        <p:spPr>
          <a:xfrm>
            <a:off x="130290" y="1182425"/>
            <a:ext cx="3242609"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5" name="Dikdörtgen 54">
            <a:extLst>
              <a:ext uri="{FF2B5EF4-FFF2-40B4-BE49-F238E27FC236}">
                <a16:creationId xmlns:a16="http://schemas.microsoft.com/office/drawing/2014/main" id="{60057654-B723-41D9-BB6B-053ABEC224DE}"/>
              </a:ext>
            </a:extLst>
          </p:cNvPr>
          <p:cNvSpPr/>
          <p:nvPr/>
        </p:nvSpPr>
        <p:spPr>
          <a:xfrm>
            <a:off x="207340" y="5446562"/>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6" name="Metin kutusu 55">
                <a:extLst>
                  <a:ext uri="{FF2B5EF4-FFF2-40B4-BE49-F238E27FC236}">
                    <a16:creationId xmlns:a16="http://schemas.microsoft.com/office/drawing/2014/main" id="{FE808314-3229-48D7-98E6-513795AE49C4}"/>
                  </a:ext>
                </a:extLst>
              </p:cNvPr>
              <p:cNvSpPr txBox="1"/>
              <p:nvPr/>
            </p:nvSpPr>
            <p:spPr>
              <a:xfrm>
                <a:off x="91742" y="4736045"/>
                <a:ext cx="3286993"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6" name="Metin kutusu 55">
                <a:extLst>
                  <a:ext uri="{FF2B5EF4-FFF2-40B4-BE49-F238E27FC236}">
                    <a16:creationId xmlns:a16="http://schemas.microsoft.com/office/drawing/2014/main" id="{FE808314-3229-48D7-98E6-513795AE49C4}"/>
                  </a:ext>
                </a:extLst>
              </p:cNvPr>
              <p:cNvSpPr txBox="1">
                <a:spLocks noRot="1" noChangeAspect="1" noMove="1" noResize="1" noEditPoints="1" noAdjustHandles="1" noChangeArrowheads="1" noChangeShapeType="1" noTextEdit="1"/>
              </p:cNvSpPr>
              <p:nvPr/>
            </p:nvSpPr>
            <p:spPr>
              <a:xfrm>
                <a:off x="91742" y="4736045"/>
                <a:ext cx="3286993"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BC1E34C2-F2E4-4462-A599-B05FDF8A9639}"/>
                  </a:ext>
                </a:extLst>
              </p:cNvPr>
              <p:cNvSpPr txBox="1"/>
              <p:nvPr/>
            </p:nvSpPr>
            <p:spPr>
              <a:xfrm>
                <a:off x="3522906" y="4729188"/>
                <a:ext cx="3283605"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7" name="Metin kutusu 56">
                <a:extLst>
                  <a:ext uri="{FF2B5EF4-FFF2-40B4-BE49-F238E27FC236}">
                    <a16:creationId xmlns:a16="http://schemas.microsoft.com/office/drawing/2014/main" id="{BC1E34C2-F2E4-4462-A599-B05FDF8A9639}"/>
                  </a:ext>
                </a:extLst>
              </p:cNvPr>
              <p:cNvSpPr txBox="1">
                <a:spLocks noRot="1" noChangeAspect="1" noMove="1" noResize="1" noEditPoints="1" noAdjustHandles="1" noChangeArrowheads="1" noChangeShapeType="1" noTextEdit="1"/>
              </p:cNvSpPr>
              <p:nvPr/>
            </p:nvSpPr>
            <p:spPr>
              <a:xfrm>
                <a:off x="3522906" y="4729188"/>
                <a:ext cx="3283605"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502526" y="462949"/>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502526" y="462949"/>
                <a:ext cx="3242609" cy="276422"/>
              </a:xfrm>
              <a:prstGeom prst="rect">
                <a:avLst/>
              </a:prstGeom>
              <a:blipFill>
                <a:blip r:embed="rId7"/>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483443" y="5309409"/>
                <a:ext cx="3362533" cy="653512"/>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1−3</m:t>
                        </m:r>
                        <m:r>
                          <m:rPr>
                            <m:nor/>
                          </m:rPr>
                          <a:rPr lang="tr-TR" sz="800" i="0" noProof="1">
                            <a:latin typeface="Helvetica" panose="020B0604020202020204" pitchFamily="34" charset="0"/>
                            <a:cs typeface="Helvetica" panose="020B0604020202020204" pitchFamily="34" charset="0"/>
                          </a:rPr>
                          <m:t>A</m:t>
                        </m:r>
                        <m:r>
                          <m:rPr>
                            <m:nor/>
                          </m:rPr>
                          <a:rPr lang="tr-TR" sz="800" i="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m:rPr>
                            <m:nor/>
                          </m:rPr>
                          <a:rPr lang="tr-TR" sz="800" b="0" i="0" noProof="1" smtClean="0">
                            <a:solidFill>
                              <a:schemeClr val="tx1"/>
                            </a:solidFill>
                            <a:latin typeface="Helvetica" panose="020B0604020202020204" pitchFamily="34"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endParaRPr lang="tr-TR" sz="800" noProof="1"/>
              </a:p>
              <a:p>
                <a:br>
                  <a:rPr lang="tr-TR" sz="10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m:rPr>
                            <m:nor/>
                          </m:rPr>
                          <a:rPr lang="tr-TR" sz="800" b="0" i="0" noProof="1" smtClean="0">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483443" y="5309409"/>
                <a:ext cx="3362533" cy="653512"/>
              </a:xfrm>
              <a:prstGeom prst="rect">
                <a:avLst/>
              </a:prstGeom>
              <a:blipFill>
                <a:blip r:embed="rId8"/>
                <a:stretch>
                  <a:fillRect b="-93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380CFD8B-A448-4F49-ACCE-E2A9557B7206}"/>
              </a:ext>
            </a:extLst>
          </p:cNvPr>
          <p:cNvSpPr txBox="1"/>
          <p:nvPr/>
        </p:nvSpPr>
        <p:spPr>
          <a:xfrm>
            <a:off x="3529147" y="1182425"/>
            <a:ext cx="3284216"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5217" y="8839682"/>
            <a:ext cx="198135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1.x    2.x    3.x    4.x    5.x    6.x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Oval 68">
            <a:extLst>
              <a:ext uri="{FF2B5EF4-FFF2-40B4-BE49-F238E27FC236}">
                <a16:creationId xmlns:a16="http://schemas.microsoft.com/office/drawing/2014/main" id="{070D0FEF-7C49-406F-8F1F-ADEEB226DD59}"/>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0" name="Metin kutusu 69">
            <a:extLst>
              <a:ext uri="{FF2B5EF4-FFF2-40B4-BE49-F238E27FC236}">
                <a16:creationId xmlns:a16="http://schemas.microsoft.com/office/drawing/2014/main" id="{C88E303A-F80C-4BF0-A2C1-5BB18F40767E}"/>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71" name="Metin kutusu 70">
            <a:extLst>
              <a:ext uri="{FF2B5EF4-FFF2-40B4-BE49-F238E27FC236}">
                <a16:creationId xmlns:a16="http://schemas.microsoft.com/office/drawing/2014/main" id="{E0BCDE85-8264-473C-B3D7-C52612842750}"/>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72" name="Oval 71">
            <a:extLst>
              <a:ext uri="{FF2B5EF4-FFF2-40B4-BE49-F238E27FC236}">
                <a16:creationId xmlns:a16="http://schemas.microsoft.com/office/drawing/2014/main" id="{93F8C1F1-67BD-4B97-9F0F-D3C81F8CC6EC}"/>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3" name="Düz Bağlayıcı 72">
            <a:extLst>
              <a:ext uri="{FF2B5EF4-FFF2-40B4-BE49-F238E27FC236}">
                <a16:creationId xmlns:a16="http://schemas.microsoft.com/office/drawing/2014/main" id="{36D3044A-CFE7-47C0-BA1F-2F2D1CC2FE81}"/>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4" name="Metin kutusu 73">
            <a:extLst>
              <a:ext uri="{FF2B5EF4-FFF2-40B4-BE49-F238E27FC236}">
                <a16:creationId xmlns:a16="http://schemas.microsoft.com/office/drawing/2014/main" id="{7238CCFF-6818-4CEC-901A-58095A6D46E1}"/>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75" name="Oval 74">
            <a:extLst>
              <a:ext uri="{FF2B5EF4-FFF2-40B4-BE49-F238E27FC236}">
                <a16:creationId xmlns:a16="http://schemas.microsoft.com/office/drawing/2014/main" id="{87530A8D-D432-4184-85F2-D41FC4687F1A}"/>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6" name="Metin kutusu 75">
            <a:extLst>
              <a:ext uri="{FF2B5EF4-FFF2-40B4-BE49-F238E27FC236}">
                <a16:creationId xmlns:a16="http://schemas.microsoft.com/office/drawing/2014/main" id="{C67325AA-7A45-4048-930D-46812DA66CB3}"/>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77" name="Oval 76">
            <a:extLst>
              <a:ext uri="{FF2B5EF4-FFF2-40B4-BE49-F238E27FC236}">
                <a16:creationId xmlns:a16="http://schemas.microsoft.com/office/drawing/2014/main" id="{A4B6902B-D8A8-4FA8-87A7-C59BC2D93F9E}"/>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8" name="Düz Bağlayıcı 77">
            <a:extLst>
              <a:ext uri="{FF2B5EF4-FFF2-40B4-BE49-F238E27FC236}">
                <a16:creationId xmlns:a16="http://schemas.microsoft.com/office/drawing/2014/main" id="{223A4C6F-A45B-40EA-B3BC-8DE6567410C9}"/>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Düz Bağlayıcı 78">
            <a:extLst>
              <a:ext uri="{FF2B5EF4-FFF2-40B4-BE49-F238E27FC236}">
                <a16:creationId xmlns:a16="http://schemas.microsoft.com/office/drawing/2014/main" id="{EDBDA7AE-0041-4637-9430-8F4D30D8BE9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90065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dirty="0">
                <a:latin typeface="+mj-lt"/>
                <a:cs typeface="Arial" panose="020B0604020202020204" pitchFamily="34" charset="0"/>
              </a:rPr>
              <a:t>Sayı Problemleri</a:t>
            </a:r>
          </a:p>
          <a:p>
            <a:r>
              <a:rPr lang="tr-TR" sz="1000" b="1" dirty="0">
                <a:latin typeface="+mj-lt"/>
                <a:cs typeface="Arial" panose="020B0604020202020204" pitchFamily="34" charset="0"/>
              </a:rPr>
              <a:t>Özel Tanımlı Sayılar</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Ekspres Test </a:t>
            </a:r>
            <a:r>
              <a:rPr lang="tr-TR" sz="1000" dirty="0">
                <a:solidFill>
                  <a:schemeClr val="tx1"/>
                </a:solidFill>
                <a:latin typeface="Montserrat SemiBold" panose="00000700000000000000" pitchFamily="2" charset="-94"/>
              </a:rPr>
              <a:t>55</a:t>
            </a:r>
            <a:br>
              <a:rPr lang="tr-TR" sz="1000" dirty="0">
                <a:solidFill>
                  <a:schemeClr val="tx1"/>
                </a:solidFill>
                <a:latin typeface="KG HAPPY" panose="02000000000000000000" pitchFamily="2" charset="0"/>
              </a:rPr>
            </a:br>
            <a:endParaRPr lang="tr-TR" sz="1000" dirty="0">
              <a:solidFill>
                <a:schemeClr val="tx1"/>
              </a:solidFill>
              <a:latin typeface="KG HAPPY" panose="02000000000000000000" pitchFamily="2" charset="0"/>
            </a:endParaRP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4"/>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7909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7" name="Dikdörtgen 46">
            <a:extLst>
              <a:ext uri="{FF2B5EF4-FFF2-40B4-BE49-F238E27FC236}">
                <a16:creationId xmlns:a16="http://schemas.microsoft.com/office/drawing/2014/main" id="{0A297E1F-FE2B-42F3-B2F8-391247E33991}"/>
              </a:ext>
            </a:extLst>
          </p:cNvPr>
          <p:cNvSpPr/>
          <p:nvPr/>
        </p:nvSpPr>
        <p:spPr>
          <a:xfrm>
            <a:off x="1545162"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8719"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109704" y="4719462"/>
            <a:ext cx="40289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8734" y="4702379"/>
            <a:ext cx="402887"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B82E1891-E19B-4792-8D6A-9E3A416C2186}"/>
                  </a:ext>
                </a:extLst>
              </p:cNvPr>
              <p:cNvSpPr txBox="1"/>
              <p:nvPr/>
            </p:nvSpPr>
            <p:spPr>
              <a:xfrm>
                <a:off x="100053" y="466976"/>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3" name="Metin kutusu 52">
                <a:extLst>
                  <a:ext uri="{FF2B5EF4-FFF2-40B4-BE49-F238E27FC236}">
                    <a16:creationId xmlns:a16="http://schemas.microsoft.com/office/drawing/2014/main" id="{B82E1891-E19B-4792-8D6A-9E3A416C2186}"/>
                  </a:ext>
                </a:extLst>
              </p:cNvPr>
              <p:cNvSpPr txBox="1">
                <a:spLocks noRot="1" noChangeAspect="1" noMove="1" noResize="1" noEditPoints="1" noAdjustHandles="1" noChangeArrowheads="1" noChangeShapeType="1" noTextEdit="1"/>
              </p:cNvSpPr>
              <p:nvPr/>
            </p:nvSpPr>
            <p:spPr>
              <a:xfrm>
                <a:off x="100053" y="466976"/>
                <a:ext cx="3242609" cy="276422"/>
              </a:xfrm>
              <a:prstGeom prst="rect">
                <a:avLst/>
              </a:prstGeom>
              <a:blipFill>
                <a:blip r:embed="rId5"/>
                <a:stretch>
                  <a:fillRect b="-4444"/>
                </a:stretch>
              </a:blipFill>
            </p:spPr>
            <p:txBody>
              <a:bodyPr/>
              <a:lstStyle/>
              <a:p>
                <a:r>
                  <a:rPr lang="tr-TR">
                    <a:noFill/>
                  </a:rPr>
                  <a:t> </a:t>
                </a:r>
              </a:p>
            </p:txBody>
          </p:sp>
        </mc:Fallback>
      </mc:AlternateContent>
      <p:sp>
        <p:nvSpPr>
          <p:cNvPr id="54" name="Metin kutusu 53">
            <a:extLst>
              <a:ext uri="{FF2B5EF4-FFF2-40B4-BE49-F238E27FC236}">
                <a16:creationId xmlns:a16="http://schemas.microsoft.com/office/drawing/2014/main" id="{6F571631-C11B-45EE-8A46-C84A1F97ADD2}"/>
              </a:ext>
            </a:extLst>
          </p:cNvPr>
          <p:cNvSpPr txBox="1"/>
          <p:nvPr/>
        </p:nvSpPr>
        <p:spPr>
          <a:xfrm>
            <a:off x="130290" y="1182425"/>
            <a:ext cx="3242609"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5" name="Dikdörtgen 54">
            <a:extLst>
              <a:ext uri="{FF2B5EF4-FFF2-40B4-BE49-F238E27FC236}">
                <a16:creationId xmlns:a16="http://schemas.microsoft.com/office/drawing/2014/main" id="{60057654-B723-41D9-BB6B-053ABEC224DE}"/>
              </a:ext>
            </a:extLst>
          </p:cNvPr>
          <p:cNvSpPr/>
          <p:nvPr/>
        </p:nvSpPr>
        <p:spPr>
          <a:xfrm>
            <a:off x="207340" y="5446562"/>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6" name="Metin kutusu 55">
                <a:extLst>
                  <a:ext uri="{FF2B5EF4-FFF2-40B4-BE49-F238E27FC236}">
                    <a16:creationId xmlns:a16="http://schemas.microsoft.com/office/drawing/2014/main" id="{FE808314-3229-48D7-98E6-513795AE49C4}"/>
                  </a:ext>
                </a:extLst>
              </p:cNvPr>
              <p:cNvSpPr txBox="1"/>
              <p:nvPr/>
            </p:nvSpPr>
            <p:spPr>
              <a:xfrm>
                <a:off x="119714" y="4737190"/>
                <a:ext cx="3286993"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6" name="Metin kutusu 55">
                <a:extLst>
                  <a:ext uri="{FF2B5EF4-FFF2-40B4-BE49-F238E27FC236}">
                    <a16:creationId xmlns:a16="http://schemas.microsoft.com/office/drawing/2014/main" id="{FE808314-3229-48D7-98E6-513795AE49C4}"/>
                  </a:ext>
                </a:extLst>
              </p:cNvPr>
              <p:cNvSpPr txBox="1">
                <a:spLocks noRot="1" noChangeAspect="1" noMove="1" noResize="1" noEditPoints="1" noAdjustHandles="1" noChangeArrowheads="1" noChangeShapeType="1" noTextEdit="1"/>
              </p:cNvSpPr>
              <p:nvPr/>
            </p:nvSpPr>
            <p:spPr>
              <a:xfrm>
                <a:off x="119714" y="4737190"/>
                <a:ext cx="3286993" cy="276422"/>
              </a:xfrm>
              <a:prstGeom prst="rect">
                <a:avLst/>
              </a:prstGeom>
              <a:blipFill>
                <a:blip r:embed="rId6"/>
                <a:stretch>
                  <a:fillRect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BC1E34C2-F2E4-4462-A599-B05FDF8A9639}"/>
                  </a:ext>
                </a:extLst>
              </p:cNvPr>
              <p:cNvSpPr txBox="1"/>
              <p:nvPr/>
            </p:nvSpPr>
            <p:spPr>
              <a:xfrm>
                <a:off x="3606343" y="4723673"/>
                <a:ext cx="3283605"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7" name="Metin kutusu 56">
                <a:extLst>
                  <a:ext uri="{FF2B5EF4-FFF2-40B4-BE49-F238E27FC236}">
                    <a16:creationId xmlns:a16="http://schemas.microsoft.com/office/drawing/2014/main" id="{BC1E34C2-F2E4-4462-A599-B05FDF8A9639}"/>
                  </a:ext>
                </a:extLst>
              </p:cNvPr>
              <p:cNvSpPr txBox="1">
                <a:spLocks noRot="1" noChangeAspect="1" noMove="1" noResize="1" noEditPoints="1" noAdjustHandles="1" noChangeArrowheads="1" noChangeShapeType="1" noTextEdit="1"/>
              </p:cNvSpPr>
              <p:nvPr/>
            </p:nvSpPr>
            <p:spPr>
              <a:xfrm>
                <a:off x="3606343" y="4723673"/>
                <a:ext cx="3283605" cy="276422"/>
              </a:xfrm>
              <a:prstGeom prst="rect">
                <a:avLst/>
              </a:prstGeom>
              <a:blipFill>
                <a:blip r:embed="rId7"/>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563902" y="473913"/>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563902" y="473913"/>
                <a:ext cx="3242609" cy="276422"/>
              </a:xfrm>
              <a:prstGeom prst="rect">
                <a:avLst/>
              </a:prstGeom>
              <a:blipFill>
                <a:blip r:embed="rId5"/>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483443" y="5309409"/>
                <a:ext cx="3362533" cy="653512"/>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1−3</m:t>
                        </m:r>
                        <m:r>
                          <m:rPr>
                            <m:nor/>
                          </m:rPr>
                          <a:rPr lang="tr-TR" sz="800" i="0" noProof="1">
                            <a:latin typeface="Helvetica" panose="020B0604020202020204" pitchFamily="34" charset="0"/>
                            <a:cs typeface="Helvetica" panose="020B0604020202020204" pitchFamily="34" charset="0"/>
                          </a:rPr>
                          <m:t>A</m:t>
                        </m:r>
                        <m:r>
                          <m:rPr>
                            <m:nor/>
                          </m:rPr>
                          <a:rPr lang="tr-TR" sz="800" i="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m:rPr>
                            <m:nor/>
                          </m:rPr>
                          <a:rPr lang="tr-TR" sz="800" b="0" i="0" noProof="1" smtClean="0">
                            <a:solidFill>
                              <a:schemeClr val="tx1"/>
                            </a:solidFill>
                            <a:latin typeface="Helvetica" panose="020B0604020202020204" pitchFamily="34"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endParaRPr lang="tr-TR" sz="800" noProof="1"/>
              </a:p>
              <a:p>
                <a:br>
                  <a:rPr lang="tr-TR" sz="10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m:rPr>
                            <m:nor/>
                          </m:rPr>
                          <a:rPr lang="tr-TR" sz="800" b="0" i="0" noProof="1" smtClean="0">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483443" y="5309409"/>
                <a:ext cx="3362533" cy="653512"/>
              </a:xfrm>
              <a:prstGeom prst="rect">
                <a:avLst/>
              </a:prstGeom>
              <a:blipFill>
                <a:blip r:embed="rId8"/>
                <a:stretch>
                  <a:fillRect b="-93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380CFD8B-A448-4F49-ACCE-E2A9557B7206}"/>
              </a:ext>
            </a:extLst>
          </p:cNvPr>
          <p:cNvSpPr txBox="1"/>
          <p:nvPr/>
        </p:nvSpPr>
        <p:spPr>
          <a:xfrm>
            <a:off x="3529147" y="1182425"/>
            <a:ext cx="3284216"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37" name="Metin kutusu 36">
            <a:extLst>
              <a:ext uri="{FF2B5EF4-FFF2-40B4-BE49-F238E27FC236}">
                <a16:creationId xmlns:a16="http://schemas.microsoft.com/office/drawing/2014/main" id="{C70CBE78-8EEA-497B-A407-4AAC5C499173}"/>
              </a:ext>
            </a:extLst>
          </p:cNvPr>
          <p:cNvSpPr txBox="1"/>
          <p:nvPr/>
        </p:nvSpPr>
        <p:spPr>
          <a:xfrm>
            <a:off x="-5217" y="8839682"/>
            <a:ext cx="1981357" cy="230832"/>
          </a:xfrm>
          <a:prstGeom prst="rect">
            <a:avLst/>
          </a:prstGeom>
          <a:noFill/>
        </p:spPr>
        <p:txBody>
          <a:bodyPr wrap="square" rtlCol="0">
            <a:spAutoFit/>
          </a:bodyPr>
          <a:lstStyle/>
          <a:p>
            <a:r>
              <a:rPr lang="tr-TR" sz="900" dirty="0">
                <a:latin typeface="Arial" panose="020B0604020202020204" pitchFamily="34" charset="0"/>
                <a:cs typeface="Arial" panose="020B0604020202020204" pitchFamily="34" charset="0"/>
              </a:rPr>
              <a:t>1.x    2.x    3.x    4.x    5.x    6.x </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9030" y="210318"/>
            <a:ext cx="1646282"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Tree>
    <p:extLst>
      <p:ext uri="{BB962C8B-B14F-4D97-AF65-F5344CB8AC3E}">
        <p14:creationId xmlns:p14="http://schemas.microsoft.com/office/powerpoint/2010/main" val="162678814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40" y="51755"/>
            <a:ext cx="1706878"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Problemler Kampı</a:t>
            </a:r>
          </a:p>
        </p:txBody>
      </p:sp>
      <p:cxnSp>
        <p:nvCxnSpPr>
          <p:cNvPr id="18" name="Düz Bağlayıcı 17"/>
          <p:cNvCxnSpPr>
            <a:cxnSpLocks/>
          </p:cNvCxnSpPr>
          <p:nvPr/>
        </p:nvCxnSpPr>
        <p:spPr>
          <a:xfrm>
            <a:off x="3412489" y="347890"/>
            <a:ext cx="0" cy="3083529"/>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6" y="4788024"/>
            <a:ext cx="5999" cy="3960440"/>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5" y="3973639"/>
            <a:ext cx="1356607" cy="276999"/>
          </a:xfrm>
          <a:prstGeom prst="rect">
            <a:avLst/>
          </a:prstGeom>
          <a:noFill/>
        </p:spPr>
        <p:txBody>
          <a:bodyPr wrap="square" rtlCol="0">
            <a:spAutoFit/>
          </a:bodyPr>
          <a:lstStyle/>
          <a:p>
            <a:pPr algn="ctr"/>
            <a:r>
              <a:rPr lang="tr-TR" sz="12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3" name="Metin kutusu 32"/>
          <p:cNvSpPr txBox="1"/>
          <p:nvPr/>
        </p:nvSpPr>
        <p:spPr>
          <a:xfrm>
            <a:off x="4331265" y="41357"/>
            <a:ext cx="2232248" cy="246221"/>
          </a:xfrm>
          <a:prstGeom prst="rect">
            <a:avLst/>
          </a:prstGeom>
          <a:noFill/>
        </p:spPr>
        <p:txBody>
          <a:bodyPr wrap="square" rtlCol="0">
            <a:spAutoFit/>
          </a:bodyPr>
          <a:lstStyle/>
          <a:p>
            <a:pPr algn="r"/>
            <a:r>
              <a:rPr lang="tr-TR" sz="1000" b="1" noProof="1"/>
              <a:t>Problemler</a:t>
            </a:r>
          </a:p>
        </p:txBody>
      </p:sp>
      <p:pic>
        <p:nvPicPr>
          <p:cNvPr id="50" name="Resim 49">
            <a:extLst>
              <a:ext uri="{FF2B5EF4-FFF2-40B4-BE49-F238E27FC236}">
                <a16:creationId xmlns:a16="http://schemas.microsoft.com/office/drawing/2014/main" id="{E0A15FA6-2401-4587-9DF9-FF309E594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9869" y="51754"/>
            <a:ext cx="1706878" cy="207963"/>
          </a:xfrm>
          <a:prstGeom prst="rect">
            <a:avLst/>
          </a:prstGeom>
        </p:spPr>
      </p:pic>
      <p:sp>
        <p:nvSpPr>
          <p:cNvPr id="3" name="Dikdörtgen 2">
            <a:extLst>
              <a:ext uri="{FF2B5EF4-FFF2-40B4-BE49-F238E27FC236}">
                <a16:creationId xmlns:a16="http://schemas.microsoft.com/office/drawing/2014/main" id="{ED77D9C6-FF25-403C-B0FE-29B9C21BE502}"/>
              </a:ext>
            </a:extLst>
          </p:cNvPr>
          <p:cNvSpPr/>
          <p:nvPr/>
        </p:nvSpPr>
        <p:spPr>
          <a:xfrm>
            <a:off x="59017" y="436063"/>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C6E7A506-023C-4AF7-B0E4-2C2779D8C737}"/>
              </a:ext>
            </a:extLst>
          </p:cNvPr>
          <p:cNvSpPr/>
          <p:nvPr/>
        </p:nvSpPr>
        <p:spPr>
          <a:xfrm>
            <a:off x="3568177" y="431770"/>
            <a:ext cx="3255556" cy="829681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a:extLst>
              <a:ext uri="{FF2B5EF4-FFF2-40B4-BE49-F238E27FC236}">
                <a16:creationId xmlns:a16="http://schemas.microsoft.com/office/drawing/2014/main" id="{CFD37A66-6653-4C85-9730-8E210E36E6DF}"/>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3</a:t>
            </a:r>
          </a:p>
        </p:txBody>
      </p:sp>
      <p:sp>
        <p:nvSpPr>
          <p:cNvPr id="32" name="Akış Çizelgesi: Depolanmış Veri 31">
            <a:extLst>
              <a:ext uri="{FF2B5EF4-FFF2-40B4-BE49-F238E27FC236}">
                <a16:creationId xmlns:a16="http://schemas.microsoft.com/office/drawing/2014/main" id="{27B61B0F-E26B-4A2A-B5D7-F43EF367036B}"/>
              </a:ext>
            </a:extLst>
          </p:cNvPr>
          <p:cNvSpPr/>
          <p:nvPr/>
        </p:nvSpPr>
        <p:spPr>
          <a:xfrm rot="10800000">
            <a:off x="216833" y="495641"/>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34" name="Metin kutusu 33">
            <a:extLst>
              <a:ext uri="{FF2B5EF4-FFF2-40B4-BE49-F238E27FC236}">
                <a16:creationId xmlns:a16="http://schemas.microsoft.com/office/drawing/2014/main" id="{ED72A29B-0671-4246-9E91-9F8EF54F359F}"/>
              </a:ext>
            </a:extLst>
          </p:cNvPr>
          <p:cNvSpPr txBox="1"/>
          <p:nvPr/>
        </p:nvSpPr>
        <p:spPr>
          <a:xfrm>
            <a:off x="169543" y="495641"/>
            <a:ext cx="760415" cy="297130"/>
          </a:xfrm>
          <a:prstGeom prst="rect">
            <a:avLst/>
          </a:prstGeom>
          <a:noFill/>
        </p:spPr>
        <p:txBody>
          <a:bodyPr wrap="square" lIns="80897" tIns="40448" rIns="80897" bIns="40448" rtlCol="0">
            <a:spAutoFit/>
          </a:bodyPr>
          <a:lstStyle/>
          <a:p>
            <a:pPr algn="ctr"/>
            <a:r>
              <a:rPr lang="tr-TR" sz="1400" b="1" dirty="0"/>
              <a:t>Soru</a:t>
            </a:r>
          </a:p>
        </p:txBody>
      </p:sp>
      <p:sp>
        <p:nvSpPr>
          <p:cNvPr id="36" name="Oval 35">
            <a:extLst>
              <a:ext uri="{FF2B5EF4-FFF2-40B4-BE49-F238E27FC236}">
                <a16:creationId xmlns:a16="http://schemas.microsoft.com/office/drawing/2014/main" id="{6C2BB916-972C-416F-942F-FA4BE574144D}"/>
              </a:ext>
            </a:extLst>
          </p:cNvPr>
          <p:cNvSpPr/>
          <p:nvPr/>
        </p:nvSpPr>
        <p:spPr>
          <a:xfrm>
            <a:off x="67239" y="495641"/>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37" name="Metin kutusu 36">
            <a:extLst>
              <a:ext uri="{FF2B5EF4-FFF2-40B4-BE49-F238E27FC236}">
                <a16:creationId xmlns:a16="http://schemas.microsoft.com/office/drawing/2014/main" id="{0FF86CF4-DE3F-4CF4-BBA6-274EDEDF6CB0}"/>
              </a:ext>
            </a:extLst>
          </p:cNvPr>
          <p:cNvSpPr txBox="1"/>
          <p:nvPr/>
        </p:nvSpPr>
        <p:spPr>
          <a:xfrm>
            <a:off x="44624" y="824332"/>
            <a:ext cx="3212178" cy="1323439"/>
          </a:xfrm>
          <a:prstGeom prst="rect">
            <a:avLst/>
          </a:prstGeom>
          <a:noFill/>
        </p:spPr>
        <p:txBody>
          <a:bodyPr wrap="square" rtlCol="0">
            <a:spAutoFit/>
          </a:bodyPr>
          <a:lstStyle/>
          <a:p>
            <a:r>
              <a:rPr lang="tr-TR" sz="1000" b="1" noProof="1">
                <a:cs typeface="Arial" panose="020B0604020202020204" pitchFamily="34" charset="0"/>
              </a:rPr>
              <a:t>Bir </a:t>
            </a:r>
          </a:p>
          <a:p>
            <a:endParaRPr lang="tr-TR" sz="1000" b="1"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a:p>
            <a:endParaRPr lang="tr-TR" sz="1000" noProof="1">
              <a:cs typeface="Arial" panose="020B0604020202020204" pitchFamily="34" charset="0"/>
            </a:endParaRPr>
          </a:p>
        </p:txBody>
      </p:sp>
    </p:spTree>
    <p:extLst>
      <p:ext uri="{BB962C8B-B14F-4D97-AF65-F5344CB8AC3E}">
        <p14:creationId xmlns:p14="http://schemas.microsoft.com/office/powerpoint/2010/main" val="403902571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78607" y="69019"/>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33983" y="49545"/>
            <a:ext cx="1882850" cy="400110"/>
          </a:xfrm>
          <a:prstGeom prst="rect">
            <a:avLst/>
          </a:prstGeom>
          <a:noFill/>
        </p:spPr>
        <p:txBody>
          <a:bodyPr wrap="square" rtlCol="0">
            <a:spAutoFit/>
          </a:bodyPr>
          <a:lstStyle/>
          <a:p>
            <a:r>
              <a:rPr lang="tr-TR" sz="1000" b="1" dirty="0">
                <a:latin typeface="+mj-lt"/>
                <a:cs typeface="Arial" panose="020B0604020202020204" pitchFamily="34" charset="0"/>
              </a:rPr>
              <a:t>Yüzde Boş Kap Problemleri</a:t>
            </a:r>
          </a:p>
          <a:p>
            <a:r>
              <a:rPr lang="tr-TR" sz="1000" b="1" dirty="0">
                <a:latin typeface="+mj-lt"/>
                <a:cs typeface="Arial" panose="020B0604020202020204" pitchFamily="34" charset="0"/>
              </a:rPr>
              <a:t> ve  Yüzde Hesabı</a:t>
            </a:r>
          </a:p>
        </p:txBody>
      </p:sp>
      <p:cxnSp>
        <p:nvCxnSpPr>
          <p:cNvPr id="18" name="Düz Bağlayıcı 17"/>
          <p:cNvCxnSpPr>
            <a:cxnSpLocks/>
          </p:cNvCxnSpPr>
          <p:nvPr/>
        </p:nvCxnSpPr>
        <p:spPr>
          <a:xfrm>
            <a:off x="3412488"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34184" y="38708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50867" y="8957093"/>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1288" y="8969715"/>
            <a:ext cx="149560" cy="149560"/>
          </a:xfrm>
          <a:prstGeom prst="rect">
            <a:avLst/>
          </a:prstGeom>
          <a:noFill/>
          <a:extLst>
            <a:ext uri="{909E8E84-426E-40DD-AFC4-6F175D3DCCD1}">
              <a14:hiddenFill xmlns:a14="http://schemas.microsoft.com/office/drawing/2010/main">
                <a:solidFill>
                  <a:srgbClr val="FFFFFF"/>
                </a:solidFill>
              </a14:hiddenFill>
            </a:ext>
          </a:extLst>
        </p:spPr>
      </p:pic>
      <p:sp>
        <p:nvSpPr>
          <p:cNvPr id="1029" name="Akış Çizelgesi: Bağlayıcı 1028"/>
          <p:cNvSpPr/>
          <p:nvPr/>
        </p:nvSpPr>
        <p:spPr>
          <a:xfrm>
            <a:off x="3274696" y="8821052"/>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sp>
        <p:nvSpPr>
          <p:cNvPr id="3" name="Dikdörtgen 2">
            <a:extLst>
              <a:ext uri="{FF2B5EF4-FFF2-40B4-BE49-F238E27FC236}">
                <a16:creationId xmlns:a16="http://schemas.microsoft.com/office/drawing/2014/main" id="{598ADD82-F04D-4FF9-969D-38B844A74733}"/>
              </a:ext>
            </a:extLst>
          </p:cNvPr>
          <p:cNvSpPr/>
          <p:nvPr/>
        </p:nvSpPr>
        <p:spPr>
          <a:xfrm>
            <a:off x="5877272" y="33014"/>
            <a:ext cx="432048" cy="410089"/>
          </a:xfrm>
          <a:prstGeom prst="rect">
            <a:avLst/>
          </a:prstGeom>
          <a:noFill/>
          <a:ln w="952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758985" y="31531"/>
            <a:ext cx="1033499" cy="413054"/>
          </a:xfrm>
          <a:prstGeom prst="horizontalScroll">
            <a:avLst/>
          </a:prstGeom>
          <a:solidFill>
            <a:schemeClr val="accent4">
              <a:alpha val="50000"/>
            </a:schemeClr>
          </a:solidFill>
          <a:ln w="317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dirty="0">
                <a:solidFill>
                  <a:schemeClr val="tx1"/>
                </a:solidFill>
              </a:rPr>
              <a:t>Tanışma Faslı</a:t>
            </a:r>
          </a:p>
          <a:p>
            <a:pPr algn="ctr"/>
            <a:r>
              <a:rPr lang="tr-TR" sz="1000" dirty="0">
                <a:solidFill>
                  <a:schemeClr val="tx1"/>
                </a:solidFill>
              </a:rPr>
              <a:t>TEST 4</a:t>
            </a:r>
          </a:p>
        </p:txBody>
      </p:sp>
      <p:pic>
        <p:nvPicPr>
          <p:cNvPr id="4" name="Resim 3">
            <a:extLst>
              <a:ext uri="{FF2B5EF4-FFF2-40B4-BE49-F238E27FC236}">
                <a16:creationId xmlns:a16="http://schemas.microsoft.com/office/drawing/2014/main" id="{F1AFDBE4-5764-431D-A653-970EAB501B73}"/>
              </a:ext>
            </a:extLst>
          </p:cNvPr>
          <p:cNvPicPr>
            <a:picLocks noChangeAspect="1"/>
          </p:cNvPicPr>
          <p:nvPr/>
        </p:nvPicPr>
        <p:blipFill>
          <a:blip r:embed="rId5"/>
          <a:stretch>
            <a:fillRect/>
          </a:stretch>
        </p:blipFill>
        <p:spPr>
          <a:xfrm>
            <a:off x="5880950" y="39845"/>
            <a:ext cx="424692" cy="399716"/>
          </a:xfrm>
          <a:prstGeom prst="rect">
            <a:avLst/>
          </a:prstGeom>
        </p:spPr>
      </p:pic>
      <p:sp>
        <p:nvSpPr>
          <p:cNvPr id="23" name="Metin kutusu 22">
            <a:extLst>
              <a:ext uri="{FF2B5EF4-FFF2-40B4-BE49-F238E27FC236}">
                <a16:creationId xmlns:a16="http://schemas.microsoft.com/office/drawing/2014/main" id="{640EF9E6-028E-40AC-B596-23D9728472F5}"/>
              </a:ext>
            </a:extLst>
          </p:cNvPr>
          <p:cNvSpPr txBox="1"/>
          <p:nvPr/>
        </p:nvSpPr>
        <p:spPr>
          <a:xfrm>
            <a:off x="3140968" y="8833983"/>
            <a:ext cx="576064" cy="230832"/>
          </a:xfrm>
          <a:prstGeom prst="rect">
            <a:avLst/>
          </a:prstGeom>
          <a:noFill/>
        </p:spPr>
        <p:txBody>
          <a:bodyPr wrap="square" rtlCol="0">
            <a:spAutoFit/>
          </a:bodyPr>
          <a:lstStyle/>
          <a:p>
            <a:pPr algn="ctr"/>
            <a:r>
              <a:rPr lang="tr-TR" sz="900" b="1" dirty="0">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5" y="8819480"/>
            <a:ext cx="17909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3" y="8822531"/>
            <a:ext cx="298673" cy="246490"/>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636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8904"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6" name="Dikdörtgen 45">
            <a:extLst>
              <a:ext uri="{FF2B5EF4-FFF2-40B4-BE49-F238E27FC236}">
                <a16:creationId xmlns:a16="http://schemas.microsoft.com/office/drawing/2014/main" id="{61AD4008-D6E6-4E4B-A4A5-C284B6684957}"/>
              </a:ext>
            </a:extLst>
          </p:cNvPr>
          <p:cNvSpPr/>
          <p:nvPr/>
        </p:nvSpPr>
        <p:spPr>
          <a:xfrm>
            <a:off x="1247577"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7" name="Dikdörtgen 46">
            <a:extLst>
              <a:ext uri="{FF2B5EF4-FFF2-40B4-BE49-F238E27FC236}">
                <a16:creationId xmlns:a16="http://schemas.microsoft.com/office/drawing/2014/main" id="{0A297E1F-FE2B-42F3-B2F8-391247E33991}"/>
              </a:ext>
            </a:extLst>
          </p:cNvPr>
          <p:cNvSpPr/>
          <p:nvPr/>
        </p:nvSpPr>
        <p:spPr>
          <a:xfrm>
            <a:off x="1545162"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8" name="Metin kutusu 47">
            <a:extLst>
              <a:ext uri="{FF2B5EF4-FFF2-40B4-BE49-F238E27FC236}">
                <a16:creationId xmlns:a16="http://schemas.microsoft.com/office/drawing/2014/main" id="{52495E54-F351-46DA-AB92-6A2BE6CCEA76}"/>
              </a:ext>
            </a:extLst>
          </p:cNvPr>
          <p:cNvSpPr txBox="1"/>
          <p:nvPr/>
        </p:nvSpPr>
        <p:spPr>
          <a:xfrm>
            <a:off x="9054" y="8826077"/>
            <a:ext cx="1894999" cy="230832"/>
          </a:xfrm>
          <a:prstGeom prst="rect">
            <a:avLst/>
          </a:prstGeom>
          <a:noFill/>
        </p:spPr>
        <p:txBody>
          <a:bodyPr wrap="square" rtlCol="0">
            <a:spAutoFit/>
          </a:bodyPr>
          <a:lstStyle/>
          <a:p>
            <a:r>
              <a:rPr lang="tr-TR" sz="900" dirty="0">
                <a:latin typeface="Arial Narrow" panose="020B0606020202030204" pitchFamily="34" charset="0"/>
                <a:cs typeface="Arial" panose="020B0604020202020204" pitchFamily="34" charset="0"/>
              </a:rPr>
              <a:t>1.x       2.x      3.x      4.x       5.x      6.x </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7893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7538" y="46693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83084" y="454732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66648" y="4547320"/>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mc:AlternateContent xmlns:mc="http://schemas.openxmlformats.org/markup-compatibility/2006" xmlns:a14="http://schemas.microsoft.com/office/drawing/2010/main">
        <mc:Choice Requires="a14">
          <p:sp>
            <p:nvSpPr>
              <p:cNvPr id="53" name="Metin kutusu 52">
                <a:extLst>
                  <a:ext uri="{FF2B5EF4-FFF2-40B4-BE49-F238E27FC236}">
                    <a16:creationId xmlns:a16="http://schemas.microsoft.com/office/drawing/2014/main" id="{B82E1891-E19B-4792-8D6A-9E3A416C2186}"/>
                  </a:ext>
                </a:extLst>
              </p:cNvPr>
              <p:cNvSpPr txBox="1"/>
              <p:nvPr/>
            </p:nvSpPr>
            <p:spPr>
              <a:xfrm>
                <a:off x="153042" y="486635"/>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3" name="Metin kutusu 52">
                <a:extLst>
                  <a:ext uri="{FF2B5EF4-FFF2-40B4-BE49-F238E27FC236}">
                    <a16:creationId xmlns:a16="http://schemas.microsoft.com/office/drawing/2014/main" id="{B82E1891-E19B-4792-8D6A-9E3A416C2186}"/>
                  </a:ext>
                </a:extLst>
              </p:cNvPr>
              <p:cNvSpPr txBox="1">
                <a:spLocks noRot="1" noChangeAspect="1" noMove="1" noResize="1" noEditPoints="1" noAdjustHandles="1" noChangeArrowheads="1" noChangeShapeType="1" noTextEdit="1"/>
              </p:cNvSpPr>
              <p:nvPr/>
            </p:nvSpPr>
            <p:spPr>
              <a:xfrm>
                <a:off x="153042" y="486635"/>
                <a:ext cx="3242609" cy="276422"/>
              </a:xfrm>
              <a:prstGeom prst="rect">
                <a:avLst/>
              </a:prstGeom>
              <a:blipFill>
                <a:blip r:embed="rId6"/>
                <a:stretch>
                  <a:fillRect b="-4444"/>
                </a:stretch>
              </a:blipFill>
            </p:spPr>
            <p:txBody>
              <a:bodyPr/>
              <a:lstStyle/>
              <a:p>
                <a:r>
                  <a:rPr lang="tr-TR">
                    <a:noFill/>
                  </a:rPr>
                  <a:t> </a:t>
                </a:r>
              </a:p>
            </p:txBody>
          </p:sp>
        </mc:Fallback>
      </mc:AlternateContent>
      <p:sp>
        <p:nvSpPr>
          <p:cNvPr id="54" name="Metin kutusu 53">
            <a:extLst>
              <a:ext uri="{FF2B5EF4-FFF2-40B4-BE49-F238E27FC236}">
                <a16:creationId xmlns:a16="http://schemas.microsoft.com/office/drawing/2014/main" id="{6F571631-C11B-45EE-8A46-C84A1F97ADD2}"/>
              </a:ext>
            </a:extLst>
          </p:cNvPr>
          <p:cNvSpPr txBox="1"/>
          <p:nvPr/>
        </p:nvSpPr>
        <p:spPr>
          <a:xfrm>
            <a:off x="130290" y="1182425"/>
            <a:ext cx="3242609"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
        <p:nvSpPr>
          <p:cNvPr id="55" name="Dikdörtgen 54">
            <a:extLst>
              <a:ext uri="{FF2B5EF4-FFF2-40B4-BE49-F238E27FC236}">
                <a16:creationId xmlns:a16="http://schemas.microsoft.com/office/drawing/2014/main" id="{60057654-B723-41D9-BB6B-053ABEC224DE}"/>
              </a:ext>
            </a:extLst>
          </p:cNvPr>
          <p:cNvSpPr/>
          <p:nvPr/>
        </p:nvSpPr>
        <p:spPr>
          <a:xfrm>
            <a:off x="207340" y="5446562"/>
            <a:ext cx="3221660" cy="553998"/>
          </a:xfrm>
          <a:prstGeom prst="rect">
            <a:avLst/>
          </a:prstGeom>
        </p:spPr>
        <p:txBody>
          <a:bodyPr wrap="square">
            <a:spAutoFit/>
          </a:bodyPr>
          <a:lstStyle/>
          <a:p>
            <a:r>
              <a:rPr lang="tr-TR" sz="1000" noProof="1">
                <a:ea typeface="Arimo" panose="020B0604020202020204" pitchFamily="34" charset="0"/>
                <a:cs typeface="Arimo" panose="020B0604020202020204" pitchFamily="34" charset="0"/>
              </a:rPr>
              <a:t>A) I ve II                           B) Yalnız III                          C) Yalnız I</a:t>
            </a:r>
          </a:p>
          <a:p>
            <a:endParaRPr lang="tr-TR" sz="1000" noProof="1">
              <a:ea typeface="Arimo" panose="020B0604020202020204" pitchFamily="34" charset="0"/>
              <a:cs typeface="Arimo" panose="020B0604020202020204" pitchFamily="34" charset="0"/>
            </a:endParaRPr>
          </a:p>
          <a:p>
            <a:r>
              <a:rPr lang="tr-TR" sz="1000" noProof="1">
                <a:ea typeface="Arimo" panose="020B0604020202020204" pitchFamily="34" charset="0"/>
                <a:cs typeface="Arimo" panose="020B0604020202020204" pitchFamily="34" charset="0"/>
              </a:rPr>
              <a:t>                     D)  II ve III                          E) I ve III</a:t>
            </a:r>
          </a:p>
        </p:txBody>
      </p:sp>
      <mc:AlternateContent xmlns:mc="http://schemas.openxmlformats.org/markup-compatibility/2006" xmlns:a14="http://schemas.microsoft.com/office/drawing/2010/main">
        <mc:Choice Requires="a14">
          <p:sp>
            <p:nvSpPr>
              <p:cNvPr id="56" name="Metin kutusu 55">
                <a:extLst>
                  <a:ext uri="{FF2B5EF4-FFF2-40B4-BE49-F238E27FC236}">
                    <a16:creationId xmlns:a16="http://schemas.microsoft.com/office/drawing/2014/main" id="{FE808314-3229-48D7-98E6-513795AE49C4}"/>
                  </a:ext>
                </a:extLst>
              </p:cNvPr>
              <p:cNvSpPr txBox="1"/>
              <p:nvPr/>
            </p:nvSpPr>
            <p:spPr>
              <a:xfrm>
                <a:off x="179978" y="4578338"/>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6" name="Metin kutusu 55">
                <a:extLst>
                  <a:ext uri="{FF2B5EF4-FFF2-40B4-BE49-F238E27FC236}">
                    <a16:creationId xmlns:a16="http://schemas.microsoft.com/office/drawing/2014/main" id="{FE808314-3229-48D7-98E6-513795AE49C4}"/>
                  </a:ext>
                </a:extLst>
              </p:cNvPr>
              <p:cNvSpPr txBox="1">
                <a:spLocks noRot="1" noChangeAspect="1" noMove="1" noResize="1" noEditPoints="1" noAdjustHandles="1" noChangeArrowheads="1" noChangeShapeType="1" noTextEdit="1"/>
              </p:cNvSpPr>
              <p:nvPr/>
            </p:nvSpPr>
            <p:spPr>
              <a:xfrm>
                <a:off x="179978" y="4578338"/>
                <a:ext cx="3242609" cy="276422"/>
              </a:xfrm>
              <a:prstGeom prst="rect">
                <a:avLst/>
              </a:prstGeom>
              <a:blipFill>
                <a:blip r:embed="rId7"/>
                <a:stretch>
                  <a:fillRect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a:extLst>
                  <a:ext uri="{FF2B5EF4-FFF2-40B4-BE49-F238E27FC236}">
                    <a16:creationId xmlns:a16="http://schemas.microsoft.com/office/drawing/2014/main" id="{BC1E34C2-F2E4-4462-A599-B05FDF8A9639}"/>
                  </a:ext>
                </a:extLst>
              </p:cNvPr>
              <p:cNvSpPr txBox="1"/>
              <p:nvPr/>
            </p:nvSpPr>
            <p:spPr>
              <a:xfrm>
                <a:off x="3603368" y="4587795"/>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7" name="Metin kutusu 56">
                <a:extLst>
                  <a:ext uri="{FF2B5EF4-FFF2-40B4-BE49-F238E27FC236}">
                    <a16:creationId xmlns:a16="http://schemas.microsoft.com/office/drawing/2014/main" id="{BC1E34C2-F2E4-4462-A599-B05FDF8A9639}"/>
                  </a:ext>
                </a:extLst>
              </p:cNvPr>
              <p:cNvSpPr txBox="1">
                <a:spLocks noRot="1" noChangeAspect="1" noMove="1" noResize="1" noEditPoints="1" noAdjustHandles="1" noChangeArrowheads="1" noChangeShapeType="1" noTextEdit="1"/>
              </p:cNvSpPr>
              <p:nvPr/>
            </p:nvSpPr>
            <p:spPr>
              <a:xfrm>
                <a:off x="3603368" y="4587795"/>
                <a:ext cx="3242609"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a:extLst>
                  <a:ext uri="{FF2B5EF4-FFF2-40B4-BE49-F238E27FC236}">
                    <a16:creationId xmlns:a16="http://schemas.microsoft.com/office/drawing/2014/main" id="{46E0D5C7-D2D0-4E7E-8674-66466154E98B}"/>
                  </a:ext>
                </a:extLst>
              </p:cNvPr>
              <p:cNvSpPr txBox="1"/>
              <p:nvPr/>
            </p:nvSpPr>
            <p:spPr>
              <a:xfrm>
                <a:off x="3570754" y="486635"/>
                <a:ext cx="3242609" cy="276422"/>
              </a:xfrm>
              <a:prstGeom prst="rect">
                <a:avLst/>
              </a:prstGeom>
              <a:noFill/>
            </p:spPr>
            <p:txBody>
              <a:bodyPr wrap="square" rtlCol="0">
                <a:spAutoFit/>
              </a:bodyPr>
              <a:lstStyle/>
              <a:p>
                <a:r>
                  <a:rPr lang="tr-TR" sz="1000" noProof="1">
                    <a:cs typeface="Arial" panose="020B0604020202020204" pitchFamily="34" charset="0"/>
                  </a:rPr>
                  <a:t>Bir, </a:t>
                </a:r>
                <a14:m>
                  <m:oMath xmlns:m="http://schemas.openxmlformats.org/officeDocument/2006/math">
                    <m:f>
                      <m:fPr>
                        <m:ctrlPr>
                          <a:rPr lang="tr-TR" sz="800" b="1" i="1" noProof="1" smtClean="0">
                            <a:latin typeface="Cambria Math" panose="02040503050406030204" pitchFamily="18" charset="0"/>
                          </a:rPr>
                        </m:ctrlPr>
                      </m:fPr>
                      <m:num>
                        <m:r>
                          <m:rPr>
                            <m:nor/>
                          </m:rPr>
                          <a:rPr lang="tr-TR" sz="800" noProof="1">
                            <a:latin typeface="Helvetica" panose="020B0604020202020204" pitchFamily="34" charset="0"/>
                            <a:cs typeface="Helvetica" panose="020B0604020202020204" pitchFamily="34" charset="0"/>
                          </a:rPr>
                          <m:t>x</m:t>
                        </m:r>
                      </m:num>
                      <m:den>
                        <m:r>
                          <m:rPr>
                            <m:nor/>
                          </m:rPr>
                          <a:rPr lang="tr-TR" sz="800" noProof="1">
                            <a:latin typeface="Helvetica" panose="020B0604020202020204" pitchFamily="34" charset="0"/>
                            <a:cs typeface="Helvetica" panose="020B0604020202020204" pitchFamily="34" charset="0"/>
                          </a:rPr>
                          <m:t>16</m:t>
                        </m:r>
                      </m:den>
                    </m:f>
                  </m:oMath>
                </a14:m>
                <a:r>
                  <a:rPr lang="tr-TR" sz="1000" noProof="1">
                    <a:cs typeface="Arial" panose="020B0604020202020204" pitchFamily="34" charset="0"/>
                  </a:rPr>
                  <a:t> ss   </a:t>
                </a:r>
              </a:p>
            </p:txBody>
          </p:sp>
        </mc:Choice>
        <mc:Fallback xmlns="">
          <p:sp>
            <p:nvSpPr>
              <p:cNvPr id="58" name="Metin kutusu 57">
                <a:extLst>
                  <a:ext uri="{FF2B5EF4-FFF2-40B4-BE49-F238E27FC236}">
                    <a16:creationId xmlns:a16="http://schemas.microsoft.com/office/drawing/2014/main" id="{46E0D5C7-D2D0-4E7E-8674-66466154E98B}"/>
                  </a:ext>
                </a:extLst>
              </p:cNvPr>
              <p:cNvSpPr txBox="1">
                <a:spLocks noRot="1" noChangeAspect="1" noMove="1" noResize="1" noEditPoints="1" noAdjustHandles="1" noChangeArrowheads="1" noChangeShapeType="1" noTextEdit="1"/>
              </p:cNvSpPr>
              <p:nvPr/>
            </p:nvSpPr>
            <p:spPr>
              <a:xfrm>
                <a:off x="3570754" y="486635"/>
                <a:ext cx="3242609" cy="276422"/>
              </a:xfrm>
              <a:prstGeom prst="rect">
                <a:avLst/>
              </a:prstGeom>
              <a:blipFill>
                <a:blip r:embed="rId6"/>
                <a:stretch>
                  <a:fillRect b="-444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9" name="Metin kutusu 58">
                <a:extLst>
                  <a:ext uri="{FF2B5EF4-FFF2-40B4-BE49-F238E27FC236}">
                    <a16:creationId xmlns:a16="http://schemas.microsoft.com/office/drawing/2014/main" id="{F5971F98-8E66-4D6E-9F86-851EA4976D1B}"/>
                  </a:ext>
                </a:extLst>
              </p:cNvPr>
              <p:cNvSpPr txBox="1"/>
              <p:nvPr/>
            </p:nvSpPr>
            <p:spPr>
              <a:xfrm>
                <a:off x="3483443" y="5309409"/>
                <a:ext cx="3362533" cy="653512"/>
              </a:xfrm>
              <a:prstGeom prst="rect">
                <a:avLst/>
              </a:prstGeom>
              <a:noFill/>
            </p:spPr>
            <p:txBody>
              <a:bodyPr wrap="square" rtlCol="0">
                <a:spAutoFit/>
              </a:bodyPr>
              <a:lstStyle/>
              <a:p>
                <a:r>
                  <a:rPr lang="tr-TR" sz="1000" noProof="1"/>
                  <a:t>A)  </a:t>
                </a:r>
                <a14:m>
                  <m:oMath xmlns:m="http://schemas.openxmlformats.org/officeDocument/2006/math">
                    <m:f>
                      <m:fPr>
                        <m:ctrlPr>
                          <a:rPr lang="tr-TR" sz="800" i="1" noProof="1">
                            <a:latin typeface="Cambria Math" panose="02040503050406030204" pitchFamily="18" charset="0"/>
                          </a:rPr>
                        </m:ctrlPr>
                      </m:fPr>
                      <m:num>
                        <m:r>
                          <a:rPr lang="tr-TR" sz="800" noProof="1">
                            <a:latin typeface="Cambria Math" panose="02040503050406030204" pitchFamily="18" charset="0"/>
                          </a:rPr>
                          <m:t> </m:t>
                        </m:r>
                        <m:r>
                          <m:rPr>
                            <m:nor/>
                          </m:rPr>
                          <a:rPr lang="tr-TR" sz="800" b="0" i="0" noProof="1" smtClean="0">
                            <a:latin typeface="Helvetica" panose="020B0604020202020204" pitchFamily="34" charset="0"/>
                            <a:cs typeface="Helvetica" panose="020B0604020202020204" pitchFamily="34" charset="0"/>
                          </a:rPr>
                          <m:t>1−3</m:t>
                        </m:r>
                        <m:r>
                          <m:rPr>
                            <m:nor/>
                          </m:rPr>
                          <a:rPr lang="tr-TR" sz="800" i="0" noProof="1">
                            <a:latin typeface="Helvetica" panose="020B0604020202020204" pitchFamily="34" charset="0"/>
                            <a:cs typeface="Helvetica" panose="020B0604020202020204" pitchFamily="34" charset="0"/>
                          </a:rPr>
                          <m:t>A</m:t>
                        </m:r>
                        <m:r>
                          <m:rPr>
                            <m:nor/>
                          </m:rPr>
                          <a:rPr lang="tr-TR" sz="800" i="0" noProof="1">
                            <a:latin typeface="Cambria Math" panose="02040503050406030204" pitchFamily="18" charset="0"/>
                          </a:rPr>
                          <m:t> </m:t>
                        </m:r>
                      </m:num>
                      <m:den>
                        <m:r>
                          <m:rPr>
                            <m:nor/>
                          </m:rPr>
                          <a:rPr lang="tr-TR" sz="800" i="0" noProof="1">
                            <a:latin typeface="Helvetica" panose="020B0604020202020204" pitchFamily="34" charset="0"/>
                            <a:cs typeface="Helvetica" panose="020B0604020202020204" pitchFamily="34" charset="0"/>
                          </a:rPr>
                          <m:t>2</m:t>
                        </m:r>
                      </m:den>
                    </m:f>
                  </m:oMath>
                </a14:m>
                <a:r>
                  <a:rPr lang="tr-TR" sz="1000" noProof="1"/>
                  <a:t>                                 B)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m:rPr>
                            <m:nor/>
                          </m:rPr>
                          <a:rPr lang="tr-TR" sz="800" b="0" i="0" noProof="1" smtClean="0">
                            <a:solidFill>
                              <a:schemeClr val="tx1"/>
                            </a:solidFill>
                            <a:latin typeface="Helvetica" panose="020B0604020202020204" pitchFamily="34"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r>
                  <a:rPr lang="tr-TR" sz="1000" noProof="1">
                    <a:solidFill>
                      <a:schemeClr val="tx1"/>
                    </a:solidFill>
                  </a:rPr>
                  <a:t>                                       </a:t>
                </a:r>
                <a:r>
                  <a:rPr lang="tr-TR" sz="1000" noProof="1"/>
                  <a:t>C)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a:rPr lang="tr-TR" sz="800" b="0" i="0" noProof="1" smtClean="0">
                            <a:latin typeface="Cambria Math" panose="02040503050406030204" pitchFamily="18"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3</m:t>
                        </m:r>
                      </m:den>
                    </m:f>
                  </m:oMath>
                </a14:m>
                <a:endParaRPr lang="tr-TR" sz="800" noProof="1"/>
              </a:p>
              <a:p>
                <a:br>
                  <a:rPr lang="tr-TR" sz="1000" noProof="1"/>
                </a:br>
                <a:r>
                  <a:rPr lang="tr-TR" sz="1000" noProof="1"/>
                  <a:t>                         D) </a:t>
                </a:r>
                <a14:m>
                  <m:oMath xmlns:m="http://schemas.openxmlformats.org/officeDocument/2006/math">
                    <m:f>
                      <m:fPr>
                        <m:ctrlPr>
                          <a:rPr lang="tr-TR" sz="800" i="1" noProof="1">
                            <a:latin typeface="Cambria Math" panose="02040503050406030204" pitchFamily="18" charset="0"/>
                          </a:rPr>
                        </m:ctrlPr>
                      </m:fPr>
                      <m:num>
                        <m:r>
                          <a:rPr lang="tr-TR" sz="800" b="0" i="0" noProof="1" smtClean="0">
                            <a:latin typeface="Cambria Math" panose="02040503050406030204" pitchFamily="18" charset="0"/>
                          </a:rPr>
                          <m:t> </m:t>
                        </m:r>
                        <m:r>
                          <a:rPr lang="tr-TR" sz="800" noProof="1">
                            <a:latin typeface="Cambria Math" panose="02040503050406030204" pitchFamily="18" charset="0"/>
                          </a:rPr>
                          <m:t> </m:t>
                        </m:r>
                        <m:r>
                          <m:rPr>
                            <m:nor/>
                          </m:rPr>
                          <a:rPr lang="tr-TR" sz="800" b="0" i="0" noProof="1" smtClean="0">
                            <a:latin typeface="Cambria Math" panose="02040503050406030204" pitchFamily="18" charset="0"/>
                          </a:rPr>
                          <m:t> </m:t>
                        </m:r>
                        <m:r>
                          <m:rPr>
                            <m:nor/>
                          </m:rPr>
                          <a:rPr lang="tr-TR" sz="800" i="0" noProof="1">
                            <a:latin typeface="Helvetica" panose="020B0604020202020204" pitchFamily="34" charset="0"/>
                            <a:cs typeface="Helvetica" panose="020B0604020202020204" pitchFamily="34" charset="0"/>
                          </a:rPr>
                          <m:t>A</m:t>
                        </m:r>
                        <m:r>
                          <m:rPr>
                            <m:nor/>
                          </m:rPr>
                          <a:rPr lang="tr-TR" sz="800" b="0" i="0" noProof="1" smtClean="0">
                            <a:latin typeface="Helvetica" panose="020B0604020202020204" pitchFamily="34" charset="0"/>
                            <a:cs typeface="Helvetica" panose="020B0604020202020204" pitchFamily="34" charset="0"/>
                          </a:rPr>
                          <m:t> </m:t>
                        </m:r>
                        <m:r>
                          <a:rPr lang="tr-TR" sz="800" noProof="1">
                            <a:latin typeface="Cambria Math" panose="02040503050406030204" pitchFamily="18" charset="0"/>
                          </a:rPr>
                          <m:t> </m:t>
                        </m:r>
                      </m:num>
                      <m:den>
                        <m:r>
                          <m:rPr>
                            <m:nor/>
                          </m:rPr>
                          <a:rPr lang="tr-TR" sz="800" b="0" i="0" noProof="1" smtClean="0">
                            <a:latin typeface="Helvetica" panose="020B0604020202020204" pitchFamily="34" charset="0"/>
                            <a:cs typeface="Helvetica" panose="020B0604020202020204" pitchFamily="34" charset="0"/>
                          </a:rPr>
                          <m:t>4</m:t>
                        </m:r>
                      </m:den>
                    </m:f>
                  </m:oMath>
                </a14:m>
                <a:r>
                  <a:rPr lang="tr-TR" sz="1000" noProof="1"/>
                  <a:t>                                  E) </a:t>
                </a:r>
                <a14:m>
                  <m:oMath xmlns:m="http://schemas.openxmlformats.org/officeDocument/2006/math">
                    <m:f>
                      <m:fPr>
                        <m:ctrlPr>
                          <a:rPr lang="tr-TR" sz="800" i="1" noProof="1" smtClean="0">
                            <a:solidFill>
                              <a:schemeClr val="tx1"/>
                            </a:solidFill>
                            <a:latin typeface="Cambria Math" panose="02040503050406030204" pitchFamily="18" charset="0"/>
                          </a:rPr>
                        </m:ctrlPr>
                      </m:fPr>
                      <m:num>
                        <m:r>
                          <a:rPr lang="tr-TR" sz="800" b="0" i="0" noProof="1" smtClean="0">
                            <a:solidFill>
                              <a:schemeClr val="tx1"/>
                            </a:solidFill>
                            <a:latin typeface="Cambria Math" panose="02040503050406030204" pitchFamily="18" charset="0"/>
                          </a:rPr>
                          <m:t> </m:t>
                        </m:r>
                        <m:r>
                          <m:rPr>
                            <m:nor/>
                          </m:rPr>
                          <a:rPr lang="tr-TR" sz="800" b="0" i="0" noProof="1" smtClean="0">
                            <a:solidFill>
                              <a:schemeClr val="tx1"/>
                            </a:solidFill>
                            <a:latin typeface="Cambria Math" panose="02040503050406030204" pitchFamily="18" charset="0"/>
                          </a:rPr>
                          <m:t> </m:t>
                        </m:r>
                        <m:r>
                          <m:rPr>
                            <m:nor/>
                          </m:rPr>
                          <a:rPr lang="tr-TR" sz="800" i="0" noProof="1" smtClean="0">
                            <a:solidFill>
                              <a:schemeClr val="tx1"/>
                            </a:solidFill>
                            <a:latin typeface="Helvetica" panose="020B0604020202020204" pitchFamily="34" charset="0"/>
                            <a:cs typeface="Helvetica" panose="020B0604020202020204" pitchFamily="34" charset="0"/>
                          </a:rPr>
                          <m:t>A</m:t>
                        </m:r>
                        <m:r>
                          <a:rPr lang="tr-TR" sz="800" b="0" i="0" noProof="1" smtClean="0">
                            <a:solidFill>
                              <a:schemeClr val="tx1"/>
                            </a:solidFill>
                            <a:latin typeface="Cambria Math" panose="02040503050406030204" pitchFamily="18" charset="0"/>
                            <a:cs typeface="Helvetica" panose="020B0604020202020204" pitchFamily="34" charset="0"/>
                          </a:rPr>
                          <m:t> </m:t>
                        </m:r>
                        <m:r>
                          <a:rPr lang="tr-TR" sz="800" b="0" i="0" noProof="1" smtClean="0">
                            <a:solidFill>
                              <a:schemeClr val="tx1"/>
                            </a:solidFill>
                            <a:latin typeface="Cambria Math" panose="02040503050406030204" pitchFamily="18" charset="0"/>
                          </a:rPr>
                          <m:t> </m:t>
                        </m:r>
                      </m:num>
                      <m:den>
                        <m:r>
                          <m:rPr>
                            <m:nor/>
                          </m:rPr>
                          <a:rPr lang="tr-TR" sz="800" b="0" i="0" noProof="1" smtClean="0">
                            <a:solidFill>
                              <a:schemeClr val="tx1"/>
                            </a:solidFill>
                            <a:latin typeface="Helvetica" panose="020B0604020202020204" pitchFamily="34" charset="0"/>
                            <a:cs typeface="Helvetica" panose="020B0604020202020204" pitchFamily="34" charset="0"/>
                          </a:rPr>
                          <m:t>1</m:t>
                        </m:r>
                        <m:r>
                          <m:rPr>
                            <m:nor/>
                          </m:rPr>
                          <a:rPr lang="tr-TR" sz="800" i="0" noProof="1" smtClean="0">
                            <a:solidFill>
                              <a:schemeClr val="tx1"/>
                            </a:solidFill>
                            <a:latin typeface="Helvetica" panose="020B0604020202020204" pitchFamily="34" charset="0"/>
                            <a:cs typeface="Helvetica" panose="020B0604020202020204" pitchFamily="34" charset="0"/>
                          </a:rPr>
                          <m:t>2</m:t>
                        </m:r>
                      </m:den>
                    </m:f>
                  </m:oMath>
                </a14:m>
                <a:endParaRPr lang="tr-TR" sz="800" noProof="1"/>
              </a:p>
            </p:txBody>
          </p:sp>
        </mc:Choice>
        <mc:Fallback xmlns="">
          <p:sp>
            <p:nvSpPr>
              <p:cNvPr id="59" name="Metin kutusu 58">
                <a:extLst>
                  <a:ext uri="{FF2B5EF4-FFF2-40B4-BE49-F238E27FC236}">
                    <a16:creationId xmlns:a16="http://schemas.microsoft.com/office/drawing/2014/main" id="{F5971F98-8E66-4D6E-9F86-851EA4976D1B}"/>
                  </a:ext>
                </a:extLst>
              </p:cNvPr>
              <p:cNvSpPr txBox="1">
                <a:spLocks noRot="1" noChangeAspect="1" noMove="1" noResize="1" noEditPoints="1" noAdjustHandles="1" noChangeArrowheads="1" noChangeShapeType="1" noTextEdit="1"/>
              </p:cNvSpPr>
              <p:nvPr/>
            </p:nvSpPr>
            <p:spPr>
              <a:xfrm>
                <a:off x="3483443" y="5309409"/>
                <a:ext cx="3362533" cy="653512"/>
              </a:xfrm>
              <a:prstGeom prst="rect">
                <a:avLst/>
              </a:prstGeom>
              <a:blipFill>
                <a:blip r:embed="rId8"/>
                <a:stretch>
                  <a:fillRect b="-935"/>
                </a:stretch>
              </a:blipFill>
            </p:spPr>
            <p:txBody>
              <a:bodyPr/>
              <a:lstStyle/>
              <a:p>
                <a:r>
                  <a:rPr lang="tr-TR">
                    <a:noFill/>
                  </a:rPr>
                  <a:t> </a:t>
                </a:r>
              </a:p>
            </p:txBody>
          </p:sp>
        </mc:Fallback>
      </mc:AlternateContent>
      <p:sp>
        <p:nvSpPr>
          <p:cNvPr id="60" name="Metin kutusu 59">
            <a:extLst>
              <a:ext uri="{FF2B5EF4-FFF2-40B4-BE49-F238E27FC236}">
                <a16:creationId xmlns:a16="http://schemas.microsoft.com/office/drawing/2014/main" id="{380CFD8B-A448-4F49-ACCE-E2A9557B7206}"/>
              </a:ext>
            </a:extLst>
          </p:cNvPr>
          <p:cNvSpPr txBox="1"/>
          <p:nvPr/>
        </p:nvSpPr>
        <p:spPr>
          <a:xfrm>
            <a:off x="3529147" y="1182425"/>
            <a:ext cx="3284216" cy="553998"/>
          </a:xfrm>
          <a:prstGeom prst="rect">
            <a:avLst/>
          </a:prstGeom>
          <a:noFill/>
        </p:spPr>
        <p:txBody>
          <a:bodyPr wrap="square" rtlCol="0">
            <a:spAutoFit/>
          </a:bodyPr>
          <a:lstStyle/>
          <a:p>
            <a:r>
              <a:rPr lang="tr-TR" sz="1000" dirty="0"/>
              <a:t>A) 7                                          B) 8                                        C) 9</a:t>
            </a:r>
          </a:p>
          <a:p>
            <a:pPr marL="228600" indent="-228600">
              <a:buAutoNum type="alphaUcParenR"/>
            </a:pPr>
            <a:endParaRPr lang="tr-TR" sz="1000" dirty="0"/>
          </a:p>
          <a:p>
            <a:r>
              <a:rPr lang="tr-TR" sz="1000" dirty="0"/>
              <a:t>                      D) 10                                        E) 11</a:t>
            </a:r>
          </a:p>
        </p:txBody>
      </p:sp>
    </p:spTree>
    <p:extLst>
      <p:ext uri="{BB962C8B-B14F-4D97-AF65-F5344CB8AC3E}">
        <p14:creationId xmlns:p14="http://schemas.microsoft.com/office/powerpoint/2010/main" val="300865646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216" y="40680"/>
            <a:ext cx="2232248" cy="207963"/>
          </a:xfrm>
          <a:prstGeom prst="rect">
            <a:avLst/>
          </a:prstGeom>
        </p:spPr>
      </p:pic>
      <p:pic>
        <p:nvPicPr>
          <p:cNvPr id="12" name="Resim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8464" y="40680"/>
            <a:ext cx="2146880"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Mutlak Değerin Türevi</a:t>
            </a:r>
          </a:p>
        </p:txBody>
      </p:sp>
      <p:cxnSp>
        <p:nvCxnSpPr>
          <p:cNvPr id="18" name="Düz Bağlayıcı 17"/>
          <p:cNvCxnSpPr/>
          <p:nvPr/>
        </p:nvCxnSpPr>
        <p:spPr>
          <a:xfrm>
            <a:off x="3412489" y="467544"/>
            <a:ext cx="0" cy="2963875"/>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p:nvPr/>
        </p:nvCxnSpPr>
        <p:spPr>
          <a:xfrm>
            <a:off x="3428585" y="4788024"/>
            <a:ext cx="0" cy="3880717"/>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672276" y="3944286"/>
            <a:ext cx="1500621" cy="307777"/>
          </a:xfrm>
          <a:prstGeom prst="rect">
            <a:avLst/>
          </a:prstGeom>
          <a:noFill/>
        </p:spPr>
        <p:txBody>
          <a:bodyPr wrap="square" rtlCol="0">
            <a:spAutoFit/>
          </a:bodyPr>
          <a:lstStyle/>
          <a:p>
            <a:pPr algn="ctr"/>
            <a:r>
              <a:rPr lang="tr-TR" sz="1400" dirty="0">
                <a:solidFill>
                  <a:srgbClr val="00B050"/>
                </a:solidFill>
                <a:latin typeface="Arimo" panose="020B0604020202020204" pitchFamily="34" charset="0"/>
                <a:ea typeface="Arimo" panose="020B0604020202020204" pitchFamily="34" charset="0"/>
                <a:cs typeface="Arimo" panose="020B0604020202020204" pitchFamily="34" charset="0"/>
              </a:rPr>
              <a:t>Ahmet Çelen</a:t>
            </a:r>
          </a:p>
        </p:txBody>
      </p:sp>
      <p:sp>
        <p:nvSpPr>
          <p:cNvPr id="26" name="Metin kutusu 25"/>
          <p:cNvSpPr txBox="1"/>
          <p:nvPr/>
        </p:nvSpPr>
        <p:spPr>
          <a:xfrm>
            <a:off x="2996952" y="87484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9137" y="8781406"/>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6641976" y="8963908"/>
            <a:ext cx="216024" cy="180092"/>
          </a:xfrm>
          <a:prstGeom prst="flowChartConnector">
            <a:avLst/>
          </a:prstGeom>
          <a:ln w="6350"/>
        </p:spPr>
        <p:style>
          <a:lnRef idx="2">
            <a:schemeClr val="accent6"/>
          </a:lnRef>
          <a:fillRef idx="1">
            <a:schemeClr val="lt1"/>
          </a:fillRef>
          <a:effectRef idx="0">
            <a:schemeClr val="accent6"/>
          </a:effectRef>
          <a:fontRef idx="minor">
            <a:schemeClr val="dk1"/>
          </a:fontRef>
        </p:style>
        <p:txBody>
          <a:bodyPr rtlCol="0" anchor="ctr"/>
          <a:lstStyle/>
          <a:p>
            <a:pPr algn="ctr"/>
            <a:r>
              <a:rPr lang="tr-TR" sz="1000" dirty="0"/>
              <a:t>1</a:t>
            </a:r>
          </a:p>
        </p:txBody>
      </p:sp>
      <p:sp>
        <p:nvSpPr>
          <p:cNvPr id="44" name="Akış Çizelgesi: Depolanmış Veri 43"/>
          <p:cNvSpPr/>
          <p:nvPr/>
        </p:nvSpPr>
        <p:spPr>
          <a:xfrm rot="10800000">
            <a:off x="188640" y="444525"/>
            <a:ext cx="2592288" cy="592957"/>
          </a:xfrm>
          <a:prstGeom prst="flowChartOnlineStorage">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5" name="Metin kutusu 44"/>
          <p:cNvSpPr txBox="1"/>
          <p:nvPr/>
        </p:nvSpPr>
        <p:spPr>
          <a:xfrm>
            <a:off x="620688" y="444524"/>
            <a:ext cx="2088232" cy="543351"/>
          </a:xfrm>
          <a:prstGeom prst="rect">
            <a:avLst/>
          </a:prstGeom>
          <a:noFill/>
        </p:spPr>
        <p:txBody>
          <a:bodyPr wrap="square" lIns="80897" tIns="40448" rIns="80897" bIns="40448" rtlCol="0">
            <a:spAutoFit/>
          </a:bodyPr>
          <a:lstStyle/>
          <a:p>
            <a:pPr algn="ctr"/>
            <a:r>
              <a:rPr lang="tr-TR" sz="1500" b="1" dirty="0"/>
              <a:t>Sağdan ve Soldan </a:t>
            </a:r>
          </a:p>
          <a:p>
            <a:pPr algn="ctr"/>
            <a:r>
              <a:rPr lang="tr-TR" sz="1500" b="1" dirty="0"/>
              <a:t>Türev İncelenmesi</a:t>
            </a:r>
          </a:p>
        </p:txBody>
      </p:sp>
      <p:sp>
        <p:nvSpPr>
          <p:cNvPr id="46" name="Oval 45"/>
          <p:cNvSpPr/>
          <p:nvPr/>
        </p:nvSpPr>
        <p:spPr>
          <a:xfrm>
            <a:off x="102607" y="495377"/>
            <a:ext cx="364897" cy="461189"/>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dirty="0"/>
              <a:t>1</a:t>
            </a:r>
          </a:p>
        </p:txBody>
      </p:sp>
      <p:pic>
        <p:nvPicPr>
          <p:cNvPr id="21" name="Picture 5" descr="C:\Users\Pc\AppData\Local\Microsoft\Windows\Temporary Internet Files\Content.IE5\Y5CZX9ZW\man-67335_960_720[1].jpg">
            <a:extLst>
              <a:ext uri="{FF2B5EF4-FFF2-40B4-BE49-F238E27FC236}">
                <a16:creationId xmlns:a16="http://schemas.microsoft.com/office/drawing/2014/main" id="{DE95F71D-8D91-4764-B2A0-0E6B241D4DE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042" y="5364088"/>
            <a:ext cx="656522" cy="670246"/>
          </a:xfrm>
          <a:prstGeom prst="rect">
            <a:avLst/>
          </a:prstGeom>
          <a:noFill/>
          <a:extLst>
            <a:ext uri="{909E8E84-426E-40DD-AFC4-6F175D3DCCD1}">
              <a14:hiddenFill xmlns:a14="http://schemas.microsoft.com/office/drawing/2010/main">
                <a:solidFill>
                  <a:srgbClr val="FFFFFF"/>
                </a:solidFill>
              </a14:hiddenFill>
            </a:ext>
          </a:extLst>
        </p:spPr>
      </p:pic>
      <p:sp>
        <p:nvSpPr>
          <p:cNvPr id="22" name="Akış Çizelgesi: Depolanmış Veri 21">
            <a:extLst>
              <a:ext uri="{FF2B5EF4-FFF2-40B4-BE49-F238E27FC236}">
                <a16:creationId xmlns:a16="http://schemas.microsoft.com/office/drawing/2014/main" id="{4401A440-3FC0-4A03-97A1-06E625948484}"/>
              </a:ext>
            </a:extLst>
          </p:cNvPr>
          <p:cNvSpPr/>
          <p:nvPr/>
        </p:nvSpPr>
        <p:spPr>
          <a:xfrm rot="10800000">
            <a:off x="188640" y="1204313"/>
            <a:ext cx="2592288" cy="592957"/>
          </a:xfrm>
          <a:prstGeom prst="flowChartOnlineStorage">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23" name="Metin kutusu 22">
            <a:extLst>
              <a:ext uri="{FF2B5EF4-FFF2-40B4-BE49-F238E27FC236}">
                <a16:creationId xmlns:a16="http://schemas.microsoft.com/office/drawing/2014/main" id="{D5F446B6-9C3B-4288-B075-7EEBEEE72104}"/>
              </a:ext>
            </a:extLst>
          </p:cNvPr>
          <p:cNvSpPr txBox="1"/>
          <p:nvPr/>
        </p:nvSpPr>
        <p:spPr>
          <a:xfrm>
            <a:off x="620688" y="1204312"/>
            <a:ext cx="2088232" cy="543351"/>
          </a:xfrm>
          <a:prstGeom prst="rect">
            <a:avLst/>
          </a:prstGeom>
          <a:noFill/>
        </p:spPr>
        <p:txBody>
          <a:bodyPr wrap="square" lIns="80897" tIns="40448" rIns="80897" bIns="40448" rtlCol="0">
            <a:spAutoFit/>
          </a:bodyPr>
          <a:lstStyle/>
          <a:p>
            <a:pPr algn="ctr"/>
            <a:r>
              <a:rPr lang="tr-TR" sz="1500" b="1" dirty="0"/>
              <a:t>Mutlak Değerde</a:t>
            </a:r>
          </a:p>
          <a:p>
            <a:pPr algn="ctr"/>
            <a:r>
              <a:rPr lang="tr-TR" sz="1500" b="1" dirty="0"/>
              <a:t>Türev İncelenmesi</a:t>
            </a:r>
          </a:p>
        </p:txBody>
      </p:sp>
      <p:pic>
        <p:nvPicPr>
          <p:cNvPr id="24" name="Picture 4" descr="C:\Users\Pc\AppData\Local\Microsoft\Windows\Temporary Internet Files\Content.IE5\GRK5B6ZB\Alert-PNG-HD[1].png">
            <a:extLst>
              <a:ext uri="{FF2B5EF4-FFF2-40B4-BE49-F238E27FC236}">
                <a16:creationId xmlns:a16="http://schemas.microsoft.com/office/drawing/2014/main" id="{A8393C34-14B9-4CD2-8717-4777C5786A04}"/>
              </a:ext>
            </a:extLst>
          </p:cNvPr>
          <p:cNvPicPr>
            <a:picLocks noChangeAspect="1" noChangeArrowheads="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98" y="1258432"/>
            <a:ext cx="483099" cy="483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65646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216" y="40680"/>
            <a:ext cx="2232248" cy="207963"/>
          </a:xfrm>
          <a:prstGeom prst="rect">
            <a:avLst/>
          </a:prstGeom>
        </p:spPr>
      </p:pic>
      <p:pic>
        <p:nvPicPr>
          <p:cNvPr id="12" name="Resim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8464" y="40680"/>
            <a:ext cx="2146880"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Mutlak Değerin Türevi</a:t>
            </a:r>
          </a:p>
        </p:txBody>
      </p:sp>
      <p:cxnSp>
        <p:nvCxnSpPr>
          <p:cNvPr id="18" name="Düz Bağlayıcı 17"/>
          <p:cNvCxnSpPr/>
          <p:nvPr/>
        </p:nvCxnSpPr>
        <p:spPr>
          <a:xfrm>
            <a:off x="3412489" y="467544"/>
            <a:ext cx="0" cy="2963875"/>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p:nvPr/>
        </p:nvCxnSpPr>
        <p:spPr>
          <a:xfrm>
            <a:off x="3428585" y="4788024"/>
            <a:ext cx="0" cy="3880717"/>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672276" y="3944286"/>
            <a:ext cx="1500621" cy="307777"/>
          </a:xfrm>
          <a:prstGeom prst="rect">
            <a:avLst/>
          </a:prstGeom>
          <a:noFill/>
        </p:spPr>
        <p:txBody>
          <a:bodyPr wrap="square" rtlCol="0">
            <a:spAutoFit/>
          </a:bodyPr>
          <a:lstStyle/>
          <a:p>
            <a:pPr algn="ctr"/>
            <a:r>
              <a:rPr lang="tr-TR" sz="1400" dirty="0">
                <a:solidFill>
                  <a:srgbClr val="00B050"/>
                </a:solidFill>
                <a:latin typeface="Arimo" panose="020B0604020202020204" pitchFamily="34" charset="0"/>
                <a:ea typeface="Arimo" panose="020B0604020202020204" pitchFamily="34" charset="0"/>
                <a:cs typeface="Arimo" panose="020B0604020202020204" pitchFamily="34" charset="0"/>
              </a:rPr>
              <a:t>Ahmet Çelen</a:t>
            </a:r>
          </a:p>
        </p:txBody>
      </p:sp>
      <p:sp>
        <p:nvSpPr>
          <p:cNvPr id="26" name="Metin kutusu 25"/>
          <p:cNvSpPr txBox="1"/>
          <p:nvPr/>
        </p:nvSpPr>
        <p:spPr>
          <a:xfrm>
            <a:off x="2996952" y="87484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9137" y="8781406"/>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6641976" y="8963908"/>
            <a:ext cx="216024" cy="180092"/>
          </a:xfrm>
          <a:prstGeom prst="flowChartConnector">
            <a:avLst/>
          </a:prstGeom>
          <a:ln w="6350"/>
        </p:spPr>
        <p:style>
          <a:lnRef idx="2">
            <a:schemeClr val="accent6"/>
          </a:lnRef>
          <a:fillRef idx="1">
            <a:schemeClr val="lt1"/>
          </a:fillRef>
          <a:effectRef idx="0">
            <a:schemeClr val="accent6"/>
          </a:effectRef>
          <a:fontRef idx="minor">
            <a:schemeClr val="dk1"/>
          </a:fontRef>
        </p:style>
        <p:txBody>
          <a:bodyPr rtlCol="0" anchor="ctr"/>
          <a:lstStyle/>
          <a:p>
            <a:pPr algn="ctr"/>
            <a:r>
              <a:rPr lang="tr-TR" sz="1000" dirty="0"/>
              <a:t>1</a:t>
            </a:r>
          </a:p>
        </p:txBody>
      </p:sp>
      <p:sp>
        <p:nvSpPr>
          <p:cNvPr id="44" name="Akış Çizelgesi: Depolanmış Veri 43"/>
          <p:cNvSpPr/>
          <p:nvPr/>
        </p:nvSpPr>
        <p:spPr>
          <a:xfrm rot="10800000">
            <a:off x="188640" y="444525"/>
            <a:ext cx="2592288" cy="592957"/>
          </a:xfrm>
          <a:prstGeom prst="flowChartOnlineStorage">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5" name="Metin kutusu 44"/>
          <p:cNvSpPr txBox="1"/>
          <p:nvPr/>
        </p:nvSpPr>
        <p:spPr>
          <a:xfrm>
            <a:off x="620688" y="444524"/>
            <a:ext cx="2088232" cy="543351"/>
          </a:xfrm>
          <a:prstGeom prst="rect">
            <a:avLst/>
          </a:prstGeom>
          <a:noFill/>
        </p:spPr>
        <p:txBody>
          <a:bodyPr wrap="square" lIns="80897" tIns="40448" rIns="80897" bIns="40448" rtlCol="0">
            <a:spAutoFit/>
          </a:bodyPr>
          <a:lstStyle/>
          <a:p>
            <a:pPr algn="ctr"/>
            <a:r>
              <a:rPr lang="tr-TR" sz="1500" b="1" dirty="0"/>
              <a:t>Sağdan ve Soldan </a:t>
            </a:r>
          </a:p>
          <a:p>
            <a:pPr algn="ctr"/>
            <a:r>
              <a:rPr lang="tr-TR" sz="1500" b="1" dirty="0"/>
              <a:t>Türev İncelenmesi</a:t>
            </a:r>
          </a:p>
        </p:txBody>
      </p:sp>
      <p:sp>
        <p:nvSpPr>
          <p:cNvPr id="46" name="Oval 45"/>
          <p:cNvSpPr/>
          <p:nvPr/>
        </p:nvSpPr>
        <p:spPr>
          <a:xfrm>
            <a:off x="102607" y="495377"/>
            <a:ext cx="364897" cy="461189"/>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dirty="0"/>
              <a:t>1</a:t>
            </a:r>
          </a:p>
        </p:txBody>
      </p:sp>
    </p:spTree>
    <p:extLst>
      <p:ext uri="{BB962C8B-B14F-4D97-AF65-F5344CB8AC3E}">
        <p14:creationId xmlns:p14="http://schemas.microsoft.com/office/powerpoint/2010/main" val="30086564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947744" y="24725"/>
            <a:ext cx="1706878" cy="323165"/>
          </a:xfrm>
          <a:prstGeom prst="rect">
            <a:avLst/>
          </a:prstGeom>
        </p:spPr>
        <p:txBody>
          <a:bodyPr wrap="none">
            <a:spAutoFit/>
          </a:bodyPr>
          <a:lstStyle/>
          <a:p>
            <a:r>
              <a:rPr lang="tr-TR" sz="1500" b="1" dirty="0">
                <a:solidFill>
                  <a:schemeClr val="bg1"/>
                </a:solidFill>
                <a:latin typeface="Arial Narrow" panose="020B0606020202030204" pitchFamily="34" charset="0"/>
              </a:rPr>
              <a:t>Yeni Nesil Sorularım</a:t>
            </a:r>
          </a:p>
        </p:txBody>
      </p:sp>
      <p:pic>
        <p:nvPicPr>
          <p:cNvPr id="11" name="Resi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216" y="40680"/>
            <a:ext cx="2232248" cy="207963"/>
          </a:xfrm>
          <a:prstGeom prst="rect">
            <a:avLst/>
          </a:prstGeom>
        </p:spPr>
      </p:pic>
      <p:pic>
        <p:nvPicPr>
          <p:cNvPr id="12" name="Resim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8464" y="40680"/>
            <a:ext cx="2146880" cy="207963"/>
          </a:xfrm>
          <a:prstGeom prst="rect">
            <a:avLst/>
          </a:prstGeom>
        </p:spPr>
      </p:pic>
      <p:sp>
        <p:nvSpPr>
          <p:cNvPr id="14" name="Beşgen 13"/>
          <p:cNvSpPr/>
          <p:nvPr/>
        </p:nvSpPr>
        <p:spPr>
          <a:xfrm>
            <a:off x="44624" y="56456"/>
            <a:ext cx="2016224" cy="216024"/>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3514" y="40681"/>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44624" y="347890"/>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0" y="0"/>
            <a:ext cx="2060848" cy="323165"/>
          </a:xfrm>
          <a:prstGeom prst="rect">
            <a:avLst/>
          </a:prstGeom>
          <a:noFill/>
        </p:spPr>
        <p:txBody>
          <a:bodyPr wrap="square" rtlCol="0">
            <a:spAutoFit/>
          </a:bodyPr>
          <a:lstStyle/>
          <a:p>
            <a:pPr algn="ctr"/>
            <a:r>
              <a:rPr lang="tr-TR" sz="1500" b="1" dirty="0">
                <a:solidFill>
                  <a:srgbClr val="7030A0"/>
                </a:solidFill>
                <a:latin typeface="+mj-lt"/>
                <a:cs typeface="Arial" panose="020B0604020202020204" pitchFamily="34" charset="0"/>
              </a:rPr>
              <a:t>Mutlak Değerin Türevi</a:t>
            </a:r>
          </a:p>
        </p:txBody>
      </p:sp>
      <p:cxnSp>
        <p:nvCxnSpPr>
          <p:cNvPr id="18" name="Düz Bağlayıcı 17"/>
          <p:cNvCxnSpPr/>
          <p:nvPr/>
        </p:nvCxnSpPr>
        <p:spPr>
          <a:xfrm>
            <a:off x="3412489" y="467544"/>
            <a:ext cx="0" cy="2963875"/>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p:nvPr/>
        </p:nvCxnSpPr>
        <p:spPr>
          <a:xfrm>
            <a:off x="3428585" y="4788024"/>
            <a:ext cx="0" cy="3880717"/>
          </a:xfrm>
          <a:prstGeom prst="line">
            <a:avLst/>
          </a:prstGeom>
          <a:ln>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672276" y="3944286"/>
            <a:ext cx="1500621" cy="307777"/>
          </a:xfrm>
          <a:prstGeom prst="rect">
            <a:avLst/>
          </a:prstGeom>
          <a:noFill/>
        </p:spPr>
        <p:txBody>
          <a:bodyPr wrap="square" rtlCol="0">
            <a:spAutoFit/>
          </a:bodyPr>
          <a:lstStyle/>
          <a:p>
            <a:pPr algn="ctr"/>
            <a:r>
              <a:rPr lang="tr-TR" sz="1400" dirty="0">
                <a:solidFill>
                  <a:srgbClr val="00B050"/>
                </a:solidFill>
                <a:latin typeface="Arimo" panose="020B0604020202020204" pitchFamily="34" charset="0"/>
                <a:ea typeface="Arimo" panose="020B0604020202020204" pitchFamily="34" charset="0"/>
                <a:cs typeface="Arimo" panose="020B0604020202020204" pitchFamily="34" charset="0"/>
              </a:rPr>
              <a:t>Ahmet Çelen</a:t>
            </a:r>
          </a:p>
        </p:txBody>
      </p:sp>
      <p:sp>
        <p:nvSpPr>
          <p:cNvPr id="26" name="Metin kutusu 25"/>
          <p:cNvSpPr txBox="1"/>
          <p:nvPr/>
        </p:nvSpPr>
        <p:spPr>
          <a:xfrm>
            <a:off x="2996952" y="87484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/ahmetçelen</a:t>
            </a:r>
          </a:p>
        </p:txBody>
      </p:sp>
      <p:pic>
        <p:nvPicPr>
          <p:cNvPr id="27" name="Picture 4" descr="C:\Users\Pc\AppData\Local\Microsoft\Windows\Temporary Internet Files\Content.IE5\Y5CZX9ZW\1024px-YouTube_social_red_circle_(201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9137" y="8781406"/>
            <a:ext cx="149560" cy="1495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C:\Users\Pc\AppData\Local\Microsoft\Windows\Temporary Internet Files\Content.IE5\GRK5B6ZB\World-Wide-Web-PNG-Pic[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6896" y="8860919"/>
            <a:ext cx="278160" cy="233536"/>
          </a:xfrm>
          <a:prstGeom prst="rect">
            <a:avLst/>
          </a:prstGeom>
          <a:noFill/>
          <a:extLst>
            <a:ext uri="{909E8E84-426E-40DD-AFC4-6F175D3DCCD1}">
              <a14:hiddenFill xmlns:a14="http://schemas.microsoft.com/office/drawing/2010/main">
                <a:solidFill>
                  <a:srgbClr val="FFFFFF"/>
                </a:solidFill>
              </a14:hiddenFill>
            </a:ext>
          </a:extLst>
        </p:spPr>
      </p:pic>
      <p:sp>
        <p:nvSpPr>
          <p:cNvPr id="29" name="Metin kutusu 28"/>
          <p:cNvSpPr txBox="1"/>
          <p:nvPr/>
        </p:nvSpPr>
        <p:spPr>
          <a:xfrm>
            <a:off x="236645" y="8892480"/>
            <a:ext cx="1608179" cy="215444"/>
          </a:xfrm>
          <a:prstGeom prst="rect">
            <a:avLst/>
          </a:prstGeom>
          <a:noFill/>
        </p:spPr>
        <p:txBody>
          <a:bodyPr wrap="square" rtlCol="0">
            <a:spAutoFit/>
          </a:bodyPr>
          <a:lstStyle/>
          <a:p>
            <a:r>
              <a:rPr lang="tr-TR" sz="800" dirty="0"/>
              <a:t>www.ahmetcelen.com.tr</a:t>
            </a:r>
          </a:p>
        </p:txBody>
      </p:sp>
      <p:sp>
        <p:nvSpPr>
          <p:cNvPr id="1029" name="Akış Çizelgesi: Bağlayıcı 1028"/>
          <p:cNvSpPr/>
          <p:nvPr/>
        </p:nvSpPr>
        <p:spPr>
          <a:xfrm>
            <a:off x="6641976" y="8963908"/>
            <a:ext cx="216024" cy="180092"/>
          </a:xfrm>
          <a:prstGeom prst="flowChartConnector">
            <a:avLst/>
          </a:prstGeom>
          <a:ln w="6350"/>
        </p:spPr>
        <p:style>
          <a:lnRef idx="2">
            <a:schemeClr val="accent6"/>
          </a:lnRef>
          <a:fillRef idx="1">
            <a:schemeClr val="lt1"/>
          </a:fillRef>
          <a:effectRef idx="0">
            <a:schemeClr val="accent6"/>
          </a:effectRef>
          <a:fontRef idx="minor">
            <a:schemeClr val="dk1"/>
          </a:fontRef>
        </p:style>
        <p:txBody>
          <a:bodyPr rtlCol="0" anchor="ctr"/>
          <a:lstStyle/>
          <a:p>
            <a:pPr algn="ctr"/>
            <a:r>
              <a:rPr lang="tr-TR" sz="1000" dirty="0"/>
              <a:t>1</a:t>
            </a:r>
          </a:p>
        </p:txBody>
      </p:sp>
      <p:sp>
        <p:nvSpPr>
          <p:cNvPr id="44" name="Akış Çizelgesi: Depolanmış Veri 43"/>
          <p:cNvSpPr/>
          <p:nvPr/>
        </p:nvSpPr>
        <p:spPr>
          <a:xfrm rot="10800000">
            <a:off x="188640" y="444525"/>
            <a:ext cx="2592288" cy="592957"/>
          </a:xfrm>
          <a:prstGeom prst="flowChartOnlineStorage">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45" name="Metin kutusu 44"/>
          <p:cNvSpPr txBox="1"/>
          <p:nvPr/>
        </p:nvSpPr>
        <p:spPr>
          <a:xfrm>
            <a:off x="620688" y="444524"/>
            <a:ext cx="2088232" cy="543351"/>
          </a:xfrm>
          <a:prstGeom prst="rect">
            <a:avLst/>
          </a:prstGeom>
          <a:noFill/>
        </p:spPr>
        <p:txBody>
          <a:bodyPr wrap="square" lIns="80897" tIns="40448" rIns="80897" bIns="40448" rtlCol="0">
            <a:spAutoFit/>
          </a:bodyPr>
          <a:lstStyle/>
          <a:p>
            <a:pPr algn="ctr"/>
            <a:r>
              <a:rPr lang="tr-TR" sz="1500" b="1" dirty="0"/>
              <a:t>Sağdan ve Soldan </a:t>
            </a:r>
          </a:p>
          <a:p>
            <a:pPr algn="ctr"/>
            <a:r>
              <a:rPr lang="tr-TR" sz="1500" b="1" dirty="0"/>
              <a:t>Türev İncelenmesi</a:t>
            </a:r>
          </a:p>
        </p:txBody>
      </p:sp>
      <p:sp>
        <p:nvSpPr>
          <p:cNvPr id="46" name="Oval 45"/>
          <p:cNvSpPr/>
          <p:nvPr/>
        </p:nvSpPr>
        <p:spPr>
          <a:xfrm>
            <a:off x="102607" y="495377"/>
            <a:ext cx="364897" cy="461189"/>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dirty="0"/>
              <a:t>1</a:t>
            </a:r>
          </a:p>
        </p:txBody>
      </p:sp>
      <p:sp>
        <p:nvSpPr>
          <p:cNvPr id="21" name="Akış Çizelgesi: Depolanmış Veri 20">
            <a:extLst>
              <a:ext uri="{FF2B5EF4-FFF2-40B4-BE49-F238E27FC236}">
                <a16:creationId xmlns:a16="http://schemas.microsoft.com/office/drawing/2014/main" id="{50F79D6D-9E48-4138-AC85-DC3312AEFB53}"/>
              </a:ext>
            </a:extLst>
          </p:cNvPr>
          <p:cNvSpPr/>
          <p:nvPr/>
        </p:nvSpPr>
        <p:spPr>
          <a:xfrm rot="10800000">
            <a:off x="776607" y="2033169"/>
            <a:ext cx="600067" cy="297129"/>
          </a:xfrm>
          <a:prstGeom prst="flowChartOnlineStorage">
            <a:avLst/>
          </a:prstGeom>
          <a:solidFill>
            <a:schemeClr val="accent4">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a:p>
        </p:txBody>
      </p:sp>
      <p:sp>
        <p:nvSpPr>
          <p:cNvPr id="22" name="Metin kutusu 21">
            <a:extLst>
              <a:ext uri="{FF2B5EF4-FFF2-40B4-BE49-F238E27FC236}">
                <a16:creationId xmlns:a16="http://schemas.microsoft.com/office/drawing/2014/main" id="{71A74615-C41B-4BB8-8247-7DA9D61C4BA5}"/>
              </a:ext>
            </a:extLst>
          </p:cNvPr>
          <p:cNvSpPr txBox="1"/>
          <p:nvPr/>
        </p:nvSpPr>
        <p:spPr>
          <a:xfrm>
            <a:off x="818288" y="2051720"/>
            <a:ext cx="539959" cy="266352"/>
          </a:xfrm>
          <a:prstGeom prst="rect">
            <a:avLst/>
          </a:prstGeom>
          <a:noFill/>
        </p:spPr>
        <p:txBody>
          <a:bodyPr wrap="square" lIns="80897" tIns="40448" rIns="80897" bIns="40448" rtlCol="0">
            <a:spAutoFit/>
          </a:bodyPr>
          <a:lstStyle/>
          <a:p>
            <a:pPr algn="ctr"/>
            <a:r>
              <a:rPr lang="tr-TR" sz="1200" b="1" dirty="0"/>
              <a:t>Soru</a:t>
            </a:r>
          </a:p>
        </p:txBody>
      </p:sp>
      <p:sp>
        <p:nvSpPr>
          <p:cNvPr id="23" name="Oval 22">
            <a:extLst>
              <a:ext uri="{FF2B5EF4-FFF2-40B4-BE49-F238E27FC236}">
                <a16:creationId xmlns:a16="http://schemas.microsoft.com/office/drawing/2014/main" id="{998CEFA1-2A15-4783-BAF8-563AA4882275}"/>
              </a:ext>
            </a:extLst>
          </p:cNvPr>
          <p:cNvSpPr/>
          <p:nvPr/>
        </p:nvSpPr>
        <p:spPr>
          <a:xfrm>
            <a:off x="627013" y="2033169"/>
            <a:ext cx="265417" cy="297130"/>
          </a:xfrm>
          <a:prstGeom prst="ellipse">
            <a:avLst/>
          </a:prstGeom>
          <a:ln>
            <a:solidFill>
              <a:srgbClr val="FFFF00"/>
            </a:solidFill>
          </a:ln>
        </p:spPr>
        <p:style>
          <a:lnRef idx="2">
            <a:schemeClr val="dk1">
              <a:shade val="50000"/>
            </a:schemeClr>
          </a:lnRef>
          <a:fillRef idx="1">
            <a:schemeClr val="dk1"/>
          </a:fillRef>
          <a:effectRef idx="0">
            <a:schemeClr val="dk1"/>
          </a:effectRef>
          <a:fontRef idx="minor">
            <a:schemeClr val="lt1"/>
          </a:fontRef>
        </p:style>
        <p:txBody>
          <a:bodyPr lIns="80897" tIns="40448" rIns="80897" bIns="40448" rtlCol="0" anchor="ctr"/>
          <a:lstStyle/>
          <a:p>
            <a:pPr algn="ctr"/>
            <a:r>
              <a:rPr lang="tr-TR" sz="1200" dirty="0"/>
              <a:t>6</a:t>
            </a:r>
          </a:p>
        </p:txBody>
      </p:sp>
      <p:sp>
        <p:nvSpPr>
          <p:cNvPr id="24" name="Dikdörtgen: Köşeleri Yuvarlatılmış 23">
            <a:extLst>
              <a:ext uri="{FF2B5EF4-FFF2-40B4-BE49-F238E27FC236}">
                <a16:creationId xmlns:a16="http://schemas.microsoft.com/office/drawing/2014/main" id="{F87355F1-7AD9-4F17-AE10-E1CA352A611D}"/>
              </a:ext>
            </a:extLst>
          </p:cNvPr>
          <p:cNvSpPr/>
          <p:nvPr/>
        </p:nvSpPr>
        <p:spPr>
          <a:xfrm>
            <a:off x="3596404" y="5321169"/>
            <a:ext cx="3114353" cy="2375524"/>
          </a:xfrm>
          <a:prstGeom prst="roundRect">
            <a:avLst/>
          </a:prstGeom>
          <a:solidFill>
            <a:schemeClr val="accent4">
              <a:lumMod val="20000"/>
              <a:lumOff val="8000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5" name="Dikdörtgen 24">
            <a:extLst>
              <a:ext uri="{FF2B5EF4-FFF2-40B4-BE49-F238E27FC236}">
                <a16:creationId xmlns:a16="http://schemas.microsoft.com/office/drawing/2014/main" id="{EBC4BFDE-0570-4274-9BB4-86F36375BC3E}"/>
              </a:ext>
            </a:extLst>
          </p:cNvPr>
          <p:cNvSpPr/>
          <p:nvPr/>
        </p:nvSpPr>
        <p:spPr>
          <a:xfrm>
            <a:off x="5661248" y="5436096"/>
            <a:ext cx="720080" cy="648072"/>
          </a:xfrm>
          <a:prstGeom prst="rect">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Dikdörtgen 29">
            <a:extLst>
              <a:ext uri="{FF2B5EF4-FFF2-40B4-BE49-F238E27FC236}">
                <a16:creationId xmlns:a16="http://schemas.microsoft.com/office/drawing/2014/main" id="{9797C9ED-344F-421C-93D0-072FCC77274A}"/>
              </a:ext>
            </a:extLst>
          </p:cNvPr>
          <p:cNvSpPr/>
          <p:nvPr/>
        </p:nvSpPr>
        <p:spPr>
          <a:xfrm>
            <a:off x="5675317" y="6198835"/>
            <a:ext cx="720080" cy="648072"/>
          </a:xfrm>
          <a:prstGeom prst="rect">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Dikdörtgen 30">
            <a:extLst>
              <a:ext uri="{FF2B5EF4-FFF2-40B4-BE49-F238E27FC236}">
                <a16:creationId xmlns:a16="http://schemas.microsoft.com/office/drawing/2014/main" id="{7426BE12-2F13-40C9-BFD8-7DCFA64A4C4C}"/>
              </a:ext>
            </a:extLst>
          </p:cNvPr>
          <p:cNvSpPr/>
          <p:nvPr/>
        </p:nvSpPr>
        <p:spPr>
          <a:xfrm>
            <a:off x="5675317" y="6972420"/>
            <a:ext cx="720080" cy="648072"/>
          </a:xfrm>
          <a:prstGeom prst="rect">
            <a:avLst/>
          </a:prstGeom>
          <a:solidFill>
            <a:schemeClr val="bg1"/>
          </a:solid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Ok: Aşağı 31">
            <a:extLst>
              <a:ext uri="{FF2B5EF4-FFF2-40B4-BE49-F238E27FC236}">
                <a16:creationId xmlns:a16="http://schemas.microsoft.com/office/drawing/2014/main" id="{BE368ED3-B056-478A-9774-5500EA647E65}"/>
              </a:ext>
            </a:extLst>
          </p:cNvPr>
          <p:cNvSpPr/>
          <p:nvPr/>
        </p:nvSpPr>
        <p:spPr>
          <a:xfrm rot="16200000">
            <a:off x="4997410" y="5359007"/>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3" name="Ok: Aşağı 32">
            <a:extLst>
              <a:ext uri="{FF2B5EF4-FFF2-40B4-BE49-F238E27FC236}">
                <a16:creationId xmlns:a16="http://schemas.microsoft.com/office/drawing/2014/main" id="{9181B6CC-38B5-4084-818B-E485FE493AF5}"/>
              </a:ext>
            </a:extLst>
          </p:cNvPr>
          <p:cNvSpPr/>
          <p:nvPr/>
        </p:nvSpPr>
        <p:spPr>
          <a:xfrm rot="16200000">
            <a:off x="4997410" y="6121746"/>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4" name="Ok: Aşağı 33">
            <a:extLst>
              <a:ext uri="{FF2B5EF4-FFF2-40B4-BE49-F238E27FC236}">
                <a16:creationId xmlns:a16="http://schemas.microsoft.com/office/drawing/2014/main" id="{455062FE-C301-4A9B-B93D-6BC6ABBBB330}"/>
              </a:ext>
            </a:extLst>
          </p:cNvPr>
          <p:cNvSpPr/>
          <p:nvPr/>
        </p:nvSpPr>
        <p:spPr>
          <a:xfrm rot="16200000">
            <a:off x="4994595" y="6860784"/>
            <a:ext cx="354501" cy="749387"/>
          </a:xfrm>
          <a:prstGeom prst="downArrow">
            <a:avLst/>
          </a:prstGeom>
          <a:solidFill>
            <a:srgbClr val="CCFFCC"/>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Akış Çizelgesi: Depolanmış Veri 34">
            <a:extLst>
              <a:ext uri="{FF2B5EF4-FFF2-40B4-BE49-F238E27FC236}">
                <a16:creationId xmlns:a16="http://schemas.microsoft.com/office/drawing/2014/main" id="{F93EDA73-58C5-47BE-94A1-C46A3B3AAEF5}"/>
              </a:ext>
            </a:extLst>
          </p:cNvPr>
          <p:cNvSpPr/>
          <p:nvPr/>
        </p:nvSpPr>
        <p:spPr>
          <a:xfrm rot="10800000">
            <a:off x="3717031" y="5568381"/>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36" name="Akış Çizelgesi: Depolanmış Veri 35">
            <a:extLst>
              <a:ext uri="{FF2B5EF4-FFF2-40B4-BE49-F238E27FC236}">
                <a16:creationId xmlns:a16="http://schemas.microsoft.com/office/drawing/2014/main" id="{57D0DB9C-8B9E-4659-BBB1-F66C5543368E}"/>
              </a:ext>
            </a:extLst>
          </p:cNvPr>
          <p:cNvSpPr/>
          <p:nvPr/>
        </p:nvSpPr>
        <p:spPr>
          <a:xfrm rot="10800000">
            <a:off x="3713671" y="6292331"/>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37" name="Akış Çizelgesi: Depolanmış Veri 36">
            <a:extLst>
              <a:ext uri="{FF2B5EF4-FFF2-40B4-BE49-F238E27FC236}">
                <a16:creationId xmlns:a16="http://schemas.microsoft.com/office/drawing/2014/main" id="{C738DDBC-F80C-4003-A8F1-163159E1A991}"/>
              </a:ext>
            </a:extLst>
          </p:cNvPr>
          <p:cNvSpPr/>
          <p:nvPr/>
        </p:nvSpPr>
        <p:spPr>
          <a:xfrm rot="10800000">
            <a:off x="3711705" y="7010123"/>
            <a:ext cx="1008112" cy="371770"/>
          </a:xfrm>
          <a:prstGeom prst="flowChartOnlineStorage">
            <a:avLst/>
          </a:prstGeom>
          <a:solidFill>
            <a:srgbClr val="FFFF00"/>
          </a:solidFill>
          <a:ln w="3175"/>
        </p:spPr>
        <p:style>
          <a:lnRef idx="2">
            <a:schemeClr val="accent1">
              <a:shade val="50000"/>
            </a:schemeClr>
          </a:lnRef>
          <a:fillRef idx="1">
            <a:schemeClr val="accent1"/>
          </a:fillRef>
          <a:effectRef idx="0">
            <a:schemeClr val="accent1"/>
          </a:effectRef>
          <a:fontRef idx="minor">
            <a:schemeClr val="lt1"/>
          </a:fontRef>
        </p:style>
        <p:txBody>
          <a:bodyPr lIns="80897" tIns="40448" rIns="80897" bIns="40448" rtlCol="0" anchor="ctr"/>
          <a:lstStyle/>
          <a:p>
            <a:pPr algn="ctr"/>
            <a:endParaRPr lang="tr-TR" dirty="0"/>
          </a:p>
        </p:txBody>
      </p:sp>
      <p:sp>
        <p:nvSpPr>
          <p:cNvPr id="38" name="Metin kutusu 37">
            <a:extLst>
              <a:ext uri="{FF2B5EF4-FFF2-40B4-BE49-F238E27FC236}">
                <a16:creationId xmlns:a16="http://schemas.microsoft.com/office/drawing/2014/main" id="{0C7E003B-A71F-4586-81D9-81DAC03CBA86}"/>
              </a:ext>
            </a:extLst>
          </p:cNvPr>
          <p:cNvSpPr txBox="1"/>
          <p:nvPr/>
        </p:nvSpPr>
        <p:spPr>
          <a:xfrm>
            <a:off x="3776662" y="5565481"/>
            <a:ext cx="929948" cy="400110"/>
          </a:xfrm>
          <a:prstGeom prst="rect">
            <a:avLst/>
          </a:prstGeom>
          <a:noFill/>
        </p:spPr>
        <p:txBody>
          <a:bodyPr wrap="square" rtlCol="0">
            <a:spAutoFit/>
          </a:bodyPr>
          <a:lstStyle/>
          <a:p>
            <a:pPr algn="ctr"/>
            <a:r>
              <a:rPr lang="tr-TR" sz="1000" b="1" noProof="1">
                <a:cs typeface="Arial" panose="020B0604020202020204" pitchFamily="34" charset="0"/>
              </a:rPr>
              <a:t>Konu</a:t>
            </a:r>
          </a:p>
          <a:p>
            <a:pPr algn="ctr"/>
            <a:r>
              <a:rPr lang="tr-TR" sz="1000" b="1" noProof="1">
                <a:cs typeface="Arial" panose="020B0604020202020204" pitchFamily="34" charset="0"/>
              </a:rPr>
              <a:t> Anlatım</a:t>
            </a:r>
            <a:endParaRPr lang="tr-TR" sz="900" b="1" noProof="1">
              <a:cs typeface="Arial" panose="020B0604020202020204" pitchFamily="34" charset="0"/>
            </a:endParaRPr>
          </a:p>
        </p:txBody>
      </p:sp>
      <p:sp>
        <p:nvSpPr>
          <p:cNvPr id="39" name="Metin kutusu 38">
            <a:extLst>
              <a:ext uri="{FF2B5EF4-FFF2-40B4-BE49-F238E27FC236}">
                <a16:creationId xmlns:a16="http://schemas.microsoft.com/office/drawing/2014/main" id="{09A85BD7-BCC8-4F37-9779-38723A565D1C}"/>
              </a:ext>
            </a:extLst>
          </p:cNvPr>
          <p:cNvSpPr txBox="1"/>
          <p:nvPr/>
        </p:nvSpPr>
        <p:spPr>
          <a:xfrm>
            <a:off x="3776662" y="6286173"/>
            <a:ext cx="929948" cy="400110"/>
          </a:xfrm>
          <a:prstGeom prst="rect">
            <a:avLst/>
          </a:prstGeom>
          <a:noFill/>
        </p:spPr>
        <p:txBody>
          <a:bodyPr wrap="square" rtlCol="0">
            <a:spAutoFit/>
          </a:bodyPr>
          <a:lstStyle/>
          <a:p>
            <a:pPr algn="ctr"/>
            <a:r>
              <a:rPr lang="tr-TR" sz="1000" b="1" noProof="1">
                <a:cs typeface="Arial" panose="020B0604020202020204" pitchFamily="34" charset="0"/>
              </a:rPr>
              <a:t>1-10.Sorular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sp>
        <p:nvSpPr>
          <p:cNvPr id="40" name="Metin kutusu 39">
            <a:extLst>
              <a:ext uri="{FF2B5EF4-FFF2-40B4-BE49-F238E27FC236}">
                <a16:creationId xmlns:a16="http://schemas.microsoft.com/office/drawing/2014/main" id="{B2353AEB-A4CB-420B-804F-37721E79E2BF}"/>
              </a:ext>
            </a:extLst>
          </p:cNvPr>
          <p:cNvSpPr txBox="1"/>
          <p:nvPr/>
        </p:nvSpPr>
        <p:spPr>
          <a:xfrm>
            <a:off x="3802645" y="6997463"/>
            <a:ext cx="929948" cy="400110"/>
          </a:xfrm>
          <a:prstGeom prst="rect">
            <a:avLst/>
          </a:prstGeom>
          <a:noFill/>
        </p:spPr>
        <p:txBody>
          <a:bodyPr wrap="square" rtlCol="0">
            <a:spAutoFit/>
          </a:bodyPr>
          <a:lstStyle/>
          <a:p>
            <a:pPr algn="ctr"/>
            <a:r>
              <a:rPr lang="tr-TR" sz="1000" b="1" noProof="1">
                <a:cs typeface="Arial" panose="020B0604020202020204" pitchFamily="34" charset="0"/>
              </a:rPr>
              <a:t>11-20.Sorular</a:t>
            </a:r>
          </a:p>
          <a:p>
            <a:pPr algn="ctr"/>
            <a:r>
              <a:rPr lang="tr-TR" sz="1000" b="1" noProof="1">
                <a:cs typeface="Arial" panose="020B0604020202020204" pitchFamily="34" charset="0"/>
              </a:rPr>
              <a:t>Video Çözüm</a:t>
            </a:r>
            <a:endParaRPr lang="tr-TR" sz="900" b="1" noProof="1">
              <a:cs typeface="Arial" panose="020B0604020202020204" pitchFamily="34" charset="0"/>
            </a:endParaRPr>
          </a:p>
        </p:txBody>
      </p:sp>
      <p:pic>
        <p:nvPicPr>
          <p:cNvPr id="41" name="Resim 40">
            <a:extLst>
              <a:ext uri="{FF2B5EF4-FFF2-40B4-BE49-F238E27FC236}">
                <a16:creationId xmlns:a16="http://schemas.microsoft.com/office/drawing/2014/main" id="{C6AA8B7D-FCFD-46E7-8E55-6A4439AC330C}"/>
              </a:ext>
            </a:extLst>
          </p:cNvPr>
          <p:cNvPicPr>
            <a:picLocks noChangeAspect="1"/>
          </p:cNvPicPr>
          <p:nvPr/>
        </p:nvPicPr>
        <p:blipFill>
          <a:blip r:embed="rId6"/>
          <a:stretch>
            <a:fillRect/>
          </a:stretch>
        </p:blipFill>
        <p:spPr>
          <a:xfrm>
            <a:off x="5680323" y="5464183"/>
            <a:ext cx="701006" cy="602412"/>
          </a:xfrm>
          <a:prstGeom prst="rect">
            <a:avLst/>
          </a:prstGeom>
        </p:spPr>
      </p:pic>
      <p:pic>
        <p:nvPicPr>
          <p:cNvPr id="42" name="Resim 41">
            <a:extLst>
              <a:ext uri="{FF2B5EF4-FFF2-40B4-BE49-F238E27FC236}">
                <a16:creationId xmlns:a16="http://schemas.microsoft.com/office/drawing/2014/main" id="{BE9C7024-CFB5-4B6A-8D31-9AB13812FC0D}"/>
              </a:ext>
            </a:extLst>
          </p:cNvPr>
          <p:cNvPicPr>
            <a:picLocks noChangeAspect="1"/>
          </p:cNvPicPr>
          <p:nvPr/>
        </p:nvPicPr>
        <p:blipFill>
          <a:blip r:embed="rId6"/>
          <a:stretch>
            <a:fillRect/>
          </a:stretch>
        </p:blipFill>
        <p:spPr>
          <a:xfrm>
            <a:off x="5688946" y="6230190"/>
            <a:ext cx="701006" cy="602412"/>
          </a:xfrm>
          <a:prstGeom prst="rect">
            <a:avLst/>
          </a:prstGeom>
        </p:spPr>
      </p:pic>
      <p:pic>
        <p:nvPicPr>
          <p:cNvPr id="43" name="Resim 42">
            <a:extLst>
              <a:ext uri="{FF2B5EF4-FFF2-40B4-BE49-F238E27FC236}">
                <a16:creationId xmlns:a16="http://schemas.microsoft.com/office/drawing/2014/main" id="{7397CE4F-E3E4-4A19-804B-5B6B25FC1C2A}"/>
              </a:ext>
            </a:extLst>
          </p:cNvPr>
          <p:cNvPicPr>
            <a:picLocks noChangeAspect="1"/>
          </p:cNvPicPr>
          <p:nvPr/>
        </p:nvPicPr>
        <p:blipFill>
          <a:blip r:embed="rId6"/>
          <a:stretch>
            <a:fillRect/>
          </a:stretch>
        </p:blipFill>
        <p:spPr>
          <a:xfrm>
            <a:off x="5688946" y="6997463"/>
            <a:ext cx="701006" cy="602412"/>
          </a:xfrm>
          <a:prstGeom prst="rect">
            <a:avLst/>
          </a:prstGeom>
        </p:spPr>
      </p:pic>
    </p:spTree>
    <p:extLst>
      <p:ext uri="{BB962C8B-B14F-4D97-AF65-F5344CB8AC3E}">
        <p14:creationId xmlns:p14="http://schemas.microsoft.com/office/powerpoint/2010/main" val="300865646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DDCB4AE6-F4B2-4438-86AA-DE2E88B36B79}"/>
              </a:ext>
            </a:extLst>
          </p:cNvPr>
          <p:cNvSpPr/>
          <p:nvPr/>
        </p:nvSpPr>
        <p:spPr>
          <a:xfrm>
            <a:off x="-99392" y="899592"/>
            <a:ext cx="7638630" cy="6771084"/>
          </a:xfrm>
          <a:prstGeom prst="rect">
            <a:avLst/>
          </a:prstGeom>
          <a:noFill/>
        </p:spPr>
        <p:txBody>
          <a:bodyPr wrap="none" lIns="91440" tIns="45720" rIns="91440" bIns="45720">
            <a:spAutoFit/>
          </a:bodyPr>
          <a:lstStyle/>
          <a:p>
            <a:pPr algn="ctr"/>
            <a:r>
              <a:rPr lang="tr-TR" sz="19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HAZIR </a:t>
            </a:r>
          </a:p>
          <a:p>
            <a:pPr algn="ctr"/>
            <a:r>
              <a:rPr lang="tr-TR" sz="19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TEST</a:t>
            </a:r>
          </a:p>
          <a:p>
            <a:pPr algn="ctr"/>
            <a:endParaRPr lang="tr-TR"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27746763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08227" y="208766"/>
            <a:ext cx="1523698"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250329"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1.X    2.X    3.X    4.X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83D1573E-2AA3-4174-AD59-62EE321090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262846080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cxnSp>
        <p:nvCxnSpPr>
          <p:cNvPr id="18" name="Düz Bağlayıcı 17"/>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5.X    6.X    7.X    8.X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pic>
        <p:nvPicPr>
          <p:cNvPr id="36" name="Grafik 35">
            <a:extLst>
              <a:ext uri="{FF2B5EF4-FFF2-40B4-BE49-F238E27FC236}">
                <a16:creationId xmlns:a16="http://schemas.microsoft.com/office/drawing/2014/main" id="{1B40F82D-5A6D-432E-93CA-C8C5ECF14C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spTree>
    <p:extLst>
      <p:ext uri="{BB962C8B-B14F-4D97-AF65-F5344CB8AC3E}">
        <p14:creationId xmlns:p14="http://schemas.microsoft.com/office/powerpoint/2010/main" val="139126637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eşgen 13"/>
          <p:cNvSpPr/>
          <p:nvPr/>
        </p:nvSpPr>
        <p:spPr>
          <a:xfrm>
            <a:off x="98507" y="65554"/>
            <a:ext cx="188285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Metin kutusu 4"/>
          <p:cNvSpPr txBox="1"/>
          <p:nvPr/>
        </p:nvSpPr>
        <p:spPr>
          <a:xfrm>
            <a:off x="53883" y="46080"/>
            <a:ext cx="1927474" cy="400110"/>
          </a:xfrm>
          <a:prstGeom prst="rect">
            <a:avLst/>
          </a:prstGeom>
          <a:noFill/>
        </p:spPr>
        <p:txBody>
          <a:bodyPr wrap="square" rtlCol="0">
            <a:spAutoFit/>
          </a:bodyPr>
          <a:lstStyle/>
          <a:p>
            <a:pPr marL="171450" indent="-171450">
              <a:buFont typeface="Wingdings" panose="05000000000000000000" pitchFamily="2" charset="2"/>
              <a:buChar char="Ø"/>
            </a:pPr>
            <a:r>
              <a:rPr lang="tr-TR" sz="1000" b="1" noProof="1">
                <a:latin typeface="+mj-lt"/>
                <a:cs typeface="Arial" panose="020B0604020202020204" pitchFamily="34" charset="0"/>
              </a:rPr>
              <a:t>xx Problemleri</a:t>
            </a:r>
          </a:p>
          <a:p>
            <a:r>
              <a:rPr lang="tr-TR" sz="1000" b="1" noProof="1">
                <a:latin typeface="+mj-lt"/>
                <a:cs typeface="Arial" panose="020B0604020202020204" pitchFamily="34" charset="0"/>
              </a:rPr>
              <a:t>xx</a:t>
            </a:r>
          </a:p>
        </p:txBody>
      </p: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00B05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6" name="Kaydırma: Yatay 5">
            <a:extLst>
              <a:ext uri="{FF2B5EF4-FFF2-40B4-BE49-F238E27FC236}">
                <a16:creationId xmlns:a16="http://schemas.microsoft.com/office/drawing/2014/main" id="{2B517D43-A7B0-4056-A13F-B39233E606C4}"/>
              </a:ext>
            </a:extLst>
          </p:cNvPr>
          <p:cNvSpPr/>
          <p:nvPr/>
        </p:nvSpPr>
        <p:spPr>
          <a:xfrm>
            <a:off x="4403750" y="4441"/>
            <a:ext cx="1440160" cy="451675"/>
          </a:xfrm>
          <a:prstGeom prst="horizontalScroll">
            <a:avLst/>
          </a:prstGeom>
          <a:solidFill>
            <a:schemeClr val="accent4">
              <a:alpha val="50000"/>
            </a:scheme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rPr>
              <a:t>Ekspres Test </a:t>
            </a:r>
            <a:r>
              <a:rPr lang="tr-TR" sz="1000" noProof="1">
                <a:solidFill>
                  <a:schemeClr val="tx1"/>
                </a:solidFill>
                <a:latin typeface="Montserrat SemiBold" panose="00000700000000000000" pitchFamily="2" charset="-94"/>
              </a:rPr>
              <a:t>55</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24" name="Dikdörtgen 23">
            <a:extLst>
              <a:ext uri="{FF2B5EF4-FFF2-40B4-BE49-F238E27FC236}">
                <a16:creationId xmlns:a16="http://schemas.microsoft.com/office/drawing/2014/main" id="{44D80DA1-89C6-4F2B-A0B7-540599A25610}"/>
              </a:ext>
            </a:extLst>
          </p:cNvPr>
          <p:cNvSpPr/>
          <p:nvPr/>
        </p:nvSpPr>
        <p:spPr>
          <a:xfrm>
            <a:off x="53886" y="8819480"/>
            <a:ext cx="1193692"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2" name="Dikdörtgen 41">
            <a:extLst>
              <a:ext uri="{FF2B5EF4-FFF2-40B4-BE49-F238E27FC236}">
                <a16:creationId xmlns:a16="http://schemas.microsoft.com/office/drawing/2014/main" id="{22945CBA-B75E-4B00-975E-35D28D56A129}"/>
              </a:ext>
            </a:extLst>
          </p:cNvPr>
          <p:cNvSpPr/>
          <p:nvPr/>
        </p:nvSpPr>
        <p:spPr>
          <a:xfrm>
            <a:off x="53884" y="8822530"/>
            <a:ext cx="295792" cy="249475"/>
          </a:xfrm>
          <a:prstGeom prst="rect">
            <a:avLst/>
          </a:prstGeom>
          <a:noFill/>
          <a:ln w="127">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3" name="Dikdörtgen 42">
            <a:extLst>
              <a:ext uri="{FF2B5EF4-FFF2-40B4-BE49-F238E27FC236}">
                <a16:creationId xmlns:a16="http://schemas.microsoft.com/office/drawing/2014/main" id="{BA13B39C-4ED3-4314-A0D3-032F4E79F50F}"/>
              </a:ext>
            </a:extLst>
          </p:cNvPr>
          <p:cNvSpPr/>
          <p:nvPr/>
        </p:nvSpPr>
        <p:spPr>
          <a:xfrm>
            <a:off x="349675" y="8822498"/>
            <a:ext cx="298673"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4" name="Dikdörtgen 43">
            <a:extLst>
              <a:ext uri="{FF2B5EF4-FFF2-40B4-BE49-F238E27FC236}">
                <a16:creationId xmlns:a16="http://schemas.microsoft.com/office/drawing/2014/main" id="{F2E3FB88-83E9-4896-B4A1-E8C9EF1AC820}"/>
              </a:ext>
            </a:extLst>
          </p:cNvPr>
          <p:cNvSpPr/>
          <p:nvPr/>
        </p:nvSpPr>
        <p:spPr>
          <a:xfrm>
            <a:off x="645466" y="8822498"/>
            <a:ext cx="299575"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5" name="Dikdörtgen 44">
            <a:extLst>
              <a:ext uri="{FF2B5EF4-FFF2-40B4-BE49-F238E27FC236}">
                <a16:creationId xmlns:a16="http://schemas.microsoft.com/office/drawing/2014/main" id="{8BA072F9-E3BF-4902-8B2A-56DFD344FBAB}"/>
              </a:ext>
            </a:extLst>
          </p:cNvPr>
          <p:cNvSpPr/>
          <p:nvPr/>
        </p:nvSpPr>
        <p:spPr>
          <a:xfrm>
            <a:off x="945042" y="8822498"/>
            <a:ext cx="302536" cy="249508"/>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9" name="Ok: Çentikli Sağ 8">
            <a:extLst>
              <a:ext uri="{FF2B5EF4-FFF2-40B4-BE49-F238E27FC236}">
                <a16:creationId xmlns:a16="http://schemas.microsoft.com/office/drawing/2014/main" id="{C6C706DF-6D9A-4A7E-BAA8-026F798A31C6}"/>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6">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2" name="Metin kutusu 61">
            <a:extLst>
              <a:ext uri="{FF2B5EF4-FFF2-40B4-BE49-F238E27FC236}">
                <a16:creationId xmlns:a16="http://schemas.microsoft.com/office/drawing/2014/main" id="{EF485E54-CD7F-486B-AD11-11D76CF30137}"/>
              </a:ext>
            </a:extLst>
          </p:cNvPr>
          <p:cNvSpPr txBox="1"/>
          <p:nvPr/>
        </p:nvSpPr>
        <p:spPr>
          <a:xfrm>
            <a:off x="4425582" y="205717"/>
            <a:ext cx="1480155" cy="193899"/>
          </a:xfrm>
          <a:prstGeom prst="rect">
            <a:avLst/>
          </a:prstGeom>
          <a:noFill/>
        </p:spPr>
        <p:txBody>
          <a:bodyPr wrap="square" rtlCol="0">
            <a:spAutoFit/>
          </a:bodyPr>
          <a:lstStyle/>
          <a:p>
            <a:r>
              <a:rPr lang="tr-TR" sz="620" noProof="1">
                <a:latin typeface="Arial Narrow" panose="020B0606020202030204" pitchFamily="34" charset="0"/>
                <a:cs typeface="Arial" panose="020B0604020202020204" pitchFamily="34" charset="0"/>
              </a:rPr>
              <a:t>Video çözümleri için QR kodu okutabilirsiniz.</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56" name="Metin kutusu 155">
            <a:extLst>
              <a:ext uri="{FF2B5EF4-FFF2-40B4-BE49-F238E27FC236}">
                <a16:creationId xmlns:a16="http://schemas.microsoft.com/office/drawing/2014/main" id="{373DD1A1-F574-41C2-920C-521F0DBD664B}"/>
              </a:ext>
            </a:extLst>
          </p:cNvPr>
          <p:cNvSpPr txBox="1"/>
          <p:nvPr/>
        </p:nvSpPr>
        <p:spPr>
          <a:xfrm>
            <a:off x="18431" y="8828888"/>
            <a:ext cx="1322337" cy="230832"/>
          </a:xfrm>
          <a:prstGeom prst="rect">
            <a:avLst/>
          </a:prstGeom>
          <a:noFill/>
        </p:spPr>
        <p:txBody>
          <a:bodyPr wrap="square" rtlCol="0">
            <a:spAutoFit/>
          </a:bodyPr>
          <a:lstStyle/>
          <a:p>
            <a:r>
              <a:rPr lang="tr-TR" sz="900" noProof="1">
                <a:latin typeface="Arial" panose="020B0604020202020204" pitchFamily="34" charset="0"/>
                <a:cs typeface="Arial" panose="020B0604020202020204" pitchFamily="34" charset="0"/>
              </a:rPr>
              <a:t>9.X   10.X  11.X  12.X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A4DEE36-830B-401B-9B06-EAD08C6869E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058" y="9449"/>
            <a:ext cx="456499" cy="456499"/>
          </a:xfrm>
          <a:prstGeom prst="rect">
            <a:avLst/>
          </a:prstGeom>
        </p:spPr>
      </p:pic>
      <p:cxnSp>
        <p:nvCxnSpPr>
          <p:cNvPr id="63" name="Düz Bağlayıcı 62">
            <a:extLst>
              <a:ext uri="{FF2B5EF4-FFF2-40B4-BE49-F238E27FC236}">
                <a16:creationId xmlns:a16="http://schemas.microsoft.com/office/drawing/2014/main" id="{1D4B3BAF-3E8D-4FF0-A480-F453CC8928FA}"/>
              </a:ext>
            </a:extLst>
          </p:cNvPr>
          <p:cNvCxnSpPr>
            <a:cxnSpLocks/>
          </p:cNvCxnSpPr>
          <p:nvPr/>
        </p:nvCxnSpPr>
        <p:spPr>
          <a:xfrm>
            <a:off x="3427450" y="474844"/>
            <a:ext cx="1" cy="2956575"/>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64" name="Düz Bağlayıcı 63">
            <a:extLst>
              <a:ext uri="{FF2B5EF4-FFF2-40B4-BE49-F238E27FC236}">
                <a16:creationId xmlns:a16="http://schemas.microsoft.com/office/drawing/2014/main" id="{7B5CFA89-27DB-40CA-B98B-334B90FD0D33}"/>
              </a:ext>
            </a:extLst>
          </p:cNvPr>
          <p:cNvCxnSpPr>
            <a:cxnSpLocks/>
          </p:cNvCxnSpPr>
          <p:nvPr/>
        </p:nvCxnSpPr>
        <p:spPr>
          <a:xfrm flipH="1">
            <a:off x="3422587" y="4644008"/>
            <a:ext cx="6413" cy="4104456"/>
          </a:xfrm>
          <a:prstGeom prst="line">
            <a:avLst/>
          </a:prstGeom>
          <a:ln w="9525">
            <a:solidFill>
              <a:srgbClr val="FFC00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0346359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3.</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2.</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4.</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5" name="Beşgen 13">
            <a:extLst>
              <a:ext uri="{FF2B5EF4-FFF2-40B4-BE49-F238E27FC236}">
                <a16:creationId xmlns:a16="http://schemas.microsoft.com/office/drawing/2014/main" id="{2FA42AB1-19DF-484D-A93F-4FA85F6E6E7D}"/>
              </a:ext>
            </a:extLst>
          </p:cNvPr>
          <p:cNvSpPr/>
          <p:nvPr/>
        </p:nvSpPr>
        <p:spPr>
          <a:xfrm>
            <a:off x="98507" y="65554"/>
            <a:ext cx="180487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7" name="Metin kutusu 36">
            <a:extLst>
              <a:ext uri="{FF2B5EF4-FFF2-40B4-BE49-F238E27FC236}">
                <a16:creationId xmlns:a16="http://schemas.microsoft.com/office/drawing/2014/main" id="{51542F12-4F75-4E8E-80DE-BA298FAB2DF5}"/>
              </a:ext>
            </a:extLst>
          </p:cNvPr>
          <p:cNvSpPr txBox="1"/>
          <p:nvPr/>
        </p:nvSpPr>
        <p:spPr>
          <a:xfrm>
            <a:off x="28842" y="47366"/>
            <a:ext cx="1794465" cy="400110"/>
          </a:xfrm>
          <a:prstGeom prst="rect">
            <a:avLst/>
          </a:prstGeom>
          <a:noFill/>
        </p:spPr>
        <p:txBody>
          <a:bodyPr wrap="square" rtlCol="0">
            <a:spAutoFit/>
          </a:bodyPr>
          <a:lstStyle/>
          <a:p>
            <a:pPr marL="171450" indent="-171450">
              <a:buFont typeface="Wingdings" panose="05000000000000000000" pitchFamily="2" charset="2"/>
              <a:buChar char="ü"/>
            </a:pPr>
            <a:r>
              <a:rPr lang="tr-TR" sz="1000" b="1" noProof="1">
                <a:latin typeface="+mj-lt"/>
                <a:cs typeface="Arial" panose="020B0604020202020204" pitchFamily="34" charset="0"/>
              </a:rPr>
              <a:t>Hibrit Problemler Denemesi</a:t>
            </a:r>
          </a:p>
          <a:p>
            <a:pPr marL="171450" indent="-171450">
              <a:buFont typeface="Wingdings" panose="05000000000000000000" pitchFamily="2" charset="2"/>
              <a:buChar char="ü"/>
            </a:pPr>
            <a:r>
              <a:rPr lang="tr-TR" sz="1000" b="1" noProof="1">
                <a:latin typeface="+mj-lt"/>
                <a:cs typeface="Arial" panose="020B0604020202020204" pitchFamily="34" charset="0"/>
              </a:rPr>
              <a:t>YouTube : Ahmet Çelen</a:t>
            </a:r>
          </a:p>
        </p:txBody>
      </p:sp>
      <p:sp>
        <p:nvSpPr>
          <p:cNvPr id="41" name="Kaydırma: Yatay 40">
            <a:extLst>
              <a:ext uri="{FF2B5EF4-FFF2-40B4-BE49-F238E27FC236}">
                <a16:creationId xmlns:a16="http://schemas.microsoft.com/office/drawing/2014/main" id="{CBE917A6-082E-4560-A7B3-D3840412C8C3}"/>
              </a:ext>
            </a:extLst>
          </p:cNvPr>
          <p:cNvSpPr/>
          <p:nvPr/>
        </p:nvSpPr>
        <p:spPr>
          <a:xfrm>
            <a:off x="4403750" y="4441"/>
            <a:ext cx="1440160" cy="451675"/>
          </a:xfrm>
          <a:prstGeom prst="horizontalScroll">
            <a:avLst/>
          </a:prstGeom>
          <a:solidFill>
            <a:srgbClr val="BDA7F3">
              <a:alpha val="50000"/>
            </a:srgb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KG HAPPY" panose="02000000000000000000" pitchFamily="2" charset="0"/>
              </a:rPr>
              <a:t>DENEME 1</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46" name="Ok: Çentikli Sağ 8">
            <a:extLst>
              <a:ext uri="{FF2B5EF4-FFF2-40B4-BE49-F238E27FC236}">
                <a16:creationId xmlns:a16="http://schemas.microsoft.com/office/drawing/2014/main" id="{21BE44D5-EC14-4D45-9BD8-3B78272549CE}"/>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48" name="Metin kutusu 47">
            <a:extLst>
              <a:ext uri="{FF2B5EF4-FFF2-40B4-BE49-F238E27FC236}">
                <a16:creationId xmlns:a16="http://schemas.microsoft.com/office/drawing/2014/main" id="{3B2E8DCF-FFE0-421A-BB06-F15725219878}"/>
              </a:ext>
            </a:extLst>
          </p:cNvPr>
          <p:cNvSpPr txBox="1"/>
          <p:nvPr/>
        </p:nvSpPr>
        <p:spPr>
          <a:xfrm>
            <a:off x="4425582" y="208958"/>
            <a:ext cx="1523698"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pic>
        <p:nvPicPr>
          <p:cNvPr id="53" name="Grafik 52">
            <a:extLst>
              <a:ext uri="{FF2B5EF4-FFF2-40B4-BE49-F238E27FC236}">
                <a16:creationId xmlns:a16="http://schemas.microsoft.com/office/drawing/2014/main" id="{B3DC6F7F-2E25-4563-8B7D-C45DF71F639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245" y="16269"/>
            <a:ext cx="436517" cy="436517"/>
          </a:xfrm>
          <a:prstGeom prst="rect">
            <a:avLst/>
          </a:prstGeom>
        </p:spPr>
      </p:pic>
    </p:spTree>
    <p:extLst>
      <p:ext uri="{BB962C8B-B14F-4D97-AF65-F5344CB8AC3E}">
        <p14:creationId xmlns:p14="http://schemas.microsoft.com/office/powerpoint/2010/main" val="72414230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w="9525">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025" y="4611287"/>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26" name="Metin kutusu 25"/>
          <p:cNvSpPr txBox="1"/>
          <p:nvPr/>
        </p:nvSpPr>
        <p:spPr>
          <a:xfrm>
            <a:off x="5949280" y="8952664"/>
            <a:ext cx="936104" cy="215444"/>
          </a:xfrm>
          <a:prstGeom prst="rect">
            <a:avLst/>
          </a:prstGeom>
          <a:noFill/>
        </p:spPr>
        <p:txBody>
          <a:bodyPr wrap="square" rtlCol="0">
            <a:spAutoFit/>
          </a:bodyPr>
          <a:lstStyle/>
          <a:p>
            <a:pPr algn="r"/>
            <a:r>
              <a:rPr lang="tr-TR" sz="800" noProof="1">
                <a:latin typeface="Arimo" panose="020B0604020202020204" pitchFamily="34" charset="0"/>
                <a:ea typeface="Arimo" panose="020B0604020202020204" pitchFamily="34" charset="0"/>
                <a:cs typeface="Arimo"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5.</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4" y="445973"/>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7.</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57529" y="4655296"/>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6.</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9021" y="4658481"/>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8.</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10" name="Oval 9">
            <a:extLst>
              <a:ext uri="{FF2B5EF4-FFF2-40B4-BE49-F238E27FC236}">
                <a16:creationId xmlns:a16="http://schemas.microsoft.com/office/drawing/2014/main" id="{B038FD68-4ED6-42BA-B2ED-C38B1F6D57FC}"/>
              </a:ext>
            </a:extLst>
          </p:cNvPr>
          <p:cNvSpPr/>
          <p:nvPr/>
        </p:nvSpPr>
        <p:spPr>
          <a:xfrm>
            <a:off x="6046688" y="8983971"/>
            <a:ext cx="162134" cy="1464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İkizkenar Üçgen 11">
            <a:extLst>
              <a:ext uri="{FF2B5EF4-FFF2-40B4-BE49-F238E27FC236}">
                <a16:creationId xmlns:a16="http://schemas.microsoft.com/office/drawing/2014/main" id="{28D6B024-CBD6-4949-AAB6-0D2F937C2E7E}"/>
              </a:ext>
            </a:extLst>
          </p:cNvPr>
          <p:cNvSpPr/>
          <p:nvPr/>
        </p:nvSpPr>
        <p:spPr>
          <a:xfrm rot="16200000" flipV="1">
            <a:off x="6103760" y="9042090"/>
            <a:ext cx="36000" cy="36000"/>
          </a:xfrm>
          <a:prstGeom prst="triangle">
            <a:avLst>
              <a:gd name="adj" fmla="val 4688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500" dirty="0"/>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485254" y="469853"/>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606859" y="4670684"/>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8" name="Beşgen 13">
            <a:extLst>
              <a:ext uri="{FF2B5EF4-FFF2-40B4-BE49-F238E27FC236}">
                <a16:creationId xmlns:a16="http://schemas.microsoft.com/office/drawing/2014/main" id="{FF095442-34DD-4947-93AA-8A4605DCB603}"/>
              </a:ext>
            </a:extLst>
          </p:cNvPr>
          <p:cNvSpPr/>
          <p:nvPr/>
        </p:nvSpPr>
        <p:spPr>
          <a:xfrm>
            <a:off x="98507" y="65554"/>
            <a:ext cx="180487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9" name="Metin kutusu 38">
            <a:extLst>
              <a:ext uri="{FF2B5EF4-FFF2-40B4-BE49-F238E27FC236}">
                <a16:creationId xmlns:a16="http://schemas.microsoft.com/office/drawing/2014/main" id="{93E1B5D2-1A63-495D-BA73-F7DE1293C278}"/>
              </a:ext>
            </a:extLst>
          </p:cNvPr>
          <p:cNvSpPr txBox="1"/>
          <p:nvPr/>
        </p:nvSpPr>
        <p:spPr>
          <a:xfrm>
            <a:off x="28842" y="47366"/>
            <a:ext cx="1794465" cy="400110"/>
          </a:xfrm>
          <a:prstGeom prst="rect">
            <a:avLst/>
          </a:prstGeom>
          <a:noFill/>
        </p:spPr>
        <p:txBody>
          <a:bodyPr wrap="square" rtlCol="0">
            <a:spAutoFit/>
          </a:bodyPr>
          <a:lstStyle/>
          <a:p>
            <a:pPr marL="171450" indent="-171450">
              <a:buFont typeface="Wingdings" panose="05000000000000000000" pitchFamily="2" charset="2"/>
              <a:buChar char="ü"/>
            </a:pPr>
            <a:r>
              <a:rPr lang="tr-TR" sz="1000" b="1" noProof="1">
                <a:latin typeface="+mj-lt"/>
                <a:cs typeface="Arial" panose="020B0604020202020204" pitchFamily="34" charset="0"/>
              </a:rPr>
              <a:t>Hibrit Problemler Denemesi</a:t>
            </a:r>
          </a:p>
          <a:p>
            <a:pPr marL="171450" indent="-171450">
              <a:buFont typeface="Wingdings" panose="05000000000000000000" pitchFamily="2" charset="2"/>
              <a:buChar char="ü"/>
            </a:pPr>
            <a:r>
              <a:rPr lang="tr-TR" sz="1000" b="1" noProof="1">
                <a:latin typeface="+mj-lt"/>
                <a:cs typeface="Arial" panose="020B0604020202020204" pitchFamily="34" charset="0"/>
              </a:rPr>
              <a:t>YouTube : Ahmet Çelen</a:t>
            </a:r>
          </a:p>
        </p:txBody>
      </p:sp>
      <p:sp>
        <p:nvSpPr>
          <p:cNvPr id="40" name="Kaydırma: Yatay 39">
            <a:extLst>
              <a:ext uri="{FF2B5EF4-FFF2-40B4-BE49-F238E27FC236}">
                <a16:creationId xmlns:a16="http://schemas.microsoft.com/office/drawing/2014/main" id="{3B1F71DA-46EB-449F-9F95-B0EE4A37E3C9}"/>
              </a:ext>
            </a:extLst>
          </p:cNvPr>
          <p:cNvSpPr/>
          <p:nvPr/>
        </p:nvSpPr>
        <p:spPr>
          <a:xfrm>
            <a:off x="4403750" y="4441"/>
            <a:ext cx="1440160" cy="451675"/>
          </a:xfrm>
          <a:prstGeom prst="horizontalScroll">
            <a:avLst/>
          </a:prstGeom>
          <a:solidFill>
            <a:srgbClr val="BDA7F3">
              <a:alpha val="50000"/>
            </a:srgb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KG HAPPY" panose="02000000000000000000" pitchFamily="2" charset="0"/>
              </a:rPr>
              <a:t>DENEME 1</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41" name="Ok: Çentikli Sağ 8">
            <a:extLst>
              <a:ext uri="{FF2B5EF4-FFF2-40B4-BE49-F238E27FC236}">
                <a16:creationId xmlns:a16="http://schemas.microsoft.com/office/drawing/2014/main" id="{93E7048D-7162-4042-BB05-3806D79CF59F}"/>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46" name="Metin kutusu 45">
            <a:extLst>
              <a:ext uri="{FF2B5EF4-FFF2-40B4-BE49-F238E27FC236}">
                <a16:creationId xmlns:a16="http://schemas.microsoft.com/office/drawing/2014/main" id="{ADFBB8C1-A089-4326-900C-57BB80B52FC1}"/>
              </a:ext>
            </a:extLst>
          </p:cNvPr>
          <p:cNvSpPr txBox="1"/>
          <p:nvPr/>
        </p:nvSpPr>
        <p:spPr>
          <a:xfrm>
            <a:off x="4425582" y="208958"/>
            <a:ext cx="1523698"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pic>
        <p:nvPicPr>
          <p:cNvPr id="48" name="Grafik 47">
            <a:extLst>
              <a:ext uri="{FF2B5EF4-FFF2-40B4-BE49-F238E27FC236}">
                <a16:creationId xmlns:a16="http://schemas.microsoft.com/office/drawing/2014/main" id="{C54316CF-52FD-4AAD-99F2-6CA1C7B6555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245" y="16269"/>
            <a:ext cx="436517" cy="436517"/>
          </a:xfrm>
          <a:prstGeom prst="rect">
            <a:avLst/>
          </a:prstGeom>
        </p:spPr>
      </p:pic>
    </p:spTree>
    <p:extLst>
      <p:ext uri="{BB962C8B-B14F-4D97-AF65-F5344CB8AC3E}">
        <p14:creationId xmlns:p14="http://schemas.microsoft.com/office/powerpoint/2010/main" val="5503244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AppData\Local\Microsoft\Windows\Temporary Internet Files\Content.IE5\Y5CZX9ZW\pen-33077_960_72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0722" y="167635"/>
            <a:ext cx="294486" cy="3072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Düz Ok Bağlayıcısı 15"/>
          <p:cNvCxnSpPr/>
          <p:nvPr/>
        </p:nvCxnSpPr>
        <p:spPr>
          <a:xfrm>
            <a:off x="21832" y="474844"/>
            <a:ext cx="651889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Düz Bağlayıcı 17"/>
          <p:cNvCxnSpPr>
            <a:cxnSpLocks/>
          </p:cNvCxnSpPr>
          <p:nvPr/>
        </p:nvCxnSpPr>
        <p:spPr>
          <a:xfrm>
            <a:off x="3427450" y="474844"/>
            <a:ext cx="1" cy="2956575"/>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cxnSp>
        <p:nvCxnSpPr>
          <p:cNvPr id="19" name="Düz Bağlayıcı 18"/>
          <p:cNvCxnSpPr>
            <a:cxnSpLocks/>
          </p:cNvCxnSpPr>
          <p:nvPr/>
        </p:nvCxnSpPr>
        <p:spPr>
          <a:xfrm flipH="1">
            <a:off x="3422587" y="4644008"/>
            <a:ext cx="6413" cy="4104456"/>
          </a:xfrm>
          <a:prstGeom prst="line">
            <a:avLst/>
          </a:prstGeom>
          <a:ln w="9525">
            <a:solidFill>
              <a:srgbClr val="9933FF"/>
            </a:solidFill>
          </a:ln>
        </p:spPr>
        <p:style>
          <a:lnRef idx="1">
            <a:schemeClr val="accent6"/>
          </a:lnRef>
          <a:fillRef idx="0">
            <a:schemeClr val="accent6"/>
          </a:fillRef>
          <a:effectRef idx="0">
            <a:schemeClr val="accent6"/>
          </a:effectRef>
          <a:fontRef idx="minor">
            <a:schemeClr val="tx1"/>
          </a:fontRef>
        </p:style>
      </p:cxnSp>
      <p:sp>
        <p:nvSpPr>
          <p:cNvPr id="20" name="Metin kutusu 19"/>
          <p:cNvSpPr txBox="1"/>
          <p:nvPr/>
        </p:nvSpPr>
        <p:spPr>
          <a:xfrm rot="16200000">
            <a:off x="2743722" y="3872103"/>
            <a:ext cx="1356607" cy="307777"/>
          </a:xfrm>
          <a:prstGeom prst="rect">
            <a:avLst/>
          </a:prstGeom>
          <a:noFill/>
        </p:spPr>
        <p:txBody>
          <a:bodyPr wrap="square" rtlCol="0">
            <a:spAutoFit/>
          </a:bodyPr>
          <a:lstStyle/>
          <a:p>
            <a:pPr algn="ctr"/>
            <a:r>
              <a:rPr lang="tr-TR" sz="1400" dirty="0">
                <a:solidFill>
                  <a:srgbClr val="C00000"/>
                </a:solidFill>
                <a:latin typeface="Arial" panose="020B0604020202020204" pitchFamily="34" charset="0"/>
                <a:ea typeface="Arimo" panose="020B0604020202020204" pitchFamily="34" charset="0"/>
                <a:cs typeface="Arial" panose="020B0604020202020204" pitchFamily="34" charset="0"/>
              </a:rPr>
              <a:t>Ahmet Çelen</a:t>
            </a:r>
          </a:p>
        </p:txBody>
      </p:sp>
      <p:sp>
        <p:nvSpPr>
          <p:cNvPr id="1029" name="Akış Çizelgesi: Bağlayıcı 1028"/>
          <p:cNvSpPr/>
          <p:nvPr/>
        </p:nvSpPr>
        <p:spPr>
          <a:xfrm>
            <a:off x="3268137" y="8823905"/>
            <a:ext cx="307778" cy="270870"/>
          </a:xfrm>
          <a:prstGeom prst="flowChartConnector">
            <a:avLst/>
          </a:prstGeom>
          <a:ln w="63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sz="700" b="1" dirty="0">
              <a:latin typeface="Arial Narrow" panose="020B0606020202030204" pitchFamily="34" charset="0"/>
            </a:endParaRPr>
          </a:p>
        </p:txBody>
      </p:sp>
      <p:pic>
        <p:nvPicPr>
          <p:cNvPr id="22" name="Resim 21">
            <a:extLst>
              <a:ext uri="{FF2B5EF4-FFF2-40B4-BE49-F238E27FC236}">
                <a16:creationId xmlns:a16="http://schemas.microsoft.com/office/drawing/2014/main" id="{7B5D17A9-7E10-4F15-AF92-79B449802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1147" y="33015"/>
            <a:ext cx="288032" cy="288032"/>
          </a:xfrm>
          <a:prstGeom prst="ellipse">
            <a:avLst/>
          </a:prstGeom>
          <a:solidFill>
            <a:srgbClr val="FFCC66"/>
          </a:solidFill>
          <a:ln/>
        </p:spPr>
        <p:style>
          <a:lnRef idx="1">
            <a:schemeClr val="accent4"/>
          </a:lnRef>
          <a:fillRef idx="2">
            <a:schemeClr val="accent4"/>
          </a:fillRef>
          <a:effectRef idx="1">
            <a:schemeClr val="accent4"/>
          </a:effectRef>
          <a:fontRef idx="minor">
            <a:schemeClr val="dk1"/>
          </a:fontRef>
        </p:style>
      </p:pic>
      <p:sp>
        <p:nvSpPr>
          <p:cNvPr id="23" name="Metin kutusu 22">
            <a:extLst>
              <a:ext uri="{FF2B5EF4-FFF2-40B4-BE49-F238E27FC236}">
                <a16:creationId xmlns:a16="http://schemas.microsoft.com/office/drawing/2014/main" id="{640EF9E6-028E-40AC-B596-23D9728472F5}"/>
              </a:ext>
            </a:extLst>
          </p:cNvPr>
          <p:cNvSpPr txBox="1"/>
          <p:nvPr/>
        </p:nvSpPr>
        <p:spPr>
          <a:xfrm>
            <a:off x="3133994" y="8841702"/>
            <a:ext cx="576064" cy="230832"/>
          </a:xfrm>
          <a:prstGeom prst="rect">
            <a:avLst/>
          </a:prstGeom>
          <a:noFill/>
        </p:spPr>
        <p:txBody>
          <a:bodyPr wrap="square" rtlCol="0">
            <a:spAutoFit/>
          </a:bodyPr>
          <a:lstStyle/>
          <a:p>
            <a:pPr algn="ctr"/>
            <a:r>
              <a:rPr lang="tr-TR" sz="900" b="1" noProof="1">
                <a:latin typeface="Arial Narrow" panose="020B0606020202030204" pitchFamily="34" charset="0"/>
                <a:cs typeface="Arial" panose="020B0604020202020204" pitchFamily="34" charset="0"/>
              </a:rPr>
              <a:t>0</a:t>
            </a:r>
          </a:p>
        </p:txBody>
      </p:sp>
      <p:sp>
        <p:nvSpPr>
          <p:cNvPr id="49" name="Metin kutusu 48">
            <a:extLst>
              <a:ext uri="{FF2B5EF4-FFF2-40B4-BE49-F238E27FC236}">
                <a16:creationId xmlns:a16="http://schemas.microsoft.com/office/drawing/2014/main" id="{DEE2DDAC-AA92-4CA9-9FA8-EEB030C725FC}"/>
              </a:ext>
            </a:extLst>
          </p:cNvPr>
          <p:cNvSpPr txBox="1"/>
          <p:nvPr/>
        </p:nvSpPr>
        <p:spPr>
          <a:xfrm>
            <a:off x="-83084" y="452787"/>
            <a:ext cx="326058"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9.</a:t>
            </a:r>
          </a:p>
        </p:txBody>
      </p:sp>
      <p:sp>
        <p:nvSpPr>
          <p:cNvPr id="50" name="Metin kutusu 49">
            <a:extLst>
              <a:ext uri="{FF2B5EF4-FFF2-40B4-BE49-F238E27FC236}">
                <a16:creationId xmlns:a16="http://schemas.microsoft.com/office/drawing/2014/main" id="{F947B630-41DF-43A4-951E-4FF73330EC2C}"/>
              </a:ext>
            </a:extLst>
          </p:cNvPr>
          <p:cNvSpPr txBox="1"/>
          <p:nvPr/>
        </p:nvSpPr>
        <p:spPr>
          <a:xfrm>
            <a:off x="3336073" y="445973"/>
            <a:ext cx="36900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11.</a:t>
            </a:r>
          </a:p>
        </p:txBody>
      </p:sp>
      <p:sp>
        <p:nvSpPr>
          <p:cNvPr id="51" name="Metin kutusu 50">
            <a:extLst>
              <a:ext uri="{FF2B5EF4-FFF2-40B4-BE49-F238E27FC236}">
                <a16:creationId xmlns:a16="http://schemas.microsoft.com/office/drawing/2014/main" id="{87DFAE7F-E9AB-4E08-B267-37570B3207D7}"/>
              </a:ext>
            </a:extLst>
          </p:cNvPr>
          <p:cNvSpPr txBox="1"/>
          <p:nvPr/>
        </p:nvSpPr>
        <p:spPr>
          <a:xfrm>
            <a:off x="-99829" y="4655296"/>
            <a:ext cx="390185"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10.</a:t>
            </a:r>
          </a:p>
        </p:txBody>
      </p:sp>
      <p:sp>
        <p:nvSpPr>
          <p:cNvPr id="52" name="Metin kutusu 51">
            <a:extLst>
              <a:ext uri="{FF2B5EF4-FFF2-40B4-BE49-F238E27FC236}">
                <a16:creationId xmlns:a16="http://schemas.microsoft.com/office/drawing/2014/main" id="{99EB7520-8405-499B-9794-EB66E213DC55}"/>
              </a:ext>
            </a:extLst>
          </p:cNvPr>
          <p:cNvSpPr txBox="1"/>
          <p:nvPr/>
        </p:nvSpPr>
        <p:spPr>
          <a:xfrm>
            <a:off x="3372879" y="4655296"/>
            <a:ext cx="369001" cy="276999"/>
          </a:xfrm>
          <a:prstGeom prst="rect">
            <a:avLst/>
          </a:prstGeom>
          <a:noFill/>
        </p:spPr>
        <p:txBody>
          <a:bodyPr wrap="square" rtlCol="0">
            <a:spAutoFit/>
          </a:bodyPr>
          <a:lstStyle/>
          <a:p>
            <a:pPr algn="ctr"/>
            <a:r>
              <a:rPr lang="tr-TR" sz="1200" b="1" dirty="0">
                <a:latin typeface="Arial Narrow" panose="020B0606020202030204" pitchFamily="34" charset="0"/>
                <a:cs typeface="Arial" panose="020B0604020202020204" pitchFamily="34" charset="0"/>
              </a:rPr>
              <a:t>12.</a:t>
            </a:r>
          </a:p>
        </p:txBody>
      </p:sp>
      <p:sp>
        <p:nvSpPr>
          <p:cNvPr id="54" name="Metin kutusu 53">
            <a:extLst>
              <a:ext uri="{FF2B5EF4-FFF2-40B4-BE49-F238E27FC236}">
                <a16:creationId xmlns:a16="http://schemas.microsoft.com/office/drawing/2014/main" id="{6F571631-C11B-45EE-8A46-C84A1F97ADD2}"/>
              </a:ext>
            </a:extLst>
          </p:cNvPr>
          <p:cNvSpPr txBox="1"/>
          <p:nvPr/>
        </p:nvSpPr>
        <p:spPr>
          <a:xfrm>
            <a:off x="70693" y="2439306"/>
            <a:ext cx="3281681" cy="553998"/>
          </a:xfrm>
          <a:prstGeom prst="rect">
            <a:avLst/>
          </a:prstGeom>
          <a:noFill/>
        </p:spPr>
        <p:txBody>
          <a:bodyPr wrap="square" rtlCol="0">
            <a:spAutoFit/>
          </a:bodyPr>
          <a:lstStyle/>
          <a:p>
            <a:r>
              <a:rPr lang="tr-TR" sz="1000" noProof="1"/>
              <a:t>A) 100                                B) 120                                        C) 140</a:t>
            </a:r>
          </a:p>
          <a:p>
            <a:pPr marL="228600" indent="-228600">
              <a:buAutoNum type="alphaUcParenR"/>
            </a:pPr>
            <a:endParaRPr lang="tr-TR" sz="1000" noProof="1"/>
          </a:p>
          <a:p>
            <a:r>
              <a:rPr lang="tr-TR" sz="1000" noProof="1"/>
              <a:t>                      D) 230                                        E) 310</a:t>
            </a:r>
          </a:p>
        </p:txBody>
      </p:sp>
      <p:sp>
        <p:nvSpPr>
          <p:cNvPr id="11" name="Dikdörtgen: Köşeleri Yuvarlatılmış 10">
            <a:extLst>
              <a:ext uri="{FF2B5EF4-FFF2-40B4-BE49-F238E27FC236}">
                <a16:creationId xmlns:a16="http://schemas.microsoft.com/office/drawing/2014/main" id="{D6C2AFDE-F8E3-4784-8301-7996E3EFEB80}"/>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Metin kutusu 46">
            <a:extLst>
              <a:ext uri="{FF2B5EF4-FFF2-40B4-BE49-F238E27FC236}">
                <a16:creationId xmlns:a16="http://schemas.microsoft.com/office/drawing/2014/main" id="{1085E221-D39F-4F39-B6A3-63F53AB4F2EE}"/>
              </a:ext>
            </a:extLst>
          </p:cNvPr>
          <p:cNvSpPr txBox="1"/>
          <p:nvPr/>
        </p:nvSpPr>
        <p:spPr>
          <a:xfrm>
            <a:off x="69907" y="481442"/>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86" name="Metin kutusu 85">
            <a:extLst>
              <a:ext uri="{FF2B5EF4-FFF2-40B4-BE49-F238E27FC236}">
                <a16:creationId xmlns:a16="http://schemas.microsoft.com/office/drawing/2014/main" id="{A58FA874-F23F-4E19-8775-056F42ECA063}"/>
              </a:ext>
            </a:extLst>
          </p:cNvPr>
          <p:cNvSpPr txBox="1"/>
          <p:nvPr/>
        </p:nvSpPr>
        <p:spPr>
          <a:xfrm>
            <a:off x="3532367" y="468431"/>
            <a:ext cx="1078571"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2" name="Metin kutusu 111">
            <a:extLst>
              <a:ext uri="{FF2B5EF4-FFF2-40B4-BE49-F238E27FC236}">
                <a16:creationId xmlns:a16="http://schemas.microsoft.com/office/drawing/2014/main" id="{0BB6761A-AEC0-472E-A633-A8A01F96CA1A}"/>
              </a:ext>
            </a:extLst>
          </p:cNvPr>
          <p:cNvSpPr txBox="1"/>
          <p:nvPr/>
        </p:nvSpPr>
        <p:spPr>
          <a:xfrm>
            <a:off x="97759" y="4686074"/>
            <a:ext cx="3359093"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119" name="Metin kutusu 118">
            <a:extLst>
              <a:ext uri="{FF2B5EF4-FFF2-40B4-BE49-F238E27FC236}">
                <a16:creationId xmlns:a16="http://schemas.microsoft.com/office/drawing/2014/main" id="{6D745271-C86B-4F87-ABE1-9A31979F890B}"/>
              </a:ext>
            </a:extLst>
          </p:cNvPr>
          <p:cNvSpPr txBox="1"/>
          <p:nvPr/>
        </p:nvSpPr>
        <p:spPr>
          <a:xfrm>
            <a:off x="3597197" y="4675296"/>
            <a:ext cx="3278526" cy="246221"/>
          </a:xfrm>
          <a:prstGeom prst="rect">
            <a:avLst/>
          </a:prstGeom>
          <a:noFill/>
        </p:spPr>
        <p:txBody>
          <a:bodyPr wrap="square" rtlCol="0">
            <a:spAutoFit/>
          </a:bodyPr>
          <a:lstStyle/>
          <a:p>
            <a:r>
              <a:rPr lang="tr-TR" sz="1000" noProof="1">
                <a:cs typeface="Arial" panose="020B0604020202020204" pitchFamily="34" charset="0"/>
              </a:rPr>
              <a:t>xx</a:t>
            </a:r>
          </a:p>
        </p:txBody>
      </p:sp>
      <p:sp>
        <p:nvSpPr>
          <p:cNvPr id="36" name="Dikdörtgen: Köşeleri Yuvarlatılmış 35">
            <a:extLst>
              <a:ext uri="{FF2B5EF4-FFF2-40B4-BE49-F238E27FC236}">
                <a16:creationId xmlns:a16="http://schemas.microsoft.com/office/drawing/2014/main" id="{E65C3E6C-0CD0-4572-9321-4A2D4FE4657C}"/>
              </a:ext>
            </a:extLst>
          </p:cNvPr>
          <p:cNvSpPr/>
          <p:nvPr/>
        </p:nvSpPr>
        <p:spPr>
          <a:xfrm>
            <a:off x="6075313" y="9022508"/>
            <a:ext cx="89991" cy="6941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7" name="Oval 36">
            <a:extLst>
              <a:ext uri="{FF2B5EF4-FFF2-40B4-BE49-F238E27FC236}">
                <a16:creationId xmlns:a16="http://schemas.microsoft.com/office/drawing/2014/main" id="{EDE94D4F-3A55-498D-B800-357531F0F288}"/>
              </a:ext>
            </a:extLst>
          </p:cNvPr>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38" name="Metin kutusu 37">
            <a:extLst>
              <a:ext uri="{FF2B5EF4-FFF2-40B4-BE49-F238E27FC236}">
                <a16:creationId xmlns:a16="http://schemas.microsoft.com/office/drawing/2014/main" id="{90CEFA19-5F82-47EE-AD35-A8DDE3D04825}"/>
              </a:ext>
            </a:extLst>
          </p:cNvPr>
          <p:cNvSpPr txBox="1"/>
          <p:nvPr/>
        </p:nvSpPr>
        <p:spPr>
          <a:xfrm>
            <a:off x="3674986" y="8858921"/>
            <a:ext cx="516488" cy="215444"/>
          </a:xfrm>
          <a:prstGeom prst="rect">
            <a:avLst/>
          </a:prstGeom>
          <a:noFill/>
        </p:spPr>
        <p:txBody>
          <a:bodyPr wrap="none" rtlCol="0">
            <a:spAutoFit/>
          </a:bodyPr>
          <a:lstStyle/>
          <a:p>
            <a:r>
              <a:rPr lang="tr-TR" sz="800" b="1" dirty="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39" name="Metin kutusu 38">
            <a:extLst>
              <a:ext uri="{FF2B5EF4-FFF2-40B4-BE49-F238E27FC236}">
                <a16:creationId xmlns:a16="http://schemas.microsoft.com/office/drawing/2014/main" id="{D651E749-094E-4B91-B91C-E40E0151CE1C}"/>
              </a:ext>
            </a:extLst>
          </p:cNvPr>
          <p:cNvSpPr txBox="1"/>
          <p:nvPr/>
        </p:nvSpPr>
        <p:spPr>
          <a:xfrm>
            <a:off x="4479158" y="8858921"/>
            <a:ext cx="510076" cy="215444"/>
          </a:xfrm>
          <a:prstGeom prst="rect">
            <a:avLst/>
          </a:prstGeom>
          <a:noFill/>
        </p:spPr>
        <p:txBody>
          <a:bodyPr wrap="none" rtlCol="0">
            <a:spAutoFit/>
          </a:bodyPr>
          <a:lstStyle/>
          <a:p>
            <a:r>
              <a:rPr lang="tr-TR" sz="800" b="1" dirty="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40" name="Oval 39">
            <a:extLst>
              <a:ext uri="{FF2B5EF4-FFF2-40B4-BE49-F238E27FC236}">
                <a16:creationId xmlns:a16="http://schemas.microsoft.com/office/drawing/2014/main" id="{D4048E1F-D5FF-49B5-AC2B-F07D37EF7065}"/>
              </a:ext>
            </a:extLst>
          </p:cNvPr>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41" name="Düz Bağlayıcı 40">
            <a:extLst>
              <a:ext uri="{FF2B5EF4-FFF2-40B4-BE49-F238E27FC236}">
                <a16:creationId xmlns:a16="http://schemas.microsoft.com/office/drawing/2014/main" id="{8964C972-2D4F-4272-B54A-8E004BA3A867}"/>
              </a:ext>
            </a:extLst>
          </p:cNvPr>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2874B9B7-0D7E-4FE8-ABE9-435845AF3340}"/>
              </a:ext>
            </a:extLst>
          </p:cNvPr>
          <p:cNvSpPr txBox="1"/>
          <p:nvPr/>
        </p:nvSpPr>
        <p:spPr>
          <a:xfrm>
            <a:off x="5351466" y="8846561"/>
            <a:ext cx="441146" cy="230832"/>
          </a:xfrm>
          <a:prstGeom prst="rect">
            <a:avLst/>
          </a:prstGeom>
          <a:noFill/>
        </p:spPr>
        <p:txBody>
          <a:bodyPr wrap="none" rtlCol="0">
            <a:spAutoFit/>
          </a:bodyPr>
          <a:lstStyle/>
          <a:p>
            <a:r>
              <a:rPr lang="tr-TR" sz="900" b="1" dirty="0">
                <a:latin typeface="+mj-lt"/>
              </a:rPr>
              <a:t> Net </a:t>
            </a:r>
            <a:r>
              <a:rPr lang="tr-TR" sz="900" b="1" dirty="0">
                <a:latin typeface="+mj-lt"/>
                <a:sym typeface="Wingdings" panose="05000000000000000000" pitchFamily="2" charset="2"/>
              </a:rPr>
              <a:t>:</a:t>
            </a:r>
            <a:endParaRPr lang="tr-TR" sz="900" b="1" dirty="0">
              <a:latin typeface="+mj-lt"/>
            </a:endParaRPr>
          </a:p>
        </p:txBody>
      </p:sp>
      <p:sp>
        <p:nvSpPr>
          <p:cNvPr id="48" name="Oval 47">
            <a:extLst>
              <a:ext uri="{FF2B5EF4-FFF2-40B4-BE49-F238E27FC236}">
                <a16:creationId xmlns:a16="http://schemas.microsoft.com/office/drawing/2014/main" id="{AFE34EF2-1142-4B65-9058-1FD74B3525AF}"/>
              </a:ext>
            </a:extLst>
          </p:cNvPr>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53" name="Metin kutusu 52">
            <a:extLst>
              <a:ext uri="{FF2B5EF4-FFF2-40B4-BE49-F238E27FC236}">
                <a16:creationId xmlns:a16="http://schemas.microsoft.com/office/drawing/2014/main" id="{13EC6569-D05E-46AE-8655-507FB7244BFA}"/>
              </a:ext>
            </a:extLst>
          </p:cNvPr>
          <p:cNvSpPr txBox="1"/>
          <p:nvPr/>
        </p:nvSpPr>
        <p:spPr>
          <a:xfrm>
            <a:off x="6093296" y="8861506"/>
            <a:ext cx="458780" cy="230832"/>
          </a:xfrm>
          <a:prstGeom prst="rect">
            <a:avLst/>
          </a:prstGeom>
          <a:noFill/>
        </p:spPr>
        <p:txBody>
          <a:bodyPr wrap="none" rtlCol="0">
            <a:spAutoFit/>
          </a:bodyPr>
          <a:lstStyle/>
          <a:p>
            <a:r>
              <a:rPr lang="tr-TR" sz="900" b="1" dirty="0">
                <a:latin typeface="+mj-lt"/>
              </a:rPr>
              <a:t> Süre</a:t>
            </a:r>
            <a:r>
              <a:rPr lang="tr-TR" sz="900" b="1" dirty="0">
                <a:latin typeface="+mj-lt"/>
                <a:sym typeface="Wingdings" panose="05000000000000000000" pitchFamily="2" charset="2"/>
              </a:rPr>
              <a:t>:</a:t>
            </a:r>
            <a:endParaRPr lang="tr-TR" sz="900" b="1" dirty="0">
              <a:latin typeface="+mj-lt"/>
            </a:endParaRPr>
          </a:p>
        </p:txBody>
      </p:sp>
      <p:sp>
        <p:nvSpPr>
          <p:cNvPr id="55" name="Oval 54">
            <a:extLst>
              <a:ext uri="{FF2B5EF4-FFF2-40B4-BE49-F238E27FC236}">
                <a16:creationId xmlns:a16="http://schemas.microsoft.com/office/drawing/2014/main" id="{24CCAD20-439E-4D8E-917A-79ECEF990911}"/>
              </a:ext>
            </a:extLst>
          </p:cNvPr>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56" name="Düz Bağlayıcı 55">
            <a:extLst>
              <a:ext uri="{FF2B5EF4-FFF2-40B4-BE49-F238E27FC236}">
                <a16:creationId xmlns:a16="http://schemas.microsoft.com/office/drawing/2014/main" id="{E8DA56C1-9755-4106-BAD2-45AA59552DCE}"/>
              </a:ext>
            </a:extLst>
          </p:cNvPr>
          <p:cNvCxnSpPr/>
          <p:nvPr/>
        </p:nvCxnSpPr>
        <p:spPr>
          <a:xfrm>
            <a:off x="5373216" y="8821262"/>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Düz Bağlayıcı 56">
            <a:extLst>
              <a:ext uri="{FF2B5EF4-FFF2-40B4-BE49-F238E27FC236}">
                <a16:creationId xmlns:a16="http://schemas.microsoft.com/office/drawing/2014/main" id="{A48FB0F3-58F2-407D-B194-FF8F7139325E}"/>
              </a:ext>
            </a:extLst>
          </p:cNvPr>
          <p:cNvCxnSpPr/>
          <p:nvPr/>
        </p:nvCxnSpPr>
        <p:spPr>
          <a:xfrm>
            <a:off x="6166420" y="8821262"/>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58" name="Beşgen 13">
            <a:extLst>
              <a:ext uri="{FF2B5EF4-FFF2-40B4-BE49-F238E27FC236}">
                <a16:creationId xmlns:a16="http://schemas.microsoft.com/office/drawing/2014/main" id="{D884663F-82F7-4B5F-9BFF-B2DD176C7C04}"/>
              </a:ext>
            </a:extLst>
          </p:cNvPr>
          <p:cNvSpPr/>
          <p:nvPr/>
        </p:nvSpPr>
        <p:spPr>
          <a:xfrm>
            <a:off x="98507" y="65554"/>
            <a:ext cx="1804870" cy="352466"/>
          </a:xfrm>
          <a:prstGeom prst="homePlate">
            <a:avLst/>
          </a:prstGeom>
          <a:gradFill>
            <a:gsLst>
              <a:gs pos="0">
                <a:srgbClr val="FFEFD1"/>
              </a:gs>
              <a:gs pos="64999">
                <a:srgbClr val="F0EBD5"/>
              </a:gs>
              <a:gs pos="100000">
                <a:srgbClr val="D1C39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59" name="Metin kutusu 58">
            <a:extLst>
              <a:ext uri="{FF2B5EF4-FFF2-40B4-BE49-F238E27FC236}">
                <a16:creationId xmlns:a16="http://schemas.microsoft.com/office/drawing/2014/main" id="{7C45AC7A-DF51-4F0C-A6C0-22897C189942}"/>
              </a:ext>
            </a:extLst>
          </p:cNvPr>
          <p:cNvSpPr txBox="1"/>
          <p:nvPr/>
        </p:nvSpPr>
        <p:spPr>
          <a:xfrm>
            <a:off x="28842" y="47366"/>
            <a:ext cx="1794465" cy="400110"/>
          </a:xfrm>
          <a:prstGeom prst="rect">
            <a:avLst/>
          </a:prstGeom>
          <a:noFill/>
        </p:spPr>
        <p:txBody>
          <a:bodyPr wrap="square" rtlCol="0">
            <a:spAutoFit/>
          </a:bodyPr>
          <a:lstStyle/>
          <a:p>
            <a:pPr marL="171450" indent="-171450">
              <a:buFont typeface="Wingdings" panose="05000000000000000000" pitchFamily="2" charset="2"/>
              <a:buChar char="ü"/>
            </a:pPr>
            <a:r>
              <a:rPr lang="tr-TR" sz="1000" b="1" noProof="1">
                <a:latin typeface="+mj-lt"/>
                <a:cs typeface="Arial" panose="020B0604020202020204" pitchFamily="34" charset="0"/>
              </a:rPr>
              <a:t>Hibrit Problemler Denemesi</a:t>
            </a:r>
          </a:p>
          <a:p>
            <a:pPr marL="171450" indent="-171450">
              <a:buFont typeface="Wingdings" panose="05000000000000000000" pitchFamily="2" charset="2"/>
              <a:buChar char="ü"/>
            </a:pPr>
            <a:r>
              <a:rPr lang="tr-TR" sz="1000" b="1" noProof="1">
                <a:latin typeface="+mj-lt"/>
                <a:cs typeface="Arial" panose="020B0604020202020204" pitchFamily="34" charset="0"/>
              </a:rPr>
              <a:t>YouTube : Ahmet Çelen</a:t>
            </a:r>
          </a:p>
        </p:txBody>
      </p:sp>
      <p:sp>
        <p:nvSpPr>
          <p:cNvPr id="60" name="Kaydırma: Yatay 59">
            <a:extLst>
              <a:ext uri="{FF2B5EF4-FFF2-40B4-BE49-F238E27FC236}">
                <a16:creationId xmlns:a16="http://schemas.microsoft.com/office/drawing/2014/main" id="{2896AC17-976E-4BA7-9069-4E9BC9D8C8F8}"/>
              </a:ext>
            </a:extLst>
          </p:cNvPr>
          <p:cNvSpPr/>
          <p:nvPr/>
        </p:nvSpPr>
        <p:spPr>
          <a:xfrm>
            <a:off x="4403750" y="4441"/>
            <a:ext cx="1440160" cy="451675"/>
          </a:xfrm>
          <a:prstGeom prst="horizontalScroll">
            <a:avLst/>
          </a:prstGeom>
          <a:solidFill>
            <a:srgbClr val="BDA7F3">
              <a:alpha val="50000"/>
            </a:srgbClr>
          </a:solidFill>
          <a:ln w="254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tr-TR" sz="1000" noProof="1">
                <a:solidFill>
                  <a:schemeClr val="tx1"/>
                </a:solidFill>
                <a:latin typeface="KG HAPPY" panose="02000000000000000000" pitchFamily="2" charset="0"/>
              </a:rPr>
              <a:t>DENEME 1</a:t>
            </a:r>
            <a:br>
              <a:rPr lang="tr-TR" sz="1000" noProof="1">
                <a:solidFill>
                  <a:schemeClr val="tx1"/>
                </a:solidFill>
                <a:latin typeface="KG HAPPY" panose="02000000000000000000" pitchFamily="2" charset="0"/>
              </a:rPr>
            </a:br>
            <a:endParaRPr lang="tr-TR" sz="1000" noProof="1">
              <a:solidFill>
                <a:schemeClr val="tx1"/>
              </a:solidFill>
              <a:latin typeface="KG HAPPY" panose="02000000000000000000" pitchFamily="2" charset="0"/>
            </a:endParaRPr>
          </a:p>
        </p:txBody>
      </p:sp>
      <p:sp>
        <p:nvSpPr>
          <p:cNvPr id="61" name="Ok: Çentikli Sağ 8">
            <a:extLst>
              <a:ext uri="{FF2B5EF4-FFF2-40B4-BE49-F238E27FC236}">
                <a16:creationId xmlns:a16="http://schemas.microsoft.com/office/drawing/2014/main" id="{BE097CF9-66E5-4284-882B-BE4F35A25C31}"/>
              </a:ext>
            </a:extLst>
          </p:cNvPr>
          <p:cNvSpPr/>
          <p:nvPr/>
        </p:nvSpPr>
        <p:spPr>
          <a:xfrm>
            <a:off x="4488297" y="202244"/>
            <a:ext cx="1327148" cy="191380"/>
          </a:xfrm>
          <a:custGeom>
            <a:avLst/>
            <a:gdLst>
              <a:gd name="connsiteX0" fmla="*/ 0 w 1319347"/>
              <a:gd name="connsiteY0" fmla="*/ 42205 h 168819"/>
              <a:gd name="connsiteX1" fmla="*/ 1234938 w 1319347"/>
              <a:gd name="connsiteY1" fmla="*/ 42205 h 168819"/>
              <a:gd name="connsiteX2" fmla="*/ 1234938 w 1319347"/>
              <a:gd name="connsiteY2" fmla="*/ 0 h 168819"/>
              <a:gd name="connsiteX3" fmla="*/ 1319347 w 1319347"/>
              <a:gd name="connsiteY3" fmla="*/ 84410 h 168819"/>
              <a:gd name="connsiteX4" fmla="*/ 1234938 w 1319347"/>
              <a:gd name="connsiteY4" fmla="*/ 168819 h 168819"/>
              <a:gd name="connsiteX5" fmla="*/ 1234938 w 1319347"/>
              <a:gd name="connsiteY5" fmla="*/ 126614 h 168819"/>
              <a:gd name="connsiteX6" fmla="*/ 0 w 1319347"/>
              <a:gd name="connsiteY6" fmla="*/ 126614 h 168819"/>
              <a:gd name="connsiteX7" fmla="*/ 42205 w 1319347"/>
              <a:gd name="connsiteY7" fmla="*/ 84410 h 168819"/>
              <a:gd name="connsiteX8" fmla="*/ 0 w 1319347"/>
              <a:gd name="connsiteY8" fmla="*/ 42205 h 168819"/>
              <a:gd name="connsiteX0" fmla="*/ 7801 w 1327148"/>
              <a:gd name="connsiteY0" fmla="*/ 42205 h 168819"/>
              <a:gd name="connsiteX1" fmla="*/ 1242739 w 1327148"/>
              <a:gd name="connsiteY1" fmla="*/ 42205 h 168819"/>
              <a:gd name="connsiteX2" fmla="*/ 1242739 w 1327148"/>
              <a:gd name="connsiteY2" fmla="*/ 0 h 168819"/>
              <a:gd name="connsiteX3" fmla="*/ 1327148 w 1327148"/>
              <a:gd name="connsiteY3" fmla="*/ 84410 h 168819"/>
              <a:gd name="connsiteX4" fmla="*/ 1242739 w 1327148"/>
              <a:gd name="connsiteY4" fmla="*/ 168819 h 168819"/>
              <a:gd name="connsiteX5" fmla="*/ 1242739 w 1327148"/>
              <a:gd name="connsiteY5" fmla="*/ 126614 h 168819"/>
              <a:gd name="connsiteX6" fmla="*/ 7801 w 1327148"/>
              <a:gd name="connsiteY6" fmla="*/ 126614 h 168819"/>
              <a:gd name="connsiteX7" fmla="*/ 0 w 1327148"/>
              <a:gd name="connsiteY7" fmla="*/ 84410 h 168819"/>
              <a:gd name="connsiteX8" fmla="*/ 7801 w 1327148"/>
              <a:gd name="connsiteY8" fmla="*/ 42205 h 16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7148" h="168819">
                <a:moveTo>
                  <a:pt x="7801" y="42205"/>
                </a:moveTo>
                <a:lnTo>
                  <a:pt x="1242739" y="42205"/>
                </a:lnTo>
                <a:lnTo>
                  <a:pt x="1242739" y="0"/>
                </a:lnTo>
                <a:lnTo>
                  <a:pt x="1327148" y="84410"/>
                </a:lnTo>
                <a:lnTo>
                  <a:pt x="1242739" y="168819"/>
                </a:lnTo>
                <a:lnTo>
                  <a:pt x="1242739" y="126614"/>
                </a:lnTo>
                <a:lnTo>
                  <a:pt x="7801" y="126614"/>
                </a:lnTo>
                <a:lnTo>
                  <a:pt x="0" y="84410"/>
                </a:lnTo>
                <a:lnTo>
                  <a:pt x="7801" y="42205"/>
                </a:lnTo>
                <a:close/>
              </a:path>
            </a:pathLst>
          </a:cu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600" dirty="0">
              <a:solidFill>
                <a:schemeClr val="tx1"/>
              </a:solidFill>
              <a:latin typeface="Arial Narrow" panose="020B0606020202030204" pitchFamily="34" charset="0"/>
            </a:endParaRPr>
          </a:p>
        </p:txBody>
      </p:sp>
      <p:sp>
        <p:nvSpPr>
          <p:cNvPr id="63" name="Metin kutusu 62">
            <a:extLst>
              <a:ext uri="{FF2B5EF4-FFF2-40B4-BE49-F238E27FC236}">
                <a16:creationId xmlns:a16="http://schemas.microsoft.com/office/drawing/2014/main" id="{AA5D1276-A1E9-49B2-BEE0-BEC4BF6B52A1}"/>
              </a:ext>
            </a:extLst>
          </p:cNvPr>
          <p:cNvSpPr txBox="1"/>
          <p:nvPr/>
        </p:nvSpPr>
        <p:spPr>
          <a:xfrm>
            <a:off x="4425582" y="208958"/>
            <a:ext cx="1523698" cy="184666"/>
          </a:xfrm>
          <a:prstGeom prst="rect">
            <a:avLst/>
          </a:prstGeom>
          <a:noFill/>
        </p:spPr>
        <p:txBody>
          <a:bodyPr wrap="square" rtlCol="0">
            <a:spAutoFit/>
          </a:bodyPr>
          <a:lstStyle/>
          <a:p>
            <a:r>
              <a:rPr lang="tr-TR" sz="600" noProof="1">
                <a:latin typeface="Arial Narrow" panose="020B0606020202030204" pitchFamily="34" charset="0"/>
                <a:cs typeface="Arial" panose="020B0604020202020204" pitchFamily="34" charset="0"/>
              </a:rPr>
              <a:t>Video çözümleri için QR kodu okutabilirsiniz.</a:t>
            </a:r>
          </a:p>
        </p:txBody>
      </p:sp>
      <p:pic>
        <p:nvPicPr>
          <p:cNvPr id="64" name="Grafik 63">
            <a:extLst>
              <a:ext uri="{FF2B5EF4-FFF2-40B4-BE49-F238E27FC236}">
                <a16:creationId xmlns:a16="http://schemas.microsoft.com/office/drawing/2014/main" id="{6B26FB4E-27A1-476C-8A19-FDB169BC65F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245" y="16269"/>
            <a:ext cx="436517" cy="436517"/>
          </a:xfrm>
          <a:prstGeom prst="rect">
            <a:avLst/>
          </a:prstGeom>
        </p:spPr>
      </p:pic>
    </p:spTree>
    <p:extLst>
      <p:ext uri="{BB962C8B-B14F-4D97-AF65-F5344CB8AC3E}">
        <p14:creationId xmlns:p14="http://schemas.microsoft.com/office/powerpoint/2010/main" val="2189838121"/>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40000"/>
            <a:lumOff val="60000"/>
          </a:schemeClr>
        </a:solidFill>
        <a:ln w="3175">
          <a:solidFill>
            <a:schemeClr val="tx1"/>
          </a:solidFill>
        </a:ln>
      </a:spPr>
      <a:bodyPr rtlCol="0" anchor="ctr"/>
      <a:lstStyle>
        <a:defPPr algn="ctr">
          <a:defRPr/>
        </a:defPPr>
      </a:lstStyle>
      <a:style>
        <a:lnRef idx="2">
          <a:schemeClr val="accent4">
            <a:shade val="50000"/>
          </a:schemeClr>
        </a:lnRef>
        <a:fillRef idx="1">
          <a:schemeClr val="accent4"/>
        </a:fillRef>
        <a:effectRef idx="0">
          <a:schemeClr val="accent4"/>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lim">
  <a:themeElements>
    <a:clrScheme name="Dilim">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Dilim">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lim">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14379</TotalTime>
  <Words>42586</Words>
  <Application>Microsoft Office PowerPoint</Application>
  <PresentationFormat>Ekran Gösterisi (4:3)</PresentationFormat>
  <Paragraphs>5867</Paragraphs>
  <Slides>143</Slides>
  <Notes>15</Notes>
  <HiddenSlides>0</HiddenSlides>
  <MMClips>0</MMClips>
  <ScaleCrop>false</ScaleCrop>
  <HeadingPairs>
    <vt:vector size="6" baseType="variant">
      <vt:variant>
        <vt:lpstr>Kullanılan Yazı Tipleri</vt:lpstr>
      </vt:variant>
      <vt:variant>
        <vt:i4>20</vt:i4>
      </vt:variant>
      <vt:variant>
        <vt:lpstr>Tema</vt:lpstr>
      </vt:variant>
      <vt:variant>
        <vt:i4>2</vt:i4>
      </vt:variant>
      <vt:variant>
        <vt:lpstr>Slayt Başlıkları</vt:lpstr>
      </vt:variant>
      <vt:variant>
        <vt:i4>143</vt:i4>
      </vt:variant>
    </vt:vector>
  </HeadingPairs>
  <TitlesOfParts>
    <vt:vector size="165" baseType="lpstr">
      <vt:lpstr>Allema</vt:lpstr>
      <vt:lpstr>Arial</vt:lpstr>
      <vt:lpstr>Arial</vt:lpstr>
      <vt:lpstr>Arial Narrow</vt:lpstr>
      <vt:lpstr>Arimo</vt:lpstr>
      <vt:lpstr>Calibri</vt:lpstr>
      <vt:lpstr>Calibri </vt:lpstr>
      <vt:lpstr>Calibri (Gövde)</vt:lpstr>
      <vt:lpstr>Calibri Light</vt:lpstr>
      <vt:lpstr>Cambria Math</vt:lpstr>
      <vt:lpstr>Candara Light</vt:lpstr>
      <vt:lpstr>Century Gothic</vt:lpstr>
      <vt:lpstr>digital geometric</vt:lpstr>
      <vt:lpstr>Digital-7</vt:lpstr>
      <vt:lpstr>Good Idea St</vt:lpstr>
      <vt:lpstr>Helvetica</vt:lpstr>
      <vt:lpstr>KG HAPPY</vt:lpstr>
      <vt:lpstr>Montserrat SemiBold</vt:lpstr>
      <vt:lpstr>Wingdings</vt:lpstr>
      <vt:lpstr>Wingdings 3</vt:lpstr>
      <vt:lpstr>Office Teması</vt:lpstr>
      <vt:lpstr>Dilim</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Problemler Kampı - Ahmet ÇELEN</dc:title>
  <dc:creator>Pc</dc:creator>
  <cp:lastModifiedBy>Ahmet Çelen</cp:lastModifiedBy>
  <cp:revision>588</cp:revision>
  <cp:lastPrinted>2021-09-05T10:02:31Z</cp:lastPrinted>
  <dcterms:created xsi:type="dcterms:W3CDTF">2021-04-21T20:21:05Z</dcterms:created>
  <dcterms:modified xsi:type="dcterms:W3CDTF">2021-09-27T21:23:35Z</dcterms:modified>
</cp:coreProperties>
</file>