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2" r:id="rId2"/>
    <p:sldId id="263" r:id="rId3"/>
    <p:sldId id="264" r:id="rId4"/>
    <p:sldId id="265" r:id="rId5"/>
    <p:sldId id="266" r:id="rId6"/>
    <p:sldId id="267" r:id="rId7"/>
    <p:sldId id="269" r:id="rId8"/>
    <p:sldId id="270" r:id="rId9"/>
    <p:sldId id="271" r:id="rId10"/>
    <p:sldId id="272" r:id="rId11"/>
    <p:sldId id="273" r:id="rId12"/>
  </p:sldIdLst>
  <p:sldSz cx="6858000" cy="9144000" type="screen4x3"/>
  <p:notesSz cx="6858000" cy="9872663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  <a:srgbClr val="22C06D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468" y="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45281-DC67-4202-A19D-0544AF49671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2041525" y="739775"/>
            <a:ext cx="2774950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689515"/>
            <a:ext cx="548640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71800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9377316"/>
            <a:ext cx="2971800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25413-CA8C-48A5-BF34-1A0EEAAE6C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745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etin kutusu 26"/>
          <p:cNvSpPr txBox="1"/>
          <p:nvPr/>
        </p:nvSpPr>
        <p:spPr>
          <a:xfrm>
            <a:off x="44624" y="447799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080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3.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61" name="Dikdörtgen 60"/>
          <p:cNvSpPr/>
          <p:nvPr/>
        </p:nvSpPr>
        <p:spPr>
          <a:xfrm>
            <a:off x="2684642" y="19683"/>
            <a:ext cx="132440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AHMET ÇELEN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260234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</a:t>
            </a:r>
            <a:r>
              <a:rPr lang="tr-TR" sz="1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= - 1 olmak üzere,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bject 3"/>
          <p:cNvSpPr/>
          <p:nvPr/>
        </p:nvSpPr>
        <p:spPr>
          <a:xfrm>
            <a:off x="156139" y="36127"/>
            <a:ext cx="6590146" cy="3594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AYT / Matematik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510-249-01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40950" y="481183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2.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19" name="Metin kutusu 118"/>
          <p:cNvSpPr txBox="1"/>
          <p:nvPr/>
        </p:nvSpPr>
        <p:spPr>
          <a:xfrm>
            <a:off x="2137426" y="52667"/>
            <a:ext cx="265972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5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</a:t>
            </a: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122" name="Dikdörtgen 121"/>
          <p:cNvSpPr/>
          <p:nvPr/>
        </p:nvSpPr>
        <p:spPr>
          <a:xfrm>
            <a:off x="3455897" y="4757245"/>
            <a:ext cx="3080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4.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4" name="Metin kutusu 123"/>
          <p:cNvSpPr txBox="1"/>
          <p:nvPr/>
        </p:nvSpPr>
        <p:spPr>
          <a:xfrm>
            <a:off x="3648970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25" name="Metin kutusu 124"/>
          <p:cNvSpPr txBox="1"/>
          <p:nvPr/>
        </p:nvSpPr>
        <p:spPr>
          <a:xfrm>
            <a:off x="3720698" y="481880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43229"/>
            <a:ext cx="150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2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 ÇELEN</a:t>
            </a:r>
          </a:p>
        </p:txBody>
      </p:sp>
      <p:sp>
        <p:nvSpPr>
          <p:cNvPr id="32" name="Metin kutusu 31"/>
          <p:cNvSpPr txBox="1"/>
          <p:nvPr/>
        </p:nvSpPr>
        <p:spPr>
          <a:xfrm>
            <a:off x="260648" y="797387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</a:t>
            </a:r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+ 25  =    ( 4 + 2i ) . ( z-5i )  eşitliği sağlanmaktadır.</a:t>
            </a:r>
          </a:p>
        </p:txBody>
      </p:sp>
      <p:sp>
        <p:nvSpPr>
          <p:cNvPr id="33" name="Metin kutusu 32"/>
          <p:cNvSpPr txBox="1"/>
          <p:nvPr/>
        </p:nvSpPr>
        <p:spPr>
          <a:xfrm>
            <a:off x="305504" y="492930"/>
            <a:ext cx="2080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6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</a:p>
        </p:txBody>
      </p:sp>
      <p:sp>
        <p:nvSpPr>
          <p:cNvPr id="34" name="Metin kutusu 33"/>
          <p:cNvSpPr txBox="1"/>
          <p:nvPr/>
        </p:nvSpPr>
        <p:spPr>
          <a:xfrm>
            <a:off x="332656" y="786934"/>
            <a:ext cx="2080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</a:p>
        </p:txBody>
      </p:sp>
      <p:sp>
        <p:nvSpPr>
          <p:cNvPr id="35" name="Metin kutusu 34"/>
          <p:cNvSpPr txBox="1"/>
          <p:nvPr/>
        </p:nvSpPr>
        <p:spPr>
          <a:xfrm>
            <a:off x="260234" y="1115616"/>
            <a:ext cx="3000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Verilenlere göre </a:t>
            </a:r>
            <a:r>
              <a:rPr lang="tr-TR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</a:t>
            </a:r>
            <a:r>
              <a:rPr lang="tr-TR" sz="1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tr-TR" sz="1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karmaşık sayısı aşağıdakilerden</a:t>
            </a:r>
          </a:p>
          <a:p>
            <a:r>
              <a:rPr lang="tr-TR" sz="1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hangisine eşit olabilir?</a:t>
            </a:r>
          </a:p>
        </p:txBody>
      </p:sp>
      <p:sp>
        <p:nvSpPr>
          <p:cNvPr id="36" name="Metin kutusu 35"/>
          <p:cNvSpPr txBox="1"/>
          <p:nvPr/>
        </p:nvSpPr>
        <p:spPr>
          <a:xfrm>
            <a:off x="311692" y="1515726"/>
            <a:ext cx="30007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A) 1 + i                           B)  5 </a:t>
            </a:r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-i  </a:t>
            </a:r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C) 1-i</a:t>
            </a:r>
          </a:p>
        </p:txBody>
      </p:sp>
      <p:sp>
        <p:nvSpPr>
          <p:cNvPr id="38" name="Metin kutusu 37"/>
          <p:cNvSpPr txBox="1"/>
          <p:nvPr/>
        </p:nvSpPr>
        <p:spPr>
          <a:xfrm>
            <a:off x="660934" y="1816319"/>
            <a:ext cx="21993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D)   3 + 4i                               E) 4 – 3i  </a:t>
            </a:r>
          </a:p>
        </p:txBody>
      </p:sp>
    </p:spTree>
    <p:extLst>
      <p:ext uri="{BB962C8B-B14F-4D97-AF65-F5344CB8AC3E}">
        <p14:creationId xmlns:p14="http://schemas.microsoft.com/office/powerpoint/2010/main" val="137655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3"/>
          <p:cNvSpPr/>
          <p:nvPr/>
        </p:nvSpPr>
        <p:spPr>
          <a:xfrm>
            <a:off x="156139" y="36127"/>
            <a:ext cx="6590146" cy="395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4624" y="447799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5</a:t>
            </a:r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080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7.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260234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AYT / Matematik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Sınav Numarası 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40950" y="481183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6.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122" name="Dikdörtgen 121"/>
          <p:cNvSpPr/>
          <p:nvPr/>
        </p:nvSpPr>
        <p:spPr>
          <a:xfrm>
            <a:off x="3455897" y="4757245"/>
            <a:ext cx="3080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8.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4" name="Metin kutusu 123"/>
          <p:cNvSpPr txBox="1"/>
          <p:nvPr/>
        </p:nvSpPr>
        <p:spPr>
          <a:xfrm>
            <a:off x="3648970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25" name="Metin kutusu 124"/>
          <p:cNvSpPr txBox="1"/>
          <p:nvPr/>
        </p:nvSpPr>
        <p:spPr>
          <a:xfrm>
            <a:off x="3720698" y="481880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50923"/>
            <a:ext cx="1500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Ahmetcelen.com.tr</a:t>
            </a: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84" y="30079"/>
            <a:ext cx="2697226" cy="40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Yuvarlatılmış Çapraz Köşeli Dikdörtgen 5"/>
          <p:cNvSpPr/>
          <p:nvPr/>
        </p:nvSpPr>
        <p:spPr>
          <a:xfrm>
            <a:off x="2118224" y="29851"/>
            <a:ext cx="2625218" cy="395197"/>
          </a:xfrm>
          <a:prstGeom prst="round2Diag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1" name="Metin kutusu 50"/>
          <p:cNvSpPr txBox="1"/>
          <p:nvPr/>
        </p:nvSpPr>
        <p:spPr>
          <a:xfrm>
            <a:off x="2118576" y="93965"/>
            <a:ext cx="2624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Bilgi</a:t>
            </a:r>
          </a:p>
        </p:txBody>
      </p:sp>
    </p:spTree>
    <p:extLst>
      <p:ext uri="{BB962C8B-B14F-4D97-AF65-F5344CB8AC3E}">
        <p14:creationId xmlns:p14="http://schemas.microsoft.com/office/powerpoint/2010/main" val="350007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3"/>
          <p:cNvSpPr/>
          <p:nvPr/>
        </p:nvSpPr>
        <p:spPr>
          <a:xfrm>
            <a:off x="156139" y="36127"/>
            <a:ext cx="6590146" cy="395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4624" y="447799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9</a:t>
            </a:r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817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11.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260234" y="509355"/>
            <a:ext cx="31555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P(x) n. Dereceden bir polinom olmak üzere,</a:t>
            </a:r>
          </a:p>
          <a:p>
            <a:endParaRPr lang="tr-TR" sz="1000" noProof="1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000" b="1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Sabit terimi = –m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000" b="1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Sabit terimi dışındaki katsayıları m dir.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000" b="1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P(1) in alabileceği değerler toplamı 21m dir.</a:t>
            </a:r>
          </a:p>
          <a:p>
            <a:endParaRPr lang="tr-TR" sz="1000" noProof="1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b="1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Verilenlere göre n kaçtır?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AYT / Matematik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Sınav Numarası 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52722" y="4788390"/>
            <a:ext cx="2950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Pozitif gerçek sayılarda tanımlı birebir ve örten f,g,h fonksiyonları için aşağıda bağıntılar verilmiştir.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10.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122" name="Dikdörtgen 121"/>
          <p:cNvSpPr/>
          <p:nvPr/>
        </p:nvSpPr>
        <p:spPr>
          <a:xfrm>
            <a:off x="3455897" y="4757245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12.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24" name="Metin kutusu 123"/>
          <p:cNvSpPr txBox="1"/>
          <p:nvPr/>
        </p:nvSpPr>
        <p:spPr>
          <a:xfrm>
            <a:off x="3648970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25" name="Metin kutusu 124"/>
          <p:cNvSpPr txBox="1"/>
          <p:nvPr/>
        </p:nvSpPr>
        <p:spPr>
          <a:xfrm>
            <a:off x="3720698" y="481880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50923"/>
            <a:ext cx="1500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 ÇELEN</a:t>
            </a: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84" y="30079"/>
            <a:ext cx="2697226" cy="40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Yuvarlatılmış Çapraz Köşeli Dikdörtgen 5"/>
          <p:cNvSpPr/>
          <p:nvPr/>
        </p:nvSpPr>
        <p:spPr>
          <a:xfrm>
            <a:off x="2118224" y="29851"/>
            <a:ext cx="2625218" cy="395197"/>
          </a:xfrm>
          <a:prstGeom prst="round2Diag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Metin kutusu 31"/>
          <p:cNvSpPr txBox="1"/>
          <p:nvPr/>
        </p:nvSpPr>
        <p:spPr>
          <a:xfrm>
            <a:off x="2118576" y="93965"/>
            <a:ext cx="2624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Bilgi</a:t>
            </a:r>
          </a:p>
        </p:txBody>
      </p:sp>
      <p:sp>
        <p:nvSpPr>
          <p:cNvPr id="33" name="Metin kutusu 32"/>
          <p:cNvSpPr txBox="1"/>
          <p:nvPr/>
        </p:nvSpPr>
        <p:spPr>
          <a:xfrm>
            <a:off x="311692" y="1933587"/>
            <a:ext cx="30007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lphaUcParenR"/>
            </a:pPr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-6                           B)  3                                 C) 6</a:t>
            </a:r>
          </a:p>
          <a:p>
            <a:pPr marL="228600" indent="-228600">
              <a:buAutoNum type="alphaUcParenR"/>
            </a:pPr>
            <a:endParaRPr lang="tr-T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D) 7                                   E) 19</a:t>
            </a:r>
          </a:p>
        </p:txBody>
      </p:sp>
      <p:sp>
        <p:nvSpPr>
          <p:cNvPr id="34" name="Metin kutusu 33"/>
          <p:cNvSpPr txBox="1"/>
          <p:nvPr/>
        </p:nvSpPr>
        <p:spPr>
          <a:xfrm>
            <a:off x="408396" y="5227162"/>
            <a:ext cx="28592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h(g(x)) = </a:t>
            </a:r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6x-4</a:t>
            </a:r>
          </a:p>
          <a:p>
            <a:endParaRPr lang="tr-TR" sz="1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f( h(x) ) = 4x</a:t>
            </a:r>
          </a:p>
        </p:txBody>
      </p:sp>
      <p:sp>
        <p:nvSpPr>
          <p:cNvPr id="35" name="Metin kutusu 34"/>
          <p:cNvSpPr txBox="1"/>
          <p:nvPr/>
        </p:nvSpPr>
        <p:spPr>
          <a:xfrm>
            <a:off x="408396" y="5837947"/>
            <a:ext cx="2950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Verilenlere göre           kaçtır?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Metin kutusu 1"/>
              <p:cNvSpPr txBox="1"/>
              <p:nvPr/>
            </p:nvSpPr>
            <p:spPr>
              <a:xfrm>
                <a:off x="1268760" y="5770814"/>
                <a:ext cx="427938" cy="385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tr-TR" sz="9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tr-TR" sz="900" b="0" i="0" smtClean="0">
                              <a:latin typeface="Cambria Math"/>
                            </a:rPr>
                            <m:t>f</m:t>
                          </m:r>
                          <m:d>
                            <m:dPr>
                              <m:ctrlPr>
                                <a:rPr lang="tr-TR" sz="9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tr-TR" sz="900" b="0" i="0" smtClean="0">
                                  <a:latin typeface="Cambria Math"/>
                                </a:rPr>
                                <m:t>4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tr-TR" sz="900" b="0" i="0" smtClean="0">
                              <a:latin typeface="Cambria Math"/>
                            </a:rPr>
                            <m:t>g</m:t>
                          </m:r>
                          <m:d>
                            <m:dPr>
                              <m:ctrlPr>
                                <a:rPr lang="tr-TR" sz="9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tr-TR" sz="900" b="0" i="0" smtClean="0"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tr-TR" sz="900" dirty="0"/>
              </a:p>
            </p:txBody>
          </p:sp>
        </mc:Choice>
        <mc:Fallback xmlns="">
          <p:sp>
            <p:nvSpPr>
              <p:cNvPr id="2" name="Metin kutusu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760" y="5770814"/>
                <a:ext cx="427938" cy="38536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780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3"/>
          <p:cNvSpPr/>
          <p:nvPr/>
        </p:nvSpPr>
        <p:spPr>
          <a:xfrm>
            <a:off x="156139" y="36127"/>
            <a:ext cx="6590146" cy="395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4624" y="44779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13.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15.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260234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AYT / Matematik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Sınav Numarası 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40950" y="481183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14.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122" name="Dikdörtgen 121"/>
          <p:cNvSpPr/>
          <p:nvPr/>
        </p:nvSpPr>
        <p:spPr>
          <a:xfrm>
            <a:off x="3455897" y="4757245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16.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24" name="Metin kutusu 123"/>
          <p:cNvSpPr txBox="1"/>
          <p:nvPr/>
        </p:nvSpPr>
        <p:spPr>
          <a:xfrm>
            <a:off x="3648970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25" name="Metin kutusu 124"/>
          <p:cNvSpPr txBox="1"/>
          <p:nvPr/>
        </p:nvSpPr>
        <p:spPr>
          <a:xfrm>
            <a:off x="3720698" y="481880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50923"/>
            <a:ext cx="1500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Ahmetcelen.com.tr</a:t>
            </a: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84" y="30079"/>
            <a:ext cx="2697226" cy="40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Yuvarlatılmış Çapraz Köşeli Dikdörtgen 5"/>
          <p:cNvSpPr/>
          <p:nvPr/>
        </p:nvSpPr>
        <p:spPr>
          <a:xfrm>
            <a:off x="2118224" y="29851"/>
            <a:ext cx="2625218" cy="395197"/>
          </a:xfrm>
          <a:prstGeom prst="round2Diag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1" name="Metin kutusu 50"/>
          <p:cNvSpPr txBox="1"/>
          <p:nvPr/>
        </p:nvSpPr>
        <p:spPr>
          <a:xfrm>
            <a:off x="2118576" y="93965"/>
            <a:ext cx="2624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Bilgi</a:t>
            </a:r>
          </a:p>
        </p:txBody>
      </p:sp>
    </p:spTree>
    <p:extLst>
      <p:ext uri="{BB962C8B-B14F-4D97-AF65-F5344CB8AC3E}">
        <p14:creationId xmlns:p14="http://schemas.microsoft.com/office/powerpoint/2010/main" val="149855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3"/>
          <p:cNvSpPr/>
          <p:nvPr/>
        </p:nvSpPr>
        <p:spPr>
          <a:xfrm>
            <a:off x="156139" y="36127"/>
            <a:ext cx="6590146" cy="395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4624" y="44779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17.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19.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60202" y="2561035"/>
            <a:ext cx="3395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Yukarıda ağaçların tepelerine bağlanarak ipten ABC üçgeni</a:t>
            </a:r>
          </a:p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oluşturulmuştur. Uzunlukları şekil üzerinde gösterilmiştir.</a:t>
            </a:r>
          </a:p>
          <a:p>
            <a:r>
              <a:rPr lang="tr-TR" sz="1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Verilenlere göre |AC| kenarının alabileceği en büyük</a:t>
            </a:r>
            <a:r>
              <a:rPr lang="tr-TR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tr-TR" sz="10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tam sayı değeri için m kaç olmalıdır?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AYT / Matematik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Sınav Numarası 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40950" y="481183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18.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122" name="Dikdörtgen 121"/>
          <p:cNvSpPr/>
          <p:nvPr/>
        </p:nvSpPr>
        <p:spPr>
          <a:xfrm>
            <a:off x="3455897" y="4757245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20.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24" name="Metin kutusu 123"/>
          <p:cNvSpPr txBox="1"/>
          <p:nvPr/>
        </p:nvSpPr>
        <p:spPr>
          <a:xfrm>
            <a:off x="3648970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25" name="Metin kutusu 124"/>
          <p:cNvSpPr txBox="1"/>
          <p:nvPr/>
        </p:nvSpPr>
        <p:spPr>
          <a:xfrm>
            <a:off x="3720698" y="481880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50923"/>
            <a:ext cx="1500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 ÇELEN</a:t>
            </a: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84" y="30079"/>
            <a:ext cx="2697226" cy="40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Yuvarlatılmış Çapraz Köşeli Dikdörtgen 5"/>
          <p:cNvSpPr/>
          <p:nvPr/>
        </p:nvSpPr>
        <p:spPr>
          <a:xfrm>
            <a:off x="2118224" y="29851"/>
            <a:ext cx="2625218" cy="395197"/>
          </a:xfrm>
          <a:prstGeom prst="round2Diag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Metin kutusu 31"/>
          <p:cNvSpPr txBox="1"/>
          <p:nvPr/>
        </p:nvSpPr>
        <p:spPr>
          <a:xfrm>
            <a:off x="2118576" y="93965"/>
            <a:ext cx="2624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Bilgi</a:t>
            </a:r>
          </a:p>
        </p:txBody>
      </p:sp>
      <p:pic>
        <p:nvPicPr>
          <p:cNvPr id="1026" name="Picture 2" descr="C:\Users\Pc\AppData\Local\Microsoft\Windows\Temporary Internet Files\Content.IE5\Y5CZX9ZW\tree-41454_960_720[1]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4" y="1115617"/>
            <a:ext cx="451531" cy="554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3" descr="C:\Users\Pc\AppData\Local\Microsoft\Windows\Temporary Internet Files\Content.IE5\QHVV6T9T\clip-art-1300584_960_720[1]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25" y="659652"/>
            <a:ext cx="367305" cy="45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Pc\AppData\Local\Microsoft\Windows\Temporary Internet Files\Content.IE5\GRK5B6ZB\tree-146750_640[1]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849" y="2196302"/>
            <a:ext cx="317961" cy="432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Düz Bağlayıcı 4"/>
          <p:cNvCxnSpPr>
            <a:stCxn id="1026" idx="0"/>
            <a:endCxn id="2" idx="0"/>
          </p:cNvCxnSpPr>
          <p:nvPr/>
        </p:nvCxnSpPr>
        <p:spPr>
          <a:xfrm flipV="1">
            <a:off x="270390" y="659652"/>
            <a:ext cx="1806788" cy="455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Düz Bağlayıcı 7"/>
          <p:cNvCxnSpPr>
            <a:stCxn id="1026" idx="0"/>
          </p:cNvCxnSpPr>
          <p:nvPr/>
        </p:nvCxnSpPr>
        <p:spPr>
          <a:xfrm>
            <a:off x="270390" y="1115617"/>
            <a:ext cx="1869066" cy="1080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Düz Bağlayıcı 11"/>
          <p:cNvCxnSpPr>
            <a:stCxn id="2" idx="0"/>
          </p:cNvCxnSpPr>
          <p:nvPr/>
        </p:nvCxnSpPr>
        <p:spPr>
          <a:xfrm>
            <a:off x="2077178" y="659652"/>
            <a:ext cx="62278" cy="1536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etin kutusu 49"/>
          <p:cNvSpPr txBox="1"/>
          <p:nvPr/>
        </p:nvSpPr>
        <p:spPr>
          <a:xfrm>
            <a:off x="60202" y="992506"/>
            <a:ext cx="210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</a:t>
            </a:r>
          </a:p>
        </p:txBody>
      </p:sp>
      <p:sp>
        <p:nvSpPr>
          <p:cNvPr id="51" name="Metin kutusu 50"/>
          <p:cNvSpPr txBox="1"/>
          <p:nvPr/>
        </p:nvSpPr>
        <p:spPr>
          <a:xfrm>
            <a:off x="2139456" y="519808"/>
            <a:ext cx="210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</a:t>
            </a:r>
          </a:p>
        </p:txBody>
      </p:sp>
      <p:sp>
        <p:nvSpPr>
          <p:cNvPr id="52" name="Metin kutusu 51"/>
          <p:cNvSpPr txBox="1"/>
          <p:nvPr/>
        </p:nvSpPr>
        <p:spPr>
          <a:xfrm>
            <a:off x="1850661" y="2152890"/>
            <a:ext cx="210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</a:t>
            </a:r>
          </a:p>
        </p:txBody>
      </p:sp>
      <p:sp>
        <p:nvSpPr>
          <p:cNvPr id="53" name="Metin kutusu 52"/>
          <p:cNvSpPr txBox="1"/>
          <p:nvPr/>
        </p:nvSpPr>
        <p:spPr>
          <a:xfrm>
            <a:off x="614121" y="673701"/>
            <a:ext cx="2101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Metin kutusu 19"/>
              <p:cNvSpPr txBox="1"/>
              <p:nvPr/>
            </p:nvSpPr>
            <p:spPr>
              <a:xfrm>
                <a:off x="672696" y="539553"/>
                <a:ext cx="6074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tr-TR" sz="1200" i="1" smtClean="0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tr-TR" sz="12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tr-TR" sz="1200" i="0" smtClean="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tr-T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tr-TR" sz="1200" b="0" i="1" smtClean="0">
                              <a:latin typeface="Cambria Math"/>
                            </a:rPr>
                            <m:t>3</m:t>
                          </m:r>
                        </m:e>
                      </m:func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20" name="Metin kutusu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96" y="539553"/>
                <a:ext cx="607474" cy="276999"/>
              </a:xfrm>
              <a:prstGeom prst="rect">
                <a:avLst/>
              </a:prstGeom>
              <a:blipFill rotWithShape="1">
                <a:blip r:embed="rId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Metin kutusu 57"/>
              <p:cNvSpPr txBox="1"/>
              <p:nvPr/>
            </p:nvSpPr>
            <p:spPr>
              <a:xfrm>
                <a:off x="2049255" y="1238727"/>
                <a:ext cx="9606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tr-TR" sz="1200" i="1" smtClean="0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tr-TR" sz="12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tr-TR" sz="1200" i="0" smtClean="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tr-TR" sz="12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tr-TR" sz="1200" b="0" i="1" smtClean="0">
                              <a:latin typeface="Cambria Math"/>
                            </a:rPr>
                            <m:t>243 −</m:t>
                          </m:r>
                        </m:e>
                      </m:func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58" name="Metin kutusu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255" y="1238727"/>
                <a:ext cx="960648" cy="276999"/>
              </a:xfrm>
              <a:prstGeom prst="rect">
                <a:avLst/>
              </a:prstGeom>
              <a:blipFill rotWithShape="1">
                <a:blip r:embed="rId10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Metin kutusu 59"/>
              <p:cNvSpPr txBox="1"/>
              <p:nvPr/>
            </p:nvSpPr>
            <p:spPr>
              <a:xfrm>
                <a:off x="2808575" y="1242934"/>
                <a:ext cx="6074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tr-TR" sz="1200" i="1" smtClean="0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tr-TR" sz="12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tr-TR" sz="1200" i="0" smtClean="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tr-TR" sz="12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tr-TR" sz="1200" b="0" i="1" smtClean="0">
                              <a:latin typeface="Cambria Math"/>
                            </a:rPr>
                            <m:t>3</m:t>
                          </m:r>
                        </m:e>
                      </m:func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60" name="Metin kutusu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575" y="1242934"/>
                <a:ext cx="607474" cy="276999"/>
              </a:xfrm>
              <a:prstGeom prst="rect">
                <a:avLst/>
              </a:prstGeom>
              <a:blipFill rotWithShape="1"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Metin kutusu 62"/>
          <p:cNvSpPr txBox="1"/>
          <p:nvPr/>
        </p:nvSpPr>
        <p:spPr>
          <a:xfrm>
            <a:off x="348215" y="3308308"/>
            <a:ext cx="30007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A) </a:t>
            </a:r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8</a:t>
            </a:r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B)  27                                C) 32</a:t>
            </a:r>
          </a:p>
        </p:txBody>
      </p:sp>
      <p:sp>
        <p:nvSpPr>
          <p:cNvPr id="64" name="Metin kutusu 63"/>
          <p:cNvSpPr txBox="1"/>
          <p:nvPr/>
        </p:nvSpPr>
        <p:spPr>
          <a:xfrm>
            <a:off x="778406" y="3635896"/>
            <a:ext cx="21993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D)   64                              E) 81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Metin kutusu 65"/>
              <p:cNvSpPr txBox="1"/>
              <p:nvPr/>
            </p:nvSpPr>
            <p:spPr>
              <a:xfrm>
                <a:off x="776754" y="1692129"/>
                <a:ext cx="726306" cy="296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tr-TR" sz="1200" i="1" smtClean="0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tr-TR" sz="12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tr-TR" sz="1200" i="0" smtClean="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ad>
                                <m:radPr>
                                  <m:degHide m:val="on"/>
                                  <m:ctrlPr>
                                    <a:rPr lang="tr-TR" sz="1200" i="1" smtClean="0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tr-TR" sz="1200" b="0" i="1" smtClean="0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sub>
                          </m:sSub>
                        </m:fName>
                        <m:e>
                          <m:r>
                            <m:rPr>
                              <m:sty m:val="p"/>
                            </m:rPr>
                            <a:rPr lang="tr-TR" sz="1200" b="0" i="0" smtClean="0">
                              <a:latin typeface="Cambria Math"/>
                            </a:rPr>
                            <m:t>m</m:t>
                          </m:r>
                        </m:e>
                      </m:func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66" name="Metin kutusu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54" y="1692129"/>
                <a:ext cx="726306" cy="296876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310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3"/>
          <p:cNvSpPr/>
          <p:nvPr/>
        </p:nvSpPr>
        <p:spPr>
          <a:xfrm>
            <a:off x="156139" y="36127"/>
            <a:ext cx="6590146" cy="395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4624" y="44779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21.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23.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260234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AYT / Matematik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Sınav Numarası 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40950" y="481183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22.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122" name="Dikdörtgen 121"/>
          <p:cNvSpPr/>
          <p:nvPr/>
        </p:nvSpPr>
        <p:spPr>
          <a:xfrm>
            <a:off x="3455897" y="4757245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24.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24" name="Metin kutusu 123"/>
          <p:cNvSpPr txBox="1"/>
          <p:nvPr/>
        </p:nvSpPr>
        <p:spPr>
          <a:xfrm>
            <a:off x="3648970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25" name="Metin kutusu 124"/>
          <p:cNvSpPr txBox="1"/>
          <p:nvPr/>
        </p:nvSpPr>
        <p:spPr>
          <a:xfrm>
            <a:off x="3720698" y="481880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50923"/>
            <a:ext cx="1500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Ahmetcelen.com.tr</a:t>
            </a: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84" y="30079"/>
            <a:ext cx="2697226" cy="40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Yuvarlatılmış Çapraz Köşeli Dikdörtgen 5"/>
          <p:cNvSpPr/>
          <p:nvPr/>
        </p:nvSpPr>
        <p:spPr>
          <a:xfrm>
            <a:off x="2118224" y="29851"/>
            <a:ext cx="2625218" cy="395197"/>
          </a:xfrm>
          <a:prstGeom prst="round2Diag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1" name="Metin kutusu 50"/>
          <p:cNvSpPr txBox="1"/>
          <p:nvPr/>
        </p:nvSpPr>
        <p:spPr>
          <a:xfrm>
            <a:off x="2118576" y="93965"/>
            <a:ext cx="2624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Bilgi</a:t>
            </a:r>
          </a:p>
        </p:txBody>
      </p:sp>
    </p:spTree>
    <p:extLst>
      <p:ext uri="{BB962C8B-B14F-4D97-AF65-F5344CB8AC3E}">
        <p14:creationId xmlns:p14="http://schemas.microsoft.com/office/powerpoint/2010/main" val="222846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3"/>
          <p:cNvSpPr/>
          <p:nvPr/>
        </p:nvSpPr>
        <p:spPr>
          <a:xfrm>
            <a:off x="156139" y="36127"/>
            <a:ext cx="6590146" cy="395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4624" y="44779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25.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27.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287502" y="508884"/>
            <a:ext cx="312498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f </a:t>
            </a:r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fonksiyonu x = </a:t>
            </a:r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 </a:t>
            </a:r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noktasında süreklidir</a:t>
            </a:r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 </a:t>
            </a:r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fonksiyonu x= a noktasında türevlenebilirdir.</a:t>
            </a:r>
          </a:p>
          <a:p>
            <a:endParaRPr lang="tr-TR" sz="1000" noProof="1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b="1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Buna göre ;</a:t>
            </a:r>
          </a:p>
          <a:p>
            <a:endParaRPr lang="tr-TR" sz="1000" b="1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+mj-lt"/>
              <a:buAutoNum type="romanUcPeriod"/>
            </a:pPr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f fonksiyonu x= a noktasında türevlenebilirdir.</a:t>
            </a:r>
          </a:p>
          <a:p>
            <a:pPr marL="285750" indent="-285750">
              <a:buFont typeface="+mj-lt"/>
              <a:buAutoNum type="romanUcPeriod"/>
            </a:pPr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 fonksiyonun x=a noktasındaki sağdan ve soldan limitleri eşittir.</a:t>
            </a:r>
          </a:p>
          <a:p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III.      fog(x) fonksiyonu a noktasında süreklidir.</a:t>
            </a:r>
          </a:p>
          <a:p>
            <a:endParaRPr lang="tr-TR" sz="1000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b="1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Verilen yargılardan hangisi </a:t>
            </a:r>
            <a:r>
              <a:rPr lang="tr-TR" sz="1000" b="1" u="sng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kesinlikle</a:t>
            </a:r>
            <a:r>
              <a:rPr lang="tr-TR" sz="1000" b="1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doğrudur?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AYT / Matematik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Sınav Numarası 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40950" y="481183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26.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122" name="Dikdörtgen 121"/>
          <p:cNvSpPr/>
          <p:nvPr/>
        </p:nvSpPr>
        <p:spPr>
          <a:xfrm>
            <a:off x="3455897" y="4757245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28.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24" name="Metin kutusu 123"/>
          <p:cNvSpPr txBox="1"/>
          <p:nvPr/>
        </p:nvSpPr>
        <p:spPr>
          <a:xfrm>
            <a:off x="3648970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25" name="Metin kutusu 124"/>
          <p:cNvSpPr txBox="1"/>
          <p:nvPr/>
        </p:nvSpPr>
        <p:spPr>
          <a:xfrm>
            <a:off x="3720698" y="481880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50923"/>
            <a:ext cx="1500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Ahmetcelen.com.tr</a:t>
            </a: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84" y="30079"/>
            <a:ext cx="2697226" cy="40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Yuvarlatılmış Çapraz Köşeli Dikdörtgen 5"/>
          <p:cNvSpPr/>
          <p:nvPr/>
        </p:nvSpPr>
        <p:spPr>
          <a:xfrm>
            <a:off x="2118224" y="29851"/>
            <a:ext cx="2625218" cy="395197"/>
          </a:xfrm>
          <a:prstGeom prst="round2Diag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1" name="Metin kutusu 50"/>
          <p:cNvSpPr txBox="1"/>
          <p:nvPr/>
        </p:nvSpPr>
        <p:spPr>
          <a:xfrm>
            <a:off x="2118576" y="93965"/>
            <a:ext cx="2624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 Çelen – Matematik Deneme</a:t>
            </a:r>
            <a:endParaRPr lang="tr-TR" sz="1000" b="1" i="1" dirty="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Metin kutusu 32"/>
          <p:cNvSpPr txBox="1"/>
          <p:nvPr/>
        </p:nvSpPr>
        <p:spPr>
          <a:xfrm>
            <a:off x="232004" y="2267744"/>
            <a:ext cx="31249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lphaUcParenR"/>
            </a:pPr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Yalnız II                  B) Yalnız III                        C) Yalnız I </a:t>
            </a:r>
          </a:p>
          <a:p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D) I ve II                             E) II ve III</a:t>
            </a:r>
          </a:p>
        </p:txBody>
      </p:sp>
    </p:spTree>
    <p:extLst>
      <p:ext uri="{BB962C8B-B14F-4D97-AF65-F5344CB8AC3E}">
        <p14:creationId xmlns:p14="http://schemas.microsoft.com/office/powerpoint/2010/main" val="22944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3"/>
          <p:cNvSpPr/>
          <p:nvPr/>
        </p:nvSpPr>
        <p:spPr>
          <a:xfrm>
            <a:off x="156139" y="36127"/>
            <a:ext cx="6590146" cy="395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4624" y="44779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29.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31.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260234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AYT / Matematik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Sınav Numarası 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40950" y="481183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30.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122" name="Dikdörtgen 121"/>
          <p:cNvSpPr/>
          <p:nvPr/>
        </p:nvSpPr>
        <p:spPr>
          <a:xfrm>
            <a:off x="3455897" y="4757245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32.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4" name="Metin kutusu 123"/>
          <p:cNvSpPr txBox="1"/>
          <p:nvPr/>
        </p:nvSpPr>
        <p:spPr>
          <a:xfrm>
            <a:off x="3648970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25" name="Metin kutusu 124"/>
          <p:cNvSpPr txBox="1"/>
          <p:nvPr/>
        </p:nvSpPr>
        <p:spPr>
          <a:xfrm>
            <a:off x="3720698" y="481880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50923"/>
            <a:ext cx="1500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 ÇELEN</a:t>
            </a: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84" y="30079"/>
            <a:ext cx="2697226" cy="40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Yuvarlatılmış Çapraz Köşeli Dikdörtgen 5"/>
          <p:cNvSpPr/>
          <p:nvPr/>
        </p:nvSpPr>
        <p:spPr>
          <a:xfrm>
            <a:off x="2118224" y="29851"/>
            <a:ext cx="2625218" cy="395197"/>
          </a:xfrm>
          <a:prstGeom prst="round2Diag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Metin kutusu 31"/>
          <p:cNvSpPr txBox="1"/>
          <p:nvPr/>
        </p:nvSpPr>
        <p:spPr>
          <a:xfrm>
            <a:off x="2118576" y="93965"/>
            <a:ext cx="2624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Bilgi</a:t>
            </a:r>
          </a:p>
        </p:txBody>
      </p:sp>
    </p:spTree>
    <p:extLst>
      <p:ext uri="{BB962C8B-B14F-4D97-AF65-F5344CB8AC3E}">
        <p14:creationId xmlns:p14="http://schemas.microsoft.com/office/powerpoint/2010/main" val="3089401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İkizkenar Üçgen 7"/>
          <p:cNvSpPr/>
          <p:nvPr/>
        </p:nvSpPr>
        <p:spPr>
          <a:xfrm>
            <a:off x="3506805" y="4904893"/>
            <a:ext cx="2226451" cy="1801315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6" name="object 3"/>
          <p:cNvSpPr/>
          <p:nvPr/>
        </p:nvSpPr>
        <p:spPr>
          <a:xfrm>
            <a:off x="156139" y="36127"/>
            <a:ext cx="6590146" cy="395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4624" y="44779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33.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35.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260234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AYT / Matematik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Sınav Numarası 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40950" y="481183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34.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122" name="Dikdörtgen 121"/>
          <p:cNvSpPr/>
          <p:nvPr/>
        </p:nvSpPr>
        <p:spPr>
          <a:xfrm>
            <a:off x="3455897" y="4757245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36.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24" name="Metin kutusu 123"/>
          <p:cNvSpPr txBox="1"/>
          <p:nvPr/>
        </p:nvSpPr>
        <p:spPr>
          <a:xfrm>
            <a:off x="3648970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25" name="Metin kutusu 124"/>
          <p:cNvSpPr txBox="1"/>
          <p:nvPr/>
        </p:nvSpPr>
        <p:spPr>
          <a:xfrm>
            <a:off x="5371330" y="4822148"/>
            <a:ext cx="31555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ABC bir üçgen,</a:t>
            </a:r>
          </a:p>
          <a:p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ADEF bir paralelkenar ;</a:t>
            </a:r>
          </a:p>
          <a:p>
            <a:endParaRPr lang="tr-TR" sz="1000" noProof="1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ALAN (LDC) = 16 br</a:t>
            </a:r>
          </a:p>
          <a:p>
            <a:r>
              <a:rPr lang="tr-TR" sz="1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ALAN (FEC) =  24 br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50923"/>
            <a:ext cx="1500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Ahmetcelen.com.tr</a:t>
            </a: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84" y="30079"/>
            <a:ext cx="2697226" cy="40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Yuvarlatılmış Çapraz Köşeli Dikdörtgen 5"/>
          <p:cNvSpPr/>
          <p:nvPr/>
        </p:nvSpPr>
        <p:spPr>
          <a:xfrm>
            <a:off x="2118224" y="29851"/>
            <a:ext cx="2625218" cy="395197"/>
          </a:xfrm>
          <a:prstGeom prst="round2Diag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1" name="Metin kutusu 50"/>
          <p:cNvSpPr txBox="1"/>
          <p:nvPr/>
        </p:nvSpPr>
        <p:spPr>
          <a:xfrm>
            <a:off x="2118576" y="93965"/>
            <a:ext cx="2624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Bilgi</a:t>
            </a:r>
          </a:p>
        </p:txBody>
      </p:sp>
      <p:sp>
        <p:nvSpPr>
          <p:cNvPr id="5" name="Paralelkenar 4"/>
          <p:cNvSpPr/>
          <p:nvPr/>
        </p:nvSpPr>
        <p:spPr>
          <a:xfrm>
            <a:off x="3504954" y="5698096"/>
            <a:ext cx="1575946" cy="1008112"/>
          </a:xfrm>
          <a:prstGeom prst="parallelogram">
            <a:avLst>
              <a:gd name="adj" fmla="val 58258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8" name="Metin kutusu 37"/>
          <p:cNvSpPr txBox="1"/>
          <p:nvPr/>
        </p:nvSpPr>
        <p:spPr>
          <a:xfrm>
            <a:off x="4483244" y="4683648"/>
            <a:ext cx="355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</a:t>
            </a:r>
          </a:p>
        </p:txBody>
      </p:sp>
      <p:sp>
        <p:nvSpPr>
          <p:cNvPr id="39" name="Metin kutusu 38"/>
          <p:cNvSpPr txBox="1"/>
          <p:nvPr/>
        </p:nvSpPr>
        <p:spPr>
          <a:xfrm>
            <a:off x="3425739" y="6695737"/>
            <a:ext cx="355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</a:t>
            </a:r>
          </a:p>
        </p:txBody>
      </p:sp>
      <p:sp>
        <p:nvSpPr>
          <p:cNvPr id="40" name="Metin kutusu 39"/>
          <p:cNvSpPr txBox="1"/>
          <p:nvPr/>
        </p:nvSpPr>
        <p:spPr>
          <a:xfrm>
            <a:off x="5733256" y="6548304"/>
            <a:ext cx="355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</a:t>
            </a:r>
          </a:p>
        </p:txBody>
      </p:sp>
      <p:sp>
        <p:nvSpPr>
          <p:cNvPr id="41" name="Metin kutusu 40"/>
          <p:cNvSpPr txBox="1"/>
          <p:nvPr/>
        </p:nvSpPr>
        <p:spPr>
          <a:xfrm>
            <a:off x="3868979" y="5574985"/>
            <a:ext cx="355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K</a:t>
            </a:r>
          </a:p>
        </p:txBody>
      </p:sp>
      <p:sp>
        <p:nvSpPr>
          <p:cNvPr id="42" name="Metin kutusu 41"/>
          <p:cNvSpPr txBox="1"/>
          <p:nvPr/>
        </p:nvSpPr>
        <p:spPr>
          <a:xfrm>
            <a:off x="5107274" y="5574985"/>
            <a:ext cx="355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L</a:t>
            </a:r>
          </a:p>
        </p:txBody>
      </p:sp>
      <p:sp>
        <p:nvSpPr>
          <p:cNvPr id="43" name="Metin kutusu 42"/>
          <p:cNvSpPr txBox="1"/>
          <p:nvPr/>
        </p:nvSpPr>
        <p:spPr>
          <a:xfrm>
            <a:off x="4363099" y="6708347"/>
            <a:ext cx="355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</a:t>
            </a:r>
            <a:endParaRPr lang="tr-TR" sz="1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4" name="Metin kutusu 43"/>
          <p:cNvSpPr txBox="1"/>
          <p:nvPr/>
        </p:nvSpPr>
        <p:spPr>
          <a:xfrm>
            <a:off x="3549956" y="6956903"/>
            <a:ext cx="315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Yukarıdaki bilgilere göre KLBD paralelkenarının alanı</a:t>
            </a:r>
          </a:p>
          <a:p>
            <a:r>
              <a:rPr lang="tr-TR" sz="1000" b="1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kaç birimkaredir?</a:t>
            </a:r>
          </a:p>
        </p:txBody>
      </p:sp>
      <p:sp>
        <p:nvSpPr>
          <p:cNvPr id="45" name="Metin kutusu 44"/>
          <p:cNvSpPr txBox="1"/>
          <p:nvPr/>
        </p:nvSpPr>
        <p:spPr>
          <a:xfrm>
            <a:off x="6346729" y="5253035"/>
            <a:ext cx="20952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</a:p>
        </p:txBody>
      </p:sp>
      <p:sp>
        <p:nvSpPr>
          <p:cNvPr id="46" name="Metin kutusu 45"/>
          <p:cNvSpPr txBox="1"/>
          <p:nvPr/>
        </p:nvSpPr>
        <p:spPr>
          <a:xfrm>
            <a:off x="6346729" y="5402332"/>
            <a:ext cx="20952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0617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3"/>
          <p:cNvSpPr/>
          <p:nvPr/>
        </p:nvSpPr>
        <p:spPr>
          <a:xfrm>
            <a:off x="156139" y="36127"/>
            <a:ext cx="6590146" cy="395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4624" y="44779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37.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39.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260234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AYT / Matematik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Sınav Numarası 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40950" y="481183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38.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122" name="Dikdörtgen 121"/>
          <p:cNvSpPr/>
          <p:nvPr/>
        </p:nvSpPr>
        <p:spPr>
          <a:xfrm>
            <a:off x="3455897" y="4757245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40.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24" name="Metin kutusu 123"/>
          <p:cNvSpPr txBox="1"/>
          <p:nvPr/>
        </p:nvSpPr>
        <p:spPr>
          <a:xfrm>
            <a:off x="3648970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25" name="Metin kutusu 124"/>
          <p:cNvSpPr txBox="1"/>
          <p:nvPr/>
        </p:nvSpPr>
        <p:spPr>
          <a:xfrm>
            <a:off x="3720698" y="481880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50923"/>
            <a:ext cx="1500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 ÇELEN</a:t>
            </a: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84" y="30079"/>
            <a:ext cx="2697226" cy="40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Yuvarlatılmış Çapraz Köşeli Dikdörtgen 5"/>
          <p:cNvSpPr/>
          <p:nvPr/>
        </p:nvSpPr>
        <p:spPr>
          <a:xfrm>
            <a:off x="2118224" y="29851"/>
            <a:ext cx="2625218" cy="395197"/>
          </a:xfrm>
          <a:prstGeom prst="round2Diag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Metin kutusu 31"/>
          <p:cNvSpPr txBox="1"/>
          <p:nvPr/>
        </p:nvSpPr>
        <p:spPr>
          <a:xfrm>
            <a:off x="2118576" y="93965"/>
            <a:ext cx="2624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Bilgi</a:t>
            </a:r>
          </a:p>
        </p:txBody>
      </p:sp>
    </p:spTree>
    <p:extLst>
      <p:ext uri="{BB962C8B-B14F-4D97-AF65-F5344CB8AC3E}">
        <p14:creationId xmlns:p14="http://schemas.microsoft.com/office/powerpoint/2010/main" val="146486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72" y="179512"/>
            <a:ext cx="4323169" cy="5065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689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2749</TotalTime>
  <Words>753</Words>
  <Application>Microsoft Office PowerPoint</Application>
  <PresentationFormat>Ekran Gösterisi (4:3)</PresentationFormat>
  <Paragraphs>280</Paragraphs>
  <Slides>11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2" baseType="lpstr"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Pc</dc:creator>
  <cp:lastModifiedBy>Pc</cp:lastModifiedBy>
  <cp:revision>133</cp:revision>
  <cp:lastPrinted>2020-06-28T19:34:39Z</cp:lastPrinted>
  <dcterms:created xsi:type="dcterms:W3CDTF">2020-03-30T13:39:30Z</dcterms:created>
  <dcterms:modified xsi:type="dcterms:W3CDTF">2020-10-11T19:10:51Z</dcterms:modified>
</cp:coreProperties>
</file>