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56" r:id="rId2"/>
    <p:sldMasterId id="2147483768" r:id="rId3"/>
  </p:sldMasterIdLst>
  <p:notesMasterIdLst>
    <p:notesMasterId r:id="rId39"/>
  </p:notesMasterIdLst>
  <p:sldIdLst>
    <p:sldId id="275" r:id="rId4"/>
    <p:sldId id="288" r:id="rId5"/>
    <p:sldId id="292" r:id="rId6"/>
    <p:sldId id="302" r:id="rId7"/>
    <p:sldId id="276" r:id="rId8"/>
    <p:sldId id="277" r:id="rId9"/>
    <p:sldId id="278" r:id="rId10"/>
    <p:sldId id="279" r:id="rId11"/>
    <p:sldId id="280" r:id="rId12"/>
    <p:sldId id="290" r:id="rId13"/>
    <p:sldId id="297" r:id="rId14"/>
    <p:sldId id="291" r:id="rId15"/>
    <p:sldId id="262" r:id="rId16"/>
    <p:sldId id="263" r:id="rId17"/>
    <p:sldId id="264" r:id="rId18"/>
    <p:sldId id="265" r:id="rId19"/>
    <p:sldId id="266" r:id="rId20"/>
    <p:sldId id="267" r:id="rId21"/>
    <p:sldId id="294" r:id="rId22"/>
    <p:sldId id="296" r:id="rId23"/>
    <p:sldId id="299" r:id="rId24"/>
    <p:sldId id="298" r:id="rId25"/>
    <p:sldId id="289" r:id="rId26"/>
    <p:sldId id="306" r:id="rId27"/>
    <p:sldId id="283" r:id="rId28"/>
    <p:sldId id="284" r:id="rId29"/>
    <p:sldId id="285" r:id="rId30"/>
    <p:sldId id="293" r:id="rId31"/>
    <p:sldId id="300" r:id="rId32"/>
    <p:sldId id="301" r:id="rId33"/>
    <p:sldId id="272" r:id="rId34"/>
    <p:sldId id="303" r:id="rId35"/>
    <p:sldId id="287" r:id="rId36"/>
    <p:sldId id="304" r:id="rId37"/>
    <p:sldId id="305" r:id="rId38"/>
  </p:sldIdLst>
  <p:sldSz cx="6858000" cy="9144000" type="screen4x3"/>
  <p:notesSz cx="6858000" cy="9872663"/>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FF"/>
    <a:srgbClr val="FF00FF"/>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28" autoAdjust="0"/>
  </p:normalViewPr>
  <p:slideViewPr>
    <p:cSldViewPr>
      <p:cViewPr>
        <p:scale>
          <a:sx n="150" d="100"/>
          <a:sy n="150" d="100"/>
        </p:scale>
        <p:origin x="540" y="3030"/>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71800" cy="493633"/>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93633"/>
          </a:xfrm>
          <a:prstGeom prst="rect">
            <a:avLst/>
          </a:prstGeom>
        </p:spPr>
        <p:txBody>
          <a:bodyPr vert="horz" lIns="91440" tIns="45720" rIns="91440" bIns="45720" rtlCol="0"/>
          <a:lstStyle>
            <a:lvl1pPr algn="r">
              <a:defRPr sz="1200"/>
            </a:lvl1pPr>
          </a:lstStyle>
          <a:p>
            <a:fld id="{47545281-DC67-4202-A19D-0544AF49671B}" type="datetimeFigureOut">
              <a:rPr lang="tr-TR" smtClean="0"/>
              <a:t>11.10.2020</a:t>
            </a:fld>
            <a:endParaRPr lang="tr-TR"/>
          </a:p>
        </p:txBody>
      </p:sp>
      <p:sp>
        <p:nvSpPr>
          <p:cNvPr id="4" name="Slayt Görüntüsü Yer Tutucusu 3"/>
          <p:cNvSpPr>
            <a:spLocks noGrp="1" noRot="1" noChangeAspect="1"/>
          </p:cNvSpPr>
          <p:nvPr>
            <p:ph type="sldImg" idx="2"/>
          </p:nvPr>
        </p:nvSpPr>
        <p:spPr>
          <a:xfrm>
            <a:off x="2039938" y="739775"/>
            <a:ext cx="2778125" cy="3703638"/>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689515"/>
            <a:ext cx="5486400" cy="4442698"/>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377316"/>
            <a:ext cx="2971800" cy="493633"/>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9377316"/>
            <a:ext cx="2971800" cy="493633"/>
          </a:xfrm>
          <a:prstGeom prst="rect">
            <a:avLst/>
          </a:prstGeom>
        </p:spPr>
        <p:txBody>
          <a:bodyPr vert="horz" lIns="91440" tIns="45720" rIns="91440" bIns="45720" rtlCol="0" anchor="b"/>
          <a:lstStyle>
            <a:lvl1pPr algn="r">
              <a:defRPr sz="1200"/>
            </a:lvl1pPr>
          </a:lstStyle>
          <a:p>
            <a:fld id="{CAB25413-CA8C-48A5-BF34-1A0EEAAE6C60}" type="slidenum">
              <a:rPr lang="tr-TR" smtClean="0"/>
              <a:t>‹#›</a:t>
            </a:fld>
            <a:endParaRPr lang="tr-TR"/>
          </a:p>
        </p:txBody>
      </p:sp>
    </p:spTree>
    <p:extLst>
      <p:ext uri="{BB962C8B-B14F-4D97-AF65-F5344CB8AC3E}">
        <p14:creationId xmlns:p14="http://schemas.microsoft.com/office/powerpoint/2010/main" val="2647458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CAB25413-CA8C-48A5-BF34-1A0EEAAE6C60}" type="slidenum">
              <a:rPr lang="tr-TR" smtClean="0"/>
              <a:t>1</a:t>
            </a:fld>
            <a:endParaRPr lang="tr-TR"/>
          </a:p>
        </p:txBody>
      </p:sp>
    </p:spTree>
    <p:extLst>
      <p:ext uri="{BB962C8B-B14F-4D97-AF65-F5344CB8AC3E}">
        <p14:creationId xmlns:p14="http://schemas.microsoft.com/office/powerpoint/2010/main" val="2104493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CAB25413-CA8C-48A5-BF34-1A0EEAAE6C60}" type="slidenum">
              <a:rPr lang="tr-TR" smtClean="0"/>
              <a:t>6</a:t>
            </a:fld>
            <a:endParaRPr lang="tr-TR"/>
          </a:p>
        </p:txBody>
      </p:sp>
    </p:spTree>
    <p:extLst>
      <p:ext uri="{BB962C8B-B14F-4D97-AF65-F5344CB8AC3E}">
        <p14:creationId xmlns:p14="http://schemas.microsoft.com/office/powerpoint/2010/main" val="2139164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CAB25413-CA8C-48A5-BF34-1A0EEAAE6C60}" type="slidenum">
              <a:rPr lang="tr-TR" smtClean="0"/>
              <a:t>12</a:t>
            </a:fld>
            <a:endParaRPr lang="tr-TR"/>
          </a:p>
        </p:txBody>
      </p:sp>
    </p:spTree>
    <p:extLst>
      <p:ext uri="{BB962C8B-B14F-4D97-AF65-F5344CB8AC3E}">
        <p14:creationId xmlns:p14="http://schemas.microsoft.com/office/powerpoint/2010/main" val="16187823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13</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14</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15</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16</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17</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18</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19</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20</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21</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22</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23</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24</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25</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26</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27</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noProof="1"/>
          </a:p>
        </p:txBody>
      </p:sp>
      <p:sp>
        <p:nvSpPr>
          <p:cNvPr id="4" name="Slayt Numarası Yer Tutucusu 3"/>
          <p:cNvSpPr>
            <a:spLocks noGrp="1"/>
          </p:cNvSpPr>
          <p:nvPr>
            <p:ph type="sldNum" sz="quarter" idx="10"/>
          </p:nvPr>
        </p:nvSpPr>
        <p:spPr/>
        <p:txBody>
          <a:bodyPr/>
          <a:lstStyle/>
          <a:p>
            <a:fld id="{9104AA72-AC16-4335-9684-B0E851F65EB8}" type="slidenum">
              <a:rPr lang="tr-TR" smtClean="0"/>
              <a:t>28</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noProof="1"/>
          </a:p>
        </p:txBody>
      </p:sp>
      <p:sp>
        <p:nvSpPr>
          <p:cNvPr id="4" name="Slayt Numarası Yer Tutucusu 3"/>
          <p:cNvSpPr>
            <a:spLocks noGrp="1"/>
          </p:cNvSpPr>
          <p:nvPr>
            <p:ph type="sldNum" sz="quarter" idx="10"/>
          </p:nvPr>
        </p:nvSpPr>
        <p:spPr/>
        <p:txBody>
          <a:bodyPr/>
          <a:lstStyle/>
          <a:p>
            <a:fld id="{9104AA72-AC16-4335-9684-B0E851F65EB8}" type="slidenum">
              <a:rPr lang="tr-TR" smtClean="0"/>
              <a:t>29</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30</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31</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32</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33</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34</a:t>
            </a:fld>
            <a:endParaRPr lang="tr-TR"/>
          </a:p>
        </p:txBody>
      </p:sp>
    </p:spTree>
    <p:extLst>
      <p:ext uri="{BB962C8B-B14F-4D97-AF65-F5344CB8AC3E}">
        <p14:creationId xmlns:p14="http://schemas.microsoft.com/office/powerpoint/2010/main" val="231379526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a:xfrm>
            <a:off x="2039938" y="739775"/>
            <a:ext cx="2778125" cy="3703638"/>
          </a:xfrm>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10"/>
          </p:nvPr>
        </p:nvSpPr>
        <p:spPr/>
        <p:txBody>
          <a:bodyPr/>
          <a:lstStyle/>
          <a:p>
            <a:fld id="{9104AA72-AC16-4335-9684-B0E851F65EB8}" type="slidenum">
              <a:rPr lang="tr-TR" smtClean="0"/>
              <a:t>35</a:t>
            </a:fld>
            <a:endParaRPr lang="tr-TR"/>
          </a:p>
        </p:txBody>
      </p:sp>
    </p:spTree>
    <p:extLst>
      <p:ext uri="{BB962C8B-B14F-4D97-AF65-F5344CB8AC3E}">
        <p14:creationId xmlns:p14="http://schemas.microsoft.com/office/powerpoint/2010/main" val="2313795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514350" y="2840572"/>
            <a:ext cx="5829300" cy="1960033"/>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541735" y="5875867"/>
            <a:ext cx="5829300" cy="1816100"/>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541735" y="3875622"/>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342900" y="2133605"/>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3486150" y="2133605"/>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342902"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342902"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3483772"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3483772"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342903" y="364067"/>
            <a:ext cx="2256235" cy="154940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2681290" y="364071"/>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342903" y="1913471"/>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344216" y="6400801"/>
            <a:ext cx="4114800" cy="755651"/>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344216" y="7156452"/>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4972050" y="366189"/>
            <a:ext cx="1543050" cy="7802033"/>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342900" y="366189"/>
            <a:ext cx="4514850" cy="7802033"/>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14" name="Başlık 13"/>
          <p:cNvSpPr>
            <a:spLocks noGrp="1"/>
          </p:cNvSpPr>
          <p:nvPr>
            <p:ph type="ctrTitle"/>
          </p:nvPr>
        </p:nvSpPr>
        <p:spPr>
          <a:xfrm>
            <a:off x="1074420" y="479864"/>
            <a:ext cx="5554980" cy="1962912"/>
          </a:xfrm>
        </p:spPr>
        <p:txBody>
          <a:bodyPr anchor="b"/>
          <a:lstStyle>
            <a:lvl1pPr algn="l">
              <a:defRPr/>
            </a:lvl1pPr>
            <a:extLst/>
          </a:lstStyle>
          <a:p>
            <a:r>
              <a:rPr kumimoji="0" lang="tr-TR" smtClean="0"/>
              <a:t>Asıl başlık stili için tıklatın</a:t>
            </a:r>
            <a:endParaRPr kumimoji="0" lang="en-US"/>
          </a:p>
        </p:txBody>
      </p:sp>
      <p:sp>
        <p:nvSpPr>
          <p:cNvPr id="22" name="Alt Başlık 21"/>
          <p:cNvSpPr>
            <a:spLocks noGrp="1"/>
          </p:cNvSpPr>
          <p:nvPr>
            <p:ph type="subTitle" idx="1"/>
          </p:nvPr>
        </p:nvSpPr>
        <p:spPr>
          <a:xfrm>
            <a:off x="1074420" y="2466752"/>
            <a:ext cx="5554980" cy="23368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tr-TR" smtClean="0"/>
              <a:t>Asıl alt başlık stilini düzenlemek için tıklatın</a:t>
            </a:r>
            <a:endParaRPr kumimoji="0" lang="en-US"/>
          </a:p>
        </p:txBody>
      </p:sp>
      <p:sp>
        <p:nvSpPr>
          <p:cNvPr id="7" name="Veri Yer Tutucusu 6"/>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20" name="Altbilgi Yer Tutucusu 19"/>
          <p:cNvSpPr>
            <a:spLocks noGrp="1"/>
          </p:cNvSpPr>
          <p:nvPr>
            <p:ph type="ftr" sz="quarter" idx="11"/>
          </p:nvPr>
        </p:nvSpPr>
        <p:spPr/>
        <p:txBody>
          <a:bodyPr/>
          <a:lstStyle>
            <a:extLst/>
          </a:lstStyle>
          <a:p>
            <a:endParaRPr lang="tr-TR"/>
          </a:p>
        </p:txBody>
      </p:sp>
      <p:sp>
        <p:nvSpPr>
          <p:cNvPr id="10" name="Slayt Numarası Yer Tutucusu 9"/>
          <p:cNvSpPr>
            <a:spLocks noGrp="1"/>
          </p:cNvSpPr>
          <p:nvPr>
            <p:ph type="sldNum" sz="quarter" idx="12"/>
          </p:nvPr>
        </p:nvSpPr>
        <p:spPr/>
        <p:txBody>
          <a:bodyPr/>
          <a:lstStyle>
            <a:extLst/>
          </a:lstStyle>
          <a:p>
            <a:fld id="{F302176B-0E47-46AC-8F43-DAB4B8A37D06}" type="slidenum">
              <a:rPr lang="tr-TR" smtClean="0"/>
              <a:t>‹#›</a:t>
            </a:fld>
            <a:endParaRPr lang="tr-TR"/>
          </a:p>
        </p:txBody>
      </p:sp>
      <p:sp>
        <p:nvSpPr>
          <p:cNvPr id="8" name="Oval 7"/>
          <p:cNvSpPr/>
          <p:nvPr/>
        </p:nvSpPr>
        <p:spPr>
          <a:xfrm>
            <a:off x="691075" y="1885069"/>
            <a:ext cx="157734" cy="280416"/>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867882" y="1793355"/>
            <a:ext cx="48006" cy="85344"/>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extLst/>
          </a:lstStyle>
          <a:p>
            <a:r>
              <a:rPr kumimoji="0" lang="tr-TR" smtClean="0"/>
              <a:t>Asıl başlık stili için tıklatın</a:t>
            </a:r>
            <a:endParaRPr kumimoji="0" lang="en-US"/>
          </a:p>
        </p:txBody>
      </p:sp>
      <p:sp>
        <p:nvSpPr>
          <p:cNvPr id="3" name="İçerik Yer Tutucusu 2"/>
          <p:cNvSpPr>
            <a:spLocks noGrp="1"/>
          </p:cNvSpPr>
          <p:nvPr>
            <p:ph idx="1"/>
          </p:nvPr>
        </p:nvSpPr>
        <p:spPr/>
        <p:txBody>
          <a:bodyPr/>
          <a:lstStyle>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Veri Yer Tutucusu 3"/>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5" name="Altbilgi Yer Tutucusu 4"/>
          <p:cNvSpPr>
            <a:spLocks noGrp="1"/>
          </p:cNvSpPr>
          <p:nvPr>
            <p:ph type="ftr" sz="quarter" idx="11"/>
          </p:nvPr>
        </p:nvSpPr>
        <p:spPr/>
        <p:txBody>
          <a:bodyPr/>
          <a:lstStyle>
            <a:extLst/>
          </a:lstStyle>
          <a:p>
            <a:endParaRPr lang="tr-TR"/>
          </a:p>
        </p:txBody>
      </p:sp>
      <p:sp>
        <p:nvSpPr>
          <p:cNvPr id="6" name="Slayt Numarası Yer Tutucusu 5"/>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Dikdörtgen 6"/>
          <p:cNvSpPr/>
          <p:nvPr/>
        </p:nvSpPr>
        <p:spPr>
          <a:xfrm>
            <a:off x="1712168" y="-72"/>
            <a:ext cx="5143500" cy="9144072"/>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Başlık 1"/>
          <p:cNvSpPr>
            <a:spLocks noGrp="1"/>
          </p:cNvSpPr>
          <p:nvPr>
            <p:ph type="title"/>
          </p:nvPr>
        </p:nvSpPr>
        <p:spPr>
          <a:xfrm>
            <a:off x="1933794" y="3467100"/>
            <a:ext cx="4800600" cy="3048000"/>
          </a:xfrm>
        </p:spPr>
        <p:txBody>
          <a:bodyPr anchor="t"/>
          <a:lstStyle>
            <a:lvl1pPr algn="l">
              <a:lnSpc>
                <a:spcPts val="4500"/>
              </a:lnSpc>
              <a:buNone/>
              <a:defRPr sz="4000" b="1" cap="all"/>
            </a:lvl1pPr>
            <a:extLst/>
          </a:lstStyle>
          <a:p>
            <a:r>
              <a:rPr kumimoji="0" lang="tr-TR" smtClean="0"/>
              <a:t>Asıl başlık stili için tıklatın</a:t>
            </a:r>
            <a:endParaRPr kumimoji="0" lang="en-US"/>
          </a:p>
        </p:txBody>
      </p:sp>
      <p:sp>
        <p:nvSpPr>
          <p:cNvPr id="3" name="Metin Yer Tutucusu 2"/>
          <p:cNvSpPr>
            <a:spLocks noGrp="1"/>
          </p:cNvSpPr>
          <p:nvPr>
            <p:ph type="body" idx="1"/>
          </p:nvPr>
        </p:nvSpPr>
        <p:spPr>
          <a:xfrm>
            <a:off x="1933794" y="1422400"/>
            <a:ext cx="4800600" cy="2012949"/>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tr-TR" smtClean="0"/>
              <a:t>Asıl metin stillerini düzenlemek için tıklatın</a:t>
            </a:r>
          </a:p>
        </p:txBody>
      </p:sp>
      <p:sp>
        <p:nvSpPr>
          <p:cNvPr id="4" name="Veri Yer Tutucusu 3"/>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5" name="Altbilgi Yer Tutucusu 4"/>
          <p:cNvSpPr>
            <a:spLocks noGrp="1"/>
          </p:cNvSpPr>
          <p:nvPr>
            <p:ph type="ftr" sz="quarter" idx="11"/>
          </p:nvPr>
        </p:nvSpPr>
        <p:spPr/>
        <p:txBody>
          <a:bodyPr/>
          <a:lstStyle>
            <a:extLst/>
          </a:lstStyle>
          <a:p>
            <a:endParaRPr lang="tr-TR"/>
          </a:p>
        </p:txBody>
      </p:sp>
      <p:sp>
        <p:nvSpPr>
          <p:cNvPr id="6" name="Slayt Numarası Yer Tutucusu 5"/>
          <p:cNvSpPr>
            <a:spLocks noGrp="1"/>
          </p:cNvSpPr>
          <p:nvPr>
            <p:ph type="sldNum" sz="quarter" idx="12"/>
          </p:nvPr>
        </p:nvSpPr>
        <p:spPr/>
        <p:txBody>
          <a:bodyPr/>
          <a:lstStyle>
            <a:extLst/>
          </a:lstStyle>
          <a:p>
            <a:fld id="{F302176B-0E47-46AC-8F43-DAB4B8A37D06}" type="slidenum">
              <a:rPr lang="tr-TR" smtClean="0"/>
              <a:t>‹#›</a:t>
            </a:fld>
            <a:endParaRPr lang="tr-TR"/>
          </a:p>
        </p:txBody>
      </p:sp>
      <p:sp>
        <p:nvSpPr>
          <p:cNvPr id="10" name="Dikdörtgen 9"/>
          <p:cNvSpPr/>
          <p:nvPr/>
        </p:nvSpPr>
        <p:spPr bwMode="invGray">
          <a:xfrm>
            <a:off x="1714500" y="0"/>
            <a:ext cx="57150" cy="9144072"/>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29241" y="3752875"/>
            <a:ext cx="157734" cy="280416"/>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806048" y="3661160"/>
            <a:ext cx="48006" cy="85344"/>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a:xfrm>
            <a:off x="1076706" y="365760"/>
            <a:ext cx="5623560" cy="1524000"/>
          </a:xfrm>
        </p:spPr>
        <p:txBody>
          <a:bodyPr/>
          <a:lstStyle>
            <a:extLst/>
          </a:lstStyle>
          <a:p>
            <a:r>
              <a:rPr kumimoji="0" lang="tr-TR" smtClean="0"/>
              <a:t>Asıl başlık stili için tıklatın</a:t>
            </a:r>
            <a:endParaRPr kumimoji="0" lang="en-US"/>
          </a:p>
        </p:txBody>
      </p:sp>
      <p:sp>
        <p:nvSpPr>
          <p:cNvPr id="3" name="İçerik Yer Tutucusu 2"/>
          <p:cNvSpPr>
            <a:spLocks noGrp="1"/>
          </p:cNvSpPr>
          <p:nvPr>
            <p:ph sz="half" idx="1"/>
          </p:nvPr>
        </p:nvSpPr>
        <p:spPr>
          <a:xfrm>
            <a:off x="1076706" y="2032000"/>
            <a:ext cx="2743200" cy="621792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İçerik Yer Tutucusu 3"/>
          <p:cNvSpPr>
            <a:spLocks noGrp="1"/>
          </p:cNvSpPr>
          <p:nvPr>
            <p:ph sz="half" idx="2"/>
          </p:nvPr>
        </p:nvSpPr>
        <p:spPr>
          <a:xfrm>
            <a:off x="3957066" y="2032000"/>
            <a:ext cx="2743200" cy="621792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Veri Yer Tutucusu 4"/>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6" name="Altbilgi Yer Tutucusu 5"/>
          <p:cNvSpPr>
            <a:spLocks noGrp="1"/>
          </p:cNvSpPr>
          <p:nvPr>
            <p:ph type="ftr" sz="quarter" idx="11"/>
          </p:nvPr>
        </p:nvSpPr>
        <p:spPr/>
        <p:txBody>
          <a:bodyPr/>
          <a:lstStyle>
            <a:extLst/>
          </a:lstStyle>
          <a:p>
            <a:endParaRPr lang="tr-TR"/>
          </a:p>
        </p:txBody>
      </p:sp>
      <p:sp>
        <p:nvSpPr>
          <p:cNvPr id="7" name="Slayt Numarası Yer Tutucusu 6"/>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342900" y="6880448"/>
            <a:ext cx="6172200" cy="1524000"/>
          </a:xfrm>
        </p:spPr>
        <p:txBody>
          <a:bodyPr anchor="ctr"/>
          <a:lstStyle>
            <a:lvl1pPr algn="ctr">
              <a:defRPr sz="4500" b="1" cap="none" baseline="0"/>
            </a:lvl1pPr>
            <a:extLst/>
          </a:lstStyle>
          <a:p>
            <a:r>
              <a:rPr kumimoji="0" lang="tr-TR" smtClean="0"/>
              <a:t>Asıl başlık stili için tıklatın</a:t>
            </a:r>
            <a:endParaRPr kumimoji="0" lang="en-US"/>
          </a:p>
        </p:txBody>
      </p:sp>
      <p:sp>
        <p:nvSpPr>
          <p:cNvPr id="3" name="Metin Yer Tutucusu 2"/>
          <p:cNvSpPr>
            <a:spLocks noGrp="1"/>
          </p:cNvSpPr>
          <p:nvPr>
            <p:ph type="body" idx="1"/>
          </p:nvPr>
        </p:nvSpPr>
        <p:spPr>
          <a:xfrm>
            <a:off x="342900" y="437704"/>
            <a:ext cx="3017520" cy="85344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smtClean="0"/>
              <a:t>Asıl metin stillerini düzenlemek için tıklatın</a:t>
            </a:r>
          </a:p>
        </p:txBody>
      </p:sp>
      <p:sp>
        <p:nvSpPr>
          <p:cNvPr id="4" name="Metin Yer Tutucusu 3"/>
          <p:cNvSpPr>
            <a:spLocks noGrp="1"/>
          </p:cNvSpPr>
          <p:nvPr>
            <p:ph type="body" sz="half" idx="3"/>
          </p:nvPr>
        </p:nvSpPr>
        <p:spPr>
          <a:xfrm>
            <a:off x="3497580" y="437704"/>
            <a:ext cx="3017520" cy="85344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tr-TR" smtClean="0"/>
              <a:t>Asıl metin stillerini düzenlemek için tıklatın</a:t>
            </a:r>
          </a:p>
        </p:txBody>
      </p:sp>
      <p:sp>
        <p:nvSpPr>
          <p:cNvPr id="5" name="İçerik Yer Tutucusu 4"/>
          <p:cNvSpPr>
            <a:spLocks noGrp="1"/>
          </p:cNvSpPr>
          <p:nvPr>
            <p:ph sz="quarter" idx="2"/>
          </p:nvPr>
        </p:nvSpPr>
        <p:spPr>
          <a:xfrm>
            <a:off x="342900" y="1292448"/>
            <a:ext cx="3017520" cy="54864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6" name="İçerik Yer Tutucusu 5"/>
          <p:cNvSpPr>
            <a:spLocks noGrp="1"/>
          </p:cNvSpPr>
          <p:nvPr>
            <p:ph sz="quarter" idx="4"/>
          </p:nvPr>
        </p:nvSpPr>
        <p:spPr>
          <a:xfrm>
            <a:off x="3497580" y="1292448"/>
            <a:ext cx="3017520" cy="54864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7" name="Veri Yer Tutucusu 6"/>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8" name="Altbilgi Yer Tutucusu 7"/>
          <p:cNvSpPr>
            <a:spLocks noGrp="1"/>
          </p:cNvSpPr>
          <p:nvPr>
            <p:ph type="ftr" sz="quarter" idx="11"/>
          </p:nvPr>
        </p:nvSpPr>
        <p:spPr/>
        <p:txBody>
          <a:bodyPr/>
          <a:lstStyle>
            <a:extLst/>
          </a:lstStyle>
          <a:p>
            <a:endParaRPr lang="tr-TR"/>
          </a:p>
        </p:txBody>
      </p:sp>
      <p:sp>
        <p:nvSpPr>
          <p:cNvPr id="9" name="Slayt Numarası Yer Tutucusu 8"/>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a:xfrm>
            <a:off x="1076706" y="365760"/>
            <a:ext cx="5623560" cy="1524000"/>
          </a:xfrm>
        </p:spPr>
        <p:txBody>
          <a:bodyPr anchor="ctr"/>
          <a:lstStyle>
            <a:extLst/>
          </a:lstStyle>
          <a:p>
            <a:r>
              <a:rPr kumimoji="0" lang="tr-TR" smtClean="0"/>
              <a:t>Asıl başlık stili için tıklatın</a:t>
            </a:r>
            <a:endParaRPr kumimoji="0" lang="en-US"/>
          </a:p>
        </p:txBody>
      </p:sp>
      <p:sp>
        <p:nvSpPr>
          <p:cNvPr id="3" name="Veri Yer Tutucusu 2"/>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4" name="Altbilgi Yer Tutucusu 3"/>
          <p:cNvSpPr>
            <a:spLocks noGrp="1"/>
          </p:cNvSpPr>
          <p:nvPr>
            <p:ph type="ftr" sz="quarter" idx="11"/>
          </p:nvPr>
        </p:nvSpPr>
        <p:spPr/>
        <p:txBody>
          <a:bodyPr/>
          <a:lstStyle>
            <a:extLst/>
          </a:lstStyle>
          <a:p>
            <a:endParaRPr lang="tr-TR"/>
          </a:p>
        </p:txBody>
      </p:sp>
      <p:sp>
        <p:nvSpPr>
          <p:cNvPr id="5" name="Slayt Numarası Yer Tutucusu 4"/>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Dikdörtgen 4"/>
          <p:cNvSpPr/>
          <p:nvPr/>
        </p:nvSpPr>
        <p:spPr>
          <a:xfrm>
            <a:off x="761238" y="0"/>
            <a:ext cx="6096762" cy="9144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Veri Yer Tutucusu 1"/>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3" name="Altbilgi Yer Tutucusu 2"/>
          <p:cNvSpPr>
            <a:spLocks noGrp="1"/>
          </p:cNvSpPr>
          <p:nvPr>
            <p:ph type="ftr" sz="quarter" idx="11"/>
          </p:nvPr>
        </p:nvSpPr>
        <p:spPr/>
        <p:txBody>
          <a:bodyPr/>
          <a:lstStyle>
            <a:extLst/>
          </a:lstStyle>
          <a:p>
            <a:endParaRPr lang="tr-TR"/>
          </a:p>
        </p:txBody>
      </p:sp>
      <p:sp>
        <p:nvSpPr>
          <p:cNvPr id="4" name="Slayt Numarası Yer Tutucusu 3"/>
          <p:cNvSpPr>
            <a:spLocks noGrp="1"/>
          </p:cNvSpPr>
          <p:nvPr>
            <p:ph type="sldNum" sz="quarter" idx="12"/>
          </p:nvPr>
        </p:nvSpPr>
        <p:spPr/>
        <p:txBody>
          <a:bodyPr/>
          <a:lstStyle>
            <a:extLst/>
          </a:lstStyle>
          <a:p>
            <a:fld id="{F302176B-0E47-46AC-8F43-DAB4B8A37D06}" type="slidenum">
              <a:rPr lang="tr-TR" smtClean="0"/>
              <a:t>‹#›</a:t>
            </a:fld>
            <a:endParaRPr lang="tr-TR"/>
          </a:p>
        </p:txBody>
      </p:sp>
      <p:sp>
        <p:nvSpPr>
          <p:cNvPr id="6" name="Dikdörtgen 5"/>
          <p:cNvSpPr/>
          <p:nvPr/>
        </p:nvSpPr>
        <p:spPr bwMode="invGray">
          <a:xfrm>
            <a:off x="761238" y="-72"/>
            <a:ext cx="54864" cy="9144072"/>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342900" y="289037"/>
            <a:ext cx="2857500" cy="1549400"/>
          </a:xfrm>
          <a:ln>
            <a:noFill/>
          </a:ln>
        </p:spPr>
        <p:txBody>
          <a:bodyPr anchor="b"/>
          <a:lstStyle>
            <a:lvl1pPr algn="l">
              <a:lnSpc>
                <a:spcPts val="2000"/>
              </a:lnSpc>
              <a:buNone/>
              <a:defRPr sz="2200" b="1" cap="all" baseline="0"/>
            </a:lvl1pPr>
            <a:extLst/>
          </a:lstStyle>
          <a:p>
            <a:r>
              <a:rPr kumimoji="0" lang="tr-TR" smtClean="0"/>
              <a:t>Asıl başlık stili için tıklatın</a:t>
            </a:r>
            <a:endParaRPr kumimoji="0" lang="en-US"/>
          </a:p>
        </p:txBody>
      </p:sp>
      <p:sp>
        <p:nvSpPr>
          <p:cNvPr id="3" name="Metin Yer Tutucusu 2"/>
          <p:cNvSpPr>
            <a:spLocks noGrp="1"/>
          </p:cNvSpPr>
          <p:nvPr>
            <p:ph type="body" idx="2"/>
          </p:nvPr>
        </p:nvSpPr>
        <p:spPr>
          <a:xfrm>
            <a:off x="342900" y="1875952"/>
            <a:ext cx="2857500" cy="931333"/>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tr-TR" smtClean="0"/>
              <a:t>Asıl metin stillerini düzenlemek için tıklatın</a:t>
            </a:r>
          </a:p>
        </p:txBody>
      </p:sp>
      <p:sp>
        <p:nvSpPr>
          <p:cNvPr id="4" name="İçerik Yer Tutucusu 3"/>
          <p:cNvSpPr>
            <a:spLocks noGrp="1"/>
          </p:cNvSpPr>
          <p:nvPr>
            <p:ph sz="half" idx="1"/>
          </p:nvPr>
        </p:nvSpPr>
        <p:spPr>
          <a:xfrm>
            <a:off x="342900" y="2844801"/>
            <a:ext cx="6115050" cy="5323417"/>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5" name="Veri Yer Tutucusu 4"/>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6" name="Altbilgi Yer Tutucusu 5"/>
          <p:cNvSpPr>
            <a:spLocks noGrp="1"/>
          </p:cNvSpPr>
          <p:nvPr>
            <p:ph type="ftr" sz="quarter" idx="11"/>
          </p:nvPr>
        </p:nvSpPr>
        <p:spPr/>
        <p:txBody>
          <a:bodyPr/>
          <a:lstStyle>
            <a:extLst/>
          </a:lstStyle>
          <a:p>
            <a:endParaRPr lang="tr-TR"/>
          </a:p>
        </p:txBody>
      </p:sp>
      <p:sp>
        <p:nvSpPr>
          <p:cNvPr id="7" name="Slayt Numarası Yer Tutucusu 6"/>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4415172" y="1422400"/>
            <a:ext cx="2057400" cy="2641600"/>
          </a:xfrm>
        </p:spPr>
        <p:txBody>
          <a:bodyPr anchor="b">
            <a:noAutofit/>
          </a:bodyPr>
          <a:lstStyle>
            <a:lvl1pPr algn="l">
              <a:buNone/>
              <a:defRPr sz="2100" b="1">
                <a:effectLst/>
              </a:defRPr>
            </a:lvl1pPr>
            <a:extLst/>
          </a:lstStyle>
          <a:p>
            <a:r>
              <a:rPr kumimoji="0" lang="tr-TR" smtClean="0"/>
              <a:t>Asıl başlık stili için tıklatın</a:t>
            </a:r>
            <a:endParaRPr kumimoji="0" lang="en-US"/>
          </a:p>
        </p:txBody>
      </p:sp>
      <p:sp>
        <p:nvSpPr>
          <p:cNvPr id="5" name="Veri Yer Tutucusu 4"/>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6" name="Altbilgi Yer Tutucusu 5"/>
          <p:cNvSpPr>
            <a:spLocks noGrp="1"/>
          </p:cNvSpPr>
          <p:nvPr>
            <p:ph type="ftr" sz="quarter" idx="11"/>
          </p:nvPr>
        </p:nvSpPr>
        <p:spPr/>
        <p:txBody>
          <a:bodyPr/>
          <a:lstStyle>
            <a:extLst/>
          </a:lstStyle>
          <a:p>
            <a:endParaRPr lang="tr-TR"/>
          </a:p>
        </p:txBody>
      </p:sp>
      <p:sp>
        <p:nvSpPr>
          <p:cNvPr id="7" name="Slayt Numarası Yer Tutucusu 6"/>
          <p:cNvSpPr>
            <a:spLocks noGrp="1"/>
          </p:cNvSpPr>
          <p:nvPr>
            <p:ph type="sldNum" sz="quarter" idx="12"/>
          </p:nvPr>
        </p:nvSpPr>
        <p:spPr/>
        <p:txBody>
          <a:bodyPr/>
          <a:lstStyle>
            <a:extLst/>
          </a:lstStyle>
          <a:p>
            <a:fld id="{F302176B-0E47-46AC-8F43-DAB4B8A37D06}" type="slidenum">
              <a:rPr lang="tr-TR" smtClean="0"/>
              <a:t>‹#›</a:t>
            </a:fld>
            <a:endParaRPr lang="tr-TR"/>
          </a:p>
        </p:txBody>
      </p:sp>
      <p:sp>
        <p:nvSpPr>
          <p:cNvPr id="8" name="Dikdörtgen 7"/>
          <p:cNvSpPr/>
          <p:nvPr/>
        </p:nvSpPr>
        <p:spPr>
          <a:xfrm>
            <a:off x="571500" y="1422400"/>
            <a:ext cx="3429000" cy="6096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Resim Yer Tutucusu 2"/>
          <p:cNvSpPr>
            <a:spLocks noGrp="1"/>
          </p:cNvSpPr>
          <p:nvPr>
            <p:ph type="pic" idx="1"/>
          </p:nvPr>
        </p:nvSpPr>
        <p:spPr>
          <a:xfrm>
            <a:off x="628650" y="1524005"/>
            <a:ext cx="3314700" cy="468604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tr-TR" smtClean="0"/>
              <a:t>Resim eklemek için simgeyi tıklatın</a:t>
            </a:r>
            <a:endParaRPr kumimoji="0" lang="en-US" dirty="0"/>
          </a:p>
        </p:txBody>
      </p:sp>
      <p:sp>
        <p:nvSpPr>
          <p:cNvPr id="9" name="Akış Çizelgesi: İşlem 8"/>
          <p:cNvSpPr/>
          <p:nvPr/>
        </p:nvSpPr>
        <p:spPr>
          <a:xfrm rot="19468671">
            <a:off x="297544" y="1272455"/>
            <a:ext cx="514350" cy="2724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Akış Çizelgesi: İşlem 9"/>
          <p:cNvSpPr/>
          <p:nvPr/>
        </p:nvSpPr>
        <p:spPr>
          <a:xfrm rot="2103354" flipH="1">
            <a:off x="3752750" y="1249048"/>
            <a:ext cx="486918" cy="272413"/>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dirty="0"/>
          </a:p>
        </p:txBody>
      </p:sp>
      <p:sp>
        <p:nvSpPr>
          <p:cNvPr id="4" name="Metin Yer Tutucusu 3"/>
          <p:cNvSpPr>
            <a:spLocks noGrp="1"/>
          </p:cNvSpPr>
          <p:nvPr>
            <p:ph type="body" sz="half" idx="2"/>
          </p:nvPr>
        </p:nvSpPr>
        <p:spPr>
          <a:xfrm>
            <a:off x="628650" y="6400800"/>
            <a:ext cx="3314700" cy="1016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tr-TR" smtClean="0"/>
              <a:t>Asıl metin stillerini düzenlemek için tıklatın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extLst/>
          </a:lstStyle>
          <a:p>
            <a:r>
              <a:rPr kumimoji="0" lang="tr-TR" smtClean="0"/>
              <a:t>Asıl başlık stili için tıklatın</a:t>
            </a:r>
            <a:endParaRPr kumimoji="0" lang="en-US"/>
          </a:p>
        </p:txBody>
      </p:sp>
      <p:sp>
        <p:nvSpPr>
          <p:cNvPr id="3" name="Dikey Metin Yer Tutucusu 2"/>
          <p:cNvSpPr>
            <a:spLocks noGrp="1"/>
          </p:cNvSpPr>
          <p:nvPr>
            <p:ph type="body" orient="vert" idx="1"/>
          </p:nvPr>
        </p:nvSpPr>
        <p:spPr/>
        <p:txBody>
          <a:bodyPr vert="eaVert"/>
          <a:lstStyle>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Veri Yer Tutucusu 3"/>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5" name="Altbilgi Yer Tutucusu 4"/>
          <p:cNvSpPr>
            <a:spLocks noGrp="1"/>
          </p:cNvSpPr>
          <p:nvPr>
            <p:ph type="ftr" sz="quarter" idx="11"/>
          </p:nvPr>
        </p:nvSpPr>
        <p:spPr/>
        <p:txBody>
          <a:bodyPr/>
          <a:lstStyle>
            <a:extLst/>
          </a:lstStyle>
          <a:p>
            <a:endParaRPr lang="tr-TR"/>
          </a:p>
        </p:txBody>
      </p:sp>
      <p:sp>
        <p:nvSpPr>
          <p:cNvPr id="6" name="Slayt Numarası Yer Tutucusu 5"/>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5143500" y="366186"/>
            <a:ext cx="1371600" cy="7802033"/>
          </a:xfrm>
        </p:spPr>
        <p:txBody>
          <a:bodyPr vert="eaVert"/>
          <a:lstStyle>
            <a:extLst/>
          </a:lstStyle>
          <a:p>
            <a:r>
              <a:rPr kumimoji="0" lang="tr-TR" smtClean="0"/>
              <a:t>Asıl başlık stili için tıklatın</a:t>
            </a:r>
            <a:endParaRPr kumimoji="0" lang="en-US"/>
          </a:p>
        </p:txBody>
      </p:sp>
      <p:sp>
        <p:nvSpPr>
          <p:cNvPr id="3" name="Dikey Metin Yer Tutucusu 2"/>
          <p:cNvSpPr>
            <a:spLocks noGrp="1"/>
          </p:cNvSpPr>
          <p:nvPr>
            <p:ph type="body" orient="vert" idx="1"/>
          </p:nvPr>
        </p:nvSpPr>
        <p:spPr>
          <a:xfrm>
            <a:off x="857250" y="366188"/>
            <a:ext cx="4171950" cy="7802033"/>
          </a:xfrm>
        </p:spPr>
        <p:txBody>
          <a:bodyPr vert="eaVert"/>
          <a:lstStyle>
            <a:extLst/>
          </a:lstStyle>
          <a:p>
            <a:pPr lvl="0" eaLnBrk="1" latinLnBrk="0" hangingPunct="1"/>
            <a:r>
              <a:rPr lang="tr-TR" smtClean="0"/>
              <a:t>Asıl metin stillerini düzenlemek için tıklatın</a:t>
            </a:r>
          </a:p>
          <a:p>
            <a:pPr lvl="1" eaLnBrk="1" latinLnBrk="0" hangingPunct="1"/>
            <a:r>
              <a:rPr lang="tr-TR" smtClean="0"/>
              <a:t>İkinci düzey</a:t>
            </a:r>
          </a:p>
          <a:p>
            <a:pPr lvl="2" eaLnBrk="1" latinLnBrk="0" hangingPunct="1"/>
            <a:r>
              <a:rPr lang="tr-TR" smtClean="0"/>
              <a:t>Üçüncü düzey</a:t>
            </a:r>
          </a:p>
          <a:p>
            <a:pPr lvl="3" eaLnBrk="1" latinLnBrk="0" hangingPunct="1"/>
            <a:r>
              <a:rPr lang="tr-TR" smtClean="0"/>
              <a:t>Dördüncü düzey</a:t>
            </a:r>
          </a:p>
          <a:p>
            <a:pPr lvl="4" eaLnBrk="1" latinLnBrk="0" hangingPunct="1"/>
            <a:r>
              <a:rPr lang="tr-TR" smtClean="0"/>
              <a:t>Beşinci düzey</a:t>
            </a:r>
            <a:endParaRPr kumimoji="0" lang="en-US"/>
          </a:p>
        </p:txBody>
      </p:sp>
      <p:sp>
        <p:nvSpPr>
          <p:cNvPr id="4" name="Veri Yer Tutucusu 3"/>
          <p:cNvSpPr>
            <a:spLocks noGrp="1"/>
          </p:cNvSpPr>
          <p:nvPr>
            <p:ph type="dt" sz="half" idx="10"/>
          </p:nvPr>
        </p:nvSpPr>
        <p:spPr/>
        <p:txBody>
          <a:bodyPr/>
          <a:lstStyle>
            <a:extLst/>
          </a:lstStyle>
          <a:p>
            <a:fld id="{A23720DD-5B6D-40BF-8493-A6B52D484E6B}" type="datetimeFigureOut">
              <a:rPr lang="tr-TR" smtClean="0"/>
              <a:t>11.10.2020</a:t>
            </a:fld>
            <a:endParaRPr lang="tr-TR"/>
          </a:p>
        </p:txBody>
      </p:sp>
      <p:sp>
        <p:nvSpPr>
          <p:cNvPr id="5" name="Altbilgi Yer Tutucusu 4"/>
          <p:cNvSpPr>
            <a:spLocks noGrp="1"/>
          </p:cNvSpPr>
          <p:nvPr>
            <p:ph type="ftr" sz="quarter" idx="11"/>
          </p:nvPr>
        </p:nvSpPr>
        <p:spPr/>
        <p:txBody>
          <a:bodyPr/>
          <a:lstStyle>
            <a:extLst/>
          </a:lstStyle>
          <a:p>
            <a:endParaRPr lang="tr-TR"/>
          </a:p>
        </p:txBody>
      </p:sp>
      <p:sp>
        <p:nvSpPr>
          <p:cNvPr id="6" name="Slayt Numarası Yer Tutucusu 5"/>
          <p:cNvSpPr>
            <a:spLocks noGrp="1"/>
          </p:cNvSpPr>
          <p:nvPr>
            <p:ph type="sldNum" sz="quarter" idx="12"/>
          </p:nvPr>
        </p:nvSpPr>
        <p:spPr/>
        <p:txBody>
          <a:bodyPr/>
          <a:lstStyle>
            <a:extLst/>
          </a:lstStyle>
          <a:p>
            <a:fld id="{F302176B-0E47-46AC-8F43-DAB4B8A37D06}" type="slidenum">
              <a:rPr lang="tr-TR" smtClean="0"/>
              <a:t>‹#›</a:t>
            </a:fld>
            <a:endParaRPr lang="tr-T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nvSpPr>
        <p:spPr>
          <a:xfrm>
            <a:off x="0" y="5155893"/>
            <a:ext cx="6858000" cy="3988107"/>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6858000" cy="5155893"/>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3536415"/>
            <a:ext cx="6858000" cy="3048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2133600"/>
            <a:ext cx="6858000" cy="68072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105346" y="6736727"/>
            <a:ext cx="4227758" cy="117615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2" name="Title 1"/>
          <p:cNvSpPr>
            <a:spLocks noGrp="1"/>
          </p:cNvSpPr>
          <p:nvPr>
            <p:ph type="ctrTitle"/>
          </p:nvPr>
        </p:nvSpPr>
        <p:spPr>
          <a:xfrm>
            <a:off x="613186" y="4176388"/>
            <a:ext cx="5381513" cy="2390889"/>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10" name="Content Placeholder 9"/>
          <p:cNvSpPr>
            <a:spLocks noGrp="1"/>
          </p:cNvSpPr>
          <p:nvPr>
            <p:ph sz="quarter" idx="13"/>
          </p:nvPr>
        </p:nvSpPr>
        <p:spPr>
          <a:xfrm>
            <a:off x="857250" y="975360"/>
            <a:ext cx="4800600" cy="463296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5155893"/>
            <a:ext cx="6858000" cy="3988107"/>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6858000" cy="5155893"/>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536415"/>
            <a:ext cx="6858000" cy="3048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2133600"/>
            <a:ext cx="6858000" cy="68072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524896" y="2896864"/>
            <a:ext cx="4475000" cy="3231128"/>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1516828" y="6143348"/>
            <a:ext cx="4477871" cy="1113947"/>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857249" y="975359"/>
            <a:ext cx="2510028" cy="463296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3483864" y="975360"/>
            <a:ext cx="2510028" cy="463296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57250" y="975360"/>
            <a:ext cx="2510028" cy="853016"/>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867335" y="1867103"/>
            <a:ext cx="2510028" cy="36576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3485477" y="975360"/>
            <a:ext cx="2510028" cy="853016"/>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3483769" y="1865376"/>
            <a:ext cx="2510028" cy="36576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A23720DD-5B6D-40BF-8493-A6B52D484E6B}" type="datetimeFigureOut">
              <a:rPr lang="tr-TR" smtClean="0"/>
              <a:t>11.10.2020</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11.10.2020</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11.10.2020</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629322" y="2946401"/>
            <a:ext cx="2727064" cy="1677991"/>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3445137" y="975360"/>
            <a:ext cx="3012814" cy="6526307"/>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806824" y="4663736"/>
            <a:ext cx="2541495" cy="285269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5155893"/>
            <a:ext cx="6858000" cy="3988107"/>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6858000" cy="5155893"/>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3536415"/>
            <a:ext cx="6858000" cy="3048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2133600"/>
            <a:ext cx="6858000" cy="68072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3356381" y="1524000"/>
            <a:ext cx="3086100" cy="4170408"/>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658415" y="1347315"/>
            <a:ext cx="2770586" cy="2884027"/>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11.10.2020</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
        <p:nvSpPr>
          <p:cNvPr id="2" name="Title 1"/>
          <p:cNvSpPr>
            <a:spLocks noGrp="1"/>
          </p:cNvSpPr>
          <p:nvPr>
            <p:ph type="title"/>
          </p:nvPr>
        </p:nvSpPr>
        <p:spPr>
          <a:xfrm>
            <a:off x="545451" y="5952561"/>
            <a:ext cx="4787654" cy="1524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428750" y="975359"/>
            <a:ext cx="4800600" cy="463296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9" y="502023"/>
            <a:ext cx="1543050" cy="6984452"/>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2493085" y="975360"/>
            <a:ext cx="3621965" cy="652630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11.10.2020</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342900" y="2133605"/>
            <a:ext cx="6172200" cy="6034617"/>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342900" y="8475138"/>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A23720DD-5B6D-40BF-8493-A6B52D484E6B}" type="datetimeFigureOut">
              <a:rPr lang="tr-TR" smtClean="0"/>
              <a:t>11.10.2020</a:t>
            </a:fld>
            <a:endParaRPr lang="tr-TR"/>
          </a:p>
        </p:txBody>
      </p:sp>
      <p:sp>
        <p:nvSpPr>
          <p:cNvPr id="5" name="4 Altbilgi Yer Tutucusu"/>
          <p:cNvSpPr>
            <a:spLocks noGrp="1"/>
          </p:cNvSpPr>
          <p:nvPr>
            <p:ph type="ftr" sz="quarter" idx="3"/>
          </p:nvPr>
        </p:nvSpPr>
        <p:spPr>
          <a:xfrm>
            <a:off x="2343150" y="8475138"/>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4914900" y="8475138"/>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asta 6"/>
          <p:cNvSpPr/>
          <p:nvPr/>
        </p:nvSpPr>
        <p:spPr>
          <a:xfrm>
            <a:off x="-611945" y="-1087896"/>
            <a:ext cx="1229165" cy="2185183"/>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26613" y="28137"/>
            <a:ext cx="1276643" cy="2269588"/>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Halka 10"/>
          <p:cNvSpPr/>
          <p:nvPr/>
        </p:nvSpPr>
        <p:spPr>
          <a:xfrm rot="2315675">
            <a:off x="137161" y="1406770"/>
            <a:ext cx="844288" cy="1470165"/>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Dikdörtgen 11"/>
          <p:cNvSpPr/>
          <p:nvPr/>
        </p:nvSpPr>
        <p:spPr>
          <a:xfrm>
            <a:off x="759655" y="-72"/>
            <a:ext cx="6098345" cy="9144072"/>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Başlık Yer Tutucusu 4"/>
          <p:cNvSpPr>
            <a:spLocks noGrp="1"/>
          </p:cNvSpPr>
          <p:nvPr>
            <p:ph type="title"/>
          </p:nvPr>
        </p:nvSpPr>
        <p:spPr>
          <a:xfrm>
            <a:off x="1076706" y="366184"/>
            <a:ext cx="5623560" cy="1524000"/>
          </a:xfrm>
          <a:prstGeom prst="rect">
            <a:avLst/>
          </a:prstGeom>
        </p:spPr>
        <p:txBody>
          <a:bodyPr anchor="ctr">
            <a:normAutofit/>
          </a:bodyPr>
          <a:lstStyle>
            <a:extLst/>
          </a:lstStyle>
          <a:p>
            <a:r>
              <a:rPr kumimoji="0" lang="tr-TR" smtClean="0"/>
              <a:t>Asıl başlık stili için tıklatın</a:t>
            </a:r>
            <a:endParaRPr kumimoji="0" lang="en-US"/>
          </a:p>
        </p:txBody>
      </p:sp>
      <p:sp>
        <p:nvSpPr>
          <p:cNvPr id="9" name="Metin Yer Tutucusu 8"/>
          <p:cNvSpPr>
            <a:spLocks noGrp="1"/>
          </p:cNvSpPr>
          <p:nvPr>
            <p:ph type="body" idx="1"/>
          </p:nvPr>
        </p:nvSpPr>
        <p:spPr>
          <a:xfrm>
            <a:off x="1076706" y="1930400"/>
            <a:ext cx="5623560" cy="6400800"/>
          </a:xfrm>
          <a:prstGeom prst="rect">
            <a:avLst/>
          </a:prstGeom>
        </p:spPr>
        <p:txBody>
          <a:bodyPr>
            <a:normAutofit/>
          </a:bodyPr>
          <a:lstStyle>
            <a:extLst/>
          </a:lstStyle>
          <a:p>
            <a:pPr lvl="0" eaLnBrk="1" latinLnBrk="0" hangingPunct="1"/>
            <a:r>
              <a:rPr kumimoji="0" lang="tr-TR" smtClean="0"/>
              <a:t>Asıl metin stillerini düzenlemek için tıklatın</a:t>
            </a:r>
          </a:p>
          <a:p>
            <a:pPr lvl="1" eaLnBrk="1" latinLnBrk="0" hangingPunct="1"/>
            <a:r>
              <a:rPr kumimoji="0" lang="tr-TR" smtClean="0"/>
              <a:t>İkinci düzey</a:t>
            </a:r>
          </a:p>
          <a:p>
            <a:pPr lvl="2" eaLnBrk="1" latinLnBrk="0" hangingPunct="1"/>
            <a:r>
              <a:rPr kumimoji="0" lang="tr-TR" smtClean="0"/>
              <a:t>Üçüncü düzey</a:t>
            </a:r>
          </a:p>
          <a:p>
            <a:pPr lvl="3" eaLnBrk="1" latinLnBrk="0" hangingPunct="1"/>
            <a:r>
              <a:rPr kumimoji="0" lang="tr-TR" smtClean="0"/>
              <a:t>Dördüncü düzey</a:t>
            </a:r>
          </a:p>
          <a:p>
            <a:pPr lvl="4" eaLnBrk="1" latinLnBrk="0" hangingPunct="1"/>
            <a:r>
              <a:rPr kumimoji="0" lang="tr-TR" smtClean="0"/>
              <a:t>Beşinci düzey</a:t>
            </a:r>
            <a:endParaRPr kumimoji="0" lang="en-US"/>
          </a:p>
        </p:txBody>
      </p:sp>
      <p:sp>
        <p:nvSpPr>
          <p:cNvPr id="24" name="Veri Yer Tutucusu 23"/>
          <p:cNvSpPr>
            <a:spLocks noGrp="1"/>
          </p:cNvSpPr>
          <p:nvPr>
            <p:ph type="dt" sz="half" idx="2"/>
          </p:nvPr>
        </p:nvSpPr>
        <p:spPr>
          <a:xfrm>
            <a:off x="2686050" y="8407400"/>
            <a:ext cx="1600200" cy="63500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A23720DD-5B6D-40BF-8493-A6B52D484E6B}" type="datetimeFigureOut">
              <a:rPr lang="tr-TR" smtClean="0"/>
              <a:t>11.10.2020</a:t>
            </a:fld>
            <a:endParaRPr lang="tr-TR"/>
          </a:p>
        </p:txBody>
      </p:sp>
      <p:sp>
        <p:nvSpPr>
          <p:cNvPr id="10" name="Altbilgi Yer Tutucusu 9"/>
          <p:cNvSpPr>
            <a:spLocks noGrp="1"/>
          </p:cNvSpPr>
          <p:nvPr>
            <p:ph type="ftr" sz="quarter" idx="3"/>
          </p:nvPr>
        </p:nvSpPr>
        <p:spPr>
          <a:xfrm>
            <a:off x="4286250" y="8407400"/>
            <a:ext cx="2171700" cy="63500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tr-TR"/>
          </a:p>
        </p:txBody>
      </p:sp>
      <p:sp>
        <p:nvSpPr>
          <p:cNvPr id="22" name="Slayt Numarası Yer Tutucusu 21"/>
          <p:cNvSpPr>
            <a:spLocks noGrp="1"/>
          </p:cNvSpPr>
          <p:nvPr>
            <p:ph type="sldNum" sz="quarter" idx="4"/>
          </p:nvPr>
        </p:nvSpPr>
        <p:spPr>
          <a:xfrm>
            <a:off x="6460236" y="8407400"/>
            <a:ext cx="342900" cy="63500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F302176B-0E47-46AC-8F43-DAB4B8A37D06}" type="slidenum">
              <a:rPr lang="tr-TR" smtClean="0"/>
              <a:t>‹#›</a:t>
            </a:fld>
            <a:endParaRPr lang="tr-TR"/>
          </a:p>
        </p:txBody>
      </p:sp>
      <p:sp>
        <p:nvSpPr>
          <p:cNvPr id="15" name="Dikdörtgen 14"/>
          <p:cNvSpPr/>
          <p:nvPr/>
        </p:nvSpPr>
        <p:spPr bwMode="invGray">
          <a:xfrm>
            <a:off x="761238" y="-72"/>
            <a:ext cx="54864" cy="9144072"/>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6807200"/>
            <a:ext cx="6858000" cy="23368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6858000" cy="68072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5024405"/>
            <a:ext cx="6858000" cy="3048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2133600"/>
            <a:ext cx="6858000" cy="68072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344967" y="5829557"/>
            <a:ext cx="4884383" cy="1524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857250" y="976347"/>
            <a:ext cx="4800600" cy="463296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4629150" y="8229601"/>
            <a:ext cx="1885950" cy="486833"/>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A23720DD-5B6D-40BF-8493-A6B52D484E6B}" type="datetimeFigureOut">
              <a:rPr lang="tr-TR" smtClean="0"/>
              <a:t>11.10.2020</a:t>
            </a:fld>
            <a:endParaRPr lang="tr-TR"/>
          </a:p>
        </p:txBody>
      </p:sp>
      <p:sp>
        <p:nvSpPr>
          <p:cNvPr id="5" name="Footer Placeholder 4"/>
          <p:cNvSpPr>
            <a:spLocks noGrp="1"/>
          </p:cNvSpPr>
          <p:nvPr>
            <p:ph type="ftr" sz="quarter" idx="3"/>
          </p:nvPr>
        </p:nvSpPr>
        <p:spPr>
          <a:xfrm>
            <a:off x="342900" y="8229601"/>
            <a:ext cx="2514601" cy="486833"/>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nvPr>
        </p:nvSpPr>
        <p:spPr>
          <a:xfrm>
            <a:off x="2857500" y="8229601"/>
            <a:ext cx="1371600" cy="486833"/>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hyperlink" Target="http://www.ahmetcelen.com.tr/" TargetMode="Externa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hyperlink" Target="http://www.ahmetcelen.com.tr/" TargetMode="External"/><Relationship Id="rId2" Type="http://schemas.openxmlformats.org/officeDocument/2006/relationships/image" Target="../media/image8.png"/><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5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10.png"/><Relationship Id="rId5" Type="http://schemas.openxmlformats.org/officeDocument/2006/relationships/image" Target="../media/image61.png"/><Relationship Id="rId4" Type="http://schemas.openxmlformats.org/officeDocument/2006/relationships/hyperlink" Target="http://www.ahmetcelen.com.tr/"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www.ahmetcelen.com.tr/" TargetMode="External"/><Relationship Id="rId1" Type="http://schemas.openxmlformats.org/officeDocument/2006/relationships/slideLayout" Target="../slideLayouts/slideLayout18.xml"/><Relationship Id="rId5" Type="http://schemas.openxmlformats.org/officeDocument/2006/relationships/image" Target="../media/image10.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ahmetcelen.com.tr/" TargetMode="External"/><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www.ahmetcelen.com.tr/" TargetMode="External"/><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9.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9.png"/><Relationship Id="rId7" Type="http://schemas.openxmlformats.org/officeDocument/2006/relationships/image" Target="../media/image2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8.png"/><Relationship Id="rId10" Type="http://schemas.openxmlformats.org/officeDocument/2006/relationships/image" Target="../media/image28.png"/><Relationship Id="rId4" Type="http://schemas.openxmlformats.org/officeDocument/2006/relationships/image" Target="../media/image21.pn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71.png"/><Relationship Id="rId5" Type="http://schemas.openxmlformats.org/officeDocument/2006/relationships/image" Target="../media/image8.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51.png"/><Relationship Id="rId12"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30.png"/><Relationship Id="rId11" Type="http://schemas.openxmlformats.org/officeDocument/2006/relationships/image" Target="../media/image160.png"/><Relationship Id="rId5" Type="http://schemas.openxmlformats.org/officeDocument/2006/relationships/image" Target="../media/image120.png"/><Relationship Id="rId10" Type="http://schemas.openxmlformats.org/officeDocument/2006/relationships/image" Target="../media/image150.png"/></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8.png"/><Relationship Id="rId4" Type="http://schemas.openxmlformats.org/officeDocument/2006/relationships/image" Target="../media/image291.png"/></Relationships>
</file>

<file path=ppt/slides/_rels/slide1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9.png"/><Relationship Id="rId7" Type="http://schemas.openxmlformats.org/officeDocument/2006/relationships/image" Target="../media/image262.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10" Type="http://schemas.openxmlformats.org/officeDocument/2006/relationships/image" Target="../media/image33.png"/><Relationship Id="rId4" Type="http://schemas.openxmlformats.org/officeDocument/2006/relationships/image" Target="../media/image8.png"/><Relationship Id="rId9"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351.png"/><Relationship Id="rId3" Type="http://schemas.openxmlformats.org/officeDocument/2006/relationships/image" Target="../media/image19.png"/><Relationship Id="rId7" Type="http://schemas.openxmlformats.org/officeDocument/2006/relationships/image" Target="../media/image34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10" Type="http://schemas.openxmlformats.org/officeDocument/2006/relationships/image" Target="../media/image23.png"/><Relationship Id="rId4" Type="http://schemas.openxmlformats.org/officeDocument/2006/relationships/image" Target="../media/image24.png"/><Relationship Id="rId9" Type="http://schemas.openxmlformats.org/officeDocument/2006/relationships/image" Target="../media/image36.png"/></Relationships>
</file>

<file path=ppt/slides/_rels/slide21.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19.png"/><Relationship Id="rId4" Type="http://schemas.openxmlformats.org/officeDocument/2006/relationships/image" Target="../media/image38.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8" Type="http://schemas.openxmlformats.org/officeDocument/2006/relationships/image" Target="../media/image411.png"/><Relationship Id="rId13" Type="http://schemas.openxmlformats.org/officeDocument/2006/relationships/image" Target="../media/image260.png"/><Relationship Id="rId18" Type="http://schemas.openxmlformats.org/officeDocument/2006/relationships/image" Target="../media/image431.png"/><Relationship Id="rId3" Type="http://schemas.openxmlformats.org/officeDocument/2006/relationships/image" Target="../media/image42.png"/><Relationship Id="rId7" Type="http://schemas.openxmlformats.org/officeDocument/2006/relationships/image" Target="../media/image401.png"/><Relationship Id="rId12" Type="http://schemas.openxmlformats.org/officeDocument/2006/relationships/image" Target="../media/image250.png"/><Relationship Id="rId17" Type="http://schemas.openxmlformats.org/officeDocument/2006/relationships/image" Target="../media/image24.png"/><Relationship Id="rId2" Type="http://schemas.openxmlformats.org/officeDocument/2006/relationships/notesSlide" Target="../notesSlides/notesSlide13.xml"/><Relationship Id="rId16"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390.png"/><Relationship Id="rId5" Type="http://schemas.openxmlformats.org/officeDocument/2006/relationships/image" Target="../media/image380.png"/><Relationship Id="rId15" Type="http://schemas.openxmlformats.org/officeDocument/2006/relationships/image" Target="../media/image280.png"/><Relationship Id="rId19" Type="http://schemas.openxmlformats.org/officeDocument/2006/relationships/image" Target="../media/image441.png"/><Relationship Id="rId4" Type="http://schemas.openxmlformats.org/officeDocument/2006/relationships/image" Target="../media/image43.png"/><Relationship Id="rId9" Type="http://schemas.openxmlformats.org/officeDocument/2006/relationships/image" Target="../media/image420.png"/><Relationship Id="rId14" Type="http://schemas.openxmlformats.org/officeDocument/2006/relationships/image" Target="../media/image27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290.png"/><Relationship Id="rId4" Type="http://schemas.openxmlformats.org/officeDocument/2006/relationships/image" Target="../media/image42.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19.pn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00.png"/><Relationship Id="rId10" Type="http://schemas.openxmlformats.org/officeDocument/2006/relationships/image" Target="../media/image24.png"/><Relationship Id="rId9"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48.png"/><Relationship Id="rId4" Type="http://schemas.openxmlformats.org/officeDocument/2006/relationships/image" Target="../media/image47.png"/></Relationships>
</file>

<file path=ppt/slides/_rels/slide27.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5.png"/><Relationship Id="rId3" Type="http://schemas.openxmlformats.org/officeDocument/2006/relationships/image" Target="../media/image19.png"/><Relationship Id="rId7" Type="http://schemas.openxmlformats.org/officeDocument/2006/relationships/image" Target="../media/image53.png"/><Relationship Id="rId12" Type="http://schemas.openxmlformats.org/officeDocument/2006/relationships/image" Target="../media/image350.png"/><Relationship Id="rId2" Type="http://schemas.openxmlformats.org/officeDocument/2006/relationships/notesSlide" Target="../notesSlides/notesSlide18.xml"/><Relationship Id="rId16"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52.png"/><Relationship Id="rId11" Type="http://schemas.openxmlformats.org/officeDocument/2006/relationships/image" Target="../media/image340.png"/><Relationship Id="rId5" Type="http://schemas.openxmlformats.org/officeDocument/2006/relationships/image" Target="../media/image51.png"/><Relationship Id="rId15" Type="http://schemas.openxmlformats.org/officeDocument/2006/relationships/image" Target="../media/image23.png"/><Relationship Id="rId4" Type="http://schemas.openxmlformats.org/officeDocument/2006/relationships/image" Target="../media/image49.png"/><Relationship Id="rId14"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60.jpg"/><Relationship Id="rId26" Type="http://schemas.openxmlformats.org/officeDocument/2006/relationships/image" Target="../media/image67.png"/><Relationship Id="rId3" Type="http://schemas.openxmlformats.org/officeDocument/2006/relationships/image" Target="../media/image19.png"/><Relationship Id="rId21" Type="http://schemas.openxmlformats.org/officeDocument/2006/relationships/image" Target="../media/image24.png"/><Relationship Id="rId7" Type="http://schemas.openxmlformats.org/officeDocument/2006/relationships/image" Target="../media/image59.png"/><Relationship Id="rId25" Type="http://schemas.openxmlformats.org/officeDocument/2006/relationships/image" Target="../media/image66.png"/><Relationship Id="rId2" Type="http://schemas.openxmlformats.org/officeDocument/2006/relationships/notesSlide" Target="../notesSlides/notesSlide19.xml"/><Relationship Id="rId20" Type="http://schemas.openxmlformats.org/officeDocument/2006/relationships/image" Target="../media/image470.png"/><Relationship Id="rId1" Type="http://schemas.openxmlformats.org/officeDocument/2006/relationships/slideLayout" Target="../slideLayouts/slideLayout7.xml"/><Relationship Id="rId6" Type="http://schemas.openxmlformats.org/officeDocument/2006/relationships/image" Target="../media/image58.png"/><Relationship Id="rId24" Type="http://schemas.openxmlformats.org/officeDocument/2006/relationships/image" Target="../media/image65.png"/><Relationship Id="rId5" Type="http://schemas.openxmlformats.org/officeDocument/2006/relationships/image" Target="../media/image57.jpeg"/><Relationship Id="rId23" Type="http://schemas.openxmlformats.org/officeDocument/2006/relationships/image" Target="../media/image64.png"/><Relationship Id="rId4" Type="http://schemas.openxmlformats.org/officeDocument/2006/relationships/image" Target="../media/image56.png"/><Relationship Id="rId9" Type="http://schemas.openxmlformats.org/officeDocument/2006/relationships/image" Target="../media/image62.png"/><Relationship Id="rId22" Type="http://schemas.openxmlformats.org/officeDocument/2006/relationships/image" Target="../media/image63.png"/></Relationships>
</file>

<file path=ppt/slides/_rels/slide2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68.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3.jpg"/><Relationship Id="rId5" Type="http://schemas.openxmlformats.org/officeDocument/2006/relationships/image" Target="../media/image24.png"/><Relationship Id="rId4" Type="http://schemas.openxmlformats.org/officeDocument/2006/relationships/image" Target="../media/image660.png"/></Relationships>
</file>

<file path=ppt/slides/_rels/slide30.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19.png"/><Relationship Id="rId7" Type="http://schemas.openxmlformats.org/officeDocument/2006/relationships/image" Target="../media/image71.jp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9.png"/><Relationship Id="rId7" Type="http://schemas.openxmlformats.org/officeDocument/2006/relationships/image" Target="../media/image410.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8.png"/><Relationship Id="rId9"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0.png"/></Relationships>
</file>

<file path=ppt/slides/_rels/slide33.xml.rels><?xml version="1.0" encoding="UTF-8" standalone="yes"?>
<Relationships xmlns="http://schemas.openxmlformats.org/package/2006/relationships"><Relationship Id="rId8" Type="http://schemas.openxmlformats.org/officeDocument/2006/relationships/image" Target="../media/image430.png"/><Relationship Id="rId3" Type="http://schemas.openxmlformats.org/officeDocument/2006/relationships/image" Target="../media/image19.png"/><Relationship Id="rId7" Type="http://schemas.openxmlformats.org/officeDocument/2006/relationships/image" Target="../media/image400.png"/><Relationship Id="rId12"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60.png"/><Relationship Id="rId5" Type="http://schemas.openxmlformats.org/officeDocument/2006/relationships/image" Target="../media/image76.png"/><Relationship Id="rId10" Type="http://schemas.openxmlformats.org/officeDocument/2006/relationships/image" Target="../media/image450.png"/><Relationship Id="rId4" Type="http://schemas.openxmlformats.org/officeDocument/2006/relationships/image" Target="../media/image75.png"/><Relationship Id="rId9" Type="http://schemas.openxmlformats.org/officeDocument/2006/relationships/image" Target="../media/image440.png"/></Relationships>
</file>

<file path=ppt/slides/_rels/slide34.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19.png"/><Relationship Id="rId7" Type="http://schemas.openxmlformats.org/officeDocument/2006/relationships/image" Target="../media/image78.png"/><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77.png"/><Relationship Id="rId9" Type="http://schemas.openxmlformats.org/officeDocument/2006/relationships/image" Target="../media/image80.png"/></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6858000" cy="9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Beşgen 2"/>
          <p:cNvSpPr/>
          <p:nvPr/>
        </p:nvSpPr>
        <p:spPr>
          <a:xfrm>
            <a:off x="1762510" y="8615292"/>
            <a:ext cx="3168352" cy="432048"/>
          </a:xfrm>
          <a:prstGeom prst="homePlate">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4" name="Metin kutusu 3"/>
          <p:cNvSpPr txBox="1"/>
          <p:nvPr/>
        </p:nvSpPr>
        <p:spPr>
          <a:xfrm>
            <a:off x="1762508" y="8678008"/>
            <a:ext cx="2880320" cy="369332"/>
          </a:xfrm>
          <a:prstGeom prst="rect">
            <a:avLst/>
          </a:prstGeom>
          <a:noFill/>
        </p:spPr>
        <p:txBody>
          <a:bodyPr wrap="square" rtlCol="0">
            <a:spAutoFit/>
          </a:bodyPr>
          <a:lstStyle/>
          <a:p>
            <a:pPr algn="ctr"/>
            <a:r>
              <a:rPr lang="tr-TR" dirty="0" smtClean="0"/>
              <a:t>www.ahmetcelen.com.tr</a:t>
            </a:r>
            <a:endParaRPr lang="tr-TR" dirty="0"/>
          </a:p>
        </p:txBody>
      </p:sp>
      <p:sp>
        <p:nvSpPr>
          <p:cNvPr id="5" name="Dikdörtgen 4"/>
          <p:cNvSpPr/>
          <p:nvPr/>
        </p:nvSpPr>
        <p:spPr>
          <a:xfrm>
            <a:off x="1340768" y="1403648"/>
            <a:ext cx="4434291" cy="2585323"/>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5400" b="1" cap="none" spc="0" dirty="0" smtClean="0">
                <a:ln>
                  <a:prstDash val="solid"/>
                </a:ln>
                <a:solidFill>
                  <a:srgbClr val="FFFF00"/>
                </a:solidFill>
                <a:effectLst>
                  <a:outerShdw blurRad="88000" dist="50800" dir="5040000" algn="tl">
                    <a:schemeClr val="accent4">
                      <a:tint val="80000"/>
                      <a:satMod val="250000"/>
                      <a:alpha val="45000"/>
                    </a:schemeClr>
                  </a:outerShdw>
                </a:effectLst>
              </a:rPr>
              <a:t>Parabol </a:t>
            </a:r>
          </a:p>
          <a:p>
            <a:pPr algn="ctr"/>
            <a:r>
              <a:rPr lang="tr-TR" sz="5400" b="1" cap="none" spc="0" dirty="0" smtClean="0">
                <a:ln>
                  <a:prstDash val="solid"/>
                </a:ln>
                <a:solidFill>
                  <a:srgbClr val="FFFF00"/>
                </a:solidFill>
                <a:effectLst>
                  <a:outerShdw blurRad="88000" dist="50800" dir="5040000" algn="tl">
                    <a:schemeClr val="accent4">
                      <a:tint val="80000"/>
                      <a:satMod val="250000"/>
                      <a:alpha val="45000"/>
                    </a:schemeClr>
                  </a:outerShdw>
                </a:effectLst>
              </a:rPr>
              <a:t>Konu Anlatımlı</a:t>
            </a:r>
          </a:p>
          <a:p>
            <a:pPr algn="ctr"/>
            <a:r>
              <a:rPr lang="tr-TR" sz="5400" b="1" dirty="0" smtClean="0">
                <a:ln>
                  <a:prstDash val="solid"/>
                </a:ln>
                <a:solidFill>
                  <a:srgbClr val="FFFF00"/>
                </a:solidFill>
                <a:effectLst>
                  <a:outerShdw blurRad="88000" dist="50800" dir="5040000" algn="tl">
                    <a:schemeClr val="accent4">
                      <a:tint val="80000"/>
                      <a:satMod val="250000"/>
                      <a:alpha val="45000"/>
                    </a:schemeClr>
                  </a:outerShdw>
                </a:effectLst>
              </a:rPr>
              <a:t>Mini Fasikül</a:t>
            </a:r>
            <a:endParaRPr lang="tr-TR" sz="5400" b="1" cap="none" spc="0" dirty="0">
              <a:ln>
                <a:prstDash val="solid"/>
              </a:ln>
              <a:solidFill>
                <a:srgbClr val="FFFF00"/>
              </a:solidFill>
              <a:effectLst>
                <a:outerShdw blurRad="88000" dist="50800" dir="5040000" algn="tl">
                  <a:schemeClr val="accent4">
                    <a:tint val="80000"/>
                    <a:satMod val="250000"/>
                    <a:alpha val="45000"/>
                  </a:schemeClr>
                </a:outerShdw>
              </a:effectLst>
            </a:endParaRPr>
          </a:p>
        </p:txBody>
      </p:sp>
      <p:sp>
        <p:nvSpPr>
          <p:cNvPr id="8" name="Dikdörtgen 7"/>
          <p:cNvSpPr/>
          <p:nvPr/>
        </p:nvSpPr>
        <p:spPr>
          <a:xfrm>
            <a:off x="2996952" y="683568"/>
            <a:ext cx="3264932" cy="630942"/>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500" b="1" cap="none" spc="0" dirty="0" smtClean="0">
                <a:ln>
                  <a:prstDash val="solid"/>
                </a:ln>
                <a:solidFill>
                  <a:schemeClr val="bg1"/>
                </a:solidFill>
                <a:effectLst>
                  <a:outerShdw blurRad="88000" dist="50800" dir="5040000" algn="tl">
                    <a:schemeClr val="accent4">
                      <a:tint val="80000"/>
                      <a:satMod val="250000"/>
                      <a:alpha val="45000"/>
                    </a:schemeClr>
                  </a:outerShdw>
                </a:effectLst>
              </a:rPr>
              <a:t>AYT - Matematik</a:t>
            </a:r>
            <a:endParaRPr lang="tr-TR" sz="3500" b="1" cap="none" spc="0" dirty="0">
              <a:ln>
                <a:prstDash val="solid"/>
              </a:ln>
              <a:solidFill>
                <a:schemeClr val="bg1"/>
              </a:solidFill>
              <a:effectLst>
                <a:outerShdw blurRad="88000" dist="50800" dir="5040000" algn="tl">
                  <a:schemeClr val="accent4">
                    <a:tint val="80000"/>
                    <a:satMod val="250000"/>
                    <a:alpha val="45000"/>
                  </a:schemeClr>
                </a:outerShdw>
              </a:effectLst>
            </a:endParaRPr>
          </a:p>
        </p:txBody>
      </p:sp>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21017" y="1496491"/>
            <a:ext cx="1038018" cy="78271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Dikdörtgen 10"/>
          <p:cNvSpPr/>
          <p:nvPr/>
        </p:nvSpPr>
        <p:spPr>
          <a:xfrm>
            <a:off x="764704" y="3851920"/>
            <a:ext cx="5328591" cy="170816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500" b="1" cap="none" spc="0" dirty="0" smtClean="0">
                <a:ln>
                  <a:prstDash val="solid"/>
                </a:ln>
                <a:solidFill>
                  <a:schemeClr val="bg1"/>
                </a:solidFill>
                <a:effectLst>
                  <a:outerShdw blurRad="88000" dist="50800" dir="5040000" algn="tl">
                    <a:schemeClr val="accent4">
                      <a:tint val="80000"/>
                      <a:satMod val="250000"/>
                      <a:alpha val="45000"/>
                    </a:schemeClr>
                  </a:outerShdw>
                </a:effectLst>
              </a:rPr>
              <a:t>Yeni Müfredata Uygun</a:t>
            </a:r>
          </a:p>
          <a:p>
            <a:pPr algn="ctr"/>
            <a:r>
              <a:rPr lang="tr-TR" sz="3500" b="1" dirty="0" smtClean="0">
                <a:ln>
                  <a:prstDash val="solid"/>
                </a:ln>
                <a:solidFill>
                  <a:schemeClr val="bg1"/>
                </a:solidFill>
                <a:effectLst>
                  <a:outerShdw blurRad="88000" dist="50800" dir="5040000" algn="tl">
                    <a:schemeClr val="accent4">
                      <a:tint val="80000"/>
                      <a:satMod val="250000"/>
                      <a:alpha val="45000"/>
                    </a:schemeClr>
                  </a:outerShdw>
                </a:effectLst>
              </a:rPr>
              <a:t>Pekiştirme, Yeni Nesil , ÖSYM</a:t>
            </a:r>
            <a:endParaRPr lang="tr-TR" sz="3500" b="1" cap="none" spc="0" dirty="0">
              <a:ln>
                <a:prstDash val="solid"/>
              </a:ln>
              <a:solidFill>
                <a:schemeClr val="bg1"/>
              </a:solidFill>
              <a:effectLst>
                <a:outerShdw blurRad="88000" dist="50800" dir="5040000" algn="tl">
                  <a:schemeClr val="accent4">
                    <a:tint val="80000"/>
                    <a:satMod val="250000"/>
                    <a:alpha val="45000"/>
                  </a:schemeClr>
                </a:outerShdw>
              </a:effectLst>
            </a:endParaRPr>
          </a:p>
        </p:txBody>
      </p:sp>
      <p:sp>
        <p:nvSpPr>
          <p:cNvPr id="12" name="Dikdörtgen 11"/>
          <p:cNvSpPr/>
          <p:nvPr/>
        </p:nvSpPr>
        <p:spPr>
          <a:xfrm>
            <a:off x="3933056" y="4932040"/>
            <a:ext cx="2475656" cy="1138773"/>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3400" b="1" cap="none" spc="0" dirty="0" smtClean="0">
                <a:ln>
                  <a:prstDash val="solid"/>
                </a:ln>
                <a:solidFill>
                  <a:schemeClr val="bg1"/>
                </a:solidFill>
                <a:effectLst>
                  <a:outerShdw blurRad="88000" dist="50800" dir="5040000" algn="tl">
                    <a:schemeClr val="accent4">
                      <a:tint val="80000"/>
                      <a:satMod val="250000"/>
                      <a:alpha val="45000"/>
                    </a:schemeClr>
                  </a:outerShdw>
                </a:effectLst>
              </a:rPr>
              <a:t>Tipi ve </a:t>
            </a:r>
          </a:p>
          <a:p>
            <a:endParaRPr lang="tr-TR" sz="3400" b="1" cap="none" spc="0" dirty="0">
              <a:ln>
                <a:prstDash val="solid"/>
              </a:ln>
              <a:solidFill>
                <a:schemeClr val="bg1"/>
              </a:solidFill>
              <a:effectLst>
                <a:outerShdw blurRad="88000" dist="50800" dir="5040000" algn="tl">
                  <a:schemeClr val="accent4">
                    <a:tint val="80000"/>
                    <a:satMod val="250000"/>
                    <a:alpha val="45000"/>
                  </a:schemeClr>
                </a:outerShdw>
              </a:effectLst>
            </a:endParaRPr>
          </a:p>
        </p:txBody>
      </p:sp>
      <p:sp>
        <p:nvSpPr>
          <p:cNvPr id="16" name="Dikdörtgen 15"/>
          <p:cNvSpPr/>
          <p:nvPr/>
        </p:nvSpPr>
        <p:spPr>
          <a:xfrm>
            <a:off x="2194295" y="6732240"/>
            <a:ext cx="4475065" cy="1754326"/>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b="1" dirty="0" smtClean="0">
                <a:ln>
                  <a:prstDash val="solid"/>
                </a:ln>
                <a:solidFill>
                  <a:schemeClr val="bg1"/>
                </a:solidFill>
                <a:effectLst>
                  <a:outerShdw blurRad="88000" dist="50800" dir="5040000" algn="tl">
                    <a:schemeClr val="accent4">
                      <a:tint val="80000"/>
                      <a:satMod val="250000"/>
                      <a:alpha val="45000"/>
                    </a:schemeClr>
                  </a:outerShdw>
                </a:effectLst>
              </a:rPr>
              <a:t>Soruların tamamı video çözümlüdür.</a:t>
            </a:r>
          </a:p>
          <a:p>
            <a:r>
              <a:rPr lang="tr-TR" b="1" dirty="0" smtClean="0">
                <a:ln>
                  <a:prstDash val="solid"/>
                </a:ln>
                <a:solidFill>
                  <a:schemeClr val="bg1"/>
                </a:solidFill>
                <a:effectLst>
                  <a:outerShdw blurRad="88000" dist="50800" dir="5040000" algn="tl">
                    <a:schemeClr val="accent4">
                      <a:tint val="80000"/>
                      <a:satMod val="250000"/>
                      <a:alpha val="45000"/>
                    </a:schemeClr>
                  </a:outerShdw>
                </a:effectLst>
              </a:rPr>
              <a:t>1X , 1.25x , 1.50x ,  1.75x , 2x, 4x hız opsiyonları bulunmaktadır.</a:t>
            </a:r>
            <a:r>
              <a:rPr lang="tr-TR" b="1" dirty="0">
                <a:ln>
                  <a:prstDash val="solid"/>
                </a:ln>
                <a:solidFill>
                  <a:schemeClr val="bg1"/>
                </a:solidFill>
                <a:effectLst>
                  <a:outerShdw blurRad="88000" dist="50800" dir="5040000" algn="tl">
                    <a:schemeClr val="accent4">
                      <a:tint val="80000"/>
                      <a:satMod val="250000"/>
                      <a:alpha val="45000"/>
                    </a:schemeClr>
                  </a:outerShdw>
                </a:effectLst>
              </a:rPr>
              <a:t> </a:t>
            </a:r>
            <a:r>
              <a:rPr lang="tr-TR" b="1" dirty="0" smtClean="0">
                <a:ln>
                  <a:prstDash val="solid"/>
                </a:ln>
                <a:solidFill>
                  <a:schemeClr val="bg1"/>
                </a:solidFill>
                <a:effectLst>
                  <a:outerShdw blurRad="88000" dist="50800" dir="5040000" algn="tl">
                    <a:schemeClr val="accent4">
                      <a:tint val="80000"/>
                      <a:satMod val="250000"/>
                      <a:alpha val="45000"/>
                    </a:schemeClr>
                  </a:outerShdw>
                </a:effectLst>
              </a:rPr>
              <a:t>Testin QR kodunu okutarak ulaşabilirsiniz. Bir sonraki sayfada detaylı bilgi bulabilirsiniz. Bu dokümanı </a:t>
            </a:r>
            <a:r>
              <a:rPr lang="tr-TR" b="1" dirty="0" smtClean="0">
                <a:ln>
                  <a:prstDash val="solid"/>
                </a:ln>
                <a:solidFill>
                  <a:srgbClr val="FFFF00"/>
                </a:solidFill>
                <a:effectLst>
                  <a:outerShdw blurRad="88000" dist="50800" dir="5040000" algn="tl">
                    <a:schemeClr val="accent4">
                      <a:tint val="80000"/>
                      <a:satMod val="250000"/>
                      <a:alpha val="45000"/>
                    </a:schemeClr>
                  </a:outerShdw>
                </a:effectLst>
              </a:rPr>
              <a:t>ücretsiz</a:t>
            </a:r>
            <a:r>
              <a:rPr lang="tr-TR" b="1" dirty="0" smtClean="0">
                <a:ln>
                  <a:prstDash val="solid"/>
                </a:ln>
                <a:solidFill>
                  <a:schemeClr val="bg1"/>
                </a:solidFill>
                <a:effectLst>
                  <a:outerShdw blurRad="88000" dist="50800" dir="5040000" algn="tl">
                    <a:schemeClr val="accent4">
                      <a:tint val="80000"/>
                      <a:satMod val="250000"/>
                      <a:alpha val="45000"/>
                    </a:schemeClr>
                  </a:outerShdw>
                </a:effectLst>
              </a:rPr>
              <a:t>  olarak sitemizden indirebilirsiniz.</a:t>
            </a:r>
          </a:p>
        </p:txBody>
      </p:sp>
      <p:pic>
        <p:nvPicPr>
          <p:cNvPr id="1033" name="Picture 9" descr="C:\Users\Pc\AppData\Local\Microsoft\Windows\Temporary Internet Files\Content.IE5\GRK5B6ZB\Ic_play_circle_fill_48px.svg[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8030" y="7596336"/>
            <a:ext cx="1069910" cy="877163"/>
          </a:xfrm>
          <a:prstGeom prst="rect">
            <a:avLst/>
          </a:prstGeom>
          <a:noFill/>
          <a:effectLst>
            <a:glow rad="228600">
              <a:srgbClr val="FFFF00">
                <a:alpha val="40000"/>
              </a:srgbClr>
            </a:glow>
          </a:effectLst>
          <a:extLst>
            <a:ext uri="{909E8E84-426E-40DD-AFC4-6F175D3DCCD1}">
              <a14:hiddenFill xmlns:a14="http://schemas.microsoft.com/office/drawing/2010/main">
                <a:solidFill>
                  <a:srgbClr val="FFFFFF"/>
                </a:solidFill>
              </a14:hiddenFill>
            </a:ext>
          </a:extLst>
        </p:spPr>
      </p:pic>
      <p:sp>
        <p:nvSpPr>
          <p:cNvPr id="18" name="Dikdörtgen 17"/>
          <p:cNvSpPr/>
          <p:nvPr/>
        </p:nvSpPr>
        <p:spPr>
          <a:xfrm>
            <a:off x="1731275" y="5436096"/>
            <a:ext cx="5328591" cy="600164"/>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300" b="1" dirty="0" smtClean="0">
                <a:ln>
                  <a:prstDash val="solid"/>
                </a:ln>
                <a:solidFill>
                  <a:schemeClr val="bg1"/>
                </a:solidFill>
                <a:effectLst>
                  <a:outerShdw blurRad="88000" dist="50800" dir="5040000" algn="tl">
                    <a:schemeClr val="accent4">
                      <a:tint val="80000"/>
                      <a:satMod val="250000"/>
                      <a:alpha val="45000"/>
                    </a:schemeClr>
                  </a:outerShdw>
                </a:effectLst>
              </a:rPr>
              <a:t>Meraklısına Sorular</a:t>
            </a:r>
            <a:endParaRPr lang="tr-TR" sz="3300" b="1" cap="none" spc="0" dirty="0">
              <a:ln>
                <a:prstDash val="solid"/>
              </a:ln>
              <a:solidFill>
                <a:schemeClr val="bg1"/>
              </a:solidFill>
              <a:effectLst>
                <a:outerShdw blurRad="88000" dist="50800" dir="5040000" algn="tl">
                  <a:schemeClr val="accent4">
                    <a:tint val="80000"/>
                    <a:satMod val="250000"/>
                    <a:alpha val="45000"/>
                  </a:schemeClr>
                </a:outerShdw>
              </a:effectLst>
            </a:endParaRPr>
          </a:p>
        </p:txBody>
      </p:sp>
      <p:sp>
        <p:nvSpPr>
          <p:cNvPr id="19" name="Dikdörtgen 18"/>
          <p:cNvSpPr/>
          <p:nvPr/>
        </p:nvSpPr>
        <p:spPr>
          <a:xfrm>
            <a:off x="260648" y="6804248"/>
            <a:ext cx="1954586" cy="64633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b="1" dirty="0" smtClean="0">
                <a:ln>
                  <a:prstDash val="solid"/>
                </a:ln>
                <a:solidFill>
                  <a:schemeClr val="bg1"/>
                </a:solidFill>
                <a:effectLst>
                  <a:glow rad="101600">
                    <a:srgbClr val="6600FF">
                      <a:alpha val="60000"/>
                    </a:srgbClr>
                  </a:glow>
                  <a:outerShdw blurRad="88000" dist="50800" dir="5040000" algn="tl">
                    <a:schemeClr val="accent4">
                      <a:tint val="80000"/>
                      <a:satMod val="250000"/>
                      <a:alpha val="45000"/>
                    </a:schemeClr>
                  </a:outerShdw>
                </a:effectLst>
              </a:rPr>
              <a:t>TAMAMI </a:t>
            </a:r>
          </a:p>
          <a:p>
            <a:pPr algn="ctr"/>
            <a:r>
              <a:rPr lang="tr-TR" b="1" dirty="0" smtClean="0">
                <a:ln>
                  <a:prstDash val="solid"/>
                </a:ln>
                <a:solidFill>
                  <a:schemeClr val="bg1"/>
                </a:solidFill>
                <a:effectLst>
                  <a:glow rad="101600">
                    <a:srgbClr val="6600FF">
                      <a:alpha val="60000"/>
                    </a:srgbClr>
                  </a:glow>
                  <a:outerShdw blurRad="88000" dist="50800" dir="5040000" algn="tl">
                    <a:schemeClr val="accent4">
                      <a:tint val="80000"/>
                      <a:satMod val="250000"/>
                      <a:alpha val="45000"/>
                    </a:schemeClr>
                  </a:outerShdw>
                </a:effectLst>
              </a:rPr>
              <a:t>VİDEO ÇÖZÜMLÜ</a:t>
            </a:r>
          </a:p>
        </p:txBody>
      </p:sp>
      <p:pic>
        <p:nvPicPr>
          <p:cNvPr id="2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871" y="5076055"/>
            <a:ext cx="1705009" cy="1659943"/>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5" name="Picture 11"/>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25144" y="1257360"/>
            <a:ext cx="1224136" cy="1260974"/>
          </a:xfrm>
          <a:prstGeom prst="ellipse">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2" name="Dikdörtgen 21"/>
          <p:cNvSpPr/>
          <p:nvPr/>
        </p:nvSpPr>
        <p:spPr>
          <a:xfrm rot="16200000">
            <a:off x="-1185609" y="2621687"/>
            <a:ext cx="2837636" cy="630942"/>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500" b="1" dirty="0" smtClean="0">
                <a:ln>
                  <a:prstDash val="solid"/>
                </a:ln>
                <a:solidFill>
                  <a:schemeClr val="bg1"/>
                </a:solidFill>
                <a:effectLst>
                  <a:outerShdw blurRad="88000" dist="50800" dir="5040000" algn="tl">
                    <a:schemeClr val="accent4">
                      <a:tint val="80000"/>
                      <a:satMod val="250000"/>
                      <a:alpha val="45000"/>
                    </a:schemeClr>
                  </a:outerShdw>
                </a:effectLst>
              </a:rPr>
              <a:t>AHMET ÇELEN</a:t>
            </a:r>
            <a:endParaRPr lang="tr-TR" sz="3500" b="1" cap="none" spc="0" dirty="0">
              <a:ln>
                <a:prstDash val="solid"/>
              </a:ln>
              <a:solidFill>
                <a:schemeClr val="bg1"/>
              </a:solidFill>
              <a:effectLst>
                <a:outerShdw blurRad="88000" dist="50800" dir="5040000" algn="tl">
                  <a:schemeClr val="accent4">
                    <a:tint val="80000"/>
                    <a:satMod val="250000"/>
                    <a:alpha val="45000"/>
                  </a:schemeClr>
                </a:outerShdw>
              </a:effectLst>
            </a:endParaRPr>
          </a:p>
        </p:txBody>
      </p:sp>
    </p:spTree>
    <p:extLst>
      <p:ext uri="{BB962C8B-B14F-4D97-AF65-F5344CB8AC3E}">
        <p14:creationId xmlns:p14="http://schemas.microsoft.com/office/powerpoint/2010/main" val="25177265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43000"/>
                    </a14:imgEffect>
                  </a14:imgLayer>
                </a14:imgProps>
              </a:ext>
              <a:ext uri="{28A0092B-C50C-407E-A947-70E740481C1C}">
                <a14:useLocalDpi xmlns:a14="http://schemas.microsoft.com/office/drawing/2010/main" val="0"/>
              </a:ext>
            </a:extLst>
          </a:blip>
          <a:srcRect/>
          <a:stretch>
            <a:fillRect/>
          </a:stretch>
        </p:blipFill>
        <p:spPr bwMode="auto">
          <a:xfrm>
            <a:off x="0" y="0"/>
            <a:ext cx="6858000" cy="914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Dikdörtgen 2"/>
          <p:cNvSpPr/>
          <p:nvPr/>
        </p:nvSpPr>
        <p:spPr>
          <a:xfrm>
            <a:off x="3010943" y="683568"/>
            <a:ext cx="3236976" cy="630942"/>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500" b="1" cap="none" spc="0" dirty="0" smtClean="0">
                <a:ln>
                  <a:prstDash val="solid"/>
                </a:ln>
                <a:solidFill>
                  <a:srgbClr val="FFFF00"/>
                </a:solidFill>
                <a:effectLst>
                  <a:outerShdw blurRad="88000" dist="50800" dir="5040000" algn="tl">
                    <a:schemeClr val="accent4">
                      <a:tint val="80000"/>
                      <a:satMod val="250000"/>
                      <a:alpha val="45000"/>
                    </a:schemeClr>
                  </a:outerShdw>
                </a:effectLst>
              </a:rPr>
              <a:t>Video Çözümleri</a:t>
            </a:r>
            <a:endParaRPr lang="tr-TR" sz="3500" b="1" cap="none" spc="0" dirty="0">
              <a:ln>
                <a:prstDash val="solid"/>
              </a:ln>
              <a:solidFill>
                <a:srgbClr val="FFFF00"/>
              </a:solidFill>
              <a:effectLst>
                <a:outerShdw blurRad="88000" dist="50800" dir="5040000" algn="tl">
                  <a:schemeClr val="accent4">
                    <a:tint val="80000"/>
                    <a:satMod val="250000"/>
                    <a:alpha val="45000"/>
                  </a:schemeClr>
                </a:outerShdw>
              </a:effectLst>
            </a:endParaRPr>
          </a:p>
        </p:txBody>
      </p:sp>
      <p:sp>
        <p:nvSpPr>
          <p:cNvPr id="4" name="Dikdörtgen 3"/>
          <p:cNvSpPr/>
          <p:nvPr/>
        </p:nvSpPr>
        <p:spPr>
          <a:xfrm>
            <a:off x="764706" y="1306846"/>
            <a:ext cx="5112566" cy="707886"/>
          </a:xfrm>
          <a:prstGeom prst="rect">
            <a:avLst/>
          </a:prstGeom>
          <a:noFill/>
        </p:spPr>
        <p:txBody>
          <a:bodyPr wrap="square" lIns="91440" tIns="45720" rIns="91440" bIns="45720">
            <a:spAutoFit/>
          </a:bodyPr>
          <a:lstStyle/>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Video Çözümlerine testin sağ üstünde bulunan</a:t>
            </a: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QR Kodu okutarak direkt ulaşabilirsiniz.</a:t>
            </a:r>
            <a:endParaRPr lang="tr-TR" sz="2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6" name="Dikdörtgen 5"/>
          <p:cNvSpPr/>
          <p:nvPr/>
        </p:nvSpPr>
        <p:spPr>
          <a:xfrm>
            <a:off x="872717" y="2155924"/>
            <a:ext cx="5112566" cy="3785652"/>
          </a:xfrm>
          <a:prstGeom prst="rect">
            <a:avLst/>
          </a:prstGeom>
          <a:noFill/>
        </p:spPr>
        <p:txBody>
          <a:bodyPr wrap="square" lIns="91440" tIns="45720" rIns="91440" bIns="45720">
            <a:spAutoFit/>
          </a:bodyPr>
          <a:lstStyle/>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Video çözümleri olabildiğinde her seviyeye uygun şekilde desteklenmiştir.  </a:t>
            </a:r>
            <a:endParaRPr lang="tr-TR" sz="2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endPar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0.25x – 4x arasında dilediğiniz hız opsiyonunda dinleyebilir  </a:t>
            </a:r>
            <a:r>
              <a:rPr lang="tr-T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çözümlerimize ücretsiz ulaşabilir,</a:t>
            </a:r>
          </a:p>
          <a:p>
            <a:pPr algn="ctr"/>
            <a:r>
              <a:rPr lang="tr-TR" sz="2000" dirty="0">
                <a:ln w="18415" cmpd="sng">
                  <a:solidFill>
                    <a:srgbClr val="FFFFFF"/>
                  </a:solidFill>
                  <a:prstDash val="solid"/>
                </a:ln>
                <a:solidFill>
                  <a:srgbClr val="FFFFFF"/>
                </a:solidFill>
                <a:effectLst>
                  <a:outerShdw blurRad="63500" dir="3600000" algn="tl" rotWithShape="0">
                    <a:srgbClr val="000000">
                      <a:alpha val="70000"/>
                    </a:srgbClr>
                  </a:outerShdw>
                </a:effectLst>
              </a:rPr>
              <a:t>ç</a:t>
            </a: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evrim dışında izlemek içinde cihazınıza videoları aynı şekilde ücretsiz indirebilirsiniz.</a:t>
            </a:r>
          </a:p>
          <a:p>
            <a:pPr algn="ctr"/>
            <a:endParaRPr lang="tr-TR" sz="20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Video çözümlerine ahmetcelen.com.tr/video </a:t>
            </a: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adresinden ulaşabilirsiniz. Kolaylık için </a:t>
            </a: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testin sağ üst bölümünde bulunan QR kodu</a:t>
            </a:r>
          </a:p>
          <a:p>
            <a:pPr algn="ctr"/>
            <a:r>
              <a:rPr lang="tr-TR"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okutarak direkt hedef adrese ulaşabilirsiniz.</a:t>
            </a:r>
          </a:p>
        </p:txBody>
      </p:sp>
      <p:sp>
        <p:nvSpPr>
          <p:cNvPr id="7" name="Dikdörtgen 6"/>
          <p:cNvSpPr/>
          <p:nvPr/>
        </p:nvSpPr>
        <p:spPr>
          <a:xfrm>
            <a:off x="662814" y="5941576"/>
            <a:ext cx="3163175" cy="630942"/>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tr-TR" sz="3500" b="1" cap="none" spc="0" dirty="0" smtClean="0">
                <a:ln>
                  <a:prstDash val="solid"/>
                </a:ln>
                <a:solidFill>
                  <a:srgbClr val="FFFF00"/>
                </a:solidFill>
                <a:effectLst>
                  <a:outerShdw blurRad="88000" dist="50800" dir="5040000" algn="tl">
                    <a:schemeClr val="accent4">
                      <a:tint val="80000"/>
                      <a:satMod val="250000"/>
                      <a:alpha val="45000"/>
                    </a:schemeClr>
                  </a:outerShdw>
                </a:effectLst>
              </a:rPr>
              <a:t>QR Kod Okutma</a:t>
            </a:r>
            <a:endParaRPr lang="tr-TR" sz="3500" b="1" cap="none" spc="0" dirty="0">
              <a:ln>
                <a:prstDash val="solid"/>
              </a:ln>
              <a:solidFill>
                <a:srgbClr val="FFFF00"/>
              </a:solidFill>
              <a:effectLst>
                <a:outerShdw blurRad="88000" dist="50800" dir="5040000" algn="tl">
                  <a:schemeClr val="accent4">
                    <a:tint val="80000"/>
                    <a:satMod val="250000"/>
                    <a:alpha val="45000"/>
                  </a:schemeClr>
                </a:outerShdw>
              </a:effectLst>
            </a:endParaRPr>
          </a:p>
        </p:txBody>
      </p:sp>
      <p:sp>
        <p:nvSpPr>
          <p:cNvPr id="8" name="Dikdörtgen 7"/>
          <p:cNvSpPr/>
          <p:nvPr/>
        </p:nvSpPr>
        <p:spPr>
          <a:xfrm>
            <a:off x="404664" y="6523181"/>
            <a:ext cx="6048671" cy="2585323"/>
          </a:xfrm>
          <a:prstGeom prst="rect">
            <a:avLst/>
          </a:prstGeom>
          <a:noFill/>
        </p:spPr>
        <p:txBody>
          <a:bodyPr wrap="square" lIns="91440" tIns="45720" rIns="91440" bIns="45720">
            <a:spAutoFit/>
          </a:bodyPr>
          <a:lstStyle/>
          <a:p>
            <a:r>
              <a:rPr lang="tr-TR"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Cihazınızın işletim sistemine göre </a:t>
            </a:r>
            <a:r>
              <a:rPr lang="tr-TR"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App</a:t>
            </a:r>
            <a:r>
              <a:rPr lang="tr-TR"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a:t>
            </a:r>
            <a:r>
              <a:rPr lang="tr-TR" dirty="0" err="1" smtClean="0">
                <a:ln w="18415" cmpd="sng">
                  <a:solidFill>
                    <a:srgbClr val="FFFFFF"/>
                  </a:solidFill>
                  <a:prstDash val="solid"/>
                </a:ln>
                <a:solidFill>
                  <a:srgbClr val="FFFFFF"/>
                </a:solidFill>
                <a:effectLst>
                  <a:outerShdw blurRad="63500" dir="3600000" algn="tl" rotWithShape="0">
                    <a:srgbClr val="000000">
                      <a:alpha val="70000"/>
                    </a:srgbClr>
                  </a:outerShdw>
                </a:effectLst>
              </a:rPr>
              <a:t>Store</a:t>
            </a:r>
            <a:r>
              <a:rPr lang="tr-TR"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 veya Google Play üzerinden QR Kod okutucu diye arama yaptığınızda birçok aynı işlevde uygulama çıkacaktır. Dilediğiniz uygulamayı seçip cihazınıza yükleyin. Uygulamayı açtıktan sonra uygulama içinde kamera açılacaktır. Kamerada testin sağ üstünde bulunan QR Kodu tam görecek şekilde konumlandırın. Okuttuktan sonra hedef web adresini görmüş olacaksınız. Dilerseniz kopyalayıp tarayıcınızda veya  direkt uygulama desteği varsa hedef soru videosuna ulaşabilirsiniz.</a:t>
            </a:r>
            <a:endParaRPr lang="tr-TR"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Tree>
    <p:extLst>
      <p:ext uri="{BB962C8B-B14F-4D97-AF65-F5344CB8AC3E}">
        <p14:creationId xmlns:p14="http://schemas.microsoft.com/office/powerpoint/2010/main" val="35738830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0" y="-16738"/>
            <a:ext cx="6858000" cy="707886"/>
          </a:xfrm>
          <a:prstGeom prst="rect">
            <a:avLst/>
          </a:prstGeom>
          <a:noFill/>
        </p:spPr>
        <p:txBody>
          <a:bodyPr wrap="square" rtlCol="0">
            <a:spAutoFit/>
          </a:bodyPr>
          <a:lstStyle/>
          <a:p>
            <a:pPr algn="ctr"/>
            <a:r>
              <a:rPr lang="tr-TR" sz="4000" dirty="0" smtClean="0"/>
              <a:t>Ön Söz - Açıklamalar</a:t>
            </a:r>
            <a:endParaRPr lang="tr-TR" sz="4000" dirty="0"/>
          </a:p>
        </p:txBody>
      </p:sp>
      <p:sp>
        <p:nvSpPr>
          <p:cNvPr id="3" name="Metin kutusu 2"/>
          <p:cNvSpPr txBox="1"/>
          <p:nvPr/>
        </p:nvSpPr>
        <p:spPr>
          <a:xfrm>
            <a:off x="20980" y="694224"/>
            <a:ext cx="6858000" cy="553998"/>
          </a:xfrm>
          <a:prstGeom prst="rect">
            <a:avLst/>
          </a:prstGeom>
          <a:noFill/>
        </p:spPr>
        <p:txBody>
          <a:bodyPr wrap="square" rtlCol="0">
            <a:spAutoFit/>
          </a:bodyPr>
          <a:lstStyle/>
          <a:p>
            <a:r>
              <a:rPr lang="tr-TR" sz="1500" dirty="0" smtClean="0"/>
              <a:t>Tarih : 20 Eylül 2020</a:t>
            </a:r>
          </a:p>
          <a:p>
            <a:r>
              <a:rPr lang="tr-TR" sz="1500" dirty="0" smtClean="0"/>
              <a:t>Baskı : 1. (Bu doküman baskı niteliği taşımaktadır)</a:t>
            </a:r>
          </a:p>
        </p:txBody>
      </p:sp>
      <p:sp>
        <p:nvSpPr>
          <p:cNvPr id="4" name="Metin kutusu 3"/>
          <p:cNvSpPr txBox="1"/>
          <p:nvPr/>
        </p:nvSpPr>
        <p:spPr>
          <a:xfrm>
            <a:off x="29496" y="2304619"/>
            <a:ext cx="6858000" cy="323165"/>
          </a:xfrm>
          <a:prstGeom prst="rect">
            <a:avLst/>
          </a:prstGeom>
          <a:noFill/>
        </p:spPr>
        <p:txBody>
          <a:bodyPr wrap="square" rtlCol="0">
            <a:spAutoFit/>
          </a:bodyPr>
          <a:lstStyle/>
          <a:p>
            <a:r>
              <a:rPr lang="tr-TR" sz="1500" i="1" dirty="0" smtClean="0"/>
              <a:t>Sevgili Öğrenciler ve Öğretmenler,</a:t>
            </a:r>
            <a:endParaRPr lang="tr-TR" sz="1500" i="1" dirty="0"/>
          </a:p>
        </p:txBody>
      </p:sp>
      <p:sp>
        <p:nvSpPr>
          <p:cNvPr id="5" name="Metin kutusu 4"/>
          <p:cNvSpPr txBox="1"/>
          <p:nvPr/>
        </p:nvSpPr>
        <p:spPr>
          <a:xfrm>
            <a:off x="93028" y="2699792"/>
            <a:ext cx="6480720" cy="5170646"/>
          </a:xfrm>
          <a:prstGeom prst="rect">
            <a:avLst/>
          </a:prstGeom>
          <a:noFill/>
          <a:ln>
            <a:noFill/>
          </a:ln>
        </p:spPr>
        <p:txBody>
          <a:bodyPr wrap="square" rtlCol="0">
            <a:spAutoFit/>
          </a:bodyPr>
          <a:lstStyle/>
          <a:p>
            <a:r>
              <a:rPr lang="tr-TR" sz="1100" i="1" dirty="0" smtClean="0"/>
              <a:t>YKS sınavı çoğu öğrencinin hayatının dönüm noktalarından birisidir. 2.Oturum olarak AYT testinde matematik alanında parabol konusundan her sene soru neredeyse gelmektedir. Bir hazırlık öğrencisi olarak ücretsiz olarak kendi deneyimlerimi  bu fasiküle aktardım. Konu pekiştirme ve öğrenme olarak kolay , orta , ÖSYM soruları kadar zorlukta bölümlerden oluşan ufak bir eser çıkardım. İlave olarak çıkıp çıkmayacağı </a:t>
            </a:r>
            <a:r>
              <a:rPr lang="tr-TR" sz="1100" i="1" dirty="0" err="1" smtClean="0"/>
              <a:t>pandemi</a:t>
            </a:r>
            <a:r>
              <a:rPr lang="tr-TR" sz="1100" i="1" dirty="0" smtClean="0"/>
              <a:t> nedeniyle büyük bir belirsizlik taşıyan türev konusunun parabolle ilişkisine de bu fasikülde siz değerli öğrenci ve öğretmenlerimizin takdirine bırakarak yer verdim. Online eğitimin </a:t>
            </a:r>
            <a:r>
              <a:rPr lang="tr-TR" sz="1100" i="1" dirty="0" err="1" smtClean="0"/>
              <a:t>pandemi</a:t>
            </a:r>
            <a:r>
              <a:rPr lang="tr-TR" sz="1100" i="1" dirty="0" smtClean="0"/>
              <a:t> nedeniyle büyük bir önem kazanmasının ardından bende küçük veya büyük ne kadar kitleye ulaşırsa  bir faydamın olmasını istedim ve ücretsiz şekilde yayımladım. Elimden geldiği kadar video çözümlerini de bizzat kendim yaptım. Herhangi bir yayınevi veya kurum ile yayımladığım içeriklerin hiçbir alakası, anlaşma reklam vb. yoktur. Basım olarak kurumsal bir baskı söz konusu değildir, kırtasiyenizden veya kendi cihazlarınızdan çıktısını alıp fasikülü inceleyebilirsiniz.</a:t>
            </a:r>
          </a:p>
          <a:p>
            <a:endParaRPr lang="tr-TR" sz="1100" i="1" dirty="0"/>
          </a:p>
          <a:p>
            <a:r>
              <a:rPr lang="tr-TR" sz="1100" i="1" dirty="0" smtClean="0"/>
              <a:t>Not : </a:t>
            </a:r>
            <a:r>
              <a:rPr lang="tr-TR" sz="1100" i="1" u="sng" dirty="0" smtClean="0"/>
              <a:t>Türev ilişkisi bölümleri direkt olarak parabolden sonra çözülebilecek kıvamda sorular değildir</a:t>
            </a:r>
            <a:r>
              <a:rPr lang="tr-TR" sz="1100" i="1" dirty="0" smtClean="0"/>
              <a:t>, türev ve analitik geometri bilgisi isteyen sorulardır. Dolayısıyla sadece parabol bilgisiyle çözmeye çalışmanız sizi zorlayabilir normal bir durumdur. Onun için konu özetli şekilde gerek video çözümlerinde gerek video konu anlatımlarda o testleri çözebilecek potansiyelde bilgi paylaşımında bulunduk mutlaka izlemenizi tavsiye ederiz.</a:t>
            </a:r>
            <a:endParaRPr lang="tr-TR" sz="1100" dirty="0"/>
          </a:p>
          <a:p>
            <a:endParaRPr lang="tr-TR" sz="1100" i="1" dirty="0" smtClean="0"/>
          </a:p>
          <a:p>
            <a:r>
              <a:rPr lang="tr-TR" sz="1100" i="1" dirty="0"/>
              <a:t>Ücretsiz olarak vaktim olduğunda bu tür çalışmalar hayatım boyunca </a:t>
            </a:r>
            <a:r>
              <a:rPr lang="tr-TR" sz="1100" b="1" i="1" dirty="0"/>
              <a:t>severek</a:t>
            </a:r>
            <a:r>
              <a:rPr lang="tr-TR" sz="1100" i="1" dirty="0"/>
              <a:t> yapacağım. </a:t>
            </a:r>
          </a:p>
          <a:p>
            <a:endParaRPr lang="tr-TR" sz="1100" i="1" dirty="0" smtClean="0"/>
          </a:p>
          <a:p>
            <a:r>
              <a:rPr lang="tr-TR" sz="1100" i="1" dirty="0" smtClean="0"/>
              <a:t>ALLAH </a:t>
            </a:r>
            <a:r>
              <a:rPr lang="tr-TR" sz="1100" i="1" dirty="0"/>
              <a:t>hepimize vatanımıza milletimize yararlı bireyler olmayı ve mutlu olacağımız işimizi severek en iyisini yapabileceğimiz meslekler nasip etsin.</a:t>
            </a:r>
          </a:p>
          <a:p>
            <a:endParaRPr lang="tr-TR" sz="1100" i="1" dirty="0" smtClean="0"/>
          </a:p>
          <a:p>
            <a:r>
              <a:rPr lang="tr-TR" sz="1100" b="1" i="1" dirty="0"/>
              <a:t>İlginizi çekmeyen bir bölümü sizi yönlendirseler dahil okumayın. Hayatındaki kararları daima sen ver, senin hayatını sen yaşıyorsun, </a:t>
            </a:r>
            <a:r>
              <a:rPr lang="tr-TR" sz="1100" b="1" i="1" dirty="0" smtClean="0"/>
              <a:t>yaşayacaksın</a:t>
            </a:r>
            <a:r>
              <a:rPr lang="tr-TR" sz="1100" b="1" i="1" dirty="0"/>
              <a:t>!  </a:t>
            </a:r>
            <a:endParaRPr lang="tr-TR" sz="1100" b="1" i="1" dirty="0" smtClean="0"/>
          </a:p>
          <a:p>
            <a:endParaRPr lang="tr-TR" sz="1100" i="1" dirty="0"/>
          </a:p>
          <a:p>
            <a:r>
              <a:rPr lang="tr-TR" sz="1100" i="1" dirty="0" smtClean="0"/>
              <a:t>Bu fasikülü hazırlamamda emeği geçen tam ismini paylaşmamı istemediği </a:t>
            </a:r>
            <a:r>
              <a:rPr lang="tr-TR" sz="1100" b="1" i="1" dirty="0" smtClean="0"/>
              <a:t>Seda Nur Arkadaşımın</a:t>
            </a:r>
            <a:r>
              <a:rPr lang="tr-TR" sz="1100" i="1" dirty="0" smtClean="0"/>
              <a:t> ve </a:t>
            </a:r>
            <a:r>
              <a:rPr lang="tr-TR" sz="1100" b="1" i="1" dirty="0" smtClean="0"/>
              <a:t>Zeki Kara öğretmenime </a:t>
            </a:r>
            <a:r>
              <a:rPr lang="tr-TR" sz="1100" i="1" dirty="0" smtClean="0"/>
              <a:t>çok teşekkür ediyorum. Aynı zamanda desteklerinden dolayı </a:t>
            </a:r>
            <a:r>
              <a:rPr lang="tr-TR" sz="1100" b="1" i="1" dirty="0" smtClean="0"/>
              <a:t>Onur Türe arkadaşıma </a:t>
            </a:r>
            <a:r>
              <a:rPr lang="tr-TR" sz="1100" i="1" dirty="0" smtClean="0"/>
              <a:t>ayrıca teşekkürlerimi iletiyorum.</a:t>
            </a:r>
          </a:p>
        </p:txBody>
      </p:sp>
      <p:sp>
        <p:nvSpPr>
          <p:cNvPr id="6" name="Metin kutusu 5"/>
          <p:cNvSpPr txBox="1"/>
          <p:nvPr/>
        </p:nvSpPr>
        <p:spPr>
          <a:xfrm>
            <a:off x="4797152" y="8159918"/>
            <a:ext cx="6336704" cy="369332"/>
          </a:xfrm>
          <a:prstGeom prst="rect">
            <a:avLst/>
          </a:prstGeom>
          <a:noFill/>
        </p:spPr>
        <p:txBody>
          <a:bodyPr wrap="square" rtlCol="0">
            <a:spAutoFit/>
          </a:bodyPr>
          <a:lstStyle/>
          <a:p>
            <a:r>
              <a:rPr lang="tr-TR" b="1" dirty="0" smtClean="0"/>
              <a:t>AHMET ÇELEN</a:t>
            </a:r>
            <a:endParaRPr lang="tr-TR" b="1" dirty="0"/>
          </a:p>
        </p:txBody>
      </p:sp>
      <p:sp>
        <p:nvSpPr>
          <p:cNvPr id="7" name="Metin kutusu 6"/>
          <p:cNvSpPr txBox="1"/>
          <p:nvPr/>
        </p:nvSpPr>
        <p:spPr>
          <a:xfrm>
            <a:off x="71592" y="8026880"/>
            <a:ext cx="2297008" cy="1107996"/>
          </a:xfrm>
          <a:prstGeom prst="rect">
            <a:avLst/>
          </a:prstGeom>
          <a:noFill/>
        </p:spPr>
        <p:txBody>
          <a:bodyPr wrap="square" rtlCol="0">
            <a:spAutoFit/>
          </a:bodyPr>
          <a:lstStyle/>
          <a:p>
            <a:r>
              <a:rPr lang="tr-TR" sz="1100" dirty="0" smtClean="0"/>
              <a:t>Her türlü bilgi, soru, öneri,</a:t>
            </a:r>
          </a:p>
          <a:p>
            <a:r>
              <a:rPr lang="tr-TR" sz="1100" dirty="0" smtClean="0"/>
              <a:t>İstek ve arzularınız için :</a:t>
            </a:r>
          </a:p>
          <a:p>
            <a:endParaRPr lang="tr-TR" sz="1100" dirty="0" smtClean="0"/>
          </a:p>
          <a:p>
            <a:pPr marL="171450" indent="-171450">
              <a:buFont typeface="Wingdings" panose="05000000000000000000" pitchFamily="2" charset="2"/>
              <a:buChar char="Ø"/>
            </a:pPr>
            <a:r>
              <a:rPr lang="tr-TR" sz="1100" dirty="0" smtClean="0"/>
              <a:t>bilgi@ahmetcelen.com.tr</a:t>
            </a:r>
          </a:p>
          <a:p>
            <a:pPr marL="171450" indent="-171450">
              <a:buFont typeface="Wingdings" panose="05000000000000000000" pitchFamily="2" charset="2"/>
              <a:buChar char="Ø"/>
            </a:pPr>
            <a:r>
              <a:rPr lang="tr-TR" sz="1100" dirty="0" smtClean="0"/>
              <a:t>ahmetbey124@gmail.com</a:t>
            </a:r>
            <a:endParaRPr lang="tr-TR" sz="1100" dirty="0"/>
          </a:p>
          <a:p>
            <a:pPr marL="171450" indent="-171450">
              <a:buFont typeface="Wingdings" panose="05000000000000000000" pitchFamily="2" charset="2"/>
              <a:buChar char="Ø"/>
            </a:pPr>
            <a:r>
              <a:rPr lang="tr-TR" sz="1100" dirty="0" err="1" smtClean="0"/>
              <a:t>WhatsApp</a:t>
            </a:r>
            <a:r>
              <a:rPr lang="tr-TR" sz="1100" dirty="0" smtClean="0"/>
              <a:t> : +90 312 911 0616</a:t>
            </a:r>
          </a:p>
        </p:txBody>
      </p:sp>
      <p:sp>
        <p:nvSpPr>
          <p:cNvPr id="9" name="Dikdörtgen 8"/>
          <p:cNvSpPr/>
          <p:nvPr/>
        </p:nvSpPr>
        <p:spPr>
          <a:xfrm>
            <a:off x="20980" y="1202054"/>
            <a:ext cx="6792396" cy="1061829"/>
          </a:xfrm>
          <a:prstGeom prst="rect">
            <a:avLst/>
          </a:prstGeom>
        </p:spPr>
        <p:txBody>
          <a:bodyPr wrap="square">
            <a:spAutoFit/>
          </a:bodyPr>
          <a:lstStyle/>
          <a:p>
            <a:r>
              <a:rPr lang="tr-TR" sz="1500" dirty="0" smtClean="0">
                <a:latin typeface="+mj-lt"/>
              </a:rPr>
              <a:t>Güncellik : </a:t>
            </a:r>
            <a:r>
              <a:rPr lang="tr-TR" sz="1200" dirty="0" smtClean="0">
                <a:latin typeface="+mj-lt"/>
              </a:rPr>
              <a:t>Güncellik kontrolünü </a:t>
            </a:r>
            <a:r>
              <a:rPr lang="tr-TR" sz="1200" dirty="0" smtClean="0">
                <a:latin typeface="+mj-lt"/>
                <a:hlinkClick r:id="rId2"/>
              </a:rPr>
              <a:t>www.ahmetcelen.com.tr</a:t>
            </a:r>
            <a:r>
              <a:rPr lang="tr-TR" sz="1200" dirty="0" smtClean="0">
                <a:latin typeface="+mj-lt"/>
              </a:rPr>
              <a:t> üzerinden yapabilirsiniz. Eğer web sitesinden indirdiğiniz dosya aynıysa herhangi bir güncelleme yapmamışızdır.  Herhangi bir değişiklik ve güncelleme yaptığımda sitemden ulaşabilirsiniz.  Bu dosya sizlerin hangi tarihte ulaşır bilemiyorum fakat parabol değişiklik yapılabilecek bir konu değil güncelleme yaparsam eğer ilave soru ve bilgi notları eklemiş olurum. Hata varsa onları düzeltirim.</a:t>
            </a:r>
            <a:endParaRPr lang="tr-TR" sz="1500" dirty="0">
              <a:latin typeface="+mj-lt"/>
            </a:endParaRPr>
          </a:p>
        </p:txBody>
      </p:sp>
    </p:spTree>
    <p:extLst>
      <p:ext uri="{BB962C8B-B14F-4D97-AF65-F5344CB8AC3E}">
        <p14:creationId xmlns:p14="http://schemas.microsoft.com/office/powerpoint/2010/main" val="1322118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188640" y="35496"/>
            <a:ext cx="6768752" cy="369332"/>
          </a:xfrm>
          <a:prstGeom prst="rect">
            <a:avLst/>
          </a:prstGeom>
          <a:noFill/>
        </p:spPr>
        <p:txBody>
          <a:bodyPr wrap="square" rtlCol="0">
            <a:spAutoFit/>
          </a:bodyPr>
          <a:lstStyle/>
          <a:p>
            <a:pPr algn="ctr"/>
            <a:r>
              <a:rPr lang="tr-TR" dirty="0" smtClean="0"/>
              <a:t>İçindekiler</a:t>
            </a:r>
            <a:endParaRPr lang="tr-TR" dirty="0"/>
          </a:p>
        </p:txBody>
      </p:sp>
      <p:sp>
        <p:nvSpPr>
          <p:cNvPr id="4" name="Metin kutusu 3"/>
          <p:cNvSpPr txBox="1"/>
          <p:nvPr/>
        </p:nvSpPr>
        <p:spPr>
          <a:xfrm>
            <a:off x="-9520" y="6018391"/>
            <a:ext cx="6768752" cy="31393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marL="285750" indent="-285750">
              <a:buFont typeface="Wingdings" panose="05000000000000000000" pitchFamily="2" charset="2"/>
              <a:buChar char="Ø"/>
            </a:pPr>
            <a:r>
              <a:rPr lang="tr-TR" dirty="0" smtClean="0">
                <a:solidFill>
                  <a:srgbClr val="FFFF00"/>
                </a:solidFill>
                <a:latin typeface="Comic Sans MS" panose="030F0702030302020204" pitchFamily="66" charset="0"/>
                <a:cs typeface="Times New Roman" panose="02020603050405020304" pitchFamily="18" charset="0"/>
              </a:rPr>
              <a:t>Soruların ve Cevap Anahtarının teyit edilmesi :</a:t>
            </a:r>
          </a:p>
          <a:p>
            <a:r>
              <a:rPr lang="tr-TR" dirty="0" smtClean="0">
                <a:solidFill>
                  <a:srgbClr val="FFFF00"/>
                </a:solidFill>
                <a:latin typeface="Comic Sans MS" panose="030F0702030302020204" pitchFamily="66" charset="0"/>
                <a:cs typeface="Times New Roman" panose="02020603050405020304" pitchFamily="18" charset="0"/>
              </a:rPr>
              <a:t/>
            </a:r>
            <a:br>
              <a:rPr lang="tr-TR" dirty="0" smtClean="0">
                <a:solidFill>
                  <a:srgbClr val="FFFF00"/>
                </a:solidFill>
                <a:latin typeface="Comic Sans MS" panose="030F0702030302020204" pitchFamily="66" charset="0"/>
                <a:cs typeface="Times New Roman" panose="02020603050405020304" pitchFamily="18" charset="0"/>
              </a:rPr>
            </a:br>
            <a:r>
              <a:rPr lang="tr-TR" dirty="0" smtClean="0">
                <a:solidFill>
                  <a:srgbClr val="FFFF00"/>
                </a:solidFill>
                <a:latin typeface="Comic Sans MS" panose="030F0702030302020204" pitchFamily="66" charset="0"/>
                <a:cs typeface="Times New Roman" panose="02020603050405020304" pitchFamily="18" charset="0"/>
              </a:rPr>
              <a:t>Sorular </a:t>
            </a:r>
            <a:r>
              <a:rPr lang="tr-TR" dirty="0" smtClean="0">
                <a:solidFill>
                  <a:schemeClr val="bg1"/>
                </a:solidFill>
                <a:latin typeface="Comic Sans MS" panose="030F0702030302020204" pitchFamily="66" charset="0"/>
                <a:cs typeface="Times New Roman" panose="02020603050405020304" pitchFamily="18" charset="0"/>
              </a:rPr>
              <a:t>Kunduz Programında Profesyonel ve Üniversite öğrencisi olan nitelikli eğitmenlere iletilmiş ve cevap anahtarında tarafımızca Kunduz ile herhangi bir çelişki olmamıştır. </a:t>
            </a:r>
            <a:r>
              <a:rPr lang="tr-TR" dirty="0" smtClean="0">
                <a:solidFill>
                  <a:srgbClr val="FFFF00"/>
                </a:solidFill>
                <a:latin typeface="Comic Sans MS" panose="030F0702030302020204" pitchFamily="66" charset="0"/>
                <a:cs typeface="Times New Roman" panose="02020603050405020304" pitchFamily="18" charset="0"/>
              </a:rPr>
              <a:t>Lakin çözenlerin ve bizimde insan olduğumuzu unutmayınız, hata payı olabilir. Böyle bir durum tespit ederseniz lütfen bizle paylaşınız. İletişim :</a:t>
            </a:r>
          </a:p>
          <a:p>
            <a:endParaRPr lang="tr-TR" dirty="0">
              <a:solidFill>
                <a:srgbClr val="FFFF00"/>
              </a:solidFill>
              <a:latin typeface="Comic Sans MS" panose="030F0702030302020204" pitchFamily="66" charset="0"/>
              <a:cs typeface="Times New Roman" panose="02020603050405020304" pitchFamily="18" charset="0"/>
            </a:endParaRPr>
          </a:p>
          <a:p>
            <a:r>
              <a:rPr lang="tr-TR" dirty="0" smtClean="0">
                <a:solidFill>
                  <a:srgbClr val="FFFF00"/>
                </a:solidFill>
                <a:latin typeface="Comic Sans MS" panose="030F0702030302020204" pitchFamily="66" charset="0"/>
                <a:cs typeface="Times New Roman" panose="02020603050405020304" pitchFamily="18" charset="0"/>
              </a:rPr>
              <a:t>Mail 1 : bilgi@ahmetcelen.com.tr</a:t>
            </a:r>
          </a:p>
          <a:p>
            <a:r>
              <a:rPr lang="tr-TR" dirty="0" smtClean="0">
                <a:solidFill>
                  <a:srgbClr val="FFFF00"/>
                </a:solidFill>
                <a:latin typeface="Comic Sans MS" panose="030F0702030302020204" pitchFamily="66" charset="0"/>
                <a:cs typeface="Times New Roman" panose="02020603050405020304" pitchFamily="18" charset="0"/>
              </a:rPr>
              <a:t>Mail 2 : ahmetbey124@gmail.com</a:t>
            </a:r>
          </a:p>
        </p:txBody>
      </p:sp>
      <p:sp>
        <p:nvSpPr>
          <p:cNvPr id="7" name="Oval 6"/>
          <p:cNvSpPr/>
          <p:nvPr/>
        </p:nvSpPr>
        <p:spPr>
          <a:xfrm>
            <a:off x="2024846" y="971600"/>
            <a:ext cx="1656184" cy="1224136"/>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tr-TR"/>
          </a:p>
        </p:txBody>
      </p:sp>
      <p:sp>
        <p:nvSpPr>
          <p:cNvPr id="5" name="Akış Çizelgesi: Depolanmış Veri 4"/>
          <p:cNvSpPr/>
          <p:nvPr/>
        </p:nvSpPr>
        <p:spPr>
          <a:xfrm>
            <a:off x="122177" y="971600"/>
            <a:ext cx="2694756" cy="1224136"/>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 name="Dikdörtgen 8"/>
          <p:cNvSpPr/>
          <p:nvPr/>
        </p:nvSpPr>
        <p:spPr>
          <a:xfrm>
            <a:off x="2312877" y="1317968"/>
            <a:ext cx="1345241" cy="553998"/>
          </a:xfrm>
          <a:prstGeom prst="rect">
            <a:avLst/>
          </a:prstGeom>
          <a:noFill/>
        </p:spPr>
        <p:txBody>
          <a:bodyPr wrap="none" lIns="91440" tIns="45720" rIns="91440" bIns="45720">
            <a:spAutoFit/>
          </a:bodyPr>
          <a:lstStyle/>
          <a:p>
            <a:pPr algn="ctr"/>
            <a:r>
              <a:rPr lang="tr-TR" sz="30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11- 14</a:t>
            </a:r>
            <a:endParaRPr lang="tr-TR" sz="30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Tree>
    <p:extLst>
      <p:ext uri="{BB962C8B-B14F-4D97-AF65-F5344CB8AC3E}">
        <p14:creationId xmlns:p14="http://schemas.microsoft.com/office/powerpoint/2010/main" val="392890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36712" y="323528"/>
            <a:ext cx="6048672" cy="90794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r>
              <a:rPr lang="tr-TR" dirty="0" smtClean="0">
                <a:latin typeface="Akrobat Bold" pitchFamily="50" charset="0"/>
              </a:rPr>
              <a:t>Parabol :  İkinci dereceden  fonksiyonlardır. Cebirsel olarak  </a:t>
            </a:r>
          </a:p>
          <a:p>
            <a:r>
              <a:rPr lang="tr-TR" dirty="0" smtClean="0">
                <a:latin typeface="Akrobat Bold" pitchFamily="50" charset="0"/>
              </a:rPr>
              <a:t>y = a x  + b x  + c olarak gösterilebilir. Grafikleri </a:t>
            </a:r>
            <a:r>
              <a:rPr lang="tr-TR" sz="1700" dirty="0" smtClean="0">
                <a:latin typeface="Akrobat Bold" pitchFamily="50" charset="0"/>
              </a:rPr>
              <a:t>bir eğri belirtir.  Parabol grafikleri  aşağıdaki gibi olabilir.</a:t>
            </a:r>
            <a:endParaRPr lang="tr-TR" sz="1700" dirty="0">
              <a:latin typeface="Akrobat Bold" pitchFamily="50" charset="0"/>
            </a:endParaRPr>
          </a:p>
        </p:txBody>
      </p:sp>
      <p:sp>
        <p:nvSpPr>
          <p:cNvPr id="3" name="Metin kutusu 2"/>
          <p:cNvSpPr txBox="1"/>
          <p:nvPr/>
        </p:nvSpPr>
        <p:spPr>
          <a:xfrm>
            <a:off x="808534" y="5448870"/>
            <a:ext cx="6048672" cy="923330"/>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dirty="0" err="1" smtClean="0">
                <a:solidFill>
                  <a:srgbClr val="0070C0"/>
                </a:solidFill>
                <a:latin typeface="Akrobat Bold" pitchFamily="50" charset="0"/>
              </a:rPr>
              <a:t>Başkatsayı</a:t>
            </a:r>
            <a:r>
              <a:rPr lang="tr-TR" dirty="0" smtClean="0">
                <a:solidFill>
                  <a:srgbClr val="0070C0"/>
                </a:solidFill>
                <a:latin typeface="Akrobat Bold" pitchFamily="50" charset="0"/>
              </a:rPr>
              <a:t> : Bir denklemdeki en büyük dereceye (üs) sahip olan terimin önündeki çarpandır. Yukarıda belirtilen cebirsel ifadenin </a:t>
            </a:r>
            <a:r>
              <a:rPr lang="tr-TR" dirty="0" err="1" smtClean="0">
                <a:solidFill>
                  <a:srgbClr val="0070C0"/>
                </a:solidFill>
                <a:latin typeface="Akrobat Bold" pitchFamily="50" charset="0"/>
              </a:rPr>
              <a:t>başkatsayısı</a:t>
            </a:r>
            <a:r>
              <a:rPr lang="tr-TR" dirty="0" smtClean="0">
                <a:solidFill>
                  <a:srgbClr val="0070C0"/>
                </a:solidFill>
                <a:latin typeface="Akrobat Bold" pitchFamily="50" charset="0"/>
              </a:rPr>
              <a:t> a çarpanıdır. </a:t>
            </a:r>
            <a:endParaRPr lang="tr-TR" dirty="0">
              <a:solidFill>
                <a:srgbClr val="0070C0"/>
              </a:solidFill>
              <a:latin typeface="Akrobat Bold" pitchFamily="50" charset="0"/>
            </a:endParaRPr>
          </a:p>
        </p:txBody>
      </p:sp>
      <p:pic>
        <p:nvPicPr>
          <p:cNvPr id="7" name="Resim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7212" y="1331640"/>
            <a:ext cx="2283796" cy="1885145"/>
          </a:xfrm>
          <a:prstGeom prst="rect">
            <a:avLst/>
          </a:prstGeom>
        </p:spPr>
      </p:pic>
      <p:pic>
        <p:nvPicPr>
          <p:cNvPr id="8" name="Resim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1548" y="1355800"/>
            <a:ext cx="2283796" cy="1885145"/>
          </a:xfrm>
          <a:prstGeom prst="rect">
            <a:avLst/>
          </a:prstGeom>
        </p:spPr>
      </p:pic>
      <p:sp>
        <p:nvSpPr>
          <p:cNvPr id="11" name="Serbest Form 10"/>
          <p:cNvSpPr/>
          <p:nvPr/>
        </p:nvSpPr>
        <p:spPr>
          <a:xfrm>
            <a:off x="1641991" y="1672968"/>
            <a:ext cx="1066800" cy="1097312"/>
          </a:xfrm>
          <a:custGeom>
            <a:avLst/>
            <a:gdLst>
              <a:gd name="connsiteX0" fmla="*/ 0 w 1066800"/>
              <a:gd name="connsiteY0" fmla="*/ 0 h 1097312"/>
              <a:gd name="connsiteX1" fmla="*/ 441960 w 1066800"/>
              <a:gd name="connsiteY1" fmla="*/ 1097280 h 1097312"/>
              <a:gd name="connsiteX2" fmla="*/ 1066800 w 1066800"/>
              <a:gd name="connsiteY2" fmla="*/ 38100 h 1097312"/>
            </a:gdLst>
            <a:ahLst/>
            <a:cxnLst>
              <a:cxn ang="0">
                <a:pos x="connsiteX0" y="connsiteY0"/>
              </a:cxn>
              <a:cxn ang="0">
                <a:pos x="connsiteX1" y="connsiteY1"/>
              </a:cxn>
              <a:cxn ang="0">
                <a:pos x="connsiteX2" y="connsiteY2"/>
              </a:cxn>
            </a:cxnLst>
            <a:rect l="l" t="t" r="r" b="b"/>
            <a:pathLst>
              <a:path w="1066800" h="1097312">
                <a:moveTo>
                  <a:pt x="0" y="0"/>
                </a:moveTo>
                <a:cubicBezTo>
                  <a:pt x="132080" y="545465"/>
                  <a:pt x="264160" y="1090930"/>
                  <a:pt x="441960" y="1097280"/>
                </a:cubicBezTo>
                <a:cubicBezTo>
                  <a:pt x="619760" y="1103630"/>
                  <a:pt x="953770" y="184150"/>
                  <a:pt x="1066800" y="3810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tr-TR">
              <a:solidFill>
                <a:srgbClr val="FF0000"/>
              </a:solidFill>
            </a:endParaRPr>
          </a:p>
        </p:txBody>
      </p:sp>
      <p:sp>
        <p:nvSpPr>
          <p:cNvPr id="13" name="Serbest Form 12"/>
          <p:cNvSpPr/>
          <p:nvPr/>
        </p:nvSpPr>
        <p:spPr>
          <a:xfrm>
            <a:off x="4461391" y="1764338"/>
            <a:ext cx="731520" cy="1226892"/>
          </a:xfrm>
          <a:custGeom>
            <a:avLst/>
            <a:gdLst>
              <a:gd name="connsiteX0" fmla="*/ 0 w 731520"/>
              <a:gd name="connsiteY0" fmla="*/ 1181172 h 1226892"/>
              <a:gd name="connsiteX1" fmla="*/ 274320 w 731520"/>
              <a:gd name="connsiteY1" fmla="*/ 72 h 1226892"/>
              <a:gd name="connsiteX2" fmla="*/ 731520 w 731520"/>
              <a:gd name="connsiteY2" fmla="*/ 1226892 h 1226892"/>
            </a:gdLst>
            <a:ahLst/>
            <a:cxnLst>
              <a:cxn ang="0">
                <a:pos x="connsiteX0" y="connsiteY0"/>
              </a:cxn>
              <a:cxn ang="0">
                <a:pos x="connsiteX1" y="connsiteY1"/>
              </a:cxn>
              <a:cxn ang="0">
                <a:pos x="connsiteX2" y="connsiteY2"/>
              </a:cxn>
            </a:cxnLst>
            <a:rect l="l" t="t" r="r" b="b"/>
            <a:pathLst>
              <a:path w="731520" h="1226892">
                <a:moveTo>
                  <a:pt x="0" y="1181172"/>
                </a:moveTo>
                <a:cubicBezTo>
                  <a:pt x="76200" y="586812"/>
                  <a:pt x="152400" y="-7548"/>
                  <a:pt x="274320" y="72"/>
                </a:cubicBezTo>
                <a:cubicBezTo>
                  <a:pt x="396240" y="7692"/>
                  <a:pt x="581660" y="1056712"/>
                  <a:pt x="731520" y="1226892"/>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14" name="Metin kutusu 13"/>
          <p:cNvSpPr txBox="1"/>
          <p:nvPr/>
        </p:nvSpPr>
        <p:spPr>
          <a:xfrm>
            <a:off x="809328" y="3347864"/>
            <a:ext cx="6048672" cy="203132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tr-TR" dirty="0" err="1" smtClean="0">
                <a:latin typeface="Akrobat Bold" pitchFamily="50" charset="0"/>
              </a:rPr>
              <a:t>Başkatsayı</a:t>
            </a:r>
            <a:r>
              <a:rPr lang="tr-TR" dirty="0" smtClean="0">
                <a:latin typeface="Akrobat Bold" pitchFamily="50" charset="0"/>
              </a:rPr>
              <a:t> parabolün kollarının durumunu belirler. </a:t>
            </a:r>
            <a:endParaRPr lang="tr-TR" dirty="0">
              <a:latin typeface="Akrobat Bold" pitchFamily="50" charset="0"/>
            </a:endParaRPr>
          </a:p>
          <a:p>
            <a:endParaRPr lang="tr-TR" dirty="0" smtClean="0">
              <a:latin typeface="Akrobat Bold" pitchFamily="50" charset="0"/>
            </a:endParaRPr>
          </a:p>
          <a:p>
            <a:r>
              <a:rPr lang="tr-TR" dirty="0" smtClean="0">
                <a:latin typeface="Akrobat Bold" pitchFamily="50" charset="0"/>
              </a:rPr>
              <a:t>f(x) fonksiyonunda kollar yukarı doğrudur.  a &gt; 0 olmalıdır.</a:t>
            </a:r>
          </a:p>
          <a:p>
            <a:r>
              <a:rPr lang="tr-TR" dirty="0">
                <a:latin typeface="Akrobat Bold" pitchFamily="50" charset="0"/>
              </a:rPr>
              <a:t>h</a:t>
            </a:r>
            <a:r>
              <a:rPr lang="tr-TR" dirty="0" smtClean="0">
                <a:latin typeface="Akrobat Bold" pitchFamily="50" charset="0"/>
              </a:rPr>
              <a:t>(x) fonksiyonunda kollar aşağı doğrudur. a  &lt; 0 olmalıdır.</a:t>
            </a:r>
          </a:p>
          <a:p>
            <a:endParaRPr lang="tr-TR" dirty="0">
              <a:latin typeface="Akrobat Bold" pitchFamily="50" charset="0"/>
            </a:endParaRPr>
          </a:p>
          <a:p>
            <a:r>
              <a:rPr lang="tr-TR" dirty="0" smtClean="0">
                <a:latin typeface="Akrobat Bold" pitchFamily="50" charset="0"/>
              </a:rPr>
              <a:t>Paraboller ikinci dereceden fonksiyonlardır. O yüzden a çarpanı 0 olamaz, 0 olduğunda ikinci dereceden bir fonksiyon olmaz.</a:t>
            </a:r>
            <a:endParaRPr lang="tr-TR" dirty="0">
              <a:latin typeface="Akrobat Bold" pitchFamily="50" charset="0"/>
            </a:endParaRPr>
          </a:p>
        </p:txBody>
      </p:sp>
      <p:sp>
        <p:nvSpPr>
          <p:cNvPr id="15" name="Metin kutusu 14"/>
          <p:cNvSpPr txBox="1"/>
          <p:nvPr/>
        </p:nvSpPr>
        <p:spPr>
          <a:xfrm>
            <a:off x="2636912" y="1682464"/>
            <a:ext cx="6048672" cy="307777"/>
          </a:xfrm>
          <a:prstGeom prst="rect">
            <a:avLst/>
          </a:prstGeom>
          <a:noFill/>
        </p:spPr>
        <p:txBody>
          <a:bodyPr wrap="square" rtlCol="0">
            <a:spAutoFit/>
          </a:bodyPr>
          <a:lstStyle/>
          <a:p>
            <a:r>
              <a:rPr lang="tr-TR" sz="1400" dirty="0" smtClean="0">
                <a:solidFill>
                  <a:srgbClr val="6600FF"/>
                </a:solidFill>
                <a:latin typeface="Akrobat Bold" pitchFamily="50" charset="0"/>
              </a:rPr>
              <a:t>f(x)</a:t>
            </a:r>
            <a:endParaRPr lang="tr-TR" sz="1400" dirty="0">
              <a:solidFill>
                <a:srgbClr val="6600FF"/>
              </a:solidFill>
              <a:latin typeface="Akrobat Bold" pitchFamily="50" charset="0"/>
            </a:endParaRPr>
          </a:p>
        </p:txBody>
      </p:sp>
      <p:sp>
        <p:nvSpPr>
          <p:cNvPr id="16" name="Metin kutusu 15"/>
          <p:cNvSpPr txBox="1"/>
          <p:nvPr/>
        </p:nvSpPr>
        <p:spPr>
          <a:xfrm>
            <a:off x="4232008" y="1762849"/>
            <a:ext cx="585604" cy="307777"/>
          </a:xfrm>
          <a:prstGeom prst="rect">
            <a:avLst/>
          </a:prstGeom>
          <a:noFill/>
        </p:spPr>
        <p:txBody>
          <a:bodyPr wrap="square" rtlCol="0">
            <a:spAutoFit/>
          </a:bodyPr>
          <a:lstStyle/>
          <a:p>
            <a:r>
              <a:rPr lang="tr-TR" sz="1400" dirty="0" smtClean="0">
                <a:solidFill>
                  <a:srgbClr val="6600FF"/>
                </a:solidFill>
                <a:latin typeface="Akrobat Bold" pitchFamily="50" charset="0"/>
              </a:rPr>
              <a:t>h(x)</a:t>
            </a:r>
            <a:endParaRPr lang="tr-TR" sz="1400" dirty="0">
              <a:solidFill>
                <a:srgbClr val="6600FF"/>
              </a:solidFill>
              <a:latin typeface="Akrobat Bold" pitchFamily="50" charset="0"/>
            </a:endParaRPr>
          </a:p>
        </p:txBody>
      </p:sp>
      <p:sp>
        <p:nvSpPr>
          <p:cNvPr id="17" name="Metin kutusu 16"/>
          <p:cNvSpPr txBox="1"/>
          <p:nvPr/>
        </p:nvSpPr>
        <p:spPr>
          <a:xfrm>
            <a:off x="0" y="-36512"/>
            <a:ext cx="6858000" cy="292388"/>
          </a:xfrm>
          <a:prstGeom prst="rect">
            <a:avLst/>
          </a:prstGeom>
          <a:noFill/>
        </p:spPr>
        <p:txBody>
          <a:bodyPr wrap="square" rtlCol="0">
            <a:spAutoFit/>
          </a:bodyPr>
          <a:lstStyle/>
          <a:p>
            <a:pPr algn="ctr"/>
            <a:r>
              <a:rPr lang="tr-TR" sz="1300" dirty="0" smtClean="0">
                <a:latin typeface="Akrobat Bold" pitchFamily="50" charset="0"/>
                <a:hlinkClick r:id="rId3"/>
              </a:rPr>
              <a:t>www.ahmetcelen.com.tr</a:t>
            </a:r>
            <a:r>
              <a:rPr lang="tr-TR" sz="1300" dirty="0" smtClean="0">
                <a:latin typeface="Akrobat Bold" pitchFamily="50" charset="0"/>
              </a:rPr>
              <a:t> – Parabol Konu Anlatımı</a:t>
            </a:r>
            <a:endParaRPr lang="tr-TR" sz="1300" dirty="0">
              <a:latin typeface="Akrobat Bold" pitchFamily="50" charset="0"/>
            </a:endParaRPr>
          </a:p>
        </p:txBody>
      </p:sp>
      <p:cxnSp>
        <p:nvCxnSpPr>
          <p:cNvPr id="19" name="Düz Ok Bağlayıcısı 18"/>
          <p:cNvCxnSpPr/>
          <p:nvPr/>
        </p:nvCxnSpPr>
        <p:spPr>
          <a:xfrm>
            <a:off x="890707" y="1355799"/>
            <a:ext cx="614536" cy="3171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Metin kutusu 19"/>
          <p:cNvSpPr txBox="1"/>
          <p:nvPr/>
        </p:nvSpPr>
        <p:spPr>
          <a:xfrm>
            <a:off x="929179" y="1651605"/>
            <a:ext cx="864096" cy="400110"/>
          </a:xfrm>
          <a:prstGeom prst="rect">
            <a:avLst/>
          </a:prstGeom>
          <a:noFill/>
        </p:spPr>
        <p:txBody>
          <a:bodyPr wrap="square" rtlCol="0">
            <a:spAutoFit/>
          </a:bodyPr>
          <a:lstStyle/>
          <a:p>
            <a:pPr algn="ctr"/>
            <a:r>
              <a:rPr lang="tr-TR" sz="1000" dirty="0" smtClean="0">
                <a:solidFill>
                  <a:srgbClr val="6600FF"/>
                </a:solidFill>
                <a:latin typeface="Akrobat Bold" pitchFamily="50" charset="0"/>
              </a:rPr>
              <a:t>Parabolün</a:t>
            </a:r>
          </a:p>
          <a:p>
            <a:pPr algn="ctr"/>
            <a:r>
              <a:rPr lang="tr-TR" sz="1000" dirty="0" smtClean="0">
                <a:solidFill>
                  <a:srgbClr val="6600FF"/>
                </a:solidFill>
                <a:latin typeface="Akrobat Bold" pitchFamily="50" charset="0"/>
              </a:rPr>
              <a:t>Kolu</a:t>
            </a:r>
            <a:endParaRPr lang="tr-TR" sz="1000" dirty="0">
              <a:solidFill>
                <a:srgbClr val="6600FF"/>
              </a:solidFill>
              <a:latin typeface="Akrobat Bold" pitchFamily="50" charset="0"/>
            </a:endParaRPr>
          </a:p>
        </p:txBody>
      </p:sp>
      <p:sp>
        <p:nvSpPr>
          <p:cNvPr id="21" name="Metin kutusu 20"/>
          <p:cNvSpPr txBox="1"/>
          <p:nvPr/>
        </p:nvSpPr>
        <p:spPr>
          <a:xfrm>
            <a:off x="808534" y="6589965"/>
            <a:ext cx="6048672" cy="646331"/>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tr-TR" dirty="0" smtClean="0">
                <a:latin typeface="Akrobat Bold" pitchFamily="50" charset="0"/>
              </a:rPr>
              <a:t>Parabol ikinci dereceden fonksiyonlar olduğundan ikinci dereceden denklemlerdeki bağıntıları tekrar etmemizde fayda var.</a:t>
            </a:r>
            <a:endParaRPr lang="tr-TR" dirty="0">
              <a:latin typeface="Akrobat Bold" pitchFamily="50" charset="0"/>
            </a:endParaRPr>
          </a:p>
        </p:txBody>
      </p:sp>
      <p:sp>
        <p:nvSpPr>
          <p:cNvPr id="22" name="Metin kutusu 21"/>
          <p:cNvSpPr txBox="1"/>
          <p:nvPr/>
        </p:nvSpPr>
        <p:spPr>
          <a:xfrm>
            <a:off x="836712" y="7378571"/>
            <a:ext cx="5904656" cy="1477328"/>
          </a:xfrm>
          <a:prstGeom prst="rect">
            <a:avLst/>
          </a:prstGeom>
          <a:solidFill>
            <a:schemeClr val="tx1">
              <a:lumMod val="95000"/>
            </a:schemeClr>
          </a:solidFill>
        </p:spPr>
        <p:style>
          <a:lnRef idx="0">
            <a:scrgbClr r="0" g="0" b="0"/>
          </a:lnRef>
          <a:fillRef idx="1002">
            <a:schemeClr val="lt2"/>
          </a:fillRef>
          <a:effectRef idx="0">
            <a:scrgbClr r="0" g="0" b="0"/>
          </a:effectRef>
          <a:fontRef idx="major"/>
        </p:style>
        <p:txBody>
          <a:bodyPr wrap="square" rtlCol="0">
            <a:spAutoFit/>
          </a:bodyPr>
          <a:lstStyle/>
          <a:p>
            <a:r>
              <a:rPr lang="tr-TR" dirty="0" smtClean="0">
                <a:solidFill>
                  <a:srgbClr val="00B050"/>
                </a:solidFill>
                <a:latin typeface="Akrobat Bold" pitchFamily="50" charset="0"/>
              </a:rPr>
              <a:t>Kökler toplamı : -b/a</a:t>
            </a:r>
          </a:p>
          <a:p>
            <a:endParaRPr lang="tr-TR" dirty="0">
              <a:solidFill>
                <a:srgbClr val="00B050"/>
              </a:solidFill>
              <a:latin typeface="Akrobat Bold" pitchFamily="50" charset="0"/>
            </a:endParaRPr>
          </a:p>
          <a:p>
            <a:r>
              <a:rPr lang="tr-TR" dirty="0" smtClean="0">
                <a:solidFill>
                  <a:srgbClr val="00B050"/>
                </a:solidFill>
                <a:latin typeface="Akrobat Bold" pitchFamily="50" charset="0"/>
              </a:rPr>
              <a:t>Kökler çarpımı : c/a</a:t>
            </a:r>
          </a:p>
          <a:p>
            <a:endParaRPr lang="tr-TR" dirty="0">
              <a:solidFill>
                <a:srgbClr val="00B050"/>
              </a:solidFill>
              <a:latin typeface="Akrobat Bold" pitchFamily="50" charset="0"/>
            </a:endParaRPr>
          </a:p>
          <a:p>
            <a:r>
              <a:rPr lang="tr-TR" dirty="0" smtClean="0">
                <a:solidFill>
                  <a:srgbClr val="00B050"/>
                </a:solidFill>
                <a:latin typeface="Akrobat Bold" pitchFamily="50" charset="0"/>
              </a:rPr>
              <a:t>Parabolde sabit terim y eksenini kestiği noktanın ordinatını verir.</a:t>
            </a:r>
            <a:endParaRPr lang="tr-TR" dirty="0">
              <a:solidFill>
                <a:srgbClr val="00B050"/>
              </a:solidFill>
              <a:latin typeface="Akrobat Bold" pitchFamily="50" charset="0"/>
            </a:endParaRPr>
          </a:p>
        </p:txBody>
      </p:sp>
      <p:pic>
        <p:nvPicPr>
          <p:cNvPr id="23" name="Resim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912854" y="7513685"/>
            <a:ext cx="1540482" cy="857233"/>
          </a:xfrm>
          <a:prstGeom prst="rect">
            <a:avLst/>
          </a:prstGeom>
          <a:ln>
            <a:noFill/>
          </a:ln>
          <a:effectLst>
            <a:softEdge rad="112500"/>
          </a:effectLst>
        </p:spPr>
      </p:pic>
      <p:sp>
        <p:nvSpPr>
          <p:cNvPr id="24" name="Metin kutusu 23"/>
          <p:cNvSpPr txBox="1"/>
          <p:nvPr/>
        </p:nvSpPr>
        <p:spPr>
          <a:xfrm>
            <a:off x="2841888" y="7391907"/>
            <a:ext cx="6048672" cy="369332"/>
          </a:xfrm>
          <a:prstGeom prst="rect">
            <a:avLst/>
          </a:prstGeom>
          <a:noFill/>
        </p:spPr>
        <p:txBody>
          <a:bodyPr wrap="square" rtlCol="0">
            <a:spAutoFit/>
          </a:bodyPr>
          <a:lstStyle/>
          <a:p>
            <a:r>
              <a:rPr lang="el-GR" dirty="0" smtClean="0">
                <a:solidFill>
                  <a:schemeClr val="bg2"/>
                </a:solidFill>
              </a:rPr>
              <a:t>Δ</a:t>
            </a:r>
            <a:r>
              <a:rPr lang="tr-TR" dirty="0" smtClean="0">
                <a:solidFill>
                  <a:schemeClr val="bg2"/>
                </a:solidFill>
                <a:latin typeface="Akrobat Bold" pitchFamily="50" charset="0"/>
              </a:rPr>
              <a:t> = b – 4.a.c</a:t>
            </a:r>
            <a:endParaRPr lang="tr-TR" dirty="0">
              <a:solidFill>
                <a:schemeClr val="bg2"/>
              </a:solidFill>
              <a:latin typeface="Akrobat Bold" pitchFamily="50" charset="0"/>
            </a:endParaRPr>
          </a:p>
        </p:txBody>
      </p:sp>
      <p:sp>
        <p:nvSpPr>
          <p:cNvPr id="25" name="Metin kutusu 24"/>
          <p:cNvSpPr txBox="1"/>
          <p:nvPr/>
        </p:nvSpPr>
        <p:spPr>
          <a:xfrm>
            <a:off x="3284984" y="7387531"/>
            <a:ext cx="6048672" cy="230832"/>
          </a:xfrm>
          <a:prstGeom prst="rect">
            <a:avLst/>
          </a:prstGeom>
          <a:noFill/>
        </p:spPr>
        <p:txBody>
          <a:bodyPr wrap="square" rtlCol="0">
            <a:spAutoFit/>
          </a:bodyPr>
          <a:lstStyle/>
          <a:p>
            <a:r>
              <a:rPr lang="tr-TR" sz="900" dirty="0" smtClean="0">
                <a:solidFill>
                  <a:schemeClr val="bg2"/>
                </a:solidFill>
                <a:latin typeface="Akrobat Bold" pitchFamily="50" charset="0"/>
              </a:rPr>
              <a:t>2</a:t>
            </a:r>
            <a:endParaRPr lang="tr-TR" sz="900" dirty="0">
              <a:solidFill>
                <a:schemeClr val="bg2"/>
              </a:solidFill>
              <a:latin typeface="Akrobat Bold" pitchFamily="50" charset="0"/>
            </a:endParaRPr>
          </a:p>
        </p:txBody>
      </p:sp>
      <mc:AlternateContent xmlns:mc="http://schemas.openxmlformats.org/markup-compatibility/2006" xmlns:a14="http://schemas.microsoft.com/office/drawing/2010/main">
        <mc:Choice Requires="a14">
          <p:sp>
            <p:nvSpPr>
              <p:cNvPr id="26" name="Metin kutusu 25"/>
              <p:cNvSpPr txBox="1"/>
              <p:nvPr/>
            </p:nvSpPr>
            <p:spPr>
              <a:xfrm>
                <a:off x="2708920" y="7911135"/>
                <a:ext cx="6048672" cy="548548"/>
              </a:xfrm>
              <a:prstGeom prst="rect">
                <a:avLst/>
              </a:prstGeom>
              <a:noFill/>
            </p:spPr>
            <p:txBody>
              <a:bodyPr wrap="square" rtlCol="0">
                <a:spAutoFit/>
              </a:bodyPr>
              <a:lstStyle/>
              <a:p>
                <a:r>
                  <a:rPr lang="tr-TR" dirty="0">
                    <a:solidFill>
                      <a:schemeClr val="bg2"/>
                    </a:solidFill>
                    <a:latin typeface="Akrobat Bold" pitchFamily="50" charset="0"/>
                  </a:rPr>
                  <a:t>K</a:t>
                </a:r>
                <a:r>
                  <a:rPr lang="tr-TR" dirty="0" smtClean="0">
                    <a:solidFill>
                      <a:schemeClr val="bg2"/>
                    </a:solidFill>
                    <a:latin typeface="Akrobat Bold" pitchFamily="50" charset="0"/>
                  </a:rPr>
                  <a:t>ökler </a:t>
                </a:r>
                <a14:m>
                  <m:oMath xmlns:m="http://schemas.openxmlformats.org/officeDocument/2006/math">
                    <m:r>
                      <a:rPr lang="tr-TR" i="1" smtClean="0">
                        <a:solidFill>
                          <a:schemeClr val="bg2"/>
                        </a:solidFill>
                        <a:latin typeface="Cambria Math"/>
                      </a:rPr>
                      <m:t>=</m:t>
                    </m:r>
                    <m:f>
                      <m:fPr>
                        <m:ctrlPr>
                          <a:rPr lang="tr-TR" i="1" smtClean="0">
                            <a:solidFill>
                              <a:schemeClr val="bg2"/>
                            </a:solidFill>
                            <a:latin typeface="Cambria Math"/>
                          </a:rPr>
                        </m:ctrlPr>
                      </m:fPr>
                      <m:num>
                        <m:r>
                          <a:rPr lang="tr-TR" i="1" smtClean="0">
                            <a:solidFill>
                              <a:schemeClr val="bg2"/>
                            </a:solidFill>
                            <a:latin typeface="Cambria Math"/>
                          </a:rPr>
                          <m:t>−</m:t>
                        </m:r>
                        <m:r>
                          <a:rPr lang="tr-TR" i="1" smtClean="0">
                            <a:solidFill>
                              <a:schemeClr val="bg2"/>
                            </a:solidFill>
                            <a:latin typeface="Cambria Math"/>
                          </a:rPr>
                          <m:t>𝑏</m:t>
                        </m:r>
                        <m:r>
                          <a:rPr lang="tr-TR" i="1" smtClean="0">
                            <a:solidFill>
                              <a:schemeClr val="bg2"/>
                            </a:solidFill>
                            <a:latin typeface="Cambria Math"/>
                          </a:rPr>
                          <m:t>±</m:t>
                        </m:r>
                        <m:rad>
                          <m:radPr>
                            <m:degHide m:val="on"/>
                            <m:ctrlPr>
                              <a:rPr lang="tr-TR" i="1" smtClean="0">
                                <a:solidFill>
                                  <a:schemeClr val="bg2"/>
                                </a:solidFill>
                                <a:latin typeface="Cambria Math"/>
                              </a:rPr>
                            </m:ctrlPr>
                          </m:radPr>
                          <m:deg/>
                          <m:e>
                            <m:sSup>
                              <m:sSupPr>
                                <m:ctrlPr>
                                  <a:rPr lang="tr-TR" i="1" smtClean="0">
                                    <a:solidFill>
                                      <a:schemeClr val="bg2"/>
                                    </a:solidFill>
                                    <a:latin typeface="Cambria Math"/>
                                  </a:rPr>
                                </m:ctrlPr>
                              </m:sSupPr>
                              <m:e>
                                <m:r>
                                  <a:rPr lang="tr-TR" i="1" smtClean="0">
                                    <a:solidFill>
                                      <a:schemeClr val="bg2"/>
                                    </a:solidFill>
                                    <a:latin typeface="Cambria Math"/>
                                  </a:rPr>
                                  <m:t>𝑏</m:t>
                                </m:r>
                              </m:e>
                              <m:sup>
                                <m:r>
                                  <a:rPr lang="tr-TR" i="1" smtClean="0">
                                    <a:solidFill>
                                      <a:schemeClr val="bg2"/>
                                    </a:solidFill>
                                    <a:latin typeface="Cambria Math"/>
                                  </a:rPr>
                                  <m:t>2</m:t>
                                </m:r>
                              </m:sup>
                            </m:sSup>
                            <m:r>
                              <a:rPr lang="tr-TR" i="1" smtClean="0">
                                <a:solidFill>
                                  <a:schemeClr val="bg2"/>
                                </a:solidFill>
                                <a:latin typeface="Cambria Math"/>
                              </a:rPr>
                              <m:t>−4</m:t>
                            </m:r>
                            <m:r>
                              <a:rPr lang="tr-TR" i="1" smtClean="0">
                                <a:solidFill>
                                  <a:schemeClr val="bg2"/>
                                </a:solidFill>
                                <a:latin typeface="Cambria Math"/>
                              </a:rPr>
                              <m:t>𝑎𝑐</m:t>
                            </m:r>
                          </m:e>
                        </m:rad>
                      </m:num>
                      <m:den>
                        <m:r>
                          <a:rPr lang="tr-TR" i="1" smtClean="0">
                            <a:solidFill>
                              <a:schemeClr val="bg2"/>
                            </a:solidFill>
                            <a:latin typeface="Cambria Math"/>
                          </a:rPr>
                          <m:t>2</m:t>
                        </m:r>
                        <m:r>
                          <a:rPr lang="tr-TR" i="1" smtClean="0">
                            <a:solidFill>
                              <a:schemeClr val="bg2"/>
                            </a:solidFill>
                            <a:latin typeface="Cambria Math"/>
                          </a:rPr>
                          <m:t>𝑎</m:t>
                        </m:r>
                      </m:den>
                    </m:f>
                  </m:oMath>
                </a14:m>
                <a:r>
                  <a:rPr lang="tr-TR" dirty="0" smtClean="0">
                    <a:solidFill>
                      <a:schemeClr val="bg2"/>
                    </a:solidFill>
                    <a:latin typeface="Akrobat Bold" pitchFamily="50" charset="0"/>
                  </a:rPr>
                  <a:t>  </a:t>
                </a:r>
                <a:endParaRPr lang="tr-TR" dirty="0">
                  <a:solidFill>
                    <a:schemeClr val="bg2"/>
                  </a:solidFill>
                  <a:latin typeface="Akrobat Bold" pitchFamily="50" charset="0"/>
                </a:endParaRPr>
              </a:p>
            </p:txBody>
          </p:sp>
        </mc:Choice>
        <mc:Fallback xmlns="">
          <p:sp>
            <p:nvSpPr>
              <p:cNvPr id="26" name="Metin kutusu 25"/>
              <p:cNvSpPr txBox="1">
                <a:spLocks noRot="1" noChangeAspect="1" noMove="1" noResize="1" noEditPoints="1" noAdjustHandles="1" noChangeArrowheads="1" noChangeShapeType="1" noTextEdit="1"/>
              </p:cNvSpPr>
              <p:nvPr/>
            </p:nvSpPr>
            <p:spPr>
              <a:xfrm>
                <a:off x="2708920" y="7911135"/>
                <a:ext cx="6048672" cy="548548"/>
              </a:xfrm>
              <a:prstGeom prst="rect">
                <a:avLst/>
              </a:prstGeom>
              <a:blipFill rotWithShape="1">
                <a:blip r:embed="rId5"/>
                <a:stretch>
                  <a:fillRect l="-806" b="-4444"/>
                </a:stretch>
              </a:blipFill>
            </p:spPr>
            <p:txBody>
              <a:bodyPr/>
              <a:lstStyle/>
              <a:p>
                <a:r>
                  <a:rPr lang="tr-TR">
                    <a:noFill/>
                  </a:rPr>
                  <a:t> </a:t>
                </a:r>
              </a:p>
            </p:txBody>
          </p:sp>
        </mc:Fallback>
      </mc:AlternateContent>
      <p:sp>
        <p:nvSpPr>
          <p:cNvPr id="27" name="Metin kutusu 26"/>
          <p:cNvSpPr txBox="1"/>
          <p:nvPr/>
        </p:nvSpPr>
        <p:spPr>
          <a:xfrm>
            <a:off x="1391193" y="612776"/>
            <a:ext cx="804163" cy="230832"/>
          </a:xfrm>
          <a:prstGeom prst="rect">
            <a:avLst/>
          </a:prstGeom>
          <a:noFill/>
        </p:spPr>
        <p:txBody>
          <a:bodyPr wrap="square" rtlCol="0">
            <a:spAutoFit/>
          </a:bodyPr>
          <a:lstStyle/>
          <a:p>
            <a:r>
              <a:rPr lang="tr-TR" sz="900" dirty="0" smtClean="0">
                <a:latin typeface="Akrobat Bold" pitchFamily="50" charset="0"/>
              </a:rPr>
              <a:t>2</a:t>
            </a:r>
            <a:endParaRPr lang="tr-TR" sz="900" dirty="0">
              <a:latin typeface="Akrobat Bold" pitchFamily="50" charset="0"/>
            </a:endParaRPr>
          </a:p>
        </p:txBody>
      </p:sp>
      <p:sp>
        <p:nvSpPr>
          <p:cNvPr id="4" name="Düzgün Beşgen 3"/>
          <p:cNvSpPr/>
          <p:nvPr/>
        </p:nvSpPr>
        <p:spPr>
          <a:xfrm>
            <a:off x="134778" y="8370918"/>
            <a:ext cx="485910" cy="484981"/>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182029" y="8393672"/>
            <a:ext cx="39626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tr-TR" sz="3000" b="1" cap="none" spc="0" dirty="0" smtClean="0">
                <a:ln w="11430"/>
                <a:solidFill>
                  <a:schemeClr val="bg1"/>
                </a:solidFill>
                <a:effectLst>
                  <a:outerShdw blurRad="50800" dist="39000" dir="5460000" algn="tl">
                    <a:srgbClr val="000000">
                      <a:alpha val="38000"/>
                    </a:srgbClr>
                  </a:outerShdw>
                </a:effectLst>
              </a:rPr>
              <a:t>1</a:t>
            </a:r>
            <a:endParaRPr lang="tr-TR" sz="3000" b="1" cap="none" spc="0" dirty="0">
              <a:ln w="11430"/>
              <a:solidFill>
                <a:schemeClr val="bg1"/>
              </a:solidFill>
              <a:effectLst>
                <a:outerShdw blurRad="50800" dist="39000" dir="5460000" algn="tl">
                  <a:srgbClr val="000000">
                    <a:alpha val="38000"/>
                  </a:srgbClr>
                </a:outerShdw>
              </a:effectLst>
            </a:endParaRPr>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240" y="60185"/>
            <a:ext cx="692696" cy="81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0151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36712" y="323528"/>
            <a:ext cx="6048672" cy="92333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tr-TR" dirty="0" smtClean="0">
                <a:latin typeface="Akrobat Bold" pitchFamily="50" charset="0"/>
              </a:rPr>
              <a:t>Tepe Noktası :  Fonksiyonların alabileceği en büyük ve en küçük değerler tepe noktalarıdır. Parabolde  T(</a:t>
            </a:r>
            <a:r>
              <a:rPr lang="tr-TR" dirty="0" err="1" smtClean="0">
                <a:latin typeface="Akrobat Bold" pitchFamily="50" charset="0"/>
              </a:rPr>
              <a:t>r,k</a:t>
            </a:r>
            <a:r>
              <a:rPr lang="tr-TR" dirty="0" smtClean="0">
                <a:latin typeface="Akrobat Bold" pitchFamily="50" charset="0"/>
              </a:rPr>
              <a:t>) ile gösterilmektedir.</a:t>
            </a:r>
          </a:p>
          <a:p>
            <a:r>
              <a:rPr lang="tr-TR" dirty="0" smtClean="0">
                <a:latin typeface="Akrobat Bold" pitchFamily="50" charset="0"/>
              </a:rPr>
              <a:t>T= Tepe noktası , r= tepe noktasının apsisi,  k = tepe noktası ordinatı</a:t>
            </a:r>
          </a:p>
        </p:txBody>
      </p:sp>
      <p:sp>
        <p:nvSpPr>
          <p:cNvPr id="3" name="Metin kutusu 2"/>
          <p:cNvSpPr txBox="1"/>
          <p:nvPr/>
        </p:nvSpPr>
        <p:spPr>
          <a:xfrm>
            <a:off x="836712" y="5221813"/>
            <a:ext cx="6048672" cy="646331"/>
          </a:xfrm>
          <a:prstGeom prst="rect">
            <a:avLst/>
          </a:prstGeom>
          <a:noFill/>
          <a:ln>
            <a:noFill/>
          </a:ln>
        </p:spPr>
        <p:style>
          <a:lnRef idx="2">
            <a:schemeClr val="accent3"/>
          </a:lnRef>
          <a:fillRef idx="1001">
            <a:schemeClr val="lt1"/>
          </a:fillRef>
          <a:effectRef idx="0">
            <a:schemeClr val="accent3"/>
          </a:effectRef>
          <a:fontRef idx="minor">
            <a:schemeClr val="dk1"/>
          </a:fontRef>
        </p:style>
        <p:txBody>
          <a:bodyPr wrap="square" rtlCol="0">
            <a:spAutoFit/>
          </a:bodyPr>
          <a:lstStyle/>
          <a:p>
            <a:r>
              <a:rPr lang="tr-TR" dirty="0" smtClean="0">
                <a:solidFill>
                  <a:srgbClr val="0070C0"/>
                </a:solidFill>
                <a:latin typeface="Akrobat Bold" pitchFamily="50" charset="0"/>
              </a:rPr>
              <a:t>Tepe noktası aynı zamanda simetri eksenidir. Tepe noktasının apsisinden (r) indirilen bir doğru parabolü iki eş parçaya böler.</a:t>
            </a:r>
            <a:endParaRPr lang="tr-TR" dirty="0">
              <a:solidFill>
                <a:srgbClr val="0070C0"/>
              </a:solidFill>
              <a:latin typeface="Akrobat Bold" pitchFamily="50" charset="0"/>
            </a:endParaRPr>
          </a:p>
        </p:txBody>
      </p:sp>
      <p:pic>
        <p:nvPicPr>
          <p:cNvPr id="7" name="Resim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7212" y="1331640"/>
            <a:ext cx="2283796" cy="1885145"/>
          </a:xfrm>
          <a:prstGeom prst="rect">
            <a:avLst/>
          </a:prstGeom>
        </p:spPr>
      </p:pic>
      <p:pic>
        <p:nvPicPr>
          <p:cNvPr id="8" name="Resim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1548" y="1355800"/>
            <a:ext cx="2283796" cy="1885145"/>
          </a:xfrm>
          <a:prstGeom prst="rect">
            <a:avLst/>
          </a:prstGeom>
        </p:spPr>
      </p:pic>
      <p:sp>
        <p:nvSpPr>
          <p:cNvPr id="11" name="Serbest Form 10"/>
          <p:cNvSpPr/>
          <p:nvPr/>
        </p:nvSpPr>
        <p:spPr>
          <a:xfrm>
            <a:off x="1641991" y="1672968"/>
            <a:ext cx="1066800" cy="1097312"/>
          </a:xfrm>
          <a:custGeom>
            <a:avLst/>
            <a:gdLst>
              <a:gd name="connsiteX0" fmla="*/ 0 w 1066800"/>
              <a:gd name="connsiteY0" fmla="*/ 0 h 1097312"/>
              <a:gd name="connsiteX1" fmla="*/ 441960 w 1066800"/>
              <a:gd name="connsiteY1" fmla="*/ 1097280 h 1097312"/>
              <a:gd name="connsiteX2" fmla="*/ 1066800 w 1066800"/>
              <a:gd name="connsiteY2" fmla="*/ 38100 h 1097312"/>
            </a:gdLst>
            <a:ahLst/>
            <a:cxnLst>
              <a:cxn ang="0">
                <a:pos x="connsiteX0" y="connsiteY0"/>
              </a:cxn>
              <a:cxn ang="0">
                <a:pos x="connsiteX1" y="connsiteY1"/>
              </a:cxn>
              <a:cxn ang="0">
                <a:pos x="connsiteX2" y="connsiteY2"/>
              </a:cxn>
            </a:cxnLst>
            <a:rect l="l" t="t" r="r" b="b"/>
            <a:pathLst>
              <a:path w="1066800" h="1097312">
                <a:moveTo>
                  <a:pt x="0" y="0"/>
                </a:moveTo>
                <a:cubicBezTo>
                  <a:pt x="132080" y="545465"/>
                  <a:pt x="264160" y="1090930"/>
                  <a:pt x="441960" y="1097280"/>
                </a:cubicBezTo>
                <a:cubicBezTo>
                  <a:pt x="619760" y="1103630"/>
                  <a:pt x="953770" y="184150"/>
                  <a:pt x="1066800" y="3810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tr-TR">
              <a:solidFill>
                <a:srgbClr val="FF0000"/>
              </a:solidFill>
            </a:endParaRPr>
          </a:p>
        </p:txBody>
      </p:sp>
      <p:sp>
        <p:nvSpPr>
          <p:cNvPr id="13" name="Serbest Form 12"/>
          <p:cNvSpPr/>
          <p:nvPr/>
        </p:nvSpPr>
        <p:spPr>
          <a:xfrm>
            <a:off x="4461391" y="1764338"/>
            <a:ext cx="731520" cy="1226892"/>
          </a:xfrm>
          <a:custGeom>
            <a:avLst/>
            <a:gdLst>
              <a:gd name="connsiteX0" fmla="*/ 0 w 731520"/>
              <a:gd name="connsiteY0" fmla="*/ 1181172 h 1226892"/>
              <a:gd name="connsiteX1" fmla="*/ 274320 w 731520"/>
              <a:gd name="connsiteY1" fmla="*/ 72 h 1226892"/>
              <a:gd name="connsiteX2" fmla="*/ 731520 w 731520"/>
              <a:gd name="connsiteY2" fmla="*/ 1226892 h 1226892"/>
            </a:gdLst>
            <a:ahLst/>
            <a:cxnLst>
              <a:cxn ang="0">
                <a:pos x="connsiteX0" y="connsiteY0"/>
              </a:cxn>
              <a:cxn ang="0">
                <a:pos x="connsiteX1" y="connsiteY1"/>
              </a:cxn>
              <a:cxn ang="0">
                <a:pos x="connsiteX2" y="connsiteY2"/>
              </a:cxn>
            </a:cxnLst>
            <a:rect l="l" t="t" r="r" b="b"/>
            <a:pathLst>
              <a:path w="731520" h="1226892">
                <a:moveTo>
                  <a:pt x="0" y="1181172"/>
                </a:moveTo>
                <a:cubicBezTo>
                  <a:pt x="76200" y="586812"/>
                  <a:pt x="152400" y="-7548"/>
                  <a:pt x="274320" y="72"/>
                </a:cubicBezTo>
                <a:cubicBezTo>
                  <a:pt x="396240" y="7692"/>
                  <a:pt x="581660" y="1056712"/>
                  <a:pt x="731520" y="1226892"/>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sp>
        <p:nvSpPr>
          <p:cNvPr id="14" name="Metin kutusu 13"/>
          <p:cNvSpPr txBox="1"/>
          <p:nvPr/>
        </p:nvSpPr>
        <p:spPr>
          <a:xfrm>
            <a:off x="809328" y="3347864"/>
            <a:ext cx="6048672" cy="1754326"/>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f(x) fonksiyonu kolları yukarı bir fonksiyondur.</a:t>
            </a:r>
          </a:p>
          <a:p>
            <a:pPr marL="285750" indent="-285750">
              <a:buFont typeface="Arial" charset="0"/>
              <a:buChar char="•"/>
            </a:pPr>
            <a:r>
              <a:rPr lang="tr-TR" dirty="0" smtClean="0">
                <a:latin typeface="Akrobat Bold" pitchFamily="50" charset="0"/>
              </a:rPr>
              <a:t>Kolları yukarı parabollerde tepe noktası fonksiyonun en küçük değerini belirtir.</a:t>
            </a:r>
          </a:p>
          <a:p>
            <a:pPr marL="285750" indent="-285750">
              <a:buFont typeface="Arial" charset="0"/>
              <a:buChar char="•"/>
            </a:pPr>
            <a:r>
              <a:rPr lang="tr-TR" dirty="0" smtClean="0">
                <a:latin typeface="Akrobat Bold" pitchFamily="50" charset="0"/>
              </a:rPr>
              <a:t>h(x) fonksiyonu kolları aşağı bir fonksiyondur.</a:t>
            </a:r>
          </a:p>
          <a:p>
            <a:pPr marL="285750" indent="-285750">
              <a:buFont typeface="Arial" charset="0"/>
              <a:buChar char="•"/>
            </a:pPr>
            <a:r>
              <a:rPr lang="tr-TR" dirty="0" smtClean="0">
                <a:latin typeface="Akrobat Bold" pitchFamily="50" charset="0"/>
              </a:rPr>
              <a:t>Kolları aşağı parabollerde tepe noktası fonksiyonun en büyük alabileceği değeri belirtir.</a:t>
            </a:r>
          </a:p>
        </p:txBody>
      </p:sp>
      <p:sp>
        <p:nvSpPr>
          <p:cNvPr id="15" name="Metin kutusu 14"/>
          <p:cNvSpPr txBox="1"/>
          <p:nvPr/>
        </p:nvSpPr>
        <p:spPr>
          <a:xfrm>
            <a:off x="2636912" y="1682464"/>
            <a:ext cx="6048672" cy="307777"/>
          </a:xfrm>
          <a:prstGeom prst="rect">
            <a:avLst/>
          </a:prstGeom>
          <a:noFill/>
        </p:spPr>
        <p:txBody>
          <a:bodyPr wrap="square" rtlCol="0">
            <a:spAutoFit/>
          </a:bodyPr>
          <a:lstStyle/>
          <a:p>
            <a:r>
              <a:rPr lang="tr-TR" sz="1400" dirty="0" smtClean="0">
                <a:solidFill>
                  <a:srgbClr val="6600FF"/>
                </a:solidFill>
                <a:latin typeface="Akrobat Bold" pitchFamily="50" charset="0"/>
              </a:rPr>
              <a:t>f(x)</a:t>
            </a:r>
            <a:endParaRPr lang="tr-TR" sz="1400" dirty="0">
              <a:solidFill>
                <a:srgbClr val="6600FF"/>
              </a:solidFill>
              <a:latin typeface="Akrobat Bold" pitchFamily="50" charset="0"/>
            </a:endParaRPr>
          </a:p>
        </p:txBody>
      </p:sp>
      <p:sp>
        <p:nvSpPr>
          <p:cNvPr id="16" name="Metin kutusu 15"/>
          <p:cNvSpPr txBox="1"/>
          <p:nvPr/>
        </p:nvSpPr>
        <p:spPr>
          <a:xfrm>
            <a:off x="4232008" y="1762849"/>
            <a:ext cx="585604" cy="307777"/>
          </a:xfrm>
          <a:prstGeom prst="rect">
            <a:avLst/>
          </a:prstGeom>
          <a:noFill/>
        </p:spPr>
        <p:txBody>
          <a:bodyPr wrap="square" rtlCol="0">
            <a:spAutoFit/>
          </a:bodyPr>
          <a:lstStyle/>
          <a:p>
            <a:r>
              <a:rPr lang="tr-TR" sz="1400" dirty="0" smtClean="0">
                <a:solidFill>
                  <a:srgbClr val="6600FF"/>
                </a:solidFill>
                <a:latin typeface="Akrobat Bold" pitchFamily="50" charset="0"/>
              </a:rPr>
              <a:t>h(x)</a:t>
            </a:r>
            <a:endParaRPr lang="tr-TR" sz="1400" dirty="0">
              <a:solidFill>
                <a:srgbClr val="6600FF"/>
              </a:solidFill>
              <a:latin typeface="Akrobat Bold" pitchFamily="50" charset="0"/>
            </a:endParaRPr>
          </a:p>
        </p:txBody>
      </p:sp>
      <p:sp>
        <p:nvSpPr>
          <p:cNvPr id="17" name="Metin kutusu 16"/>
          <p:cNvSpPr txBox="1"/>
          <p:nvPr/>
        </p:nvSpPr>
        <p:spPr>
          <a:xfrm>
            <a:off x="0" y="-36512"/>
            <a:ext cx="6858000" cy="292388"/>
          </a:xfrm>
          <a:prstGeom prst="rect">
            <a:avLst/>
          </a:prstGeom>
          <a:noFill/>
        </p:spPr>
        <p:txBody>
          <a:bodyPr wrap="square" rtlCol="0">
            <a:spAutoFit/>
          </a:bodyPr>
          <a:lstStyle/>
          <a:p>
            <a:pPr algn="ctr"/>
            <a:r>
              <a:rPr lang="tr-TR" sz="1300" dirty="0" smtClean="0">
                <a:latin typeface="Akrobat Bold" pitchFamily="50" charset="0"/>
                <a:hlinkClick r:id="rId4"/>
              </a:rPr>
              <a:t>www.ahmetcelen.com.tr</a:t>
            </a:r>
            <a:r>
              <a:rPr lang="tr-TR" sz="1300" dirty="0" smtClean="0">
                <a:latin typeface="Akrobat Bold" pitchFamily="50" charset="0"/>
              </a:rPr>
              <a:t> – Parabol Konu Anlatımı</a:t>
            </a:r>
            <a:endParaRPr lang="tr-TR" sz="1300" dirty="0">
              <a:latin typeface="Akrobat Bold" pitchFamily="50" charset="0"/>
            </a:endParaRPr>
          </a:p>
        </p:txBody>
      </p:sp>
      <p:cxnSp>
        <p:nvCxnSpPr>
          <p:cNvPr id="19" name="Düz Ok Bağlayıcısı 18"/>
          <p:cNvCxnSpPr/>
          <p:nvPr/>
        </p:nvCxnSpPr>
        <p:spPr>
          <a:xfrm>
            <a:off x="890707" y="1355799"/>
            <a:ext cx="614536" cy="31717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0" name="Metin kutusu 19"/>
          <p:cNvSpPr txBox="1"/>
          <p:nvPr/>
        </p:nvSpPr>
        <p:spPr>
          <a:xfrm>
            <a:off x="929179" y="1651605"/>
            <a:ext cx="864096" cy="400110"/>
          </a:xfrm>
          <a:prstGeom prst="rect">
            <a:avLst/>
          </a:prstGeom>
          <a:noFill/>
        </p:spPr>
        <p:txBody>
          <a:bodyPr wrap="square" rtlCol="0">
            <a:spAutoFit/>
          </a:bodyPr>
          <a:lstStyle/>
          <a:p>
            <a:pPr algn="ctr"/>
            <a:r>
              <a:rPr lang="tr-TR" sz="1000" dirty="0" smtClean="0">
                <a:solidFill>
                  <a:srgbClr val="6600FF"/>
                </a:solidFill>
                <a:latin typeface="Akrobat Bold" pitchFamily="50" charset="0"/>
              </a:rPr>
              <a:t>Parabolün</a:t>
            </a:r>
          </a:p>
          <a:p>
            <a:pPr algn="ctr"/>
            <a:r>
              <a:rPr lang="tr-TR" sz="1000" dirty="0" smtClean="0">
                <a:solidFill>
                  <a:srgbClr val="6600FF"/>
                </a:solidFill>
                <a:latin typeface="Akrobat Bold" pitchFamily="50" charset="0"/>
              </a:rPr>
              <a:t>Kolu</a:t>
            </a:r>
            <a:endParaRPr lang="tr-TR" sz="1000" dirty="0">
              <a:solidFill>
                <a:srgbClr val="6600FF"/>
              </a:solidFill>
              <a:latin typeface="Akrobat Bold" pitchFamily="50" charset="0"/>
            </a:endParaRPr>
          </a:p>
        </p:txBody>
      </p:sp>
      <p:sp>
        <p:nvSpPr>
          <p:cNvPr id="29" name="Metin kutusu 28"/>
          <p:cNvSpPr txBox="1"/>
          <p:nvPr/>
        </p:nvSpPr>
        <p:spPr>
          <a:xfrm>
            <a:off x="1802815" y="2752055"/>
            <a:ext cx="6048672" cy="307777"/>
          </a:xfrm>
          <a:prstGeom prst="rect">
            <a:avLst/>
          </a:prstGeom>
          <a:noFill/>
        </p:spPr>
        <p:txBody>
          <a:bodyPr wrap="square" rtlCol="0">
            <a:spAutoFit/>
          </a:bodyPr>
          <a:lstStyle/>
          <a:p>
            <a:r>
              <a:rPr lang="tr-TR" sz="1400" dirty="0" smtClean="0">
                <a:solidFill>
                  <a:srgbClr val="6600FF"/>
                </a:solidFill>
                <a:latin typeface="Akrobat Bold" pitchFamily="50" charset="0"/>
              </a:rPr>
              <a:t>T(</a:t>
            </a:r>
            <a:r>
              <a:rPr lang="tr-TR" sz="1400" dirty="0" err="1" smtClean="0">
                <a:solidFill>
                  <a:srgbClr val="6600FF"/>
                </a:solidFill>
                <a:latin typeface="Akrobat Bold" pitchFamily="50" charset="0"/>
              </a:rPr>
              <a:t>r,k</a:t>
            </a:r>
            <a:r>
              <a:rPr lang="tr-TR" sz="1400" dirty="0" smtClean="0">
                <a:solidFill>
                  <a:srgbClr val="6600FF"/>
                </a:solidFill>
                <a:latin typeface="Akrobat Bold" pitchFamily="50" charset="0"/>
              </a:rPr>
              <a:t>)</a:t>
            </a:r>
            <a:endParaRPr lang="tr-TR" sz="1400" dirty="0">
              <a:solidFill>
                <a:srgbClr val="6600FF"/>
              </a:solidFill>
              <a:latin typeface="Akrobat Bold" pitchFamily="50" charset="0"/>
            </a:endParaRPr>
          </a:p>
        </p:txBody>
      </p:sp>
      <p:sp>
        <p:nvSpPr>
          <p:cNvPr id="30" name="Metin kutusu 29"/>
          <p:cNvSpPr txBox="1"/>
          <p:nvPr/>
        </p:nvSpPr>
        <p:spPr>
          <a:xfrm>
            <a:off x="4461391" y="1475656"/>
            <a:ext cx="6048672" cy="307777"/>
          </a:xfrm>
          <a:prstGeom prst="rect">
            <a:avLst/>
          </a:prstGeom>
          <a:noFill/>
        </p:spPr>
        <p:txBody>
          <a:bodyPr wrap="square" rtlCol="0">
            <a:spAutoFit/>
          </a:bodyPr>
          <a:lstStyle/>
          <a:p>
            <a:r>
              <a:rPr lang="tr-TR" sz="1400" dirty="0" smtClean="0">
                <a:solidFill>
                  <a:srgbClr val="6600FF"/>
                </a:solidFill>
                <a:latin typeface="Akrobat Bold" pitchFamily="50" charset="0"/>
              </a:rPr>
              <a:t>T(</a:t>
            </a:r>
            <a:r>
              <a:rPr lang="tr-TR" sz="1400" dirty="0" err="1" smtClean="0">
                <a:solidFill>
                  <a:srgbClr val="6600FF"/>
                </a:solidFill>
                <a:latin typeface="Akrobat Bold" pitchFamily="50" charset="0"/>
              </a:rPr>
              <a:t>r,k</a:t>
            </a:r>
            <a:r>
              <a:rPr lang="tr-TR" sz="1400" dirty="0" smtClean="0">
                <a:solidFill>
                  <a:srgbClr val="6600FF"/>
                </a:solidFill>
                <a:latin typeface="Akrobat Bold" pitchFamily="50" charset="0"/>
              </a:rPr>
              <a:t>)</a:t>
            </a:r>
            <a:endParaRPr lang="tr-TR" sz="1400" dirty="0">
              <a:solidFill>
                <a:srgbClr val="6600FF"/>
              </a:solidFill>
              <a:latin typeface="Akrobat Bold" pitchFamily="50" charset="0"/>
            </a:endParaRPr>
          </a:p>
        </p:txBody>
      </p:sp>
      <p:pic>
        <p:nvPicPr>
          <p:cNvPr id="31" name="Resim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3203" y="5868144"/>
            <a:ext cx="3069540" cy="2533732"/>
          </a:xfrm>
          <a:prstGeom prst="rect">
            <a:avLst/>
          </a:prstGeom>
        </p:spPr>
      </p:pic>
      <p:sp>
        <p:nvSpPr>
          <p:cNvPr id="34" name="Serbest Form 33"/>
          <p:cNvSpPr/>
          <p:nvPr/>
        </p:nvSpPr>
        <p:spPr>
          <a:xfrm>
            <a:off x="1361227" y="6800434"/>
            <a:ext cx="1066800" cy="1097312"/>
          </a:xfrm>
          <a:custGeom>
            <a:avLst/>
            <a:gdLst>
              <a:gd name="connsiteX0" fmla="*/ 0 w 1066800"/>
              <a:gd name="connsiteY0" fmla="*/ 0 h 1097312"/>
              <a:gd name="connsiteX1" fmla="*/ 441960 w 1066800"/>
              <a:gd name="connsiteY1" fmla="*/ 1097280 h 1097312"/>
              <a:gd name="connsiteX2" fmla="*/ 1066800 w 1066800"/>
              <a:gd name="connsiteY2" fmla="*/ 38100 h 1097312"/>
            </a:gdLst>
            <a:ahLst/>
            <a:cxnLst>
              <a:cxn ang="0">
                <a:pos x="connsiteX0" y="connsiteY0"/>
              </a:cxn>
              <a:cxn ang="0">
                <a:pos x="connsiteX1" y="connsiteY1"/>
              </a:cxn>
              <a:cxn ang="0">
                <a:pos x="connsiteX2" y="connsiteY2"/>
              </a:cxn>
            </a:cxnLst>
            <a:rect l="l" t="t" r="r" b="b"/>
            <a:pathLst>
              <a:path w="1066800" h="1097312">
                <a:moveTo>
                  <a:pt x="0" y="0"/>
                </a:moveTo>
                <a:cubicBezTo>
                  <a:pt x="132080" y="545465"/>
                  <a:pt x="264160" y="1090930"/>
                  <a:pt x="441960" y="1097280"/>
                </a:cubicBezTo>
                <a:cubicBezTo>
                  <a:pt x="619760" y="1103630"/>
                  <a:pt x="953770" y="184150"/>
                  <a:pt x="1066800" y="38100"/>
                </a:cubicBezTo>
              </a:path>
            </a:pathLst>
          </a:custGeom>
        </p:spPr>
        <p:style>
          <a:lnRef idx="1">
            <a:schemeClr val="dk1"/>
          </a:lnRef>
          <a:fillRef idx="0">
            <a:schemeClr val="dk1"/>
          </a:fillRef>
          <a:effectRef idx="0">
            <a:schemeClr val="dk1"/>
          </a:effectRef>
          <a:fontRef idx="minor">
            <a:schemeClr val="tx1"/>
          </a:fontRef>
        </p:style>
        <p:txBody>
          <a:bodyPr rtlCol="0" anchor="ctr"/>
          <a:lstStyle/>
          <a:p>
            <a:pPr algn="ctr"/>
            <a:endParaRPr lang="tr-TR">
              <a:solidFill>
                <a:srgbClr val="FF0000"/>
              </a:solidFill>
            </a:endParaRPr>
          </a:p>
        </p:txBody>
      </p:sp>
      <p:cxnSp>
        <p:nvCxnSpPr>
          <p:cNvPr id="36" name="Düz Bağlayıcı 35"/>
          <p:cNvCxnSpPr/>
          <p:nvPr/>
        </p:nvCxnSpPr>
        <p:spPr>
          <a:xfrm flipV="1">
            <a:off x="1802815" y="7164288"/>
            <a:ext cx="0" cy="733460"/>
          </a:xfrm>
          <a:prstGeom prst="line">
            <a:avLst/>
          </a:prstGeom>
        </p:spPr>
        <p:style>
          <a:lnRef idx="1">
            <a:schemeClr val="accent1"/>
          </a:lnRef>
          <a:fillRef idx="0">
            <a:schemeClr val="accent1"/>
          </a:fillRef>
          <a:effectRef idx="0">
            <a:schemeClr val="accent1"/>
          </a:effectRef>
          <a:fontRef idx="minor">
            <a:schemeClr val="tx1"/>
          </a:fontRef>
        </p:style>
      </p:cxnSp>
      <p:cxnSp>
        <p:nvCxnSpPr>
          <p:cNvPr id="45" name="Düz Bağlayıcı 44"/>
          <p:cNvCxnSpPr/>
          <p:nvPr/>
        </p:nvCxnSpPr>
        <p:spPr>
          <a:xfrm flipV="1">
            <a:off x="1556792" y="7164288"/>
            <a:ext cx="72008" cy="1012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6" name="Düz Bağlayıcı 45"/>
          <p:cNvCxnSpPr/>
          <p:nvPr/>
        </p:nvCxnSpPr>
        <p:spPr>
          <a:xfrm flipV="1">
            <a:off x="1605987" y="7164288"/>
            <a:ext cx="72008" cy="1012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7" name="Düz Bağlayıcı 46"/>
          <p:cNvCxnSpPr/>
          <p:nvPr/>
        </p:nvCxnSpPr>
        <p:spPr>
          <a:xfrm flipV="1">
            <a:off x="1894821" y="7164288"/>
            <a:ext cx="72008" cy="1012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8" name="Düz Bağlayıcı 47"/>
          <p:cNvCxnSpPr/>
          <p:nvPr/>
        </p:nvCxnSpPr>
        <p:spPr>
          <a:xfrm flipV="1">
            <a:off x="1966460" y="7164288"/>
            <a:ext cx="72008" cy="1012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Metin kutusu 48"/>
          <p:cNvSpPr txBox="1"/>
          <p:nvPr/>
        </p:nvSpPr>
        <p:spPr>
          <a:xfrm>
            <a:off x="4178549" y="5947117"/>
            <a:ext cx="2679451" cy="258532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Tepe Noktası Formülleri</a:t>
            </a:r>
          </a:p>
          <a:p>
            <a:pPr marL="285750" indent="-285750">
              <a:buFont typeface="Arial" charset="0"/>
              <a:buChar char="•"/>
            </a:pPr>
            <a:endParaRPr lang="tr-TR" dirty="0">
              <a:latin typeface="Akrobat Bold" pitchFamily="50" charset="0"/>
            </a:endParaRPr>
          </a:p>
          <a:p>
            <a:pPr marL="285750" indent="-285750">
              <a:buFont typeface="Arial" charset="0"/>
              <a:buChar char="•"/>
            </a:pPr>
            <a:r>
              <a:rPr lang="tr-TR" dirty="0" smtClean="0">
                <a:latin typeface="Akrobat Bold" pitchFamily="50" charset="0"/>
              </a:rPr>
              <a:t>r = -b/2a</a:t>
            </a:r>
          </a:p>
          <a:p>
            <a:pPr marL="285750" indent="-285750">
              <a:buFont typeface="Arial" charset="0"/>
              <a:buChar char="•"/>
            </a:pPr>
            <a:endParaRPr lang="tr-TR" dirty="0">
              <a:latin typeface="Akrobat Bold" pitchFamily="50" charset="0"/>
            </a:endParaRPr>
          </a:p>
          <a:p>
            <a:pPr marL="285750" indent="-285750">
              <a:buFont typeface="Arial" charset="0"/>
              <a:buChar char="•"/>
            </a:pPr>
            <a:r>
              <a:rPr lang="tr-TR" dirty="0" smtClean="0">
                <a:latin typeface="Akrobat Bold" pitchFamily="50" charset="0"/>
              </a:rPr>
              <a:t>k= f(r)</a:t>
            </a:r>
          </a:p>
          <a:p>
            <a:pPr marL="285750" indent="-285750">
              <a:buFont typeface="Arial" charset="0"/>
              <a:buChar char="•"/>
            </a:pPr>
            <a:endParaRPr lang="tr-TR" dirty="0">
              <a:latin typeface="Akrobat Bold" pitchFamily="50" charset="0"/>
            </a:endParaRPr>
          </a:p>
          <a:p>
            <a:pPr marL="285750" indent="-285750">
              <a:buFont typeface="Arial" charset="0"/>
              <a:buChar char="•"/>
            </a:pPr>
            <a:r>
              <a:rPr lang="tr-TR" dirty="0" smtClean="0">
                <a:latin typeface="Akrobat Bold" pitchFamily="50" charset="0"/>
              </a:rPr>
              <a:t>Bulduğumuz r değerini</a:t>
            </a:r>
          </a:p>
          <a:p>
            <a:r>
              <a:rPr lang="tr-TR" dirty="0" smtClean="0">
                <a:latin typeface="Akrobat Bold" pitchFamily="50" charset="0"/>
              </a:rPr>
              <a:t>fonksiyonda yerine yazarak k değerini bulabiliriz.</a:t>
            </a:r>
          </a:p>
        </p:txBody>
      </p:sp>
      <mc:AlternateContent xmlns:mc="http://schemas.openxmlformats.org/markup-compatibility/2006" xmlns:a14="http://schemas.microsoft.com/office/drawing/2010/main">
        <mc:Choice Requires="a14">
          <p:sp>
            <p:nvSpPr>
              <p:cNvPr id="25" name="Metin kutusu 24"/>
              <p:cNvSpPr txBox="1"/>
              <p:nvPr/>
            </p:nvSpPr>
            <p:spPr>
              <a:xfrm>
                <a:off x="1109589" y="8172400"/>
                <a:ext cx="2679451" cy="585673"/>
              </a:xfrm>
              <a:prstGeom prst="rect">
                <a:avLst/>
              </a:prstGeom>
              <a:solidFill>
                <a:schemeClr val="accent4">
                  <a:lumMod val="60000"/>
                  <a:lumOff val="40000"/>
                </a:schemeClr>
              </a:solidFill>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charset="0"/>
                  <a:buChar char="•"/>
                </a:pPr>
                <a:r>
                  <a:rPr lang="tr-TR" sz="1500" dirty="0" smtClean="0">
                    <a:latin typeface="Akrobat Bold" pitchFamily="50" charset="0"/>
                  </a:rPr>
                  <a:t>Kökler Farkı </a:t>
                </a:r>
                <a14:m>
                  <m:oMath xmlns:m="http://schemas.openxmlformats.org/officeDocument/2006/math">
                    <m:r>
                      <a:rPr lang="tr-TR" sz="1600" i="1">
                        <a:latin typeface="Cambria Math"/>
                      </a:rPr>
                      <m:t>=</m:t>
                    </m:r>
                  </m:oMath>
                </a14:m>
                <a:r>
                  <a:rPr lang="tr-TR" sz="1500" dirty="0" smtClean="0">
                    <a:latin typeface="Akrobat Bold" pitchFamily="50" charset="0"/>
                  </a:rPr>
                  <a:t>  |X1-X2| </a:t>
                </a:r>
                <a14:m>
                  <m:oMath xmlns:m="http://schemas.openxmlformats.org/officeDocument/2006/math">
                    <m:r>
                      <a:rPr lang="tr-TR" sz="1700" i="1" smtClean="0">
                        <a:latin typeface="Cambria Math"/>
                      </a:rPr>
                      <m:t>=</m:t>
                    </m:r>
                    <m:f>
                      <m:fPr>
                        <m:ctrlPr>
                          <a:rPr lang="tr-TR" sz="1700" i="1" smtClean="0">
                            <a:latin typeface="Cambria Math"/>
                          </a:rPr>
                        </m:ctrlPr>
                      </m:fPr>
                      <m:num>
                        <m:rad>
                          <m:radPr>
                            <m:degHide m:val="on"/>
                            <m:ctrlPr>
                              <a:rPr lang="tr-TR" sz="1700" i="1" smtClean="0">
                                <a:latin typeface="Cambria Math"/>
                              </a:rPr>
                            </m:ctrlPr>
                          </m:radPr>
                          <m:deg/>
                          <m:e>
                            <m:r>
                              <m:rPr>
                                <m:nor/>
                              </m:rPr>
                              <a:rPr lang="el-GR" sz="1700" dirty="0"/>
                              <m:t>Δ</m:t>
                            </m:r>
                          </m:e>
                        </m:rad>
                      </m:num>
                      <m:den>
                        <m:r>
                          <a:rPr lang="tr-TR" sz="1700" b="0" i="1" smtClean="0">
                            <a:latin typeface="Cambria Math"/>
                          </a:rPr>
                          <m:t>|</m:t>
                        </m:r>
                        <m:r>
                          <a:rPr lang="tr-TR" sz="1700" b="0" i="1" smtClean="0">
                            <a:latin typeface="Cambria Math"/>
                          </a:rPr>
                          <m:t>𝑎</m:t>
                        </m:r>
                        <m:r>
                          <a:rPr lang="tr-TR" sz="1700" b="0" i="1" smtClean="0">
                            <a:latin typeface="Cambria Math"/>
                          </a:rPr>
                          <m:t>|</m:t>
                        </m:r>
                      </m:den>
                    </m:f>
                  </m:oMath>
                </a14:m>
                <a:endParaRPr lang="tr-TR" sz="1700" dirty="0" smtClean="0">
                  <a:latin typeface="Akrobat Bold" pitchFamily="50" charset="0"/>
                </a:endParaRPr>
              </a:p>
            </p:txBody>
          </p:sp>
        </mc:Choice>
        <mc:Fallback xmlns="">
          <p:sp>
            <p:nvSpPr>
              <p:cNvPr id="25" name="Metin kutusu 24"/>
              <p:cNvSpPr txBox="1">
                <a:spLocks noRot="1" noChangeAspect="1" noMove="1" noResize="1" noEditPoints="1" noAdjustHandles="1" noChangeArrowheads="1" noChangeShapeType="1" noTextEdit="1"/>
              </p:cNvSpPr>
              <p:nvPr/>
            </p:nvSpPr>
            <p:spPr>
              <a:xfrm>
                <a:off x="1109589" y="8172400"/>
                <a:ext cx="2679451" cy="585673"/>
              </a:xfrm>
              <a:prstGeom prst="rect">
                <a:avLst/>
              </a:prstGeom>
              <a:blipFill rotWithShape="1">
                <a:blip r:embed="rId5"/>
                <a:stretch>
                  <a:fillRect/>
                </a:stretch>
              </a:blipFill>
            </p:spPr>
            <p:txBody>
              <a:bodyPr/>
              <a:lstStyle/>
              <a:p>
                <a:r>
                  <a:rPr lang="tr-TR">
                    <a:noFill/>
                  </a:rPr>
                  <a:t> </a:t>
                </a:r>
              </a:p>
            </p:txBody>
          </p:sp>
        </mc:Fallback>
      </mc:AlternateContent>
      <p:sp>
        <p:nvSpPr>
          <p:cNvPr id="27" name="Metin kutusu 26"/>
          <p:cNvSpPr txBox="1"/>
          <p:nvPr/>
        </p:nvSpPr>
        <p:spPr>
          <a:xfrm>
            <a:off x="1185874" y="7154996"/>
            <a:ext cx="442926" cy="307777"/>
          </a:xfrm>
          <a:prstGeom prst="rect">
            <a:avLst/>
          </a:prstGeom>
          <a:noFill/>
          <a:ln>
            <a:noFill/>
          </a:ln>
        </p:spPr>
        <p:style>
          <a:lnRef idx="2">
            <a:schemeClr val="accent3"/>
          </a:lnRef>
          <a:fillRef idx="1001">
            <a:schemeClr val="lt1"/>
          </a:fillRef>
          <a:effectRef idx="0">
            <a:schemeClr val="accent3"/>
          </a:effectRef>
          <a:fontRef idx="minor">
            <a:schemeClr val="dk1"/>
          </a:fontRef>
        </p:style>
        <p:txBody>
          <a:bodyPr wrap="square" rtlCol="0">
            <a:spAutoFit/>
          </a:bodyPr>
          <a:lstStyle/>
          <a:p>
            <a:r>
              <a:rPr lang="tr-TR" sz="1400" dirty="0" smtClean="0">
                <a:solidFill>
                  <a:schemeClr val="accent1">
                    <a:lumMod val="75000"/>
                  </a:schemeClr>
                </a:solidFill>
                <a:latin typeface="Akrobat Bold" pitchFamily="50" charset="0"/>
              </a:rPr>
              <a:t>X1</a:t>
            </a:r>
            <a:endParaRPr lang="tr-TR" sz="1400" dirty="0">
              <a:solidFill>
                <a:schemeClr val="accent1">
                  <a:lumMod val="75000"/>
                </a:schemeClr>
              </a:solidFill>
              <a:latin typeface="Akrobat Bold" pitchFamily="50" charset="0"/>
            </a:endParaRPr>
          </a:p>
        </p:txBody>
      </p:sp>
      <p:sp>
        <p:nvSpPr>
          <p:cNvPr id="32" name="Metin kutusu 31"/>
          <p:cNvSpPr txBox="1"/>
          <p:nvPr/>
        </p:nvSpPr>
        <p:spPr>
          <a:xfrm>
            <a:off x="2132856" y="7164288"/>
            <a:ext cx="442926" cy="307777"/>
          </a:xfrm>
          <a:prstGeom prst="rect">
            <a:avLst/>
          </a:prstGeom>
          <a:noFill/>
          <a:ln>
            <a:noFill/>
          </a:ln>
        </p:spPr>
        <p:style>
          <a:lnRef idx="2">
            <a:schemeClr val="accent3"/>
          </a:lnRef>
          <a:fillRef idx="1001">
            <a:schemeClr val="lt1"/>
          </a:fillRef>
          <a:effectRef idx="0">
            <a:schemeClr val="accent3"/>
          </a:effectRef>
          <a:fontRef idx="minor">
            <a:schemeClr val="dk1"/>
          </a:fontRef>
        </p:style>
        <p:txBody>
          <a:bodyPr wrap="square" rtlCol="0">
            <a:spAutoFit/>
          </a:bodyPr>
          <a:lstStyle/>
          <a:p>
            <a:r>
              <a:rPr lang="tr-TR" sz="1400" dirty="0" smtClean="0">
                <a:solidFill>
                  <a:schemeClr val="accent1">
                    <a:lumMod val="75000"/>
                  </a:schemeClr>
                </a:solidFill>
                <a:latin typeface="Akrobat Bold" pitchFamily="50" charset="0"/>
              </a:rPr>
              <a:t>X2</a:t>
            </a:r>
            <a:endParaRPr lang="tr-TR" sz="1400" dirty="0">
              <a:solidFill>
                <a:schemeClr val="accent1">
                  <a:lumMod val="75000"/>
                </a:schemeClr>
              </a:solidFill>
              <a:latin typeface="Akrobat Bold" pitchFamily="50" charset="0"/>
            </a:endParaRPr>
          </a:p>
        </p:txBody>
      </p:sp>
      <p:sp>
        <p:nvSpPr>
          <p:cNvPr id="33" name="Düzgün Beşgen 32"/>
          <p:cNvSpPr/>
          <p:nvPr/>
        </p:nvSpPr>
        <p:spPr>
          <a:xfrm>
            <a:off x="134778" y="8370918"/>
            <a:ext cx="485910" cy="484981"/>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Dikdörtgen 34"/>
          <p:cNvSpPr/>
          <p:nvPr/>
        </p:nvSpPr>
        <p:spPr>
          <a:xfrm>
            <a:off x="182029" y="8393672"/>
            <a:ext cx="39626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tr-TR" sz="3000" b="1" cap="none" spc="0" dirty="0" smtClean="0">
                <a:ln w="11430"/>
                <a:solidFill>
                  <a:schemeClr val="bg1"/>
                </a:solidFill>
                <a:effectLst>
                  <a:outerShdw blurRad="50800" dist="39000" dir="5460000" algn="tl">
                    <a:srgbClr val="000000">
                      <a:alpha val="38000"/>
                    </a:srgbClr>
                  </a:outerShdw>
                </a:effectLst>
              </a:rPr>
              <a:t>2</a:t>
            </a:r>
            <a:endParaRPr lang="tr-TR" sz="3000" b="1" cap="none" spc="0" dirty="0">
              <a:ln w="11430"/>
              <a:solidFill>
                <a:schemeClr val="bg1"/>
              </a:solidFill>
              <a:effectLst>
                <a:outerShdw blurRad="50800" dist="39000" dir="5460000" algn="tl">
                  <a:srgbClr val="000000">
                    <a:alpha val="38000"/>
                  </a:srgbClr>
                </a:outerShdw>
              </a:effectLst>
            </a:endParaRPr>
          </a:p>
        </p:txBody>
      </p:sp>
      <p:pic>
        <p:nvPicPr>
          <p:cNvPr id="37"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4584"/>
            <a:ext cx="692696" cy="81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274930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p:cNvSpPr txBox="1"/>
          <p:nvPr/>
        </p:nvSpPr>
        <p:spPr>
          <a:xfrm>
            <a:off x="836712" y="323528"/>
            <a:ext cx="6048672" cy="369332"/>
          </a:xfrm>
          <a:prstGeom prst="rect">
            <a:avLst/>
          </a:prstGeom>
          <a:noFill/>
        </p:spPr>
        <p:txBody>
          <a:bodyPr wrap="square" rtlCol="0">
            <a:spAutoFit/>
          </a:bodyPr>
          <a:lstStyle/>
          <a:p>
            <a:pPr algn="ctr"/>
            <a:r>
              <a:rPr lang="tr-TR" dirty="0" smtClean="0">
                <a:latin typeface="Akrobat Bold" pitchFamily="50" charset="0"/>
              </a:rPr>
              <a:t>PARABOL DENKLEMLERİNİ BAĞINTILAR İLE YAZMA</a:t>
            </a:r>
          </a:p>
        </p:txBody>
      </p:sp>
      <p:sp>
        <p:nvSpPr>
          <p:cNvPr id="17" name="Metin kutusu 16"/>
          <p:cNvSpPr txBox="1"/>
          <p:nvPr/>
        </p:nvSpPr>
        <p:spPr>
          <a:xfrm>
            <a:off x="0" y="-36512"/>
            <a:ext cx="6858000" cy="292388"/>
          </a:xfrm>
          <a:prstGeom prst="rect">
            <a:avLst/>
          </a:prstGeom>
          <a:noFill/>
        </p:spPr>
        <p:txBody>
          <a:bodyPr wrap="square" rtlCol="0">
            <a:spAutoFit/>
          </a:bodyPr>
          <a:lstStyle/>
          <a:p>
            <a:pPr algn="ctr"/>
            <a:r>
              <a:rPr lang="tr-TR" sz="1300" dirty="0" smtClean="0">
                <a:latin typeface="Akrobat Bold" pitchFamily="50" charset="0"/>
                <a:hlinkClick r:id="rId2"/>
              </a:rPr>
              <a:t>www.ahmetcelen.com.tr</a:t>
            </a:r>
            <a:r>
              <a:rPr lang="tr-TR" sz="1300" dirty="0" smtClean="0">
                <a:latin typeface="Akrobat Bold" pitchFamily="50" charset="0"/>
              </a:rPr>
              <a:t> – Parabol Konu Anlatımı</a:t>
            </a:r>
            <a:endParaRPr lang="tr-TR" sz="1300" dirty="0">
              <a:latin typeface="Akrobat Bold" pitchFamily="50" charset="0"/>
            </a:endParaRPr>
          </a:p>
        </p:txBody>
      </p:sp>
      <p:sp>
        <p:nvSpPr>
          <p:cNvPr id="49" name="Metin kutusu 48"/>
          <p:cNvSpPr txBox="1"/>
          <p:nvPr/>
        </p:nvSpPr>
        <p:spPr>
          <a:xfrm>
            <a:off x="869737" y="2352526"/>
            <a:ext cx="3024335"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Tepe noktası bilinen parabol :</a:t>
            </a:r>
          </a:p>
          <a:p>
            <a:pPr marL="285750" indent="-285750">
              <a:buFont typeface="Arial" charset="0"/>
              <a:buChar char="•"/>
            </a:pPr>
            <a:endParaRPr lang="tr-TR" dirty="0">
              <a:latin typeface="Akrobat Bold" pitchFamily="50" charset="0"/>
            </a:endParaRPr>
          </a:p>
          <a:p>
            <a:r>
              <a:rPr lang="tr-TR" dirty="0" smtClean="0">
                <a:latin typeface="Akrobat Bold" pitchFamily="50" charset="0"/>
              </a:rPr>
              <a:t>  a . (x – r ) + k</a:t>
            </a:r>
          </a:p>
        </p:txBody>
      </p:sp>
      <p:sp>
        <p:nvSpPr>
          <p:cNvPr id="25" name="Metin kutusu 24"/>
          <p:cNvSpPr txBox="1"/>
          <p:nvPr/>
        </p:nvSpPr>
        <p:spPr>
          <a:xfrm>
            <a:off x="4042743" y="2339752"/>
            <a:ext cx="2679451" cy="92333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Kökleri bilinen parabol :</a:t>
            </a:r>
          </a:p>
          <a:p>
            <a:pPr marL="285750" indent="-285750">
              <a:buFont typeface="Arial" charset="0"/>
              <a:buChar char="•"/>
            </a:pPr>
            <a:endParaRPr lang="tr-TR" dirty="0">
              <a:latin typeface="Akrobat Bold" pitchFamily="50" charset="0"/>
            </a:endParaRPr>
          </a:p>
          <a:p>
            <a:r>
              <a:rPr lang="tr-TR" dirty="0" smtClean="0">
                <a:latin typeface="Akrobat Bold" pitchFamily="50" charset="0"/>
              </a:rPr>
              <a:t>a . ( X – X1 ) . ( X – X2)</a:t>
            </a:r>
          </a:p>
        </p:txBody>
      </p:sp>
      <p:sp>
        <p:nvSpPr>
          <p:cNvPr id="26" name="Metin kutusu 25"/>
          <p:cNvSpPr txBox="1"/>
          <p:nvPr/>
        </p:nvSpPr>
        <p:spPr>
          <a:xfrm>
            <a:off x="852238" y="692860"/>
            <a:ext cx="5889906" cy="1477328"/>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y = a x  +  b x  + c parabolünde </a:t>
            </a:r>
          </a:p>
          <a:p>
            <a:pPr marL="285750" indent="-285750">
              <a:buFont typeface="Arial" charset="0"/>
              <a:buChar char="•"/>
            </a:pPr>
            <a:endParaRPr lang="tr-TR" dirty="0">
              <a:latin typeface="Akrobat Bold" pitchFamily="50" charset="0"/>
            </a:endParaRPr>
          </a:p>
          <a:p>
            <a:r>
              <a:rPr lang="tr-TR" dirty="0" smtClean="0">
                <a:latin typeface="Akrobat Bold" pitchFamily="50" charset="0"/>
              </a:rPr>
              <a:t>a = Parabolün </a:t>
            </a:r>
            <a:r>
              <a:rPr lang="tr-TR" dirty="0" err="1" smtClean="0">
                <a:latin typeface="Akrobat Bold" pitchFamily="50" charset="0"/>
              </a:rPr>
              <a:t>başkatsayısı</a:t>
            </a:r>
            <a:endParaRPr lang="tr-TR" dirty="0" smtClean="0">
              <a:latin typeface="Akrobat Bold" pitchFamily="50" charset="0"/>
            </a:endParaRPr>
          </a:p>
          <a:p>
            <a:r>
              <a:rPr lang="tr-TR" dirty="0" smtClean="0">
                <a:latin typeface="Akrobat Bold" pitchFamily="50" charset="0"/>
              </a:rPr>
              <a:t>X1 = Parabolün 1.ci kökü </a:t>
            </a:r>
          </a:p>
          <a:p>
            <a:r>
              <a:rPr lang="tr-TR" dirty="0" smtClean="0">
                <a:latin typeface="Akrobat Bold" pitchFamily="50" charset="0"/>
              </a:rPr>
              <a:t>X2 = Parabolün 2.ci kökü</a:t>
            </a:r>
          </a:p>
        </p:txBody>
      </p:sp>
      <p:sp>
        <p:nvSpPr>
          <p:cNvPr id="32" name="Metin kutusu 31"/>
          <p:cNvSpPr txBox="1"/>
          <p:nvPr/>
        </p:nvSpPr>
        <p:spPr>
          <a:xfrm>
            <a:off x="4084447" y="683568"/>
            <a:ext cx="2944953" cy="1477328"/>
          </a:xfrm>
          <a:prstGeom prst="rect">
            <a:avLst/>
          </a:prstGeom>
          <a:noFill/>
        </p:spPr>
        <p:txBody>
          <a:bodyPr wrap="square" rtlCol="0">
            <a:spAutoFit/>
          </a:bodyPr>
          <a:lstStyle/>
          <a:p>
            <a:r>
              <a:rPr lang="tr-TR" dirty="0" smtClean="0">
                <a:latin typeface="Akrobat Bold" pitchFamily="50" charset="0"/>
              </a:rPr>
              <a:t>apsis = x</a:t>
            </a:r>
          </a:p>
          <a:p>
            <a:r>
              <a:rPr lang="tr-TR" dirty="0">
                <a:latin typeface="Akrobat Bold" pitchFamily="50" charset="0"/>
              </a:rPr>
              <a:t>o</a:t>
            </a:r>
            <a:r>
              <a:rPr lang="tr-TR" dirty="0" smtClean="0">
                <a:latin typeface="Akrobat Bold" pitchFamily="50" charset="0"/>
              </a:rPr>
              <a:t>rdinat = y</a:t>
            </a:r>
            <a:endParaRPr lang="tr-TR" dirty="0">
              <a:latin typeface="Akrobat Bold" pitchFamily="50" charset="0"/>
            </a:endParaRPr>
          </a:p>
          <a:p>
            <a:r>
              <a:rPr lang="tr-TR" dirty="0" smtClean="0">
                <a:latin typeface="Akrobat Bold" pitchFamily="50" charset="0"/>
              </a:rPr>
              <a:t/>
            </a:r>
            <a:br>
              <a:rPr lang="tr-TR" dirty="0" smtClean="0">
                <a:latin typeface="Akrobat Bold" pitchFamily="50" charset="0"/>
              </a:rPr>
            </a:br>
            <a:r>
              <a:rPr lang="tr-TR" dirty="0" smtClean="0">
                <a:latin typeface="Akrobat Bold" pitchFamily="50" charset="0"/>
              </a:rPr>
              <a:t>r = Tepe noktasının apsisi</a:t>
            </a:r>
          </a:p>
          <a:p>
            <a:r>
              <a:rPr lang="tr-TR" dirty="0" smtClean="0">
                <a:latin typeface="Akrobat Bold" pitchFamily="50" charset="0"/>
              </a:rPr>
              <a:t>k = Tepe noktasının ordinatı</a:t>
            </a:r>
          </a:p>
        </p:txBody>
      </p:sp>
      <p:sp>
        <p:nvSpPr>
          <p:cNvPr id="33" name="Metin kutusu 32"/>
          <p:cNvSpPr txBox="1"/>
          <p:nvPr/>
        </p:nvSpPr>
        <p:spPr>
          <a:xfrm>
            <a:off x="1772816" y="2839453"/>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35" name="Metin kutusu 34"/>
          <p:cNvSpPr txBox="1"/>
          <p:nvPr/>
        </p:nvSpPr>
        <p:spPr>
          <a:xfrm>
            <a:off x="836712" y="3419872"/>
            <a:ext cx="5889906" cy="216982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Parantez kare açılımını hatırlayalım:</a:t>
            </a:r>
          </a:p>
          <a:p>
            <a:endParaRPr lang="tr-TR" dirty="0">
              <a:latin typeface="Akrobat Bold" pitchFamily="50" charset="0"/>
            </a:endParaRPr>
          </a:p>
          <a:p>
            <a:r>
              <a:rPr lang="tr-TR" dirty="0" smtClean="0">
                <a:latin typeface="Akrobat Bold" pitchFamily="50" charset="0"/>
              </a:rPr>
              <a:t>( a + b ) =   a   +  2ab  +  b </a:t>
            </a:r>
          </a:p>
          <a:p>
            <a:r>
              <a:rPr lang="tr-TR" dirty="0">
                <a:latin typeface="Akrobat Bold" pitchFamily="50" charset="0"/>
              </a:rPr>
              <a:t>( a </a:t>
            </a:r>
            <a:r>
              <a:rPr lang="tr-TR" dirty="0" smtClean="0">
                <a:latin typeface="Akrobat Bold" pitchFamily="50" charset="0"/>
              </a:rPr>
              <a:t>-  </a:t>
            </a:r>
            <a:r>
              <a:rPr lang="tr-TR" dirty="0">
                <a:latin typeface="Akrobat Bold" pitchFamily="50" charset="0"/>
              </a:rPr>
              <a:t>b ) =   a   </a:t>
            </a:r>
            <a:r>
              <a:rPr lang="tr-TR" dirty="0" smtClean="0">
                <a:latin typeface="Akrobat Bold" pitchFamily="50" charset="0"/>
              </a:rPr>
              <a:t>-  2ab  +  </a:t>
            </a:r>
            <a:r>
              <a:rPr lang="tr-TR" dirty="0">
                <a:latin typeface="Akrobat Bold" pitchFamily="50" charset="0"/>
              </a:rPr>
              <a:t>b </a:t>
            </a:r>
          </a:p>
          <a:p>
            <a:endParaRPr lang="tr-TR" dirty="0">
              <a:latin typeface="Akrobat Bold" pitchFamily="50" charset="0"/>
            </a:endParaRPr>
          </a:p>
          <a:p>
            <a:r>
              <a:rPr lang="tr-TR" sz="1500" dirty="0" smtClean="0">
                <a:latin typeface="Akrobat Bold" pitchFamily="50" charset="0"/>
              </a:rPr>
              <a:t>Birinci terimin karesi + İkinci terimin karesi + İki terimin çarpımının 2 katı parantez kare açılımıdır. Çarpanlara ayırma matematikte göz ardı edilmemesi gereken önemli kısımlardır.</a:t>
            </a:r>
          </a:p>
        </p:txBody>
      </p:sp>
      <p:sp>
        <p:nvSpPr>
          <p:cNvPr id="37" name="Metin kutusu 36"/>
          <p:cNvSpPr txBox="1"/>
          <p:nvPr/>
        </p:nvSpPr>
        <p:spPr>
          <a:xfrm>
            <a:off x="1492159" y="3881537"/>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38" name="Metin kutusu 37"/>
          <p:cNvSpPr txBox="1"/>
          <p:nvPr/>
        </p:nvSpPr>
        <p:spPr>
          <a:xfrm>
            <a:off x="1916831" y="3967077"/>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39" name="Metin kutusu 38"/>
          <p:cNvSpPr txBox="1"/>
          <p:nvPr/>
        </p:nvSpPr>
        <p:spPr>
          <a:xfrm>
            <a:off x="2964635" y="3967077"/>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40" name="Metin kutusu 39"/>
          <p:cNvSpPr txBox="1"/>
          <p:nvPr/>
        </p:nvSpPr>
        <p:spPr>
          <a:xfrm>
            <a:off x="1708184" y="683568"/>
            <a:ext cx="208648" cy="230832"/>
          </a:xfrm>
          <a:prstGeom prst="rect">
            <a:avLst/>
          </a:prstGeom>
          <a:noFill/>
        </p:spPr>
        <p:txBody>
          <a:bodyPr wrap="square" rtlCol="0">
            <a:spAutoFit/>
          </a:bodyPr>
          <a:lstStyle/>
          <a:p>
            <a:r>
              <a:rPr lang="tr-TR" sz="900" dirty="0" smtClean="0">
                <a:latin typeface="Akrobat Bold" pitchFamily="50" charset="0"/>
              </a:rPr>
              <a:t>2</a:t>
            </a:r>
          </a:p>
        </p:txBody>
      </p:sp>
      <p:pic>
        <p:nvPicPr>
          <p:cNvPr id="41" name="Resim 4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3136" y="3567129"/>
            <a:ext cx="1935194" cy="1076879"/>
          </a:xfrm>
          <a:prstGeom prst="rect">
            <a:avLst/>
          </a:prstGeom>
          <a:ln>
            <a:noFill/>
          </a:ln>
          <a:effectLst>
            <a:softEdge rad="112500"/>
          </a:effectLst>
        </p:spPr>
      </p:pic>
      <p:sp>
        <p:nvSpPr>
          <p:cNvPr id="42" name="Metin kutusu 41"/>
          <p:cNvSpPr txBox="1"/>
          <p:nvPr/>
        </p:nvSpPr>
        <p:spPr>
          <a:xfrm>
            <a:off x="836712" y="5664894"/>
            <a:ext cx="5889906" cy="92333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Sorularda yukarıda verdiğimiz bağıntılar kimi zaman yetersiz gelecektir. Grafiklerde parabolün kestiği noktalar bizim için ipuçları oluşturmaktadır. M noktası parabolün üzerindedir.</a:t>
            </a:r>
          </a:p>
        </p:txBody>
      </p:sp>
      <p:pic>
        <p:nvPicPr>
          <p:cNvPr id="4" name="Resim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0363" y="6594390"/>
            <a:ext cx="2871302" cy="2370098"/>
          </a:xfrm>
          <a:prstGeom prst="rect">
            <a:avLst/>
          </a:prstGeom>
        </p:spPr>
      </p:pic>
      <p:sp>
        <p:nvSpPr>
          <p:cNvPr id="5" name="Serbest Form 4"/>
          <p:cNvSpPr/>
          <p:nvPr/>
        </p:nvSpPr>
        <p:spPr>
          <a:xfrm>
            <a:off x="1421027" y="7105094"/>
            <a:ext cx="1791730" cy="1421068"/>
          </a:xfrm>
          <a:custGeom>
            <a:avLst/>
            <a:gdLst>
              <a:gd name="connsiteX0" fmla="*/ 0 w 1791730"/>
              <a:gd name="connsiteY0" fmla="*/ 1421068 h 1421068"/>
              <a:gd name="connsiteX1" fmla="*/ 729049 w 1791730"/>
              <a:gd name="connsiteY1" fmla="*/ 41 h 1421068"/>
              <a:gd name="connsiteX2" fmla="*/ 1791730 w 1791730"/>
              <a:gd name="connsiteY2" fmla="*/ 1371641 h 1421068"/>
            </a:gdLst>
            <a:ahLst/>
            <a:cxnLst>
              <a:cxn ang="0">
                <a:pos x="connsiteX0" y="connsiteY0"/>
              </a:cxn>
              <a:cxn ang="0">
                <a:pos x="connsiteX1" y="connsiteY1"/>
              </a:cxn>
              <a:cxn ang="0">
                <a:pos x="connsiteX2" y="connsiteY2"/>
              </a:cxn>
            </a:cxnLst>
            <a:rect l="l" t="t" r="r" b="b"/>
            <a:pathLst>
              <a:path w="1791730" h="1421068">
                <a:moveTo>
                  <a:pt x="0" y="1421068"/>
                </a:moveTo>
                <a:cubicBezTo>
                  <a:pt x="215213" y="714673"/>
                  <a:pt x="430427" y="8279"/>
                  <a:pt x="729049" y="41"/>
                </a:cubicBezTo>
                <a:cubicBezTo>
                  <a:pt x="1027671" y="-8197"/>
                  <a:pt x="1713471" y="1215122"/>
                  <a:pt x="1791730" y="1371641"/>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3" name="Metin kutusu 42"/>
          <p:cNvSpPr txBox="1"/>
          <p:nvPr/>
        </p:nvSpPr>
        <p:spPr>
          <a:xfrm>
            <a:off x="1124744" y="6876256"/>
            <a:ext cx="2952328" cy="369332"/>
          </a:xfrm>
          <a:prstGeom prst="rect">
            <a:avLst/>
          </a:prstGeom>
          <a:noFill/>
        </p:spPr>
        <p:txBody>
          <a:bodyPr wrap="square" rtlCol="0">
            <a:spAutoFit/>
          </a:bodyPr>
          <a:lstStyle/>
          <a:p>
            <a:pPr algn="ctr"/>
            <a:r>
              <a:rPr lang="tr-TR" dirty="0" smtClean="0">
                <a:solidFill>
                  <a:srgbClr val="00B050"/>
                </a:solidFill>
                <a:latin typeface="Akrobat Bold" pitchFamily="50" charset="0"/>
              </a:rPr>
              <a:t>M(0,9)</a:t>
            </a:r>
          </a:p>
        </p:txBody>
      </p:sp>
      <p:sp>
        <p:nvSpPr>
          <p:cNvPr id="50" name="Metin kutusu 49"/>
          <p:cNvSpPr txBox="1"/>
          <p:nvPr/>
        </p:nvSpPr>
        <p:spPr>
          <a:xfrm>
            <a:off x="3808214" y="6717139"/>
            <a:ext cx="3005162" cy="2031325"/>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marL="285750" indent="-285750">
              <a:buFont typeface="Arial" charset="0"/>
              <a:buChar char="•"/>
            </a:pPr>
            <a:r>
              <a:rPr lang="tr-TR" dirty="0" smtClean="0">
                <a:latin typeface="Akrobat Bold" pitchFamily="50" charset="0"/>
              </a:rPr>
              <a:t>M Noktası parabolü sağlamalıdır.</a:t>
            </a:r>
          </a:p>
          <a:p>
            <a:pPr marL="285750" indent="-285750">
              <a:buFont typeface="Arial" charset="0"/>
              <a:buChar char="•"/>
            </a:pPr>
            <a:r>
              <a:rPr lang="tr-TR" dirty="0" smtClean="0">
                <a:latin typeface="Akrobat Bold" pitchFamily="50" charset="0"/>
              </a:rPr>
              <a:t>M (0,9) x=0  ve  y= 9</a:t>
            </a:r>
            <a:endParaRPr lang="tr-TR" dirty="0">
              <a:latin typeface="Akrobat Bold" pitchFamily="50" charset="0"/>
            </a:endParaRPr>
          </a:p>
          <a:p>
            <a:pPr marL="285750" indent="-285750">
              <a:buFont typeface="Arial" charset="0"/>
              <a:buChar char="•"/>
            </a:pPr>
            <a:r>
              <a:rPr lang="tr-TR" dirty="0" smtClean="0">
                <a:latin typeface="Akrobat Bold" pitchFamily="50" charset="0"/>
              </a:rPr>
              <a:t>Denklemde x = 0 verilirse sonuç (y) = 9 olmalıdır. </a:t>
            </a:r>
          </a:p>
          <a:p>
            <a:pPr marL="285750" indent="-285750">
              <a:buFont typeface="Arial" charset="0"/>
              <a:buChar char="•"/>
            </a:pPr>
            <a:r>
              <a:rPr lang="tr-TR" dirty="0" smtClean="0">
                <a:latin typeface="Akrobat Bold" pitchFamily="50" charset="0"/>
              </a:rPr>
              <a:t>Bu bağıntı ile </a:t>
            </a:r>
            <a:r>
              <a:rPr lang="tr-TR" dirty="0" err="1" smtClean="0">
                <a:latin typeface="Akrobat Bold" pitchFamily="50" charset="0"/>
              </a:rPr>
              <a:t>başkatsayılar</a:t>
            </a:r>
            <a:endParaRPr lang="tr-TR" dirty="0" smtClean="0">
              <a:latin typeface="Akrobat Bold" pitchFamily="50" charset="0"/>
            </a:endParaRPr>
          </a:p>
          <a:p>
            <a:r>
              <a:rPr lang="tr-TR" dirty="0" smtClean="0">
                <a:latin typeface="Akrobat Bold" pitchFamily="50" charset="0"/>
              </a:rPr>
              <a:t>bulunabilmektedir. </a:t>
            </a:r>
          </a:p>
        </p:txBody>
      </p:sp>
      <p:sp>
        <p:nvSpPr>
          <p:cNvPr id="21" name="Düzgün Beşgen 20"/>
          <p:cNvSpPr/>
          <p:nvPr/>
        </p:nvSpPr>
        <p:spPr>
          <a:xfrm>
            <a:off x="134778" y="8370918"/>
            <a:ext cx="485910" cy="484981"/>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2" name="Dikdörtgen 21"/>
          <p:cNvSpPr/>
          <p:nvPr/>
        </p:nvSpPr>
        <p:spPr>
          <a:xfrm>
            <a:off x="182029" y="8393672"/>
            <a:ext cx="39626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tr-TR" sz="3000" b="1" cap="none" spc="0" dirty="0" smtClean="0">
                <a:ln w="11430"/>
                <a:solidFill>
                  <a:schemeClr val="bg1"/>
                </a:solidFill>
                <a:effectLst>
                  <a:outerShdw blurRad="50800" dist="39000" dir="5460000" algn="tl">
                    <a:srgbClr val="000000">
                      <a:alpha val="38000"/>
                    </a:srgbClr>
                  </a:outerShdw>
                </a:effectLst>
              </a:rPr>
              <a:t>3</a:t>
            </a:r>
            <a:endParaRPr lang="tr-TR" sz="3000" b="1" cap="none" spc="0" dirty="0">
              <a:ln w="11430"/>
              <a:solidFill>
                <a:schemeClr val="bg1"/>
              </a:solidFill>
              <a:effectLst>
                <a:outerShdw blurRad="50800" dist="39000" dir="5460000" algn="tl">
                  <a:srgbClr val="000000">
                    <a:alpha val="38000"/>
                  </a:srgbClr>
                </a:outerShdw>
              </a:effectLst>
            </a:endParaRPr>
          </a:p>
        </p:txBody>
      </p:sp>
      <p:sp>
        <p:nvSpPr>
          <p:cNvPr id="23" name="Metin kutusu 22"/>
          <p:cNvSpPr txBox="1"/>
          <p:nvPr/>
        </p:nvSpPr>
        <p:spPr>
          <a:xfrm>
            <a:off x="1484784" y="4186748"/>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24" name="Metin kutusu 23"/>
          <p:cNvSpPr txBox="1"/>
          <p:nvPr/>
        </p:nvSpPr>
        <p:spPr>
          <a:xfrm>
            <a:off x="1916832" y="4269160"/>
            <a:ext cx="2944953" cy="230832"/>
          </a:xfrm>
          <a:prstGeom prst="rect">
            <a:avLst/>
          </a:prstGeom>
          <a:noFill/>
        </p:spPr>
        <p:txBody>
          <a:bodyPr wrap="square" rtlCol="0">
            <a:spAutoFit/>
          </a:bodyPr>
          <a:lstStyle/>
          <a:p>
            <a:r>
              <a:rPr lang="tr-TR" sz="900" dirty="0" smtClean="0">
                <a:latin typeface="Akrobat Bold" pitchFamily="50" charset="0"/>
              </a:rPr>
              <a:t>2</a:t>
            </a:r>
          </a:p>
        </p:txBody>
      </p:sp>
      <p:sp>
        <p:nvSpPr>
          <p:cNvPr id="27" name="Metin kutusu 26"/>
          <p:cNvSpPr txBox="1"/>
          <p:nvPr/>
        </p:nvSpPr>
        <p:spPr>
          <a:xfrm>
            <a:off x="2924944" y="4211960"/>
            <a:ext cx="2944953" cy="230832"/>
          </a:xfrm>
          <a:prstGeom prst="rect">
            <a:avLst/>
          </a:prstGeom>
          <a:noFill/>
        </p:spPr>
        <p:txBody>
          <a:bodyPr wrap="square" rtlCol="0">
            <a:spAutoFit/>
          </a:bodyPr>
          <a:lstStyle/>
          <a:p>
            <a:r>
              <a:rPr lang="tr-TR" sz="900" dirty="0" smtClean="0">
                <a:latin typeface="Akrobat Bold" pitchFamily="50" charset="0"/>
              </a:rPr>
              <a:t>2</a:t>
            </a:r>
          </a:p>
        </p:txBody>
      </p:sp>
      <p:pic>
        <p:nvPicPr>
          <p:cNvPr id="2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65" y="16597"/>
            <a:ext cx="692696" cy="81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527472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Metin kutusu 16"/>
          <p:cNvSpPr txBox="1"/>
          <p:nvPr/>
        </p:nvSpPr>
        <p:spPr>
          <a:xfrm>
            <a:off x="0" y="-36512"/>
            <a:ext cx="6858000" cy="292388"/>
          </a:xfrm>
          <a:prstGeom prst="rect">
            <a:avLst/>
          </a:prstGeom>
          <a:noFill/>
        </p:spPr>
        <p:txBody>
          <a:bodyPr wrap="square" rtlCol="0">
            <a:spAutoFit/>
          </a:bodyPr>
          <a:lstStyle/>
          <a:p>
            <a:pPr algn="ctr"/>
            <a:r>
              <a:rPr lang="tr-TR" sz="1300" dirty="0" smtClean="0">
                <a:latin typeface="Akrobat Bold" pitchFamily="50" charset="0"/>
                <a:hlinkClick r:id="rId2"/>
              </a:rPr>
              <a:t>www.ahmetcelen.com.tr</a:t>
            </a:r>
            <a:r>
              <a:rPr lang="tr-TR" sz="1300" dirty="0" smtClean="0">
                <a:latin typeface="Akrobat Bold" pitchFamily="50" charset="0"/>
              </a:rPr>
              <a:t> – Parabol Konu Anlatımı</a:t>
            </a:r>
            <a:endParaRPr lang="tr-TR" sz="1300" dirty="0">
              <a:latin typeface="Akrobat Bold" pitchFamily="50" charset="0"/>
            </a:endParaRPr>
          </a:p>
        </p:txBody>
      </p:sp>
      <p:sp>
        <p:nvSpPr>
          <p:cNvPr id="26" name="Metin kutusu 25"/>
          <p:cNvSpPr txBox="1"/>
          <p:nvPr/>
        </p:nvSpPr>
        <p:spPr>
          <a:xfrm>
            <a:off x="852238" y="362148"/>
            <a:ext cx="5889906" cy="369332"/>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tr-TR" dirty="0" smtClean="0">
                <a:latin typeface="Akrobat Bold" pitchFamily="50" charset="0"/>
              </a:rPr>
              <a:t>( </a:t>
            </a:r>
            <a:r>
              <a:rPr lang="tr-TR" dirty="0" err="1" smtClean="0">
                <a:latin typeface="Akrobat Bold" pitchFamily="50" charset="0"/>
              </a:rPr>
              <a:t>Diskriminant</a:t>
            </a:r>
            <a:r>
              <a:rPr lang="tr-TR" dirty="0" smtClean="0">
                <a:latin typeface="Akrobat Bold" pitchFamily="50" charset="0"/>
              </a:rPr>
              <a:t> = Delta = </a:t>
            </a:r>
            <a:r>
              <a:rPr lang="el-GR" dirty="0" smtClean="0"/>
              <a:t>Δ</a:t>
            </a:r>
            <a:r>
              <a:rPr lang="tr-TR" dirty="0" smtClean="0"/>
              <a:t> = b  - 4ac  ) </a:t>
            </a:r>
            <a:r>
              <a:rPr lang="tr-TR" dirty="0" smtClean="0">
                <a:latin typeface="Akrobat Bold" pitchFamily="50" charset="0"/>
              </a:rPr>
              <a:t> –  Parabol İlişkisi </a:t>
            </a:r>
          </a:p>
        </p:txBody>
      </p:sp>
      <p:pic>
        <p:nvPicPr>
          <p:cNvPr id="3" name="Resim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238" y="899592"/>
            <a:ext cx="2864794" cy="2364726"/>
          </a:xfrm>
          <a:prstGeom prst="rect">
            <a:avLst/>
          </a:prstGeom>
        </p:spPr>
      </p:pic>
      <p:pic>
        <p:nvPicPr>
          <p:cNvPr id="22" name="Resim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238" y="3491880"/>
            <a:ext cx="2864794" cy="2364726"/>
          </a:xfrm>
          <a:prstGeom prst="rect">
            <a:avLst/>
          </a:prstGeom>
        </p:spPr>
      </p:pic>
      <p:pic>
        <p:nvPicPr>
          <p:cNvPr id="23" name="Resim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85724" y="6300192"/>
            <a:ext cx="2864794" cy="2364726"/>
          </a:xfrm>
          <a:prstGeom prst="rect">
            <a:avLst/>
          </a:prstGeom>
        </p:spPr>
      </p:pic>
      <p:sp>
        <p:nvSpPr>
          <p:cNvPr id="7" name="Serbest Form 6"/>
          <p:cNvSpPr/>
          <p:nvPr/>
        </p:nvSpPr>
        <p:spPr>
          <a:xfrm>
            <a:off x="1796543" y="1763688"/>
            <a:ext cx="976184" cy="860210"/>
          </a:xfrm>
          <a:custGeom>
            <a:avLst/>
            <a:gdLst>
              <a:gd name="connsiteX0" fmla="*/ 0 w 1519881"/>
              <a:gd name="connsiteY0" fmla="*/ 0 h 1458098"/>
              <a:gd name="connsiteX1" fmla="*/ 716691 w 1519881"/>
              <a:gd name="connsiteY1" fmla="*/ 1458098 h 1458098"/>
              <a:gd name="connsiteX2" fmla="*/ 1519881 w 1519881"/>
              <a:gd name="connsiteY2" fmla="*/ 0 h 1458098"/>
            </a:gdLst>
            <a:ahLst/>
            <a:cxnLst>
              <a:cxn ang="0">
                <a:pos x="connsiteX0" y="connsiteY0"/>
              </a:cxn>
              <a:cxn ang="0">
                <a:pos x="connsiteX1" y="connsiteY1"/>
              </a:cxn>
              <a:cxn ang="0">
                <a:pos x="connsiteX2" y="connsiteY2"/>
              </a:cxn>
            </a:cxnLst>
            <a:rect l="l" t="t" r="r" b="b"/>
            <a:pathLst>
              <a:path w="1519881" h="1458098">
                <a:moveTo>
                  <a:pt x="0" y="0"/>
                </a:moveTo>
                <a:cubicBezTo>
                  <a:pt x="231689" y="729049"/>
                  <a:pt x="463378" y="1458098"/>
                  <a:pt x="716691" y="1458098"/>
                </a:cubicBezTo>
                <a:cubicBezTo>
                  <a:pt x="970004" y="1458098"/>
                  <a:pt x="1357184" y="168876"/>
                  <a:pt x="151988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 name="Serbest Form 7"/>
          <p:cNvSpPr/>
          <p:nvPr/>
        </p:nvSpPr>
        <p:spPr>
          <a:xfrm>
            <a:off x="1140224" y="3779912"/>
            <a:ext cx="852616" cy="951473"/>
          </a:xfrm>
          <a:custGeom>
            <a:avLst/>
            <a:gdLst>
              <a:gd name="connsiteX0" fmla="*/ 0 w 852616"/>
              <a:gd name="connsiteY0" fmla="*/ 0 h 951473"/>
              <a:gd name="connsiteX1" fmla="*/ 407773 w 852616"/>
              <a:gd name="connsiteY1" fmla="*/ 951470 h 951473"/>
              <a:gd name="connsiteX2" fmla="*/ 852616 w 852616"/>
              <a:gd name="connsiteY2" fmla="*/ 12357 h 951473"/>
            </a:gdLst>
            <a:ahLst/>
            <a:cxnLst>
              <a:cxn ang="0">
                <a:pos x="connsiteX0" y="connsiteY0"/>
              </a:cxn>
              <a:cxn ang="0">
                <a:pos x="connsiteX1" y="connsiteY1"/>
              </a:cxn>
              <a:cxn ang="0">
                <a:pos x="connsiteX2" y="connsiteY2"/>
              </a:cxn>
            </a:cxnLst>
            <a:rect l="l" t="t" r="r" b="b"/>
            <a:pathLst>
              <a:path w="852616" h="951473">
                <a:moveTo>
                  <a:pt x="0" y="0"/>
                </a:moveTo>
                <a:cubicBezTo>
                  <a:pt x="132835" y="474705"/>
                  <a:pt x="265670" y="949411"/>
                  <a:pt x="407773" y="951470"/>
                </a:cubicBezTo>
                <a:cubicBezTo>
                  <a:pt x="549876" y="953529"/>
                  <a:pt x="751703" y="140043"/>
                  <a:pt x="852616" y="1235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Serbest Form 28"/>
          <p:cNvSpPr/>
          <p:nvPr/>
        </p:nvSpPr>
        <p:spPr>
          <a:xfrm>
            <a:off x="1587844" y="6444208"/>
            <a:ext cx="852616" cy="951473"/>
          </a:xfrm>
          <a:custGeom>
            <a:avLst/>
            <a:gdLst>
              <a:gd name="connsiteX0" fmla="*/ 0 w 852616"/>
              <a:gd name="connsiteY0" fmla="*/ 0 h 951473"/>
              <a:gd name="connsiteX1" fmla="*/ 407773 w 852616"/>
              <a:gd name="connsiteY1" fmla="*/ 951470 h 951473"/>
              <a:gd name="connsiteX2" fmla="*/ 852616 w 852616"/>
              <a:gd name="connsiteY2" fmla="*/ 12357 h 951473"/>
            </a:gdLst>
            <a:ahLst/>
            <a:cxnLst>
              <a:cxn ang="0">
                <a:pos x="connsiteX0" y="connsiteY0"/>
              </a:cxn>
              <a:cxn ang="0">
                <a:pos x="connsiteX1" y="connsiteY1"/>
              </a:cxn>
              <a:cxn ang="0">
                <a:pos x="connsiteX2" y="connsiteY2"/>
              </a:cxn>
            </a:cxnLst>
            <a:rect l="l" t="t" r="r" b="b"/>
            <a:pathLst>
              <a:path w="852616" h="951473">
                <a:moveTo>
                  <a:pt x="0" y="0"/>
                </a:moveTo>
                <a:cubicBezTo>
                  <a:pt x="132835" y="474705"/>
                  <a:pt x="265670" y="949411"/>
                  <a:pt x="407773" y="951470"/>
                </a:cubicBezTo>
                <a:cubicBezTo>
                  <a:pt x="549876" y="953529"/>
                  <a:pt x="751703" y="140043"/>
                  <a:pt x="852616" y="12357"/>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0" name="Metin kutusu 29"/>
          <p:cNvSpPr txBox="1"/>
          <p:nvPr/>
        </p:nvSpPr>
        <p:spPr>
          <a:xfrm>
            <a:off x="3956144" y="873134"/>
            <a:ext cx="2786000" cy="1523494"/>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l-GR" dirty="0" smtClean="0"/>
              <a:t>Δ</a:t>
            </a:r>
            <a:r>
              <a:rPr lang="tr-TR" dirty="0" smtClean="0"/>
              <a:t> &gt; 0</a:t>
            </a:r>
            <a:endParaRPr lang="tr-TR" dirty="0">
              <a:latin typeface="Akrobat Bold" pitchFamily="50" charset="0"/>
            </a:endParaRPr>
          </a:p>
          <a:p>
            <a:pPr marL="285750" indent="-285750">
              <a:buFont typeface="Arial" charset="0"/>
              <a:buChar char="•"/>
            </a:pPr>
            <a:r>
              <a:rPr lang="tr-TR" sz="1500" dirty="0" smtClean="0"/>
              <a:t>Parabol x eksenini 2 farklı noktada keser. </a:t>
            </a:r>
          </a:p>
          <a:p>
            <a:pPr marL="285750" indent="-285750">
              <a:buFont typeface="Arial" charset="0"/>
              <a:buChar char="•"/>
            </a:pPr>
            <a:r>
              <a:rPr lang="tr-TR" sz="1500" dirty="0" smtClean="0"/>
              <a:t>2 Farklı kök bulunur.</a:t>
            </a:r>
          </a:p>
          <a:p>
            <a:pPr marL="285750" indent="-285750">
              <a:buFont typeface="Arial" charset="0"/>
              <a:buChar char="•"/>
            </a:pPr>
            <a:r>
              <a:rPr lang="tr-TR" sz="1500" dirty="0" smtClean="0"/>
              <a:t>Bulunan kökler </a:t>
            </a:r>
            <a:r>
              <a:rPr lang="tr-TR" sz="1500" dirty="0" err="1" smtClean="0"/>
              <a:t>gerçel</a:t>
            </a:r>
            <a:r>
              <a:rPr lang="tr-TR" sz="1500" dirty="0" smtClean="0"/>
              <a:t> sayılar kümesine ait köklerdir.</a:t>
            </a:r>
          </a:p>
        </p:txBody>
      </p:sp>
      <p:cxnSp>
        <p:nvCxnSpPr>
          <p:cNvPr id="10" name="Düz Bağlayıcı 9"/>
          <p:cNvCxnSpPr/>
          <p:nvPr/>
        </p:nvCxnSpPr>
        <p:spPr>
          <a:xfrm>
            <a:off x="764704" y="3347864"/>
            <a:ext cx="60932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Düz Bağlayıcı 33"/>
          <p:cNvCxnSpPr/>
          <p:nvPr/>
        </p:nvCxnSpPr>
        <p:spPr>
          <a:xfrm>
            <a:off x="750543" y="6012160"/>
            <a:ext cx="6093296" cy="0"/>
          </a:xfrm>
          <a:prstGeom prst="line">
            <a:avLst/>
          </a:prstGeom>
        </p:spPr>
        <p:style>
          <a:lnRef idx="1">
            <a:schemeClr val="accent1"/>
          </a:lnRef>
          <a:fillRef idx="0">
            <a:schemeClr val="accent1"/>
          </a:fillRef>
          <a:effectRef idx="0">
            <a:schemeClr val="accent1"/>
          </a:effectRef>
          <a:fontRef idx="minor">
            <a:schemeClr val="tx1"/>
          </a:fontRef>
        </p:style>
      </p:cxnSp>
      <p:sp>
        <p:nvSpPr>
          <p:cNvPr id="36" name="Metin kutusu 35"/>
          <p:cNvSpPr txBox="1"/>
          <p:nvPr/>
        </p:nvSpPr>
        <p:spPr>
          <a:xfrm>
            <a:off x="3956144" y="3491880"/>
            <a:ext cx="2786000" cy="1754326"/>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l-GR" dirty="0" smtClean="0"/>
              <a:t>Δ</a:t>
            </a:r>
            <a:r>
              <a:rPr lang="tr-TR" dirty="0" smtClean="0"/>
              <a:t> =  0</a:t>
            </a:r>
            <a:endParaRPr lang="tr-TR" dirty="0">
              <a:latin typeface="Akrobat Bold" pitchFamily="50" charset="0"/>
            </a:endParaRPr>
          </a:p>
          <a:p>
            <a:pPr marL="285750" indent="-285750">
              <a:buFont typeface="Arial" charset="0"/>
              <a:buChar char="•"/>
            </a:pPr>
            <a:r>
              <a:rPr lang="tr-TR" sz="1500" dirty="0" smtClean="0"/>
              <a:t>Parabol x eksenini sadece </a:t>
            </a:r>
            <a:r>
              <a:rPr lang="tr-TR" sz="1500" b="1" dirty="0" smtClean="0"/>
              <a:t>1</a:t>
            </a:r>
            <a:r>
              <a:rPr lang="tr-TR" sz="1500" dirty="0" smtClean="0"/>
              <a:t> yerde keser. </a:t>
            </a:r>
          </a:p>
          <a:p>
            <a:pPr marL="285750" indent="-285750">
              <a:buFont typeface="Arial" charset="0"/>
              <a:buChar char="•"/>
            </a:pPr>
            <a:r>
              <a:rPr lang="tr-TR" sz="1500" dirty="0" smtClean="0"/>
              <a:t> Çift katlı köktür. Yani 2 tane aynı kök bulunur.</a:t>
            </a:r>
          </a:p>
          <a:p>
            <a:pPr marL="285750" indent="-285750">
              <a:buFont typeface="Arial" charset="0"/>
              <a:buChar char="•"/>
            </a:pPr>
            <a:r>
              <a:rPr lang="tr-TR" sz="1500" dirty="0" smtClean="0"/>
              <a:t>Sorularda delta = 0 demez, </a:t>
            </a:r>
            <a:r>
              <a:rPr lang="tr-TR" sz="1500" b="1" dirty="0" smtClean="0"/>
              <a:t>teğet</a:t>
            </a:r>
            <a:r>
              <a:rPr lang="tr-TR" sz="1500" dirty="0" smtClean="0"/>
              <a:t> diye nitelendirir.</a:t>
            </a:r>
          </a:p>
        </p:txBody>
      </p:sp>
      <p:sp>
        <p:nvSpPr>
          <p:cNvPr id="44" name="Metin kutusu 43"/>
          <p:cNvSpPr txBox="1"/>
          <p:nvPr/>
        </p:nvSpPr>
        <p:spPr>
          <a:xfrm>
            <a:off x="3956144" y="6300192"/>
            <a:ext cx="2786000" cy="1985159"/>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l-GR" dirty="0" smtClean="0"/>
              <a:t>Δ</a:t>
            </a:r>
            <a:r>
              <a:rPr lang="tr-TR" dirty="0" smtClean="0"/>
              <a:t> &lt;  0</a:t>
            </a:r>
            <a:endParaRPr lang="tr-TR" dirty="0" smtClean="0">
              <a:latin typeface="Akrobat Bold" pitchFamily="50" charset="0"/>
            </a:endParaRPr>
          </a:p>
          <a:p>
            <a:pPr marL="285750" indent="-285750">
              <a:buFont typeface="Arial" charset="0"/>
              <a:buChar char="•"/>
            </a:pPr>
            <a:r>
              <a:rPr lang="tr-TR" sz="1500" dirty="0" smtClean="0"/>
              <a:t>Parabol x eksenini kesmez.</a:t>
            </a:r>
          </a:p>
          <a:p>
            <a:pPr marL="285750" indent="-285750">
              <a:buFont typeface="Arial" charset="0"/>
              <a:buChar char="•"/>
            </a:pPr>
            <a:r>
              <a:rPr lang="tr-TR" sz="1500" dirty="0" smtClean="0"/>
              <a:t>Parabolün kökü vardır fakat </a:t>
            </a:r>
            <a:r>
              <a:rPr lang="tr-TR" sz="1500" dirty="0" err="1" smtClean="0"/>
              <a:t>gerçel</a:t>
            </a:r>
            <a:r>
              <a:rPr lang="tr-TR" sz="1500" dirty="0" smtClean="0"/>
              <a:t> sayılarda değildir. Bu kökler </a:t>
            </a:r>
            <a:r>
              <a:rPr lang="tr-TR" sz="1500" dirty="0" err="1" smtClean="0"/>
              <a:t>imajinerdir</a:t>
            </a:r>
            <a:r>
              <a:rPr lang="tr-TR" sz="1500" dirty="0" smtClean="0"/>
              <a:t>. </a:t>
            </a:r>
            <a:r>
              <a:rPr lang="tr-TR" sz="1500" dirty="0" smtClean="0">
                <a:solidFill>
                  <a:schemeClr val="accent1">
                    <a:lumMod val="75000"/>
                  </a:schemeClr>
                </a:solidFill>
              </a:rPr>
              <a:t>Karmaşık sayılarda tanımlı 2 kök vardır.</a:t>
            </a:r>
          </a:p>
          <a:p>
            <a:pPr marL="285750" indent="-285750">
              <a:buFont typeface="Arial" charset="0"/>
              <a:buChar char="•"/>
            </a:pPr>
            <a:r>
              <a:rPr lang="tr-TR" sz="1500" dirty="0" smtClean="0"/>
              <a:t>Sorularda bize anlatmak istediği : </a:t>
            </a:r>
            <a:r>
              <a:rPr lang="tr-TR" sz="1500" b="1" dirty="0" smtClean="0"/>
              <a:t>reel kökü </a:t>
            </a:r>
            <a:r>
              <a:rPr lang="tr-TR" sz="1500" b="1" u="sng" dirty="0" smtClean="0"/>
              <a:t>yoktur</a:t>
            </a:r>
            <a:r>
              <a:rPr lang="tr-TR" sz="1500" b="1" dirty="0" smtClean="0"/>
              <a:t>. </a:t>
            </a:r>
          </a:p>
        </p:txBody>
      </p:sp>
      <p:sp>
        <p:nvSpPr>
          <p:cNvPr id="45" name="Metin kutusu 44"/>
          <p:cNvSpPr txBox="1"/>
          <p:nvPr/>
        </p:nvSpPr>
        <p:spPr>
          <a:xfrm>
            <a:off x="531440" y="362148"/>
            <a:ext cx="6858000" cy="230832"/>
          </a:xfrm>
          <a:prstGeom prst="rect">
            <a:avLst/>
          </a:prstGeom>
          <a:noFill/>
        </p:spPr>
        <p:txBody>
          <a:bodyPr wrap="square" rtlCol="0">
            <a:spAutoFit/>
          </a:bodyPr>
          <a:lstStyle/>
          <a:p>
            <a:pPr algn="ctr"/>
            <a:r>
              <a:rPr lang="tr-TR" sz="900" dirty="0" smtClean="0">
                <a:latin typeface="Akrobat Bold" pitchFamily="50" charset="0"/>
              </a:rPr>
              <a:t>2</a:t>
            </a:r>
            <a:endParaRPr lang="tr-TR" sz="900" dirty="0">
              <a:latin typeface="Akrobat Bold" pitchFamily="50" charset="0"/>
            </a:endParaRPr>
          </a:p>
        </p:txBody>
      </p:sp>
      <p:sp>
        <p:nvSpPr>
          <p:cNvPr id="18" name="Düzgün Beşgen 17"/>
          <p:cNvSpPr/>
          <p:nvPr/>
        </p:nvSpPr>
        <p:spPr>
          <a:xfrm>
            <a:off x="134778" y="8370918"/>
            <a:ext cx="485910" cy="484981"/>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9" name="Dikdörtgen 18"/>
          <p:cNvSpPr/>
          <p:nvPr/>
        </p:nvSpPr>
        <p:spPr>
          <a:xfrm>
            <a:off x="182029" y="8393672"/>
            <a:ext cx="39626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tr-TR" sz="3000" b="1" cap="none" spc="0" dirty="0" smtClean="0">
                <a:ln w="11430"/>
                <a:solidFill>
                  <a:schemeClr val="bg1"/>
                </a:solidFill>
                <a:effectLst>
                  <a:outerShdw blurRad="50800" dist="39000" dir="5460000" algn="tl">
                    <a:srgbClr val="000000">
                      <a:alpha val="38000"/>
                    </a:srgbClr>
                  </a:outerShdw>
                </a:effectLst>
              </a:rPr>
              <a:t>4</a:t>
            </a:r>
            <a:endParaRPr lang="tr-TR" sz="3000" b="1" cap="none" spc="0" dirty="0">
              <a:ln w="11430"/>
              <a:solidFill>
                <a:schemeClr val="bg1"/>
              </a:solidFill>
              <a:effectLst>
                <a:outerShdw blurRad="50800" dist="39000" dir="5460000" algn="tl">
                  <a:srgbClr val="000000">
                    <a:alpha val="38000"/>
                  </a:srgbClr>
                </a:outerShdw>
              </a:effectLst>
            </a:endParaRPr>
          </a:p>
        </p:txBody>
      </p:sp>
      <p:pic>
        <p:nvPicPr>
          <p:cNvPr id="2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692696" cy="81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21542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Metin kutusu 16"/>
          <p:cNvSpPr txBox="1"/>
          <p:nvPr/>
        </p:nvSpPr>
        <p:spPr>
          <a:xfrm>
            <a:off x="0" y="-36512"/>
            <a:ext cx="6858000" cy="292388"/>
          </a:xfrm>
          <a:prstGeom prst="rect">
            <a:avLst/>
          </a:prstGeom>
          <a:noFill/>
        </p:spPr>
        <p:txBody>
          <a:bodyPr wrap="square" rtlCol="0">
            <a:spAutoFit/>
          </a:bodyPr>
          <a:lstStyle/>
          <a:p>
            <a:pPr algn="ctr"/>
            <a:r>
              <a:rPr lang="tr-TR" sz="1300" dirty="0" smtClean="0">
                <a:latin typeface="Akrobat Bold" pitchFamily="50" charset="0"/>
                <a:hlinkClick r:id="rId2"/>
              </a:rPr>
              <a:t>www.ahmetcelen.com.tr</a:t>
            </a:r>
            <a:r>
              <a:rPr lang="tr-TR" sz="1300" dirty="0" smtClean="0">
                <a:latin typeface="Akrobat Bold" pitchFamily="50" charset="0"/>
              </a:rPr>
              <a:t> – Parabol Konu Anlatımı</a:t>
            </a:r>
            <a:endParaRPr lang="tr-TR" sz="1300" dirty="0">
              <a:latin typeface="Akrobat Bold" pitchFamily="50" charset="0"/>
            </a:endParaRPr>
          </a:p>
        </p:txBody>
      </p:sp>
      <p:sp>
        <p:nvSpPr>
          <p:cNvPr id="26" name="Metin kutusu 25"/>
          <p:cNvSpPr txBox="1"/>
          <p:nvPr/>
        </p:nvSpPr>
        <p:spPr>
          <a:xfrm>
            <a:off x="852238" y="362148"/>
            <a:ext cx="5889906"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tr-TR" dirty="0" smtClean="0">
                <a:latin typeface="Akrobat Bold" pitchFamily="50" charset="0"/>
              </a:rPr>
              <a:t>Parabol ile Doğru İlişkileri</a:t>
            </a:r>
          </a:p>
          <a:p>
            <a:pPr algn="ctr"/>
            <a:endParaRPr lang="tr-TR" dirty="0">
              <a:latin typeface="Akrobat Bold" pitchFamily="50" charset="0"/>
            </a:endParaRPr>
          </a:p>
          <a:p>
            <a:pPr algn="ctr"/>
            <a:r>
              <a:rPr lang="tr-TR" dirty="0" smtClean="0">
                <a:latin typeface="Akrobat Bold" pitchFamily="50" charset="0"/>
              </a:rPr>
              <a:t>Bir önceki sayfada delta ile parabol ilişkileri kısmını iyice öğrenmiş olmanız gerekiyor. Bu kısımda onunla çok benzer.</a:t>
            </a:r>
          </a:p>
        </p:txBody>
      </p:sp>
      <p:sp>
        <p:nvSpPr>
          <p:cNvPr id="18" name="Metin kutusu 17"/>
          <p:cNvSpPr txBox="1"/>
          <p:nvPr/>
        </p:nvSpPr>
        <p:spPr>
          <a:xfrm>
            <a:off x="847375" y="1714877"/>
            <a:ext cx="588990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pPr algn="ctr"/>
            <a:r>
              <a:rPr lang="tr-TR" dirty="0" smtClean="0">
                <a:latin typeface="Akrobat Bold" pitchFamily="50" charset="0"/>
              </a:rPr>
              <a:t>y = a  x   + b x   + c  ve d = m x + n doğrularını inceleyelim. </a:t>
            </a:r>
          </a:p>
        </p:txBody>
      </p:sp>
      <p:sp>
        <p:nvSpPr>
          <p:cNvPr id="19" name="Metin kutusu 18"/>
          <p:cNvSpPr txBox="1"/>
          <p:nvPr/>
        </p:nvSpPr>
        <p:spPr>
          <a:xfrm>
            <a:off x="860987" y="2267744"/>
            <a:ext cx="5889906"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tr-TR" dirty="0" smtClean="0">
                <a:latin typeface="Akrobat Bold" pitchFamily="50" charset="0"/>
              </a:rPr>
              <a:t>Parabol ile doğru ortak çözüm yapılır. Ortak çözümden kastımız </a:t>
            </a:r>
          </a:p>
          <a:p>
            <a:pPr algn="ctr"/>
            <a:r>
              <a:rPr lang="tr-TR" dirty="0" smtClean="0">
                <a:latin typeface="Akrobat Bold" pitchFamily="50" charset="0"/>
              </a:rPr>
              <a:t>parabol ile doğru eşitlenir ve hepsi bir tarafta toplanır. Yeni oluşan denklemde deltalara bakılarak yorumlar yapılabilir. Yukarıdaki ifadeyi birbirine eşitleyelim.</a:t>
            </a:r>
          </a:p>
        </p:txBody>
      </p:sp>
      <p:sp>
        <p:nvSpPr>
          <p:cNvPr id="20" name="Metin kutusu 19"/>
          <p:cNvSpPr txBox="1"/>
          <p:nvPr/>
        </p:nvSpPr>
        <p:spPr>
          <a:xfrm>
            <a:off x="867604" y="3635896"/>
            <a:ext cx="5889906" cy="2031325"/>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tr-TR" dirty="0" smtClean="0">
                <a:latin typeface="Akrobat Bold" pitchFamily="50" charset="0"/>
              </a:rPr>
              <a:t>Denklemleri eşitleyelim. </a:t>
            </a:r>
            <a:r>
              <a:rPr lang="tr-TR" dirty="0" smtClean="0">
                <a:latin typeface="Akrobat Bold" pitchFamily="50" charset="0"/>
                <a:sym typeface="Wingdings" panose="05000000000000000000" pitchFamily="2" charset="2"/>
              </a:rPr>
              <a:t></a:t>
            </a:r>
            <a:r>
              <a:rPr lang="tr-TR" dirty="0" smtClean="0">
                <a:latin typeface="Akrobat Bold" pitchFamily="50" charset="0"/>
              </a:rPr>
              <a:t>             a  x  + b x   + c  =   m x + n </a:t>
            </a:r>
          </a:p>
          <a:p>
            <a:r>
              <a:rPr lang="tr-TR" dirty="0" smtClean="0">
                <a:latin typeface="Akrobat Bold" pitchFamily="50" charset="0"/>
              </a:rPr>
              <a:t>Hepsini bir tarafta toplayalım </a:t>
            </a:r>
            <a:r>
              <a:rPr lang="tr-TR" dirty="0" smtClean="0">
                <a:latin typeface="Akrobat Bold" pitchFamily="50" charset="0"/>
                <a:sym typeface="Wingdings" panose="05000000000000000000" pitchFamily="2" charset="2"/>
              </a:rPr>
              <a:t>   a  x  + </a:t>
            </a:r>
            <a:r>
              <a:rPr lang="tr-TR" dirty="0" err="1" smtClean="0">
                <a:latin typeface="Akrobat Bold" pitchFamily="50" charset="0"/>
                <a:sym typeface="Wingdings" panose="05000000000000000000" pitchFamily="2" charset="2"/>
              </a:rPr>
              <a:t>b</a:t>
            </a:r>
            <a:r>
              <a:rPr lang="tr-TR" dirty="0" err="1" smtClean="0">
                <a:solidFill>
                  <a:srgbClr val="00B050"/>
                </a:solidFill>
                <a:latin typeface="Akrobat Bold" pitchFamily="50" charset="0"/>
                <a:sym typeface="Wingdings" panose="05000000000000000000" pitchFamily="2" charset="2"/>
              </a:rPr>
              <a:t>x</a:t>
            </a:r>
            <a:r>
              <a:rPr lang="tr-TR" dirty="0" smtClean="0">
                <a:latin typeface="Akrobat Bold" pitchFamily="50" charset="0"/>
                <a:sym typeface="Wingdings" panose="05000000000000000000" pitchFamily="2" charset="2"/>
              </a:rPr>
              <a:t> – m</a:t>
            </a:r>
            <a:r>
              <a:rPr lang="tr-TR" dirty="0" smtClean="0">
                <a:solidFill>
                  <a:srgbClr val="00B050"/>
                </a:solidFill>
                <a:latin typeface="Akrobat Bold" pitchFamily="50" charset="0"/>
                <a:sym typeface="Wingdings" panose="05000000000000000000" pitchFamily="2" charset="2"/>
              </a:rPr>
              <a:t>x</a:t>
            </a:r>
            <a:r>
              <a:rPr lang="tr-TR" dirty="0" smtClean="0">
                <a:latin typeface="Akrobat Bold" pitchFamily="50" charset="0"/>
                <a:sym typeface="Wingdings" panose="05000000000000000000" pitchFamily="2" charset="2"/>
              </a:rPr>
              <a:t> + c – n =  0</a:t>
            </a:r>
          </a:p>
          <a:p>
            <a:r>
              <a:rPr lang="tr-TR" dirty="0" smtClean="0">
                <a:solidFill>
                  <a:srgbClr val="FF0000"/>
                </a:solidFill>
                <a:latin typeface="Akrobat Bold" pitchFamily="50" charset="0"/>
                <a:sym typeface="Wingdings" panose="05000000000000000000" pitchFamily="2" charset="2"/>
              </a:rPr>
              <a:t>x</a:t>
            </a:r>
            <a:r>
              <a:rPr lang="tr-TR" dirty="0" smtClean="0">
                <a:latin typeface="Akrobat Bold" pitchFamily="50" charset="0"/>
                <a:sym typeface="Wingdings" panose="05000000000000000000" pitchFamily="2" charset="2"/>
              </a:rPr>
              <a:t> ortak parantezine alalım.         a  x  + (b-m) x + c – n</a:t>
            </a:r>
          </a:p>
          <a:p>
            <a:endParaRPr lang="tr-TR" dirty="0">
              <a:latin typeface="Akrobat Bold" pitchFamily="50" charset="0"/>
              <a:sym typeface="Wingdings" panose="05000000000000000000" pitchFamily="2" charset="2"/>
            </a:endParaRPr>
          </a:p>
          <a:p>
            <a:r>
              <a:rPr lang="tr-TR" dirty="0" smtClean="0">
                <a:latin typeface="Akrobat Bold" pitchFamily="50" charset="0"/>
                <a:sym typeface="Wingdings" panose="05000000000000000000" pitchFamily="2" charset="2"/>
              </a:rPr>
              <a:t>Son Hali : </a:t>
            </a:r>
            <a:r>
              <a:rPr lang="tr-TR" dirty="0" smtClean="0">
                <a:latin typeface="Akrobat Bold" pitchFamily="50" charset="0"/>
              </a:rPr>
              <a:t> </a:t>
            </a:r>
            <a:r>
              <a:rPr lang="tr-TR" dirty="0">
                <a:latin typeface="Akrobat Bold" pitchFamily="50" charset="0"/>
                <a:sym typeface="Wingdings" panose="05000000000000000000" pitchFamily="2" charset="2"/>
              </a:rPr>
              <a:t>a  x </a:t>
            </a:r>
            <a:r>
              <a:rPr lang="tr-TR" dirty="0" smtClean="0">
                <a:latin typeface="Akrobat Bold" pitchFamily="50" charset="0"/>
                <a:sym typeface="Wingdings" panose="05000000000000000000" pitchFamily="2" charset="2"/>
              </a:rPr>
              <a:t> + </a:t>
            </a:r>
            <a:r>
              <a:rPr lang="tr-TR" dirty="0">
                <a:latin typeface="Akrobat Bold" pitchFamily="50" charset="0"/>
                <a:sym typeface="Wingdings" panose="05000000000000000000" pitchFamily="2" charset="2"/>
              </a:rPr>
              <a:t>(b-m) x + c – </a:t>
            </a:r>
            <a:r>
              <a:rPr lang="tr-TR" dirty="0" smtClean="0">
                <a:latin typeface="Akrobat Bold" pitchFamily="50" charset="0"/>
                <a:sym typeface="Wingdings" panose="05000000000000000000" pitchFamily="2" charset="2"/>
              </a:rPr>
              <a:t>n</a:t>
            </a:r>
            <a:r>
              <a:rPr lang="tr-TR" dirty="0">
                <a:latin typeface="Akrobat Bold" pitchFamily="50" charset="0"/>
                <a:sym typeface="Wingdings" panose="05000000000000000000" pitchFamily="2" charset="2"/>
              </a:rPr>
              <a:t> </a:t>
            </a:r>
            <a:r>
              <a:rPr lang="tr-TR" dirty="0" smtClean="0">
                <a:latin typeface="Akrobat Bold" pitchFamily="50" charset="0"/>
                <a:sym typeface="Wingdings" panose="05000000000000000000" pitchFamily="2" charset="2"/>
              </a:rPr>
              <a:t>olmuş olur.</a:t>
            </a:r>
          </a:p>
          <a:p>
            <a:endParaRPr lang="tr-TR" dirty="0">
              <a:latin typeface="Akrobat Bold" pitchFamily="50" charset="0"/>
              <a:sym typeface="Wingdings" panose="05000000000000000000" pitchFamily="2" charset="2"/>
            </a:endParaRPr>
          </a:p>
          <a:p>
            <a:r>
              <a:rPr lang="tr-TR" dirty="0" smtClean="0">
                <a:latin typeface="Akrobat Bold" pitchFamily="50" charset="0"/>
                <a:sym typeface="Wingdings" panose="05000000000000000000" pitchFamily="2" charset="2"/>
              </a:rPr>
              <a:t>Bu ifadenin deltalarına bakarak yorum yapabiliriz.</a:t>
            </a:r>
            <a:endParaRPr lang="tr-TR" dirty="0">
              <a:latin typeface="Akrobat Bold" pitchFamily="50" charset="0"/>
              <a:sym typeface="Wingdings" panose="05000000000000000000" pitchFamily="2" charset="2"/>
            </a:endParaRPr>
          </a:p>
        </p:txBody>
      </p:sp>
      <p:pic>
        <p:nvPicPr>
          <p:cNvPr id="2" name="Resim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96" y="5796136"/>
            <a:ext cx="1800200" cy="1440160"/>
          </a:xfrm>
          <a:prstGeom prst="rect">
            <a:avLst/>
          </a:prstGeom>
        </p:spPr>
      </p:pic>
      <p:pic>
        <p:nvPicPr>
          <p:cNvPr id="27" name="Resim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80928" y="5796136"/>
            <a:ext cx="1800200" cy="1440160"/>
          </a:xfrm>
          <a:prstGeom prst="rect">
            <a:avLst/>
          </a:prstGeom>
        </p:spPr>
      </p:pic>
      <p:pic>
        <p:nvPicPr>
          <p:cNvPr id="31" name="Resim 3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8391" y="5792103"/>
            <a:ext cx="1800200" cy="1440160"/>
          </a:xfrm>
          <a:prstGeom prst="rect">
            <a:avLst/>
          </a:prstGeom>
        </p:spPr>
      </p:pic>
      <p:sp>
        <p:nvSpPr>
          <p:cNvPr id="32" name="Metin kutusu 31"/>
          <p:cNvSpPr txBox="1"/>
          <p:nvPr/>
        </p:nvSpPr>
        <p:spPr>
          <a:xfrm>
            <a:off x="847375" y="7372761"/>
            <a:ext cx="1501505" cy="1015663"/>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l-GR" sz="1200" dirty="0" smtClean="0"/>
              <a:t>Δ</a:t>
            </a:r>
            <a:r>
              <a:rPr lang="tr-TR" sz="1200" dirty="0" smtClean="0"/>
              <a:t> &gt; 0 </a:t>
            </a:r>
          </a:p>
          <a:p>
            <a:pPr algn="ctr"/>
            <a:endParaRPr lang="tr-TR" sz="1200" dirty="0" smtClean="0">
              <a:latin typeface="Akrobat Bold" pitchFamily="50" charset="0"/>
            </a:endParaRPr>
          </a:p>
          <a:p>
            <a:pPr algn="ctr"/>
            <a:r>
              <a:rPr lang="tr-TR" sz="1200" dirty="0" smtClean="0">
                <a:latin typeface="Akrobat Bold" pitchFamily="50" charset="0"/>
              </a:rPr>
              <a:t>Parabol ile doğru iki farklı noktada kesişmişlerdir. </a:t>
            </a:r>
            <a:endParaRPr lang="tr-TR" sz="1200" dirty="0">
              <a:latin typeface="Akrobat Bold" pitchFamily="50" charset="0"/>
            </a:endParaRPr>
          </a:p>
        </p:txBody>
      </p:sp>
      <p:sp>
        <p:nvSpPr>
          <p:cNvPr id="33" name="Metin kutusu 32"/>
          <p:cNvSpPr txBox="1"/>
          <p:nvPr/>
        </p:nvSpPr>
        <p:spPr>
          <a:xfrm>
            <a:off x="2930275" y="7360300"/>
            <a:ext cx="1501505" cy="1200329"/>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l-GR" sz="1200" dirty="0" smtClean="0"/>
              <a:t>Δ</a:t>
            </a:r>
            <a:r>
              <a:rPr lang="tr-TR" sz="1200" dirty="0" smtClean="0"/>
              <a:t> =  0 </a:t>
            </a:r>
          </a:p>
          <a:p>
            <a:pPr algn="ctr"/>
            <a:endParaRPr lang="tr-TR" sz="1200" dirty="0" smtClean="0">
              <a:latin typeface="Akrobat Bold" pitchFamily="50" charset="0"/>
            </a:endParaRPr>
          </a:p>
          <a:p>
            <a:pPr algn="ctr"/>
            <a:r>
              <a:rPr lang="tr-TR" sz="1200" dirty="0" smtClean="0">
                <a:latin typeface="Akrobat Bold" pitchFamily="50" charset="0"/>
              </a:rPr>
              <a:t>Parabol ile doğru tek noktada kesişmiştir.</a:t>
            </a:r>
          </a:p>
          <a:p>
            <a:pPr algn="ctr"/>
            <a:r>
              <a:rPr lang="tr-TR" sz="1200" dirty="0" smtClean="0">
                <a:latin typeface="Akrobat Bold" pitchFamily="50" charset="0"/>
              </a:rPr>
              <a:t>Birbirlerine </a:t>
            </a:r>
            <a:r>
              <a:rPr lang="tr-TR" sz="1200" b="1" dirty="0" smtClean="0">
                <a:latin typeface="Akrobat Bold" pitchFamily="50" charset="0"/>
              </a:rPr>
              <a:t>teğet</a:t>
            </a:r>
            <a:r>
              <a:rPr lang="tr-TR" sz="1200" dirty="0" smtClean="0">
                <a:latin typeface="Akrobat Bold" pitchFamily="50" charset="0"/>
              </a:rPr>
              <a:t> durumdadırlar.</a:t>
            </a:r>
            <a:endParaRPr lang="tr-TR" sz="1200" dirty="0">
              <a:latin typeface="Akrobat Bold" pitchFamily="50" charset="0"/>
            </a:endParaRPr>
          </a:p>
        </p:txBody>
      </p:sp>
      <p:sp>
        <p:nvSpPr>
          <p:cNvPr id="35" name="Metin kutusu 34"/>
          <p:cNvSpPr txBox="1"/>
          <p:nvPr/>
        </p:nvSpPr>
        <p:spPr>
          <a:xfrm>
            <a:off x="5077738" y="7347735"/>
            <a:ext cx="1501505" cy="1015663"/>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algn="ctr"/>
            <a:r>
              <a:rPr lang="el-GR" sz="1200" dirty="0" smtClean="0"/>
              <a:t>Δ</a:t>
            </a:r>
            <a:r>
              <a:rPr lang="tr-TR" sz="1200" dirty="0" smtClean="0"/>
              <a:t> &lt;  0 </a:t>
            </a:r>
          </a:p>
          <a:p>
            <a:pPr algn="ctr"/>
            <a:endParaRPr lang="tr-TR" sz="1200" dirty="0" smtClean="0">
              <a:latin typeface="Akrobat Bold" pitchFamily="50" charset="0"/>
            </a:endParaRPr>
          </a:p>
          <a:p>
            <a:pPr algn="ctr"/>
            <a:r>
              <a:rPr lang="tr-TR" sz="1200" dirty="0" smtClean="0">
                <a:latin typeface="Akrobat Bold" pitchFamily="50" charset="0"/>
              </a:rPr>
              <a:t>Parabol ile doğru hiçbir şekilde </a:t>
            </a:r>
            <a:r>
              <a:rPr lang="tr-TR" sz="1200" b="1" dirty="0" smtClean="0">
                <a:latin typeface="Akrobat Bold" pitchFamily="50" charset="0"/>
              </a:rPr>
              <a:t>kesişmemişlerdir</a:t>
            </a:r>
            <a:r>
              <a:rPr lang="tr-TR" sz="1200" dirty="0" smtClean="0">
                <a:latin typeface="Akrobat Bold" pitchFamily="50" charset="0"/>
              </a:rPr>
              <a:t>.</a:t>
            </a:r>
          </a:p>
        </p:txBody>
      </p:sp>
      <p:sp>
        <p:nvSpPr>
          <p:cNvPr id="37" name="Metin kutusu 36"/>
          <p:cNvSpPr txBox="1"/>
          <p:nvPr/>
        </p:nvSpPr>
        <p:spPr>
          <a:xfrm>
            <a:off x="4149080" y="3621239"/>
            <a:ext cx="191245" cy="215444"/>
          </a:xfrm>
          <a:prstGeom prst="rect">
            <a:avLst/>
          </a:prstGeom>
          <a:noFill/>
        </p:spPr>
        <p:txBody>
          <a:bodyPr wrap="square" rtlCol="0">
            <a:spAutoFit/>
          </a:bodyPr>
          <a:lstStyle/>
          <a:p>
            <a:pPr algn="ctr"/>
            <a:r>
              <a:rPr lang="tr-TR" sz="800" dirty="0" smtClean="0">
                <a:latin typeface="Akrobat Bold" pitchFamily="50" charset="0"/>
              </a:rPr>
              <a:t>2</a:t>
            </a:r>
            <a:endParaRPr lang="tr-TR" sz="800" dirty="0">
              <a:latin typeface="Akrobat Bold" pitchFamily="50" charset="0"/>
            </a:endParaRPr>
          </a:p>
        </p:txBody>
      </p:sp>
      <p:sp>
        <p:nvSpPr>
          <p:cNvPr id="38" name="Metin kutusu 37"/>
          <p:cNvSpPr txBox="1"/>
          <p:nvPr/>
        </p:nvSpPr>
        <p:spPr>
          <a:xfrm>
            <a:off x="4149080" y="3881169"/>
            <a:ext cx="191245" cy="215444"/>
          </a:xfrm>
          <a:prstGeom prst="rect">
            <a:avLst/>
          </a:prstGeom>
          <a:noFill/>
        </p:spPr>
        <p:txBody>
          <a:bodyPr wrap="square" rtlCol="0">
            <a:spAutoFit/>
          </a:bodyPr>
          <a:lstStyle/>
          <a:p>
            <a:pPr algn="ctr"/>
            <a:r>
              <a:rPr lang="tr-TR" sz="800" dirty="0" smtClean="0">
                <a:latin typeface="Akrobat Bold" pitchFamily="50" charset="0"/>
              </a:rPr>
              <a:t>2</a:t>
            </a:r>
            <a:endParaRPr lang="tr-TR" sz="800" dirty="0">
              <a:latin typeface="Akrobat Bold" pitchFamily="50" charset="0"/>
            </a:endParaRPr>
          </a:p>
        </p:txBody>
      </p:sp>
      <p:sp>
        <p:nvSpPr>
          <p:cNvPr id="39" name="Metin kutusu 38"/>
          <p:cNvSpPr txBox="1"/>
          <p:nvPr/>
        </p:nvSpPr>
        <p:spPr>
          <a:xfrm>
            <a:off x="4149080" y="4152747"/>
            <a:ext cx="191245" cy="215444"/>
          </a:xfrm>
          <a:prstGeom prst="rect">
            <a:avLst/>
          </a:prstGeom>
          <a:noFill/>
        </p:spPr>
        <p:txBody>
          <a:bodyPr wrap="square" rtlCol="0">
            <a:spAutoFit/>
          </a:bodyPr>
          <a:lstStyle/>
          <a:p>
            <a:pPr algn="ctr"/>
            <a:r>
              <a:rPr lang="tr-TR" sz="800" dirty="0" smtClean="0">
                <a:latin typeface="Akrobat Bold" pitchFamily="50" charset="0"/>
              </a:rPr>
              <a:t>2</a:t>
            </a:r>
            <a:endParaRPr lang="tr-TR" sz="800" dirty="0">
              <a:latin typeface="Akrobat Bold" pitchFamily="50" charset="0"/>
            </a:endParaRPr>
          </a:p>
        </p:txBody>
      </p:sp>
      <p:sp>
        <p:nvSpPr>
          <p:cNvPr id="4" name="Serbest Form 3"/>
          <p:cNvSpPr/>
          <p:nvPr/>
        </p:nvSpPr>
        <p:spPr>
          <a:xfrm>
            <a:off x="1062681" y="6005384"/>
            <a:ext cx="605481" cy="902050"/>
          </a:xfrm>
          <a:custGeom>
            <a:avLst/>
            <a:gdLst>
              <a:gd name="connsiteX0" fmla="*/ 0 w 605481"/>
              <a:gd name="connsiteY0" fmla="*/ 12357 h 902050"/>
              <a:gd name="connsiteX1" fmla="*/ 345989 w 605481"/>
              <a:gd name="connsiteY1" fmla="*/ 902043 h 902050"/>
              <a:gd name="connsiteX2" fmla="*/ 605481 w 605481"/>
              <a:gd name="connsiteY2" fmla="*/ 0 h 902050"/>
            </a:gdLst>
            <a:ahLst/>
            <a:cxnLst>
              <a:cxn ang="0">
                <a:pos x="connsiteX0" y="connsiteY0"/>
              </a:cxn>
              <a:cxn ang="0">
                <a:pos x="connsiteX1" y="connsiteY1"/>
              </a:cxn>
              <a:cxn ang="0">
                <a:pos x="connsiteX2" y="connsiteY2"/>
              </a:cxn>
            </a:cxnLst>
            <a:rect l="l" t="t" r="r" b="b"/>
            <a:pathLst>
              <a:path w="605481" h="902050">
                <a:moveTo>
                  <a:pt x="0" y="12357"/>
                </a:moveTo>
                <a:cubicBezTo>
                  <a:pt x="122538" y="458229"/>
                  <a:pt x="245076" y="904102"/>
                  <a:pt x="345989" y="902043"/>
                </a:cubicBezTo>
                <a:cubicBezTo>
                  <a:pt x="446902" y="899984"/>
                  <a:pt x="525162" y="125627"/>
                  <a:pt x="60548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0" name="Serbest Form 39"/>
          <p:cNvSpPr/>
          <p:nvPr/>
        </p:nvSpPr>
        <p:spPr>
          <a:xfrm>
            <a:off x="3179353" y="5830190"/>
            <a:ext cx="501675" cy="902050"/>
          </a:xfrm>
          <a:custGeom>
            <a:avLst/>
            <a:gdLst>
              <a:gd name="connsiteX0" fmla="*/ 0 w 605481"/>
              <a:gd name="connsiteY0" fmla="*/ 12357 h 902050"/>
              <a:gd name="connsiteX1" fmla="*/ 345989 w 605481"/>
              <a:gd name="connsiteY1" fmla="*/ 902043 h 902050"/>
              <a:gd name="connsiteX2" fmla="*/ 605481 w 605481"/>
              <a:gd name="connsiteY2" fmla="*/ 0 h 902050"/>
            </a:gdLst>
            <a:ahLst/>
            <a:cxnLst>
              <a:cxn ang="0">
                <a:pos x="connsiteX0" y="connsiteY0"/>
              </a:cxn>
              <a:cxn ang="0">
                <a:pos x="connsiteX1" y="connsiteY1"/>
              </a:cxn>
              <a:cxn ang="0">
                <a:pos x="connsiteX2" y="connsiteY2"/>
              </a:cxn>
            </a:cxnLst>
            <a:rect l="l" t="t" r="r" b="b"/>
            <a:pathLst>
              <a:path w="605481" h="902050">
                <a:moveTo>
                  <a:pt x="0" y="12357"/>
                </a:moveTo>
                <a:cubicBezTo>
                  <a:pt x="122538" y="458229"/>
                  <a:pt x="245076" y="904102"/>
                  <a:pt x="345989" y="902043"/>
                </a:cubicBezTo>
                <a:cubicBezTo>
                  <a:pt x="446902" y="899984"/>
                  <a:pt x="525162" y="125627"/>
                  <a:pt x="60548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1" name="Serbest Form 40"/>
          <p:cNvSpPr/>
          <p:nvPr/>
        </p:nvSpPr>
        <p:spPr>
          <a:xfrm>
            <a:off x="5430416" y="5796136"/>
            <a:ext cx="446856" cy="902050"/>
          </a:xfrm>
          <a:custGeom>
            <a:avLst/>
            <a:gdLst>
              <a:gd name="connsiteX0" fmla="*/ 0 w 605481"/>
              <a:gd name="connsiteY0" fmla="*/ 12357 h 902050"/>
              <a:gd name="connsiteX1" fmla="*/ 345989 w 605481"/>
              <a:gd name="connsiteY1" fmla="*/ 902043 h 902050"/>
              <a:gd name="connsiteX2" fmla="*/ 605481 w 605481"/>
              <a:gd name="connsiteY2" fmla="*/ 0 h 902050"/>
            </a:gdLst>
            <a:ahLst/>
            <a:cxnLst>
              <a:cxn ang="0">
                <a:pos x="connsiteX0" y="connsiteY0"/>
              </a:cxn>
              <a:cxn ang="0">
                <a:pos x="connsiteX1" y="connsiteY1"/>
              </a:cxn>
              <a:cxn ang="0">
                <a:pos x="connsiteX2" y="connsiteY2"/>
              </a:cxn>
            </a:cxnLst>
            <a:rect l="l" t="t" r="r" b="b"/>
            <a:pathLst>
              <a:path w="605481" h="902050">
                <a:moveTo>
                  <a:pt x="0" y="12357"/>
                </a:moveTo>
                <a:cubicBezTo>
                  <a:pt x="122538" y="458229"/>
                  <a:pt x="245076" y="904102"/>
                  <a:pt x="345989" y="902043"/>
                </a:cubicBezTo>
                <a:cubicBezTo>
                  <a:pt x="446902" y="899984"/>
                  <a:pt x="525162" y="125627"/>
                  <a:pt x="605481" y="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dirty="0" smtClean="0"/>
              <a:t>0</a:t>
            </a:r>
            <a:endParaRPr lang="tr-TR" dirty="0"/>
          </a:p>
        </p:txBody>
      </p:sp>
      <p:cxnSp>
        <p:nvCxnSpPr>
          <p:cNvPr id="6" name="Düz Ok Bağlayıcısı 5"/>
          <p:cNvCxnSpPr/>
          <p:nvPr/>
        </p:nvCxnSpPr>
        <p:spPr>
          <a:xfrm>
            <a:off x="860987" y="6103145"/>
            <a:ext cx="1368152" cy="86409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2" name="Düz Ok Bağlayıcısı 41"/>
          <p:cNvCxnSpPr/>
          <p:nvPr/>
        </p:nvCxnSpPr>
        <p:spPr>
          <a:xfrm>
            <a:off x="2876550" y="6372200"/>
            <a:ext cx="1368152" cy="864096"/>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43" name="Düz Ok Bağlayıcısı 42"/>
          <p:cNvCxnSpPr/>
          <p:nvPr/>
        </p:nvCxnSpPr>
        <p:spPr>
          <a:xfrm>
            <a:off x="5093642" y="6508665"/>
            <a:ext cx="1368152" cy="655623"/>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23" name="Metin kutusu 22"/>
          <p:cNvSpPr txBox="1"/>
          <p:nvPr/>
        </p:nvSpPr>
        <p:spPr>
          <a:xfrm>
            <a:off x="1894382" y="1714877"/>
            <a:ext cx="191245" cy="215444"/>
          </a:xfrm>
          <a:prstGeom prst="rect">
            <a:avLst/>
          </a:prstGeom>
          <a:noFill/>
        </p:spPr>
        <p:txBody>
          <a:bodyPr wrap="square" rtlCol="0">
            <a:spAutoFit/>
          </a:bodyPr>
          <a:lstStyle/>
          <a:p>
            <a:pPr algn="ctr"/>
            <a:r>
              <a:rPr lang="tr-TR" sz="800" dirty="0" smtClean="0">
                <a:latin typeface="Akrobat Bold" pitchFamily="50" charset="0"/>
              </a:rPr>
              <a:t>2</a:t>
            </a:r>
            <a:endParaRPr lang="tr-TR" sz="800" dirty="0">
              <a:latin typeface="Akrobat Bold" pitchFamily="50" charset="0"/>
            </a:endParaRPr>
          </a:p>
        </p:txBody>
      </p:sp>
      <p:sp>
        <p:nvSpPr>
          <p:cNvPr id="24" name="Düzgün Beşgen 23"/>
          <p:cNvSpPr/>
          <p:nvPr/>
        </p:nvSpPr>
        <p:spPr>
          <a:xfrm>
            <a:off x="134778" y="8370918"/>
            <a:ext cx="485910" cy="484981"/>
          </a:xfrm>
          <a:prstGeom prst="pentag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5" name="Dikdörtgen 24"/>
          <p:cNvSpPr/>
          <p:nvPr/>
        </p:nvSpPr>
        <p:spPr>
          <a:xfrm>
            <a:off x="182029" y="8393672"/>
            <a:ext cx="396262" cy="553998"/>
          </a:xfrm>
          <a:prstGeom prst="rect">
            <a:avLst/>
          </a:prstGeom>
          <a:noFill/>
        </p:spPr>
        <p:txBody>
          <a:bodyPr wrap="none" lIns="91440" tIns="45720" rIns="91440" bIns="45720">
            <a:spAutoFit/>
            <a:scene3d>
              <a:camera prst="orthographicFront"/>
              <a:lightRig rig="flat" dir="tl">
                <a:rot lat="0" lon="0" rev="6600000"/>
              </a:lightRig>
            </a:scene3d>
            <a:sp3d extrusionH="25400" contourW="8890">
              <a:bevelT w="38100" h="31750"/>
              <a:contourClr>
                <a:schemeClr val="accent2">
                  <a:shade val="75000"/>
                </a:schemeClr>
              </a:contourClr>
            </a:sp3d>
          </a:bodyPr>
          <a:lstStyle/>
          <a:p>
            <a:pPr algn="ctr"/>
            <a:r>
              <a:rPr lang="tr-TR" sz="3000" b="1" cap="none" spc="0" dirty="0" smtClean="0">
                <a:ln w="11430"/>
                <a:solidFill>
                  <a:schemeClr val="bg1"/>
                </a:solidFill>
                <a:effectLst>
                  <a:outerShdw blurRad="50800" dist="39000" dir="5460000" algn="tl">
                    <a:srgbClr val="000000">
                      <a:alpha val="38000"/>
                    </a:srgbClr>
                  </a:outerShdw>
                </a:effectLst>
              </a:rPr>
              <a:t>5</a:t>
            </a:r>
            <a:endParaRPr lang="tr-TR" sz="3000" b="1" cap="none" spc="0" dirty="0">
              <a:ln w="11430"/>
              <a:solidFill>
                <a:schemeClr val="bg1"/>
              </a:solidFill>
              <a:effectLst>
                <a:outerShdw blurRad="50800" dist="39000" dir="5460000" algn="tl">
                  <a:srgbClr val="000000">
                    <a:alpha val="38000"/>
                  </a:srgbClr>
                </a:outerShdw>
              </a:effectLst>
            </a:endParaRPr>
          </a:p>
        </p:txBody>
      </p:sp>
      <p:sp>
        <p:nvSpPr>
          <p:cNvPr id="29" name="Metin kutusu 28"/>
          <p:cNvSpPr txBox="1"/>
          <p:nvPr/>
        </p:nvSpPr>
        <p:spPr>
          <a:xfrm>
            <a:off x="2085627" y="4716596"/>
            <a:ext cx="191245" cy="215444"/>
          </a:xfrm>
          <a:prstGeom prst="rect">
            <a:avLst/>
          </a:prstGeom>
          <a:noFill/>
        </p:spPr>
        <p:txBody>
          <a:bodyPr wrap="square" rtlCol="0">
            <a:spAutoFit/>
          </a:bodyPr>
          <a:lstStyle/>
          <a:p>
            <a:pPr algn="ctr"/>
            <a:r>
              <a:rPr lang="tr-TR" sz="800" dirty="0" smtClean="0">
                <a:latin typeface="Akrobat Bold" pitchFamily="50" charset="0"/>
              </a:rPr>
              <a:t>2</a:t>
            </a:r>
            <a:endParaRPr lang="tr-TR" sz="800" dirty="0">
              <a:latin typeface="Akrobat Bold" pitchFamily="50" charset="0"/>
            </a:endParaRP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72" y="0"/>
            <a:ext cx="688975" cy="815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424069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p:cNvSpPr/>
          <p:nvPr/>
        </p:nvSpPr>
        <p:spPr>
          <a:xfrm>
            <a:off x="2463836" y="1331641"/>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 name="Akış Çizelgesi: Depolanmış Veri 2"/>
          <p:cNvSpPr/>
          <p:nvPr/>
        </p:nvSpPr>
        <p:spPr>
          <a:xfrm>
            <a:off x="2177480" y="179512"/>
            <a:ext cx="4707904" cy="864096"/>
          </a:xfrm>
          <a:prstGeom prst="flowChartOnlineStorag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 name="Metin kutusu 3"/>
          <p:cNvSpPr txBox="1"/>
          <p:nvPr/>
        </p:nvSpPr>
        <p:spPr>
          <a:xfrm>
            <a:off x="2276872" y="179512"/>
            <a:ext cx="4176464" cy="830997"/>
          </a:xfrm>
          <a:prstGeom prst="rect">
            <a:avLst/>
          </a:prstGeom>
          <a:noFill/>
        </p:spPr>
        <p:txBody>
          <a:bodyPr wrap="square" rtlCol="0">
            <a:spAutoFit/>
          </a:bodyPr>
          <a:lstStyle/>
          <a:p>
            <a:r>
              <a:rPr lang="tr-TR" sz="4800" dirty="0" smtClean="0">
                <a:solidFill>
                  <a:srgbClr val="FFFF00"/>
                </a:solidFill>
              </a:rPr>
              <a:t>Altın</a:t>
            </a:r>
            <a:r>
              <a:rPr lang="tr-TR" sz="4800" dirty="0" smtClean="0">
                <a:solidFill>
                  <a:schemeClr val="bg1"/>
                </a:solidFill>
              </a:rPr>
              <a:t> Tüyolar</a:t>
            </a:r>
            <a:endParaRPr lang="tr-TR" sz="4800" dirty="0">
              <a:solidFill>
                <a:schemeClr val="bg1"/>
              </a:solidFill>
            </a:endParaRPr>
          </a:p>
        </p:txBody>
      </p:sp>
      <p:sp>
        <p:nvSpPr>
          <p:cNvPr id="7" name="Akış Çizelgesi: Depolanmış Veri 6"/>
          <p:cNvSpPr/>
          <p:nvPr/>
        </p:nvSpPr>
        <p:spPr>
          <a:xfrm>
            <a:off x="116632" y="1331641"/>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11"/>
          <p:cNvSpPr/>
          <p:nvPr/>
        </p:nvSpPr>
        <p:spPr>
          <a:xfrm>
            <a:off x="2564767" y="1331640"/>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18" name="Oval 17"/>
          <p:cNvSpPr/>
          <p:nvPr/>
        </p:nvSpPr>
        <p:spPr>
          <a:xfrm>
            <a:off x="5992228" y="1331642"/>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19" name="Akış Çizelgesi: Depolanmış Veri 18"/>
          <p:cNvSpPr/>
          <p:nvPr/>
        </p:nvSpPr>
        <p:spPr>
          <a:xfrm>
            <a:off x="3645024" y="1331642"/>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p:cNvSpPr/>
          <p:nvPr/>
        </p:nvSpPr>
        <p:spPr>
          <a:xfrm>
            <a:off x="6093159" y="1331641"/>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1" name="Oval 20"/>
          <p:cNvSpPr/>
          <p:nvPr/>
        </p:nvSpPr>
        <p:spPr>
          <a:xfrm>
            <a:off x="2463836" y="248376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2" name="Akış Çizelgesi: Depolanmış Veri 21"/>
          <p:cNvSpPr/>
          <p:nvPr/>
        </p:nvSpPr>
        <p:spPr>
          <a:xfrm>
            <a:off x="116632" y="2483766"/>
            <a:ext cx="2808312" cy="936104"/>
          </a:xfrm>
          <a:prstGeom prst="flowChartOnlineStorage">
            <a:avLst/>
          </a:prstGeom>
          <a:solidFill>
            <a:schemeClr val="accent4">
              <a:lumMod val="7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23" name="Dikdörtgen 22"/>
          <p:cNvSpPr/>
          <p:nvPr/>
        </p:nvSpPr>
        <p:spPr>
          <a:xfrm>
            <a:off x="2564767" y="2483765"/>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3</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4" name="Oval 23"/>
          <p:cNvSpPr/>
          <p:nvPr/>
        </p:nvSpPr>
        <p:spPr>
          <a:xfrm>
            <a:off x="5992228" y="2483767"/>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5" name="Akış Çizelgesi: Depolanmış Veri 24"/>
          <p:cNvSpPr/>
          <p:nvPr/>
        </p:nvSpPr>
        <p:spPr>
          <a:xfrm>
            <a:off x="3645024" y="2483767"/>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Dikdörtgen 25"/>
          <p:cNvSpPr/>
          <p:nvPr/>
        </p:nvSpPr>
        <p:spPr>
          <a:xfrm>
            <a:off x="6093159" y="2483766"/>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4</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7" name="Oval 26"/>
          <p:cNvSpPr/>
          <p:nvPr/>
        </p:nvSpPr>
        <p:spPr>
          <a:xfrm>
            <a:off x="2446756" y="363589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8" name="Akış Çizelgesi: Depolanmış Veri 27"/>
          <p:cNvSpPr/>
          <p:nvPr/>
        </p:nvSpPr>
        <p:spPr>
          <a:xfrm>
            <a:off x="99552" y="3635894"/>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Dikdörtgen 28"/>
          <p:cNvSpPr/>
          <p:nvPr/>
        </p:nvSpPr>
        <p:spPr>
          <a:xfrm>
            <a:off x="2547687" y="3635893"/>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5</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0" name="Oval 29"/>
          <p:cNvSpPr/>
          <p:nvPr/>
        </p:nvSpPr>
        <p:spPr>
          <a:xfrm>
            <a:off x="5975148" y="36358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1" name="Akış Çizelgesi: Depolanmış Veri 30"/>
          <p:cNvSpPr/>
          <p:nvPr/>
        </p:nvSpPr>
        <p:spPr>
          <a:xfrm>
            <a:off x="3627944" y="36358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Dikdörtgen 31"/>
          <p:cNvSpPr/>
          <p:nvPr/>
        </p:nvSpPr>
        <p:spPr>
          <a:xfrm>
            <a:off x="6076079" y="3635894"/>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6</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3" name="Oval 32"/>
          <p:cNvSpPr/>
          <p:nvPr/>
        </p:nvSpPr>
        <p:spPr>
          <a:xfrm>
            <a:off x="2463836" y="478802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4" name="Akış Çizelgesi: Depolanmış Veri 33"/>
          <p:cNvSpPr/>
          <p:nvPr/>
        </p:nvSpPr>
        <p:spPr>
          <a:xfrm>
            <a:off x="116632" y="4788024"/>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Dikdörtgen 34"/>
          <p:cNvSpPr/>
          <p:nvPr/>
        </p:nvSpPr>
        <p:spPr>
          <a:xfrm>
            <a:off x="2564767" y="4788023"/>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7</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6" name="Oval 35"/>
          <p:cNvSpPr/>
          <p:nvPr/>
        </p:nvSpPr>
        <p:spPr>
          <a:xfrm>
            <a:off x="5992228" y="478802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7" name="Akış Çizelgesi: Depolanmış Veri 36"/>
          <p:cNvSpPr/>
          <p:nvPr/>
        </p:nvSpPr>
        <p:spPr>
          <a:xfrm>
            <a:off x="3645024" y="4788025"/>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Dikdörtgen 37"/>
          <p:cNvSpPr/>
          <p:nvPr/>
        </p:nvSpPr>
        <p:spPr>
          <a:xfrm>
            <a:off x="6093159" y="4788024"/>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8</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45" name="Oval 44"/>
          <p:cNvSpPr/>
          <p:nvPr/>
        </p:nvSpPr>
        <p:spPr>
          <a:xfrm>
            <a:off x="2504276" y="59062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6" name="Akış Çizelgesi: Depolanmış Veri 45"/>
          <p:cNvSpPr/>
          <p:nvPr/>
        </p:nvSpPr>
        <p:spPr>
          <a:xfrm>
            <a:off x="157072" y="59062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Dikdörtgen 46"/>
          <p:cNvSpPr/>
          <p:nvPr/>
        </p:nvSpPr>
        <p:spPr>
          <a:xfrm>
            <a:off x="2605207" y="5906294"/>
            <a:ext cx="590226" cy="923330"/>
          </a:xfrm>
          <a:prstGeom prst="rect">
            <a:avLst/>
          </a:prstGeom>
          <a:noFill/>
        </p:spPr>
        <p:txBody>
          <a:bodyPr wrap="none" lIns="91440" tIns="45720" rIns="91440" bIns="45720">
            <a:spAutoFit/>
          </a:bodyPr>
          <a:lstStyle/>
          <a:p>
            <a:pPr algn="ctr"/>
            <a:r>
              <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9</a:t>
            </a:r>
          </a:p>
        </p:txBody>
      </p:sp>
      <p:sp>
        <p:nvSpPr>
          <p:cNvPr id="48" name="Oval 47"/>
          <p:cNvSpPr/>
          <p:nvPr/>
        </p:nvSpPr>
        <p:spPr>
          <a:xfrm>
            <a:off x="6032668" y="590629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9" name="Akış Çizelgesi: Depolanmış Veri 48"/>
          <p:cNvSpPr/>
          <p:nvPr/>
        </p:nvSpPr>
        <p:spPr>
          <a:xfrm>
            <a:off x="3685464" y="5906296"/>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0" name="Dikdörtgen 49"/>
          <p:cNvSpPr/>
          <p:nvPr/>
        </p:nvSpPr>
        <p:spPr>
          <a:xfrm>
            <a:off x="5930819" y="5906295"/>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10</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57" name="Oval 56"/>
          <p:cNvSpPr/>
          <p:nvPr/>
        </p:nvSpPr>
        <p:spPr>
          <a:xfrm>
            <a:off x="2508960" y="7020270"/>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58" name="Akış Çizelgesi: Depolanmış Veri 57"/>
          <p:cNvSpPr/>
          <p:nvPr/>
        </p:nvSpPr>
        <p:spPr>
          <a:xfrm>
            <a:off x="161756" y="7020270"/>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9" name="Dikdörtgen 58"/>
          <p:cNvSpPr/>
          <p:nvPr/>
        </p:nvSpPr>
        <p:spPr>
          <a:xfrm>
            <a:off x="2407111" y="7020269"/>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11</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60" name="Oval 59"/>
          <p:cNvSpPr/>
          <p:nvPr/>
        </p:nvSpPr>
        <p:spPr>
          <a:xfrm>
            <a:off x="6037352" y="7020271"/>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61" name="Akış Çizelgesi: Depolanmış Veri 60"/>
          <p:cNvSpPr/>
          <p:nvPr/>
        </p:nvSpPr>
        <p:spPr>
          <a:xfrm>
            <a:off x="3690148" y="7020271"/>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2" name="Dikdörtgen 61"/>
          <p:cNvSpPr/>
          <p:nvPr/>
        </p:nvSpPr>
        <p:spPr>
          <a:xfrm>
            <a:off x="5935503" y="7020270"/>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12</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69" name="Metin kutusu 68"/>
          <p:cNvSpPr txBox="1"/>
          <p:nvPr/>
        </p:nvSpPr>
        <p:spPr>
          <a:xfrm>
            <a:off x="332656" y="1403648"/>
            <a:ext cx="2114100" cy="769441"/>
          </a:xfrm>
          <a:prstGeom prst="rect">
            <a:avLst/>
          </a:prstGeom>
          <a:noFill/>
        </p:spPr>
        <p:txBody>
          <a:bodyPr wrap="square" rtlCol="0">
            <a:spAutoFit/>
          </a:bodyPr>
          <a:lstStyle/>
          <a:p>
            <a:r>
              <a:rPr lang="tr-TR" sz="1100" dirty="0" smtClean="0">
                <a:solidFill>
                  <a:schemeClr val="bg1"/>
                </a:solidFill>
              </a:rPr>
              <a:t>Bir nokta </a:t>
            </a:r>
            <a:r>
              <a:rPr lang="tr-TR" sz="1100" dirty="0" smtClean="0">
                <a:solidFill>
                  <a:srgbClr val="FFFF00"/>
                </a:solidFill>
              </a:rPr>
              <a:t>x (apsis) </a:t>
            </a:r>
            <a:r>
              <a:rPr lang="tr-TR" sz="1100" dirty="0" smtClean="0">
                <a:solidFill>
                  <a:schemeClr val="bg1"/>
                </a:solidFill>
              </a:rPr>
              <a:t>ekseni üzerindeyse </a:t>
            </a:r>
            <a:r>
              <a:rPr lang="tr-TR" sz="1100" dirty="0" smtClean="0">
                <a:solidFill>
                  <a:srgbClr val="FFFF00"/>
                </a:solidFill>
              </a:rPr>
              <a:t>y (ordinat)</a:t>
            </a:r>
            <a:r>
              <a:rPr lang="tr-TR" sz="1100" dirty="0" smtClean="0">
                <a:solidFill>
                  <a:schemeClr val="bg1"/>
                </a:solidFill>
              </a:rPr>
              <a:t> değeri</a:t>
            </a:r>
          </a:p>
          <a:p>
            <a:r>
              <a:rPr lang="tr-TR" sz="1100" dirty="0" smtClean="0">
                <a:solidFill>
                  <a:schemeClr val="bg1"/>
                </a:solidFill>
              </a:rPr>
              <a:t>0 olmalıdır. y ekseni üzerindeyse x değeri 0`dır.</a:t>
            </a:r>
          </a:p>
        </p:txBody>
      </p:sp>
      <p:sp>
        <p:nvSpPr>
          <p:cNvPr id="70" name="Metin kutusu 69"/>
          <p:cNvSpPr txBox="1"/>
          <p:nvPr/>
        </p:nvSpPr>
        <p:spPr>
          <a:xfrm>
            <a:off x="3808296" y="1426295"/>
            <a:ext cx="2285000" cy="769441"/>
          </a:xfrm>
          <a:prstGeom prst="rect">
            <a:avLst/>
          </a:prstGeom>
          <a:noFill/>
        </p:spPr>
        <p:txBody>
          <a:bodyPr wrap="square" rtlCol="0">
            <a:spAutoFit/>
          </a:bodyPr>
          <a:lstStyle/>
          <a:p>
            <a:r>
              <a:rPr lang="tr-TR" sz="1100" dirty="0" smtClean="0">
                <a:solidFill>
                  <a:schemeClr val="bg1"/>
                </a:solidFill>
              </a:rPr>
              <a:t>Parabolde </a:t>
            </a:r>
            <a:r>
              <a:rPr lang="tr-TR" sz="1100" dirty="0" smtClean="0">
                <a:solidFill>
                  <a:srgbClr val="FFFF00"/>
                </a:solidFill>
              </a:rPr>
              <a:t>en büyük ve en küçük değerler tepe noktasıdır. </a:t>
            </a:r>
            <a:r>
              <a:rPr lang="tr-TR" sz="1100" dirty="0" smtClean="0">
                <a:solidFill>
                  <a:schemeClr val="bg1"/>
                </a:solidFill>
              </a:rPr>
              <a:t>Yeni nesil sorularda çoğunluk bu kalıpta sorulur.</a:t>
            </a:r>
          </a:p>
        </p:txBody>
      </p:sp>
      <p:sp>
        <p:nvSpPr>
          <p:cNvPr id="71" name="Metin kutusu 70"/>
          <p:cNvSpPr txBox="1"/>
          <p:nvPr/>
        </p:nvSpPr>
        <p:spPr>
          <a:xfrm>
            <a:off x="202440" y="2567098"/>
            <a:ext cx="2285000" cy="769441"/>
          </a:xfrm>
          <a:prstGeom prst="rect">
            <a:avLst/>
          </a:prstGeom>
          <a:noFill/>
        </p:spPr>
        <p:txBody>
          <a:bodyPr wrap="square" rtlCol="0">
            <a:spAutoFit/>
          </a:bodyPr>
          <a:lstStyle/>
          <a:p>
            <a:r>
              <a:rPr lang="tr-TR" sz="1100" dirty="0" smtClean="0">
                <a:solidFill>
                  <a:schemeClr val="bg1"/>
                </a:solidFill>
              </a:rPr>
              <a:t>Tepe noktasından indirilen dikme kenarortaydır.  Tabanları iki eşit parçaya böler. Bu sayede grafikten kök tespiti yapılabilir.</a:t>
            </a:r>
          </a:p>
        </p:txBody>
      </p:sp>
      <p:sp>
        <p:nvSpPr>
          <p:cNvPr id="72" name="Metin kutusu 71"/>
          <p:cNvSpPr txBox="1"/>
          <p:nvPr/>
        </p:nvSpPr>
        <p:spPr>
          <a:xfrm>
            <a:off x="3741020" y="2553213"/>
            <a:ext cx="2285000" cy="769441"/>
          </a:xfrm>
          <a:prstGeom prst="rect">
            <a:avLst/>
          </a:prstGeom>
          <a:noFill/>
        </p:spPr>
        <p:txBody>
          <a:bodyPr wrap="square" rtlCol="0">
            <a:spAutoFit/>
          </a:bodyPr>
          <a:lstStyle/>
          <a:p>
            <a:r>
              <a:rPr lang="tr-TR" sz="1100" dirty="0" smtClean="0">
                <a:solidFill>
                  <a:schemeClr val="bg1"/>
                </a:solidFill>
              </a:rPr>
              <a:t>Bir fonksiyonda sabit terim için bilinmeyen değişkene = 0, katsayılar toplamını bulmak için </a:t>
            </a:r>
          </a:p>
          <a:p>
            <a:r>
              <a:rPr lang="tr-TR" sz="1100" dirty="0" smtClean="0">
                <a:solidFill>
                  <a:schemeClr val="bg1"/>
                </a:solidFill>
              </a:rPr>
              <a:t>Bilinmeyen değişkene = 1 yazılır.</a:t>
            </a:r>
          </a:p>
        </p:txBody>
      </p:sp>
      <p:sp>
        <p:nvSpPr>
          <p:cNvPr id="73" name="Metin kutusu 72"/>
          <p:cNvSpPr txBox="1"/>
          <p:nvPr/>
        </p:nvSpPr>
        <p:spPr>
          <a:xfrm>
            <a:off x="262687" y="3719226"/>
            <a:ext cx="2285000" cy="769441"/>
          </a:xfrm>
          <a:prstGeom prst="rect">
            <a:avLst/>
          </a:prstGeom>
          <a:noFill/>
        </p:spPr>
        <p:txBody>
          <a:bodyPr wrap="square" rtlCol="0">
            <a:spAutoFit/>
          </a:bodyPr>
          <a:lstStyle/>
          <a:p>
            <a:r>
              <a:rPr lang="tr-TR" sz="1100" dirty="0" smtClean="0">
                <a:solidFill>
                  <a:schemeClr val="bg1"/>
                </a:solidFill>
              </a:rPr>
              <a:t>Parabolün tepe noktası y ekseni üzerindeyse b kısmı 0 olmalıdır.</a:t>
            </a:r>
          </a:p>
          <a:p>
            <a:r>
              <a:rPr lang="tr-TR" sz="1100" dirty="0" smtClean="0">
                <a:solidFill>
                  <a:schemeClr val="bg1"/>
                </a:solidFill>
              </a:rPr>
              <a:t> </a:t>
            </a:r>
          </a:p>
          <a:p>
            <a:r>
              <a:rPr lang="tr-TR" sz="1100" dirty="0" smtClean="0">
                <a:solidFill>
                  <a:srgbClr val="FFFF00"/>
                </a:solidFill>
              </a:rPr>
              <a:t>İspatı</a:t>
            </a:r>
            <a:r>
              <a:rPr lang="tr-TR" sz="1100" dirty="0" smtClean="0">
                <a:solidFill>
                  <a:schemeClr val="bg1"/>
                </a:solidFill>
              </a:rPr>
              <a:t> –b/2a = 0 eşitliğindendir.</a:t>
            </a:r>
          </a:p>
        </p:txBody>
      </p:sp>
      <p:sp>
        <p:nvSpPr>
          <p:cNvPr id="74" name="Metin kutusu 73"/>
          <p:cNvSpPr txBox="1"/>
          <p:nvPr/>
        </p:nvSpPr>
        <p:spPr>
          <a:xfrm>
            <a:off x="3747668" y="3719225"/>
            <a:ext cx="2285000" cy="769441"/>
          </a:xfrm>
          <a:prstGeom prst="rect">
            <a:avLst/>
          </a:prstGeom>
          <a:noFill/>
        </p:spPr>
        <p:txBody>
          <a:bodyPr wrap="square" rtlCol="0">
            <a:spAutoFit/>
          </a:bodyPr>
          <a:lstStyle/>
          <a:p>
            <a:r>
              <a:rPr lang="tr-TR" sz="1100" dirty="0" smtClean="0">
                <a:solidFill>
                  <a:schemeClr val="bg1"/>
                </a:solidFill>
              </a:rPr>
              <a:t>Parabolün </a:t>
            </a:r>
            <a:r>
              <a:rPr lang="tr-TR" sz="1100" dirty="0" smtClean="0">
                <a:solidFill>
                  <a:srgbClr val="FFFF00"/>
                </a:solidFill>
              </a:rPr>
              <a:t>y eksenini kestiği noktanın ordinatı</a:t>
            </a:r>
            <a:r>
              <a:rPr lang="tr-TR" sz="1100" dirty="0" smtClean="0">
                <a:solidFill>
                  <a:schemeClr val="bg1"/>
                </a:solidFill>
              </a:rPr>
              <a:t> ilgili fonksiyonun </a:t>
            </a:r>
            <a:r>
              <a:rPr lang="tr-TR" sz="1100" dirty="0" smtClean="0">
                <a:solidFill>
                  <a:srgbClr val="FFFF00"/>
                </a:solidFill>
              </a:rPr>
              <a:t>sabit terim</a:t>
            </a:r>
            <a:r>
              <a:rPr lang="tr-TR" sz="1100" dirty="0" smtClean="0">
                <a:solidFill>
                  <a:schemeClr val="bg1"/>
                </a:solidFill>
              </a:rPr>
              <a:t>ine eşittir.</a:t>
            </a:r>
          </a:p>
        </p:txBody>
      </p:sp>
      <p:sp>
        <p:nvSpPr>
          <p:cNvPr id="75" name="Metin kutusu 74"/>
          <p:cNvSpPr txBox="1"/>
          <p:nvPr/>
        </p:nvSpPr>
        <p:spPr>
          <a:xfrm>
            <a:off x="213164" y="4864967"/>
            <a:ext cx="2285000" cy="769441"/>
          </a:xfrm>
          <a:prstGeom prst="rect">
            <a:avLst/>
          </a:prstGeom>
          <a:noFill/>
        </p:spPr>
        <p:txBody>
          <a:bodyPr wrap="square" rtlCol="0">
            <a:spAutoFit/>
          </a:bodyPr>
          <a:lstStyle/>
          <a:p>
            <a:r>
              <a:rPr lang="tr-TR" sz="1100" dirty="0" smtClean="0">
                <a:solidFill>
                  <a:schemeClr val="bg1"/>
                </a:solidFill>
              </a:rPr>
              <a:t>Parabolün y eksenini kestiği noktanın ordinatı ilgili fonksiyonun sabit terimine eşittir.</a:t>
            </a:r>
          </a:p>
        </p:txBody>
      </p:sp>
      <p:sp>
        <p:nvSpPr>
          <p:cNvPr id="76" name="Metin kutusu 75"/>
          <p:cNvSpPr txBox="1"/>
          <p:nvPr/>
        </p:nvSpPr>
        <p:spPr>
          <a:xfrm>
            <a:off x="476672" y="45600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7" name="Metin kutusu 76"/>
          <p:cNvSpPr txBox="1"/>
          <p:nvPr/>
        </p:nvSpPr>
        <p:spPr>
          <a:xfrm>
            <a:off x="4192360" y="45592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9" name="Metin kutusu 78"/>
          <p:cNvSpPr txBox="1"/>
          <p:nvPr/>
        </p:nvSpPr>
        <p:spPr>
          <a:xfrm>
            <a:off x="3752352" y="4864967"/>
            <a:ext cx="2285000" cy="769441"/>
          </a:xfrm>
          <a:prstGeom prst="rect">
            <a:avLst/>
          </a:prstGeom>
          <a:noFill/>
        </p:spPr>
        <p:txBody>
          <a:bodyPr wrap="square" rtlCol="0">
            <a:spAutoFit/>
          </a:bodyPr>
          <a:lstStyle/>
          <a:p>
            <a:r>
              <a:rPr lang="tr-TR" sz="1100" dirty="0" smtClean="0">
                <a:solidFill>
                  <a:schemeClr val="bg1"/>
                </a:solidFill>
              </a:rPr>
              <a:t>Paraboller çift fonksiyon eğilimindedirler. Fakat hepsi çift fonksiyon değillerdir. Denklemde tek dereceli terim varsa </a:t>
            </a:r>
            <a:r>
              <a:rPr lang="tr-TR" sz="1100" b="1" dirty="0" smtClean="0">
                <a:solidFill>
                  <a:schemeClr val="bg1"/>
                </a:solidFill>
              </a:rPr>
              <a:t>olmaz</a:t>
            </a:r>
            <a:r>
              <a:rPr lang="tr-TR" sz="1100" dirty="0" smtClean="0">
                <a:solidFill>
                  <a:schemeClr val="bg1"/>
                </a:solidFill>
              </a:rPr>
              <a:t>.</a:t>
            </a:r>
          </a:p>
        </p:txBody>
      </p:sp>
      <p:sp>
        <p:nvSpPr>
          <p:cNvPr id="80" name="Metin kutusu 79"/>
          <p:cNvSpPr txBox="1"/>
          <p:nvPr/>
        </p:nvSpPr>
        <p:spPr>
          <a:xfrm>
            <a:off x="332656" y="5940152"/>
            <a:ext cx="2285000" cy="938719"/>
          </a:xfrm>
          <a:prstGeom prst="rect">
            <a:avLst/>
          </a:prstGeom>
          <a:noFill/>
        </p:spPr>
        <p:txBody>
          <a:bodyPr wrap="square" rtlCol="0">
            <a:spAutoFit/>
          </a:bodyPr>
          <a:lstStyle/>
          <a:p>
            <a:r>
              <a:rPr lang="tr-TR" sz="1100" dirty="0" smtClean="0">
                <a:solidFill>
                  <a:schemeClr val="bg1"/>
                </a:solidFill>
              </a:rPr>
              <a:t>Paraboller ötelemeler </a:t>
            </a:r>
            <a:r>
              <a:rPr lang="tr-TR" sz="1100" dirty="0" smtClean="0">
                <a:solidFill>
                  <a:srgbClr val="FFFF00"/>
                </a:solidFill>
              </a:rPr>
              <a:t>tepe noktası üzerinden</a:t>
            </a:r>
            <a:r>
              <a:rPr lang="tr-TR" sz="1100" dirty="0" smtClean="0">
                <a:solidFill>
                  <a:schemeClr val="bg1"/>
                </a:solidFill>
              </a:rPr>
              <a:t> yapılır. YKS sınavlarında genelde öteleme soruları sorulmuştur.</a:t>
            </a:r>
          </a:p>
          <a:p>
            <a:endParaRPr lang="tr-TR" sz="1100" dirty="0" smtClean="0">
              <a:solidFill>
                <a:schemeClr val="bg1"/>
              </a:solidFill>
            </a:endParaRPr>
          </a:p>
        </p:txBody>
      </p:sp>
      <p:sp>
        <p:nvSpPr>
          <p:cNvPr id="81" name="Metin kutusu 80"/>
          <p:cNvSpPr txBox="1"/>
          <p:nvPr/>
        </p:nvSpPr>
        <p:spPr>
          <a:xfrm>
            <a:off x="3801468" y="5989627"/>
            <a:ext cx="2435844" cy="769441"/>
          </a:xfrm>
          <a:prstGeom prst="rect">
            <a:avLst/>
          </a:prstGeom>
          <a:noFill/>
        </p:spPr>
        <p:txBody>
          <a:bodyPr wrap="square" rtlCol="0">
            <a:spAutoFit/>
          </a:bodyPr>
          <a:lstStyle/>
          <a:p>
            <a:r>
              <a:rPr lang="tr-TR" sz="1100" dirty="0" smtClean="0">
                <a:solidFill>
                  <a:schemeClr val="bg1"/>
                </a:solidFill>
              </a:rPr>
              <a:t>Parabolün simetri ekseni tepe noktasının x (apsis) noktasıdır. </a:t>
            </a:r>
          </a:p>
          <a:p>
            <a:r>
              <a:rPr lang="tr-TR" sz="1100" dirty="0" smtClean="0">
                <a:solidFill>
                  <a:schemeClr val="bg1"/>
                </a:solidFill>
              </a:rPr>
              <a:t>Simetri ekseni x=1 derse mesela</a:t>
            </a:r>
          </a:p>
          <a:p>
            <a:r>
              <a:rPr lang="tr-TR" sz="1100" dirty="0" smtClean="0">
                <a:solidFill>
                  <a:schemeClr val="bg1"/>
                </a:solidFill>
              </a:rPr>
              <a:t>Tepe noktasının apsisi 1`dir.</a:t>
            </a:r>
          </a:p>
        </p:txBody>
      </p:sp>
      <p:sp>
        <p:nvSpPr>
          <p:cNvPr id="82" name="Metin kutusu 81"/>
          <p:cNvSpPr txBox="1"/>
          <p:nvPr/>
        </p:nvSpPr>
        <p:spPr>
          <a:xfrm>
            <a:off x="320206" y="7092585"/>
            <a:ext cx="2388714" cy="769441"/>
          </a:xfrm>
          <a:prstGeom prst="rect">
            <a:avLst/>
          </a:prstGeom>
          <a:noFill/>
        </p:spPr>
        <p:txBody>
          <a:bodyPr wrap="square" rtlCol="0">
            <a:spAutoFit/>
          </a:bodyPr>
          <a:lstStyle/>
          <a:p>
            <a:r>
              <a:rPr lang="tr-TR" sz="1100" dirty="0" smtClean="0">
                <a:solidFill>
                  <a:schemeClr val="bg1"/>
                </a:solidFill>
              </a:rPr>
              <a:t>Parabollerde sağ ve sola öteleme ;</a:t>
            </a:r>
          </a:p>
          <a:p>
            <a:endParaRPr lang="tr-TR" sz="1100" dirty="0" smtClean="0">
              <a:solidFill>
                <a:schemeClr val="bg1"/>
              </a:solidFill>
            </a:endParaRPr>
          </a:p>
          <a:p>
            <a:r>
              <a:rPr lang="tr-TR" sz="1100" dirty="0" smtClean="0">
                <a:solidFill>
                  <a:schemeClr val="bg1"/>
                </a:solidFill>
              </a:rPr>
              <a:t>X ekseni boyunda + , - yönde</a:t>
            </a:r>
          </a:p>
          <a:p>
            <a:r>
              <a:rPr lang="tr-TR" sz="1100" dirty="0" smtClean="0">
                <a:solidFill>
                  <a:schemeClr val="bg1"/>
                </a:solidFill>
              </a:rPr>
              <a:t>Tepe noktasından ötelenir.</a:t>
            </a:r>
          </a:p>
        </p:txBody>
      </p:sp>
      <p:sp>
        <p:nvSpPr>
          <p:cNvPr id="83" name="Metin kutusu 82"/>
          <p:cNvSpPr txBox="1"/>
          <p:nvPr/>
        </p:nvSpPr>
        <p:spPr>
          <a:xfrm>
            <a:off x="3791078" y="7092587"/>
            <a:ext cx="2446233" cy="769440"/>
          </a:xfrm>
          <a:prstGeom prst="rect">
            <a:avLst/>
          </a:prstGeom>
          <a:noFill/>
        </p:spPr>
        <p:txBody>
          <a:bodyPr wrap="square" rtlCol="0">
            <a:spAutoFit/>
          </a:bodyPr>
          <a:lstStyle/>
          <a:p>
            <a:r>
              <a:rPr lang="tr-TR" sz="1100" dirty="0">
                <a:solidFill>
                  <a:schemeClr val="bg1"/>
                </a:solidFill>
              </a:rPr>
              <a:t>Parabollerde </a:t>
            </a:r>
            <a:r>
              <a:rPr lang="tr-TR" sz="1100" dirty="0" smtClean="0">
                <a:solidFill>
                  <a:schemeClr val="bg1"/>
                </a:solidFill>
              </a:rPr>
              <a:t>yukarı ve aşağı ;</a:t>
            </a:r>
            <a:endParaRPr lang="tr-TR" sz="1100" dirty="0">
              <a:solidFill>
                <a:schemeClr val="bg1"/>
              </a:solidFill>
            </a:endParaRPr>
          </a:p>
          <a:p>
            <a:endParaRPr lang="tr-TR" sz="1100" dirty="0">
              <a:solidFill>
                <a:schemeClr val="bg1"/>
              </a:solidFill>
            </a:endParaRPr>
          </a:p>
          <a:p>
            <a:r>
              <a:rPr lang="tr-TR" sz="1100" dirty="0" smtClean="0">
                <a:solidFill>
                  <a:schemeClr val="bg1"/>
                </a:solidFill>
              </a:rPr>
              <a:t>Y </a:t>
            </a:r>
            <a:r>
              <a:rPr lang="tr-TR" sz="1100" dirty="0">
                <a:solidFill>
                  <a:schemeClr val="bg1"/>
                </a:solidFill>
              </a:rPr>
              <a:t>ekseni boyunda + , - yönde</a:t>
            </a:r>
          </a:p>
          <a:p>
            <a:r>
              <a:rPr lang="tr-TR" sz="1100" dirty="0">
                <a:solidFill>
                  <a:schemeClr val="bg1"/>
                </a:solidFill>
              </a:rPr>
              <a:t>Tepe noktasından ötelenir.</a:t>
            </a:r>
          </a:p>
        </p:txBody>
      </p:sp>
      <p:sp>
        <p:nvSpPr>
          <p:cNvPr id="84" name="Beşgen 83"/>
          <p:cNvSpPr/>
          <p:nvPr/>
        </p:nvSpPr>
        <p:spPr>
          <a:xfrm rot="10800000">
            <a:off x="3545024" y="8183700"/>
            <a:ext cx="3287844" cy="86409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6" name="Metin kutusu 85"/>
          <p:cNvSpPr txBox="1"/>
          <p:nvPr/>
        </p:nvSpPr>
        <p:spPr>
          <a:xfrm>
            <a:off x="3992614" y="8316416"/>
            <a:ext cx="2388714" cy="600164"/>
          </a:xfrm>
          <a:prstGeom prst="rect">
            <a:avLst/>
          </a:prstGeom>
          <a:noFill/>
        </p:spPr>
        <p:txBody>
          <a:bodyPr wrap="square" rtlCol="0">
            <a:spAutoFit/>
          </a:bodyPr>
          <a:lstStyle/>
          <a:p>
            <a:r>
              <a:rPr lang="tr-TR" sz="1100" dirty="0" smtClean="0">
                <a:solidFill>
                  <a:schemeClr val="bg1"/>
                </a:solidFill>
              </a:rPr>
              <a:t>Yandaki </a:t>
            </a:r>
            <a:r>
              <a:rPr lang="tr-TR" sz="1100" dirty="0" err="1" smtClean="0">
                <a:solidFill>
                  <a:schemeClr val="bg1"/>
                </a:solidFill>
              </a:rPr>
              <a:t>karekodu</a:t>
            </a:r>
            <a:r>
              <a:rPr lang="tr-TR" sz="1100" dirty="0" smtClean="0">
                <a:solidFill>
                  <a:schemeClr val="bg1"/>
                </a:solidFill>
              </a:rPr>
              <a:t> oturarak</a:t>
            </a:r>
          </a:p>
          <a:p>
            <a:r>
              <a:rPr lang="tr-TR" sz="1100" dirty="0" smtClean="0">
                <a:solidFill>
                  <a:schemeClr val="bg1"/>
                </a:solidFill>
              </a:rPr>
              <a:t>Konu anlatım videolarımıza ücretsiz erişebilirsiniz.</a:t>
            </a:r>
          </a:p>
        </p:txBody>
      </p:sp>
      <p:sp>
        <p:nvSpPr>
          <p:cNvPr id="87" name="Beşgen 86"/>
          <p:cNvSpPr/>
          <p:nvPr/>
        </p:nvSpPr>
        <p:spPr>
          <a:xfrm rot="10800000">
            <a:off x="-27384" y="8064242"/>
            <a:ext cx="2209418" cy="456148"/>
          </a:xfrm>
          <a:prstGeom prst="homePlat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8" name="Beşgen 87"/>
          <p:cNvSpPr/>
          <p:nvPr/>
        </p:nvSpPr>
        <p:spPr>
          <a:xfrm rot="10800000">
            <a:off x="-27384" y="8667253"/>
            <a:ext cx="2209418" cy="456148"/>
          </a:xfrm>
          <a:prstGeom prst="homePlat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18788" y="8232358"/>
            <a:ext cx="757074" cy="744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0" name="Metin kutusu 89"/>
          <p:cNvSpPr txBox="1"/>
          <p:nvPr/>
        </p:nvSpPr>
        <p:spPr>
          <a:xfrm>
            <a:off x="620348" y="8183520"/>
            <a:ext cx="1584516" cy="261610"/>
          </a:xfrm>
          <a:prstGeom prst="rect">
            <a:avLst/>
          </a:prstGeom>
          <a:noFill/>
        </p:spPr>
        <p:txBody>
          <a:bodyPr wrap="square" rtlCol="0">
            <a:spAutoFit/>
          </a:bodyPr>
          <a:lstStyle/>
          <a:p>
            <a:r>
              <a:rPr lang="tr-TR" sz="1100" b="1" dirty="0" smtClean="0">
                <a:solidFill>
                  <a:schemeClr val="tx1">
                    <a:lumMod val="85000"/>
                    <a:lumOff val="15000"/>
                  </a:schemeClr>
                </a:solidFill>
              </a:rPr>
              <a:t>Ahmetcelen.com.tr</a:t>
            </a:r>
            <a:endParaRPr lang="tr-TR" sz="1100" b="1" dirty="0">
              <a:solidFill>
                <a:schemeClr val="tx1">
                  <a:lumMod val="85000"/>
                  <a:lumOff val="15000"/>
                </a:schemeClr>
              </a:solidFill>
            </a:endParaRPr>
          </a:p>
        </p:txBody>
      </p:sp>
      <p:sp>
        <p:nvSpPr>
          <p:cNvPr id="91" name="Metin kutusu 90"/>
          <p:cNvSpPr txBox="1"/>
          <p:nvPr/>
        </p:nvSpPr>
        <p:spPr>
          <a:xfrm>
            <a:off x="643178" y="8764522"/>
            <a:ext cx="1561686" cy="261610"/>
          </a:xfrm>
          <a:prstGeom prst="rect">
            <a:avLst/>
          </a:prstGeom>
          <a:noFill/>
        </p:spPr>
        <p:txBody>
          <a:bodyPr wrap="square" rtlCol="0">
            <a:spAutoFit/>
          </a:bodyPr>
          <a:lstStyle/>
          <a:p>
            <a:r>
              <a:rPr lang="tr-TR" sz="1100" b="1" dirty="0" smtClean="0">
                <a:solidFill>
                  <a:schemeClr val="tx1">
                    <a:lumMod val="85000"/>
                    <a:lumOff val="15000"/>
                  </a:schemeClr>
                </a:solidFill>
              </a:rPr>
              <a:t>Ahmetcelen.com.tr</a:t>
            </a:r>
            <a:endParaRPr lang="tr-TR" sz="1100" b="1" dirty="0">
              <a:solidFill>
                <a:schemeClr val="tx1">
                  <a:lumMod val="85000"/>
                  <a:lumOff val="15000"/>
                </a:schemeClr>
              </a:solidFill>
            </a:endParaRPr>
          </a:p>
        </p:txBody>
      </p:sp>
      <p:pic>
        <p:nvPicPr>
          <p:cNvPr id="2051"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68790" y="8108723"/>
            <a:ext cx="324174" cy="3364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790" y="8731182"/>
            <a:ext cx="338929" cy="3282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99309" y="8187863"/>
            <a:ext cx="833187" cy="7899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 name="Resim 9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651" y="129796"/>
            <a:ext cx="2183213" cy="963528"/>
          </a:xfrm>
          <a:prstGeom prst="rect">
            <a:avLst/>
          </a:prstGeom>
        </p:spPr>
      </p:pic>
    </p:spTree>
    <p:extLst>
      <p:ext uri="{BB962C8B-B14F-4D97-AF65-F5344CB8AC3E}">
        <p14:creationId xmlns:p14="http://schemas.microsoft.com/office/powerpoint/2010/main" val="3900611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p:cNvSpPr/>
          <p:nvPr/>
        </p:nvSpPr>
        <p:spPr>
          <a:xfrm>
            <a:off x="2463836" y="1331641"/>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 name="Akış Çizelgesi: Depolanmış Veri 2"/>
          <p:cNvSpPr/>
          <p:nvPr/>
        </p:nvSpPr>
        <p:spPr>
          <a:xfrm>
            <a:off x="2177480" y="179512"/>
            <a:ext cx="4707904" cy="864096"/>
          </a:xfrm>
          <a:prstGeom prst="flowChartOnlineStorag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4" name="Metin kutusu 3"/>
          <p:cNvSpPr txBox="1"/>
          <p:nvPr/>
        </p:nvSpPr>
        <p:spPr>
          <a:xfrm>
            <a:off x="2276872" y="179512"/>
            <a:ext cx="4176464" cy="830997"/>
          </a:xfrm>
          <a:prstGeom prst="rect">
            <a:avLst/>
          </a:prstGeom>
          <a:noFill/>
        </p:spPr>
        <p:txBody>
          <a:bodyPr wrap="square" rtlCol="0">
            <a:spAutoFit/>
          </a:bodyPr>
          <a:lstStyle/>
          <a:p>
            <a:r>
              <a:rPr lang="tr-TR" sz="4800" dirty="0" smtClean="0">
                <a:solidFill>
                  <a:srgbClr val="FFFF00"/>
                </a:solidFill>
              </a:rPr>
              <a:t>Altın</a:t>
            </a:r>
            <a:r>
              <a:rPr lang="tr-TR" sz="4800" dirty="0" smtClean="0">
                <a:solidFill>
                  <a:schemeClr val="bg1"/>
                </a:solidFill>
              </a:rPr>
              <a:t> Tüyolar</a:t>
            </a:r>
            <a:endParaRPr lang="tr-TR" sz="4800" dirty="0">
              <a:solidFill>
                <a:schemeClr val="bg1"/>
              </a:solidFill>
            </a:endParaRPr>
          </a:p>
        </p:txBody>
      </p:sp>
      <p:sp>
        <p:nvSpPr>
          <p:cNvPr id="7" name="Akış Çizelgesi: Depolanmış Veri 6"/>
          <p:cNvSpPr/>
          <p:nvPr/>
        </p:nvSpPr>
        <p:spPr>
          <a:xfrm>
            <a:off x="116632" y="1331641"/>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11"/>
          <p:cNvSpPr/>
          <p:nvPr/>
        </p:nvSpPr>
        <p:spPr>
          <a:xfrm>
            <a:off x="2361987" y="1331640"/>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11</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18" name="Oval 17"/>
          <p:cNvSpPr/>
          <p:nvPr/>
        </p:nvSpPr>
        <p:spPr>
          <a:xfrm>
            <a:off x="5992228" y="1331642"/>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19" name="Akış Çizelgesi: Depolanmış Veri 18"/>
          <p:cNvSpPr/>
          <p:nvPr/>
        </p:nvSpPr>
        <p:spPr>
          <a:xfrm>
            <a:off x="3645024" y="1331642"/>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p:cNvSpPr/>
          <p:nvPr/>
        </p:nvSpPr>
        <p:spPr>
          <a:xfrm>
            <a:off x="5890379" y="1331641"/>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12</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1" name="Oval 20"/>
          <p:cNvSpPr/>
          <p:nvPr/>
        </p:nvSpPr>
        <p:spPr>
          <a:xfrm>
            <a:off x="2463836" y="248376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2" name="Akış Çizelgesi: Depolanmış Veri 21"/>
          <p:cNvSpPr/>
          <p:nvPr/>
        </p:nvSpPr>
        <p:spPr>
          <a:xfrm>
            <a:off x="116632" y="2483766"/>
            <a:ext cx="2808312" cy="936104"/>
          </a:xfrm>
          <a:prstGeom prst="flowChartOnlineStorage">
            <a:avLst/>
          </a:prstGeom>
          <a:solidFill>
            <a:schemeClr val="accent4">
              <a:lumMod val="7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23" name="Dikdörtgen 22"/>
          <p:cNvSpPr/>
          <p:nvPr/>
        </p:nvSpPr>
        <p:spPr>
          <a:xfrm>
            <a:off x="2361987" y="2483765"/>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13</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4" name="Oval 23"/>
          <p:cNvSpPr/>
          <p:nvPr/>
        </p:nvSpPr>
        <p:spPr>
          <a:xfrm>
            <a:off x="5992228" y="2483767"/>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5" name="Akış Çizelgesi: Depolanmış Veri 24"/>
          <p:cNvSpPr/>
          <p:nvPr/>
        </p:nvSpPr>
        <p:spPr>
          <a:xfrm>
            <a:off x="3645024" y="2483767"/>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Dikdörtgen 25"/>
          <p:cNvSpPr/>
          <p:nvPr/>
        </p:nvSpPr>
        <p:spPr>
          <a:xfrm>
            <a:off x="5890379" y="2483766"/>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14</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7" name="Oval 26"/>
          <p:cNvSpPr/>
          <p:nvPr/>
        </p:nvSpPr>
        <p:spPr>
          <a:xfrm>
            <a:off x="2446756" y="363589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8" name="Akış Çizelgesi: Depolanmış Veri 27"/>
          <p:cNvSpPr/>
          <p:nvPr/>
        </p:nvSpPr>
        <p:spPr>
          <a:xfrm>
            <a:off x="99552" y="3635894"/>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Dikdörtgen 28"/>
          <p:cNvSpPr/>
          <p:nvPr/>
        </p:nvSpPr>
        <p:spPr>
          <a:xfrm>
            <a:off x="2344907" y="3635893"/>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15</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0" name="Oval 29"/>
          <p:cNvSpPr/>
          <p:nvPr/>
        </p:nvSpPr>
        <p:spPr>
          <a:xfrm>
            <a:off x="5975148" y="36358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1" name="Akış Çizelgesi: Depolanmış Veri 30"/>
          <p:cNvSpPr/>
          <p:nvPr/>
        </p:nvSpPr>
        <p:spPr>
          <a:xfrm>
            <a:off x="3627944" y="36358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Dikdörtgen 31"/>
          <p:cNvSpPr/>
          <p:nvPr/>
        </p:nvSpPr>
        <p:spPr>
          <a:xfrm>
            <a:off x="5873299" y="3635894"/>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16</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3" name="Oval 32"/>
          <p:cNvSpPr/>
          <p:nvPr/>
        </p:nvSpPr>
        <p:spPr>
          <a:xfrm>
            <a:off x="2463836" y="478802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4" name="Akış Çizelgesi: Depolanmış Veri 33"/>
          <p:cNvSpPr/>
          <p:nvPr/>
        </p:nvSpPr>
        <p:spPr>
          <a:xfrm>
            <a:off x="116632" y="4788024"/>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Dikdörtgen 34"/>
          <p:cNvSpPr/>
          <p:nvPr/>
        </p:nvSpPr>
        <p:spPr>
          <a:xfrm>
            <a:off x="2361987" y="4788023"/>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17</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6" name="Oval 35"/>
          <p:cNvSpPr/>
          <p:nvPr/>
        </p:nvSpPr>
        <p:spPr>
          <a:xfrm>
            <a:off x="5992228" y="478802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7" name="Akış Çizelgesi: Depolanmış Veri 36"/>
          <p:cNvSpPr/>
          <p:nvPr/>
        </p:nvSpPr>
        <p:spPr>
          <a:xfrm>
            <a:off x="3645024" y="4788025"/>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Dikdörtgen 37"/>
          <p:cNvSpPr/>
          <p:nvPr/>
        </p:nvSpPr>
        <p:spPr>
          <a:xfrm>
            <a:off x="5890379" y="4788024"/>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18</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45" name="Oval 44"/>
          <p:cNvSpPr/>
          <p:nvPr/>
        </p:nvSpPr>
        <p:spPr>
          <a:xfrm>
            <a:off x="2504276" y="59062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6" name="Akış Çizelgesi: Depolanmış Veri 45"/>
          <p:cNvSpPr/>
          <p:nvPr/>
        </p:nvSpPr>
        <p:spPr>
          <a:xfrm>
            <a:off x="157072" y="59062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Dikdörtgen 46"/>
          <p:cNvSpPr/>
          <p:nvPr/>
        </p:nvSpPr>
        <p:spPr>
          <a:xfrm>
            <a:off x="2402427" y="5906294"/>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19</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48" name="Oval 47"/>
          <p:cNvSpPr/>
          <p:nvPr/>
        </p:nvSpPr>
        <p:spPr>
          <a:xfrm>
            <a:off x="6032668" y="590629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9" name="Akış Çizelgesi: Depolanmış Veri 48"/>
          <p:cNvSpPr/>
          <p:nvPr/>
        </p:nvSpPr>
        <p:spPr>
          <a:xfrm>
            <a:off x="3685464" y="5906296"/>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0" name="Dikdörtgen 49"/>
          <p:cNvSpPr/>
          <p:nvPr/>
        </p:nvSpPr>
        <p:spPr>
          <a:xfrm>
            <a:off x="5930819" y="5906295"/>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20</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57" name="Oval 56"/>
          <p:cNvSpPr/>
          <p:nvPr/>
        </p:nvSpPr>
        <p:spPr>
          <a:xfrm>
            <a:off x="2508960" y="7020270"/>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58" name="Akış Çizelgesi: Depolanmış Veri 57"/>
          <p:cNvSpPr/>
          <p:nvPr/>
        </p:nvSpPr>
        <p:spPr>
          <a:xfrm>
            <a:off x="161756" y="7020270"/>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9" name="Dikdörtgen 58"/>
          <p:cNvSpPr/>
          <p:nvPr/>
        </p:nvSpPr>
        <p:spPr>
          <a:xfrm>
            <a:off x="2407111" y="7020269"/>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21</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60" name="Oval 59"/>
          <p:cNvSpPr/>
          <p:nvPr/>
        </p:nvSpPr>
        <p:spPr>
          <a:xfrm>
            <a:off x="6037352" y="7020271"/>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61" name="Akış Çizelgesi: Depolanmış Veri 60"/>
          <p:cNvSpPr/>
          <p:nvPr/>
        </p:nvSpPr>
        <p:spPr>
          <a:xfrm>
            <a:off x="3690148" y="7020271"/>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2" name="Dikdörtgen 61"/>
          <p:cNvSpPr/>
          <p:nvPr/>
        </p:nvSpPr>
        <p:spPr>
          <a:xfrm>
            <a:off x="5935503" y="7020270"/>
            <a:ext cx="995786" cy="923330"/>
          </a:xfrm>
          <a:prstGeom prst="rect">
            <a:avLst/>
          </a:prstGeom>
          <a:noFill/>
        </p:spPr>
        <p:txBody>
          <a:bodyPr wrap="none" lIns="91440" tIns="45720" rIns="91440" bIns="45720">
            <a:spAutoFit/>
          </a:bodyPr>
          <a:lstStyle/>
          <a:p>
            <a:pPr algn="ctr"/>
            <a:r>
              <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a:t>
            </a: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69" name="Metin kutusu 68"/>
          <p:cNvSpPr txBox="1"/>
          <p:nvPr/>
        </p:nvSpPr>
        <p:spPr>
          <a:xfrm>
            <a:off x="332656" y="1403648"/>
            <a:ext cx="2114100" cy="600164"/>
          </a:xfrm>
          <a:prstGeom prst="rect">
            <a:avLst/>
          </a:prstGeom>
          <a:noFill/>
        </p:spPr>
        <p:txBody>
          <a:bodyPr wrap="square" rtlCol="0">
            <a:spAutoFit/>
          </a:bodyPr>
          <a:lstStyle/>
          <a:p>
            <a:r>
              <a:rPr lang="tr-TR" sz="1100" dirty="0" smtClean="0">
                <a:solidFill>
                  <a:schemeClr val="bg1"/>
                </a:solidFill>
              </a:rPr>
              <a:t>Parabol tanım olarak sınırlandırılmamışsa grafik sonsuza doğru ilerler. </a:t>
            </a:r>
          </a:p>
        </p:txBody>
      </p:sp>
      <p:sp>
        <p:nvSpPr>
          <p:cNvPr id="70" name="Metin kutusu 69"/>
          <p:cNvSpPr txBox="1"/>
          <p:nvPr/>
        </p:nvSpPr>
        <p:spPr>
          <a:xfrm>
            <a:off x="3808296" y="1426295"/>
            <a:ext cx="2285000" cy="769441"/>
          </a:xfrm>
          <a:prstGeom prst="rect">
            <a:avLst/>
          </a:prstGeom>
          <a:noFill/>
        </p:spPr>
        <p:txBody>
          <a:bodyPr wrap="square" rtlCol="0">
            <a:spAutoFit/>
          </a:bodyPr>
          <a:lstStyle/>
          <a:p>
            <a:r>
              <a:rPr lang="tr-TR" sz="1100" dirty="0" smtClean="0">
                <a:solidFill>
                  <a:schemeClr val="bg1"/>
                </a:solidFill>
              </a:rPr>
              <a:t>Parabol eğer tanım olarak sınırlandırılmışsa verilen tanıma göre grafik çizilir ve sorular o tanım kriterine göre çözülür.</a:t>
            </a:r>
          </a:p>
        </p:txBody>
      </p:sp>
      <p:sp>
        <p:nvSpPr>
          <p:cNvPr id="71" name="Metin kutusu 70"/>
          <p:cNvSpPr txBox="1"/>
          <p:nvPr/>
        </p:nvSpPr>
        <p:spPr>
          <a:xfrm>
            <a:off x="202440" y="2567098"/>
            <a:ext cx="2285000" cy="769441"/>
          </a:xfrm>
          <a:prstGeom prst="rect">
            <a:avLst/>
          </a:prstGeom>
          <a:noFill/>
        </p:spPr>
        <p:txBody>
          <a:bodyPr wrap="square" rtlCol="0">
            <a:spAutoFit/>
          </a:bodyPr>
          <a:lstStyle/>
          <a:p>
            <a:r>
              <a:rPr lang="tr-TR" sz="1100" dirty="0" smtClean="0">
                <a:solidFill>
                  <a:schemeClr val="bg1"/>
                </a:solidFill>
              </a:rPr>
              <a:t>Parabolün tanımlı olduğu aralıkta tepe noktası yoksa en büyük veya küçük değerleri tanımlı olduğu ilk ve son sayılar belirler.</a:t>
            </a:r>
          </a:p>
        </p:txBody>
      </p:sp>
      <p:sp>
        <p:nvSpPr>
          <p:cNvPr id="72" name="Metin kutusu 71"/>
          <p:cNvSpPr txBox="1"/>
          <p:nvPr/>
        </p:nvSpPr>
        <p:spPr>
          <a:xfrm>
            <a:off x="3741020" y="2553213"/>
            <a:ext cx="2285000" cy="769441"/>
          </a:xfrm>
          <a:prstGeom prst="rect">
            <a:avLst/>
          </a:prstGeom>
          <a:noFill/>
        </p:spPr>
        <p:txBody>
          <a:bodyPr wrap="square" rtlCol="0">
            <a:spAutoFit/>
          </a:bodyPr>
          <a:lstStyle/>
          <a:p>
            <a:r>
              <a:rPr lang="tr-TR" sz="1100" dirty="0" smtClean="0">
                <a:solidFill>
                  <a:schemeClr val="bg1"/>
                </a:solidFill>
              </a:rPr>
              <a:t>Kapalı ve açık parantezler sınırlar için önem taşımaktadır.</a:t>
            </a:r>
          </a:p>
          <a:p>
            <a:r>
              <a:rPr lang="tr-TR" sz="1100" dirty="0" smtClean="0">
                <a:solidFill>
                  <a:schemeClr val="bg1"/>
                </a:solidFill>
              </a:rPr>
              <a:t>Sorularda kapalı ve açık parantezlere dikkat edilmelidir.</a:t>
            </a:r>
          </a:p>
        </p:txBody>
      </p:sp>
      <p:sp>
        <p:nvSpPr>
          <p:cNvPr id="73" name="Metin kutusu 72"/>
          <p:cNvSpPr txBox="1"/>
          <p:nvPr/>
        </p:nvSpPr>
        <p:spPr>
          <a:xfrm>
            <a:off x="174289" y="3658543"/>
            <a:ext cx="2390615" cy="769441"/>
          </a:xfrm>
          <a:prstGeom prst="rect">
            <a:avLst/>
          </a:prstGeom>
          <a:noFill/>
        </p:spPr>
        <p:txBody>
          <a:bodyPr wrap="square" rtlCol="0">
            <a:spAutoFit/>
          </a:bodyPr>
          <a:lstStyle/>
          <a:p>
            <a:r>
              <a:rPr lang="tr-TR" sz="1100" dirty="0">
                <a:solidFill>
                  <a:srgbClr val="FFFF00"/>
                </a:solidFill>
              </a:rPr>
              <a:t>Kapalı parantez </a:t>
            </a:r>
            <a:r>
              <a:rPr lang="tr-TR" sz="1100" dirty="0" smtClean="0">
                <a:solidFill>
                  <a:srgbClr val="FFFF00"/>
                </a:solidFill>
              </a:rPr>
              <a:t>[ ] </a:t>
            </a:r>
            <a:r>
              <a:rPr lang="tr-TR" sz="1100" dirty="0">
                <a:solidFill>
                  <a:srgbClr val="FFFF00"/>
                </a:solidFill>
              </a:rPr>
              <a:t>işaretleri </a:t>
            </a:r>
          </a:p>
          <a:p>
            <a:r>
              <a:rPr lang="tr-TR" sz="1100" dirty="0" smtClean="0">
                <a:solidFill>
                  <a:schemeClr val="bg1"/>
                </a:solidFill>
              </a:rPr>
              <a:t>Dahil olduğu anlamına gelir.</a:t>
            </a:r>
          </a:p>
          <a:p>
            <a:r>
              <a:rPr lang="tr-TR" sz="1100" dirty="0" smtClean="0">
                <a:solidFill>
                  <a:schemeClr val="bg1"/>
                </a:solidFill>
              </a:rPr>
              <a:t>Örneğin : </a:t>
            </a:r>
            <a:r>
              <a:rPr lang="tr-TR" sz="1100" dirty="0" smtClean="0">
                <a:solidFill>
                  <a:srgbClr val="FFFF00"/>
                </a:solidFill>
              </a:rPr>
              <a:t>[1,3] </a:t>
            </a:r>
            <a:r>
              <a:rPr lang="tr-TR" sz="1100" dirty="0" smtClean="0">
                <a:solidFill>
                  <a:schemeClr val="bg1"/>
                </a:solidFill>
              </a:rPr>
              <a:t>aralığı tam sayı</a:t>
            </a:r>
          </a:p>
          <a:p>
            <a:r>
              <a:rPr lang="tr-TR" sz="1100" dirty="0" smtClean="0">
                <a:solidFill>
                  <a:schemeClr val="bg1"/>
                </a:solidFill>
              </a:rPr>
              <a:t>1,2,3 sayılarını içerir. </a:t>
            </a:r>
            <a:r>
              <a:rPr lang="tr-TR" sz="1100" dirty="0" smtClean="0">
                <a:solidFill>
                  <a:srgbClr val="FFFF00"/>
                </a:solidFill>
              </a:rPr>
              <a:t>1 ve 3 dahil.</a:t>
            </a:r>
            <a:endParaRPr lang="tr-TR" sz="1100" dirty="0">
              <a:solidFill>
                <a:srgbClr val="FFFF00"/>
              </a:solidFill>
            </a:endParaRPr>
          </a:p>
        </p:txBody>
      </p:sp>
      <p:sp>
        <p:nvSpPr>
          <p:cNvPr id="74" name="Metin kutusu 73"/>
          <p:cNvSpPr txBox="1"/>
          <p:nvPr/>
        </p:nvSpPr>
        <p:spPr>
          <a:xfrm>
            <a:off x="3750776" y="3635896"/>
            <a:ext cx="2342520" cy="1107996"/>
          </a:xfrm>
          <a:prstGeom prst="rect">
            <a:avLst/>
          </a:prstGeom>
          <a:noFill/>
        </p:spPr>
        <p:txBody>
          <a:bodyPr wrap="square" rtlCol="0">
            <a:spAutoFit/>
          </a:bodyPr>
          <a:lstStyle/>
          <a:p>
            <a:r>
              <a:rPr lang="tr-TR" sz="1100" dirty="0" smtClean="0">
                <a:solidFill>
                  <a:srgbClr val="FFFF00"/>
                </a:solidFill>
              </a:rPr>
              <a:t>Açık parantez ( ) </a:t>
            </a:r>
            <a:r>
              <a:rPr lang="tr-TR" sz="1100" dirty="0">
                <a:solidFill>
                  <a:srgbClr val="FFFF00"/>
                </a:solidFill>
              </a:rPr>
              <a:t>işaretleri </a:t>
            </a:r>
          </a:p>
          <a:p>
            <a:r>
              <a:rPr lang="tr-TR" sz="1100" dirty="0" smtClean="0">
                <a:solidFill>
                  <a:schemeClr val="bg1"/>
                </a:solidFill>
              </a:rPr>
              <a:t>Dahil olmadığı anlamına gelir.</a:t>
            </a:r>
          </a:p>
          <a:p>
            <a:r>
              <a:rPr lang="tr-TR" sz="1100" dirty="0" smtClean="0">
                <a:solidFill>
                  <a:schemeClr val="bg1"/>
                </a:solidFill>
              </a:rPr>
              <a:t>Örneğin : </a:t>
            </a:r>
            <a:r>
              <a:rPr lang="tr-TR" sz="1100" dirty="0" smtClean="0">
                <a:solidFill>
                  <a:srgbClr val="FFFF00"/>
                </a:solidFill>
              </a:rPr>
              <a:t>(4,7) </a:t>
            </a:r>
            <a:r>
              <a:rPr lang="tr-TR" sz="1100" dirty="0" smtClean="0">
                <a:solidFill>
                  <a:schemeClr val="bg1"/>
                </a:solidFill>
              </a:rPr>
              <a:t>aralığı tam sayılar</a:t>
            </a:r>
          </a:p>
          <a:p>
            <a:r>
              <a:rPr lang="tr-TR" sz="1100" dirty="0" smtClean="0">
                <a:solidFill>
                  <a:schemeClr val="bg1"/>
                </a:solidFill>
              </a:rPr>
              <a:t>5,6 sayılarını içerir. </a:t>
            </a:r>
            <a:r>
              <a:rPr lang="tr-TR" sz="1100" dirty="0" smtClean="0">
                <a:solidFill>
                  <a:srgbClr val="FFFF00"/>
                </a:solidFill>
              </a:rPr>
              <a:t>4 ve 7 dahil değildir.</a:t>
            </a:r>
          </a:p>
          <a:p>
            <a:endParaRPr lang="tr-TR" sz="1100" dirty="0">
              <a:solidFill>
                <a:schemeClr val="bg1"/>
              </a:solidFill>
            </a:endParaRPr>
          </a:p>
        </p:txBody>
      </p:sp>
      <p:sp>
        <p:nvSpPr>
          <p:cNvPr id="75" name="Metin kutusu 74"/>
          <p:cNvSpPr txBox="1"/>
          <p:nvPr/>
        </p:nvSpPr>
        <p:spPr>
          <a:xfrm>
            <a:off x="213164" y="4864967"/>
            <a:ext cx="2285000" cy="769441"/>
          </a:xfrm>
          <a:prstGeom prst="rect">
            <a:avLst/>
          </a:prstGeom>
          <a:noFill/>
        </p:spPr>
        <p:txBody>
          <a:bodyPr wrap="square" rtlCol="0">
            <a:spAutoFit/>
          </a:bodyPr>
          <a:lstStyle/>
          <a:p>
            <a:r>
              <a:rPr lang="tr-TR" sz="1100" dirty="0" smtClean="0">
                <a:solidFill>
                  <a:schemeClr val="bg1"/>
                </a:solidFill>
              </a:rPr>
              <a:t>[4,7) aralığı tam sayı olarak</a:t>
            </a:r>
          </a:p>
          <a:p>
            <a:r>
              <a:rPr lang="tr-TR" sz="1100" dirty="0" smtClean="0">
                <a:solidFill>
                  <a:schemeClr val="bg1"/>
                </a:solidFill>
              </a:rPr>
              <a:t>4 </a:t>
            </a:r>
            <a:r>
              <a:rPr lang="tr-TR" sz="1100" dirty="0" smtClean="0">
                <a:solidFill>
                  <a:srgbClr val="FFFF00"/>
                </a:solidFill>
              </a:rPr>
              <a:t>kapalı</a:t>
            </a:r>
            <a:r>
              <a:rPr lang="tr-TR" sz="1100" dirty="0" smtClean="0">
                <a:solidFill>
                  <a:schemeClr val="bg1"/>
                </a:solidFill>
              </a:rPr>
              <a:t> parantez 7 </a:t>
            </a:r>
            <a:r>
              <a:rPr lang="tr-TR" sz="1100" dirty="0" smtClean="0"/>
              <a:t>açık</a:t>
            </a:r>
            <a:r>
              <a:rPr lang="tr-TR" sz="1100" dirty="0" smtClean="0">
                <a:solidFill>
                  <a:schemeClr val="bg1"/>
                </a:solidFill>
              </a:rPr>
              <a:t> parantez</a:t>
            </a:r>
          </a:p>
          <a:p>
            <a:r>
              <a:rPr lang="tr-TR" sz="1100" dirty="0" smtClean="0">
                <a:solidFill>
                  <a:schemeClr val="bg1"/>
                </a:solidFill>
              </a:rPr>
              <a:t>4 </a:t>
            </a:r>
            <a:r>
              <a:rPr lang="tr-TR" sz="1100" dirty="0" smtClean="0">
                <a:solidFill>
                  <a:srgbClr val="FFFF00"/>
                </a:solidFill>
              </a:rPr>
              <a:t>dahil</a:t>
            </a:r>
            <a:r>
              <a:rPr lang="tr-TR" sz="1100" dirty="0" smtClean="0">
                <a:solidFill>
                  <a:schemeClr val="bg1"/>
                </a:solidFill>
              </a:rPr>
              <a:t> 7 </a:t>
            </a:r>
            <a:r>
              <a:rPr lang="tr-TR" sz="1100" dirty="0" smtClean="0"/>
              <a:t>dahil</a:t>
            </a:r>
            <a:r>
              <a:rPr lang="tr-TR" sz="1100" dirty="0" smtClean="0">
                <a:solidFill>
                  <a:schemeClr val="bg1"/>
                </a:solidFill>
              </a:rPr>
              <a:t> </a:t>
            </a:r>
            <a:r>
              <a:rPr lang="tr-TR" sz="1100" dirty="0" smtClean="0"/>
              <a:t>olmayacaktır</a:t>
            </a:r>
            <a:r>
              <a:rPr lang="tr-TR" sz="1100" dirty="0" smtClean="0">
                <a:solidFill>
                  <a:schemeClr val="bg1"/>
                </a:solidFill>
              </a:rPr>
              <a:t>.</a:t>
            </a:r>
          </a:p>
          <a:p>
            <a:r>
              <a:rPr lang="tr-TR" sz="1100" dirty="0" smtClean="0">
                <a:solidFill>
                  <a:schemeClr val="bg1"/>
                </a:solidFill>
              </a:rPr>
              <a:t>4,5,6 sayılarını içerir.</a:t>
            </a:r>
          </a:p>
        </p:txBody>
      </p:sp>
      <p:sp>
        <p:nvSpPr>
          <p:cNvPr id="76" name="Metin kutusu 75"/>
          <p:cNvSpPr txBox="1"/>
          <p:nvPr/>
        </p:nvSpPr>
        <p:spPr>
          <a:xfrm>
            <a:off x="476672" y="45600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7" name="Metin kutusu 76"/>
          <p:cNvSpPr txBox="1"/>
          <p:nvPr/>
        </p:nvSpPr>
        <p:spPr>
          <a:xfrm>
            <a:off x="4192360" y="45592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9" name="Metin kutusu 78"/>
          <p:cNvSpPr txBox="1"/>
          <p:nvPr/>
        </p:nvSpPr>
        <p:spPr>
          <a:xfrm>
            <a:off x="3752352" y="4864967"/>
            <a:ext cx="2285000" cy="769441"/>
          </a:xfrm>
          <a:prstGeom prst="rect">
            <a:avLst/>
          </a:prstGeom>
          <a:noFill/>
        </p:spPr>
        <p:txBody>
          <a:bodyPr wrap="square" rtlCol="0">
            <a:spAutoFit/>
          </a:bodyPr>
          <a:lstStyle/>
          <a:p>
            <a:r>
              <a:rPr lang="tr-TR" sz="1100" dirty="0" smtClean="0">
                <a:solidFill>
                  <a:schemeClr val="bg1"/>
                </a:solidFill>
              </a:rPr>
              <a:t>Yeni nesil parabol sorularında parabolün başlangıç noktasını orijin olarak almak büyük kolaylık sağlayabilir.</a:t>
            </a:r>
          </a:p>
        </p:txBody>
      </p:sp>
      <p:sp>
        <p:nvSpPr>
          <p:cNvPr id="80" name="Metin kutusu 79"/>
          <p:cNvSpPr txBox="1"/>
          <p:nvPr/>
        </p:nvSpPr>
        <p:spPr>
          <a:xfrm>
            <a:off x="332656" y="5940152"/>
            <a:ext cx="2285000" cy="1107996"/>
          </a:xfrm>
          <a:prstGeom prst="rect">
            <a:avLst/>
          </a:prstGeom>
          <a:noFill/>
        </p:spPr>
        <p:txBody>
          <a:bodyPr wrap="square" rtlCol="0">
            <a:spAutoFit/>
          </a:bodyPr>
          <a:lstStyle/>
          <a:p>
            <a:r>
              <a:rPr lang="tr-TR" sz="1100" dirty="0" smtClean="0">
                <a:solidFill>
                  <a:schemeClr val="bg1"/>
                </a:solidFill>
              </a:rPr>
              <a:t>Parabolün tepe noktası ve bir kökü verilmişse diğer kök simetri ekseni yardımıyla tespit edilir.</a:t>
            </a:r>
          </a:p>
          <a:p>
            <a:r>
              <a:rPr lang="tr-TR" sz="1100" dirty="0" smtClean="0">
                <a:solidFill>
                  <a:schemeClr val="bg1"/>
                </a:solidFill>
              </a:rPr>
              <a:t>Tepe noktası her iki köke eşit uzaklıktadır.</a:t>
            </a:r>
          </a:p>
          <a:p>
            <a:endParaRPr lang="tr-TR" sz="1100" dirty="0" smtClean="0">
              <a:solidFill>
                <a:schemeClr val="bg1"/>
              </a:solidFill>
            </a:endParaRPr>
          </a:p>
        </p:txBody>
      </p:sp>
      <p:sp>
        <p:nvSpPr>
          <p:cNvPr id="81" name="Metin kutusu 80"/>
          <p:cNvSpPr txBox="1"/>
          <p:nvPr/>
        </p:nvSpPr>
        <p:spPr>
          <a:xfrm>
            <a:off x="3801468" y="5989627"/>
            <a:ext cx="2435844" cy="769441"/>
          </a:xfrm>
          <a:prstGeom prst="rect">
            <a:avLst/>
          </a:prstGeom>
          <a:noFill/>
        </p:spPr>
        <p:txBody>
          <a:bodyPr wrap="square" rtlCol="0">
            <a:spAutoFit/>
          </a:bodyPr>
          <a:lstStyle/>
          <a:p>
            <a:r>
              <a:rPr lang="tr-TR" sz="1100" dirty="0" smtClean="0">
                <a:solidFill>
                  <a:schemeClr val="bg1"/>
                </a:solidFill>
              </a:rPr>
              <a:t>Tepe noktası T (</a:t>
            </a:r>
            <a:r>
              <a:rPr lang="tr-TR" sz="1100" dirty="0" err="1" smtClean="0">
                <a:solidFill>
                  <a:schemeClr val="bg1"/>
                </a:solidFill>
              </a:rPr>
              <a:t>r,k</a:t>
            </a:r>
            <a:r>
              <a:rPr lang="tr-TR" sz="1100" dirty="0" smtClean="0">
                <a:solidFill>
                  <a:schemeClr val="bg1"/>
                </a:solidFill>
              </a:rPr>
              <a:t>)</a:t>
            </a:r>
          </a:p>
          <a:p>
            <a:r>
              <a:rPr lang="tr-TR" sz="1100" dirty="0" smtClean="0">
                <a:solidFill>
                  <a:schemeClr val="bg1"/>
                </a:solidFill>
              </a:rPr>
              <a:t>Birinci kök a, ikinci kök b olsun</a:t>
            </a:r>
          </a:p>
          <a:p>
            <a:r>
              <a:rPr lang="tr-TR" sz="1100" dirty="0" smtClean="0">
                <a:solidFill>
                  <a:schemeClr val="bg1"/>
                </a:solidFill>
              </a:rPr>
              <a:t>|r-a| =  |r-b|</a:t>
            </a:r>
            <a:r>
              <a:rPr lang="tr-TR" sz="1100" dirty="0">
                <a:solidFill>
                  <a:schemeClr val="bg1"/>
                </a:solidFill>
              </a:rPr>
              <a:t> </a:t>
            </a:r>
            <a:r>
              <a:rPr lang="tr-TR" sz="1100" dirty="0" smtClean="0">
                <a:solidFill>
                  <a:schemeClr val="bg1"/>
                </a:solidFill>
              </a:rPr>
              <a:t>sağlanır. r = 5 olsun</a:t>
            </a:r>
          </a:p>
          <a:p>
            <a:r>
              <a:rPr lang="tr-TR" sz="1100" noProof="1" smtClean="0">
                <a:solidFill>
                  <a:schemeClr val="bg1"/>
                </a:solidFill>
              </a:rPr>
              <a:t>b= 10 ise a = 0 apsisli noktadır.</a:t>
            </a:r>
          </a:p>
        </p:txBody>
      </p:sp>
      <mc:AlternateContent xmlns:mc="http://schemas.openxmlformats.org/markup-compatibility/2006" xmlns:a14="http://schemas.microsoft.com/office/drawing/2010/main">
        <mc:Choice Requires="a14">
          <p:sp>
            <p:nvSpPr>
              <p:cNvPr id="82" name="Metin kutusu 81"/>
              <p:cNvSpPr txBox="1"/>
              <p:nvPr/>
            </p:nvSpPr>
            <p:spPr>
              <a:xfrm>
                <a:off x="44624" y="7020272"/>
                <a:ext cx="1292741" cy="45365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box>
                        <m:boxPr>
                          <m:ctrlPr>
                            <a:rPr lang="tr-TR" sz="2000" i="1" smtClean="0">
                              <a:solidFill>
                                <a:schemeClr val="bg1"/>
                              </a:solidFill>
                              <a:latin typeface="Cambria Math"/>
                            </a:rPr>
                          </m:ctrlPr>
                        </m:boxPr>
                        <m:e>
                          <m:argPr>
                            <m:argSz m:val="-1"/>
                          </m:argPr>
                          <m:f>
                            <m:fPr>
                              <m:ctrlPr>
                                <a:rPr lang="tr-TR" sz="2000" i="1" smtClean="0">
                                  <a:solidFill>
                                    <a:schemeClr val="bg1"/>
                                  </a:solidFill>
                                  <a:latin typeface="Cambria Math"/>
                                </a:rPr>
                              </m:ctrlPr>
                            </m:fPr>
                            <m:num>
                              <m:r>
                                <m:rPr>
                                  <m:sty m:val="p"/>
                                </m:rPr>
                                <a:rPr lang="tr-TR" sz="2000" b="0" i="0" smtClean="0">
                                  <a:solidFill>
                                    <a:schemeClr val="bg1"/>
                                  </a:solidFill>
                                  <a:latin typeface="Cambria Math"/>
                                </a:rPr>
                                <m:t>y</m:t>
                              </m:r>
                              <m:r>
                                <a:rPr lang="tr-TR" sz="2000" b="0" i="0" smtClean="0">
                                  <a:solidFill>
                                    <a:schemeClr val="bg1"/>
                                  </a:solidFill>
                                  <a:latin typeface="Cambria Math"/>
                                </a:rPr>
                                <m:t> −</m:t>
                              </m:r>
                              <m:r>
                                <m:rPr>
                                  <m:sty m:val="p"/>
                                </m:rPr>
                                <a:rPr lang="tr-TR" sz="2000" b="0" i="0" smtClean="0">
                                  <a:solidFill>
                                    <a:schemeClr val="bg1"/>
                                  </a:solidFill>
                                  <a:latin typeface="Cambria Math"/>
                                </a:rPr>
                                <m:t>y</m:t>
                              </m:r>
                              <m:r>
                                <a:rPr lang="tr-TR" sz="2000" b="0" i="0" smtClean="0">
                                  <a:solidFill>
                                    <a:schemeClr val="bg1"/>
                                  </a:solidFill>
                                  <a:latin typeface="Cambria Math"/>
                                </a:rPr>
                                <m:t>1</m:t>
                              </m:r>
                            </m:num>
                            <m:den>
                              <m:r>
                                <m:rPr>
                                  <m:sty m:val="p"/>
                                </m:rPr>
                                <a:rPr lang="tr-TR" sz="2000" b="0" i="0" smtClean="0">
                                  <a:solidFill>
                                    <a:schemeClr val="bg1"/>
                                  </a:solidFill>
                                  <a:latin typeface="Cambria Math"/>
                                </a:rPr>
                                <m:t>x</m:t>
                              </m:r>
                              <m:r>
                                <a:rPr lang="tr-TR" sz="2000" b="0" i="0" smtClean="0">
                                  <a:solidFill>
                                    <a:schemeClr val="bg1"/>
                                  </a:solidFill>
                                  <a:latin typeface="Cambria Math"/>
                                </a:rPr>
                                <m:t> −</m:t>
                              </m:r>
                              <m:r>
                                <m:rPr>
                                  <m:sty m:val="p"/>
                                </m:rPr>
                                <a:rPr lang="tr-TR" sz="2000" b="0" i="0" smtClean="0">
                                  <a:solidFill>
                                    <a:schemeClr val="bg1"/>
                                  </a:solidFill>
                                  <a:latin typeface="Cambria Math"/>
                                </a:rPr>
                                <m:t>x</m:t>
                              </m:r>
                              <m:r>
                                <a:rPr lang="tr-TR" sz="2000" b="0" i="0" smtClean="0">
                                  <a:solidFill>
                                    <a:schemeClr val="bg1"/>
                                  </a:solidFill>
                                  <a:latin typeface="Cambria Math"/>
                                </a:rPr>
                                <m:t>1</m:t>
                              </m:r>
                            </m:den>
                          </m:f>
                        </m:e>
                      </m:box>
                    </m:oMath>
                  </m:oMathPara>
                </a14:m>
                <a:endParaRPr lang="tr-TR" sz="2000" dirty="0" smtClean="0">
                  <a:solidFill>
                    <a:schemeClr val="bg1"/>
                  </a:solidFill>
                </a:endParaRPr>
              </a:p>
            </p:txBody>
          </p:sp>
        </mc:Choice>
        <mc:Fallback xmlns="">
          <p:sp>
            <p:nvSpPr>
              <p:cNvPr id="82" name="Metin kutusu 81"/>
              <p:cNvSpPr txBox="1">
                <a:spLocks noRot="1" noChangeAspect="1" noMove="1" noResize="1" noEditPoints="1" noAdjustHandles="1" noChangeArrowheads="1" noChangeShapeType="1" noTextEdit="1"/>
              </p:cNvSpPr>
              <p:nvPr/>
            </p:nvSpPr>
            <p:spPr>
              <a:xfrm>
                <a:off x="44624" y="7020272"/>
                <a:ext cx="1292741" cy="453650"/>
              </a:xfrm>
              <a:prstGeom prst="rect">
                <a:avLst/>
              </a:prstGeom>
              <a:blipFill rotWithShape="1">
                <a:blip r:embed="rId2"/>
                <a:stretch>
                  <a:fillRect b="-1351"/>
                </a:stretch>
              </a:blipFill>
            </p:spPr>
            <p:txBody>
              <a:bodyPr/>
              <a:lstStyle/>
              <a:p>
                <a:r>
                  <a:rPr lang="tr-TR">
                    <a:noFill/>
                  </a:rPr>
                  <a:t> </a:t>
                </a:r>
              </a:p>
            </p:txBody>
          </p:sp>
        </mc:Fallback>
      </mc:AlternateContent>
      <p:sp>
        <p:nvSpPr>
          <p:cNvPr id="83" name="Metin kutusu 82"/>
          <p:cNvSpPr txBox="1"/>
          <p:nvPr/>
        </p:nvSpPr>
        <p:spPr>
          <a:xfrm>
            <a:off x="3791078" y="7092587"/>
            <a:ext cx="2446233" cy="769441"/>
          </a:xfrm>
          <a:prstGeom prst="rect">
            <a:avLst/>
          </a:prstGeom>
          <a:noFill/>
        </p:spPr>
        <p:txBody>
          <a:bodyPr wrap="square" rtlCol="0">
            <a:spAutoFit/>
          </a:bodyPr>
          <a:lstStyle/>
          <a:p>
            <a:r>
              <a:rPr lang="tr-TR" sz="1100" dirty="0" smtClean="0">
                <a:solidFill>
                  <a:schemeClr val="bg1"/>
                </a:solidFill>
              </a:rPr>
              <a:t>Paraboller ikinci dereceden denklemlerdir. O yüzden ikinci dereceden denklemlerde eksiğiniz varsa konu anlatımlarımıza bakın.</a:t>
            </a:r>
            <a:endParaRPr lang="tr-TR" sz="1100" dirty="0">
              <a:solidFill>
                <a:schemeClr val="bg1"/>
              </a:solidFill>
            </a:endParaRPr>
          </a:p>
        </p:txBody>
      </p:sp>
      <p:sp>
        <p:nvSpPr>
          <p:cNvPr id="84" name="Beşgen 83"/>
          <p:cNvSpPr/>
          <p:nvPr/>
        </p:nvSpPr>
        <p:spPr>
          <a:xfrm rot="10800000">
            <a:off x="3545024" y="8183700"/>
            <a:ext cx="3287844" cy="864096"/>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6" name="Metin kutusu 85"/>
          <p:cNvSpPr txBox="1"/>
          <p:nvPr/>
        </p:nvSpPr>
        <p:spPr>
          <a:xfrm>
            <a:off x="3992614" y="8316416"/>
            <a:ext cx="2388714" cy="600164"/>
          </a:xfrm>
          <a:prstGeom prst="rect">
            <a:avLst/>
          </a:prstGeom>
          <a:noFill/>
        </p:spPr>
        <p:txBody>
          <a:bodyPr wrap="square" rtlCol="0">
            <a:spAutoFit/>
          </a:bodyPr>
          <a:lstStyle/>
          <a:p>
            <a:r>
              <a:rPr lang="tr-TR" sz="1100" dirty="0" smtClean="0">
                <a:solidFill>
                  <a:schemeClr val="bg1"/>
                </a:solidFill>
              </a:rPr>
              <a:t>Yandaki </a:t>
            </a:r>
            <a:r>
              <a:rPr lang="tr-TR" sz="1100" dirty="0" err="1" smtClean="0">
                <a:solidFill>
                  <a:schemeClr val="bg1"/>
                </a:solidFill>
              </a:rPr>
              <a:t>karekodu</a:t>
            </a:r>
            <a:r>
              <a:rPr lang="tr-TR" sz="1100" dirty="0" smtClean="0">
                <a:solidFill>
                  <a:schemeClr val="bg1"/>
                </a:solidFill>
              </a:rPr>
              <a:t> oturarak</a:t>
            </a:r>
          </a:p>
          <a:p>
            <a:r>
              <a:rPr lang="tr-TR" sz="1100" dirty="0" smtClean="0">
                <a:solidFill>
                  <a:schemeClr val="bg1"/>
                </a:solidFill>
              </a:rPr>
              <a:t>Konu anlatım videolarımıza ücretsiz erişebilirsiniz.</a:t>
            </a:r>
          </a:p>
        </p:txBody>
      </p:sp>
      <p:sp>
        <p:nvSpPr>
          <p:cNvPr id="87" name="Beşgen 86"/>
          <p:cNvSpPr/>
          <p:nvPr/>
        </p:nvSpPr>
        <p:spPr>
          <a:xfrm rot="10800000">
            <a:off x="-27384" y="8064242"/>
            <a:ext cx="2209418" cy="456148"/>
          </a:xfrm>
          <a:prstGeom prst="homePlat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8" name="Beşgen 87"/>
          <p:cNvSpPr/>
          <p:nvPr/>
        </p:nvSpPr>
        <p:spPr>
          <a:xfrm rot="10800000">
            <a:off x="-27384" y="8667253"/>
            <a:ext cx="2209418" cy="456148"/>
          </a:xfrm>
          <a:prstGeom prst="homePlat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18788" y="8232358"/>
            <a:ext cx="757074" cy="7441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0" name="Metin kutusu 89"/>
          <p:cNvSpPr txBox="1"/>
          <p:nvPr/>
        </p:nvSpPr>
        <p:spPr>
          <a:xfrm>
            <a:off x="620348" y="8183520"/>
            <a:ext cx="1584516" cy="261610"/>
          </a:xfrm>
          <a:prstGeom prst="rect">
            <a:avLst/>
          </a:prstGeom>
          <a:noFill/>
        </p:spPr>
        <p:txBody>
          <a:bodyPr wrap="square" rtlCol="0">
            <a:spAutoFit/>
          </a:bodyPr>
          <a:lstStyle/>
          <a:p>
            <a:r>
              <a:rPr lang="tr-TR" sz="1100" b="1" dirty="0" smtClean="0">
                <a:solidFill>
                  <a:schemeClr val="tx1">
                    <a:lumMod val="85000"/>
                    <a:lumOff val="15000"/>
                  </a:schemeClr>
                </a:solidFill>
              </a:rPr>
              <a:t>Ahmetcelen.com.tr</a:t>
            </a:r>
            <a:endParaRPr lang="tr-TR" sz="1100" b="1" dirty="0">
              <a:solidFill>
                <a:schemeClr val="tx1">
                  <a:lumMod val="85000"/>
                  <a:lumOff val="15000"/>
                </a:schemeClr>
              </a:solidFill>
            </a:endParaRPr>
          </a:p>
        </p:txBody>
      </p:sp>
      <p:sp>
        <p:nvSpPr>
          <p:cNvPr id="91" name="Metin kutusu 90"/>
          <p:cNvSpPr txBox="1"/>
          <p:nvPr/>
        </p:nvSpPr>
        <p:spPr>
          <a:xfrm>
            <a:off x="643178" y="8764522"/>
            <a:ext cx="1561686" cy="261610"/>
          </a:xfrm>
          <a:prstGeom prst="rect">
            <a:avLst/>
          </a:prstGeom>
          <a:noFill/>
        </p:spPr>
        <p:txBody>
          <a:bodyPr wrap="square" rtlCol="0">
            <a:spAutoFit/>
          </a:bodyPr>
          <a:lstStyle/>
          <a:p>
            <a:r>
              <a:rPr lang="tr-TR" sz="1100" b="1" dirty="0" smtClean="0">
                <a:solidFill>
                  <a:schemeClr val="tx1">
                    <a:lumMod val="85000"/>
                    <a:lumOff val="15000"/>
                  </a:schemeClr>
                </a:solidFill>
              </a:rPr>
              <a:t>Ahmetcelen.com.tr</a:t>
            </a:r>
            <a:endParaRPr lang="tr-TR" sz="1100" b="1" dirty="0">
              <a:solidFill>
                <a:schemeClr val="tx1">
                  <a:lumMod val="85000"/>
                  <a:lumOff val="15000"/>
                </a:schemeClr>
              </a:solidFill>
            </a:endParaRPr>
          </a:p>
        </p:txBody>
      </p:sp>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8790" y="8108723"/>
            <a:ext cx="324174" cy="33640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68790" y="8731182"/>
            <a:ext cx="338929" cy="32829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3" name="Picture 5"/>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99309" y="8187863"/>
            <a:ext cx="833187" cy="78990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 name="Resim 9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1651" y="129796"/>
            <a:ext cx="2183213" cy="963528"/>
          </a:xfrm>
          <a:prstGeom prst="rect">
            <a:avLst/>
          </a:prstGeom>
        </p:spPr>
      </p:pic>
      <p:sp>
        <p:nvSpPr>
          <p:cNvPr id="65" name="Metin kutusu 64"/>
          <p:cNvSpPr txBox="1"/>
          <p:nvPr/>
        </p:nvSpPr>
        <p:spPr>
          <a:xfrm>
            <a:off x="986942" y="7020269"/>
            <a:ext cx="2435844" cy="430887"/>
          </a:xfrm>
          <a:prstGeom prst="rect">
            <a:avLst/>
          </a:prstGeom>
          <a:noFill/>
        </p:spPr>
        <p:txBody>
          <a:bodyPr wrap="square" rtlCol="0">
            <a:spAutoFit/>
          </a:bodyPr>
          <a:lstStyle/>
          <a:p>
            <a:r>
              <a:rPr lang="tr-TR" sz="1100" dirty="0" smtClean="0">
                <a:solidFill>
                  <a:schemeClr val="bg1"/>
                </a:solidFill>
              </a:rPr>
              <a:t>Y ve x </a:t>
            </a:r>
            <a:r>
              <a:rPr lang="tr-TR" sz="1100" dirty="0" err="1" smtClean="0">
                <a:solidFill>
                  <a:schemeClr val="bg1"/>
                </a:solidFill>
              </a:rPr>
              <a:t>lerin</a:t>
            </a:r>
            <a:r>
              <a:rPr lang="tr-TR" sz="1100" dirty="0" smtClean="0">
                <a:solidFill>
                  <a:schemeClr val="bg1"/>
                </a:solidFill>
              </a:rPr>
              <a:t> farkından</a:t>
            </a:r>
          </a:p>
          <a:p>
            <a:r>
              <a:rPr lang="tr-TR" sz="1100" noProof="1" smtClean="0">
                <a:solidFill>
                  <a:schemeClr val="bg1"/>
                </a:solidFill>
              </a:rPr>
              <a:t>eğim bulunabilir.</a:t>
            </a:r>
          </a:p>
        </p:txBody>
      </p:sp>
    </p:spTree>
    <p:extLst>
      <p:ext uri="{BB962C8B-B14F-4D97-AF65-F5344CB8AC3E}">
        <p14:creationId xmlns:p14="http://schemas.microsoft.com/office/powerpoint/2010/main" val="391374542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p:cNvSpPr/>
          <p:nvPr/>
        </p:nvSpPr>
        <p:spPr>
          <a:xfrm>
            <a:off x="2463836" y="1331641"/>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 name="Akış Çizelgesi: Depolanmış Veri 2"/>
          <p:cNvSpPr/>
          <p:nvPr/>
        </p:nvSpPr>
        <p:spPr>
          <a:xfrm>
            <a:off x="2177480" y="35496"/>
            <a:ext cx="4707904" cy="1152128"/>
          </a:xfrm>
          <a:prstGeom prst="flowChartOnlineStorag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tr-TR"/>
          </a:p>
        </p:txBody>
      </p:sp>
      <p:sp>
        <p:nvSpPr>
          <p:cNvPr id="4" name="Metin kutusu 3"/>
          <p:cNvSpPr txBox="1"/>
          <p:nvPr/>
        </p:nvSpPr>
        <p:spPr>
          <a:xfrm>
            <a:off x="2564904" y="35496"/>
            <a:ext cx="4176464" cy="1200329"/>
          </a:xfrm>
          <a:prstGeom prst="rect">
            <a:avLst/>
          </a:prstGeom>
          <a:noFill/>
        </p:spPr>
        <p:txBody>
          <a:bodyPr wrap="square" rtlCol="0">
            <a:spAutoFit/>
          </a:bodyPr>
          <a:lstStyle/>
          <a:p>
            <a:r>
              <a:rPr lang="tr-TR" sz="3600" dirty="0" smtClean="0">
                <a:solidFill>
                  <a:schemeClr val="bg1"/>
                </a:solidFill>
              </a:rPr>
              <a:t>Parabol &amp; Türev İlişkisi Tüyoları</a:t>
            </a:r>
            <a:endParaRPr lang="tr-TR" sz="3600" dirty="0">
              <a:solidFill>
                <a:schemeClr val="bg1"/>
              </a:solidFill>
            </a:endParaRPr>
          </a:p>
        </p:txBody>
      </p:sp>
      <p:sp>
        <p:nvSpPr>
          <p:cNvPr id="7" name="Akış Çizelgesi: Depolanmış Veri 6"/>
          <p:cNvSpPr/>
          <p:nvPr/>
        </p:nvSpPr>
        <p:spPr>
          <a:xfrm>
            <a:off x="116632" y="1331641"/>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2" name="Dikdörtgen 11"/>
          <p:cNvSpPr/>
          <p:nvPr/>
        </p:nvSpPr>
        <p:spPr>
          <a:xfrm>
            <a:off x="2564767" y="1331640"/>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18" name="Oval 17"/>
          <p:cNvSpPr/>
          <p:nvPr/>
        </p:nvSpPr>
        <p:spPr>
          <a:xfrm>
            <a:off x="5992228" y="1331642"/>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19" name="Akış Çizelgesi: Depolanmış Veri 18"/>
          <p:cNvSpPr/>
          <p:nvPr/>
        </p:nvSpPr>
        <p:spPr>
          <a:xfrm>
            <a:off x="3645024" y="1331642"/>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0" name="Dikdörtgen 19"/>
          <p:cNvSpPr/>
          <p:nvPr/>
        </p:nvSpPr>
        <p:spPr>
          <a:xfrm>
            <a:off x="6093159" y="1331641"/>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2</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1" name="Oval 20"/>
          <p:cNvSpPr/>
          <p:nvPr/>
        </p:nvSpPr>
        <p:spPr>
          <a:xfrm>
            <a:off x="2463836" y="248376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2" name="Akış Çizelgesi: Depolanmış Veri 21"/>
          <p:cNvSpPr/>
          <p:nvPr/>
        </p:nvSpPr>
        <p:spPr>
          <a:xfrm>
            <a:off x="116632" y="2483766"/>
            <a:ext cx="2808312" cy="936104"/>
          </a:xfrm>
          <a:prstGeom prst="flowChartOnlineStorage">
            <a:avLst/>
          </a:prstGeom>
          <a:solidFill>
            <a:schemeClr val="accent4">
              <a:lumMod val="75000"/>
            </a:schemeClr>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23" name="Dikdörtgen 22"/>
          <p:cNvSpPr/>
          <p:nvPr/>
        </p:nvSpPr>
        <p:spPr>
          <a:xfrm>
            <a:off x="2564767" y="2483765"/>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3</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4" name="Oval 23"/>
          <p:cNvSpPr/>
          <p:nvPr/>
        </p:nvSpPr>
        <p:spPr>
          <a:xfrm>
            <a:off x="5992228" y="2483767"/>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5" name="Akış Çizelgesi: Depolanmış Veri 24"/>
          <p:cNvSpPr/>
          <p:nvPr/>
        </p:nvSpPr>
        <p:spPr>
          <a:xfrm>
            <a:off x="3645024" y="2483767"/>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6" name="Dikdörtgen 25"/>
          <p:cNvSpPr/>
          <p:nvPr/>
        </p:nvSpPr>
        <p:spPr>
          <a:xfrm>
            <a:off x="6093159" y="2483766"/>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4</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27" name="Oval 26"/>
          <p:cNvSpPr/>
          <p:nvPr/>
        </p:nvSpPr>
        <p:spPr>
          <a:xfrm>
            <a:off x="2446756" y="363589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28" name="Akış Çizelgesi: Depolanmış Veri 27"/>
          <p:cNvSpPr/>
          <p:nvPr/>
        </p:nvSpPr>
        <p:spPr>
          <a:xfrm>
            <a:off x="99552" y="3635894"/>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9" name="Dikdörtgen 28"/>
          <p:cNvSpPr/>
          <p:nvPr/>
        </p:nvSpPr>
        <p:spPr>
          <a:xfrm>
            <a:off x="2547687" y="3635893"/>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5</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0" name="Oval 29"/>
          <p:cNvSpPr/>
          <p:nvPr/>
        </p:nvSpPr>
        <p:spPr>
          <a:xfrm>
            <a:off x="5975148" y="36358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1" name="Akış Çizelgesi: Depolanmış Veri 30"/>
          <p:cNvSpPr/>
          <p:nvPr/>
        </p:nvSpPr>
        <p:spPr>
          <a:xfrm>
            <a:off x="3627944" y="36358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2" name="Dikdörtgen 31"/>
          <p:cNvSpPr/>
          <p:nvPr/>
        </p:nvSpPr>
        <p:spPr>
          <a:xfrm>
            <a:off x="6076079" y="3635894"/>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6</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3" name="Oval 32"/>
          <p:cNvSpPr/>
          <p:nvPr/>
        </p:nvSpPr>
        <p:spPr>
          <a:xfrm>
            <a:off x="2463836" y="4788024"/>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4" name="Akış Çizelgesi: Depolanmış Veri 33"/>
          <p:cNvSpPr/>
          <p:nvPr/>
        </p:nvSpPr>
        <p:spPr>
          <a:xfrm>
            <a:off x="116632" y="4788024"/>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5" name="Dikdörtgen 34"/>
          <p:cNvSpPr/>
          <p:nvPr/>
        </p:nvSpPr>
        <p:spPr>
          <a:xfrm>
            <a:off x="2564767" y="4788023"/>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7</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36" name="Oval 35"/>
          <p:cNvSpPr/>
          <p:nvPr/>
        </p:nvSpPr>
        <p:spPr>
          <a:xfrm>
            <a:off x="5992228" y="478802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37" name="Akış Çizelgesi: Depolanmış Veri 36"/>
          <p:cNvSpPr/>
          <p:nvPr/>
        </p:nvSpPr>
        <p:spPr>
          <a:xfrm>
            <a:off x="3645024" y="4788025"/>
            <a:ext cx="2808312" cy="936104"/>
          </a:xfrm>
          <a:prstGeom prst="flowChartOnlineStorag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8" name="Dikdörtgen 37"/>
          <p:cNvSpPr/>
          <p:nvPr/>
        </p:nvSpPr>
        <p:spPr>
          <a:xfrm>
            <a:off x="6093159" y="4788024"/>
            <a:ext cx="590225"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8</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45" name="Oval 44"/>
          <p:cNvSpPr/>
          <p:nvPr/>
        </p:nvSpPr>
        <p:spPr>
          <a:xfrm>
            <a:off x="2504276" y="5906295"/>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6" name="Akış Çizelgesi: Depolanmış Veri 45"/>
          <p:cNvSpPr/>
          <p:nvPr/>
        </p:nvSpPr>
        <p:spPr>
          <a:xfrm>
            <a:off x="157072" y="5906295"/>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7" name="Dikdörtgen 46"/>
          <p:cNvSpPr/>
          <p:nvPr/>
        </p:nvSpPr>
        <p:spPr>
          <a:xfrm>
            <a:off x="2605207" y="5906294"/>
            <a:ext cx="590226" cy="923330"/>
          </a:xfrm>
          <a:prstGeom prst="rect">
            <a:avLst/>
          </a:prstGeom>
          <a:noFill/>
        </p:spPr>
        <p:txBody>
          <a:bodyPr wrap="none" lIns="91440" tIns="45720" rIns="91440" bIns="45720">
            <a:spAutoFit/>
          </a:bodyPr>
          <a:lstStyle/>
          <a:p>
            <a:pPr algn="ctr"/>
            <a:r>
              <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9</a:t>
            </a:r>
          </a:p>
        </p:txBody>
      </p:sp>
      <p:sp>
        <p:nvSpPr>
          <p:cNvPr id="48" name="Oval 47"/>
          <p:cNvSpPr/>
          <p:nvPr/>
        </p:nvSpPr>
        <p:spPr>
          <a:xfrm>
            <a:off x="6032668" y="5906296"/>
            <a:ext cx="792088" cy="936105"/>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49" name="Akış Çizelgesi: Depolanmış Veri 48"/>
          <p:cNvSpPr/>
          <p:nvPr/>
        </p:nvSpPr>
        <p:spPr>
          <a:xfrm>
            <a:off x="3685464" y="5906296"/>
            <a:ext cx="2808312" cy="936104"/>
          </a:xfrm>
          <a:prstGeom prst="flowChartOnlineStorag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0" name="Dikdörtgen 49"/>
          <p:cNvSpPr/>
          <p:nvPr/>
        </p:nvSpPr>
        <p:spPr>
          <a:xfrm>
            <a:off x="5930819" y="5906295"/>
            <a:ext cx="995786" cy="923330"/>
          </a:xfrm>
          <a:prstGeom prst="rect">
            <a:avLst/>
          </a:prstGeom>
          <a:noFill/>
        </p:spPr>
        <p:txBody>
          <a:bodyPr wrap="none" lIns="91440" tIns="45720" rIns="91440" bIns="45720">
            <a:spAutoFit/>
          </a:bodyPr>
          <a:lstStyle/>
          <a:p>
            <a:pPr algn="ctr"/>
            <a:r>
              <a:rPr lang="tr-TR" sz="5400" b="1" dirty="0" smtClean="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rPr>
              <a:t>10</a:t>
            </a:r>
            <a:endParaRPr lang="tr-TR" sz="5400" b="1" dirty="0">
              <a:ln w="12700">
                <a:solidFill>
                  <a:schemeClr val="tx2">
                    <a:satMod val="155000"/>
                  </a:schemeClr>
                </a:solidFill>
                <a:prstDash val="solid"/>
              </a:ln>
              <a:solidFill>
                <a:schemeClr val="bg1"/>
              </a:solidFill>
              <a:effectLst>
                <a:outerShdw blurRad="41275" dist="20320" dir="1800000" algn="tl" rotWithShape="0">
                  <a:srgbClr val="000000">
                    <a:alpha val="40000"/>
                  </a:srgbClr>
                </a:outerShdw>
              </a:effectLst>
            </a:endParaRPr>
          </a:p>
        </p:txBody>
      </p:sp>
      <p:sp>
        <p:nvSpPr>
          <p:cNvPr id="69" name="Metin kutusu 68"/>
          <p:cNvSpPr txBox="1"/>
          <p:nvPr/>
        </p:nvSpPr>
        <p:spPr>
          <a:xfrm>
            <a:off x="258003" y="1329025"/>
            <a:ext cx="2347204" cy="938719"/>
          </a:xfrm>
          <a:prstGeom prst="rect">
            <a:avLst/>
          </a:prstGeom>
          <a:noFill/>
        </p:spPr>
        <p:txBody>
          <a:bodyPr wrap="square" rtlCol="0">
            <a:spAutoFit/>
          </a:bodyPr>
          <a:lstStyle/>
          <a:p>
            <a:r>
              <a:rPr lang="tr-TR" sz="1100" dirty="0" smtClean="0">
                <a:solidFill>
                  <a:schemeClr val="bg1"/>
                </a:solidFill>
              </a:rPr>
              <a:t>Parabolün </a:t>
            </a:r>
            <a:r>
              <a:rPr lang="tr-TR" sz="1100" b="1" dirty="0" smtClean="0">
                <a:solidFill>
                  <a:schemeClr val="bg1"/>
                </a:solidFill>
              </a:rPr>
              <a:t>eğimi denklemin bilinmeyen değişkenine göre türevi alınarak </a:t>
            </a:r>
            <a:r>
              <a:rPr lang="tr-TR" sz="1100" dirty="0" smtClean="0">
                <a:solidFill>
                  <a:schemeClr val="bg1"/>
                </a:solidFill>
              </a:rPr>
              <a:t>bulunur. Bulunan denklemde yazılan x değeri o noktadan çizilen teğetin eğimini verir.</a:t>
            </a:r>
          </a:p>
        </p:txBody>
      </p:sp>
      <p:sp>
        <p:nvSpPr>
          <p:cNvPr id="70" name="Metin kutusu 69"/>
          <p:cNvSpPr txBox="1"/>
          <p:nvPr/>
        </p:nvSpPr>
        <p:spPr>
          <a:xfrm>
            <a:off x="3808296" y="1426295"/>
            <a:ext cx="2285000" cy="769441"/>
          </a:xfrm>
          <a:prstGeom prst="rect">
            <a:avLst/>
          </a:prstGeom>
          <a:noFill/>
        </p:spPr>
        <p:txBody>
          <a:bodyPr wrap="square" rtlCol="0">
            <a:spAutoFit/>
          </a:bodyPr>
          <a:lstStyle/>
          <a:p>
            <a:r>
              <a:rPr lang="tr-TR" sz="1100" dirty="0" smtClean="0">
                <a:solidFill>
                  <a:schemeClr val="bg1"/>
                </a:solidFill>
              </a:rPr>
              <a:t>Parabol türevi alınıp sıfıra eşitlenerek </a:t>
            </a:r>
            <a:r>
              <a:rPr lang="tr-TR" sz="1100" dirty="0" err="1" smtClean="0">
                <a:solidFill>
                  <a:schemeClr val="bg1"/>
                </a:solidFill>
              </a:rPr>
              <a:t>ekstremum</a:t>
            </a:r>
            <a:r>
              <a:rPr lang="tr-TR" sz="1100" dirty="0" smtClean="0">
                <a:solidFill>
                  <a:schemeClr val="bg1"/>
                </a:solidFill>
              </a:rPr>
              <a:t> yani en büyük, en küçük değerler bulunur.</a:t>
            </a:r>
          </a:p>
          <a:p>
            <a:r>
              <a:rPr lang="tr-TR" sz="1100" b="1" dirty="0" err="1" smtClean="0">
                <a:solidFill>
                  <a:schemeClr val="bg1"/>
                </a:solidFill>
              </a:rPr>
              <a:t>Ekstremum</a:t>
            </a:r>
            <a:r>
              <a:rPr lang="tr-TR" sz="1100" b="1" dirty="0" smtClean="0">
                <a:solidFill>
                  <a:schemeClr val="bg1"/>
                </a:solidFill>
              </a:rPr>
              <a:t> nokta türevin köküdür.</a:t>
            </a:r>
          </a:p>
        </p:txBody>
      </p:sp>
      <p:sp>
        <p:nvSpPr>
          <p:cNvPr id="71" name="Metin kutusu 70"/>
          <p:cNvSpPr txBox="1"/>
          <p:nvPr/>
        </p:nvSpPr>
        <p:spPr>
          <a:xfrm>
            <a:off x="202440" y="2567098"/>
            <a:ext cx="2285000" cy="769441"/>
          </a:xfrm>
          <a:prstGeom prst="rect">
            <a:avLst/>
          </a:prstGeom>
          <a:noFill/>
        </p:spPr>
        <p:txBody>
          <a:bodyPr wrap="square" rtlCol="0">
            <a:spAutoFit/>
          </a:bodyPr>
          <a:lstStyle/>
          <a:p>
            <a:r>
              <a:rPr lang="tr-TR" sz="1100" dirty="0" smtClean="0">
                <a:solidFill>
                  <a:schemeClr val="bg1"/>
                </a:solidFill>
              </a:rPr>
              <a:t>Parabolün tepe noktası </a:t>
            </a:r>
            <a:r>
              <a:rPr lang="tr-TR" sz="1100" dirty="0" err="1" smtClean="0">
                <a:solidFill>
                  <a:schemeClr val="bg1"/>
                </a:solidFill>
              </a:rPr>
              <a:t>ekstremum</a:t>
            </a:r>
            <a:r>
              <a:rPr lang="tr-TR" sz="1100" dirty="0" smtClean="0">
                <a:solidFill>
                  <a:schemeClr val="bg1"/>
                </a:solidFill>
              </a:rPr>
              <a:t> noktası olduğundan türev alıp sıfıra eşitleyerek aynı r (tepe noktasının apsis) değerini bulabilir.</a:t>
            </a:r>
          </a:p>
        </p:txBody>
      </p:sp>
      <p:sp>
        <p:nvSpPr>
          <p:cNvPr id="72" name="Metin kutusu 71"/>
          <p:cNvSpPr txBox="1"/>
          <p:nvPr/>
        </p:nvSpPr>
        <p:spPr>
          <a:xfrm>
            <a:off x="3789432" y="2567098"/>
            <a:ext cx="2285000" cy="769441"/>
          </a:xfrm>
          <a:prstGeom prst="rect">
            <a:avLst/>
          </a:prstGeom>
          <a:noFill/>
        </p:spPr>
        <p:txBody>
          <a:bodyPr wrap="square" rtlCol="0">
            <a:spAutoFit/>
          </a:bodyPr>
          <a:lstStyle/>
          <a:p>
            <a:r>
              <a:rPr lang="tr-TR" sz="1100" dirty="0" smtClean="0">
                <a:solidFill>
                  <a:schemeClr val="bg1"/>
                </a:solidFill>
              </a:rPr>
              <a:t>Tepe </a:t>
            </a:r>
            <a:r>
              <a:rPr lang="tr-TR" sz="1100" dirty="0">
                <a:solidFill>
                  <a:schemeClr val="bg1"/>
                </a:solidFill>
              </a:rPr>
              <a:t>noktasının apsisi : –b/2a  ile</a:t>
            </a:r>
          </a:p>
          <a:p>
            <a:r>
              <a:rPr lang="tr-TR" sz="1100" dirty="0" smtClean="0">
                <a:solidFill>
                  <a:schemeClr val="bg1"/>
                </a:solidFill>
              </a:rPr>
              <a:t>Ordinatı ise bulunan </a:t>
            </a:r>
            <a:r>
              <a:rPr lang="tr-TR" sz="1100" dirty="0">
                <a:solidFill>
                  <a:schemeClr val="bg1"/>
                </a:solidFill>
              </a:rPr>
              <a:t>apsis değerini fonksiyonda yazılır.  -b/2a formülünün </a:t>
            </a:r>
            <a:r>
              <a:rPr lang="tr-TR" sz="1100" dirty="0" smtClean="0">
                <a:solidFill>
                  <a:schemeClr val="bg1"/>
                </a:solidFill>
              </a:rPr>
              <a:t>ispatı 5. ve 6. numarada.</a:t>
            </a:r>
            <a:endParaRPr lang="tr-TR" sz="1100" dirty="0">
              <a:solidFill>
                <a:schemeClr val="bg1"/>
              </a:solidFill>
            </a:endParaRPr>
          </a:p>
        </p:txBody>
      </p:sp>
      <p:sp>
        <p:nvSpPr>
          <p:cNvPr id="75" name="Metin kutusu 74"/>
          <p:cNvSpPr txBox="1"/>
          <p:nvPr/>
        </p:nvSpPr>
        <p:spPr>
          <a:xfrm>
            <a:off x="213164" y="4864967"/>
            <a:ext cx="2285000" cy="769441"/>
          </a:xfrm>
          <a:prstGeom prst="rect">
            <a:avLst/>
          </a:prstGeom>
          <a:noFill/>
        </p:spPr>
        <p:txBody>
          <a:bodyPr wrap="square" rtlCol="0">
            <a:spAutoFit/>
          </a:bodyPr>
          <a:lstStyle/>
          <a:p>
            <a:r>
              <a:rPr lang="tr-TR" sz="1100" dirty="0" smtClean="0">
                <a:solidFill>
                  <a:schemeClr val="bg1"/>
                </a:solidFill>
              </a:rPr>
              <a:t>En büyük ve en küçük şeklinde sorulan kalıplar aslında türev maksimum-minimum problemleriyle doğrudan ilişkilidir diyebiliriz.</a:t>
            </a:r>
          </a:p>
        </p:txBody>
      </p:sp>
      <p:sp>
        <p:nvSpPr>
          <p:cNvPr id="76" name="Metin kutusu 75"/>
          <p:cNvSpPr txBox="1"/>
          <p:nvPr/>
        </p:nvSpPr>
        <p:spPr>
          <a:xfrm>
            <a:off x="476672" y="45600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7" name="Metin kutusu 76"/>
          <p:cNvSpPr txBox="1"/>
          <p:nvPr/>
        </p:nvSpPr>
        <p:spPr>
          <a:xfrm>
            <a:off x="4192360" y="4559223"/>
            <a:ext cx="2285000" cy="261610"/>
          </a:xfrm>
          <a:prstGeom prst="rect">
            <a:avLst/>
          </a:prstGeom>
          <a:noFill/>
        </p:spPr>
        <p:txBody>
          <a:bodyPr wrap="square" rtlCol="0">
            <a:spAutoFit/>
          </a:bodyPr>
          <a:lstStyle/>
          <a:p>
            <a:r>
              <a:rPr lang="tr-TR" sz="1100" dirty="0" smtClean="0">
                <a:solidFill>
                  <a:srgbClr val="002060"/>
                </a:solidFill>
              </a:rPr>
              <a:t>www.ahmetcelen.com.tr</a:t>
            </a:r>
          </a:p>
        </p:txBody>
      </p:sp>
      <p:sp>
        <p:nvSpPr>
          <p:cNvPr id="79" name="Metin kutusu 78"/>
          <p:cNvSpPr txBox="1"/>
          <p:nvPr/>
        </p:nvSpPr>
        <p:spPr>
          <a:xfrm>
            <a:off x="3752352" y="4907940"/>
            <a:ext cx="2285000" cy="600164"/>
          </a:xfrm>
          <a:prstGeom prst="rect">
            <a:avLst/>
          </a:prstGeom>
          <a:noFill/>
        </p:spPr>
        <p:txBody>
          <a:bodyPr wrap="square" rtlCol="0">
            <a:spAutoFit/>
          </a:bodyPr>
          <a:lstStyle/>
          <a:p>
            <a:r>
              <a:rPr lang="tr-TR" sz="1100" dirty="0" smtClean="0">
                <a:solidFill>
                  <a:schemeClr val="bg1"/>
                </a:solidFill>
              </a:rPr>
              <a:t>Yani parabol testleri çözüyorsanız türev içinde biraz antrenman yapmışsınızdır demektir </a:t>
            </a:r>
            <a:r>
              <a:rPr lang="tr-TR" sz="1100" dirty="0" smtClean="0">
                <a:solidFill>
                  <a:schemeClr val="bg1"/>
                </a:solidFill>
                <a:sym typeface="Wingdings" panose="05000000000000000000" pitchFamily="2" charset="2"/>
              </a:rPr>
              <a:t></a:t>
            </a:r>
            <a:endParaRPr lang="tr-TR" sz="1100" dirty="0" smtClean="0">
              <a:solidFill>
                <a:schemeClr val="bg1"/>
              </a:solidFill>
            </a:endParaRPr>
          </a:p>
        </p:txBody>
      </p:sp>
      <p:sp>
        <p:nvSpPr>
          <p:cNvPr id="80" name="Metin kutusu 79"/>
          <p:cNvSpPr txBox="1"/>
          <p:nvPr/>
        </p:nvSpPr>
        <p:spPr>
          <a:xfrm>
            <a:off x="397265" y="6152515"/>
            <a:ext cx="2247046" cy="430887"/>
          </a:xfrm>
          <a:prstGeom prst="rect">
            <a:avLst/>
          </a:prstGeom>
          <a:noFill/>
        </p:spPr>
        <p:txBody>
          <a:bodyPr wrap="square" rtlCol="0">
            <a:spAutoFit/>
          </a:bodyPr>
          <a:lstStyle/>
          <a:p>
            <a:r>
              <a:rPr lang="tr-TR" sz="1100" dirty="0" smtClean="0">
                <a:solidFill>
                  <a:schemeClr val="bg1"/>
                </a:solidFill>
              </a:rPr>
              <a:t>Bir parabole orijinden </a:t>
            </a:r>
            <a:r>
              <a:rPr lang="tr-TR" sz="1100" dirty="0">
                <a:solidFill>
                  <a:schemeClr val="bg1"/>
                </a:solidFill>
              </a:rPr>
              <a:t>çizilen teğetler birbirine dikse </a:t>
            </a:r>
            <a:r>
              <a:rPr lang="el-GR" sz="1100" dirty="0">
                <a:solidFill>
                  <a:schemeClr val="bg2"/>
                </a:solidFill>
              </a:rPr>
              <a:t>Δ</a:t>
            </a:r>
            <a:r>
              <a:rPr lang="tr-TR" sz="1100" dirty="0">
                <a:solidFill>
                  <a:schemeClr val="bg2"/>
                </a:solidFill>
              </a:rPr>
              <a:t> </a:t>
            </a:r>
            <a:r>
              <a:rPr lang="tr-TR" sz="1100" dirty="0">
                <a:solidFill>
                  <a:schemeClr val="bg1"/>
                </a:solidFill>
              </a:rPr>
              <a:t>=  -1</a:t>
            </a:r>
          </a:p>
        </p:txBody>
      </p:sp>
      <p:sp>
        <p:nvSpPr>
          <p:cNvPr id="83" name="Metin kutusu 82"/>
          <p:cNvSpPr txBox="1"/>
          <p:nvPr/>
        </p:nvSpPr>
        <p:spPr>
          <a:xfrm>
            <a:off x="3808296" y="6158904"/>
            <a:ext cx="2285000" cy="430887"/>
          </a:xfrm>
          <a:prstGeom prst="rect">
            <a:avLst/>
          </a:prstGeom>
          <a:noFill/>
        </p:spPr>
        <p:txBody>
          <a:bodyPr wrap="square" rtlCol="0">
            <a:spAutoFit/>
          </a:bodyPr>
          <a:lstStyle/>
          <a:p>
            <a:r>
              <a:rPr lang="tr-TR" sz="1100" dirty="0" smtClean="0">
                <a:solidFill>
                  <a:schemeClr val="bg1"/>
                </a:solidFill>
              </a:rPr>
              <a:t>Bir parabole X ekseni üzerinden çizilen teğetler dikse </a:t>
            </a:r>
            <a:r>
              <a:rPr lang="el-GR" sz="1100" dirty="0" smtClean="0">
                <a:solidFill>
                  <a:schemeClr val="bg2"/>
                </a:solidFill>
              </a:rPr>
              <a:t>Δ</a:t>
            </a:r>
            <a:r>
              <a:rPr lang="tr-TR" sz="1100" dirty="0" smtClean="0">
                <a:solidFill>
                  <a:schemeClr val="bg2"/>
                </a:solidFill>
              </a:rPr>
              <a:t> = 1 </a:t>
            </a:r>
            <a:endParaRPr lang="tr-TR" sz="1100" dirty="0" smtClean="0">
              <a:solidFill>
                <a:schemeClr val="bg1"/>
              </a:solidFill>
            </a:endParaRPr>
          </a:p>
        </p:txBody>
      </p:sp>
      <p:sp>
        <p:nvSpPr>
          <p:cNvPr id="55" name="Metin kutusu 54"/>
          <p:cNvSpPr txBox="1"/>
          <p:nvPr/>
        </p:nvSpPr>
        <p:spPr>
          <a:xfrm>
            <a:off x="161756" y="3712837"/>
            <a:ext cx="2403451" cy="769441"/>
          </a:xfrm>
          <a:prstGeom prst="rect">
            <a:avLst/>
          </a:prstGeom>
          <a:noFill/>
        </p:spPr>
        <p:txBody>
          <a:bodyPr wrap="square" rtlCol="0">
            <a:spAutoFit/>
          </a:bodyPr>
          <a:lstStyle/>
          <a:p>
            <a:r>
              <a:rPr lang="tr-TR" sz="1100" dirty="0" smtClean="0">
                <a:solidFill>
                  <a:schemeClr val="bg1"/>
                </a:solidFill>
              </a:rPr>
              <a:t>a x  + b x + c  parabolünün </a:t>
            </a:r>
            <a:r>
              <a:rPr lang="tr-TR" sz="1100" dirty="0" err="1" smtClean="0">
                <a:solidFill>
                  <a:schemeClr val="bg1"/>
                </a:solidFill>
              </a:rPr>
              <a:t>x`e</a:t>
            </a:r>
            <a:r>
              <a:rPr lang="tr-TR" sz="1100" dirty="0" smtClean="0">
                <a:solidFill>
                  <a:schemeClr val="bg1"/>
                </a:solidFill>
              </a:rPr>
              <a:t> göre türevi alınır. Sonra türevin kökü bulunur. Bu </a:t>
            </a:r>
            <a:r>
              <a:rPr lang="tr-TR" sz="1100" b="1" dirty="0" smtClean="0">
                <a:solidFill>
                  <a:schemeClr val="bg1"/>
                </a:solidFill>
              </a:rPr>
              <a:t>kök </a:t>
            </a:r>
            <a:r>
              <a:rPr lang="tr-TR" sz="1100" b="1" dirty="0" err="1" smtClean="0">
                <a:solidFill>
                  <a:schemeClr val="bg1"/>
                </a:solidFill>
              </a:rPr>
              <a:t>ekstremum</a:t>
            </a:r>
            <a:r>
              <a:rPr lang="tr-TR" sz="1100" b="1" dirty="0" smtClean="0">
                <a:solidFill>
                  <a:schemeClr val="bg1"/>
                </a:solidFill>
              </a:rPr>
              <a:t> </a:t>
            </a:r>
            <a:r>
              <a:rPr lang="tr-TR" sz="1100" dirty="0" smtClean="0">
                <a:solidFill>
                  <a:schemeClr val="bg1"/>
                </a:solidFill>
              </a:rPr>
              <a:t>noktadır. 2 Numarada açıklanmıştır.</a:t>
            </a:r>
            <a:endParaRPr lang="tr-TR" sz="1100" dirty="0">
              <a:solidFill>
                <a:schemeClr val="bg1"/>
              </a:solidFill>
            </a:endParaRPr>
          </a:p>
        </p:txBody>
      </p:sp>
      <p:sp>
        <p:nvSpPr>
          <p:cNvPr id="56" name="Metin kutusu 55"/>
          <p:cNvSpPr txBox="1"/>
          <p:nvPr/>
        </p:nvSpPr>
        <p:spPr>
          <a:xfrm>
            <a:off x="3762489" y="3755812"/>
            <a:ext cx="2618839" cy="600164"/>
          </a:xfrm>
          <a:prstGeom prst="rect">
            <a:avLst/>
          </a:prstGeom>
          <a:noFill/>
        </p:spPr>
        <p:txBody>
          <a:bodyPr wrap="square" rtlCol="0">
            <a:spAutoFit/>
          </a:bodyPr>
          <a:lstStyle/>
          <a:p>
            <a:r>
              <a:rPr lang="tr-TR" sz="1100" dirty="0" smtClean="0">
                <a:solidFill>
                  <a:schemeClr val="bg1"/>
                </a:solidFill>
              </a:rPr>
              <a:t>2ax + b = 0 ,  </a:t>
            </a:r>
            <a:r>
              <a:rPr lang="tr-TR" sz="1100" dirty="0" err="1" smtClean="0">
                <a:solidFill>
                  <a:schemeClr val="bg1"/>
                </a:solidFill>
              </a:rPr>
              <a:t>x`i</a:t>
            </a:r>
            <a:r>
              <a:rPr lang="tr-TR" sz="1100" dirty="0">
                <a:solidFill>
                  <a:schemeClr val="bg1"/>
                </a:solidFill>
              </a:rPr>
              <a:t> </a:t>
            </a:r>
            <a:r>
              <a:rPr lang="tr-TR" sz="1100" dirty="0" smtClean="0">
                <a:solidFill>
                  <a:schemeClr val="bg1"/>
                </a:solidFill>
              </a:rPr>
              <a:t>bulmak için yalnız bırakalım.  </a:t>
            </a:r>
            <a:r>
              <a:rPr lang="tr-TR" sz="1100" dirty="0" smtClean="0">
                <a:solidFill>
                  <a:srgbClr val="FFFF00"/>
                </a:solidFill>
              </a:rPr>
              <a:t>-b/2a formülü geldi bir yerlerden sanki tanıdık </a:t>
            </a:r>
            <a:r>
              <a:rPr lang="tr-TR" sz="1100" dirty="0" smtClean="0">
                <a:solidFill>
                  <a:srgbClr val="FFFF00"/>
                </a:solidFill>
                <a:sym typeface="Wingdings" panose="05000000000000000000" pitchFamily="2" charset="2"/>
              </a:rPr>
              <a:t></a:t>
            </a:r>
            <a:endParaRPr lang="tr-TR" sz="1100" dirty="0">
              <a:solidFill>
                <a:srgbClr val="FFFF00"/>
              </a:solidFill>
            </a:endParaRPr>
          </a:p>
        </p:txBody>
      </p:sp>
      <p:sp>
        <p:nvSpPr>
          <p:cNvPr id="63" name="Metin kutusu 62"/>
          <p:cNvSpPr txBox="1"/>
          <p:nvPr/>
        </p:nvSpPr>
        <p:spPr>
          <a:xfrm>
            <a:off x="332656" y="3649793"/>
            <a:ext cx="2403451" cy="215444"/>
          </a:xfrm>
          <a:prstGeom prst="rect">
            <a:avLst/>
          </a:prstGeom>
          <a:noFill/>
        </p:spPr>
        <p:txBody>
          <a:bodyPr wrap="square" rtlCol="0">
            <a:spAutoFit/>
          </a:bodyPr>
          <a:lstStyle/>
          <a:p>
            <a:r>
              <a:rPr lang="tr-TR" sz="800" dirty="0" smtClean="0">
                <a:solidFill>
                  <a:schemeClr val="bg1"/>
                </a:solidFill>
              </a:rPr>
              <a:t>2</a:t>
            </a:r>
            <a:endParaRPr lang="tr-TR" sz="800" dirty="0">
              <a:solidFill>
                <a:schemeClr val="bg1"/>
              </a:solidFill>
            </a:endParaRPr>
          </a:p>
        </p:txBody>
      </p:sp>
      <p:sp>
        <p:nvSpPr>
          <p:cNvPr id="64" name="Metin kutusu 63"/>
          <p:cNvSpPr txBox="1"/>
          <p:nvPr/>
        </p:nvSpPr>
        <p:spPr>
          <a:xfrm>
            <a:off x="397265" y="7380313"/>
            <a:ext cx="1879607" cy="600164"/>
          </a:xfrm>
          <a:prstGeom prst="rect">
            <a:avLst/>
          </a:prstGeom>
          <a:noFill/>
        </p:spPr>
        <p:txBody>
          <a:bodyPr wrap="square" rtlCol="0">
            <a:spAutoFit/>
          </a:bodyPr>
          <a:lstStyle/>
          <a:p>
            <a:r>
              <a:rPr lang="tr-TR" sz="1100" dirty="0" smtClean="0">
                <a:solidFill>
                  <a:schemeClr val="bg1"/>
                </a:solidFill>
              </a:rPr>
              <a:t>Buna benzer matematik alanında deneme ve konu anlatım fasikülleri için </a:t>
            </a:r>
            <a:endParaRPr lang="tr-TR" sz="1100" dirty="0">
              <a:solidFill>
                <a:schemeClr val="bg1"/>
              </a:solidFill>
            </a:endParaRPr>
          </a:p>
        </p:txBody>
      </p:sp>
      <p:sp>
        <p:nvSpPr>
          <p:cNvPr id="65" name="Yuvarlatılmış Dikdörtgen 64"/>
          <p:cNvSpPr/>
          <p:nvPr/>
        </p:nvSpPr>
        <p:spPr>
          <a:xfrm>
            <a:off x="539094" y="7102301"/>
            <a:ext cx="2757270" cy="1824154"/>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tr-TR"/>
          </a:p>
        </p:txBody>
      </p:sp>
      <p:sp>
        <p:nvSpPr>
          <p:cNvPr id="68" name="Metin kutusu 67"/>
          <p:cNvSpPr txBox="1"/>
          <p:nvPr/>
        </p:nvSpPr>
        <p:spPr>
          <a:xfrm>
            <a:off x="487016" y="7154123"/>
            <a:ext cx="1789856" cy="1785104"/>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228600" indent="-228600">
              <a:buFont typeface="Wingdings" panose="05000000000000000000" pitchFamily="2" charset="2"/>
              <a:buChar char="ü"/>
            </a:pPr>
            <a:r>
              <a:rPr lang="tr-TR" sz="1100" b="1" dirty="0" smtClean="0">
                <a:solidFill>
                  <a:schemeClr val="tx1">
                    <a:lumMod val="85000"/>
                    <a:lumOff val="15000"/>
                  </a:schemeClr>
                </a:solidFill>
              </a:rPr>
              <a:t>%100 Ücretsiz İçerik</a:t>
            </a:r>
          </a:p>
          <a:p>
            <a:pPr marL="228600" indent="-228600">
              <a:buFont typeface="Wingdings" panose="05000000000000000000" pitchFamily="2" charset="2"/>
              <a:buChar char="ü"/>
            </a:pPr>
            <a:r>
              <a:rPr lang="tr-TR" sz="1100" b="1" dirty="0" smtClean="0">
                <a:solidFill>
                  <a:schemeClr val="tx1">
                    <a:lumMod val="85000"/>
                    <a:lumOff val="15000"/>
                  </a:schemeClr>
                </a:solidFill>
              </a:rPr>
              <a:t>Video Çözümlü</a:t>
            </a:r>
          </a:p>
          <a:p>
            <a:pPr marL="228600" indent="-228600">
              <a:buFont typeface="Wingdings" panose="05000000000000000000" pitchFamily="2" charset="2"/>
              <a:buChar char="ü"/>
            </a:pPr>
            <a:r>
              <a:rPr lang="tr-TR" sz="1100" b="1" dirty="0" smtClean="0">
                <a:solidFill>
                  <a:schemeClr val="tx1">
                    <a:lumMod val="85000"/>
                    <a:lumOff val="15000"/>
                  </a:schemeClr>
                </a:solidFill>
              </a:rPr>
              <a:t>Kolay Erişilebilen PDF formatında dosyalar </a:t>
            </a:r>
          </a:p>
          <a:p>
            <a:pPr marL="228600" indent="-228600">
              <a:buFont typeface="Wingdings" panose="05000000000000000000" pitchFamily="2" charset="2"/>
              <a:buChar char="ü"/>
            </a:pPr>
            <a:r>
              <a:rPr lang="tr-TR" sz="1100" b="1" dirty="0" smtClean="0">
                <a:solidFill>
                  <a:schemeClr val="tx1">
                    <a:lumMod val="85000"/>
                    <a:lumOff val="15000"/>
                  </a:schemeClr>
                </a:solidFill>
              </a:rPr>
              <a:t>Müfredata uygun  sorular</a:t>
            </a:r>
          </a:p>
          <a:p>
            <a:pPr marL="228600" indent="-228600">
              <a:buFont typeface="Wingdings" panose="05000000000000000000" pitchFamily="2" charset="2"/>
              <a:buChar char="ü"/>
            </a:pPr>
            <a:r>
              <a:rPr lang="tr-TR" sz="1100" b="1" dirty="0" smtClean="0">
                <a:solidFill>
                  <a:schemeClr val="tx1">
                    <a:lumMod val="85000"/>
                    <a:lumOff val="15000"/>
                  </a:schemeClr>
                </a:solidFill>
              </a:rPr>
              <a:t> Yeni Nesil Tarzda Sorular</a:t>
            </a:r>
          </a:p>
          <a:p>
            <a:pPr marL="228600" indent="-228600">
              <a:buFont typeface="Wingdings" panose="05000000000000000000" pitchFamily="2" charset="2"/>
              <a:buChar char="ü"/>
            </a:pPr>
            <a:r>
              <a:rPr lang="tr-TR" sz="1100" b="1" dirty="0" smtClean="0">
                <a:solidFill>
                  <a:srgbClr val="002060"/>
                </a:solidFill>
              </a:rPr>
              <a:t>ahmetcelen.com.tr `de</a:t>
            </a:r>
          </a:p>
          <a:p>
            <a:pPr marL="228600" indent="-228600">
              <a:buFont typeface="Wingdings" panose="05000000000000000000" pitchFamily="2" charset="2"/>
              <a:buChar char="ü"/>
            </a:pPr>
            <a:endParaRPr lang="tr-TR" sz="1100" b="1" dirty="0">
              <a:solidFill>
                <a:schemeClr val="tx1">
                  <a:lumMod val="85000"/>
                  <a:lumOff val="15000"/>
                </a:schemeClr>
              </a:solidFill>
            </a:endParaRPr>
          </a:p>
        </p:txBody>
      </p:sp>
      <p:pic>
        <p:nvPicPr>
          <p:cNvPr id="73" name="Picture 9" descr="C:\Users\Pc\AppData\Local\Microsoft\Windows\Temporary Internet Files\Content.IE5\GRK5B6ZB\Ic_play_circle_fill_48px.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35990" y="7154123"/>
            <a:ext cx="934478" cy="766129"/>
          </a:xfrm>
          <a:prstGeom prst="rect">
            <a:avLst/>
          </a:prstGeom>
          <a:noFill/>
          <a:effectLst/>
          <a:extLst>
            <a:ext uri="{909E8E84-426E-40DD-AFC4-6F175D3DCCD1}">
              <a14:hiddenFill xmlns:a14="http://schemas.microsoft.com/office/drawing/2010/main">
                <a:solidFill>
                  <a:srgbClr val="FFFFFF"/>
                </a:solidFill>
              </a14:hiddenFill>
            </a:ext>
          </a:extLst>
        </p:spPr>
      </p:pic>
      <p:sp>
        <p:nvSpPr>
          <p:cNvPr id="74" name="Metin kutusu 73"/>
          <p:cNvSpPr txBox="1"/>
          <p:nvPr/>
        </p:nvSpPr>
        <p:spPr>
          <a:xfrm>
            <a:off x="2121475" y="7956376"/>
            <a:ext cx="1163509" cy="769441"/>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tr-TR" sz="1100" b="1" dirty="0" smtClean="0">
                <a:solidFill>
                  <a:srgbClr val="6600FF"/>
                </a:solidFill>
              </a:rPr>
              <a:t>0,25x – 4x opsiyonunda izleyebileceğiniz video çözümleri</a:t>
            </a:r>
          </a:p>
        </p:txBody>
      </p:sp>
      <p:sp>
        <p:nvSpPr>
          <p:cNvPr id="78" name="Yuvarlatılmış Dikdörtgen 77"/>
          <p:cNvSpPr/>
          <p:nvPr/>
        </p:nvSpPr>
        <p:spPr>
          <a:xfrm>
            <a:off x="3808296" y="7068400"/>
            <a:ext cx="2757270" cy="1824154"/>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tr-TR"/>
          </a:p>
        </p:txBody>
      </p:sp>
      <p:sp>
        <p:nvSpPr>
          <p:cNvPr id="81" name="Metin kutusu 80"/>
          <p:cNvSpPr txBox="1"/>
          <p:nvPr/>
        </p:nvSpPr>
        <p:spPr>
          <a:xfrm>
            <a:off x="3953214" y="7521713"/>
            <a:ext cx="2237388" cy="938719"/>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marL="228600" indent="-228600">
              <a:buFont typeface="Wingdings" panose="05000000000000000000" pitchFamily="2" charset="2"/>
              <a:buChar char="ü"/>
            </a:pPr>
            <a:r>
              <a:rPr lang="tr-TR" sz="1100" b="1" dirty="0" smtClean="0">
                <a:solidFill>
                  <a:schemeClr val="tx1">
                    <a:lumMod val="85000"/>
                    <a:lumOff val="15000"/>
                  </a:schemeClr>
                </a:solidFill>
              </a:rPr>
              <a:t>Basit Düzey Türev Alma Kuralı</a:t>
            </a:r>
          </a:p>
          <a:p>
            <a:pPr marL="228600" indent="-228600">
              <a:buFont typeface="Wingdings" panose="05000000000000000000" pitchFamily="2" charset="2"/>
              <a:buChar char="ü"/>
            </a:pPr>
            <a:r>
              <a:rPr lang="tr-TR" sz="1100" b="1" dirty="0" smtClean="0">
                <a:solidFill>
                  <a:schemeClr val="tx1">
                    <a:lumMod val="85000"/>
                    <a:lumOff val="15000"/>
                  </a:schemeClr>
                </a:solidFill>
              </a:rPr>
              <a:t>Parabol Türev İlişkisi</a:t>
            </a:r>
          </a:p>
          <a:p>
            <a:pPr marL="228600" indent="-228600">
              <a:buFont typeface="Wingdings" panose="05000000000000000000" pitchFamily="2" charset="2"/>
              <a:buChar char="ü"/>
            </a:pPr>
            <a:r>
              <a:rPr lang="tr-TR" sz="1100" b="1" dirty="0" smtClean="0">
                <a:solidFill>
                  <a:schemeClr val="tx1">
                    <a:lumMod val="85000"/>
                    <a:lumOff val="15000"/>
                  </a:schemeClr>
                </a:solidFill>
              </a:rPr>
              <a:t>Bazı Formüllerin ispatı</a:t>
            </a:r>
          </a:p>
          <a:p>
            <a:pPr marL="228600" indent="-228600">
              <a:buFont typeface="Wingdings" panose="05000000000000000000" pitchFamily="2" charset="2"/>
              <a:buChar char="ü"/>
            </a:pPr>
            <a:r>
              <a:rPr lang="tr-TR" sz="1100" b="1" dirty="0" smtClean="0">
                <a:solidFill>
                  <a:schemeClr val="tx1">
                    <a:lumMod val="85000"/>
                    <a:lumOff val="15000"/>
                  </a:schemeClr>
                </a:solidFill>
              </a:rPr>
              <a:t>Bu fasiküldeki soruların daha fazlasını çözdürecek kadar bilgi</a:t>
            </a:r>
            <a:endParaRPr lang="tr-TR" sz="1100" b="1" dirty="0">
              <a:solidFill>
                <a:schemeClr val="tx1">
                  <a:lumMod val="85000"/>
                  <a:lumOff val="15000"/>
                </a:schemeClr>
              </a:solidFill>
            </a:endParaRPr>
          </a:p>
        </p:txBody>
      </p:sp>
      <p:sp>
        <p:nvSpPr>
          <p:cNvPr id="82" name="Metin kutusu 81"/>
          <p:cNvSpPr txBox="1"/>
          <p:nvPr/>
        </p:nvSpPr>
        <p:spPr>
          <a:xfrm>
            <a:off x="3953214" y="7092280"/>
            <a:ext cx="2237388" cy="430887"/>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tr-TR" sz="1100" b="1" dirty="0" smtClean="0">
                <a:solidFill>
                  <a:schemeClr val="tx1">
                    <a:lumMod val="85000"/>
                    <a:lumOff val="15000"/>
                  </a:schemeClr>
                </a:solidFill>
              </a:rPr>
              <a:t>Konu anlatım videomuzdan </a:t>
            </a:r>
            <a:r>
              <a:rPr lang="tr-TR" sz="1100" b="1" dirty="0" smtClean="0">
                <a:solidFill>
                  <a:schemeClr val="tx1">
                    <a:lumMod val="85000"/>
                    <a:lumOff val="15000"/>
                  </a:schemeClr>
                </a:solidFill>
                <a:sym typeface="Wingdings" panose="05000000000000000000" pitchFamily="2" charset="2"/>
              </a:rPr>
              <a:t></a:t>
            </a:r>
            <a:endParaRPr lang="tr-TR" sz="1100" b="1" dirty="0" smtClean="0">
              <a:solidFill>
                <a:schemeClr val="tx1">
                  <a:lumMod val="85000"/>
                  <a:lumOff val="15000"/>
                </a:schemeClr>
              </a:solidFill>
            </a:endParaRPr>
          </a:p>
          <a:p>
            <a:r>
              <a:rPr lang="tr-TR" sz="1100" b="1" dirty="0" smtClean="0">
                <a:solidFill>
                  <a:schemeClr val="tx1">
                    <a:lumMod val="85000"/>
                    <a:lumOff val="15000"/>
                  </a:schemeClr>
                </a:solidFill>
              </a:rPr>
              <a:t>Sonra ki kazanımlarınız </a:t>
            </a:r>
            <a:endParaRPr lang="tr-TR" sz="1100" b="1" dirty="0">
              <a:solidFill>
                <a:schemeClr val="tx1">
                  <a:lumMod val="85000"/>
                  <a:lumOff val="15000"/>
                </a:schemeClr>
              </a:solidFill>
            </a:endParaRPr>
          </a:p>
        </p:txBody>
      </p:sp>
      <p:sp>
        <p:nvSpPr>
          <p:cNvPr id="84" name="Metin kutusu 83"/>
          <p:cNvSpPr txBox="1"/>
          <p:nvPr/>
        </p:nvSpPr>
        <p:spPr>
          <a:xfrm>
            <a:off x="3863742" y="8461667"/>
            <a:ext cx="2701823" cy="430887"/>
          </a:xfrm>
          <a:prstGeom prst="rect">
            <a:avLst/>
          </a:prstGeom>
          <a:noFill/>
          <a:ln>
            <a:noFill/>
          </a:ln>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r>
              <a:rPr lang="tr-TR" sz="1100" b="1" dirty="0" smtClean="0">
                <a:solidFill>
                  <a:schemeClr val="tx1">
                    <a:lumMod val="85000"/>
                    <a:lumOff val="15000"/>
                  </a:schemeClr>
                </a:solidFill>
              </a:rPr>
              <a:t>Eğer meraklıysanız parabol türev </a:t>
            </a:r>
          </a:p>
          <a:p>
            <a:r>
              <a:rPr lang="tr-TR" sz="1100" b="1" dirty="0" smtClean="0">
                <a:solidFill>
                  <a:schemeClr val="tx1">
                    <a:lumMod val="85000"/>
                    <a:lumOff val="15000"/>
                  </a:schemeClr>
                </a:solidFill>
              </a:rPr>
              <a:t>İlişkisine sağda bulunan </a:t>
            </a:r>
            <a:r>
              <a:rPr lang="tr-TR" sz="1100" b="1" dirty="0" err="1" smtClean="0">
                <a:solidFill>
                  <a:schemeClr val="tx1">
                    <a:lumMod val="85000"/>
                    <a:lumOff val="15000"/>
                  </a:schemeClr>
                </a:solidFill>
              </a:rPr>
              <a:t>karekodu</a:t>
            </a:r>
            <a:r>
              <a:rPr lang="tr-TR" sz="1100" b="1" dirty="0" smtClean="0">
                <a:solidFill>
                  <a:schemeClr val="tx1">
                    <a:lumMod val="85000"/>
                    <a:lumOff val="15000"/>
                  </a:schemeClr>
                </a:solidFill>
              </a:rPr>
              <a:t> okutun.</a:t>
            </a:r>
            <a:endParaRPr lang="tr-TR" sz="1100" b="1" dirty="0">
              <a:solidFill>
                <a:schemeClr val="tx1">
                  <a:lumMod val="85000"/>
                  <a:lumOff val="15000"/>
                </a:schemeClr>
              </a:solidFill>
            </a:endParaRPr>
          </a:p>
        </p:txBody>
      </p:sp>
      <p:pic>
        <p:nvPicPr>
          <p:cNvPr id="8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49280" y="7102301"/>
            <a:ext cx="486975" cy="4786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6" name="Resim 8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1651" y="129796"/>
            <a:ext cx="2183213" cy="963528"/>
          </a:xfrm>
          <a:prstGeom prst="rect">
            <a:avLst/>
          </a:prstGeom>
        </p:spPr>
      </p:pic>
    </p:spTree>
    <p:extLst>
      <p:ext uri="{BB962C8B-B14F-4D97-AF65-F5344CB8AC3E}">
        <p14:creationId xmlns:p14="http://schemas.microsoft.com/office/powerpoint/2010/main" val="3527628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31" name="Metin kutusu 30"/>
          <p:cNvSpPr txBox="1"/>
          <p:nvPr/>
        </p:nvSpPr>
        <p:spPr>
          <a:xfrm>
            <a:off x="336053" y="797972"/>
            <a:ext cx="2951307" cy="461665"/>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tr-TR" sz="1200" dirty="0" smtClean="0">
                <a:solidFill>
                  <a:schemeClr val="tx1">
                    <a:lumMod val="85000"/>
                    <a:lumOff val="15000"/>
                  </a:schemeClr>
                </a:solidFill>
              </a:rPr>
              <a:t>Bilgi : Bir ifadenin parabol belirtmesi için </a:t>
            </a:r>
          </a:p>
          <a:p>
            <a:r>
              <a:rPr lang="tr-TR" sz="1200" dirty="0" smtClean="0">
                <a:solidFill>
                  <a:schemeClr val="tx1">
                    <a:lumMod val="85000"/>
                    <a:lumOff val="15000"/>
                  </a:schemeClr>
                </a:solidFill>
              </a:rPr>
              <a:t>İkinci dereceden bir denklem olması gerekir.</a:t>
            </a: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52725" y="4067948"/>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Aşağıdaki grafiklerden hangisi bir parabol</a:t>
            </a:r>
          </a:p>
          <a:p>
            <a:r>
              <a:rPr lang="tr-TR" sz="1200" b="1" dirty="0" smtClean="0">
                <a:solidFill>
                  <a:schemeClr val="tx1">
                    <a:lumMod val="85000"/>
                    <a:lumOff val="15000"/>
                  </a:schemeClr>
                </a:solidFill>
              </a:rPr>
              <a:t>grafiği olabilir?</a:t>
            </a:r>
          </a:p>
        </p:txBody>
      </p:sp>
      <p:sp>
        <p:nvSpPr>
          <p:cNvPr id="117" name="Metin kutusu 116"/>
          <p:cNvSpPr txBox="1"/>
          <p:nvPr/>
        </p:nvSpPr>
        <p:spPr>
          <a:xfrm>
            <a:off x="92576" y="4067948"/>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122" name="Dikdörtgen 121"/>
          <p:cNvSpPr/>
          <p:nvPr/>
        </p:nvSpPr>
        <p:spPr>
          <a:xfrm>
            <a:off x="3451429" y="4788028"/>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a:t>
            </a:r>
          </a:p>
        </p:txBody>
      </p:sp>
      <p:sp>
        <p:nvSpPr>
          <p:cNvPr id="124" name="Metin kutusu 123"/>
          <p:cNvSpPr txBox="1"/>
          <p:nvPr/>
        </p:nvSpPr>
        <p:spPr>
          <a:xfrm>
            <a:off x="5301211" y="3590229"/>
            <a:ext cx="1474331" cy="1015663"/>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tr-TR" sz="1200" dirty="0" smtClean="0">
                <a:solidFill>
                  <a:schemeClr val="tx1">
                    <a:lumMod val="85000"/>
                    <a:lumOff val="15000"/>
                  </a:schemeClr>
                </a:solidFill>
              </a:rPr>
              <a:t>Bilgi : Bir parabolün sabit terimi y eksenini kestiği noktadan tespit edilebilir.</a:t>
            </a:r>
          </a:p>
        </p:txBody>
      </p:sp>
      <p:sp>
        <p:nvSpPr>
          <p:cNvPr id="125" name="Metin kutusu 124"/>
          <p:cNvSpPr txBox="1"/>
          <p:nvPr/>
        </p:nvSpPr>
        <p:spPr>
          <a:xfrm>
            <a:off x="3720699" y="4811836"/>
            <a:ext cx="2948662" cy="646331"/>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r>
              <a:rPr lang="tr-TR" sz="1200" noProof="1" smtClean="0">
                <a:solidFill>
                  <a:schemeClr val="tx1">
                    <a:lumMod val="85000"/>
                    <a:lumOff val="15000"/>
                  </a:schemeClr>
                </a:solidFill>
              </a:rPr>
              <a:t>Bilgi : Parabolün 2 adet kolu vardır. Kollar yukarı ise başkatsayısı pozitif, aşağı doğru ise başkatsayısı negatiftir.</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1</a:t>
            </a:r>
            <a:endParaRPr lang="tr-TR" sz="2000" b="1"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57" name="Metin kutusu 56"/>
          <p:cNvSpPr txBox="1"/>
          <p:nvPr/>
        </p:nvSpPr>
        <p:spPr>
          <a:xfrm>
            <a:off x="313322" y="1403653"/>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Aşağıdaki ifade bir parabol belirtmektedir.</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(a-4) x  + (b+2) x   +  (c-1) x   +  10x + 24 = 0</a:t>
            </a:r>
            <a:endParaRPr lang="tr-TR" sz="1200" dirty="0">
              <a:solidFill>
                <a:schemeClr val="tx1">
                  <a:lumMod val="85000"/>
                  <a:lumOff val="15000"/>
                </a:schemeClr>
              </a:solidFill>
            </a:endParaRPr>
          </a:p>
        </p:txBody>
      </p:sp>
      <p:sp>
        <p:nvSpPr>
          <p:cNvPr id="58" name="Metin kutusu 57"/>
          <p:cNvSpPr txBox="1"/>
          <p:nvPr/>
        </p:nvSpPr>
        <p:spPr>
          <a:xfrm>
            <a:off x="726605" y="1725330"/>
            <a:ext cx="239378" cy="230832"/>
          </a:xfrm>
          <a:prstGeom prst="rect">
            <a:avLst/>
          </a:prstGeom>
          <a:noFill/>
        </p:spPr>
        <p:txBody>
          <a:bodyPr wrap="square" rtlCol="0">
            <a:spAutoFit/>
          </a:bodyPr>
          <a:lstStyle/>
          <a:p>
            <a:r>
              <a:rPr lang="tr-TR" sz="900" dirty="0">
                <a:solidFill>
                  <a:schemeClr val="tx1">
                    <a:lumMod val="85000"/>
                    <a:lumOff val="15000"/>
                  </a:schemeClr>
                </a:solidFill>
              </a:rPr>
              <a:t>4</a:t>
            </a:r>
          </a:p>
        </p:txBody>
      </p:sp>
      <p:sp>
        <p:nvSpPr>
          <p:cNvPr id="59" name="Metin kutusu 58"/>
          <p:cNvSpPr txBox="1"/>
          <p:nvPr/>
        </p:nvSpPr>
        <p:spPr>
          <a:xfrm>
            <a:off x="1317415" y="1748880"/>
            <a:ext cx="239378" cy="230832"/>
          </a:xfrm>
          <a:prstGeom prst="rect">
            <a:avLst/>
          </a:prstGeom>
          <a:noFill/>
        </p:spPr>
        <p:txBody>
          <a:bodyPr wrap="square" rtlCol="0">
            <a:spAutoFit/>
          </a:bodyPr>
          <a:lstStyle/>
          <a:p>
            <a:r>
              <a:rPr lang="tr-TR" sz="900" dirty="0" smtClean="0">
                <a:solidFill>
                  <a:schemeClr val="tx1">
                    <a:lumMod val="85000"/>
                    <a:lumOff val="15000"/>
                  </a:schemeClr>
                </a:solidFill>
              </a:rPr>
              <a:t>3</a:t>
            </a:r>
            <a:endParaRPr lang="tr-TR" sz="900" dirty="0">
              <a:solidFill>
                <a:schemeClr val="tx1">
                  <a:lumMod val="85000"/>
                  <a:lumOff val="15000"/>
                </a:schemeClr>
              </a:solidFill>
            </a:endParaRPr>
          </a:p>
        </p:txBody>
      </p:sp>
      <p:sp>
        <p:nvSpPr>
          <p:cNvPr id="60" name="Metin kutusu 59"/>
          <p:cNvSpPr txBox="1"/>
          <p:nvPr/>
        </p:nvSpPr>
        <p:spPr>
          <a:xfrm>
            <a:off x="1965487" y="1748880"/>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63" name="Metin kutusu 62"/>
          <p:cNvSpPr txBox="1"/>
          <p:nvPr/>
        </p:nvSpPr>
        <p:spPr>
          <a:xfrm>
            <a:off x="332659" y="2051724"/>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Buna göre  a + c . b = 0 eşitliğinin sağlanması için</a:t>
            </a:r>
            <a:r>
              <a:rPr lang="tr-TR" sz="1200" b="1" dirty="0">
                <a:solidFill>
                  <a:schemeClr val="tx1">
                    <a:lumMod val="85000"/>
                    <a:lumOff val="15000"/>
                  </a:schemeClr>
                </a:solidFill>
              </a:rPr>
              <a:t> </a:t>
            </a:r>
            <a:r>
              <a:rPr lang="tr-TR" sz="1200" b="1" dirty="0" smtClean="0">
                <a:solidFill>
                  <a:schemeClr val="tx1">
                    <a:lumMod val="85000"/>
                    <a:lumOff val="15000"/>
                  </a:schemeClr>
                </a:solidFill>
              </a:rPr>
              <a:t>c kaç olmalıdır?</a:t>
            </a:r>
          </a:p>
        </p:txBody>
      </p:sp>
      <p:sp>
        <p:nvSpPr>
          <p:cNvPr id="66" name="Metin kutusu 65"/>
          <p:cNvSpPr txBox="1"/>
          <p:nvPr/>
        </p:nvSpPr>
        <p:spPr>
          <a:xfrm>
            <a:off x="3726241" y="5508108"/>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Aşağıdaki verilen parabol denklemlerinden</a:t>
            </a:r>
          </a:p>
          <a:p>
            <a:r>
              <a:rPr lang="tr-TR" sz="1200" b="1" dirty="0" smtClean="0">
                <a:solidFill>
                  <a:schemeClr val="tx1">
                    <a:lumMod val="85000"/>
                    <a:lumOff val="15000"/>
                  </a:schemeClr>
                </a:solidFill>
              </a:rPr>
              <a:t>hangisinin kolları aşağıdır?</a:t>
            </a:r>
          </a:p>
        </p:txBody>
      </p:sp>
      <p:sp>
        <p:nvSpPr>
          <p:cNvPr id="68" name="Metin kutusu 67"/>
          <p:cNvSpPr txBox="1"/>
          <p:nvPr/>
        </p:nvSpPr>
        <p:spPr>
          <a:xfrm>
            <a:off x="44627" y="4572000"/>
            <a:ext cx="3155597" cy="3416320"/>
          </a:xfrm>
          <a:prstGeom prst="rect">
            <a:avLst/>
          </a:prstGeom>
          <a:noFill/>
        </p:spPr>
        <p:txBody>
          <a:bodyPr wrap="square" rtlCol="0">
            <a:spAutoFit/>
          </a:bodyPr>
          <a:lstStyle/>
          <a:p>
            <a:r>
              <a:rPr lang="tr-TR" sz="1200" dirty="0" smtClean="0">
                <a:solidFill>
                  <a:schemeClr val="tx1">
                    <a:lumMod val="85000"/>
                    <a:lumOff val="15000"/>
                  </a:schemeClr>
                </a:solidFill>
              </a:rPr>
              <a:t>A)</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C)</a:t>
            </a:r>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E)</a:t>
            </a:r>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p:txBody>
      </p:sp>
      <p:sp>
        <p:nvSpPr>
          <p:cNvPr id="69" name="Metin kutusu 68"/>
          <p:cNvSpPr txBox="1"/>
          <p:nvPr/>
        </p:nvSpPr>
        <p:spPr>
          <a:xfrm>
            <a:off x="3810200" y="6257464"/>
            <a:ext cx="3155597" cy="1754326"/>
          </a:xfrm>
          <a:prstGeom prst="rect">
            <a:avLst/>
          </a:prstGeom>
          <a:noFill/>
        </p:spPr>
        <p:txBody>
          <a:bodyPr wrap="square" rtlCol="0">
            <a:spAutoFit/>
          </a:bodyPr>
          <a:lstStyle/>
          <a:p>
            <a:r>
              <a:rPr lang="tr-TR" sz="1200" dirty="0" smtClean="0">
                <a:solidFill>
                  <a:schemeClr val="tx1">
                    <a:lumMod val="85000"/>
                    <a:lumOff val="15000"/>
                  </a:schemeClr>
                </a:solidFill>
              </a:rPr>
              <a:t>A)  </a:t>
            </a:r>
            <a:r>
              <a:rPr lang="tr-TR" sz="1200" dirty="0">
                <a:solidFill>
                  <a:schemeClr val="tx1">
                    <a:lumMod val="85000"/>
                    <a:lumOff val="15000"/>
                  </a:schemeClr>
                </a:solidFill>
              </a:rPr>
              <a:t>x  +  10x - 24 </a:t>
            </a:r>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B</a:t>
            </a:r>
            <a:r>
              <a:rPr lang="tr-TR" sz="1200" dirty="0">
                <a:solidFill>
                  <a:schemeClr val="tx1">
                    <a:lumMod val="85000"/>
                    <a:lumOff val="15000"/>
                  </a:schemeClr>
                </a:solidFill>
              </a:rPr>
              <a:t>) x  </a:t>
            </a:r>
            <a:r>
              <a:rPr lang="tr-TR" sz="1200" dirty="0" smtClean="0">
                <a:solidFill>
                  <a:schemeClr val="tx1">
                    <a:lumMod val="85000"/>
                    <a:lumOff val="15000"/>
                  </a:schemeClr>
                </a:solidFill>
              </a:rPr>
              <a:t> -  </a:t>
            </a:r>
            <a:r>
              <a:rPr lang="tr-TR" sz="1200" dirty="0">
                <a:solidFill>
                  <a:schemeClr val="tx1">
                    <a:lumMod val="85000"/>
                    <a:lumOff val="15000"/>
                  </a:schemeClr>
                </a:solidFill>
              </a:rPr>
              <a:t>10x - 24 </a:t>
            </a:r>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a:solidFill>
                  <a:schemeClr val="tx1">
                    <a:lumMod val="85000"/>
                    <a:lumOff val="15000"/>
                  </a:schemeClr>
                </a:solidFill>
              </a:rPr>
              <a:t>C) x  </a:t>
            </a:r>
            <a:r>
              <a:rPr lang="tr-TR" sz="1200" dirty="0" smtClean="0">
                <a:solidFill>
                  <a:schemeClr val="tx1">
                    <a:lumMod val="85000"/>
                    <a:lumOff val="15000"/>
                  </a:schemeClr>
                </a:solidFill>
              </a:rPr>
              <a:t> +  45x + 13 </a:t>
            </a:r>
          </a:p>
          <a:p>
            <a:endParaRPr lang="tr-TR" sz="1200" dirty="0" smtClean="0">
              <a:solidFill>
                <a:schemeClr val="tx1">
                  <a:lumMod val="85000"/>
                  <a:lumOff val="15000"/>
                </a:schemeClr>
              </a:solidFill>
            </a:endParaRPr>
          </a:p>
          <a:p>
            <a:r>
              <a:rPr lang="tr-TR" sz="1200" dirty="0">
                <a:solidFill>
                  <a:schemeClr val="tx1">
                    <a:lumMod val="85000"/>
                    <a:lumOff val="15000"/>
                  </a:schemeClr>
                </a:solidFill>
              </a:rPr>
              <a:t>D) 2</a:t>
            </a:r>
            <a:r>
              <a:rPr lang="tr-TR" sz="1200" dirty="0" smtClean="0">
                <a:solidFill>
                  <a:schemeClr val="tx1">
                    <a:lumMod val="85000"/>
                    <a:lumOff val="15000"/>
                  </a:schemeClr>
                </a:solidFill>
              </a:rPr>
              <a:t>x  </a:t>
            </a:r>
            <a:r>
              <a:rPr lang="tr-TR" sz="1200" dirty="0">
                <a:solidFill>
                  <a:schemeClr val="tx1">
                    <a:lumMod val="85000"/>
                    <a:lumOff val="15000"/>
                  </a:schemeClr>
                </a:solidFill>
              </a:rPr>
              <a:t>+  10x - 24 </a:t>
            </a:r>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E) -4 </a:t>
            </a:r>
            <a:r>
              <a:rPr lang="tr-TR" sz="1200" dirty="0">
                <a:solidFill>
                  <a:schemeClr val="tx1">
                    <a:lumMod val="85000"/>
                    <a:lumOff val="15000"/>
                  </a:schemeClr>
                </a:solidFill>
              </a:rPr>
              <a:t>x  +  10x - 24 </a:t>
            </a:r>
          </a:p>
        </p:txBody>
      </p:sp>
      <p:pic>
        <p:nvPicPr>
          <p:cNvPr id="2077" name="Resim 207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0026" y="4606280"/>
            <a:ext cx="1257642" cy="886163"/>
          </a:xfrm>
          <a:prstGeom prst="rect">
            <a:avLst/>
          </a:prstGeom>
        </p:spPr>
      </p:pic>
      <p:pic>
        <p:nvPicPr>
          <p:cNvPr id="107" name="Resim 10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0028" y="5945297"/>
            <a:ext cx="1272790" cy="886163"/>
          </a:xfrm>
          <a:prstGeom prst="rect">
            <a:avLst/>
          </a:prstGeom>
        </p:spPr>
      </p:pic>
      <p:pic>
        <p:nvPicPr>
          <p:cNvPr id="108" name="Resim 10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24865" y="5918753"/>
            <a:ext cx="1272790" cy="886163"/>
          </a:xfrm>
          <a:prstGeom prst="rect">
            <a:avLst/>
          </a:prstGeom>
        </p:spPr>
      </p:pic>
      <p:pic>
        <p:nvPicPr>
          <p:cNvPr id="109" name="Resim 10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38356" y="7102157"/>
            <a:ext cx="1272790" cy="886163"/>
          </a:xfrm>
          <a:prstGeom prst="rect">
            <a:avLst/>
          </a:prstGeom>
        </p:spPr>
      </p:pic>
      <p:pic>
        <p:nvPicPr>
          <p:cNvPr id="118" name="Resim 1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055821" y="4606280"/>
            <a:ext cx="1257642" cy="886163"/>
          </a:xfrm>
          <a:prstGeom prst="rect">
            <a:avLst/>
          </a:prstGeom>
        </p:spPr>
      </p:pic>
      <p:sp>
        <p:nvSpPr>
          <p:cNvPr id="2078" name="Serbest Form 2077"/>
          <p:cNvSpPr/>
          <p:nvPr/>
        </p:nvSpPr>
        <p:spPr>
          <a:xfrm>
            <a:off x="4013981" y="4056665"/>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34" name="Serbest Form 33"/>
          <p:cNvSpPr/>
          <p:nvPr/>
        </p:nvSpPr>
        <p:spPr>
          <a:xfrm>
            <a:off x="2273301" y="6007105"/>
            <a:ext cx="812800" cy="843439"/>
          </a:xfrm>
          <a:custGeom>
            <a:avLst/>
            <a:gdLst>
              <a:gd name="connsiteX0" fmla="*/ 0 w 812800"/>
              <a:gd name="connsiteY0" fmla="*/ 812800 h 843439"/>
              <a:gd name="connsiteX1" fmla="*/ 368300 w 812800"/>
              <a:gd name="connsiteY1" fmla="*/ 355600 h 843439"/>
              <a:gd name="connsiteX2" fmla="*/ 368300 w 812800"/>
              <a:gd name="connsiteY2" fmla="*/ 355600 h 843439"/>
              <a:gd name="connsiteX3" fmla="*/ 609600 w 812800"/>
              <a:gd name="connsiteY3" fmla="*/ 838200 h 843439"/>
              <a:gd name="connsiteX4" fmla="*/ 812800 w 812800"/>
              <a:gd name="connsiteY4" fmla="*/ 0 h 843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00" h="843439">
                <a:moveTo>
                  <a:pt x="0" y="812800"/>
                </a:moveTo>
                <a:lnTo>
                  <a:pt x="368300" y="355600"/>
                </a:lnTo>
                <a:lnTo>
                  <a:pt x="368300" y="355600"/>
                </a:lnTo>
                <a:cubicBezTo>
                  <a:pt x="408517" y="436033"/>
                  <a:pt x="535517" y="897467"/>
                  <a:pt x="609600" y="838200"/>
                </a:cubicBezTo>
                <a:cubicBezTo>
                  <a:pt x="683683" y="778933"/>
                  <a:pt x="749300" y="88900"/>
                  <a:pt x="812800" y="0"/>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42" name="Serbest Form 41"/>
          <p:cNvSpPr/>
          <p:nvPr/>
        </p:nvSpPr>
        <p:spPr>
          <a:xfrm>
            <a:off x="825501" y="7358224"/>
            <a:ext cx="698500" cy="744376"/>
          </a:xfrm>
          <a:custGeom>
            <a:avLst/>
            <a:gdLst>
              <a:gd name="connsiteX0" fmla="*/ 0 w 698500"/>
              <a:gd name="connsiteY0" fmla="*/ 528476 h 744376"/>
              <a:gd name="connsiteX1" fmla="*/ 38100 w 698500"/>
              <a:gd name="connsiteY1" fmla="*/ 71276 h 744376"/>
              <a:gd name="connsiteX2" fmla="*/ 50800 w 698500"/>
              <a:gd name="connsiteY2" fmla="*/ 71276 h 744376"/>
              <a:gd name="connsiteX3" fmla="*/ 698500 w 698500"/>
              <a:gd name="connsiteY3" fmla="*/ 744376 h 744376"/>
            </a:gdLst>
            <a:ahLst/>
            <a:cxnLst>
              <a:cxn ang="0">
                <a:pos x="connsiteX0" y="connsiteY0"/>
              </a:cxn>
              <a:cxn ang="0">
                <a:pos x="connsiteX1" y="connsiteY1"/>
              </a:cxn>
              <a:cxn ang="0">
                <a:pos x="connsiteX2" y="connsiteY2"/>
              </a:cxn>
              <a:cxn ang="0">
                <a:pos x="connsiteX3" y="connsiteY3"/>
              </a:cxn>
            </a:cxnLst>
            <a:rect l="l" t="t" r="r" b="b"/>
            <a:pathLst>
              <a:path w="698500" h="744376">
                <a:moveTo>
                  <a:pt x="0" y="528476"/>
                </a:moveTo>
                <a:cubicBezTo>
                  <a:pt x="12700" y="376076"/>
                  <a:pt x="29633" y="147476"/>
                  <a:pt x="38100" y="71276"/>
                </a:cubicBezTo>
                <a:cubicBezTo>
                  <a:pt x="46567" y="-4924"/>
                  <a:pt x="-59267" y="-40907"/>
                  <a:pt x="50800" y="71276"/>
                </a:cubicBezTo>
                <a:cubicBezTo>
                  <a:pt x="160867" y="183459"/>
                  <a:pt x="505883" y="687226"/>
                  <a:pt x="698500" y="744376"/>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46" name="Eğri Bağlayıcı 45"/>
          <p:cNvCxnSpPr/>
          <p:nvPr/>
        </p:nvCxnSpPr>
        <p:spPr>
          <a:xfrm flipV="1">
            <a:off x="2085175" y="4662144"/>
            <a:ext cx="1115046" cy="845960"/>
          </a:xfrm>
          <a:prstGeom prst="curvedConnector3">
            <a:avLst/>
          </a:prstGeom>
          <a:ln>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3" name="Resim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0197" y="1580919"/>
            <a:ext cx="1084629" cy="895300"/>
          </a:xfrm>
          <a:prstGeom prst="rect">
            <a:avLst/>
          </a:prstGeom>
        </p:spPr>
      </p:pic>
      <p:pic>
        <p:nvPicPr>
          <p:cNvPr id="54" name="Resim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0197" y="2627787"/>
            <a:ext cx="1084629" cy="895300"/>
          </a:xfrm>
          <a:prstGeom prst="rect">
            <a:avLst/>
          </a:prstGeom>
        </p:spPr>
      </p:pic>
      <p:pic>
        <p:nvPicPr>
          <p:cNvPr id="55" name="Resim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810197" y="3820719"/>
            <a:ext cx="1084629" cy="895300"/>
          </a:xfrm>
          <a:prstGeom prst="rect">
            <a:avLst/>
          </a:prstGeom>
        </p:spPr>
      </p:pic>
      <p:pic>
        <p:nvPicPr>
          <p:cNvPr id="56" name="Resim 5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3029" y="1515727"/>
            <a:ext cx="1084629" cy="895300"/>
          </a:xfrm>
          <a:prstGeom prst="rect">
            <a:avLst/>
          </a:prstGeom>
        </p:spPr>
      </p:pic>
      <p:pic>
        <p:nvPicPr>
          <p:cNvPr id="71" name="Resim 7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63029" y="2580423"/>
            <a:ext cx="1084629" cy="895300"/>
          </a:xfrm>
          <a:prstGeom prst="rect">
            <a:avLst/>
          </a:prstGeom>
        </p:spPr>
      </p:pic>
      <p:sp>
        <p:nvSpPr>
          <p:cNvPr id="73" name="Metin kutusu 72"/>
          <p:cNvSpPr txBox="1"/>
          <p:nvPr/>
        </p:nvSpPr>
        <p:spPr>
          <a:xfrm>
            <a:off x="3584746" y="1580918"/>
            <a:ext cx="767768" cy="2308324"/>
          </a:xfrm>
          <a:prstGeom prst="rect">
            <a:avLst/>
          </a:prstGeom>
          <a:noFill/>
        </p:spPr>
        <p:txBody>
          <a:bodyPr wrap="square" rtlCol="0">
            <a:spAutoFit/>
          </a:bodyPr>
          <a:lstStyle/>
          <a:p>
            <a:r>
              <a:rPr lang="tr-TR" sz="1200" dirty="0" smtClean="0">
                <a:solidFill>
                  <a:schemeClr val="tx1">
                    <a:lumMod val="85000"/>
                    <a:lumOff val="15000"/>
                  </a:schemeClr>
                </a:solidFill>
              </a:rPr>
              <a:t>A)</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a:solidFill>
                  <a:schemeClr val="tx1">
                    <a:lumMod val="85000"/>
                    <a:lumOff val="15000"/>
                  </a:schemeClr>
                </a:solidFill>
              </a:rPr>
              <a:t>C</a:t>
            </a:r>
            <a:r>
              <a:rPr lang="tr-TR" sz="1200" dirty="0" smtClean="0">
                <a:solidFill>
                  <a:schemeClr val="tx1">
                    <a:lumMod val="85000"/>
                    <a:lumOff val="15000"/>
                  </a:schemeClr>
                </a:solidFill>
              </a:rPr>
              <a:t>)</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E)</a:t>
            </a:r>
            <a:endParaRPr lang="tr-TR" sz="1200" dirty="0">
              <a:solidFill>
                <a:schemeClr val="tx1">
                  <a:lumMod val="85000"/>
                  <a:lumOff val="15000"/>
                </a:schemeClr>
              </a:solidFill>
            </a:endParaRPr>
          </a:p>
        </p:txBody>
      </p:sp>
      <p:sp>
        <p:nvSpPr>
          <p:cNvPr id="74" name="Metin kutusu 73"/>
          <p:cNvSpPr txBox="1"/>
          <p:nvPr/>
        </p:nvSpPr>
        <p:spPr>
          <a:xfrm>
            <a:off x="5346637" y="1586572"/>
            <a:ext cx="767768" cy="2123658"/>
          </a:xfrm>
          <a:prstGeom prst="rect">
            <a:avLst/>
          </a:prstGeom>
          <a:noFill/>
        </p:spPr>
        <p:txBody>
          <a:bodyPr wrap="square" rtlCol="0">
            <a:spAutoFit/>
          </a:bodyPr>
          <a:lstStyle/>
          <a:p>
            <a:r>
              <a:rPr lang="tr-TR" sz="1200" dirty="0" smtClean="0">
                <a:solidFill>
                  <a:schemeClr val="tx1">
                    <a:lumMod val="85000"/>
                    <a:lumOff val="15000"/>
                  </a:schemeClr>
                </a:solidFill>
              </a:rPr>
              <a:t>B)</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D)</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75" name="Serbest Form 74"/>
          <p:cNvSpPr/>
          <p:nvPr/>
        </p:nvSpPr>
        <p:spPr>
          <a:xfrm rot="10800000">
            <a:off x="5972066" y="2833322"/>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76" name="Metin kutusu 75"/>
          <p:cNvSpPr txBox="1"/>
          <p:nvPr/>
        </p:nvSpPr>
        <p:spPr>
          <a:xfrm>
            <a:off x="3759530" y="755579"/>
            <a:ext cx="3155597" cy="830997"/>
          </a:xfrm>
          <a:prstGeom prst="rect">
            <a:avLst/>
          </a:prstGeom>
          <a:noFill/>
        </p:spPr>
        <p:txBody>
          <a:bodyPr wrap="square" rtlCol="0">
            <a:spAutoFit/>
          </a:bodyPr>
          <a:lstStyle/>
          <a:p>
            <a:r>
              <a:rPr lang="tr-TR" sz="1200" b="1" dirty="0">
                <a:solidFill>
                  <a:schemeClr val="tx1">
                    <a:lumMod val="85000"/>
                    <a:lumOff val="15000"/>
                  </a:schemeClr>
                </a:solidFill>
              </a:rPr>
              <a:t>x  +  10x </a:t>
            </a:r>
            <a:r>
              <a:rPr lang="tr-TR" sz="1200" b="1" dirty="0" smtClean="0">
                <a:solidFill>
                  <a:schemeClr val="tx1">
                    <a:lumMod val="85000"/>
                    <a:lumOff val="15000"/>
                  </a:schemeClr>
                </a:solidFill>
              </a:rPr>
              <a:t>- </a:t>
            </a:r>
            <a:r>
              <a:rPr lang="tr-TR" sz="1200" b="1" dirty="0">
                <a:solidFill>
                  <a:schemeClr val="tx1">
                    <a:lumMod val="85000"/>
                    <a:lumOff val="15000"/>
                  </a:schemeClr>
                </a:solidFill>
              </a:rPr>
              <a:t>24 </a:t>
            </a:r>
            <a:r>
              <a:rPr lang="tr-TR" sz="1200" b="1" dirty="0" smtClean="0">
                <a:solidFill>
                  <a:schemeClr val="tx1">
                    <a:lumMod val="85000"/>
                    <a:lumOff val="15000"/>
                  </a:schemeClr>
                </a:solidFill>
              </a:rPr>
              <a:t>parabolünün sabit terimi</a:t>
            </a:r>
          </a:p>
          <a:p>
            <a:r>
              <a:rPr lang="tr-TR" sz="1200" b="1" dirty="0" smtClean="0">
                <a:solidFill>
                  <a:schemeClr val="tx1">
                    <a:lumMod val="85000"/>
                    <a:lumOff val="15000"/>
                  </a:schemeClr>
                </a:solidFill>
              </a:rPr>
              <a:t>ile aşağıdaki verilen fonksiyonların hangisinin sabit terimiyle çarpılırsa pozitif sonuç elde edilir?</a:t>
            </a:r>
            <a:endParaRPr lang="tr-TR" sz="1200" b="1" dirty="0">
              <a:solidFill>
                <a:schemeClr val="tx1">
                  <a:lumMod val="85000"/>
                  <a:lumOff val="15000"/>
                </a:schemeClr>
              </a:solidFill>
            </a:endParaRPr>
          </a:p>
        </p:txBody>
      </p:sp>
      <p:sp>
        <p:nvSpPr>
          <p:cNvPr id="79" name="Serbest Form 78"/>
          <p:cNvSpPr/>
          <p:nvPr/>
        </p:nvSpPr>
        <p:spPr>
          <a:xfrm>
            <a:off x="908720" y="6464037"/>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80" name="Serbest Form 79"/>
          <p:cNvSpPr/>
          <p:nvPr/>
        </p:nvSpPr>
        <p:spPr>
          <a:xfrm>
            <a:off x="3911927" y="2985722"/>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81" name="Serbest Form 80"/>
          <p:cNvSpPr/>
          <p:nvPr/>
        </p:nvSpPr>
        <p:spPr>
          <a:xfrm rot="10800000">
            <a:off x="3933058" y="1691682"/>
            <a:ext cx="396476"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82" name="Serbest Form 81"/>
          <p:cNvSpPr/>
          <p:nvPr/>
        </p:nvSpPr>
        <p:spPr>
          <a:xfrm rot="10800000">
            <a:off x="6161681" y="1613797"/>
            <a:ext cx="723705" cy="653947"/>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83" name="Metin kutusu 82"/>
          <p:cNvSpPr txBox="1"/>
          <p:nvPr/>
        </p:nvSpPr>
        <p:spPr>
          <a:xfrm>
            <a:off x="3837694" y="729415"/>
            <a:ext cx="239378" cy="200055"/>
          </a:xfrm>
          <a:prstGeom prst="rect">
            <a:avLst/>
          </a:prstGeom>
          <a:noFill/>
        </p:spPr>
        <p:txBody>
          <a:bodyPr wrap="square" rtlCol="0">
            <a:spAutoFit/>
          </a:bodyPr>
          <a:lstStyle/>
          <a:p>
            <a:r>
              <a:rPr lang="tr-TR" sz="700" b="1" dirty="0" smtClean="0">
                <a:solidFill>
                  <a:schemeClr val="tx1">
                    <a:lumMod val="85000"/>
                    <a:lumOff val="15000"/>
                  </a:schemeClr>
                </a:solidFill>
              </a:rPr>
              <a:t>2</a:t>
            </a:r>
            <a:endParaRPr lang="tr-TR" sz="700" b="1" dirty="0">
              <a:solidFill>
                <a:schemeClr val="tx1">
                  <a:lumMod val="85000"/>
                  <a:lumOff val="15000"/>
                </a:schemeClr>
              </a:solidFill>
            </a:endParaRPr>
          </a:p>
        </p:txBody>
      </p:sp>
      <p:sp>
        <p:nvSpPr>
          <p:cNvPr id="84" name="Metin kutusu 83"/>
          <p:cNvSpPr txBox="1"/>
          <p:nvPr/>
        </p:nvSpPr>
        <p:spPr>
          <a:xfrm>
            <a:off x="4090156" y="6213376"/>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5" name="Metin kutusu 84"/>
          <p:cNvSpPr txBox="1"/>
          <p:nvPr/>
        </p:nvSpPr>
        <p:spPr>
          <a:xfrm>
            <a:off x="4053718" y="6573416"/>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6" name="Metin kutusu 85"/>
          <p:cNvSpPr txBox="1"/>
          <p:nvPr/>
        </p:nvSpPr>
        <p:spPr>
          <a:xfrm>
            <a:off x="4053718" y="6948264"/>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7" name="Metin kutusu 86"/>
          <p:cNvSpPr txBox="1"/>
          <p:nvPr/>
        </p:nvSpPr>
        <p:spPr>
          <a:xfrm>
            <a:off x="4125727" y="7315740"/>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8" name="Metin kutusu 87"/>
          <p:cNvSpPr txBox="1"/>
          <p:nvPr/>
        </p:nvSpPr>
        <p:spPr>
          <a:xfrm>
            <a:off x="4197736" y="7680931"/>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cxnSp>
        <p:nvCxnSpPr>
          <p:cNvPr id="7" name="Düz Ok Bağlayıcısı 6"/>
          <p:cNvCxnSpPr/>
          <p:nvPr/>
        </p:nvCxnSpPr>
        <p:spPr>
          <a:xfrm flipV="1">
            <a:off x="764704" y="4761330"/>
            <a:ext cx="735122" cy="576061"/>
          </a:xfrm>
          <a:prstGeom prst="straightConnector1">
            <a:avLst/>
          </a:prstGeom>
          <a:ln>
            <a:solidFill>
              <a:srgbClr val="FF00FF"/>
            </a:solidFill>
            <a:headEnd type="arrow"/>
            <a:tailEnd type="arrow"/>
          </a:ln>
        </p:spPr>
        <p:style>
          <a:lnRef idx="1">
            <a:schemeClr val="accent1"/>
          </a:lnRef>
          <a:fillRef idx="0">
            <a:schemeClr val="accent1"/>
          </a:fillRef>
          <a:effectRef idx="0">
            <a:schemeClr val="accent1"/>
          </a:effectRef>
          <a:fontRef idx="minor">
            <a:schemeClr val="tx1"/>
          </a:fontRef>
        </p:style>
      </p:cxnSp>
      <p:pic>
        <p:nvPicPr>
          <p:cNvPr id="8" name="Resim 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821679" y="3960962"/>
            <a:ext cx="1471417" cy="649388"/>
          </a:xfrm>
          <a:prstGeom prst="rect">
            <a:avLst/>
          </a:prstGeom>
        </p:spPr>
      </p:pic>
      <p:sp>
        <p:nvSpPr>
          <p:cNvPr id="119" name="Dikdörtgen 118"/>
          <p:cNvSpPr/>
          <p:nvPr/>
        </p:nvSpPr>
        <p:spPr>
          <a:xfrm>
            <a:off x="53885" y="8819480"/>
            <a:ext cx="1639213"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20" name="Metin kutusu 119"/>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1.D</a:t>
            </a:r>
            <a:endParaRPr lang="tr-TR" sz="1000" dirty="0">
              <a:solidFill>
                <a:schemeClr val="tx1">
                  <a:lumMod val="85000"/>
                  <a:lumOff val="15000"/>
                </a:schemeClr>
              </a:solidFill>
            </a:endParaRPr>
          </a:p>
        </p:txBody>
      </p:sp>
      <p:sp>
        <p:nvSpPr>
          <p:cNvPr id="121" name="Metin kutusu 120"/>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t>
            </a:r>
            <a:r>
              <a:rPr lang="tr-TR" sz="1000" dirty="0">
                <a:solidFill>
                  <a:schemeClr val="tx1">
                    <a:lumMod val="85000"/>
                    <a:lumOff val="15000"/>
                  </a:schemeClr>
                </a:solidFill>
              </a:rPr>
              <a:t>C</a:t>
            </a:r>
          </a:p>
        </p:txBody>
      </p:sp>
      <p:sp>
        <p:nvSpPr>
          <p:cNvPr id="126" name="Metin kutusu 125"/>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a:t>
            </a:r>
            <a:r>
              <a:rPr lang="tr-TR" sz="1000" dirty="0">
                <a:solidFill>
                  <a:schemeClr val="tx1">
                    <a:lumMod val="85000"/>
                    <a:lumOff val="15000"/>
                  </a:schemeClr>
                </a:solidFill>
              </a:rPr>
              <a:t>D</a:t>
            </a:r>
          </a:p>
        </p:txBody>
      </p:sp>
      <p:sp>
        <p:nvSpPr>
          <p:cNvPr id="127" name="Metin kutusu 126"/>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a:t>
            </a:r>
            <a:r>
              <a:rPr lang="tr-TR" sz="1000" dirty="0">
                <a:solidFill>
                  <a:schemeClr val="tx1">
                    <a:lumMod val="85000"/>
                    <a:lumOff val="15000"/>
                  </a:schemeClr>
                </a:solidFill>
              </a:rPr>
              <a:t>E</a:t>
            </a:r>
          </a:p>
        </p:txBody>
      </p:sp>
      <p:cxnSp>
        <p:nvCxnSpPr>
          <p:cNvPr id="130" name="Düz Bağlayıcı 129"/>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1" name="Düz Bağlayıcı 130"/>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3" name="Düz Bağlayıcı 132"/>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4" name="Düz Bağlayıcı 133"/>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35" name="Resim 13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138" name="Dikdörtgen 137"/>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39"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7" name="Metin kutusu 76"/>
          <p:cNvSpPr txBox="1"/>
          <p:nvPr/>
        </p:nvSpPr>
        <p:spPr>
          <a:xfrm>
            <a:off x="352726" y="2521128"/>
            <a:ext cx="2960738" cy="646331"/>
          </a:xfrm>
          <a:prstGeom prst="rect">
            <a:avLst/>
          </a:prstGeom>
          <a:noFill/>
        </p:spPr>
        <p:txBody>
          <a:bodyPr wrap="square" rtlCol="0">
            <a:spAutoFit/>
          </a:bodyPr>
          <a:lstStyle/>
          <a:p>
            <a:r>
              <a:rPr lang="tr-TR" sz="1200" dirty="0" smtClean="0">
                <a:solidFill>
                  <a:schemeClr val="tx1">
                    <a:lumMod val="85000"/>
                    <a:lumOff val="15000"/>
                  </a:schemeClr>
                </a:solidFill>
              </a:rPr>
              <a:t>A) -1                       B) </a:t>
            </a:r>
            <a:r>
              <a:rPr lang="tr-TR" sz="1200" dirty="0">
                <a:solidFill>
                  <a:schemeClr val="tx1">
                    <a:lumMod val="85000"/>
                    <a:lumOff val="15000"/>
                  </a:schemeClr>
                </a:solidFill>
              </a:rPr>
              <a:t>0</a:t>
            </a:r>
            <a:r>
              <a:rPr lang="tr-TR" sz="1200" dirty="0" smtClean="0">
                <a:solidFill>
                  <a:schemeClr val="tx1">
                    <a:lumMod val="85000"/>
                    <a:lumOff val="15000"/>
                  </a:schemeClr>
                </a:solidFill>
              </a:rPr>
              <a:t>                          C) 1</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2                   E) 4</a:t>
            </a:r>
            <a:endParaRPr lang="tr-TR" sz="1200" dirty="0">
              <a:solidFill>
                <a:schemeClr val="tx1">
                  <a:lumMod val="85000"/>
                  <a:lumOff val="15000"/>
                </a:schemeClr>
              </a:solidFill>
            </a:endParaRPr>
          </a:p>
        </p:txBody>
      </p:sp>
      <p:sp>
        <p:nvSpPr>
          <p:cNvPr id="78" name="Metin kutusu 77"/>
          <p:cNvSpPr txBox="1"/>
          <p:nvPr/>
        </p:nvSpPr>
        <p:spPr>
          <a:xfrm>
            <a:off x="1725670" y="4572000"/>
            <a:ext cx="515200" cy="3231654"/>
          </a:xfrm>
          <a:prstGeom prst="rect">
            <a:avLst/>
          </a:prstGeom>
          <a:noFill/>
        </p:spPr>
        <p:txBody>
          <a:bodyPr wrap="square" rtlCol="0">
            <a:spAutoFit/>
          </a:bodyPr>
          <a:lstStyle/>
          <a:p>
            <a:r>
              <a:rPr lang="tr-TR" sz="1200" dirty="0">
                <a:solidFill>
                  <a:schemeClr val="tx1">
                    <a:lumMod val="85000"/>
                    <a:lumOff val="15000"/>
                  </a:schemeClr>
                </a:solidFill>
              </a:rPr>
              <a:t>B</a:t>
            </a:r>
            <a:r>
              <a:rPr lang="tr-TR" sz="1200" dirty="0" smtClean="0">
                <a:solidFill>
                  <a:schemeClr val="tx1">
                    <a:lumMod val="85000"/>
                    <a:lumOff val="15000"/>
                  </a:schemeClr>
                </a:solidFill>
              </a:rPr>
              <a:t>)</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C)</a:t>
            </a:r>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p:txBody>
      </p:sp>
    </p:spTree>
    <p:extLst>
      <p:ext uri="{BB962C8B-B14F-4D97-AF65-F5344CB8AC3E}">
        <p14:creationId xmlns:p14="http://schemas.microsoft.com/office/powerpoint/2010/main" val="13765541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a:solidFill>
                  <a:srgbClr val="C00000"/>
                </a:solidFill>
                <a:latin typeface="Arial Narrow" panose="020B0606020202030204" pitchFamily="34" charset="0"/>
              </a:rPr>
              <a:t>8</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40"/>
            <a:ext cx="3155597" cy="1015663"/>
          </a:xfrm>
          <a:prstGeom prst="rect">
            <a:avLst/>
          </a:prstGeom>
          <a:noFill/>
        </p:spPr>
        <p:txBody>
          <a:bodyPr wrap="square" rtlCol="0">
            <a:spAutoFit/>
          </a:bodyPr>
          <a:lstStyle/>
          <a:p>
            <a:r>
              <a:rPr lang="tr-TR" sz="1200" b="1" dirty="0" smtClean="0">
                <a:solidFill>
                  <a:schemeClr val="tx1">
                    <a:lumMod val="85000"/>
                    <a:lumOff val="15000"/>
                  </a:schemeClr>
                </a:solidFill>
              </a:rPr>
              <a:t>A (3,12)</a:t>
            </a:r>
          </a:p>
          <a:p>
            <a:endParaRPr lang="tr-TR" sz="1200" dirty="0">
              <a:solidFill>
                <a:schemeClr val="tx1">
                  <a:lumMod val="85000"/>
                  <a:lumOff val="15000"/>
                </a:schemeClr>
              </a:solidFill>
            </a:endParaRPr>
          </a:p>
          <a:p>
            <a:r>
              <a:rPr lang="tr-TR" sz="1200" dirty="0">
                <a:solidFill>
                  <a:schemeClr val="tx1">
                    <a:lumMod val="85000"/>
                    <a:lumOff val="15000"/>
                  </a:schemeClr>
                </a:solidFill>
              </a:rPr>
              <a:t> </a:t>
            </a:r>
            <a:r>
              <a:rPr lang="tr-TR" sz="1200" b="1" dirty="0" smtClean="0">
                <a:solidFill>
                  <a:schemeClr val="tx1">
                    <a:lumMod val="85000"/>
                    <a:lumOff val="15000"/>
                  </a:schemeClr>
                </a:solidFill>
              </a:rPr>
              <a:t>x   +  (b-4) x + 12  parabolü A noktasından geçmektedir.  Buna göre parabolün sabit terimi</a:t>
            </a:r>
          </a:p>
          <a:p>
            <a:r>
              <a:rPr lang="tr-TR" sz="1200" b="1" dirty="0">
                <a:solidFill>
                  <a:schemeClr val="tx1">
                    <a:lumMod val="85000"/>
                    <a:lumOff val="15000"/>
                  </a:schemeClr>
                </a:solidFill>
              </a:rPr>
              <a:t>i</a:t>
            </a:r>
            <a:r>
              <a:rPr lang="tr-TR" sz="1200" b="1" dirty="0" smtClean="0">
                <a:solidFill>
                  <a:schemeClr val="tx1">
                    <a:lumMod val="85000"/>
                    <a:lumOff val="15000"/>
                  </a:schemeClr>
                </a:solidFill>
              </a:rPr>
              <a:t>le b sayısının çarpımı kaçtır? </a:t>
            </a: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6.</a:t>
            </a:r>
            <a:endParaRPr lang="tr-TR" sz="1400" b="1" dirty="0">
              <a:solidFill>
                <a:srgbClr val="C00000"/>
              </a:solidFill>
              <a:latin typeface="Arial Narrow" panose="020B0606020202030204" pitchFamily="34" charset="0"/>
            </a:endParaRPr>
          </a:p>
        </p:txBody>
      </p:sp>
      <p:sp>
        <p:nvSpPr>
          <p:cNvPr id="122" name="Dikdörtgen 121"/>
          <p:cNvSpPr/>
          <p:nvPr/>
        </p:nvSpPr>
        <p:spPr>
          <a:xfrm>
            <a:off x="3451429" y="4480252"/>
            <a:ext cx="308098" cy="307777"/>
          </a:xfrm>
          <a:prstGeom prst="rect">
            <a:avLst/>
          </a:prstGeom>
        </p:spPr>
        <p:txBody>
          <a:bodyPr wrap="none">
            <a:spAutoFit/>
          </a:bodyPr>
          <a:lstStyle/>
          <a:p>
            <a:r>
              <a:rPr lang="tr-TR" sz="1400" b="1" dirty="0">
                <a:solidFill>
                  <a:srgbClr val="C00000"/>
                </a:solidFill>
                <a:latin typeface="Arial Narrow" panose="020B0606020202030204" pitchFamily="34" charset="0"/>
              </a:rPr>
              <a:t>9</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68960" y="8826569"/>
            <a:ext cx="657279" cy="353943"/>
          </a:xfrm>
          <a:prstGeom prst="rect">
            <a:avLst/>
          </a:prstGeom>
          <a:noFill/>
          <a:ln>
            <a:noFill/>
          </a:ln>
        </p:spPr>
        <p:style>
          <a:lnRef idx="1">
            <a:schemeClr val="accent3"/>
          </a:lnRef>
          <a:fillRef idx="3">
            <a:schemeClr val="accent3"/>
          </a:fillRef>
          <a:effectRef idx="2">
            <a:schemeClr val="accent3"/>
          </a:effectRef>
          <a:fontRef idx="minor">
            <a:schemeClr val="lt1"/>
          </a:fontRef>
        </p:style>
        <p:txBody>
          <a:bodyPr wrap="square" rtlCol="0">
            <a:spAutoFit/>
          </a:bodyPr>
          <a:lstStyle/>
          <a:p>
            <a:pPr algn="ctr"/>
            <a:r>
              <a:rPr lang="tr-TR" sz="1700" b="1" dirty="0" smtClean="0">
                <a:solidFill>
                  <a:schemeClr val="bg1"/>
                </a:solidFill>
              </a:rPr>
              <a:t>2</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1</a:t>
            </a: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326714" y="611563"/>
            <a:ext cx="3155597" cy="1200329"/>
          </a:xfrm>
          <a:prstGeom prst="rect">
            <a:avLst/>
          </a:prstGeom>
          <a:noFill/>
        </p:spPr>
        <p:txBody>
          <a:bodyPr wrap="square" rtlCol="0">
            <a:spAutoFit/>
          </a:bodyPr>
          <a:lstStyle/>
          <a:p>
            <a:endParaRPr lang="tr-TR" sz="1200" dirty="0">
              <a:solidFill>
                <a:schemeClr val="tx1">
                  <a:lumMod val="85000"/>
                  <a:lumOff val="15000"/>
                </a:schemeClr>
              </a:solidFill>
            </a:endParaRPr>
          </a:p>
          <a:p>
            <a:r>
              <a:rPr lang="tr-TR" sz="1200" dirty="0" smtClean="0">
                <a:solidFill>
                  <a:schemeClr val="tx1">
                    <a:lumMod val="85000"/>
                    <a:lumOff val="15000"/>
                  </a:schemeClr>
                </a:solidFill>
              </a:rPr>
              <a:t>(a-4) x   + 6 x   +  2a-4  = 0</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Yukarıda verilen parabolün </a:t>
            </a:r>
            <a:r>
              <a:rPr lang="tr-TR" sz="1200" b="1" dirty="0" err="1" smtClean="0">
                <a:solidFill>
                  <a:schemeClr val="tx1">
                    <a:lumMod val="85000"/>
                    <a:lumOff val="15000"/>
                  </a:schemeClr>
                </a:solidFill>
              </a:rPr>
              <a:t>başkatsayısı</a:t>
            </a:r>
            <a:r>
              <a:rPr lang="tr-TR" sz="1200" b="1" dirty="0" smtClean="0">
                <a:solidFill>
                  <a:schemeClr val="tx1">
                    <a:lumMod val="85000"/>
                    <a:lumOff val="15000"/>
                  </a:schemeClr>
                </a:solidFill>
              </a:rPr>
              <a:t> 3`tür.</a:t>
            </a:r>
          </a:p>
          <a:p>
            <a:r>
              <a:rPr lang="tr-TR" sz="1200" b="1" dirty="0" smtClean="0">
                <a:solidFill>
                  <a:schemeClr val="tx1">
                    <a:lumMod val="85000"/>
                    <a:lumOff val="15000"/>
                  </a:schemeClr>
                </a:solidFill>
              </a:rPr>
              <a:t>Buna göre bu parabol y eksenini kestiği noktanın ordinatı ile a sayısının toplamı nedir?</a:t>
            </a:r>
          </a:p>
        </p:txBody>
      </p:sp>
      <p:sp>
        <p:nvSpPr>
          <p:cNvPr id="64" name="Metin kutusu 63"/>
          <p:cNvSpPr txBox="1"/>
          <p:nvPr/>
        </p:nvSpPr>
        <p:spPr>
          <a:xfrm>
            <a:off x="361986" y="1763694"/>
            <a:ext cx="3155597" cy="1015663"/>
          </a:xfrm>
          <a:prstGeom prst="rect">
            <a:avLst/>
          </a:prstGeom>
          <a:noFill/>
        </p:spPr>
        <p:txBody>
          <a:bodyPr wrap="square" rtlCol="0">
            <a:spAutoFit/>
          </a:bodyPr>
          <a:lstStyle/>
          <a:p>
            <a:r>
              <a:rPr lang="tr-TR" sz="1200" dirty="0" smtClean="0">
                <a:solidFill>
                  <a:schemeClr val="tx1">
                    <a:lumMod val="85000"/>
                    <a:lumOff val="15000"/>
                  </a:schemeClr>
                </a:solidFill>
              </a:rPr>
              <a:t>A) 4 </a:t>
            </a:r>
          </a:p>
          <a:p>
            <a:r>
              <a:rPr lang="tr-TR" sz="1200" dirty="0" smtClean="0">
                <a:solidFill>
                  <a:schemeClr val="tx1">
                    <a:lumMod val="85000"/>
                    <a:lumOff val="15000"/>
                  </a:schemeClr>
                </a:solidFill>
              </a:rPr>
              <a:t>B) 8</a:t>
            </a:r>
          </a:p>
          <a:p>
            <a:r>
              <a:rPr lang="tr-TR" sz="1200" dirty="0" smtClean="0">
                <a:solidFill>
                  <a:schemeClr val="tx1">
                    <a:lumMod val="85000"/>
                    <a:lumOff val="15000"/>
                  </a:schemeClr>
                </a:solidFill>
              </a:rPr>
              <a:t>C) 14</a:t>
            </a:r>
          </a:p>
          <a:p>
            <a:r>
              <a:rPr lang="tr-TR" sz="1200" dirty="0" smtClean="0">
                <a:solidFill>
                  <a:schemeClr val="tx1">
                    <a:lumMod val="85000"/>
                    <a:lumOff val="15000"/>
                  </a:schemeClr>
                </a:solidFill>
              </a:rPr>
              <a:t>D) 17</a:t>
            </a:r>
          </a:p>
          <a:p>
            <a:r>
              <a:rPr lang="tr-TR" sz="1200" dirty="0" smtClean="0">
                <a:solidFill>
                  <a:schemeClr val="tx1">
                    <a:lumMod val="85000"/>
                    <a:lumOff val="15000"/>
                  </a:schemeClr>
                </a:solidFill>
              </a:rPr>
              <a:t>E) </a:t>
            </a:r>
            <a:r>
              <a:rPr lang="tr-TR" sz="1200" dirty="0">
                <a:solidFill>
                  <a:schemeClr val="tx1">
                    <a:lumMod val="85000"/>
                    <a:lumOff val="15000"/>
                  </a:schemeClr>
                </a:solidFill>
              </a:rPr>
              <a:t> </a:t>
            </a:r>
            <a:r>
              <a:rPr lang="tr-TR" sz="1200" dirty="0" smtClean="0">
                <a:solidFill>
                  <a:schemeClr val="tx1">
                    <a:lumMod val="85000"/>
                    <a:lumOff val="15000"/>
                  </a:schemeClr>
                </a:solidFill>
              </a:rPr>
              <a:t>20</a:t>
            </a:r>
            <a:endParaRPr lang="tr-TR" sz="1200" dirty="0">
              <a:solidFill>
                <a:schemeClr val="tx1">
                  <a:lumMod val="85000"/>
                  <a:lumOff val="15000"/>
                </a:schemeClr>
              </a:solidFill>
            </a:endParaRPr>
          </a:p>
        </p:txBody>
      </p:sp>
      <p:sp>
        <p:nvSpPr>
          <p:cNvPr id="66" name="Metin kutusu 65"/>
          <p:cNvSpPr txBox="1"/>
          <p:nvPr/>
        </p:nvSpPr>
        <p:spPr>
          <a:xfrm>
            <a:off x="3702406" y="4499995"/>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Aşağıda verilen ifadelerden hangisi</a:t>
            </a:r>
            <a:endParaRPr lang="tr-TR" sz="1200" b="1" dirty="0">
              <a:solidFill>
                <a:schemeClr val="tx1">
                  <a:lumMod val="85000"/>
                  <a:lumOff val="15000"/>
                </a:schemeClr>
              </a:solidFill>
            </a:endParaRPr>
          </a:p>
          <a:p>
            <a:r>
              <a:rPr lang="tr-TR" sz="1200" b="1" dirty="0" smtClean="0">
                <a:solidFill>
                  <a:schemeClr val="tx1">
                    <a:lumMod val="85000"/>
                    <a:lumOff val="15000"/>
                  </a:schemeClr>
                </a:solidFill>
              </a:rPr>
              <a:t>(x+4) ile çarpılırsa  bir parabol elde edilir?</a:t>
            </a: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76" name="Metin kutusu 75"/>
          <p:cNvSpPr txBox="1"/>
          <p:nvPr/>
        </p:nvSpPr>
        <p:spPr>
          <a:xfrm>
            <a:off x="3759530" y="755580"/>
            <a:ext cx="3155597" cy="461665"/>
          </a:xfrm>
          <a:prstGeom prst="rect">
            <a:avLst/>
          </a:prstGeom>
          <a:noFill/>
        </p:spPr>
        <p:txBody>
          <a:bodyPr wrap="square" rtlCol="0">
            <a:spAutoFit/>
          </a:bodyPr>
          <a:lstStyle/>
          <a:p>
            <a:r>
              <a:rPr lang="tr-TR" sz="1200" b="1" dirty="0">
                <a:solidFill>
                  <a:schemeClr val="tx1">
                    <a:lumMod val="85000"/>
                    <a:lumOff val="15000"/>
                  </a:schemeClr>
                </a:solidFill>
              </a:rPr>
              <a:t>x </a:t>
            </a:r>
            <a:r>
              <a:rPr lang="tr-TR" sz="1200" b="1" dirty="0" smtClean="0">
                <a:solidFill>
                  <a:schemeClr val="tx1">
                    <a:lumMod val="85000"/>
                    <a:lumOff val="15000"/>
                  </a:schemeClr>
                </a:solidFill>
              </a:rPr>
              <a:t>  </a:t>
            </a:r>
            <a:r>
              <a:rPr lang="tr-TR" sz="1200" b="1" dirty="0">
                <a:solidFill>
                  <a:schemeClr val="tx1">
                    <a:lumMod val="85000"/>
                    <a:lumOff val="15000"/>
                  </a:schemeClr>
                </a:solidFill>
              </a:rPr>
              <a:t>+  </a:t>
            </a:r>
            <a:r>
              <a:rPr lang="tr-TR" sz="1200" b="1" dirty="0" smtClean="0">
                <a:solidFill>
                  <a:schemeClr val="tx1">
                    <a:lumMod val="85000"/>
                    <a:lumOff val="15000"/>
                  </a:schemeClr>
                </a:solidFill>
              </a:rPr>
              <a:t>10x eğrisinin grafiği aşağıdakilerden hangisi olabilir?</a:t>
            </a:r>
          </a:p>
        </p:txBody>
      </p:sp>
      <p:sp>
        <p:nvSpPr>
          <p:cNvPr id="83" name="Metin kutusu 82"/>
          <p:cNvSpPr txBox="1"/>
          <p:nvPr/>
        </p:nvSpPr>
        <p:spPr>
          <a:xfrm>
            <a:off x="3837694" y="735836"/>
            <a:ext cx="23937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78" name="Metin kutusu 77"/>
          <p:cNvSpPr txBox="1"/>
          <p:nvPr/>
        </p:nvSpPr>
        <p:spPr>
          <a:xfrm>
            <a:off x="746365" y="77430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9" name="Metin kutusu 88"/>
          <p:cNvSpPr txBox="1"/>
          <p:nvPr/>
        </p:nvSpPr>
        <p:spPr>
          <a:xfrm>
            <a:off x="476672" y="3203848"/>
            <a:ext cx="150612" cy="215444"/>
          </a:xfrm>
          <a:prstGeom prst="rect">
            <a:avLst/>
          </a:prstGeom>
          <a:noFill/>
        </p:spPr>
        <p:txBody>
          <a:bodyPr wrap="square" rtlCol="0">
            <a:spAutoFit/>
          </a:bodyPr>
          <a:lstStyle/>
          <a:p>
            <a:r>
              <a:rPr lang="tr-TR" sz="800" b="1" dirty="0" smtClean="0">
                <a:solidFill>
                  <a:schemeClr val="tx1">
                    <a:lumMod val="85000"/>
                    <a:lumOff val="15000"/>
                  </a:schemeClr>
                </a:solidFill>
              </a:rPr>
              <a:t>2</a:t>
            </a:r>
            <a:endParaRPr lang="tr-TR" sz="800" b="1" dirty="0">
              <a:solidFill>
                <a:schemeClr val="tx1">
                  <a:lumMod val="85000"/>
                  <a:lumOff val="15000"/>
                </a:schemeClr>
              </a:solidFill>
            </a:endParaRPr>
          </a:p>
        </p:txBody>
      </p:sp>
      <p:sp>
        <p:nvSpPr>
          <p:cNvPr id="90" name="Metin kutusu 89"/>
          <p:cNvSpPr txBox="1"/>
          <p:nvPr/>
        </p:nvSpPr>
        <p:spPr>
          <a:xfrm>
            <a:off x="361986" y="3846540"/>
            <a:ext cx="3155597" cy="1015663"/>
          </a:xfrm>
          <a:prstGeom prst="rect">
            <a:avLst/>
          </a:prstGeom>
          <a:noFill/>
        </p:spPr>
        <p:txBody>
          <a:bodyPr wrap="square" rtlCol="0">
            <a:spAutoFit/>
          </a:bodyPr>
          <a:lstStyle/>
          <a:p>
            <a:r>
              <a:rPr lang="tr-TR" sz="1200" dirty="0" smtClean="0">
                <a:solidFill>
                  <a:schemeClr val="tx1">
                    <a:lumMod val="85000"/>
                    <a:lumOff val="15000"/>
                  </a:schemeClr>
                </a:solidFill>
              </a:rPr>
              <a:t>A) 8 </a:t>
            </a:r>
          </a:p>
          <a:p>
            <a:r>
              <a:rPr lang="tr-TR" sz="1200" dirty="0" smtClean="0">
                <a:solidFill>
                  <a:schemeClr val="tx1">
                    <a:lumMod val="85000"/>
                    <a:lumOff val="15000"/>
                  </a:schemeClr>
                </a:solidFill>
              </a:rPr>
              <a:t>B) 12</a:t>
            </a:r>
          </a:p>
          <a:p>
            <a:r>
              <a:rPr lang="tr-TR" sz="1200" dirty="0" smtClean="0">
                <a:solidFill>
                  <a:schemeClr val="tx1">
                    <a:lumMod val="85000"/>
                    <a:lumOff val="15000"/>
                  </a:schemeClr>
                </a:solidFill>
              </a:rPr>
              <a:t>C) 16</a:t>
            </a:r>
          </a:p>
          <a:p>
            <a:r>
              <a:rPr lang="tr-TR" sz="1200" dirty="0" smtClean="0">
                <a:solidFill>
                  <a:schemeClr val="tx1">
                    <a:lumMod val="85000"/>
                    <a:lumOff val="15000"/>
                  </a:schemeClr>
                </a:solidFill>
              </a:rPr>
              <a:t>D) 20</a:t>
            </a:r>
          </a:p>
          <a:p>
            <a:r>
              <a:rPr lang="tr-TR" sz="1200" dirty="0" smtClean="0">
                <a:solidFill>
                  <a:schemeClr val="tx1">
                    <a:lumMod val="85000"/>
                    <a:lumOff val="15000"/>
                  </a:schemeClr>
                </a:solidFill>
              </a:rPr>
              <a:t>E) </a:t>
            </a:r>
            <a:r>
              <a:rPr lang="tr-TR" sz="1200" dirty="0">
                <a:solidFill>
                  <a:schemeClr val="tx1">
                    <a:lumMod val="85000"/>
                    <a:lumOff val="15000"/>
                  </a:schemeClr>
                </a:solidFill>
              </a:rPr>
              <a:t> </a:t>
            </a:r>
            <a:r>
              <a:rPr lang="tr-TR" sz="1200" dirty="0" smtClean="0">
                <a:solidFill>
                  <a:schemeClr val="tx1">
                    <a:lumMod val="85000"/>
                    <a:lumOff val="15000"/>
                  </a:schemeClr>
                </a:solidFill>
              </a:rPr>
              <a:t>25</a:t>
            </a:r>
            <a:endParaRPr lang="tr-TR" sz="1200" dirty="0">
              <a:solidFill>
                <a:schemeClr val="tx1">
                  <a:lumMod val="85000"/>
                  <a:lumOff val="15000"/>
                </a:schemeClr>
              </a:solidFill>
            </a:endParaRPr>
          </a:p>
        </p:txBody>
      </p:sp>
      <p:sp>
        <p:nvSpPr>
          <p:cNvPr id="91" name="Metin kutusu 90"/>
          <p:cNvSpPr txBox="1"/>
          <p:nvPr/>
        </p:nvSpPr>
        <p:spPr>
          <a:xfrm>
            <a:off x="44624" y="4932040"/>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7</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92" name="Metin kutusu 91"/>
          <p:cNvSpPr txBox="1"/>
          <p:nvPr/>
        </p:nvSpPr>
        <p:spPr>
          <a:xfrm>
            <a:off x="262202" y="6198567"/>
            <a:ext cx="3084054" cy="461665"/>
          </a:xfrm>
          <a:prstGeom prst="rect">
            <a:avLst/>
          </a:prstGeom>
          <a:noFill/>
        </p:spPr>
        <p:txBody>
          <a:bodyPr wrap="square" rtlCol="0">
            <a:spAutoFit/>
          </a:bodyPr>
          <a:lstStyle/>
          <a:p>
            <a:r>
              <a:rPr lang="tr-TR" sz="1200" b="1" dirty="0" smtClean="0">
                <a:solidFill>
                  <a:schemeClr val="tx1">
                    <a:lumMod val="85000"/>
                    <a:lumOff val="15000"/>
                  </a:schemeClr>
                </a:solidFill>
              </a:rPr>
              <a:t>x   + 4x  + 12 parabolünün tepe noktası koordinatları nedir?</a:t>
            </a:r>
          </a:p>
        </p:txBody>
      </p:sp>
      <p:sp>
        <p:nvSpPr>
          <p:cNvPr id="93" name="Metin kutusu 92"/>
          <p:cNvSpPr txBox="1"/>
          <p:nvPr/>
        </p:nvSpPr>
        <p:spPr>
          <a:xfrm>
            <a:off x="352725" y="5004048"/>
            <a:ext cx="2994121" cy="1200329"/>
          </a:xfrm>
          <a:prstGeom prst="rect">
            <a:avLst/>
          </a:prstGeom>
        </p:spPr>
        <p:style>
          <a:lnRef idx="1">
            <a:schemeClr val="accent6"/>
          </a:lnRef>
          <a:fillRef idx="2">
            <a:schemeClr val="accent6"/>
          </a:fillRef>
          <a:effectRef idx="1">
            <a:schemeClr val="accent6"/>
          </a:effectRef>
          <a:fontRef idx="minor">
            <a:schemeClr val="dk1"/>
          </a:fontRef>
        </p:style>
        <p:txBody>
          <a:bodyPr wrap="square" rtlCol="0">
            <a:spAutoFit/>
          </a:bodyPr>
          <a:lstStyle/>
          <a:p>
            <a:r>
              <a:rPr lang="tr-TR" sz="1200" b="1" noProof="1" smtClean="0">
                <a:solidFill>
                  <a:schemeClr val="tx1">
                    <a:lumMod val="85000"/>
                    <a:lumOff val="15000"/>
                  </a:schemeClr>
                </a:solidFill>
              </a:rPr>
              <a:t>Parabolün tepe noktası (r,k) ile gösterilir.</a:t>
            </a:r>
          </a:p>
          <a:p>
            <a:r>
              <a:rPr lang="tr-TR" sz="1200" b="1" noProof="1" smtClean="0">
                <a:solidFill>
                  <a:schemeClr val="tx1">
                    <a:lumMod val="85000"/>
                    <a:lumOff val="15000"/>
                  </a:schemeClr>
                </a:solidFill>
              </a:rPr>
              <a:t>r= -b/2a , k = f(r) (Fonksiyonda yerine yazılır)</a:t>
            </a:r>
          </a:p>
          <a:p>
            <a:r>
              <a:rPr lang="tr-TR" sz="1200" noProof="1" smtClean="0">
                <a:solidFill>
                  <a:schemeClr val="tx1">
                    <a:lumMod val="85000"/>
                    <a:lumOff val="15000"/>
                  </a:schemeClr>
                </a:solidFill>
              </a:rPr>
              <a:t>Tepe noktasını bulmak için denklemin bilinmeyen değişkene göre türevi alınıp sıfıra eşitlenebilir.  Ek bilgidir şuanlık bilmeniz zorunlu değildir.</a:t>
            </a:r>
          </a:p>
        </p:txBody>
      </p:sp>
      <p:sp>
        <p:nvSpPr>
          <p:cNvPr id="94" name="Metin kutusu 93"/>
          <p:cNvSpPr txBox="1"/>
          <p:nvPr/>
        </p:nvSpPr>
        <p:spPr>
          <a:xfrm>
            <a:off x="362405" y="6213376"/>
            <a:ext cx="150612" cy="230832"/>
          </a:xfrm>
          <a:prstGeom prst="rect">
            <a:avLst/>
          </a:prstGeom>
          <a:noFill/>
        </p:spPr>
        <p:txBody>
          <a:bodyPr wrap="square" rtlCol="0">
            <a:spAutoFit/>
          </a:bodyPr>
          <a:lstStyle/>
          <a:p>
            <a:r>
              <a:rPr lang="tr-TR" sz="900" b="1" dirty="0" smtClean="0">
                <a:solidFill>
                  <a:schemeClr val="tx1">
                    <a:lumMod val="85000"/>
                    <a:lumOff val="15000"/>
                  </a:schemeClr>
                </a:solidFill>
              </a:rPr>
              <a:t>2</a:t>
            </a:r>
            <a:endParaRPr lang="tr-TR" sz="900" b="1" dirty="0">
              <a:solidFill>
                <a:schemeClr val="tx1">
                  <a:lumMod val="85000"/>
                  <a:lumOff val="15000"/>
                </a:schemeClr>
              </a:solidFill>
            </a:endParaRPr>
          </a:p>
        </p:txBody>
      </p:sp>
      <p:sp>
        <p:nvSpPr>
          <p:cNvPr id="95" name="Metin kutusu 94"/>
          <p:cNvSpPr txBox="1"/>
          <p:nvPr/>
        </p:nvSpPr>
        <p:spPr>
          <a:xfrm>
            <a:off x="262205" y="6652681"/>
            <a:ext cx="3155597" cy="1015663"/>
          </a:xfrm>
          <a:prstGeom prst="rect">
            <a:avLst/>
          </a:prstGeom>
          <a:noFill/>
        </p:spPr>
        <p:txBody>
          <a:bodyPr wrap="square" rtlCol="0">
            <a:spAutoFit/>
          </a:bodyPr>
          <a:lstStyle/>
          <a:p>
            <a:r>
              <a:rPr lang="tr-TR" sz="1200" dirty="0" smtClean="0">
                <a:solidFill>
                  <a:schemeClr val="tx1">
                    <a:lumMod val="85000"/>
                    <a:lumOff val="15000"/>
                  </a:schemeClr>
                </a:solidFill>
              </a:rPr>
              <a:t>A) ( -2,8 )</a:t>
            </a:r>
          </a:p>
          <a:p>
            <a:r>
              <a:rPr lang="tr-TR" sz="1200" dirty="0" smtClean="0">
                <a:solidFill>
                  <a:schemeClr val="tx1">
                    <a:lumMod val="85000"/>
                    <a:lumOff val="15000"/>
                  </a:schemeClr>
                </a:solidFill>
              </a:rPr>
              <a:t>B</a:t>
            </a:r>
            <a:r>
              <a:rPr lang="tr-TR" sz="1200" dirty="0">
                <a:solidFill>
                  <a:schemeClr val="tx1">
                    <a:lumMod val="85000"/>
                    <a:lumOff val="15000"/>
                  </a:schemeClr>
                </a:solidFill>
              </a:rPr>
              <a:t>) ( </a:t>
            </a:r>
            <a:r>
              <a:rPr lang="tr-TR" sz="1200" dirty="0" smtClean="0">
                <a:solidFill>
                  <a:schemeClr val="tx1">
                    <a:lumMod val="85000"/>
                    <a:lumOff val="15000"/>
                  </a:schemeClr>
                </a:solidFill>
              </a:rPr>
              <a:t>-2,-8 )</a:t>
            </a:r>
          </a:p>
          <a:p>
            <a:r>
              <a:rPr lang="tr-TR" sz="1200" dirty="0" smtClean="0">
                <a:solidFill>
                  <a:schemeClr val="tx1">
                    <a:lumMod val="85000"/>
                    <a:lumOff val="15000"/>
                  </a:schemeClr>
                </a:solidFill>
              </a:rPr>
              <a:t>C</a:t>
            </a:r>
            <a:r>
              <a:rPr lang="tr-TR" sz="1200" dirty="0">
                <a:solidFill>
                  <a:schemeClr val="tx1">
                    <a:lumMod val="85000"/>
                    <a:lumOff val="15000"/>
                  </a:schemeClr>
                </a:solidFill>
              </a:rPr>
              <a:t>) ( </a:t>
            </a:r>
            <a:r>
              <a:rPr lang="tr-TR" sz="1200" dirty="0" smtClean="0">
                <a:solidFill>
                  <a:schemeClr val="tx1">
                    <a:lumMod val="85000"/>
                    <a:lumOff val="15000"/>
                  </a:schemeClr>
                </a:solidFill>
              </a:rPr>
              <a:t>2,8 )</a:t>
            </a:r>
          </a:p>
          <a:p>
            <a:r>
              <a:rPr lang="tr-TR" sz="1200" dirty="0" smtClean="0">
                <a:solidFill>
                  <a:schemeClr val="tx1">
                    <a:lumMod val="85000"/>
                    <a:lumOff val="15000"/>
                  </a:schemeClr>
                </a:solidFill>
              </a:rPr>
              <a:t>D</a:t>
            </a:r>
            <a:r>
              <a:rPr lang="tr-TR" sz="1200" dirty="0">
                <a:solidFill>
                  <a:schemeClr val="tx1">
                    <a:lumMod val="85000"/>
                    <a:lumOff val="15000"/>
                  </a:schemeClr>
                </a:solidFill>
              </a:rPr>
              <a:t>) ( </a:t>
            </a:r>
            <a:r>
              <a:rPr lang="tr-TR" sz="1200" dirty="0" smtClean="0">
                <a:solidFill>
                  <a:schemeClr val="tx1">
                    <a:lumMod val="85000"/>
                    <a:lumOff val="15000"/>
                  </a:schemeClr>
                </a:solidFill>
              </a:rPr>
              <a:t>4,-8 )</a:t>
            </a:r>
          </a:p>
          <a:p>
            <a:r>
              <a:rPr lang="tr-TR" sz="1200" dirty="0" smtClean="0">
                <a:solidFill>
                  <a:schemeClr val="tx1">
                    <a:lumMod val="85000"/>
                    <a:lumOff val="15000"/>
                  </a:schemeClr>
                </a:solidFill>
              </a:rPr>
              <a:t>E) </a:t>
            </a:r>
            <a:r>
              <a:rPr lang="tr-TR" sz="1200" dirty="0">
                <a:solidFill>
                  <a:schemeClr val="tx1">
                    <a:lumMod val="85000"/>
                    <a:lumOff val="15000"/>
                  </a:schemeClr>
                </a:solidFill>
              </a:rPr>
              <a:t>( </a:t>
            </a:r>
            <a:r>
              <a:rPr lang="tr-TR" sz="1200" dirty="0" smtClean="0">
                <a:solidFill>
                  <a:schemeClr val="tx1">
                    <a:lumMod val="85000"/>
                    <a:lumOff val="15000"/>
                  </a:schemeClr>
                </a:solidFill>
              </a:rPr>
              <a:t>2,-4 )</a:t>
            </a:r>
            <a:endParaRPr lang="tr-TR" sz="1200" dirty="0">
              <a:solidFill>
                <a:schemeClr val="tx1">
                  <a:lumMod val="85000"/>
                  <a:lumOff val="15000"/>
                </a:schemeClr>
              </a:solidFill>
            </a:endParaRPr>
          </a:p>
        </p:txBody>
      </p:sp>
      <p:pic>
        <p:nvPicPr>
          <p:cNvPr id="97" name="Resim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1324823"/>
            <a:ext cx="1084629" cy="895300"/>
          </a:xfrm>
          <a:prstGeom prst="rect">
            <a:avLst/>
          </a:prstGeom>
        </p:spPr>
      </p:pic>
      <p:pic>
        <p:nvPicPr>
          <p:cNvPr id="98" name="Resim 9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2371691"/>
            <a:ext cx="1084629" cy="895300"/>
          </a:xfrm>
          <a:prstGeom prst="rect">
            <a:avLst/>
          </a:prstGeom>
        </p:spPr>
      </p:pic>
      <p:pic>
        <p:nvPicPr>
          <p:cNvPr id="99" name="Resim 9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3564623"/>
            <a:ext cx="1084629" cy="895300"/>
          </a:xfrm>
          <a:prstGeom prst="rect">
            <a:avLst/>
          </a:prstGeom>
        </p:spPr>
      </p:pic>
      <p:pic>
        <p:nvPicPr>
          <p:cNvPr id="100" name="Resim 9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3029" y="1259635"/>
            <a:ext cx="1084629" cy="895300"/>
          </a:xfrm>
          <a:prstGeom prst="rect">
            <a:avLst/>
          </a:prstGeom>
        </p:spPr>
      </p:pic>
      <p:pic>
        <p:nvPicPr>
          <p:cNvPr id="101" name="Resim 10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3029" y="2324327"/>
            <a:ext cx="1084629" cy="895300"/>
          </a:xfrm>
          <a:prstGeom prst="rect">
            <a:avLst/>
          </a:prstGeom>
        </p:spPr>
      </p:pic>
      <p:sp>
        <p:nvSpPr>
          <p:cNvPr id="102" name="Metin kutusu 101"/>
          <p:cNvSpPr txBox="1"/>
          <p:nvPr/>
        </p:nvSpPr>
        <p:spPr>
          <a:xfrm>
            <a:off x="3584746" y="1342252"/>
            <a:ext cx="767768" cy="2308324"/>
          </a:xfrm>
          <a:prstGeom prst="rect">
            <a:avLst/>
          </a:prstGeom>
          <a:noFill/>
        </p:spPr>
        <p:txBody>
          <a:bodyPr wrap="square" rtlCol="0">
            <a:spAutoFit/>
          </a:bodyPr>
          <a:lstStyle/>
          <a:p>
            <a:r>
              <a:rPr lang="tr-TR" sz="1200" dirty="0" smtClean="0">
                <a:solidFill>
                  <a:schemeClr val="tx1">
                    <a:lumMod val="85000"/>
                    <a:lumOff val="15000"/>
                  </a:schemeClr>
                </a:solidFill>
              </a:rPr>
              <a:t>A)</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a:solidFill>
                  <a:schemeClr val="tx1">
                    <a:lumMod val="85000"/>
                    <a:lumOff val="15000"/>
                  </a:schemeClr>
                </a:solidFill>
              </a:rPr>
              <a:t>C</a:t>
            </a:r>
            <a:r>
              <a:rPr lang="tr-TR" sz="1200" dirty="0" smtClean="0">
                <a:solidFill>
                  <a:schemeClr val="tx1">
                    <a:lumMod val="85000"/>
                    <a:lumOff val="15000"/>
                  </a:schemeClr>
                </a:solidFill>
              </a:rPr>
              <a:t>)</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E)</a:t>
            </a:r>
            <a:endParaRPr lang="tr-TR" sz="1200" dirty="0">
              <a:solidFill>
                <a:schemeClr val="tx1">
                  <a:lumMod val="85000"/>
                  <a:lumOff val="15000"/>
                </a:schemeClr>
              </a:solidFill>
            </a:endParaRPr>
          </a:p>
        </p:txBody>
      </p:sp>
      <p:sp>
        <p:nvSpPr>
          <p:cNvPr id="103" name="Metin kutusu 102"/>
          <p:cNvSpPr txBox="1"/>
          <p:nvPr/>
        </p:nvSpPr>
        <p:spPr>
          <a:xfrm>
            <a:off x="5346637" y="1330479"/>
            <a:ext cx="767768" cy="2123658"/>
          </a:xfrm>
          <a:prstGeom prst="rect">
            <a:avLst/>
          </a:prstGeom>
          <a:noFill/>
        </p:spPr>
        <p:txBody>
          <a:bodyPr wrap="square" rtlCol="0">
            <a:spAutoFit/>
          </a:bodyPr>
          <a:lstStyle/>
          <a:p>
            <a:r>
              <a:rPr lang="tr-TR" sz="1200" dirty="0" smtClean="0">
                <a:solidFill>
                  <a:schemeClr val="tx1">
                    <a:lumMod val="85000"/>
                    <a:lumOff val="15000"/>
                  </a:schemeClr>
                </a:solidFill>
              </a:rPr>
              <a:t>B)</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D)</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104" name="Serbest Form 103"/>
          <p:cNvSpPr/>
          <p:nvPr/>
        </p:nvSpPr>
        <p:spPr>
          <a:xfrm rot="10800000">
            <a:off x="5972066" y="2577229"/>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05" name="Serbest Form 104"/>
          <p:cNvSpPr/>
          <p:nvPr/>
        </p:nvSpPr>
        <p:spPr>
          <a:xfrm>
            <a:off x="4014575" y="2637122"/>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06" name="Serbest Form 105"/>
          <p:cNvSpPr/>
          <p:nvPr/>
        </p:nvSpPr>
        <p:spPr>
          <a:xfrm rot="10800000">
            <a:off x="4256662" y="1600577"/>
            <a:ext cx="396476"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1" name="Serbest Form 110"/>
          <p:cNvSpPr/>
          <p:nvPr/>
        </p:nvSpPr>
        <p:spPr>
          <a:xfrm rot="10800000">
            <a:off x="3861050" y="3564624"/>
            <a:ext cx="612501" cy="647337"/>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2" name="Serbest Form 111"/>
          <p:cNvSpPr/>
          <p:nvPr/>
        </p:nvSpPr>
        <p:spPr>
          <a:xfrm>
            <a:off x="6018512" y="1757845"/>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FF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3" name="Metin kutusu 112"/>
          <p:cNvSpPr txBox="1"/>
          <p:nvPr/>
        </p:nvSpPr>
        <p:spPr>
          <a:xfrm>
            <a:off x="3729790" y="5047747"/>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(x-1)                B)  4                        C) (x+4)</a:t>
            </a:r>
          </a:p>
        </p:txBody>
      </p:sp>
      <p:sp>
        <p:nvSpPr>
          <p:cNvPr id="115" name="Metin kutusu 114"/>
          <p:cNvSpPr txBox="1"/>
          <p:nvPr/>
        </p:nvSpPr>
        <p:spPr>
          <a:xfrm>
            <a:off x="3900659" y="546394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x                       E) x - 8 </a:t>
            </a:r>
          </a:p>
        </p:txBody>
      </p:sp>
      <p:sp>
        <p:nvSpPr>
          <p:cNvPr id="119" name="Metin kutusu 118"/>
          <p:cNvSpPr txBox="1"/>
          <p:nvPr/>
        </p:nvSpPr>
        <p:spPr>
          <a:xfrm>
            <a:off x="4413760" y="5421288"/>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120" name="Metin kutusu 119"/>
          <p:cNvSpPr txBox="1"/>
          <p:nvPr/>
        </p:nvSpPr>
        <p:spPr>
          <a:xfrm>
            <a:off x="5445226" y="5421288"/>
            <a:ext cx="239378" cy="230832"/>
          </a:xfrm>
          <a:prstGeom prst="rect">
            <a:avLst/>
          </a:prstGeom>
          <a:noFill/>
        </p:spPr>
        <p:txBody>
          <a:bodyPr wrap="square" rtlCol="0">
            <a:spAutoFit/>
          </a:bodyPr>
          <a:lstStyle/>
          <a:p>
            <a:r>
              <a:rPr lang="tr-TR" sz="900" dirty="0">
                <a:solidFill>
                  <a:schemeClr val="tx1">
                    <a:lumMod val="85000"/>
                    <a:lumOff val="15000"/>
                  </a:schemeClr>
                </a:solidFill>
              </a:rPr>
              <a:t>3</a:t>
            </a:r>
          </a:p>
        </p:txBody>
      </p:sp>
      <p:sp>
        <p:nvSpPr>
          <p:cNvPr id="121" name="Dikdörtgen 120"/>
          <p:cNvSpPr/>
          <p:nvPr/>
        </p:nvSpPr>
        <p:spPr>
          <a:xfrm>
            <a:off x="3429000" y="5796140"/>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sp>
        <p:nvSpPr>
          <p:cNvPr id="126" name="Metin kutusu 125"/>
          <p:cNvSpPr txBox="1"/>
          <p:nvPr/>
        </p:nvSpPr>
        <p:spPr>
          <a:xfrm>
            <a:off x="3712067" y="5823426"/>
            <a:ext cx="3245325" cy="2492990"/>
          </a:xfrm>
          <a:prstGeom prst="rect">
            <a:avLst/>
          </a:prstGeom>
          <a:noFill/>
        </p:spPr>
        <p:txBody>
          <a:bodyPr wrap="square" rtlCol="0">
            <a:spAutoFit/>
          </a:bodyPr>
          <a:lstStyle/>
          <a:p>
            <a:r>
              <a:rPr lang="tr-TR" sz="1200" dirty="0" smtClean="0">
                <a:solidFill>
                  <a:schemeClr val="tx1">
                    <a:lumMod val="85000"/>
                    <a:lumOff val="15000"/>
                  </a:schemeClr>
                </a:solidFill>
              </a:rPr>
              <a:t>I. Bir parabol 3.derece olabilir.</a:t>
            </a:r>
          </a:p>
          <a:p>
            <a:r>
              <a:rPr lang="tr-TR" sz="1200" dirty="0" smtClean="0">
                <a:solidFill>
                  <a:schemeClr val="tx1">
                    <a:lumMod val="85000"/>
                    <a:lumOff val="15000"/>
                  </a:schemeClr>
                </a:solidFill>
              </a:rPr>
              <a:t>II. Parabol y eksenini kesmek zorundadır.</a:t>
            </a:r>
          </a:p>
          <a:p>
            <a:r>
              <a:rPr lang="tr-TR" sz="1200" dirty="0" smtClean="0">
                <a:solidFill>
                  <a:schemeClr val="tx1">
                    <a:lumMod val="85000"/>
                    <a:lumOff val="15000"/>
                  </a:schemeClr>
                </a:solidFill>
              </a:rPr>
              <a:t>III. Parabol x eksenini kesmeyebilir.</a:t>
            </a:r>
          </a:p>
          <a:p>
            <a:r>
              <a:rPr lang="tr-TR" sz="1200" dirty="0" smtClean="0">
                <a:solidFill>
                  <a:schemeClr val="tx1">
                    <a:lumMod val="85000"/>
                    <a:lumOff val="15000"/>
                  </a:schemeClr>
                </a:solidFill>
              </a:rPr>
              <a:t>IV. Parabol x eksenine teğet olabilir.</a:t>
            </a:r>
          </a:p>
          <a:p>
            <a:pPr marL="285750" indent="-285750">
              <a:buAutoNum type="romanUcPeriod" startAt="5"/>
            </a:pPr>
            <a:r>
              <a:rPr lang="tr-TR" sz="1200" dirty="0" smtClean="0">
                <a:solidFill>
                  <a:schemeClr val="tx1">
                    <a:lumMod val="85000"/>
                    <a:lumOff val="15000"/>
                  </a:schemeClr>
                </a:solidFill>
              </a:rPr>
              <a:t>Parabolün sabit terimi bilinmeyen değişkene 0 verilerek bulunur.</a:t>
            </a:r>
          </a:p>
          <a:p>
            <a:pPr marL="285750" indent="-285750">
              <a:buAutoNum type="romanUcPeriod" startAt="5"/>
            </a:pPr>
            <a:r>
              <a:rPr lang="tr-TR" sz="1200" dirty="0" smtClean="0">
                <a:solidFill>
                  <a:schemeClr val="tx1">
                    <a:lumMod val="85000"/>
                    <a:lumOff val="15000"/>
                  </a:schemeClr>
                </a:solidFill>
              </a:rPr>
              <a:t>Bir parabolün minimum veya maksimum</a:t>
            </a:r>
          </a:p>
          <a:p>
            <a:r>
              <a:rPr lang="tr-TR" sz="1200" dirty="0" smtClean="0">
                <a:solidFill>
                  <a:schemeClr val="tx1">
                    <a:lumMod val="85000"/>
                    <a:lumOff val="15000"/>
                  </a:schemeClr>
                </a:solidFill>
              </a:rPr>
              <a:t>noktalarını tepe noktası  belirler.</a:t>
            </a:r>
          </a:p>
          <a:p>
            <a:r>
              <a:rPr lang="tr-TR" sz="1200" dirty="0" smtClean="0">
                <a:solidFill>
                  <a:schemeClr val="tx1">
                    <a:lumMod val="85000"/>
                    <a:lumOff val="15000"/>
                  </a:schemeClr>
                </a:solidFill>
              </a:rPr>
              <a:t>VII.  Parabolün katsayılar toplamı bilinmeyen değişkene 1 verilerek bulunur.</a:t>
            </a:r>
            <a:endParaRPr lang="tr-TR" sz="1200" dirty="0">
              <a:solidFill>
                <a:schemeClr val="tx1">
                  <a:lumMod val="85000"/>
                  <a:lumOff val="15000"/>
                </a:schemeClr>
              </a:solidFill>
            </a:endParaRPr>
          </a:p>
          <a:p>
            <a:endParaRPr lang="tr-TR" sz="1200" b="1" dirty="0" smtClean="0">
              <a:solidFill>
                <a:schemeClr val="tx1">
                  <a:lumMod val="85000"/>
                  <a:lumOff val="15000"/>
                </a:schemeClr>
              </a:solidFill>
            </a:endParaRPr>
          </a:p>
          <a:p>
            <a:r>
              <a:rPr lang="tr-TR" sz="1200" b="1" dirty="0" smtClean="0">
                <a:solidFill>
                  <a:schemeClr val="tx1">
                    <a:lumMod val="85000"/>
                    <a:lumOff val="15000"/>
                  </a:schemeClr>
                </a:solidFill>
              </a:rPr>
              <a:t>Yargılarından kaç tanesi doğrudur?</a:t>
            </a:r>
            <a:endParaRPr lang="tr-TR" sz="1200" b="1" dirty="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127" name="Metin kutusu 126"/>
          <p:cNvSpPr txBox="1"/>
          <p:nvPr/>
        </p:nvSpPr>
        <p:spPr>
          <a:xfrm>
            <a:off x="3729787" y="8183433"/>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3                B)  4                       C) 5</a:t>
            </a:r>
          </a:p>
        </p:txBody>
      </p:sp>
      <p:sp>
        <p:nvSpPr>
          <p:cNvPr id="128" name="Metin kutusu 127"/>
          <p:cNvSpPr txBox="1"/>
          <p:nvPr/>
        </p:nvSpPr>
        <p:spPr>
          <a:xfrm>
            <a:off x="4017820" y="8471465"/>
            <a:ext cx="2096586" cy="276999"/>
          </a:xfrm>
          <a:prstGeom prst="rect">
            <a:avLst/>
          </a:prstGeom>
          <a:noFill/>
        </p:spPr>
        <p:txBody>
          <a:bodyPr wrap="square" rtlCol="0">
            <a:spAutoFit/>
          </a:bodyPr>
          <a:lstStyle/>
          <a:p>
            <a:r>
              <a:rPr lang="tr-TR" sz="1200" dirty="0" smtClean="0">
                <a:solidFill>
                  <a:schemeClr val="tx1">
                    <a:lumMod val="85000"/>
                    <a:lumOff val="15000"/>
                  </a:schemeClr>
                </a:solidFill>
              </a:rPr>
              <a:t>       D)  6                 E) Hiçbiri </a:t>
            </a:r>
          </a:p>
        </p:txBody>
      </p:sp>
      <p:sp>
        <p:nvSpPr>
          <p:cNvPr id="65" name="Metin kutusu 64"/>
          <p:cNvSpPr txBox="1"/>
          <p:nvPr/>
        </p:nvSpPr>
        <p:spPr>
          <a:xfrm>
            <a:off x="6344554" y="4989240"/>
            <a:ext cx="239378"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146" name="Dikdörtgen 145"/>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47" name="Metin kutusu 146"/>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5.D</a:t>
            </a:r>
            <a:endParaRPr lang="tr-TR" sz="1000" dirty="0">
              <a:solidFill>
                <a:schemeClr val="tx1">
                  <a:lumMod val="85000"/>
                  <a:lumOff val="15000"/>
                </a:schemeClr>
              </a:solidFill>
            </a:endParaRPr>
          </a:p>
        </p:txBody>
      </p:sp>
      <p:sp>
        <p:nvSpPr>
          <p:cNvPr id="148" name="Metin kutusu 147"/>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6.B</a:t>
            </a:r>
            <a:endParaRPr lang="tr-TR" sz="1000" dirty="0">
              <a:solidFill>
                <a:schemeClr val="tx1">
                  <a:lumMod val="85000"/>
                  <a:lumOff val="15000"/>
                </a:schemeClr>
              </a:solidFill>
            </a:endParaRPr>
          </a:p>
        </p:txBody>
      </p:sp>
      <p:sp>
        <p:nvSpPr>
          <p:cNvPr id="149" name="Metin kutusu 148"/>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7.B</a:t>
            </a:r>
            <a:endParaRPr lang="tr-TR" sz="1000" dirty="0">
              <a:solidFill>
                <a:schemeClr val="tx1">
                  <a:lumMod val="85000"/>
                  <a:lumOff val="15000"/>
                </a:schemeClr>
              </a:solidFill>
            </a:endParaRPr>
          </a:p>
        </p:txBody>
      </p:sp>
      <p:sp>
        <p:nvSpPr>
          <p:cNvPr id="150" name="Metin kutusu 149"/>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8.E</a:t>
            </a:r>
            <a:endParaRPr lang="tr-TR" sz="1000" dirty="0">
              <a:solidFill>
                <a:schemeClr val="tx1">
                  <a:lumMod val="85000"/>
                  <a:lumOff val="15000"/>
                </a:schemeClr>
              </a:solidFill>
            </a:endParaRPr>
          </a:p>
        </p:txBody>
      </p:sp>
      <p:sp>
        <p:nvSpPr>
          <p:cNvPr id="151" name="Metin kutusu 150"/>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9.A</a:t>
            </a:r>
            <a:endParaRPr lang="tr-TR" sz="1000" dirty="0">
              <a:solidFill>
                <a:schemeClr val="tx1">
                  <a:lumMod val="85000"/>
                  <a:lumOff val="15000"/>
                </a:schemeClr>
              </a:solidFill>
            </a:endParaRPr>
          </a:p>
        </p:txBody>
      </p:sp>
      <p:sp>
        <p:nvSpPr>
          <p:cNvPr id="152" name="Metin kutusu 151"/>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10.C</a:t>
            </a:r>
            <a:endParaRPr lang="tr-TR" sz="1000" dirty="0">
              <a:solidFill>
                <a:schemeClr val="tx1">
                  <a:lumMod val="85000"/>
                  <a:lumOff val="15000"/>
                </a:schemeClr>
              </a:solidFill>
            </a:endParaRPr>
          </a:p>
        </p:txBody>
      </p:sp>
      <p:cxnSp>
        <p:nvCxnSpPr>
          <p:cNvPr id="153" name="Düz Bağlayıcı 152"/>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4" name="Düz Bağlayıcı 153"/>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5" name="Düz Bağlayıcı 154"/>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6" name="Düz Bağlayıcı 155"/>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57" name="Düz Bağlayıcı 156"/>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8" name="Oval 157"/>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59" name="Metin kutusu 158"/>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160" name="Metin kutusu 159"/>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161" name="Oval 160"/>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62" name="Düz Bağlayıcı 161"/>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3" name="Düz Bağlayıcı 162"/>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64" name="Metin kutusu 163"/>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165" name="Oval 164"/>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66" name="Düz Bağlayıcı 165"/>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67" name="Metin kutusu 166"/>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168" name="Oval 167"/>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69" name="Dikdörtgen 168"/>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7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8454230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38"/>
            <a:ext cx="3155597" cy="646331"/>
          </a:xfrm>
          <a:prstGeom prst="rect">
            <a:avLst/>
          </a:prstGeom>
          <a:noFill/>
        </p:spPr>
        <p:txBody>
          <a:bodyPr wrap="square" rtlCol="0">
            <a:spAutoFit/>
          </a:bodyPr>
          <a:lstStyle/>
          <a:p>
            <a:r>
              <a:rPr lang="tr-TR" sz="1200" b="1" dirty="0" smtClean="0">
                <a:solidFill>
                  <a:schemeClr val="tx1">
                    <a:lumMod val="85000"/>
                    <a:lumOff val="15000"/>
                  </a:schemeClr>
                </a:solidFill>
              </a:rPr>
              <a:t>Kökleri 3 ve 4 olan bir parabol M ( 6,8) noktası</a:t>
            </a:r>
          </a:p>
          <a:p>
            <a:r>
              <a:rPr lang="tr-TR" sz="1200" b="1" dirty="0" smtClean="0">
                <a:solidFill>
                  <a:schemeClr val="tx1">
                    <a:lumMod val="85000"/>
                    <a:lumOff val="15000"/>
                  </a:schemeClr>
                </a:solidFill>
              </a:rPr>
              <a:t>üzerinden geçmektedir.  Buna göre parabolün</a:t>
            </a:r>
          </a:p>
          <a:p>
            <a:r>
              <a:rPr lang="tr-TR" sz="1200" b="1" dirty="0" smtClean="0">
                <a:solidFill>
                  <a:schemeClr val="tx1">
                    <a:lumMod val="85000"/>
                    <a:lumOff val="15000"/>
                  </a:schemeClr>
                </a:solidFill>
              </a:rPr>
              <a:t>denklemindeki </a:t>
            </a:r>
            <a:r>
              <a:rPr lang="tr-TR" sz="1200" b="1" noProof="1" smtClean="0">
                <a:solidFill>
                  <a:schemeClr val="tx1">
                    <a:lumMod val="85000"/>
                    <a:lumOff val="15000"/>
                  </a:schemeClr>
                </a:solidFill>
              </a:rPr>
              <a:t>başkatsayı</a:t>
            </a:r>
            <a:r>
              <a:rPr lang="tr-TR" sz="1200" b="1" dirty="0" smtClean="0">
                <a:solidFill>
                  <a:schemeClr val="tx1">
                    <a:lumMod val="85000"/>
                    <a:lumOff val="15000"/>
                  </a:schemeClr>
                </a:solidFill>
              </a:rPr>
              <a:t> nedir? </a:t>
            </a: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122" name="Dikdörtgen 121"/>
          <p:cNvSpPr/>
          <p:nvPr/>
        </p:nvSpPr>
        <p:spPr>
          <a:xfrm>
            <a:off x="3451429" y="4480252"/>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3</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a:t>
            </a:r>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 Test 2</a:t>
            </a:r>
            <a:endParaRPr lang="tr-TR" sz="2000" b="1"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326714" y="604014"/>
            <a:ext cx="3155597" cy="1015663"/>
          </a:xfrm>
          <a:prstGeom prst="rect">
            <a:avLst/>
          </a:prstGeom>
          <a:noFill/>
        </p:spPr>
        <p:txBody>
          <a:bodyPr wrap="square" rtlCol="0">
            <a:spAutoFit/>
          </a:bodyPr>
          <a:lstStyle/>
          <a:p>
            <a:endParaRPr lang="tr-TR" sz="1200" dirty="0">
              <a:solidFill>
                <a:schemeClr val="tx1">
                  <a:lumMod val="85000"/>
                  <a:lumOff val="15000"/>
                </a:schemeClr>
              </a:solidFill>
            </a:endParaRPr>
          </a:p>
          <a:p>
            <a:r>
              <a:rPr lang="tr-TR" sz="1200" dirty="0" smtClean="0">
                <a:solidFill>
                  <a:schemeClr val="tx1">
                    <a:lumMod val="85000"/>
                    <a:lumOff val="15000"/>
                  </a:schemeClr>
                </a:solidFill>
              </a:rPr>
              <a:t>y = x   +  (-2m  + 4 )x  + 12</a:t>
            </a:r>
          </a:p>
          <a:p>
            <a:endParaRPr lang="tr-TR" sz="1200" dirty="0" smtClean="0">
              <a:solidFill>
                <a:schemeClr val="tx1">
                  <a:lumMod val="85000"/>
                  <a:lumOff val="15000"/>
                </a:schemeClr>
              </a:solidFill>
            </a:endParaRPr>
          </a:p>
          <a:p>
            <a:r>
              <a:rPr lang="tr-TR" sz="1200" b="1" dirty="0" smtClean="0">
                <a:solidFill>
                  <a:schemeClr val="tx1">
                    <a:lumMod val="85000"/>
                    <a:lumOff val="15000"/>
                  </a:schemeClr>
                </a:solidFill>
              </a:rPr>
              <a:t>Parabolünün simetri ekseni x=4 doğrusu</a:t>
            </a:r>
          </a:p>
          <a:p>
            <a:r>
              <a:rPr lang="tr-TR" sz="1200" b="1" dirty="0" smtClean="0">
                <a:solidFill>
                  <a:schemeClr val="tx1">
                    <a:lumMod val="85000"/>
                    <a:lumOff val="15000"/>
                  </a:schemeClr>
                </a:solidFill>
              </a:rPr>
              <a:t>olduğuna göre  m kaçtır?</a:t>
            </a:r>
            <a:endParaRPr lang="tr-TR" sz="1200" b="1" dirty="0">
              <a:solidFill>
                <a:schemeClr val="tx1">
                  <a:lumMod val="85000"/>
                  <a:lumOff val="15000"/>
                </a:schemeClr>
              </a:solidFill>
            </a:endParaRPr>
          </a:p>
        </p:txBody>
      </p:sp>
      <p:sp>
        <p:nvSpPr>
          <p:cNvPr id="64" name="Metin kutusu 63"/>
          <p:cNvSpPr txBox="1"/>
          <p:nvPr/>
        </p:nvSpPr>
        <p:spPr>
          <a:xfrm>
            <a:off x="361986" y="1763693"/>
            <a:ext cx="3155597" cy="646331"/>
          </a:xfrm>
          <a:prstGeom prst="rect">
            <a:avLst/>
          </a:prstGeom>
          <a:noFill/>
        </p:spPr>
        <p:txBody>
          <a:bodyPr wrap="square" rtlCol="0">
            <a:spAutoFit/>
          </a:bodyPr>
          <a:lstStyle/>
          <a:p>
            <a:pPr marL="228600" indent="-228600">
              <a:buAutoNum type="alphaUcParenR"/>
            </a:pPr>
            <a:r>
              <a:rPr lang="tr-TR" sz="1200" dirty="0">
                <a:solidFill>
                  <a:schemeClr val="tx1">
                    <a:lumMod val="85000"/>
                    <a:lumOff val="15000"/>
                  </a:schemeClr>
                </a:solidFill>
              </a:rPr>
              <a:t>4</a:t>
            </a:r>
            <a:r>
              <a:rPr lang="tr-TR" sz="1200" dirty="0" smtClean="0">
                <a:solidFill>
                  <a:schemeClr val="tx1">
                    <a:lumMod val="85000"/>
                    <a:lumOff val="15000"/>
                  </a:schemeClr>
                </a:solidFill>
              </a:rPr>
              <a:t>                          B)   0                           C) 6 </a:t>
            </a:r>
            <a:r>
              <a:rPr lang="tr-TR" sz="1200" dirty="0">
                <a:solidFill>
                  <a:schemeClr val="tx1">
                    <a:lumMod val="85000"/>
                    <a:lumOff val="15000"/>
                  </a:schemeClr>
                </a:solidFill>
              </a:rPr>
              <a:t/>
            </a:r>
            <a:br>
              <a:rPr lang="tr-TR" sz="1200" dirty="0">
                <a:solidFill>
                  <a:schemeClr val="tx1">
                    <a:lumMod val="85000"/>
                    <a:lumOff val="15000"/>
                  </a:schemeClr>
                </a:solidFill>
              </a:rPr>
            </a:br>
            <a:r>
              <a:rPr lang="tr-TR" sz="1200" dirty="0" smtClean="0">
                <a:solidFill>
                  <a:schemeClr val="tx1">
                    <a:lumMod val="85000"/>
                    <a:lumOff val="15000"/>
                  </a:schemeClr>
                </a:solidFill>
              </a:rPr>
              <a:t/>
            </a:r>
            <a:br>
              <a:rPr lang="tr-TR" sz="1200" dirty="0" smtClean="0">
                <a:solidFill>
                  <a:schemeClr val="tx1">
                    <a:lumMod val="85000"/>
                    <a:lumOff val="15000"/>
                  </a:schemeClr>
                </a:solidFill>
              </a:rPr>
            </a:br>
            <a:r>
              <a:rPr lang="tr-TR" sz="1200" dirty="0" smtClean="0">
                <a:solidFill>
                  <a:schemeClr val="tx1">
                    <a:lumMod val="85000"/>
                    <a:lumOff val="15000"/>
                  </a:schemeClr>
                </a:solidFill>
              </a:rPr>
              <a:t>      D)  -6                            E) 12</a:t>
            </a:r>
          </a:p>
        </p:txBody>
      </p:sp>
      <p:sp>
        <p:nvSpPr>
          <p:cNvPr id="66" name="Metin kutusu 65"/>
          <p:cNvSpPr txBox="1"/>
          <p:nvPr/>
        </p:nvSpPr>
        <p:spPr>
          <a:xfrm>
            <a:off x="3645024" y="4499995"/>
            <a:ext cx="3265331" cy="461665"/>
          </a:xfrm>
          <a:prstGeom prst="rect">
            <a:avLst/>
          </a:prstGeom>
          <a:noFill/>
        </p:spPr>
        <p:txBody>
          <a:bodyPr wrap="square" rtlCol="0">
            <a:spAutoFit/>
          </a:bodyPr>
          <a:lstStyle/>
          <a:p>
            <a:r>
              <a:rPr lang="tr-TR" sz="1200" b="1" dirty="0" smtClean="0">
                <a:solidFill>
                  <a:schemeClr val="tx1">
                    <a:lumMod val="85000"/>
                    <a:lumOff val="15000"/>
                  </a:schemeClr>
                </a:solidFill>
              </a:rPr>
              <a:t>Baş katsayısı 1, kökler toplamı -6, kökler çarpımı</a:t>
            </a:r>
          </a:p>
          <a:p>
            <a:r>
              <a:rPr lang="tr-TR" sz="1200" b="1" dirty="0" smtClean="0">
                <a:solidFill>
                  <a:schemeClr val="tx1">
                    <a:lumMod val="85000"/>
                    <a:lumOff val="15000"/>
                  </a:schemeClr>
                </a:solidFill>
              </a:rPr>
              <a:t>12 olan parabolün denklemi hangisidir?</a:t>
            </a: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76" name="Metin kutusu 75"/>
          <p:cNvSpPr txBox="1"/>
          <p:nvPr/>
        </p:nvSpPr>
        <p:spPr>
          <a:xfrm>
            <a:off x="3759530" y="755579"/>
            <a:ext cx="3155597" cy="461665"/>
          </a:xfrm>
          <a:prstGeom prst="rect">
            <a:avLst/>
          </a:prstGeom>
          <a:noFill/>
        </p:spPr>
        <p:txBody>
          <a:bodyPr wrap="square" rtlCol="0">
            <a:spAutoFit/>
          </a:bodyPr>
          <a:lstStyle/>
          <a:p>
            <a:r>
              <a:rPr lang="tr-TR" sz="1200" b="1" dirty="0">
                <a:solidFill>
                  <a:schemeClr val="tx1">
                    <a:lumMod val="85000"/>
                    <a:lumOff val="15000"/>
                  </a:schemeClr>
                </a:solidFill>
              </a:rPr>
              <a:t>x  +  </a:t>
            </a:r>
            <a:r>
              <a:rPr lang="tr-TR" sz="1200" b="1" dirty="0" smtClean="0">
                <a:solidFill>
                  <a:schemeClr val="tx1">
                    <a:lumMod val="85000"/>
                    <a:lumOff val="15000"/>
                  </a:schemeClr>
                </a:solidFill>
              </a:rPr>
              <a:t>8x+7 eğrisinin grafiği aşağıdakilerden hangisi  olabilir? </a:t>
            </a:r>
          </a:p>
        </p:txBody>
      </p:sp>
      <p:sp>
        <p:nvSpPr>
          <p:cNvPr id="83" name="Metin kutusu 82"/>
          <p:cNvSpPr txBox="1"/>
          <p:nvPr/>
        </p:nvSpPr>
        <p:spPr>
          <a:xfrm>
            <a:off x="3837694" y="732617"/>
            <a:ext cx="239378" cy="200055"/>
          </a:xfrm>
          <a:prstGeom prst="rect">
            <a:avLst/>
          </a:prstGeom>
          <a:noFill/>
        </p:spPr>
        <p:txBody>
          <a:bodyPr wrap="square" rtlCol="0">
            <a:spAutoFit/>
          </a:bodyPr>
          <a:lstStyle/>
          <a:p>
            <a:r>
              <a:rPr lang="tr-TR" sz="700" b="1" dirty="0" smtClean="0">
                <a:solidFill>
                  <a:schemeClr val="tx1">
                    <a:lumMod val="85000"/>
                    <a:lumOff val="15000"/>
                  </a:schemeClr>
                </a:solidFill>
              </a:rPr>
              <a:t>2</a:t>
            </a:r>
            <a:endParaRPr lang="tr-TR" sz="700" b="1" dirty="0">
              <a:solidFill>
                <a:schemeClr val="tx1">
                  <a:lumMod val="85000"/>
                  <a:lumOff val="15000"/>
                </a:schemeClr>
              </a:solidFill>
            </a:endParaRPr>
          </a:p>
        </p:txBody>
      </p:sp>
      <p:sp>
        <p:nvSpPr>
          <p:cNvPr id="78" name="Metin kutusu 77"/>
          <p:cNvSpPr txBox="1"/>
          <p:nvPr/>
        </p:nvSpPr>
        <p:spPr>
          <a:xfrm>
            <a:off x="620688" y="74076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pic>
        <p:nvPicPr>
          <p:cNvPr id="97" name="Resim 9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1324823"/>
            <a:ext cx="1084629" cy="895300"/>
          </a:xfrm>
          <a:prstGeom prst="rect">
            <a:avLst/>
          </a:prstGeom>
        </p:spPr>
      </p:pic>
      <p:pic>
        <p:nvPicPr>
          <p:cNvPr id="98" name="Resim 9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2371691"/>
            <a:ext cx="1084629" cy="895300"/>
          </a:xfrm>
          <a:prstGeom prst="rect">
            <a:avLst/>
          </a:prstGeom>
        </p:spPr>
      </p:pic>
      <p:pic>
        <p:nvPicPr>
          <p:cNvPr id="99" name="Resim 9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810197" y="3564623"/>
            <a:ext cx="1084629" cy="895300"/>
          </a:xfrm>
          <a:prstGeom prst="rect">
            <a:avLst/>
          </a:prstGeom>
        </p:spPr>
      </p:pic>
      <p:pic>
        <p:nvPicPr>
          <p:cNvPr id="100" name="Resim 9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3029" y="1259635"/>
            <a:ext cx="1084629" cy="895300"/>
          </a:xfrm>
          <a:prstGeom prst="rect">
            <a:avLst/>
          </a:prstGeom>
        </p:spPr>
      </p:pic>
      <p:pic>
        <p:nvPicPr>
          <p:cNvPr id="101" name="Resim 10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67166" y="2337027"/>
            <a:ext cx="1084629" cy="895300"/>
          </a:xfrm>
          <a:prstGeom prst="rect">
            <a:avLst/>
          </a:prstGeom>
        </p:spPr>
      </p:pic>
      <p:sp>
        <p:nvSpPr>
          <p:cNvPr id="102" name="Metin kutusu 101"/>
          <p:cNvSpPr txBox="1"/>
          <p:nvPr/>
        </p:nvSpPr>
        <p:spPr>
          <a:xfrm>
            <a:off x="3584746" y="1342252"/>
            <a:ext cx="767768" cy="2308324"/>
          </a:xfrm>
          <a:prstGeom prst="rect">
            <a:avLst/>
          </a:prstGeom>
          <a:noFill/>
        </p:spPr>
        <p:txBody>
          <a:bodyPr wrap="square" rtlCol="0">
            <a:spAutoFit/>
          </a:bodyPr>
          <a:lstStyle/>
          <a:p>
            <a:r>
              <a:rPr lang="tr-TR" sz="1200" dirty="0" smtClean="0">
                <a:solidFill>
                  <a:schemeClr val="tx1">
                    <a:lumMod val="85000"/>
                    <a:lumOff val="15000"/>
                  </a:schemeClr>
                </a:solidFill>
              </a:rPr>
              <a:t>A)</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a:solidFill>
                  <a:schemeClr val="tx1">
                    <a:lumMod val="85000"/>
                    <a:lumOff val="15000"/>
                  </a:schemeClr>
                </a:solidFill>
              </a:rPr>
              <a:t>C</a:t>
            </a:r>
            <a:r>
              <a:rPr lang="tr-TR" sz="1200" dirty="0" smtClean="0">
                <a:solidFill>
                  <a:schemeClr val="tx1">
                    <a:lumMod val="85000"/>
                    <a:lumOff val="15000"/>
                  </a:schemeClr>
                </a:solidFill>
              </a:rPr>
              <a:t>)</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E)</a:t>
            </a:r>
            <a:endParaRPr lang="tr-TR" sz="1200" dirty="0">
              <a:solidFill>
                <a:schemeClr val="tx1">
                  <a:lumMod val="85000"/>
                  <a:lumOff val="15000"/>
                </a:schemeClr>
              </a:solidFill>
            </a:endParaRPr>
          </a:p>
        </p:txBody>
      </p:sp>
      <p:sp>
        <p:nvSpPr>
          <p:cNvPr id="103" name="Metin kutusu 102"/>
          <p:cNvSpPr txBox="1"/>
          <p:nvPr/>
        </p:nvSpPr>
        <p:spPr>
          <a:xfrm>
            <a:off x="5385298" y="1330479"/>
            <a:ext cx="767768" cy="2123658"/>
          </a:xfrm>
          <a:prstGeom prst="rect">
            <a:avLst/>
          </a:prstGeom>
          <a:noFill/>
        </p:spPr>
        <p:txBody>
          <a:bodyPr wrap="square" rtlCol="0">
            <a:spAutoFit/>
          </a:bodyPr>
          <a:lstStyle/>
          <a:p>
            <a:r>
              <a:rPr lang="tr-TR" sz="1200" dirty="0" smtClean="0">
                <a:solidFill>
                  <a:schemeClr val="tx1">
                    <a:lumMod val="85000"/>
                    <a:lumOff val="15000"/>
                  </a:schemeClr>
                </a:solidFill>
              </a:rPr>
              <a:t>B)</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D)</a:t>
            </a: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104" name="Serbest Form 103"/>
          <p:cNvSpPr/>
          <p:nvPr/>
        </p:nvSpPr>
        <p:spPr>
          <a:xfrm rot="10800000">
            <a:off x="5928173" y="2483771"/>
            <a:ext cx="381147"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05" name="Serbest Form 104"/>
          <p:cNvSpPr/>
          <p:nvPr/>
        </p:nvSpPr>
        <p:spPr>
          <a:xfrm>
            <a:off x="4014575" y="2637122"/>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06" name="Serbest Form 105"/>
          <p:cNvSpPr/>
          <p:nvPr/>
        </p:nvSpPr>
        <p:spPr>
          <a:xfrm rot="10800000">
            <a:off x="4293097" y="1600577"/>
            <a:ext cx="396476"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1" name="Serbest Form 110"/>
          <p:cNvSpPr/>
          <p:nvPr/>
        </p:nvSpPr>
        <p:spPr>
          <a:xfrm rot="10800000">
            <a:off x="3861050" y="3564624"/>
            <a:ext cx="612501" cy="647337"/>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2" name="Serbest Form 111"/>
          <p:cNvSpPr/>
          <p:nvPr/>
        </p:nvSpPr>
        <p:spPr>
          <a:xfrm>
            <a:off x="6018512" y="1757845"/>
            <a:ext cx="723705" cy="484231"/>
          </a:xfrm>
          <a:custGeom>
            <a:avLst/>
            <a:gdLst>
              <a:gd name="connsiteX0" fmla="*/ 0 w 723705"/>
              <a:gd name="connsiteY0" fmla="*/ 482634 h 484231"/>
              <a:gd name="connsiteX1" fmla="*/ 317500 w 723705"/>
              <a:gd name="connsiteY1" fmla="*/ 34 h 484231"/>
              <a:gd name="connsiteX2" fmla="*/ 698500 w 723705"/>
              <a:gd name="connsiteY2" fmla="*/ 457234 h 484231"/>
              <a:gd name="connsiteX3" fmla="*/ 698500 w 723705"/>
              <a:gd name="connsiteY3" fmla="*/ 444534 h 484231"/>
            </a:gdLst>
            <a:ahLst/>
            <a:cxnLst>
              <a:cxn ang="0">
                <a:pos x="connsiteX0" y="connsiteY0"/>
              </a:cxn>
              <a:cxn ang="0">
                <a:pos x="connsiteX1" y="connsiteY1"/>
              </a:cxn>
              <a:cxn ang="0">
                <a:pos x="connsiteX2" y="connsiteY2"/>
              </a:cxn>
              <a:cxn ang="0">
                <a:pos x="connsiteX3" y="connsiteY3"/>
              </a:cxn>
            </a:cxnLst>
            <a:rect l="l" t="t" r="r" b="b"/>
            <a:pathLst>
              <a:path w="723705" h="484231">
                <a:moveTo>
                  <a:pt x="0" y="482634"/>
                </a:moveTo>
                <a:cubicBezTo>
                  <a:pt x="100541" y="243450"/>
                  <a:pt x="201083" y="4267"/>
                  <a:pt x="317500" y="34"/>
                </a:cubicBezTo>
                <a:cubicBezTo>
                  <a:pt x="433917" y="-4199"/>
                  <a:pt x="635000" y="383151"/>
                  <a:pt x="698500" y="457234"/>
                </a:cubicBezTo>
                <a:cubicBezTo>
                  <a:pt x="762000" y="531317"/>
                  <a:pt x="683683" y="427601"/>
                  <a:pt x="698500" y="444534"/>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rgbClr val="FF00FF"/>
              </a:solidFill>
            </a:endParaRPr>
          </a:p>
        </p:txBody>
      </p:sp>
      <p:sp>
        <p:nvSpPr>
          <p:cNvPr id="113" name="Metin kutusu 112"/>
          <p:cNvSpPr txBox="1"/>
          <p:nvPr/>
        </p:nvSpPr>
        <p:spPr>
          <a:xfrm>
            <a:off x="3632272" y="5047747"/>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x   + 6x + 12      B) </a:t>
            </a:r>
            <a:r>
              <a:rPr lang="tr-TR" sz="1200" dirty="0">
                <a:solidFill>
                  <a:schemeClr val="tx1">
                    <a:lumMod val="85000"/>
                    <a:lumOff val="15000"/>
                  </a:schemeClr>
                </a:solidFill>
              </a:rPr>
              <a:t> </a:t>
            </a:r>
            <a:r>
              <a:rPr lang="tr-TR" sz="1200" dirty="0" smtClean="0">
                <a:solidFill>
                  <a:schemeClr val="tx1">
                    <a:lumMod val="85000"/>
                    <a:lumOff val="15000"/>
                  </a:schemeClr>
                </a:solidFill>
              </a:rPr>
              <a:t>x   </a:t>
            </a:r>
            <a:r>
              <a:rPr lang="tr-TR" sz="1200" dirty="0">
                <a:solidFill>
                  <a:schemeClr val="tx1">
                    <a:lumMod val="85000"/>
                    <a:lumOff val="15000"/>
                  </a:schemeClr>
                </a:solidFill>
              </a:rPr>
              <a:t>-</a:t>
            </a:r>
            <a:r>
              <a:rPr lang="tr-TR" sz="1200" dirty="0" smtClean="0">
                <a:solidFill>
                  <a:schemeClr val="tx1">
                    <a:lumMod val="85000"/>
                    <a:lumOff val="15000"/>
                  </a:schemeClr>
                </a:solidFill>
              </a:rPr>
              <a:t> </a:t>
            </a:r>
            <a:r>
              <a:rPr lang="tr-TR" sz="1200" dirty="0">
                <a:solidFill>
                  <a:schemeClr val="tx1">
                    <a:lumMod val="85000"/>
                    <a:lumOff val="15000"/>
                  </a:schemeClr>
                </a:solidFill>
              </a:rPr>
              <a:t>6x + 12      </a:t>
            </a:r>
            <a:r>
              <a:rPr lang="tr-TR" sz="1200" dirty="0" smtClean="0">
                <a:solidFill>
                  <a:schemeClr val="tx1">
                    <a:lumMod val="85000"/>
                    <a:lumOff val="15000"/>
                  </a:schemeClr>
                </a:solidFill>
              </a:rPr>
              <a:t>C) </a:t>
            </a:r>
            <a:r>
              <a:rPr lang="tr-TR" sz="1200" dirty="0">
                <a:solidFill>
                  <a:schemeClr val="tx1">
                    <a:lumMod val="85000"/>
                    <a:lumOff val="15000"/>
                  </a:schemeClr>
                </a:solidFill>
              </a:rPr>
              <a:t>x   + 6x </a:t>
            </a:r>
            <a:r>
              <a:rPr lang="tr-TR" sz="1200" dirty="0" smtClean="0">
                <a:solidFill>
                  <a:schemeClr val="tx1">
                    <a:lumMod val="85000"/>
                    <a:lumOff val="15000"/>
                  </a:schemeClr>
                </a:solidFill>
              </a:rPr>
              <a:t>+4 </a:t>
            </a:r>
          </a:p>
        </p:txBody>
      </p:sp>
      <p:sp>
        <p:nvSpPr>
          <p:cNvPr id="115" name="Metin kutusu 114"/>
          <p:cNvSpPr txBox="1"/>
          <p:nvPr/>
        </p:nvSpPr>
        <p:spPr>
          <a:xfrm>
            <a:off x="3900659" y="546394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12x   </a:t>
            </a:r>
            <a:r>
              <a:rPr lang="tr-TR" sz="1200" dirty="0">
                <a:solidFill>
                  <a:schemeClr val="tx1">
                    <a:lumMod val="85000"/>
                    <a:lumOff val="15000"/>
                  </a:schemeClr>
                </a:solidFill>
              </a:rPr>
              <a:t>+ </a:t>
            </a:r>
            <a:r>
              <a:rPr lang="tr-TR" sz="1200" dirty="0" smtClean="0">
                <a:solidFill>
                  <a:schemeClr val="tx1">
                    <a:lumMod val="85000"/>
                    <a:lumOff val="15000"/>
                  </a:schemeClr>
                </a:solidFill>
              </a:rPr>
              <a:t>4x -6            E) 4x   - </a:t>
            </a:r>
            <a:r>
              <a:rPr lang="tr-TR" sz="1200" dirty="0">
                <a:solidFill>
                  <a:schemeClr val="tx1">
                    <a:lumMod val="85000"/>
                    <a:lumOff val="15000"/>
                  </a:schemeClr>
                </a:solidFill>
              </a:rPr>
              <a:t>6x + 12 </a:t>
            </a:r>
            <a:endParaRPr lang="tr-TR" sz="1200" dirty="0" smtClean="0">
              <a:solidFill>
                <a:schemeClr val="tx1">
                  <a:lumMod val="85000"/>
                  <a:lumOff val="15000"/>
                </a:schemeClr>
              </a:solidFill>
            </a:endParaRPr>
          </a:p>
        </p:txBody>
      </p:sp>
      <p:sp>
        <p:nvSpPr>
          <p:cNvPr id="119" name="Metin kutusu 118"/>
          <p:cNvSpPr txBox="1"/>
          <p:nvPr/>
        </p:nvSpPr>
        <p:spPr>
          <a:xfrm>
            <a:off x="3861049" y="502002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21" name="Dikdörtgen 120"/>
          <p:cNvSpPr/>
          <p:nvPr/>
        </p:nvSpPr>
        <p:spPr>
          <a:xfrm>
            <a:off x="3429000" y="5796140"/>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6.</a:t>
            </a:r>
            <a:endParaRPr lang="tr-TR" sz="1400" b="1" dirty="0">
              <a:solidFill>
                <a:srgbClr val="C00000"/>
              </a:solidFill>
              <a:latin typeface="Arial Narrow" panose="020B0606020202030204" pitchFamily="34" charset="0"/>
            </a:endParaRPr>
          </a:p>
        </p:txBody>
      </p:sp>
      <p:sp>
        <p:nvSpPr>
          <p:cNvPr id="126" name="Metin kutusu 125"/>
          <p:cNvSpPr txBox="1"/>
          <p:nvPr/>
        </p:nvSpPr>
        <p:spPr>
          <a:xfrm>
            <a:off x="3764714" y="5873080"/>
            <a:ext cx="3155597" cy="1754326"/>
          </a:xfrm>
          <a:prstGeom prst="rect">
            <a:avLst/>
          </a:prstGeom>
          <a:noFill/>
        </p:spPr>
        <p:txBody>
          <a:bodyPr wrap="square" rtlCol="0">
            <a:spAutoFit/>
          </a:bodyPr>
          <a:lstStyle/>
          <a:p>
            <a:r>
              <a:rPr lang="tr-TR" sz="1200" noProof="1" smtClean="0">
                <a:solidFill>
                  <a:schemeClr val="tx1">
                    <a:lumMod val="85000"/>
                    <a:lumOff val="15000"/>
                  </a:schemeClr>
                </a:solidFill>
              </a:rPr>
              <a:t>I. Parabol x eksenine teğetse çift katlı kök olur.</a:t>
            </a:r>
          </a:p>
          <a:p>
            <a:r>
              <a:rPr lang="tr-TR" sz="1200" noProof="1" smtClean="0">
                <a:solidFill>
                  <a:schemeClr val="tx1">
                    <a:lumMod val="85000"/>
                    <a:lumOff val="15000"/>
                  </a:schemeClr>
                </a:solidFill>
              </a:rPr>
              <a:t>II. Sabit terimi başkatsayından büyük olmalıdır.</a:t>
            </a:r>
          </a:p>
          <a:p>
            <a:r>
              <a:rPr lang="tr-TR" sz="1200" noProof="1" smtClean="0">
                <a:solidFill>
                  <a:schemeClr val="tx1">
                    <a:lumMod val="85000"/>
                    <a:lumOff val="15000"/>
                  </a:schemeClr>
                </a:solidFill>
              </a:rPr>
              <a:t>III. Başkatsayı 0 olabilir.</a:t>
            </a:r>
          </a:p>
          <a:p>
            <a:r>
              <a:rPr lang="tr-TR" sz="1200" noProof="1" smtClean="0">
                <a:solidFill>
                  <a:schemeClr val="tx1">
                    <a:lumMod val="85000"/>
                    <a:lumOff val="15000"/>
                  </a:schemeClr>
                </a:solidFill>
              </a:rPr>
              <a:t>IV.  Parabolün daima gerçel kökü olmalıdır.</a:t>
            </a:r>
          </a:p>
          <a:p>
            <a:r>
              <a:rPr lang="tr-TR" sz="1200" noProof="1" smtClean="0">
                <a:solidFill>
                  <a:schemeClr val="tx1">
                    <a:lumMod val="85000"/>
                    <a:lumOff val="15000"/>
                  </a:schemeClr>
                </a:solidFill>
              </a:rPr>
              <a:t> V.  Öteleme işlemleri tepe noktasından yapılır.</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Yukarıda bir parabolle ilgili durumlardan hangileri </a:t>
            </a:r>
            <a:r>
              <a:rPr lang="tr-TR" sz="1200" b="1" u="sng" noProof="1" smtClean="0">
                <a:solidFill>
                  <a:schemeClr val="tx1">
                    <a:lumMod val="85000"/>
                    <a:lumOff val="15000"/>
                  </a:schemeClr>
                </a:solidFill>
              </a:rPr>
              <a:t>kesinlikle</a:t>
            </a:r>
            <a:r>
              <a:rPr lang="tr-TR" sz="1200" noProof="1" smtClean="0">
                <a:solidFill>
                  <a:schemeClr val="tx1">
                    <a:lumMod val="85000"/>
                    <a:lumOff val="15000"/>
                  </a:schemeClr>
                </a:solidFill>
              </a:rPr>
              <a:t> doğrudur?</a:t>
            </a:r>
          </a:p>
          <a:p>
            <a:endParaRPr lang="tr-TR" sz="1200" noProof="1" smtClean="0">
              <a:solidFill>
                <a:schemeClr val="tx1">
                  <a:lumMod val="85000"/>
                  <a:lumOff val="15000"/>
                </a:schemeClr>
              </a:solidFill>
            </a:endParaRPr>
          </a:p>
        </p:txBody>
      </p:sp>
      <p:sp>
        <p:nvSpPr>
          <p:cNvPr id="127" name="Metin kutusu 126"/>
          <p:cNvSpPr txBox="1"/>
          <p:nvPr/>
        </p:nvSpPr>
        <p:spPr>
          <a:xfrm>
            <a:off x="3623928" y="7607373"/>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I,III,V                B)  I ve IV                  C) III,IV, V</a:t>
            </a:r>
          </a:p>
        </p:txBody>
      </p:sp>
      <p:sp>
        <p:nvSpPr>
          <p:cNvPr id="128" name="Metin kutusu 127"/>
          <p:cNvSpPr txBox="1"/>
          <p:nvPr/>
        </p:nvSpPr>
        <p:spPr>
          <a:xfrm>
            <a:off x="3801798" y="8028389"/>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II,IV,V                      E) I ,V </a:t>
            </a:r>
          </a:p>
        </p:txBody>
      </p:sp>
      <p:sp>
        <p:nvSpPr>
          <p:cNvPr id="73" name="Metin kutusu 72"/>
          <p:cNvSpPr txBox="1"/>
          <p:nvPr/>
        </p:nvSpPr>
        <p:spPr>
          <a:xfrm>
            <a:off x="387549" y="3618475"/>
            <a:ext cx="3016609"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                           B)                                C)</a:t>
            </a: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3                                  E) 4</a:t>
            </a:r>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5" name="Metin kutusu 74"/>
              <p:cNvSpPr txBox="1"/>
              <p:nvPr/>
            </p:nvSpPr>
            <p:spPr>
              <a:xfrm>
                <a:off x="548680" y="3599744"/>
                <a:ext cx="325730" cy="41036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8</m:t>
                          </m:r>
                        </m:num>
                        <m:den>
                          <m:r>
                            <a:rPr lang="tr-TR" sz="1100" b="0" i="1" smtClean="0">
                              <a:latin typeface="Cambria Math"/>
                            </a:rPr>
                            <m:t>3</m:t>
                          </m:r>
                        </m:den>
                      </m:f>
                    </m:oMath>
                  </m:oMathPara>
                </a14:m>
                <a:endParaRPr lang="tr-TR" sz="1100" dirty="0">
                  <a:latin typeface="+mj-lt"/>
                </a:endParaRPr>
              </a:p>
            </p:txBody>
          </p:sp>
        </mc:Choice>
        <mc:Fallback xmlns="">
          <p:sp>
            <p:nvSpPr>
              <p:cNvPr id="75" name="Metin kutusu 74"/>
              <p:cNvSpPr txBox="1">
                <a:spLocks noRot="1" noChangeAspect="1" noMove="1" noResize="1" noEditPoints="1" noAdjustHandles="1" noChangeArrowheads="1" noChangeShapeType="1" noTextEdit="1"/>
              </p:cNvSpPr>
              <p:nvPr/>
            </p:nvSpPr>
            <p:spPr>
              <a:xfrm>
                <a:off x="548680" y="3599744"/>
                <a:ext cx="325730" cy="410369"/>
              </a:xfrm>
              <a:prstGeom prst="rect">
                <a:avLst/>
              </a:prstGeom>
              <a:blipFill rotWithShape="1">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7" name="Metin kutusu 76"/>
              <p:cNvSpPr txBox="1"/>
              <p:nvPr/>
            </p:nvSpPr>
            <p:spPr>
              <a:xfrm>
                <a:off x="1763290" y="3600449"/>
                <a:ext cx="325730" cy="40979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4</m:t>
                          </m:r>
                        </m:num>
                        <m:den>
                          <m:r>
                            <a:rPr lang="tr-TR" sz="1100" b="0" i="1" smtClean="0">
                              <a:latin typeface="Cambria Math"/>
                            </a:rPr>
                            <m:t>3</m:t>
                          </m:r>
                        </m:den>
                      </m:f>
                    </m:oMath>
                  </m:oMathPara>
                </a14:m>
                <a:endParaRPr lang="tr-TR" sz="1100" dirty="0">
                  <a:latin typeface="+mj-lt"/>
                </a:endParaRPr>
              </a:p>
            </p:txBody>
          </p:sp>
        </mc:Choice>
        <mc:Fallback xmlns="">
          <p:sp>
            <p:nvSpPr>
              <p:cNvPr id="77" name="Metin kutusu 76"/>
              <p:cNvSpPr txBox="1">
                <a:spLocks noRot="1" noChangeAspect="1" noMove="1" noResize="1" noEditPoints="1" noAdjustHandles="1" noChangeArrowheads="1" noChangeShapeType="1" noTextEdit="1"/>
              </p:cNvSpPr>
              <p:nvPr/>
            </p:nvSpPr>
            <p:spPr>
              <a:xfrm>
                <a:off x="1763290" y="3600449"/>
                <a:ext cx="325730" cy="409792"/>
              </a:xfrm>
              <a:prstGeom prst="rect">
                <a:avLst/>
              </a:prstGeom>
              <a:blipFill rotWithShape="1">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9" name="Metin kutusu 78"/>
              <p:cNvSpPr txBox="1"/>
              <p:nvPr/>
            </p:nvSpPr>
            <p:spPr>
              <a:xfrm>
                <a:off x="2993861" y="3618477"/>
                <a:ext cx="325730" cy="4092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3</m:t>
                          </m:r>
                        </m:num>
                        <m:den>
                          <m:r>
                            <a:rPr lang="tr-TR" sz="1100" b="0" i="1" smtClean="0">
                              <a:latin typeface="Cambria Math"/>
                            </a:rPr>
                            <m:t>2</m:t>
                          </m:r>
                        </m:den>
                      </m:f>
                    </m:oMath>
                  </m:oMathPara>
                </a14:m>
                <a:endParaRPr lang="tr-TR" sz="1100" dirty="0">
                  <a:latin typeface="+mj-lt"/>
                </a:endParaRPr>
              </a:p>
            </p:txBody>
          </p:sp>
        </mc:Choice>
        <mc:Fallback xmlns="">
          <p:sp>
            <p:nvSpPr>
              <p:cNvPr id="79" name="Metin kutusu 78"/>
              <p:cNvSpPr txBox="1">
                <a:spLocks noRot="1" noChangeAspect="1" noMove="1" noResize="1" noEditPoints="1" noAdjustHandles="1" noChangeArrowheads="1" noChangeShapeType="1" noTextEdit="1"/>
              </p:cNvSpPr>
              <p:nvPr/>
            </p:nvSpPr>
            <p:spPr>
              <a:xfrm>
                <a:off x="2993861" y="3618477"/>
                <a:ext cx="325730" cy="409215"/>
              </a:xfrm>
              <a:prstGeom prst="rect">
                <a:avLst/>
              </a:prstGeom>
              <a:blipFill rotWithShape="1">
                <a:blip r:embed="rId7"/>
                <a:stretch>
                  <a:fillRect/>
                </a:stretch>
              </a:blipFill>
            </p:spPr>
            <p:txBody>
              <a:bodyPr/>
              <a:lstStyle/>
              <a:p>
                <a:r>
                  <a:rPr lang="tr-TR">
                    <a:noFill/>
                  </a:rPr>
                  <a:t> </a:t>
                </a:r>
              </a:p>
            </p:txBody>
          </p:sp>
        </mc:Fallback>
      </mc:AlternateContent>
      <p:pic>
        <p:nvPicPr>
          <p:cNvPr id="3" name="Resim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0747" y="5364088"/>
            <a:ext cx="1765524" cy="1287584"/>
          </a:xfrm>
          <a:prstGeom prst="rect">
            <a:avLst/>
          </a:prstGeom>
        </p:spPr>
      </p:pic>
      <p:sp>
        <p:nvSpPr>
          <p:cNvPr id="81" name="Metin kutusu 80"/>
          <p:cNvSpPr txBox="1"/>
          <p:nvPr/>
        </p:nvSpPr>
        <p:spPr>
          <a:xfrm>
            <a:off x="362251" y="507852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Aşağıda f(x) fonksiyonun grafiği verilmiştir.</a:t>
            </a:r>
            <a:endParaRPr lang="tr-TR" sz="1200" dirty="0">
              <a:solidFill>
                <a:schemeClr val="tx1">
                  <a:lumMod val="85000"/>
                  <a:lumOff val="15000"/>
                </a:schemeClr>
              </a:solidFill>
            </a:endParaRPr>
          </a:p>
        </p:txBody>
      </p:sp>
      <p:sp>
        <p:nvSpPr>
          <p:cNvPr id="8" name="Serbest Form 7"/>
          <p:cNvSpPr/>
          <p:nvPr/>
        </p:nvSpPr>
        <p:spPr>
          <a:xfrm>
            <a:off x="620689" y="5364088"/>
            <a:ext cx="787400" cy="1143568"/>
          </a:xfrm>
          <a:custGeom>
            <a:avLst/>
            <a:gdLst>
              <a:gd name="connsiteX0" fmla="*/ 0 w 787400"/>
              <a:gd name="connsiteY0" fmla="*/ 0 h 1143568"/>
              <a:gd name="connsiteX1" fmla="*/ 266700 w 787400"/>
              <a:gd name="connsiteY1" fmla="*/ 1143000 h 1143568"/>
              <a:gd name="connsiteX2" fmla="*/ 787400 w 787400"/>
              <a:gd name="connsiteY2" fmla="*/ 152400 h 1143568"/>
            </a:gdLst>
            <a:ahLst/>
            <a:cxnLst>
              <a:cxn ang="0">
                <a:pos x="connsiteX0" y="connsiteY0"/>
              </a:cxn>
              <a:cxn ang="0">
                <a:pos x="connsiteX1" y="connsiteY1"/>
              </a:cxn>
              <a:cxn ang="0">
                <a:pos x="connsiteX2" y="connsiteY2"/>
              </a:cxn>
            </a:cxnLst>
            <a:rect l="l" t="t" r="r" b="b"/>
            <a:pathLst>
              <a:path w="787400" h="1143568">
                <a:moveTo>
                  <a:pt x="0" y="0"/>
                </a:moveTo>
                <a:cubicBezTo>
                  <a:pt x="67733" y="558800"/>
                  <a:pt x="135467" y="1117600"/>
                  <a:pt x="266700" y="1143000"/>
                </a:cubicBezTo>
                <a:cubicBezTo>
                  <a:pt x="397933" y="1168400"/>
                  <a:pt x="687917" y="334433"/>
                  <a:pt x="787400" y="15240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Metin kutusu 81"/>
          <p:cNvSpPr txBox="1"/>
          <p:nvPr/>
        </p:nvSpPr>
        <p:spPr>
          <a:xfrm>
            <a:off x="476675" y="6023197"/>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-4</a:t>
            </a:r>
          </a:p>
        </p:txBody>
      </p:sp>
      <p:sp>
        <p:nvSpPr>
          <p:cNvPr id="84" name="Metin kutusu 83"/>
          <p:cNvSpPr txBox="1"/>
          <p:nvPr/>
        </p:nvSpPr>
        <p:spPr>
          <a:xfrm>
            <a:off x="94257" y="6660232"/>
            <a:ext cx="3155597" cy="1569660"/>
          </a:xfrm>
          <a:prstGeom prst="rect">
            <a:avLst/>
          </a:prstGeom>
          <a:noFill/>
        </p:spPr>
        <p:txBody>
          <a:bodyPr wrap="square" rtlCol="0">
            <a:spAutoFit/>
          </a:bodyPr>
          <a:lstStyle/>
          <a:p>
            <a:r>
              <a:rPr lang="tr-TR" sz="1200" dirty="0" smtClean="0">
                <a:solidFill>
                  <a:schemeClr val="tx1">
                    <a:lumMod val="85000"/>
                    <a:lumOff val="15000"/>
                  </a:schemeClr>
                </a:solidFill>
              </a:rPr>
              <a:t>I. </a:t>
            </a:r>
            <a:r>
              <a:rPr lang="tr-TR" sz="1200" dirty="0">
                <a:solidFill>
                  <a:schemeClr val="tx1">
                    <a:lumMod val="85000"/>
                    <a:lumOff val="15000"/>
                  </a:schemeClr>
                </a:solidFill>
              </a:rPr>
              <a:t> </a:t>
            </a:r>
            <a:r>
              <a:rPr lang="tr-TR" sz="1200" dirty="0" smtClean="0">
                <a:solidFill>
                  <a:schemeClr val="tx1">
                    <a:lumMod val="85000"/>
                    <a:lumOff val="15000"/>
                  </a:schemeClr>
                </a:solidFill>
              </a:rPr>
              <a:t>X eksenine teğettir.</a:t>
            </a:r>
          </a:p>
          <a:p>
            <a:r>
              <a:rPr lang="tr-TR" sz="1200" dirty="0" smtClean="0">
                <a:solidFill>
                  <a:schemeClr val="tx1">
                    <a:lumMod val="85000"/>
                    <a:lumOff val="15000"/>
                  </a:schemeClr>
                </a:solidFill>
              </a:rPr>
              <a:t>II. Denklemin 2 farklı kökü vardır.</a:t>
            </a:r>
          </a:p>
          <a:p>
            <a:r>
              <a:rPr lang="tr-TR" sz="1200" dirty="0" smtClean="0">
                <a:solidFill>
                  <a:schemeClr val="tx1">
                    <a:lumMod val="85000"/>
                    <a:lumOff val="15000"/>
                  </a:schemeClr>
                </a:solidFill>
              </a:rPr>
              <a:t>III. Orijinden geçmiştir.</a:t>
            </a:r>
          </a:p>
          <a:p>
            <a:r>
              <a:rPr lang="tr-TR" sz="1200" dirty="0" smtClean="0">
                <a:solidFill>
                  <a:schemeClr val="tx1">
                    <a:lumMod val="85000"/>
                    <a:lumOff val="15000"/>
                  </a:schemeClr>
                </a:solidFill>
              </a:rPr>
              <a:t>IV.  Denklemin </a:t>
            </a:r>
            <a:r>
              <a:rPr lang="tr-TR" sz="1200" noProof="1" smtClean="0">
                <a:solidFill>
                  <a:schemeClr val="tx1">
                    <a:lumMod val="85000"/>
                    <a:lumOff val="15000"/>
                  </a:schemeClr>
                </a:solidFill>
              </a:rPr>
              <a:t>başkatsayısı</a:t>
            </a:r>
            <a:r>
              <a:rPr lang="tr-TR" sz="1200" dirty="0" smtClean="0">
                <a:solidFill>
                  <a:schemeClr val="tx1">
                    <a:lumMod val="85000"/>
                    <a:lumOff val="15000"/>
                  </a:schemeClr>
                </a:solidFill>
              </a:rPr>
              <a:t> pozitiftir.</a:t>
            </a:r>
          </a:p>
          <a:p>
            <a:r>
              <a:rPr lang="tr-TR" sz="1200" dirty="0" smtClean="0">
                <a:solidFill>
                  <a:schemeClr val="tx1">
                    <a:lumMod val="85000"/>
                    <a:lumOff val="15000"/>
                  </a:schemeClr>
                </a:solidFill>
              </a:rPr>
              <a:t> V. Grafikten kökler tespit edilebilir.</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Veriler yargılardan hangileri doğrudur?</a:t>
            </a:r>
          </a:p>
          <a:p>
            <a:endParaRPr lang="tr-TR" sz="1200" dirty="0">
              <a:solidFill>
                <a:schemeClr val="tx1">
                  <a:lumMod val="85000"/>
                  <a:lumOff val="15000"/>
                </a:schemeClr>
              </a:solidFill>
            </a:endParaRPr>
          </a:p>
        </p:txBody>
      </p:sp>
      <p:sp>
        <p:nvSpPr>
          <p:cNvPr id="86" name="Metin kutusu 85"/>
          <p:cNvSpPr txBox="1"/>
          <p:nvPr/>
        </p:nvSpPr>
        <p:spPr>
          <a:xfrm>
            <a:off x="116635" y="8056809"/>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I,III, V                B)  Yalnız III                   C)  I ve V</a:t>
            </a:r>
          </a:p>
        </p:txBody>
      </p:sp>
      <p:sp>
        <p:nvSpPr>
          <p:cNvPr id="87" name="Metin kutusu 86"/>
          <p:cNvSpPr txBox="1"/>
          <p:nvPr/>
        </p:nvSpPr>
        <p:spPr>
          <a:xfrm>
            <a:off x="273406" y="833856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II, III, IV, V                      E) Hepsi</a:t>
            </a:r>
          </a:p>
        </p:txBody>
      </p:sp>
      <p:sp>
        <p:nvSpPr>
          <p:cNvPr id="88" name="Metin kutusu 87"/>
          <p:cNvSpPr txBox="1"/>
          <p:nvPr/>
        </p:nvSpPr>
        <p:spPr>
          <a:xfrm>
            <a:off x="4557775" y="5436099"/>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6" name="Metin kutusu 95"/>
          <p:cNvSpPr txBox="1"/>
          <p:nvPr/>
        </p:nvSpPr>
        <p:spPr>
          <a:xfrm>
            <a:off x="4989823" y="500622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7" name="Metin kutusu 106"/>
          <p:cNvSpPr txBox="1"/>
          <p:nvPr/>
        </p:nvSpPr>
        <p:spPr>
          <a:xfrm>
            <a:off x="6093298" y="5004053"/>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8" name="Metin kutusu 107"/>
          <p:cNvSpPr txBox="1"/>
          <p:nvPr/>
        </p:nvSpPr>
        <p:spPr>
          <a:xfrm>
            <a:off x="5781910" y="5402389"/>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71" name="Dikdörtgen 70"/>
          <p:cNvSpPr/>
          <p:nvPr/>
        </p:nvSpPr>
        <p:spPr>
          <a:xfrm>
            <a:off x="53885" y="8819480"/>
            <a:ext cx="253212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80" name="Metin kutusu 79"/>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1.C</a:t>
            </a:r>
            <a:endParaRPr lang="tr-TR" sz="1000" dirty="0">
              <a:solidFill>
                <a:schemeClr val="tx1">
                  <a:lumMod val="85000"/>
                  <a:lumOff val="15000"/>
                </a:schemeClr>
              </a:solidFill>
            </a:endParaRPr>
          </a:p>
        </p:txBody>
      </p:sp>
      <p:sp>
        <p:nvSpPr>
          <p:cNvPr id="85" name="Metin kutusu 84"/>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B</a:t>
            </a:r>
            <a:endParaRPr lang="tr-TR" sz="1000" dirty="0">
              <a:solidFill>
                <a:schemeClr val="tx1">
                  <a:lumMod val="85000"/>
                  <a:lumOff val="15000"/>
                </a:schemeClr>
              </a:solidFill>
            </a:endParaRPr>
          </a:p>
        </p:txBody>
      </p:sp>
      <p:sp>
        <p:nvSpPr>
          <p:cNvPr id="89" name="Metin kutusu 88"/>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D</a:t>
            </a:r>
            <a:endParaRPr lang="tr-TR" sz="1000" dirty="0">
              <a:solidFill>
                <a:schemeClr val="tx1">
                  <a:lumMod val="85000"/>
                  <a:lumOff val="15000"/>
                </a:schemeClr>
              </a:solidFill>
            </a:endParaRPr>
          </a:p>
        </p:txBody>
      </p:sp>
      <p:sp>
        <p:nvSpPr>
          <p:cNvPr id="90" name="Metin kutusu 89"/>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D</a:t>
            </a:r>
            <a:endParaRPr lang="tr-TR" sz="1000" dirty="0">
              <a:solidFill>
                <a:schemeClr val="tx1">
                  <a:lumMod val="85000"/>
                  <a:lumOff val="15000"/>
                </a:schemeClr>
              </a:solidFill>
            </a:endParaRPr>
          </a:p>
        </p:txBody>
      </p:sp>
      <p:sp>
        <p:nvSpPr>
          <p:cNvPr id="92" name="Metin kutusu 91"/>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5. A</a:t>
            </a:r>
            <a:endParaRPr lang="tr-TR" sz="1000" dirty="0">
              <a:solidFill>
                <a:schemeClr val="tx1">
                  <a:lumMod val="85000"/>
                  <a:lumOff val="15000"/>
                </a:schemeClr>
              </a:solidFill>
            </a:endParaRPr>
          </a:p>
        </p:txBody>
      </p:sp>
      <p:sp>
        <p:nvSpPr>
          <p:cNvPr id="93" name="Metin kutusu 92"/>
          <p:cNvSpPr txBox="1"/>
          <p:nvPr/>
        </p:nvSpPr>
        <p:spPr>
          <a:xfrm>
            <a:off x="2132856"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6. E</a:t>
            </a:r>
            <a:endParaRPr lang="tr-TR" sz="1000" dirty="0">
              <a:solidFill>
                <a:schemeClr val="tx1">
                  <a:lumMod val="85000"/>
                  <a:lumOff val="15000"/>
                </a:schemeClr>
              </a:solidFill>
            </a:endParaRPr>
          </a:p>
        </p:txBody>
      </p:sp>
      <p:cxnSp>
        <p:nvCxnSpPr>
          <p:cNvPr id="134" name="Düz Bağlayıcı 133"/>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5" name="Düz Bağlayıcı 134"/>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Düz Bağlayıcı 135"/>
          <p:cNvCxnSpPr/>
          <p:nvPr/>
        </p:nvCxnSpPr>
        <p:spPr>
          <a:xfrm>
            <a:off x="2132856"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Düz Bağlayıcı 136"/>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Düz Bağlayıcı 137"/>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39" name="Resim 13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140" name="Dikdörtgen 13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41"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748518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7</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38"/>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f(x) = x  + 4(m-4)+14  parabolü tepe noktası</a:t>
            </a:r>
          </a:p>
          <a:p>
            <a:r>
              <a:rPr lang="tr-TR" sz="1200" b="1" dirty="0" smtClean="0">
                <a:solidFill>
                  <a:schemeClr val="tx1">
                    <a:lumMod val="85000"/>
                    <a:lumOff val="15000"/>
                  </a:schemeClr>
                </a:solidFill>
              </a:rPr>
              <a:t>y ekseni üzerinde ise m kaçtır?</a:t>
            </a: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8</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83224" y="8826569"/>
            <a:ext cx="608840" cy="353943"/>
          </a:xfrm>
          <a:prstGeom prst="rect">
            <a:avLst/>
          </a:prstGeom>
          <a:noFill/>
        </p:spPr>
        <p:txBody>
          <a:bodyPr wrap="square" rtlCol="0">
            <a:spAutoFit/>
          </a:bodyPr>
          <a:lstStyle/>
          <a:p>
            <a:pPr algn="ctr"/>
            <a:r>
              <a:rPr lang="tr-TR" sz="1700" b="1" dirty="0" smtClean="0">
                <a:solidFill>
                  <a:schemeClr val="bg1"/>
                </a:solidFill>
              </a:rPr>
              <a:t>4</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2</a:t>
            </a: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63938"/>
            <a:ext cx="1214263" cy="246221"/>
          </a:xfrm>
          <a:prstGeom prst="rect">
            <a:avLst/>
          </a:prstGeom>
          <a:noFill/>
        </p:spPr>
        <p:txBody>
          <a:bodyPr wrap="square" rtlCol="0">
            <a:spAutoFit/>
          </a:bodyPr>
          <a:lstStyle/>
          <a:p>
            <a:r>
              <a:rPr lang="tr-TR" sz="1000" dirty="0">
                <a:solidFill>
                  <a:srgbClr val="00B050"/>
                </a:solidFill>
              </a:rPr>
              <a:t>Ahmetcelen.com.tr</a:t>
            </a:r>
          </a:p>
        </p:txBody>
      </p:sp>
      <p:sp>
        <p:nvSpPr>
          <p:cNvPr id="57" name="Metin kutusu 56"/>
          <p:cNvSpPr txBox="1"/>
          <p:nvPr/>
        </p:nvSpPr>
        <p:spPr>
          <a:xfrm>
            <a:off x="326714" y="755582"/>
            <a:ext cx="3053015" cy="646331"/>
          </a:xfrm>
          <a:prstGeom prst="rect">
            <a:avLst/>
          </a:prstGeom>
          <a:noFill/>
        </p:spPr>
        <p:txBody>
          <a:bodyPr wrap="square" rtlCol="0">
            <a:spAutoFit/>
          </a:bodyPr>
          <a:lstStyle/>
          <a:p>
            <a:r>
              <a:rPr lang="tr-TR" sz="1200" b="1" dirty="0" smtClean="0">
                <a:solidFill>
                  <a:schemeClr val="tx1">
                    <a:lumMod val="85000"/>
                    <a:lumOff val="15000"/>
                  </a:schemeClr>
                </a:solidFill>
              </a:rPr>
              <a:t>Tepe noktası koordinatları (4,2) olan </a:t>
            </a:r>
            <a:r>
              <a:rPr lang="tr-TR" sz="1200" b="1" noProof="1" smtClean="0">
                <a:solidFill>
                  <a:schemeClr val="tx1">
                    <a:lumMod val="85000"/>
                    <a:lumOff val="15000"/>
                  </a:schemeClr>
                </a:solidFill>
              </a:rPr>
              <a:t>başkatsayısı</a:t>
            </a:r>
            <a:r>
              <a:rPr lang="tr-TR" sz="1200" b="1" dirty="0" smtClean="0">
                <a:solidFill>
                  <a:schemeClr val="tx1">
                    <a:lumMod val="85000"/>
                    <a:lumOff val="15000"/>
                  </a:schemeClr>
                </a:solidFill>
              </a:rPr>
              <a:t> 1 olan parabol denklemini hangisidir?</a:t>
            </a:r>
            <a:endParaRPr lang="tr-TR" sz="1200" b="1" dirty="0">
              <a:solidFill>
                <a:schemeClr val="tx1">
                  <a:lumMod val="85000"/>
                  <a:lumOff val="15000"/>
                </a:schemeClr>
              </a:solidFill>
            </a:endParaRP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9</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128" name="Metin kutusu 127"/>
          <p:cNvSpPr txBox="1"/>
          <p:nvPr/>
        </p:nvSpPr>
        <p:spPr>
          <a:xfrm>
            <a:off x="3815119" y="5814133"/>
            <a:ext cx="3042884" cy="2123658"/>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x ekseni tavan olarak alınırsa </a:t>
            </a:r>
            <a:r>
              <a:rPr lang="tr-TR" sz="1200" dirty="0" smtClean="0">
                <a:solidFill>
                  <a:schemeClr val="tx1">
                    <a:lumMod val="85000"/>
                    <a:lumOff val="15000"/>
                  </a:schemeClr>
                </a:solidFill>
              </a:rPr>
              <a:t>2 </a:t>
            </a:r>
            <a:r>
              <a:rPr lang="tr-TR" sz="1200" dirty="0" smtClean="0">
                <a:solidFill>
                  <a:schemeClr val="tx1">
                    <a:lumMod val="85000"/>
                    <a:lumOff val="15000"/>
                  </a:schemeClr>
                </a:solidFill>
              </a:rPr>
              <a:t>farklı kök bulunur.</a:t>
            </a:r>
          </a:p>
          <a:p>
            <a:pPr marL="228600" indent="-228600">
              <a:buAutoNum type="alphaUcParenR"/>
            </a:pPr>
            <a:endParaRPr lang="tr-TR" sz="1200" dirty="0">
              <a:solidFill>
                <a:schemeClr val="tx1">
                  <a:lumMod val="85000"/>
                  <a:lumOff val="15000"/>
                </a:schemeClr>
              </a:solidFill>
            </a:endParaRPr>
          </a:p>
          <a:p>
            <a:r>
              <a:rPr lang="tr-TR" sz="1200" dirty="0" smtClean="0">
                <a:solidFill>
                  <a:schemeClr val="tx1">
                    <a:lumMod val="85000"/>
                    <a:lumOff val="15000"/>
                  </a:schemeClr>
                </a:solidFill>
              </a:rPr>
              <a:t>B) İki parabolünde baş katsayısı pozitiftir.</a:t>
            </a:r>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C) B noktasını 2 parabolde sağlar.</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D) Alttaki şekilde A noktasının ordinatını 2 farklı simetrik apsis değeri sağlar</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E) İki parabolde A noktasına teğettir.</a:t>
            </a:r>
          </a:p>
        </p:txBody>
      </p:sp>
      <p:sp>
        <p:nvSpPr>
          <p:cNvPr id="73" name="Metin kutusu 72"/>
          <p:cNvSpPr txBox="1"/>
          <p:nvPr/>
        </p:nvSpPr>
        <p:spPr>
          <a:xfrm>
            <a:off x="387549" y="3618475"/>
            <a:ext cx="3016609"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4                           B) 2                            C)</a:t>
            </a: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E) 6</a:t>
            </a:r>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9" name="Metin kutusu 78"/>
              <p:cNvSpPr txBox="1"/>
              <p:nvPr/>
            </p:nvSpPr>
            <p:spPr>
              <a:xfrm>
                <a:off x="2993861" y="3618477"/>
                <a:ext cx="325730" cy="4092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3</m:t>
                          </m:r>
                        </m:num>
                        <m:den>
                          <m:r>
                            <a:rPr lang="tr-TR" sz="1100" b="0" i="1" smtClean="0">
                              <a:latin typeface="Cambria Math"/>
                            </a:rPr>
                            <m:t>2</m:t>
                          </m:r>
                        </m:den>
                      </m:f>
                    </m:oMath>
                  </m:oMathPara>
                </a14:m>
                <a:endParaRPr lang="tr-TR" sz="1100" dirty="0">
                  <a:latin typeface="+mj-lt"/>
                </a:endParaRPr>
              </a:p>
            </p:txBody>
          </p:sp>
        </mc:Choice>
        <mc:Fallback xmlns="">
          <p:sp>
            <p:nvSpPr>
              <p:cNvPr id="79" name="Metin kutusu 78"/>
              <p:cNvSpPr txBox="1">
                <a:spLocks noRot="1" noChangeAspect="1" noMove="1" noResize="1" noEditPoints="1" noAdjustHandles="1" noChangeArrowheads="1" noChangeShapeType="1" noTextEdit="1"/>
              </p:cNvSpPr>
              <p:nvPr/>
            </p:nvSpPr>
            <p:spPr>
              <a:xfrm>
                <a:off x="2993861" y="3618477"/>
                <a:ext cx="325730" cy="409215"/>
              </a:xfrm>
              <a:prstGeom prst="rect">
                <a:avLst/>
              </a:prstGeom>
              <a:blipFill rotWithShape="1">
                <a:blip r:embed="rId4"/>
                <a:stretch>
                  <a:fillRect/>
                </a:stretch>
              </a:blipFill>
            </p:spPr>
            <p:txBody>
              <a:bodyPr/>
              <a:lstStyle/>
              <a:p>
                <a:r>
                  <a:rPr lang="tr-TR">
                    <a:noFill/>
                  </a:rPr>
                  <a:t> </a:t>
                </a:r>
              </a:p>
            </p:txBody>
          </p:sp>
        </mc:Fallback>
      </mc:AlternateContent>
      <p:pic>
        <p:nvPicPr>
          <p:cNvPr id="3" name="Resim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747" y="5364088"/>
            <a:ext cx="1765524" cy="1287584"/>
          </a:xfrm>
          <a:prstGeom prst="rect">
            <a:avLst/>
          </a:prstGeom>
        </p:spPr>
      </p:pic>
      <p:sp>
        <p:nvSpPr>
          <p:cNvPr id="81" name="Metin kutusu 80"/>
          <p:cNvSpPr txBox="1"/>
          <p:nvPr/>
        </p:nvSpPr>
        <p:spPr>
          <a:xfrm>
            <a:off x="362251" y="507852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Aşağıda f(x) fonksiyonun grafiği verilmiştir.</a:t>
            </a:r>
            <a:endParaRPr lang="tr-TR" sz="1200" dirty="0">
              <a:solidFill>
                <a:schemeClr val="tx1">
                  <a:lumMod val="85000"/>
                  <a:lumOff val="15000"/>
                </a:schemeClr>
              </a:solidFill>
            </a:endParaRPr>
          </a:p>
        </p:txBody>
      </p:sp>
      <p:sp>
        <p:nvSpPr>
          <p:cNvPr id="8" name="Serbest Form 7"/>
          <p:cNvSpPr/>
          <p:nvPr/>
        </p:nvSpPr>
        <p:spPr>
          <a:xfrm>
            <a:off x="625379" y="5292080"/>
            <a:ext cx="667711" cy="1143568"/>
          </a:xfrm>
          <a:custGeom>
            <a:avLst/>
            <a:gdLst>
              <a:gd name="connsiteX0" fmla="*/ 0 w 787400"/>
              <a:gd name="connsiteY0" fmla="*/ 0 h 1143568"/>
              <a:gd name="connsiteX1" fmla="*/ 266700 w 787400"/>
              <a:gd name="connsiteY1" fmla="*/ 1143000 h 1143568"/>
              <a:gd name="connsiteX2" fmla="*/ 787400 w 787400"/>
              <a:gd name="connsiteY2" fmla="*/ 152400 h 1143568"/>
            </a:gdLst>
            <a:ahLst/>
            <a:cxnLst>
              <a:cxn ang="0">
                <a:pos x="connsiteX0" y="connsiteY0"/>
              </a:cxn>
              <a:cxn ang="0">
                <a:pos x="connsiteX1" y="connsiteY1"/>
              </a:cxn>
              <a:cxn ang="0">
                <a:pos x="connsiteX2" y="connsiteY2"/>
              </a:cxn>
            </a:cxnLst>
            <a:rect l="l" t="t" r="r" b="b"/>
            <a:pathLst>
              <a:path w="787400" h="1143568">
                <a:moveTo>
                  <a:pt x="0" y="0"/>
                </a:moveTo>
                <a:cubicBezTo>
                  <a:pt x="67733" y="558800"/>
                  <a:pt x="135467" y="1117600"/>
                  <a:pt x="266700" y="1143000"/>
                </a:cubicBezTo>
                <a:cubicBezTo>
                  <a:pt x="397933" y="1168400"/>
                  <a:pt x="687917" y="334433"/>
                  <a:pt x="787400" y="15240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Metin kutusu 81"/>
          <p:cNvSpPr txBox="1"/>
          <p:nvPr/>
        </p:nvSpPr>
        <p:spPr>
          <a:xfrm>
            <a:off x="476675" y="6023197"/>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-4</a:t>
            </a:r>
          </a:p>
        </p:txBody>
      </p:sp>
      <p:sp>
        <p:nvSpPr>
          <p:cNvPr id="84" name="Metin kutusu 83"/>
          <p:cNvSpPr txBox="1"/>
          <p:nvPr/>
        </p:nvSpPr>
        <p:spPr>
          <a:xfrm>
            <a:off x="94257" y="6660237"/>
            <a:ext cx="3155597" cy="646331"/>
          </a:xfrm>
          <a:prstGeom prst="rect">
            <a:avLst/>
          </a:prstGeom>
          <a:noFill/>
        </p:spPr>
        <p:txBody>
          <a:bodyPr wrap="square" rtlCol="0">
            <a:spAutoFit/>
          </a:bodyPr>
          <a:lstStyle/>
          <a:p>
            <a:r>
              <a:rPr lang="tr-TR" sz="1200" b="1" dirty="0" smtClean="0">
                <a:solidFill>
                  <a:schemeClr val="tx1">
                    <a:lumMod val="85000"/>
                    <a:lumOff val="15000"/>
                  </a:schemeClr>
                </a:solidFill>
              </a:rPr>
              <a:t>f(x) ikinci dereceden bir paraboldür. Y eksenini kestiği noktanın ordinatı 8 olduğuna göre tepe noktasının apsisi ile ordinatının çarpımı kaçtır?</a:t>
            </a:r>
            <a:endParaRPr lang="tr-TR" sz="1200" b="1" dirty="0">
              <a:solidFill>
                <a:schemeClr val="tx1">
                  <a:lumMod val="85000"/>
                  <a:lumOff val="15000"/>
                </a:schemeClr>
              </a:solidFill>
            </a:endParaRPr>
          </a:p>
        </p:txBody>
      </p:sp>
      <p:sp>
        <p:nvSpPr>
          <p:cNvPr id="86" name="Metin kutusu 85"/>
          <p:cNvSpPr txBox="1"/>
          <p:nvPr/>
        </p:nvSpPr>
        <p:spPr>
          <a:xfrm>
            <a:off x="123407" y="7396241"/>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3                           B)  4                                  C)  8</a:t>
            </a:r>
          </a:p>
        </p:txBody>
      </p:sp>
      <p:sp>
        <p:nvSpPr>
          <p:cNvPr id="87" name="Metin kutusu 86"/>
          <p:cNvSpPr txBox="1"/>
          <p:nvPr/>
        </p:nvSpPr>
        <p:spPr>
          <a:xfrm>
            <a:off x="417419" y="7751389"/>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-12                            E) -9</a:t>
            </a:r>
          </a:p>
        </p:txBody>
      </p:sp>
      <p:sp>
        <p:nvSpPr>
          <p:cNvPr id="71" name="Metin kutusu 70"/>
          <p:cNvSpPr txBox="1"/>
          <p:nvPr/>
        </p:nvSpPr>
        <p:spPr>
          <a:xfrm>
            <a:off x="151043" y="1462077"/>
            <a:ext cx="3253115"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(x-4)  + 2          B</a:t>
            </a:r>
            <a:r>
              <a:rPr lang="tr-TR" sz="1200" dirty="0">
                <a:solidFill>
                  <a:schemeClr val="tx1">
                    <a:lumMod val="85000"/>
                    <a:lumOff val="15000"/>
                  </a:schemeClr>
                </a:solidFill>
              </a:rPr>
              <a:t>) (</a:t>
            </a:r>
            <a:r>
              <a:rPr lang="tr-TR" sz="1200" dirty="0" smtClean="0">
                <a:solidFill>
                  <a:schemeClr val="tx1">
                    <a:lumMod val="85000"/>
                    <a:lumOff val="15000"/>
                  </a:schemeClr>
                </a:solidFill>
              </a:rPr>
              <a:t>x+4</a:t>
            </a:r>
            <a:r>
              <a:rPr lang="tr-TR" sz="1200" dirty="0">
                <a:solidFill>
                  <a:schemeClr val="tx1">
                    <a:lumMod val="85000"/>
                    <a:lumOff val="15000"/>
                  </a:schemeClr>
                </a:solidFill>
              </a:rPr>
              <a:t>)  + 4</a:t>
            </a:r>
            <a:r>
              <a:rPr lang="tr-TR" sz="1200" dirty="0" smtClean="0">
                <a:solidFill>
                  <a:schemeClr val="tx1">
                    <a:lumMod val="85000"/>
                    <a:lumOff val="15000"/>
                  </a:schemeClr>
                </a:solidFill>
              </a:rPr>
              <a:t>            C) (x-2)  </a:t>
            </a:r>
            <a:r>
              <a:rPr lang="tr-TR" sz="1200" dirty="0">
                <a:solidFill>
                  <a:schemeClr val="tx1">
                    <a:lumMod val="85000"/>
                    <a:lumOff val="15000"/>
                  </a:schemeClr>
                </a:solidFill>
              </a:rPr>
              <a:t>+ 4</a:t>
            </a:r>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(x-4)  + </a:t>
            </a:r>
            <a:r>
              <a:rPr lang="tr-TR" sz="1200" dirty="0" smtClean="0">
                <a:solidFill>
                  <a:schemeClr val="tx1">
                    <a:lumMod val="85000"/>
                    <a:lumOff val="15000"/>
                  </a:schemeClr>
                </a:solidFill>
              </a:rPr>
              <a:t>1               E) </a:t>
            </a:r>
            <a:r>
              <a:rPr lang="tr-TR" sz="1200" dirty="0">
                <a:solidFill>
                  <a:schemeClr val="tx1">
                    <a:lumMod val="85000"/>
                    <a:lumOff val="15000"/>
                  </a:schemeClr>
                </a:solidFill>
              </a:rPr>
              <a:t>(x-4)  + 2</a:t>
            </a:r>
            <a:r>
              <a:rPr lang="tr-TR" sz="1200" dirty="0" smtClean="0">
                <a:solidFill>
                  <a:schemeClr val="tx1">
                    <a:lumMod val="85000"/>
                    <a:lumOff val="15000"/>
                  </a:schemeClr>
                </a:solidFill>
              </a:rPr>
              <a:t> </a:t>
            </a:r>
            <a:endParaRPr lang="tr-TR" sz="1200" dirty="0">
              <a:solidFill>
                <a:schemeClr val="tx1">
                  <a:lumMod val="85000"/>
                  <a:lumOff val="15000"/>
                </a:schemeClr>
              </a:solidFill>
            </a:endParaRPr>
          </a:p>
        </p:txBody>
      </p:sp>
      <p:sp>
        <p:nvSpPr>
          <p:cNvPr id="80" name="Metin kutusu 79"/>
          <p:cNvSpPr txBox="1"/>
          <p:nvPr/>
        </p:nvSpPr>
        <p:spPr>
          <a:xfrm>
            <a:off x="660610" y="141570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85" name="Metin kutusu 84"/>
          <p:cNvSpPr txBox="1"/>
          <p:nvPr/>
        </p:nvSpPr>
        <p:spPr>
          <a:xfrm>
            <a:off x="1749463" y="141962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89" name="Metin kutusu 88"/>
          <p:cNvSpPr txBox="1"/>
          <p:nvPr/>
        </p:nvSpPr>
        <p:spPr>
          <a:xfrm>
            <a:off x="2901592" y="141962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0" name="Metin kutusu 89"/>
          <p:cNvSpPr txBox="1"/>
          <p:nvPr/>
        </p:nvSpPr>
        <p:spPr>
          <a:xfrm>
            <a:off x="1173400" y="177247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2" name="Metin kutusu 91"/>
          <p:cNvSpPr txBox="1"/>
          <p:nvPr/>
        </p:nvSpPr>
        <p:spPr>
          <a:xfrm>
            <a:off x="2395609" y="1757845"/>
            <a:ext cx="239378" cy="200055"/>
          </a:xfrm>
          <a:prstGeom prst="rect">
            <a:avLst/>
          </a:prstGeom>
          <a:noFill/>
        </p:spPr>
        <p:txBody>
          <a:bodyPr wrap="square" rtlCol="0">
            <a:spAutoFit/>
          </a:bodyPr>
          <a:lstStyle/>
          <a:p>
            <a:r>
              <a:rPr lang="tr-TR" sz="700" dirty="0" smtClean="0">
                <a:solidFill>
                  <a:schemeClr val="tx1">
                    <a:lumMod val="85000"/>
                    <a:lumOff val="15000"/>
                  </a:schemeClr>
                </a:solidFill>
              </a:rPr>
              <a:t>3</a:t>
            </a:r>
            <a:endParaRPr lang="tr-TR" sz="7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93" name="Metin kutusu 92"/>
              <p:cNvSpPr txBox="1"/>
              <p:nvPr/>
            </p:nvSpPr>
            <p:spPr>
              <a:xfrm>
                <a:off x="1052736" y="4177149"/>
                <a:ext cx="325730" cy="40972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2</m:t>
                          </m:r>
                        </m:num>
                        <m:den>
                          <m:r>
                            <a:rPr lang="tr-TR" sz="1100" b="0" i="1" smtClean="0">
                              <a:latin typeface="Cambria Math"/>
                            </a:rPr>
                            <m:t>7</m:t>
                          </m:r>
                        </m:den>
                      </m:f>
                    </m:oMath>
                  </m:oMathPara>
                </a14:m>
                <a:endParaRPr lang="tr-TR" sz="1100" dirty="0">
                  <a:latin typeface="+mj-lt"/>
                </a:endParaRPr>
              </a:p>
            </p:txBody>
          </p:sp>
        </mc:Choice>
        <mc:Fallback xmlns="">
          <p:sp>
            <p:nvSpPr>
              <p:cNvPr id="93" name="Metin kutusu 92"/>
              <p:cNvSpPr txBox="1">
                <a:spLocks noRot="1" noChangeAspect="1" noMove="1" noResize="1" noEditPoints="1" noAdjustHandles="1" noChangeArrowheads="1" noChangeShapeType="1" noTextEdit="1"/>
              </p:cNvSpPr>
              <p:nvPr/>
            </p:nvSpPr>
            <p:spPr>
              <a:xfrm>
                <a:off x="1052736" y="4177149"/>
                <a:ext cx="325730" cy="409728"/>
              </a:xfrm>
              <a:prstGeom prst="rect">
                <a:avLst/>
              </a:prstGeom>
              <a:blipFill rotWithShape="1">
                <a:blip r:embed="rId6"/>
                <a:stretch>
                  <a:fillRect/>
                </a:stretch>
              </a:blipFill>
            </p:spPr>
            <p:txBody>
              <a:bodyPr/>
              <a:lstStyle/>
              <a:p>
                <a:r>
                  <a:rPr lang="tr-TR">
                    <a:noFill/>
                  </a:rPr>
                  <a:t> </a:t>
                </a:r>
              </a:p>
            </p:txBody>
          </p:sp>
        </mc:Fallback>
      </mc:AlternateContent>
      <p:sp>
        <p:nvSpPr>
          <p:cNvPr id="94" name="Metin kutusu 93"/>
          <p:cNvSpPr txBox="1"/>
          <p:nvPr/>
        </p:nvSpPr>
        <p:spPr>
          <a:xfrm>
            <a:off x="959234" y="6029273"/>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-2</a:t>
            </a:r>
          </a:p>
        </p:txBody>
      </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4245" y="857732"/>
            <a:ext cx="2865117"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04245" y="2800794"/>
            <a:ext cx="2865117" cy="1800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0" name="Serbest Form 119"/>
          <p:cNvSpPr/>
          <p:nvPr/>
        </p:nvSpPr>
        <p:spPr>
          <a:xfrm>
            <a:off x="4149080" y="857729"/>
            <a:ext cx="1368153" cy="1770056"/>
          </a:xfrm>
          <a:custGeom>
            <a:avLst/>
            <a:gdLst>
              <a:gd name="connsiteX0" fmla="*/ 0 w 1270000"/>
              <a:gd name="connsiteY0" fmla="*/ 495724 h 495724"/>
              <a:gd name="connsiteX1" fmla="*/ 673100 w 1270000"/>
              <a:gd name="connsiteY1" fmla="*/ 424 h 495724"/>
              <a:gd name="connsiteX2" fmla="*/ 1270000 w 1270000"/>
              <a:gd name="connsiteY2" fmla="*/ 419524 h 495724"/>
            </a:gdLst>
            <a:ahLst/>
            <a:cxnLst>
              <a:cxn ang="0">
                <a:pos x="connsiteX0" y="connsiteY0"/>
              </a:cxn>
              <a:cxn ang="0">
                <a:pos x="connsiteX1" y="connsiteY1"/>
              </a:cxn>
              <a:cxn ang="0">
                <a:pos x="connsiteX2" y="connsiteY2"/>
              </a:cxn>
            </a:cxnLst>
            <a:rect l="l" t="t" r="r" b="b"/>
            <a:pathLst>
              <a:path w="1270000" h="495724">
                <a:moveTo>
                  <a:pt x="0" y="495724"/>
                </a:moveTo>
                <a:cubicBezTo>
                  <a:pt x="230716" y="254424"/>
                  <a:pt x="461433" y="13124"/>
                  <a:pt x="673100" y="424"/>
                </a:cubicBezTo>
                <a:cubicBezTo>
                  <a:pt x="884767" y="-12276"/>
                  <a:pt x="1100667" y="262891"/>
                  <a:pt x="1270000" y="419524"/>
                </a:cubicBezTo>
              </a:path>
            </a:pathLst>
          </a:cu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r-TR"/>
          </a:p>
        </p:txBody>
      </p:sp>
      <p:sp>
        <p:nvSpPr>
          <p:cNvPr id="6" name="Serbest Form 5"/>
          <p:cNvSpPr/>
          <p:nvPr/>
        </p:nvSpPr>
        <p:spPr>
          <a:xfrm>
            <a:off x="4149082" y="2800794"/>
            <a:ext cx="2016224" cy="1553577"/>
          </a:xfrm>
          <a:custGeom>
            <a:avLst/>
            <a:gdLst>
              <a:gd name="connsiteX0" fmla="*/ 0 w 1270000"/>
              <a:gd name="connsiteY0" fmla="*/ 495724 h 495724"/>
              <a:gd name="connsiteX1" fmla="*/ 673100 w 1270000"/>
              <a:gd name="connsiteY1" fmla="*/ 424 h 495724"/>
              <a:gd name="connsiteX2" fmla="*/ 1270000 w 1270000"/>
              <a:gd name="connsiteY2" fmla="*/ 419524 h 495724"/>
            </a:gdLst>
            <a:ahLst/>
            <a:cxnLst>
              <a:cxn ang="0">
                <a:pos x="connsiteX0" y="connsiteY0"/>
              </a:cxn>
              <a:cxn ang="0">
                <a:pos x="connsiteX1" y="connsiteY1"/>
              </a:cxn>
              <a:cxn ang="0">
                <a:pos x="connsiteX2" y="connsiteY2"/>
              </a:cxn>
            </a:cxnLst>
            <a:rect l="l" t="t" r="r" b="b"/>
            <a:pathLst>
              <a:path w="1270000" h="495724">
                <a:moveTo>
                  <a:pt x="0" y="495724"/>
                </a:moveTo>
                <a:cubicBezTo>
                  <a:pt x="230716" y="254424"/>
                  <a:pt x="461433" y="13124"/>
                  <a:pt x="673100" y="424"/>
                </a:cubicBezTo>
                <a:cubicBezTo>
                  <a:pt x="884767" y="-12276"/>
                  <a:pt x="1100667" y="262891"/>
                  <a:pt x="1270000" y="419524"/>
                </a:cubicBezTo>
              </a:path>
            </a:pathLst>
          </a:custGeom>
          <a:ln/>
        </p:spPr>
        <p:style>
          <a:lnRef idx="2">
            <a:schemeClr val="accent2"/>
          </a:lnRef>
          <a:fillRef idx="0">
            <a:schemeClr val="accent2"/>
          </a:fillRef>
          <a:effectRef idx="1">
            <a:schemeClr val="accent2"/>
          </a:effectRef>
          <a:fontRef idx="minor">
            <a:schemeClr val="tx1"/>
          </a:fontRef>
        </p:style>
        <p:txBody>
          <a:bodyPr rtlCol="0" anchor="ctr"/>
          <a:lstStyle/>
          <a:p>
            <a:pPr algn="ctr"/>
            <a:endParaRPr lang="tr-TR"/>
          </a:p>
        </p:txBody>
      </p:sp>
      <p:sp>
        <p:nvSpPr>
          <p:cNvPr id="124" name="Metin kutusu 123"/>
          <p:cNvSpPr txBox="1"/>
          <p:nvPr/>
        </p:nvSpPr>
        <p:spPr>
          <a:xfrm>
            <a:off x="3717032" y="4644013"/>
            <a:ext cx="3155597" cy="1015663"/>
          </a:xfrm>
          <a:prstGeom prst="rect">
            <a:avLst/>
          </a:prstGeom>
          <a:noFill/>
        </p:spPr>
        <p:txBody>
          <a:bodyPr wrap="square" rtlCol="0">
            <a:spAutoFit/>
          </a:bodyPr>
          <a:lstStyle/>
          <a:p>
            <a:r>
              <a:rPr lang="tr-TR" sz="1200" b="1" dirty="0" smtClean="0">
                <a:solidFill>
                  <a:schemeClr val="tx1">
                    <a:lumMod val="85000"/>
                    <a:lumOff val="15000"/>
                  </a:schemeClr>
                </a:solidFill>
              </a:rPr>
              <a:t>Yukarıda bir atış oyununa ait görseller verilmiştir. Atış parabolik bir rotasyon izlemektedir.  Oyun algoritmasına göre tavana ulaştığında teğet olarak geri dönmektedir.</a:t>
            </a:r>
          </a:p>
          <a:p>
            <a:r>
              <a:rPr lang="tr-TR" sz="1200" b="1" dirty="0" smtClean="0">
                <a:solidFill>
                  <a:schemeClr val="tx1">
                    <a:lumMod val="85000"/>
                    <a:lumOff val="15000"/>
                  </a:schemeClr>
                </a:solidFill>
              </a:rPr>
              <a:t>Buna göre aşağıdakilerden hangisi doğrudur?</a:t>
            </a:r>
          </a:p>
        </p:txBody>
      </p:sp>
      <p:sp>
        <p:nvSpPr>
          <p:cNvPr id="7" name="Metin kutusu 6"/>
          <p:cNvSpPr txBox="1"/>
          <p:nvPr/>
        </p:nvSpPr>
        <p:spPr>
          <a:xfrm>
            <a:off x="5373216" y="1603196"/>
            <a:ext cx="392542" cy="369332"/>
          </a:xfrm>
          <a:prstGeom prst="rect">
            <a:avLst/>
          </a:prstGeom>
          <a:noFill/>
        </p:spPr>
        <p:txBody>
          <a:bodyPr wrap="square" rtlCol="0">
            <a:spAutoFit/>
          </a:bodyPr>
          <a:lstStyle/>
          <a:p>
            <a:r>
              <a:rPr lang="tr-TR" dirty="0" smtClean="0"/>
              <a:t>A</a:t>
            </a:r>
            <a:endParaRPr lang="tr-TR" dirty="0"/>
          </a:p>
        </p:txBody>
      </p:sp>
      <p:sp>
        <p:nvSpPr>
          <p:cNvPr id="125" name="Metin kutusu 124"/>
          <p:cNvSpPr txBox="1"/>
          <p:nvPr/>
        </p:nvSpPr>
        <p:spPr>
          <a:xfrm>
            <a:off x="6165306" y="1043608"/>
            <a:ext cx="392542" cy="369332"/>
          </a:xfrm>
          <a:prstGeom prst="rect">
            <a:avLst/>
          </a:prstGeom>
          <a:noFill/>
        </p:spPr>
        <p:txBody>
          <a:bodyPr wrap="square" rtlCol="0">
            <a:spAutoFit/>
          </a:bodyPr>
          <a:lstStyle/>
          <a:p>
            <a:r>
              <a:rPr lang="tr-TR" dirty="0" smtClean="0"/>
              <a:t>B</a:t>
            </a:r>
            <a:endParaRPr lang="tr-TR" dirty="0"/>
          </a:p>
        </p:txBody>
      </p:sp>
      <p:sp>
        <p:nvSpPr>
          <p:cNvPr id="129" name="Metin kutusu 128"/>
          <p:cNvSpPr txBox="1"/>
          <p:nvPr/>
        </p:nvSpPr>
        <p:spPr>
          <a:xfrm>
            <a:off x="5661248" y="3442978"/>
            <a:ext cx="392542" cy="369332"/>
          </a:xfrm>
          <a:prstGeom prst="rect">
            <a:avLst/>
          </a:prstGeom>
          <a:noFill/>
        </p:spPr>
        <p:txBody>
          <a:bodyPr wrap="square" rtlCol="0">
            <a:spAutoFit/>
          </a:bodyPr>
          <a:lstStyle/>
          <a:p>
            <a:r>
              <a:rPr lang="tr-TR" dirty="0" smtClean="0"/>
              <a:t>A</a:t>
            </a:r>
            <a:endParaRPr lang="tr-TR" dirty="0"/>
          </a:p>
        </p:txBody>
      </p:sp>
      <p:sp>
        <p:nvSpPr>
          <p:cNvPr id="132" name="Metin kutusu 131"/>
          <p:cNvSpPr txBox="1"/>
          <p:nvPr/>
        </p:nvSpPr>
        <p:spPr>
          <a:xfrm>
            <a:off x="6204810" y="2997696"/>
            <a:ext cx="392542" cy="369332"/>
          </a:xfrm>
          <a:prstGeom prst="rect">
            <a:avLst/>
          </a:prstGeom>
          <a:noFill/>
        </p:spPr>
        <p:txBody>
          <a:bodyPr wrap="square" rtlCol="0">
            <a:spAutoFit/>
          </a:bodyPr>
          <a:lstStyle/>
          <a:p>
            <a:r>
              <a:rPr lang="tr-TR" dirty="0" smtClean="0"/>
              <a:t>B</a:t>
            </a:r>
            <a:endParaRPr lang="tr-TR" dirty="0"/>
          </a:p>
        </p:txBody>
      </p:sp>
      <p:sp>
        <p:nvSpPr>
          <p:cNvPr id="59" name="Metin kutusu 58"/>
          <p:cNvSpPr txBox="1"/>
          <p:nvPr/>
        </p:nvSpPr>
        <p:spPr>
          <a:xfrm>
            <a:off x="764704" y="285977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5" name="Oval 9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96" name="Metin kutusu 95"/>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97" name="Metin kutusu 96"/>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98" name="Oval 97"/>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99" name="Düz Bağlayıcı 98"/>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00" name="Metin kutusu 99"/>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101" name="Oval 100"/>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02" name="Metin kutusu 101"/>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103" name="Oval 102"/>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05" name="Dikdörtgen 104"/>
          <p:cNvSpPr/>
          <p:nvPr/>
        </p:nvSpPr>
        <p:spPr>
          <a:xfrm>
            <a:off x="53884" y="8819480"/>
            <a:ext cx="1725943"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06" name="Metin kutusu 105"/>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 A</a:t>
            </a:r>
            <a:endParaRPr lang="tr-TR" sz="1000" dirty="0">
              <a:solidFill>
                <a:schemeClr val="tx1">
                  <a:lumMod val="85000"/>
                  <a:lumOff val="15000"/>
                </a:schemeClr>
              </a:solidFill>
            </a:endParaRPr>
          </a:p>
        </p:txBody>
      </p:sp>
      <p:sp>
        <p:nvSpPr>
          <p:cNvPr id="107" name="Metin kutusu 106"/>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8. A</a:t>
            </a:r>
            <a:endParaRPr lang="tr-TR" sz="1000" dirty="0">
              <a:solidFill>
                <a:schemeClr val="tx1">
                  <a:lumMod val="85000"/>
                  <a:lumOff val="15000"/>
                </a:schemeClr>
              </a:solidFill>
            </a:endParaRPr>
          </a:p>
        </p:txBody>
      </p:sp>
      <p:sp>
        <p:nvSpPr>
          <p:cNvPr id="108" name="Metin kutusu 107"/>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 A</a:t>
            </a:r>
            <a:endParaRPr lang="tr-TR" sz="1000" dirty="0">
              <a:solidFill>
                <a:schemeClr val="tx1">
                  <a:lumMod val="85000"/>
                  <a:lumOff val="15000"/>
                </a:schemeClr>
              </a:solidFill>
            </a:endParaRPr>
          </a:p>
        </p:txBody>
      </p:sp>
      <p:sp>
        <p:nvSpPr>
          <p:cNvPr id="111" name="Metin kutusu 110"/>
          <p:cNvSpPr txBox="1"/>
          <p:nvPr/>
        </p:nvSpPr>
        <p:spPr>
          <a:xfrm>
            <a:off x="1300632" y="8820472"/>
            <a:ext cx="47919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 D</a:t>
            </a:r>
            <a:endParaRPr lang="tr-TR" sz="1000" dirty="0">
              <a:solidFill>
                <a:schemeClr val="tx1">
                  <a:lumMod val="85000"/>
                  <a:lumOff val="15000"/>
                </a:schemeClr>
              </a:solidFill>
            </a:endParaRPr>
          </a:p>
        </p:txBody>
      </p:sp>
      <p:cxnSp>
        <p:nvCxnSpPr>
          <p:cNvPr id="115" name="Düz Bağlayıcı 114"/>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8" name="Düz Bağlayıcı 117"/>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1" name="Düz Bağlayıcı 120"/>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22" name="Düz Bağlayıcı 121"/>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6" name="Dikdörtgen 12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27"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727602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40"/>
            <a:ext cx="3155597" cy="1015663"/>
          </a:xfrm>
          <a:prstGeom prst="rect">
            <a:avLst/>
          </a:prstGeom>
          <a:noFill/>
        </p:spPr>
        <p:txBody>
          <a:bodyPr wrap="square" rtlCol="0">
            <a:spAutoFit/>
          </a:bodyPr>
          <a:lstStyle/>
          <a:p>
            <a:r>
              <a:rPr lang="tr-TR" sz="1200" noProof="1" smtClean="0">
                <a:solidFill>
                  <a:schemeClr val="tx1">
                    <a:lumMod val="85000"/>
                    <a:lumOff val="15000"/>
                  </a:schemeClr>
                </a:solidFill>
              </a:rPr>
              <a:t>Gerçel katsayılı ikinci dereceden denklemin</a:t>
            </a:r>
          </a:p>
          <a:p>
            <a:r>
              <a:rPr lang="tr-TR" sz="1200" noProof="1" smtClean="0">
                <a:solidFill>
                  <a:schemeClr val="tx1">
                    <a:lumMod val="85000"/>
                    <a:lumOff val="15000"/>
                  </a:schemeClr>
                </a:solidFill>
              </a:rPr>
              <a:t>bir kökü 2+i  `dir. Baş katsayısı 1`dir. </a:t>
            </a:r>
          </a:p>
          <a:p>
            <a:r>
              <a:rPr lang="tr-TR" sz="1200" noProof="1" smtClean="0">
                <a:solidFill>
                  <a:schemeClr val="tx1">
                    <a:lumMod val="85000"/>
                    <a:lumOff val="15000"/>
                  </a:schemeClr>
                </a:solidFill>
              </a:rPr>
              <a:t>Bu denklem bir parabol olduğuna göre bu parabolün </a:t>
            </a:r>
            <a:r>
              <a:rPr lang="tr-TR" sz="1200" b="1" noProof="1" smtClean="0">
                <a:solidFill>
                  <a:schemeClr val="tx1">
                    <a:lumMod val="85000"/>
                    <a:lumOff val="15000"/>
                  </a:schemeClr>
                </a:solidFill>
              </a:rPr>
              <a:t>kökler farkının y eksenini kestiği  noktanın ordinatına oranı kaçtır? </a:t>
            </a:r>
            <a:r>
              <a:rPr lang="tr-TR" sz="1200" noProof="1" smtClean="0">
                <a:solidFill>
                  <a:schemeClr val="tx1">
                    <a:lumMod val="85000"/>
                    <a:lumOff val="15000"/>
                  </a:schemeClr>
                </a:solidFill>
              </a:rPr>
              <a:t>(i  = -1) </a:t>
            </a: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122" name="Dikdörtgen 121"/>
          <p:cNvSpPr/>
          <p:nvPr/>
        </p:nvSpPr>
        <p:spPr>
          <a:xfrm>
            <a:off x="3451429" y="3491884"/>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1" y="8826573"/>
            <a:ext cx="612070" cy="353943"/>
          </a:xfrm>
          <a:prstGeom prst="rect">
            <a:avLst/>
          </a:prstGeom>
          <a:noFill/>
        </p:spPr>
        <p:txBody>
          <a:bodyPr wrap="square" rtlCol="0">
            <a:spAutoFit/>
          </a:bodyPr>
          <a:lstStyle/>
          <a:p>
            <a:pPr algn="ctr"/>
            <a:r>
              <a:rPr lang="tr-TR" sz="1700" b="1" dirty="0" smtClean="0">
                <a:solidFill>
                  <a:schemeClr val="bg1"/>
                </a:solidFill>
              </a:rPr>
              <a:t>5</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3</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2" name="Dikdörtgen 11"/>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326714" y="604013"/>
            <a:ext cx="3187052" cy="1384995"/>
          </a:xfrm>
          <a:prstGeom prst="rect">
            <a:avLst/>
          </a:prstGeom>
          <a:noFill/>
        </p:spPr>
        <p:txBody>
          <a:bodyPr wrap="square" rtlCol="0">
            <a:spAutoFit/>
          </a:bodyPr>
          <a:lstStyle/>
          <a:p>
            <a:endParaRPr lang="tr-TR" sz="1200" dirty="0">
              <a:solidFill>
                <a:schemeClr val="tx1">
                  <a:lumMod val="85000"/>
                  <a:lumOff val="15000"/>
                </a:schemeClr>
              </a:solidFill>
            </a:endParaRPr>
          </a:p>
          <a:p>
            <a:r>
              <a:rPr lang="tr-TR" sz="1200" dirty="0">
                <a:solidFill>
                  <a:schemeClr val="tx1">
                    <a:lumMod val="85000"/>
                    <a:lumOff val="15000"/>
                  </a:schemeClr>
                </a:solidFill>
              </a:rPr>
              <a:t>h</a:t>
            </a:r>
            <a:r>
              <a:rPr lang="tr-TR" sz="1200" dirty="0" smtClean="0">
                <a:solidFill>
                  <a:schemeClr val="tx1">
                    <a:lumMod val="85000"/>
                    <a:lumOff val="15000"/>
                  </a:schemeClr>
                </a:solidFill>
              </a:rPr>
              <a:t>(x) =  x   + 8x + 22</a:t>
            </a:r>
          </a:p>
          <a:p>
            <a:endParaRPr lang="tr-TR" sz="1200" dirty="0" smtClean="0">
              <a:solidFill>
                <a:schemeClr val="tx1">
                  <a:lumMod val="85000"/>
                  <a:lumOff val="15000"/>
                </a:schemeClr>
              </a:solidFill>
            </a:endParaRPr>
          </a:p>
          <a:p>
            <a:r>
              <a:rPr lang="tr-TR" sz="1200" b="1" dirty="0" smtClean="0">
                <a:solidFill>
                  <a:schemeClr val="tx1">
                    <a:lumMod val="85000"/>
                    <a:lumOff val="15000"/>
                  </a:schemeClr>
                </a:solidFill>
              </a:rPr>
              <a:t>Yukarıdaki  fonksiyon bir parabol belirtmektedir. Bu parabolün tepe noktaları kullanılarak yazıldığı bilindiğine göre  ifadenin eşiti</a:t>
            </a:r>
            <a:r>
              <a:rPr lang="tr-TR" sz="1200" b="1" dirty="0">
                <a:solidFill>
                  <a:schemeClr val="tx1">
                    <a:lumMod val="85000"/>
                    <a:lumOff val="15000"/>
                  </a:schemeClr>
                </a:solidFill>
              </a:rPr>
              <a:t> </a:t>
            </a:r>
            <a:r>
              <a:rPr lang="tr-TR" sz="1200" b="1" dirty="0" smtClean="0">
                <a:solidFill>
                  <a:schemeClr val="tx1">
                    <a:lumMod val="85000"/>
                    <a:lumOff val="15000"/>
                  </a:schemeClr>
                </a:solidFill>
              </a:rPr>
              <a:t>nedir? </a:t>
            </a:r>
          </a:p>
        </p:txBody>
      </p:sp>
      <p:sp>
        <p:nvSpPr>
          <p:cNvPr id="66" name="Metin kutusu 65"/>
          <p:cNvSpPr txBox="1"/>
          <p:nvPr/>
        </p:nvSpPr>
        <p:spPr>
          <a:xfrm>
            <a:off x="3702406" y="3491884"/>
            <a:ext cx="3155597" cy="646331"/>
          </a:xfrm>
          <a:prstGeom prst="rect">
            <a:avLst/>
          </a:prstGeom>
          <a:noFill/>
        </p:spPr>
        <p:txBody>
          <a:bodyPr wrap="square" rtlCol="0">
            <a:spAutoFit/>
          </a:bodyPr>
          <a:lstStyle/>
          <a:p>
            <a:r>
              <a:rPr lang="tr-TR" sz="1200" b="1" dirty="0" smtClean="0">
                <a:solidFill>
                  <a:schemeClr val="tx1">
                    <a:lumMod val="85000"/>
                    <a:lumOff val="15000"/>
                  </a:schemeClr>
                </a:solidFill>
              </a:rPr>
              <a:t>En büyük dereceli terimin önündeki çarpan 1, Tepe noktası (2,9) olan parabolün denklemi aşağıdakilerden  hangisidir?</a:t>
            </a: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78" name="Metin kutusu 77"/>
          <p:cNvSpPr txBox="1"/>
          <p:nvPr/>
        </p:nvSpPr>
        <p:spPr>
          <a:xfrm>
            <a:off x="830116" y="74076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113" name="Metin kutusu 112"/>
          <p:cNvSpPr txBox="1"/>
          <p:nvPr/>
        </p:nvSpPr>
        <p:spPr>
          <a:xfrm>
            <a:off x="3632272" y="4150985"/>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x   + 2x + 9    B) </a:t>
            </a:r>
            <a:r>
              <a:rPr lang="tr-TR" sz="1200" dirty="0">
                <a:solidFill>
                  <a:schemeClr val="tx1">
                    <a:lumMod val="85000"/>
                    <a:lumOff val="15000"/>
                  </a:schemeClr>
                </a:solidFill>
              </a:rPr>
              <a:t> </a:t>
            </a:r>
            <a:r>
              <a:rPr lang="tr-TR" sz="1200" dirty="0" smtClean="0">
                <a:solidFill>
                  <a:schemeClr val="tx1">
                    <a:lumMod val="85000"/>
                    <a:lumOff val="15000"/>
                  </a:schemeClr>
                </a:solidFill>
              </a:rPr>
              <a:t>x   </a:t>
            </a:r>
            <a:r>
              <a:rPr lang="tr-TR" sz="1200" dirty="0">
                <a:solidFill>
                  <a:schemeClr val="tx1">
                    <a:lumMod val="85000"/>
                    <a:lumOff val="15000"/>
                  </a:schemeClr>
                </a:solidFill>
              </a:rPr>
              <a:t>+ 6x + 12      </a:t>
            </a:r>
            <a:r>
              <a:rPr lang="tr-TR" sz="1200" dirty="0" smtClean="0">
                <a:solidFill>
                  <a:schemeClr val="tx1">
                    <a:lumMod val="85000"/>
                    <a:lumOff val="15000"/>
                  </a:schemeClr>
                </a:solidFill>
              </a:rPr>
              <a:t>C) </a:t>
            </a:r>
            <a:r>
              <a:rPr lang="tr-TR" sz="1200" dirty="0">
                <a:solidFill>
                  <a:schemeClr val="tx1">
                    <a:lumMod val="85000"/>
                    <a:lumOff val="15000"/>
                  </a:schemeClr>
                </a:solidFill>
              </a:rPr>
              <a:t>x   </a:t>
            </a:r>
            <a:r>
              <a:rPr lang="tr-TR" sz="1200" dirty="0" smtClean="0">
                <a:solidFill>
                  <a:schemeClr val="tx1">
                    <a:lumMod val="85000"/>
                    <a:lumOff val="15000"/>
                  </a:schemeClr>
                </a:solidFill>
              </a:rPr>
              <a:t>- 4x +13 </a:t>
            </a:r>
          </a:p>
        </p:txBody>
      </p:sp>
      <p:sp>
        <p:nvSpPr>
          <p:cNvPr id="115" name="Metin kutusu 114"/>
          <p:cNvSpPr txBox="1"/>
          <p:nvPr/>
        </p:nvSpPr>
        <p:spPr>
          <a:xfrm>
            <a:off x="3900659" y="4439017"/>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12x   </a:t>
            </a:r>
            <a:r>
              <a:rPr lang="tr-TR" sz="1200" dirty="0">
                <a:solidFill>
                  <a:schemeClr val="tx1">
                    <a:lumMod val="85000"/>
                    <a:lumOff val="15000"/>
                  </a:schemeClr>
                </a:solidFill>
              </a:rPr>
              <a:t>+ </a:t>
            </a:r>
            <a:r>
              <a:rPr lang="tr-TR" sz="1200" dirty="0" smtClean="0">
                <a:solidFill>
                  <a:schemeClr val="tx1">
                    <a:lumMod val="85000"/>
                    <a:lumOff val="15000"/>
                  </a:schemeClr>
                </a:solidFill>
              </a:rPr>
              <a:t>4x -6            E) 4x   - </a:t>
            </a:r>
            <a:r>
              <a:rPr lang="tr-TR" sz="1200" dirty="0">
                <a:solidFill>
                  <a:schemeClr val="tx1">
                    <a:lumMod val="85000"/>
                    <a:lumOff val="15000"/>
                  </a:schemeClr>
                </a:solidFill>
              </a:rPr>
              <a:t>6x + 9</a:t>
            </a:r>
            <a:r>
              <a:rPr lang="tr-TR" sz="1200" dirty="0" smtClean="0">
                <a:solidFill>
                  <a:schemeClr val="tx1">
                    <a:lumMod val="85000"/>
                    <a:lumOff val="15000"/>
                  </a:schemeClr>
                </a:solidFill>
              </a:rPr>
              <a:t> </a:t>
            </a:r>
          </a:p>
        </p:txBody>
      </p:sp>
      <p:sp>
        <p:nvSpPr>
          <p:cNvPr id="119" name="Metin kutusu 118"/>
          <p:cNvSpPr txBox="1"/>
          <p:nvPr/>
        </p:nvSpPr>
        <p:spPr>
          <a:xfrm>
            <a:off x="3861048" y="4139952"/>
            <a:ext cx="191697"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21" name="Dikdörtgen 120"/>
          <p:cNvSpPr/>
          <p:nvPr/>
        </p:nvSpPr>
        <p:spPr>
          <a:xfrm>
            <a:off x="3429000" y="558011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6.</a:t>
            </a:r>
            <a:endParaRPr lang="tr-TR" sz="1400" b="1" dirty="0">
              <a:solidFill>
                <a:srgbClr val="C00000"/>
              </a:solidFill>
              <a:latin typeface="Arial Narrow" panose="020B0606020202030204" pitchFamily="34" charset="0"/>
            </a:endParaRPr>
          </a:p>
        </p:txBody>
      </p:sp>
      <p:sp>
        <p:nvSpPr>
          <p:cNvPr id="126" name="Metin kutusu 125"/>
          <p:cNvSpPr txBox="1"/>
          <p:nvPr/>
        </p:nvSpPr>
        <p:spPr>
          <a:xfrm>
            <a:off x="3702406" y="770095"/>
            <a:ext cx="3155597" cy="1384995"/>
          </a:xfrm>
          <a:prstGeom prst="rect">
            <a:avLst/>
          </a:prstGeom>
          <a:noFill/>
        </p:spPr>
        <p:txBody>
          <a:bodyPr wrap="square" rtlCol="0">
            <a:spAutoFit/>
          </a:bodyPr>
          <a:lstStyle/>
          <a:p>
            <a:r>
              <a:rPr lang="tr-TR" sz="1200" dirty="0" smtClean="0">
                <a:solidFill>
                  <a:schemeClr val="tx1">
                    <a:lumMod val="85000"/>
                    <a:lumOff val="15000"/>
                  </a:schemeClr>
                </a:solidFill>
              </a:rPr>
              <a:t>I. Hepsi çift fonksiyondur.</a:t>
            </a:r>
          </a:p>
          <a:p>
            <a:r>
              <a:rPr lang="tr-TR" sz="1200" dirty="0" smtClean="0">
                <a:solidFill>
                  <a:schemeClr val="tx1">
                    <a:lumMod val="85000"/>
                    <a:lumOff val="15000"/>
                  </a:schemeClr>
                </a:solidFill>
              </a:rPr>
              <a:t>II. Tepe noktası maksimum veya minimum değerleri belirtir.</a:t>
            </a:r>
          </a:p>
          <a:p>
            <a:r>
              <a:rPr lang="tr-TR" sz="1200" dirty="0" smtClean="0">
                <a:solidFill>
                  <a:schemeClr val="tx1">
                    <a:lumMod val="85000"/>
                    <a:lumOff val="15000"/>
                  </a:schemeClr>
                </a:solidFill>
              </a:rPr>
              <a:t>III.  Paraboller 2.dereceden olmak zorundadır.</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Yukarıdaki yargılardan hangileri </a:t>
            </a:r>
            <a:r>
              <a:rPr lang="tr-TR" sz="1200" b="1" dirty="0" smtClean="0">
                <a:solidFill>
                  <a:schemeClr val="tx1">
                    <a:lumMod val="85000"/>
                    <a:lumOff val="15000"/>
                  </a:schemeClr>
                </a:solidFill>
              </a:rPr>
              <a:t>bütün paraboller için doğru kabul edilemez? </a:t>
            </a:r>
          </a:p>
        </p:txBody>
      </p:sp>
      <p:sp>
        <p:nvSpPr>
          <p:cNvPr id="127" name="Metin kutusu 126"/>
          <p:cNvSpPr txBox="1"/>
          <p:nvPr/>
        </p:nvSpPr>
        <p:spPr>
          <a:xfrm>
            <a:off x="3737101" y="236777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Yalnız III          B)  Yalnız II                 C) Yalnız I</a:t>
            </a:r>
          </a:p>
        </p:txBody>
      </p:sp>
      <p:sp>
        <p:nvSpPr>
          <p:cNvPr id="128" name="Metin kutusu 127"/>
          <p:cNvSpPr txBox="1"/>
          <p:nvPr/>
        </p:nvSpPr>
        <p:spPr>
          <a:xfrm>
            <a:off x="4149080" y="2740738"/>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I ve II                     E) I ve III </a:t>
            </a:r>
          </a:p>
        </p:txBody>
      </p:sp>
      <p:sp>
        <p:nvSpPr>
          <p:cNvPr id="73" name="Metin kutusu 72"/>
          <p:cNvSpPr txBox="1"/>
          <p:nvPr/>
        </p:nvSpPr>
        <p:spPr>
          <a:xfrm>
            <a:off x="387549" y="3957031"/>
            <a:ext cx="3016609"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                           B)                                C)</a:t>
            </a: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E) </a:t>
            </a:r>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5" name="Metin kutusu 74"/>
              <p:cNvSpPr txBox="1"/>
              <p:nvPr/>
            </p:nvSpPr>
            <p:spPr>
              <a:xfrm>
                <a:off x="548683" y="3959783"/>
                <a:ext cx="411203" cy="4681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2</m:t>
                          </m:r>
                          <m:r>
                            <a:rPr lang="tr-TR" sz="1300" b="0" i="1" smtClean="0">
                              <a:latin typeface="Cambria Math"/>
                            </a:rPr>
                            <m:t>𝑖</m:t>
                          </m:r>
                        </m:num>
                        <m:den>
                          <m:r>
                            <a:rPr lang="tr-TR" sz="1300" b="0" i="1" smtClean="0">
                              <a:latin typeface="Cambria Math"/>
                            </a:rPr>
                            <m:t>5</m:t>
                          </m:r>
                        </m:den>
                      </m:f>
                    </m:oMath>
                  </m:oMathPara>
                </a14:m>
                <a:endParaRPr lang="tr-TR" sz="1300" dirty="0">
                  <a:latin typeface="+mj-lt"/>
                </a:endParaRPr>
              </a:p>
            </p:txBody>
          </p:sp>
        </mc:Choice>
        <mc:Fallback xmlns="">
          <p:sp>
            <p:nvSpPr>
              <p:cNvPr id="75" name="Metin kutusu 74"/>
              <p:cNvSpPr txBox="1">
                <a:spLocks noRot="1" noChangeAspect="1" noMove="1" noResize="1" noEditPoints="1" noAdjustHandles="1" noChangeArrowheads="1" noChangeShapeType="1" noTextEdit="1"/>
              </p:cNvSpPr>
              <p:nvPr/>
            </p:nvSpPr>
            <p:spPr>
              <a:xfrm>
                <a:off x="548680" y="3959779"/>
                <a:ext cx="411203" cy="468205"/>
              </a:xfrm>
              <a:prstGeom prst="rect">
                <a:avLst/>
              </a:prstGeom>
              <a:blipFill rotWithShape="1">
                <a:blip r:embed="rId5"/>
                <a:stretch>
                  <a:fillRect b="-263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7" name="Metin kutusu 76"/>
              <p:cNvSpPr txBox="1"/>
              <p:nvPr/>
            </p:nvSpPr>
            <p:spPr>
              <a:xfrm>
                <a:off x="1700811" y="3960484"/>
                <a:ext cx="411203" cy="4674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4</m:t>
                          </m:r>
                          <m:r>
                            <a:rPr lang="tr-TR" sz="1300" b="0" i="1" smtClean="0">
                              <a:latin typeface="Cambria Math"/>
                            </a:rPr>
                            <m:t>𝑖</m:t>
                          </m:r>
                        </m:num>
                        <m:den>
                          <m:r>
                            <a:rPr lang="tr-TR" sz="1300" b="0" i="1" smtClean="0">
                              <a:latin typeface="Cambria Math"/>
                            </a:rPr>
                            <m:t>5</m:t>
                          </m:r>
                        </m:den>
                      </m:f>
                    </m:oMath>
                  </m:oMathPara>
                </a14:m>
                <a:endParaRPr lang="tr-TR" sz="1300" dirty="0">
                  <a:latin typeface="+mj-lt"/>
                </a:endParaRPr>
              </a:p>
            </p:txBody>
          </p:sp>
        </mc:Choice>
        <mc:Fallback xmlns="">
          <p:sp>
            <p:nvSpPr>
              <p:cNvPr id="77" name="Metin kutusu 76"/>
              <p:cNvSpPr txBox="1">
                <a:spLocks noRot="1" noChangeAspect="1" noMove="1" noResize="1" noEditPoints="1" noAdjustHandles="1" noChangeArrowheads="1" noChangeShapeType="1" noTextEdit="1"/>
              </p:cNvSpPr>
              <p:nvPr/>
            </p:nvSpPr>
            <p:spPr>
              <a:xfrm>
                <a:off x="1700808" y="3960484"/>
                <a:ext cx="411203" cy="467500"/>
              </a:xfrm>
              <a:prstGeom prst="rect">
                <a:avLst/>
              </a:prstGeom>
              <a:blipFill rotWithShape="1">
                <a:blip r:embed="rId6"/>
                <a:stretch>
                  <a:fillRect b="-2632"/>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9" name="Metin kutusu 78"/>
              <p:cNvSpPr txBox="1"/>
              <p:nvPr/>
            </p:nvSpPr>
            <p:spPr>
              <a:xfrm>
                <a:off x="3004010" y="3960548"/>
                <a:ext cx="352982" cy="4674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4</m:t>
                          </m:r>
                        </m:num>
                        <m:den>
                          <m:r>
                            <a:rPr lang="tr-TR" sz="1300" b="0" i="1" smtClean="0">
                              <a:latin typeface="Cambria Math"/>
                            </a:rPr>
                            <m:t>5</m:t>
                          </m:r>
                        </m:den>
                      </m:f>
                    </m:oMath>
                  </m:oMathPara>
                </a14:m>
                <a:endParaRPr lang="tr-TR" sz="1300" dirty="0">
                  <a:latin typeface="+mj-lt"/>
                </a:endParaRPr>
              </a:p>
            </p:txBody>
          </p:sp>
        </mc:Choice>
        <mc:Fallback xmlns="">
          <p:sp>
            <p:nvSpPr>
              <p:cNvPr id="79" name="Metin kutusu 78"/>
              <p:cNvSpPr txBox="1">
                <a:spLocks noRot="1" noChangeAspect="1" noMove="1" noResize="1" noEditPoints="1" noAdjustHandles="1" noChangeArrowheads="1" noChangeShapeType="1" noTextEdit="1"/>
              </p:cNvSpPr>
              <p:nvPr/>
            </p:nvSpPr>
            <p:spPr>
              <a:xfrm>
                <a:off x="3004010" y="3960548"/>
                <a:ext cx="352982" cy="467436"/>
              </a:xfrm>
              <a:prstGeom prst="rect">
                <a:avLst/>
              </a:prstGeom>
              <a:blipFill rotWithShape="1">
                <a:blip r:embed="rId7"/>
                <a:stretch>
                  <a:fillRect b="-2632"/>
                </a:stretch>
              </a:blipFill>
            </p:spPr>
            <p:txBody>
              <a:bodyPr/>
              <a:lstStyle/>
              <a:p>
                <a:r>
                  <a:rPr lang="tr-TR">
                    <a:noFill/>
                  </a:rPr>
                  <a:t> </a:t>
                </a:r>
              </a:p>
            </p:txBody>
          </p:sp>
        </mc:Fallback>
      </mc:AlternateContent>
      <p:pic>
        <p:nvPicPr>
          <p:cNvPr id="3" name="Resim 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0747" y="5364088"/>
            <a:ext cx="1765524" cy="1287584"/>
          </a:xfrm>
          <a:prstGeom prst="rect">
            <a:avLst/>
          </a:prstGeom>
        </p:spPr>
      </p:pic>
      <p:sp>
        <p:nvSpPr>
          <p:cNvPr id="81" name="Metin kutusu 80"/>
          <p:cNvSpPr txBox="1"/>
          <p:nvPr/>
        </p:nvSpPr>
        <p:spPr>
          <a:xfrm>
            <a:off x="260648" y="5078525"/>
            <a:ext cx="3210768" cy="276999"/>
          </a:xfrm>
          <a:prstGeom prst="rect">
            <a:avLst/>
          </a:prstGeom>
          <a:noFill/>
        </p:spPr>
        <p:txBody>
          <a:bodyPr wrap="square" rtlCol="0">
            <a:spAutoFit/>
          </a:bodyPr>
          <a:lstStyle/>
          <a:p>
            <a:r>
              <a:rPr lang="tr-TR" sz="1200" dirty="0" smtClean="0">
                <a:solidFill>
                  <a:schemeClr val="tx1">
                    <a:lumMod val="85000"/>
                    <a:lumOff val="15000"/>
                  </a:schemeClr>
                </a:solidFill>
              </a:rPr>
              <a:t>Aşağıda f(x) fonksiyonu ve d1 doğrusu verilmiştir.</a:t>
            </a:r>
          </a:p>
        </p:txBody>
      </p:sp>
      <p:sp>
        <p:nvSpPr>
          <p:cNvPr id="8" name="Serbest Form 7"/>
          <p:cNvSpPr/>
          <p:nvPr/>
        </p:nvSpPr>
        <p:spPr>
          <a:xfrm>
            <a:off x="620689" y="5364088"/>
            <a:ext cx="787400" cy="1143568"/>
          </a:xfrm>
          <a:custGeom>
            <a:avLst/>
            <a:gdLst>
              <a:gd name="connsiteX0" fmla="*/ 0 w 787400"/>
              <a:gd name="connsiteY0" fmla="*/ 0 h 1143568"/>
              <a:gd name="connsiteX1" fmla="*/ 266700 w 787400"/>
              <a:gd name="connsiteY1" fmla="*/ 1143000 h 1143568"/>
              <a:gd name="connsiteX2" fmla="*/ 787400 w 787400"/>
              <a:gd name="connsiteY2" fmla="*/ 152400 h 1143568"/>
            </a:gdLst>
            <a:ahLst/>
            <a:cxnLst>
              <a:cxn ang="0">
                <a:pos x="connsiteX0" y="connsiteY0"/>
              </a:cxn>
              <a:cxn ang="0">
                <a:pos x="connsiteX1" y="connsiteY1"/>
              </a:cxn>
              <a:cxn ang="0">
                <a:pos x="connsiteX2" y="connsiteY2"/>
              </a:cxn>
            </a:cxnLst>
            <a:rect l="l" t="t" r="r" b="b"/>
            <a:pathLst>
              <a:path w="787400" h="1143568">
                <a:moveTo>
                  <a:pt x="0" y="0"/>
                </a:moveTo>
                <a:cubicBezTo>
                  <a:pt x="67733" y="558800"/>
                  <a:pt x="135467" y="1117600"/>
                  <a:pt x="266700" y="1143000"/>
                </a:cubicBezTo>
                <a:cubicBezTo>
                  <a:pt x="397933" y="1168400"/>
                  <a:pt x="687917" y="334433"/>
                  <a:pt x="787400" y="152400"/>
                </a:cubicBezTo>
              </a:path>
            </a:pathLst>
          </a:cu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4" name="Metin kutusu 83"/>
          <p:cNvSpPr txBox="1"/>
          <p:nvPr/>
        </p:nvSpPr>
        <p:spPr>
          <a:xfrm>
            <a:off x="94257" y="6660237"/>
            <a:ext cx="3155597" cy="1384995"/>
          </a:xfrm>
          <a:prstGeom prst="rect">
            <a:avLst/>
          </a:prstGeom>
          <a:noFill/>
        </p:spPr>
        <p:txBody>
          <a:bodyPr wrap="square" rtlCol="0">
            <a:spAutoFit/>
          </a:bodyPr>
          <a:lstStyle/>
          <a:p>
            <a:r>
              <a:rPr lang="tr-TR" sz="1200" dirty="0" smtClean="0">
                <a:solidFill>
                  <a:schemeClr val="tx1">
                    <a:lumMod val="85000"/>
                    <a:lumOff val="15000"/>
                  </a:schemeClr>
                </a:solidFill>
              </a:rPr>
              <a:t>I. </a:t>
            </a:r>
            <a:r>
              <a:rPr lang="tr-TR" sz="1200" dirty="0">
                <a:solidFill>
                  <a:schemeClr val="tx1">
                    <a:lumMod val="85000"/>
                    <a:lumOff val="15000"/>
                  </a:schemeClr>
                </a:solidFill>
              </a:rPr>
              <a:t> </a:t>
            </a:r>
            <a:r>
              <a:rPr lang="tr-TR" sz="1200" dirty="0" smtClean="0">
                <a:solidFill>
                  <a:schemeClr val="tx1">
                    <a:lumMod val="85000"/>
                    <a:lumOff val="15000"/>
                  </a:schemeClr>
                </a:solidFill>
              </a:rPr>
              <a:t>Doğru ile parabol ortak çözüm yapılabilir.</a:t>
            </a:r>
          </a:p>
          <a:p>
            <a:r>
              <a:rPr lang="tr-TR" sz="1200" dirty="0" smtClean="0">
                <a:solidFill>
                  <a:schemeClr val="tx1">
                    <a:lumMod val="85000"/>
                    <a:lumOff val="15000"/>
                  </a:schemeClr>
                </a:solidFill>
              </a:rPr>
              <a:t>II. Doğru ve parabol 2 noktada kesişmişlerdir.</a:t>
            </a:r>
          </a:p>
          <a:p>
            <a:r>
              <a:rPr lang="tr-TR" sz="1200" dirty="0" smtClean="0">
                <a:solidFill>
                  <a:schemeClr val="tx1">
                    <a:lumMod val="85000"/>
                    <a:lumOff val="15000"/>
                  </a:schemeClr>
                </a:solidFill>
              </a:rPr>
              <a:t>III. Ortak çözüm yapıldığında  </a:t>
            </a:r>
            <a:r>
              <a:rPr lang="el-GR" sz="1200" dirty="0" smtClean="0"/>
              <a:t>Δ</a:t>
            </a:r>
            <a:r>
              <a:rPr lang="tr-TR" sz="1200" dirty="0" smtClean="0"/>
              <a:t> &gt; 0 olur.</a:t>
            </a:r>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IV.  A noktasını sadece doğru denklemi sağlar.</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Veriler yargılardan hangileri yanlıştır?</a:t>
            </a:r>
          </a:p>
          <a:p>
            <a:endParaRPr lang="tr-TR" sz="1200" dirty="0">
              <a:solidFill>
                <a:schemeClr val="tx1">
                  <a:lumMod val="85000"/>
                  <a:lumOff val="15000"/>
                </a:schemeClr>
              </a:solidFill>
            </a:endParaRPr>
          </a:p>
        </p:txBody>
      </p:sp>
      <p:sp>
        <p:nvSpPr>
          <p:cNvPr id="86" name="Metin kutusu 85"/>
          <p:cNvSpPr txBox="1"/>
          <p:nvPr/>
        </p:nvSpPr>
        <p:spPr>
          <a:xfrm>
            <a:off x="116635" y="8056809"/>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Yalnız III                B)  Yalnız IV          C)  I ve IV</a:t>
            </a:r>
          </a:p>
        </p:txBody>
      </p:sp>
      <p:sp>
        <p:nvSpPr>
          <p:cNvPr id="87" name="Metin kutusu 86"/>
          <p:cNvSpPr txBox="1"/>
          <p:nvPr/>
        </p:nvSpPr>
        <p:spPr>
          <a:xfrm>
            <a:off x="273406" y="833856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       D) III ve IV                   E)  II ve III</a:t>
            </a:r>
          </a:p>
        </p:txBody>
      </p:sp>
      <p:sp>
        <p:nvSpPr>
          <p:cNvPr id="88" name="Metin kutusu 87"/>
          <p:cNvSpPr txBox="1"/>
          <p:nvPr/>
        </p:nvSpPr>
        <p:spPr>
          <a:xfrm>
            <a:off x="4557775" y="4443953"/>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6" name="Metin kutusu 95"/>
          <p:cNvSpPr txBox="1"/>
          <p:nvPr/>
        </p:nvSpPr>
        <p:spPr>
          <a:xfrm>
            <a:off x="4869160" y="413995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7" name="Metin kutusu 106"/>
          <p:cNvSpPr txBox="1"/>
          <p:nvPr/>
        </p:nvSpPr>
        <p:spPr>
          <a:xfrm>
            <a:off x="5949280" y="413995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8" name="Metin kutusu 107"/>
          <p:cNvSpPr txBox="1"/>
          <p:nvPr/>
        </p:nvSpPr>
        <p:spPr>
          <a:xfrm>
            <a:off x="5781910" y="4443953"/>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80" name="Metin kutusu 79"/>
          <p:cNvSpPr txBox="1"/>
          <p:nvPr/>
        </p:nvSpPr>
        <p:spPr>
          <a:xfrm>
            <a:off x="260651" y="1981457"/>
            <a:ext cx="3253115"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(x+4)  + 8          B</a:t>
            </a:r>
            <a:r>
              <a:rPr lang="tr-TR" sz="1200" dirty="0">
                <a:solidFill>
                  <a:schemeClr val="tx1">
                    <a:lumMod val="85000"/>
                    <a:lumOff val="15000"/>
                  </a:schemeClr>
                </a:solidFill>
              </a:rPr>
              <a:t>) (</a:t>
            </a:r>
            <a:r>
              <a:rPr lang="tr-TR" sz="1200" dirty="0" smtClean="0">
                <a:solidFill>
                  <a:schemeClr val="tx1">
                    <a:lumMod val="85000"/>
                    <a:lumOff val="15000"/>
                  </a:schemeClr>
                </a:solidFill>
              </a:rPr>
              <a:t>x+4</a:t>
            </a:r>
            <a:r>
              <a:rPr lang="tr-TR" sz="1200" dirty="0">
                <a:solidFill>
                  <a:schemeClr val="tx1">
                    <a:lumMod val="85000"/>
                    <a:lumOff val="15000"/>
                  </a:schemeClr>
                </a:solidFill>
              </a:rPr>
              <a:t>)  + </a:t>
            </a:r>
            <a:r>
              <a:rPr lang="tr-TR" sz="1200" dirty="0" smtClean="0">
                <a:solidFill>
                  <a:schemeClr val="tx1">
                    <a:lumMod val="85000"/>
                    <a:lumOff val="15000"/>
                  </a:schemeClr>
                </a:solidFill>
              </a:rPr>
              <a:t>6            C) (x-2)  </a:t>
            </a:r>
            <a:r>
              <a:rPr lang="tr-TR" sz="1200" dirty="0">
                <a:solidFill>
                  <a:schemeClr val="tx1">
                    <a:lumMod val="85000"/>
                    <a:lumOff val="15000"/>
                  </a:schemeClr>
                </a:solidFill>
              </a:rPr>
              <a:t>+ </a:t>
            </a:r>
            <a:r>
              <a:rPr lang="tr-TR" sz="1200" dirty="0" smtClean="0">
                <a:solidFill>
                  <a:schemeClr val="tx1">
                    <a:lumMod val="85000"/>
                    <a:lumOff val="15000"/>
                  </a:schemeClr>
                </a:solidFill>
              </a:rPr>
              <a:t>2</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a:t>
            </a:r>
            <a:r>
              <a:rPr lang="tr-TR" sz="1200" dirty="0" smtClean="0">
                <a:solidFill>
                  <a:schemeClr val="tx1">
                    <a:lumMod val="85000"/>
                    <a:lumOff val="15000"/>
                  </a:schemeClr>
                </a:solidFill>
              </a:rPr>
              <a:t>x-7)  </a:t>
            </a:r>
            <a:r>
              <a:rPr lang="tr-TR" sz="1200" dirty="0">
                <a:solidFill>
                  <a:schemeClr val="tx1">
                    <a:lumMod val="85000"/>
                    <a:lumOff val="15000"/>
                  </a:schemeClr>
                </a:solidFill>
              </a:rPr>
              <a:t>+ 4</a:t>
            </a:r>
            <a:r>
              <a:rPr lang="tr-TR" sz="1200" dirty="0" smtClean="0">
                <a:solidFill>
                  <a:schemeClr val="tx1">
                    <a:lumMod val="85000"/>
                    <a:lumOff val="15000"/>
                  </a:schemeClr>
                </a:solidFill>
              </a:rPr>
              <a:t>               E) </a:t>
            </a:r>
            <a:r>
              <a:rPr lang="tr-TR" sz="1200" dirty="0">
                <a:solidFill>
                  <a:schemeClr val="tx1">
                    <a:lumMod val="85000"/>
                    <a:lumOff val="15000"/>
                  </a:schemeClr>
                </a:solidFill>
              </a:rPr>
              <a:t>(</a:t>
            </a:r>
            <a:r>
              <a:rPr lang="tr-TR" sz="1200" dirty="0" smtClean="0">
                <a:solidFill>
                  <a:schemeClr val="tx1">
                    <a:lumMod val="85000"/>
                    <a:lumOff val="15000"/>
                  </a:schemeClr>
                </a:solidFill>
              </a:rPr>
              <a:t>x-5)  </a:t>
            </a:r>
            <a:r>
              <a:rPr lang="tr-TR" sz="1200" dirty="0">
                <a:solidFill>
                  <a:schemeClr val="tx1">
                    <a:lumMod val="85000"/>
                    <a:lumOff val="15000"/>
                  </a:schemeClr>
                </a:solidFill>
              </a:rPr>
              <a:t>+ 1</a:t>
            </a:r>
            <a:r>
              <a:rPr lang="tr-TR" sz="1200" dirty="0" smtClean="0">
                <a:solidFill>
                  <a:schemeClr val="tx1">
                    <a:lumMod val="85000"/>
                    <a:lumOff val="15000"/>
                  </a:schemeClr>
                </a:solidFill>
              </a:rPr>
              <a:t> </a:t>
            </a:r>
            <a:endParaRPr lang="tr-TR" sz="1200" dirty="0">
              <a:solidFill>
                <a:schemeClr val="tx1">
                  <a:lumMod val="85000"/>
                  <a:lumOff val="15000"/>
                </a:schemeClr>
              </a:solidFill>
            </a:endParaRPr>
          </a:p>
        </p:txBody>
      </p:sp>
      <p:sp>
        <p:nvSpPr>
          <p:cNvPr id="85" name="Metin kutusu 84"/>
          <p:cNvSpPr txBox="1"/>
          <p:nvPr/>
        </p:nvSpPr>
        <p:spPr>
          <a:xfrm>
            <a:off x="813358" y="192367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89" name="Metin kutusu 88"/>
          <p:cNvSpPr txBox="1"/>
          <p:nvPr/>
        </p:nvSpPr>
        <p:spPr>
          <a:xfrm>
            <a:off x="1893478" y="192367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0" name="Metin kutusu 89"/>
          <p:cNvSpPr txBox="1"/>
          <p:nvPr/>
        </p:nvSpPr>
        <p:spPr>
          <a:xfrm>
            <a:off x="3021280" y="192367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2" name="Metin kutusu 91"/>
          <p:cNvSpPr txBox="1"/>
          <p:nvPr/>
        </p:nvSpPr>
        <p:spPr>
          <a:xfrm>
            <a:off x="1268761" y="2267749"/>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3" name="Metin kutusu 92"/>
          <p:cNvSpPr txBox="1"/>
          <p:nvPr/>
        </p:nvSpPr>
        <p:spPr>
          <a:xfrm>
            <a:off x="2492896" y="228050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cxnSp>
        <p:nvCxnSpPr>
          <p:cNvPr id="7" name="Düz Ok Bağlayıcısı 6"/>
          <p:cNvCxnSpPr/>
          <p:nvPr/>
        </p:nvCxnSpPr>
        <p:spPr>
          <a:xfrm>
            <a:off x="387548" y="5436096"/>
            <a:ext cx="1463655" cy="107156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94" name="Metin kutusu 93"/>
          <p:cNvSpPr txBox="1"/>
          <p:nvPr/>
        </p:nvSpPr>
        <p:spPr>
          <a:xfrm>
            <a:off x="1425534" y="5402389"/>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f(x)</a:t>
            </a:r>
            <a:endParaRPr lang="tr-TR" sz="1200" dirty="0">
              <a:solidFill>
                <a:schemeClr val="tx1">
                  <a:lumMod val="85000"/>
                  <a:lumOff val="15000"/>
                </a:schemeClr>
              </a:solidFill>
            </a:endParaRPr>
          </a:p>
        </p:txBody>
      </p:sp>
      <p:sp>
        <p:nvSpPr>
          <p:cNvPr id="95" name="Metin kutusu 94"/>
          <p:cNvSpPr txBox="1"/>
          <p:nvPr/>
        </p:nvSpPr>
        <p:spPr>
          <a:xfrm>
            <a:off x="1785574" y="6302681"/>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d1</a:t>
            </a:r>
            <a:endParaRPr lang="tr-TR" sz="1200" dirty="0">
              <a:solidFill>
                <a:schemeClr val="tx1">
                  <a:lumMod val="85000"/>
                  <a:lumOff val="15000"/>
                </a:schemeClr>
              </a:solidFill>
            </a:endParaRPr>
          </a:p>
        </p:txBody>
      </p:sp>
      <p:sp>
        <p:nvSpPr>
          <p:cNvPr id="110" name="Metin kutusu 109"/>
          <p:cNvSpPr txBox="1"/>
          <p:nvPr/>
        </p:nvSpPr>
        <p:spPr>
          <a:xfrm>
            <a:off x="404667" y="5497601"/>
            <a:ext cx="500758" cy="276999"/>
          </a:xfrm>
          <a:prstGeom prst="rect">
            <a:avLst/>
          </a:prstGeom>
          <a:noFill/>
        </p:spPr>
        <p:txBody>
          <a:bodyPr wrap="square" rtlCol="0">
            <a:spAutoFit/>
          </a:bodyPr>
          <a:lstStyle/>
          <a:p>
            <a:r>
              <a:rPr lang="tr-TR" sz="1200" dirty="0" smtClean="0">
                <a:solidFill>
                  <a:schemeClr val="tx1">
                    <a:lumMod val="85000"/>
                    <a:lumOff val="15000"/>
                  </a:schemeClr>
                </a:solidFill>
              </a:rPr>
              <a:t>A</a:t>
            </a:r>
          </a:p>
        </p:txBody>
      </p:sp>
      <mc:AlternateContent xmlns:mc="http://schemas.openxmlformats.org/markup-compatibility/2006" xmlns:a14="http://schemas.microsoft.com/office/drawing/2010/main">
        <mc:Choice Requires="a14">
          <p:sp>
            <p:nvSpPr>
              <p:cNvPr id="118" name="Metin kutusu 117"/>
              <p:cNvSpPr txBox="1"/>
              <p:nvPr/>
            </p:nvSpPr>
            <p:spPr>
              <a:xfrm>
                <a:off x="1052736" y="4499996"/>
                <a:ext cx="352982" cy="468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8</m:t>
                          </m:r>
                        </m:num>
                        <m:den>
                          <m:r>
                            <a:rPr lang="tr-TR" sz="1300" b="0" i="1" smtClean="0">
                              <a:latin typeface="Cambria Math"/>
                            </a:rPr>
                            <m:t>3</m:t>
                          </m:r>
                        </m:den>
                      </m:f>
                    </m:oMath>
                  </m:oMathPara>
                </a14:m>
                <a:endParaRPr lang="tr-TR" sz="1300" dirty="0">
                  <a:latin typeface="+mj-lt"/>
                </a:endParaRPr>
              </a:p>
            </p:txBody>
          </p:sp>
        </mc:Choice>
        <mc:Fallback xmlns="">
          <p:sp>
            <p:nvSpPr>
              <p:cNvPr id="118" name="Metin kutusu 117"/>
              <p:cNvSpPr txBox="1">
                <a:spLocks noRot="1" noChangeAspect="1" noMove="1" noResize="1" noEditPoints="1" noAdjustHandles="1" noChangeArrowheads="1" noChangeShapeType="1" noTextEdit="1"/>
              </p:cNvSpPr>
              <p:nvPr/>
            </p:nvSpPr>
            <p:spPr>
              <a:xfrm>
                <a:off x="1052736" y="4499992"/>
                <a:ext cx="352982" cy="468205"/>
              </a:xfrm>
              <a:prstGeom prst="rect">
                <a:avLst/>
              </a:prstGeom>
              <a:blipFill rotWithShape="1">
                <a:blip r:embed="rId10"/>
                <a:stretch>
                  <a:fillRect b="-129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0" name="Metin kutusu 119"/>
              <p:cNvSpPr txBox="1"/>
              <p:nvPr/>
            </p:nvSpPr>
            <p:spPr>
              <a:xfrm>
                <a:off x="2427948" y="4499992"/>
                <a:ext cx="352982" cy="46750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4</m:t>
                          </m:r>
                        </m:num>
                        <m:den>
                          <m:r>
                            <a:rPr lang="tr-TR" sz="1300" b="0" i="1" smtClean="0">
                              <a:latin typeface="Cambria Math"/>
                            </a:rPr>
                            <m:t>3</m:t>
                          </m:r>
                        </m:den>
                      </m:f>
                    </m:oMath>
                  </m:oMathPara>
                </a14:m>
                <a:endParaRPr lang="tr-TR" sz="1300" dirty="0">
                  <a:latin typeface="+mj-lt"/>
                </a:endParaRPr>
              </a:p>
            </p:txBody>
          </p:sp>
        </mc:Choice>
        <mc:Fallback xmlns="">
          <p:sp>
            <p:nvSpPr>
              <p:cNvPr id="120" name="Metin kutusu 119"/>
              <p:cNvSpPr txBox="1">
                <a:spLocks noRot="1" noChangeAspect="1" noMove="1" noResize="1" noEditPoints="1" noAdjustHandles="1" noChangeArrowheads="1" noChangeShapeType="1" noTextEdit="1"/>
              </p:cNvSpPr>
              <p:nvPr/>
            </p:nvSpPr>
            <p:spPr>
              <a:xfrm>
                <a:off x="2427947" y="4499992"/>
                <a:ext cx="352981" cy="467500"/>
              </a:xfrm>
              <a:prstGeom prst="rect">
                <a:avLst/>
              </a:prstGeom>
              <a:blipFill rotWithShape="1">
                <a:blip r:embed="rId11"/>
                <a:stretch>
                  <a:fillRect b="-1299"/>
                </a:stretch>
              </a:blipFill>
            </p:spPr>
            <p:txBody>
              <a:bodyPr/>
              <a:lstStyle/>
              <a:p>
                <a:r>
                  <a:rPr lang="tr-TR">
                    <a:noFill/>
                  </a:rPr>
                  <a:t> </a:t>
                </a:r>
              </a:p>
            </p:txBody>
          </p:sp>
        </mc:Fallback>
      </mc:AlternateContent>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131" name="Metin kutusu 130"/>
          <p:cNvSpPr txBox="1"/>
          <p:nvPr/>
        </p:nvSpPr>
        <p:spPr>
          <a:xfrm>
            <a:off x="3851899" y="5580118"/>
            <a:ext cx="3253115" cy="646331"/>
          </a:xfrm>
          <a:prstGeom prst="rect">
            <a:avLst/>
          </a:prstGeom>
          <a:noFill/>
        </p:spPr>
        <p:txBody>
          <a:bodyPr wrap="square" rtlCol="0">
            <a:spAutoFit/>
          </a:bodyPr>
          <a:lstStyle/>
          <a:p>
            <a:r>
              <a:rPr lang="tr-TR" sz="1200" dirty="0" smtClean="0">
                <a:solidFill>
                  <a:schemeClr val="tx1">
                    <a:lumMod val="85000"/>
                    <a:lumOff val="15000"/>
                  </a:schemeClr>
                </a:solidFill>
              </a:rPr>
              <a:t>x   + </a:t>
            </a:r>
            <a:r>
              <a:rPr lang="tr-TR" sz="1200" dirty="0">
                <a:solidFill>
                  <a:schemeClr val="tx1">
                    <a:lumMod val="85000"/>
                    <a:lumOff val="15000"/>
                  </a:schemeClr>
                </a:solidFill>
              </a:rPr>
              <a:t>2</a:t>
            </a:r>
            <a:r>
              <a:rPr lang="tr-TR" sz="1200" dirty="0" smtClean="0">
                <a:solidFill>
                  <a:schemeClr val="tx1">
                    <a:lumMod val="85000"/>
                    <a:lumOff val="15000"/>
                  </a:schemeClr>
                </a:solidFill>
              </a:rPr>
              <a:t>x + m </a:t>
            </a:r>
            <a:r>
              <a:rPr lang="tr-TR" sz="1200" dirty="0">
                <a:solidFill>
                  <a:schemeClr val="tx1">
                    <a:lumMod val="85000"/>
                    <a:lumOff val="15000"/>
                  </a:schemeClr>
                </a:solidFill>
              </a:rPr>
              <a:t>parabolü ile </a:t>
            </a:r>
            <a:r>
              <a:rPr lang="tr-TR" sz="1200" dirty="0" smtClean="0">
                <a:solidFill>
                  <a:schemeClr val="tx1">
                    <a:lumMod val="85000"/>
                    <a:lumOff val="15000"/>
                  </a:schemeClr>
                </a:solidFill>
              </a:rPr>
              <a:t> </a:t>
            </a:r>
            <a:r>
              <a:rPr lang="tr-TR" sz="1200" dirty="0">
                <a:solidFill>
                  <a:schemeClr val="tx1">
                    <a:lumMod val="85000"/>
                    <a:lumOff val="15000"/>
                  </a:schemeClr>
                </a:solidFill>
              </a:rPr>
              <a:t>mx+2 </a:t>
            </a:r>
            <a:r>
              <a:rPr lang="tr-TR" sz="1200" dirty="0" smtClean="0">
                <a:solidFill>
                  <a:schemeClr val="tx1">
                    <a:lumMod val="85000"/>
                    <a:lumOff val="15000"/>
                  </a:schemeClr>
                </a:solidFill>
              </a:rPr>
              <a:t> doğrusu</a:t>
            </a:r>
          </a:p>
          <a:p>
            <a:r>
              <a:rPr lang="tr-TR" sz="1200" dirty="0" smtClean="0">
                <a:solidFill>
                  <a:schemeClr val="tx1">
                    <a:lumMod val="85000"/>
                    <a:lumOff val="15000"/>
                  </a:schemeClr>
                </a:solidFill>
              </a:rPr>
              <a:t>teğettir. </a:t>
            </a:r>
            <a:r>
              <a:rPr lang="tr-TR" sz="1200" b="1" dirty="0" smtClean="0">
                <a:solidFill>
                  <a:schemeClr val="tx1">
                    <a:lumMod val="85000"/>
                    <a:lumOff val="15000"/>
                  </a:schemeClr>
                </a:solidFill>
              </a:rPr>
              <a:t>Buna göre  m`nin en büyük tam sayı değeri</a:t>
            </a:r>
            <a:r>
              <a:rPr lang="tr-TR" sz="1200" b="1" dirty="0">
                <a:solidFill>
                  <a:schemeClr val="tx1">
                    <a:lumMod val="85000"/>
                    <a:lumOff val="15000"/>
                  </a:schemeClr>
                </a:solidFill>
              </a:rPr>
              <a:t> </a:t>
            </a:r>
            <a:r>
              <a:rPr lang="tr-TR" sz="1200" b="1" dirty="0" smtClean="0">
                <a:solidFill>
                  <a:schemeClr val="tx1">
                    <a:lumMod val="85000"/>
                    <a:lumOff val="15000"/>
                  </a:schemeClr>
                </a:solidFill>
              </a:rPr>
              <a:t>nedir? </a:t>
            </a:r>
          </a:p>
        </p:txBody>
      </p:sp>
      <p:sp>
        <p:nvSpPr>
          <p:cNvPr id="132" name="Metin kutusu 131"/>
          <p:cNvSpPr txBox="1"/>
          <p:nvPr/>
        </p:nvSpPr>
        <p:spPr>
          <a:xfrm>
            <a:off x="3933058" y="5580117"/>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33" name="Metin kutusu 132"/>
          <p:cNvSpPr txBox="1"/>
          <p:nvPr/>
        </p:nvSpPr>
        <p:spPr>
          <a:xfrm>
            <a:off x="3681030" y="6239221"/>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2                          B)  6                 C) 12</a:t>
            </a:r>
          </a:p>
        </p:txBody>
      </p:sp>
      <p:sp>
        <p:nvSpPr>
          <p:cNvPr id="134" name="Metin kutusu 133"/>
          <p:cNvSpPr txBox="1"/>
          <p:nvPr/>
        </p:nvSpPr>
        <p:spPr>
          <a:xfrm>
            <a:off x="4149080" y="6527253"/>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18                        E) 14</a:t>
            </a:r>
          </a:p>
        </p:txBody>
      </p:sp>
      <p:sp>
        <p:nvSpPr>
          <p:cNvPr id="76" name="Metin kutusu 75"/>
          <p:cNvSpPr txBox="1"/>
          <p:nvPr/>
        </p:nvSpPr>
        <p:spPr>
          <a:xfrm>
            <a:off x="2541550" y="357986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71" name="Dikdörtgen 70"/>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2" name="Metin kutusu 71"/>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 B</a:t>
            </a:r>
            <a:endParaRPr lang="tr-TR" sz="1000" dirty="0">
              <a:solidFill>
                <a:schemeClr val="tx1">
                  <a:lumMod val="85000"/>
                  <a:lumOff val="15000"/>
                </a:schemeClr>
              </a:solidFill>
            </a:endParaRPr>
          </a:p>
        </p:txBody>
      </p:sp>
      <p:sp>
        <p:nvSpPr>
          <p:cNvPr id="82" name="Metin kutusu 81"/>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a:t>
            </a:r>
            <a:endParaRPr lang="tr-TR" sz="1000" dirty="0">
              <a:solidFill>
                <a:schemeClr val="tx1">
                  <a:lumMod val="85000"/>
                  <a:lumOff val="15000"/>
                </a:schemeClr>
              </a:solidFill>
            </a:endParaRPr>
          </a:p>
        </p:txBody>
      </p:sp>
      <p:sp>
        <p:nvSpPr>
          <p:cNvPr id="83" name="Metin kutusu 82"/>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B</a:t>
            </a:r>
            <a:endParaRPr lang="tr-TR" sz="1000" dirty="0">
              <a:solidFill>
                <a:schemeClr val="tx1">
                  <a:lumMod val="85000"/>
                  <a:lumOff val="15000"/>
                </a:schemeClr>
              </a:solidFill>
            </a:endParaRPr>
          </a:p>
        </p:txBody>
      </p:sp>
      <p:sp>
        <p:nvSpPr>
          <p:cNvPr id="97" name="Metin kutusu 96"/>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C</a:t>
            </a:r>
            <a:endParaRPr lang="tr-TR" sz="1000" dirty="0">
              <a:solidFill>
                <a:schemeClr val="tx1">
                  <a:lumMod val="85000"/>
                  <a:lumOff val="15000"/>
                </a:schemeClr>
              </a:solidFill>
            </a:endParaRPr>
          </a:p>
        </p:txBody>
      </p:sp>
      <p:sp>
        <p:nvSpPr>
          <p:cNvPr id="98" name="Metin kutusu 97"/>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5. C</a:t>
            </a:r>
            <a:endParaRPr lang="tr-TR" sz="1000" dirty="0">
              <a:solidFill>
                <a:schemeClr val="tx1">
                  <a:lumMod val="85000"/>
                  <a:lumOff val="15000"/>
                </a:schemeClr>
              </a:solidFill>
            </a:endParaRPr>
          </a:p>
        </p:txBody>
      </p:sp>
      <p:sp>
        <p:nvSpPr>
          <p:cNvPr id="99" name="Metin kutusu 98"/>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6. B</a:t>
            </a:r>
            <a:endParaRPr lang="tr-TR" sz="1000" dirty="0">
              <a:solidFill>
                <a:schemeClr val="tx1">
                  <a:lumMod val="85000"/>
                  <a:lumOff val="15000"/>
                </a:schemeClr>
              </a:solidFill>
            </a:endParaRPr>
          </a:p>
        </p:txBody>
      </p:sp>
      <p:cxnSp>
        <p:nvCxnSpPr>
          <p:cNvPr id="135" name="Düz Bağlayıcı 134"/>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6" name="Düz Bağlayıcı 135"/>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7" name="Düz Bağlayıcı 136"/>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8" name="Düz Bağlayıcı 137"/>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39" name="Düz Bağlayıcı 138"/>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40" name="Resim 13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pic>
        <p:nvPicPr>
          <p:cNvPr id="1026" name="Picture 2"/>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60770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noProof="1" smtClean="0">
                <a:solidFill>
                  <a:srgbClr val="C00000"/>
                </a:solidFill>
                <a:latin typeface="Arial Narrow" panose="020B0606020202030204" pitchFamily="34" charset="0"/>
              </a:rPr>
              <a:t>7.</a:t>
            </a:r>
            <a:endParaRPr lang="tr-TR" sz="1400" b="1" noProof="1">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noProof="1">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89850" cy="307777"/>
          </a:xfrm>
          <a:prstGeom prst="rect">
            <a:avLst/>
          </a:prstGeom>
        </p:spPr>
        <p:txBody>
          <a:bodyPr wrap="none">
            <a:spAutoFit/>
          </a:bodyPr>
          <a:lstStyle/>
          <a:p>
            <a:r>
              <a:rPr lang="tr-TR" sz="1400" b="1" noProof="1" smtClean="0">
                <a:solidFill>
                  <a:srgbClr val="C00000"/>
                </a:solidFill>
                <a:latin typeface="Arial Narrow" panose="020B0606020202030204" pitchFamily="34" charset="0"/>
              </a:rPr>
              <a:t>10.</a:t>
            </a:r>
            <a:endParaRPr lang="tr-TR" sz="1400" b="1" noProof="1">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noProof="1" smtClean="0">
                <a:solidFill>
                  <a:schemeClr val="bg1"/>
                </a:solidFill>
              </a:rPr>
              <a:t>+</a:t>
            </a:r>
            <a:endParaRPr lang="tr-TR" sz="1200" noProof="1">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38"/>
            <a:ext cx="3155597" cy="646331"/>
          </a:xfrm>
          <a:prstGeom prst="rect">
            <a:avLst/>
          </a:prstGeom>
          <a:noFill/>
        </p:spPr>
        <p:txBody>
          <a:bodyPr wrap="square" rtlCol="0">
            <a:spAutoFit/>
          </a:bodyPr>
          <a:lstStyle/>
          <a:p>
            <a:r>
              <a:rPr lang="tr-TR" sz="1200" noProof="1" smtClean="0">
                <a:solidFill>
                  <a:schemeClr val="tx1">
                    <a:lumMod val="85000"/>
                    <a:lumOff val="15000"/>
                  </a:schemeClr>
                </a:solidFill>
              </a:rPr>
              <a:t>h(x) =  2x   + ax  + 4 parabolünün x+2 doğrusu</a:t>
            </a:r>
          </a:p>
          <a:p>
            <a:r>
              <a:rPr lang="tr-TR" sz="1200" noProof="1" smtClean="0">
                <a:solidFill>
                  <a:schemeClr val="tx1">
                    <a:lumMod val="85000"/>
                    <a:lumOff val="15000"/>
                  </a:schemeClr>
                </a:solidFill>
              </a:rPr>
              <a:t>İle  kesişmemektedir. </a:t>
            </a:r>
            <a:r>
              <a:rPr lang="tr-TR" sz="1200" b="1" noProof="1" smtClean="0">
                <a:solidFill>
                  <a:schemeClr val="tx1">
                    <a:lumMod val="85000"/>
                    <a:lumOff val="15000"/>
                  </a:schemeClr>
                </a:solidFill>
              </a:rPr>
              <a:t>Buna göre  a`nın alabileceği en büyük tam sayı nedir ?</a:t>
            </a:r>
            <a:endParaRPr lang="tr-TR" sz="1200" b="1" noProof="1">
              <a:solidFill>
                <a:schemeClr val="tx1">
                  <a:lumMod val="85000"/>
                  <a:lumOff val="15000"/>
                </a:schemeClr>
              </a:solidFill>
            </a:endParaRPr>
          </a:p>
        </p:txBody>
      </p:sp>
      <p:sp>
        <p:nvSpPr>
          <p:cNvPr id="117" name="Metin kutusu 116"/>
          <p:cNvSpPr txBox="1"/>
          <p:nvPr/>
        </p:nvSpPr>
        <p:spPr>
          <a:xfrm>
            <a:off x="53885" y="2843812"/>
            <a:ext cx="423514" cy="307777"/>
          </a:xfrm>
          <a:prstGeom prst="rect">
            <a:avLst/>
          </a:prstGeom>
          <a:noFill/>
        </p:spPr>
        <p:txBody>
          <a:bodyPr wrap="none" rtlCol="0">
            <a:spAutoFit/>
          </a:bodyPr>
          <a:lstStyle/>
          <a:p>
            <a:r>
              <a:rPr lang="tr-TR" sz="1400" b="1" noProof="1" smtClean="0">
                <a:solidFill>
                  <a:srgbClr val="C00000"/>
                </a:solidFill>
                <a:latin typeface="Arial Narrow" panose="020B0606020202030204" pitchFamily="34" charset="0"/>
              </a:rPr>
              <a:t>8**.</a:t>
            </a:r>
            <a:endParaRPr lang="tr-TR" sz="1400" b="1" noProof="1">
              <a:solidFill>
                <a:srgbClr val="C00000"/>
              </a:solidFill>
              <a:latin typeface="Arial Narrow" panose="020B0606020202030204" pitchFamily="34" charset="0"/>
            </a:endParaRPr>
          </a:p>
        </p:txBody>
      </p:sp>
      <p:sp>
        <p:nvSpPr>
          <p:cNvPr id="122" name="Dikdörtgen 121"/>
          <p:cNvSpPr/>
          <p:nvPr/>
        </p:nvSpPr>
        <p:spPr>
          <a:xfrm>
            <a:off x="3451432" y="3491884"/>
            <a:ext cx="381771" cy="307777"/>
          </a:xfrm>
          <a:prstGeom prst="rect">
            <a:avLst/>
          </a:prstGeom>
        </p:spPr>
        <p:txBody>
          <a:bodyPr wrap="none">
            <a:spAutoFit/>
          </a:bodyPr>
          <a:lstStyle/>
          <a:p>
            <a:r>
              <a:rPr lang="tr-TR" sz="1400" b="1" noProof="1" smtClean="0">
                <a:solidFill>
                  <a:srgbClr val="C00000"/>
                </a:solidFill>
                <a:latin typeface="Arial Narrow" panose="020B0606020202030204" pitchFamily="34" charset="0"/>
              </a:rPr>
              <a:t>11.</a:t>
            </a:r>
            <a:endParaRPr lang="tr-TR" sz="1400" b="1" noProof="1">
              <a:solidFill>
                <a:srgbClr val="C00000"/>
              </a:solidFill>
              <a:latin typeface="Arial Narrow" panose="020B0606020202030204" pitchFamily="34" charset="0"/>
            </a:endParaRP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3</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noProof="1" smtClean="0">
                <a:solidFill>
                  <a:srgbClr val="00B050"/>
                </a:solidFill>
              </a:rPr>
              <a:t>Ahmet Çelen</a:t>
            </a:r>
            <a:endParaRPr lang="tr-TR" sz="1500" noProof="1">
              <a:solidFill>
                <a:srgbClr val="00B050"/>
              </a:solidFill>
            </a:endParaRPr>
          </a:p>
        </p:txBody>
      </p:sp>
      <p:sp>
        <p:nvSpPr>
          <p:cNvPr id="57" name="Metin kutusu 56"/>
          <p:cNvSpPr txBox="1"/>
          <p:nvPr/>
        </p:nvSpPr>
        <p:spPr>
          <a:xfrm>
            <a:off x="326714" y="604014"/>
            <a:ext cx="3155597" cy="1015663"/>
          </a:xfrm>
          <a:prstGeom prst="rect">
            <a:avLst/>
          </a:prstGeom>
          <a:noFill/>
        </p:spPr>
        <p:txBody>
          <a:bodyPr wrap="square" rtlCol="0">
            <a:spAutoFit/>
          </a:bodyPr>
          <a:lstStyle/>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h(x) =  2x   + 8x + a+4</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Fonksiyonun </a:t>
            </a:r>
            <a:r>
              <a:rPr lang="tr-TR" sz="1200" b="1" noProof="1" smtClean="0">
                <a:solidFill>
                  <a:schemeClr val="tx1">
                    <a:lumMod val="85000"/>
                    <a:lumOff val="15000"/>
                  </a:schemeClr>
                </a:solidFill>
              </a:rPr>
              <a:t>en küçük değeri 6</a:t>
            </a:r>
            <a:r>
              <a:rPr lang="tr-TR" sz="1200" noProof="1" smtClean="0">
                <a:solidFill>
                  <a:schemeClr val="tx1">
                    <a:lumMod val="85000"/>
                    <a:lumOff val="15000"/>
                  </a:schemeClr>
                </a:solidFill>
              </a:rPr>
              <a:t> olduğuna göre</a:t>
            </a:r>
          </a:p>
          <a:p>
            <a:r>
              <a:rPr lang="tr-TR" sz="1200" noProof="1" smtClean="0">
                <a:solidFill>
                  <a:schemeClr val="tx1">
                    <a:lumMod val="85000"/>
                    <a:lumOff val="15000"/>
                  </a:schemeClr>
                </a:solidFill>
              </a:rPr>
              <a:t>a kaçtır?</a:t>
            </a:r>
          </a:p>
        </p:txBody>
      </p:sp>
      <p:sp>
        <p:nvSpPr>
          <p:cNvPr id="66" name="Metin kutusu 65"/>
          <p:cNvSpPr txBox="1"/>
          <p:nvPr/>
        </p:nvSpPr>
        <p:spPr>
          <a:xfrm>
            <a:off x="3789040" y="3525569"/>
            <a:ext cx="3155597" cy="461665"/>
          </a:xfrm>
          <a:prstGeom prst="rect">
            <a:avLst/>
          </a:prstGeom>
          <a:noFill/>
        </p:spPr>
        <p:txBody>
          <a:bodyPr wrap="square" rtlCol="0">
            <a:spAutoFit/>
          </a:bodyPr>
          <a:lstStyle/>
          <a:p>
            <a:r>
              <a:rPr lang="tr-TR" sz="1200" dirty="0" smtClean="0">
                <a:solidFill>
                  <a:schemeClr val="tx1">
                    <a:lumMod val="85000"/>
                    <a:lumOff val="15000"/>
                  </a:schemeClr>
                </a:solidFill>
              </a:rPr>
              <a:t>Tepe noktası (4,5) olan </a:t>
            </a:r>
            <a:r>
              <a:rPr lang="tr-TR" sz="1200" noProof="1" smtClean="0">
                <a:solidFill>
                  <a:schemeClr val="tx1">
                    <a:lumMod val="85000"/>
                    <a:lumOff val="15000"/>
                  </a:schemeClr>
                </a:solidFill>
              </a:rPr>
              <a:t>baş katsayısı</a:t>
            </a:r>
            <a:r>
              <a:rPr lang="tr-TR" sz="1200" dirty="0" smtClean="0">
                <a:solidFill>
                  <a:schemeClr val="tx1">
                    <a:lumMod val="85000"/>
                    <a:lumOff val="15000"/>
                  </a:schemeClr>
                </a:solidFill>
              </a:rPr>
              <a:t> 4 olan  parabolün </a:t>
            </a:r>
            <a:r>
              <a:rPr lang="tr-TR" sz="1200" b="1" dirty="0" smtClean="0">
                <a:solidFill>
                  <a:schemeClr val="tx1">
                    <a:lumMod val="85000"/>
                    <a:lumOff val="15000"/>
                  </a:schemeClr>
                </a:solidFill>
              </a:rPr>
              <a:t>katsayılar toplamı </a:t>
            </a:r>
            <a:r>
              <a:rPr lang="tr-TR" sz="1200" dirty="0" smtClean="0">
                <a:solidFill>
                  <a:schemeClr val="tx1">
                    <a:lumMod val="85000"/>
                    <a:lumOff val="15000"/>
                  </a:schemeClr>
                </a:solidFill>
              </a:rPr>
              <a:t>kaçtır</a:t>
            </a:r>
            <a:r>
              <a:rPr lang="tr-TR" sz="1200" dirty="0">
                <a:solidFill>
                  <a:schemeClr val="tx1">
                    <a:lumMod val="85000"/>
                    <a:lumOff val="15000"/>
                  </a:schemeClr>
                </a:solidFill>
              </a:rPr>
              <a:t>?</a:t>
            </a:r>
            <a:endParaRPr lang="tr-TR" sz="1200" dirty="0" smtClean="0">
              <a:solidFill>
                <a:schemeClr val="tx1">
                  <a:lumMod val="85000"/>
                  <a:lumOff val="15000"/>
                </a:schemeClr>
              </a:solidFill>
            </a:endParaRPr>
          </a:p>
        </p:txBody>
      </p:sp>
      <p:sp>
        <p:nvSpPr>
          <p:cNvPr id="130" name="Dikdörtgen 129"/>
          <p:cNvSpPr/>
          <p:nvPr/>
        </p:nvSpPr>
        <p:spPr>
          <a:xfrm>
            <a:off x="3895330" y="8820475"/>
            <a:ext cx="2952328" cy="323165"/>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r"/>
            <a:endParaRPr lang="tr-TR" sz="15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a:p>
            <a:endParaRPr lang="tr-TR" sz="1200" noProof="1" smtClean="0">
              <a:solidFill>
                <a:schemeClr val="tx1">
                  <a:lumMod val="85000"/>
                  <a:lumOff val="15000"/>
                </a:schemeClr>
              </a:solidFill>
            </a:endParaRPr>
          </a:p>
        </p:txBody>
      </p:sp>
      <p:sp>
        <p:nvSpPr>
          <p:cNvPr id="78" name="Metin kutusu 77"/>
          <p:cNvSpPr txBox="1"/>
          <p:nvPr/>
        </p:nvSpPr>
        <p:spPr>
          <a:xfrm>
            <a:off x="902124" y="740768"/>
            <a:ext cx="150612" cy="230832"/>
          </a:xfrm>
          <a:prstGeom prst="rect">
            <a:avLst/>
          </a:prstGeom>
          <a:noFill/>
        </p:spPr>
        <p:txBody>
          <a:bodyPr wrap="square" rtlCol="0">
            <a:spAutoFit/>
          </a:bodyPr>
          <a:lstStyle/>
          <a:p>
            <a:r>
              <a:rPr lang="tr-TR" sz="900" noProof="1" smtClean="0">
                <a:solidFill>
                  <a:schemeClr val="tx1">
                    <a:lumMod val="85000"/>
                    <a:lumOff val="15000"/>
                  </a:schemeClr>
                </a:solidFill>
              </a:rPr>
              <a:t>2</a:t>
            </a:r>
            <a:endParaRPr lang="tr-TR" sz="900" noProof="1">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noProof="1" smtClean="0">
                <a:solidFill>
                  <a:srgbClr val="C00000"/>
                </a:solidFill>
                <a:latin typeface="Arial Narrow" panose="020B0606020202030204" pitchFamily="34" charset="0"/>
              </a:rPr>
              <a:t>9.</a:t>
            </a:r>
            <a:endParaRPr lang="tr-TR" sz="1400" b="1" noProof="1">
              <a:solidFill>
                <a:srgbClr val="C00000"/>
              </a:solidFill>
              <a:latin typeface="Arial Narrow" panose="020B0606020202030204" pitchFamily="34" charset="0"/>
            </a:endParaRPr>
          </a:p>
        </p:txBody>
      </p:sp>
      <p:sp>
        <p:nvSpPr>
          <p:cNvPr id="121" name="Dikdörtgen 120"/>
          <p:cNvSpPr/>
          <p:nvPr/>
        </p:nvSpPr>
        <p:spPr>
          <a:xfrm>
            <a:off x="3429000" y="5580116"/>
            <a:ext cx="389850" cy="307777"/>
          </a:xfrm>
          <a:prstGeom prst="rect">
            <a:avLst/>
          </a:prstGeom>
        </p:spPr>
        <p:txBody>
          <a:bodyPr wrap="none">
            <a:spAutoFit/>
          </a:bodyPr>
          <a:lstStyle/>
          <a:p>
            <a:r>
              <a:rPr lang="tr-TR" sz="1400" b="1" noProof="1" smtClean="0">
                <a:solidFill>
                  <a:srgbClr val="C00000"/>
                </a:solidFill>
                <a:latin typeface="Arial Narrow" panose="020B0606020202030204" pitchFamily="34" charset="0"/>
              </a:rPr>
              <a:t>12.</a:t>
            </a:r>
            <a:endParaRPr lang="tr-TR" sz="1400" b="1" noProof="1">
              <a:solidFill>
                <a:srgbClr val="C00000"/>
              </a:solidFill>
              <a:latin typeface="Arial Narrow" panose="020B0606020202030204" pitchFamily="34" charset="0"/>
            </a:endParaRPr>
          </a:p>
        </p:txBody>
      </p:sp>
      <p:sp>
        <p:nvSpPr>
          <p:cNvPr id="73" name="Metin kutusu 72"/>
          <p:cNvSpPr txBox="1"/>
          <p:nvPr/>
        </p:nvSpPr>
        <p:spPr>
          <a:xfrm>
            <a:off x="387549" y="3635899"/>
            <a:ext cx="3016609" cy="830997"/>
          </a:xfrm>
          <a:prstGeom prst="rect">
            <a:avLst/>
          </a:prstGeom>
          <a:noFill/>
        </p:spPr>
        <p:txBody>
          <a:bodyPr wrap="square" rtlCol="0">
            <a:spAutoFit/>
          </a:bodyPr>
          <a:lstStyle/>
          <a:p>
            <a:pPr marL="228600" indent="-228600">
              <a:buAutoNum type="alphaUcParenR"/>
            </a:pPr>
            <a:r>
              <a:rPr lang="tr-TR" sz="1200" noProof="1" smtClean="0">
                <a:solidFill>
                  <a:schemeClr val="tx1">
                    <a:lumMod val="85000"/>
                    <a:lumOff val="15000"/>
                  </a:schemeClr>
                </a:solidFill>
              </a:rPr>
              <a:t>                           B)                                C)</a:t>
            </a:r>
          </a:p>
          <a:p>
            <a:r>
              <a:rPr lang="tr-TR" sz="1200" noProof="1" smtClean="0">
                <a:solidFill>
                  <a:schemeClr val="tx1">
                    <a:lumMod val="85000"/>
                    <a:lumOff val="15000"/>
                  </a:schemeClr>
                </a:solidFill>
              </a:rPr>
              <a:t>            </a:t>
            </a:r>
          </a:p>
          <a:p>
            <a:r>
              <a:rPr lang="tr-TR" sz="1200" noProof="1" smtClean="0">
                <a:solidFill>
                  <a:schemeClr val="tx1">
                    <a:lumMod val="85000"/>
                    <a:lumOff val="15000"/>
                  </a:schemeClr>
                </a:solidFill>
              </a:rPr>
              <a:t>             </a:t>
            </a:r>
          </a:p>
          <a:p>
            <a:r>
              <a:rPr lang="tr-TR" sz="1200" noProof="1" smtClean="0">
                <a:solidFill>
                  <a:schemeClr val="tx1">
                    <a:lumMod val="85000"/>
                    <a:lumOff val="15000"/>
                  </a:schemeClr>
                </a:solidFill>
              </a:rPr>
              <a:t>               D)                                   E) </a:t>
            </a:r>
            <a:endParaRPr lang="tr-TR" sz="1200" noProof="1">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75" name="Metin kutusu 74"/>
              <p:cNvSpPr txBox="1"/>
              <p:nvPr/>
            </p:nvSpPr>
            <p:spPr>
              <a:xfrm>
                <a:off x="548680" y="3635896"/>
                <a:ext cx="441146" cy="2923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sz="1300" b="0" i="1" noProof="1" dirty="0" smtClean="0">
                          <a:latin typeface="Cambria Math"/>
                        </a:rPr>
                        <m:t>−3</m:t>
                      </m:r>
                    </m:oMath>
                  </m:oMathPara>
                </a14:m>
                <a:endParaRPr lang="tr-TR" sz="1300" noProof="1">
                  <a:latin typeface="+mj-lt"/>
                </a:endParaRPr>
              </a:p>
            </p:txBody>
          </p:sp>
        </mc:Choice>
        <mc:Fallback xmlns="">
          <p:sp>
            <p:nvSpPr>
              <p:cNvPr id="75" name="Metin kutusu 74"/>
              <p:cNvSpPr txBox="1">
                <a:spLocks noRot="1" noChangeAspect="1" noMove="1" noResize="1" noEditPoints="1" noAdjustHandles="1" noChangeArrowheads="1" noChangeShapeType="1" noTextEdit="1"/>
              </p:cNvSpPr>
              <p:nvPr/>
            </p:nvSpPr>
            <p:spPr>
              <a:xfrm>
                <a:off x="548680" y="3635896"/>
                <a:ext cx="441146" cy="292388"/>
              </a:xfrm>
              <a:prstGeom prst="rect">
                <a:avLst/>
              </a:prstGeom>
              <a:blipFill rotWithShape="1">
                <a:blip r:embed="rId4"/>
                <a:stretch>
                  <a:fillRect/>
                </a:stretch>
              </a:blipFill>
            </p:spPr>
            <p:txBody>
              <a:bodyPr/>
              <a:lstStyle/>
              <a:p>
                <a:r>
                  <a:rPr lang="tr-TR">
                    <a:noFill/>
                  </a:rPr>
                  <a:t> </a:t>
                </a:r>
              </a:p>
            </p:txBody>
          </p:sp>
        </mc:Fallback>
      </mc:AlternateContent>
      <p:sp>
        <p:nvSpPr>
          <p:cNvPr id="77" name="Metin kutusu 76"/>
          <p:cNvSpPr txBox="1"/>
          <p:nvPr/>
        </p:nvSpPr>
        <p:spPr>
          <a:xfrm>
            <a:off x="1700808" y="3636601"/>
            <a:ext cx="308098" cy="292388"/>
          </a:xfrm>
          <a:prstGeom prst="rect">
            <a:avLst/>
          </a:prstGeom>
          <a:noFill/>
        </p:spPr>
        <p:txBody>
          <a:bodyPr wrap="none" rtlCol="0">
            <a:spAutoFit/>
          </a:bodyPr>
          <a:lstStyle/>
          <a:p>
            <a:r>
              <a:rPr lang="tr-TR" sz="1300" noProof="1" smtClean="0">
                <a:latin typeface="+mj-lt"/>
              </a:rPr>
              <a:t> 4</a:t>
            </a:r>
            <a:endParaRPr lang="tr-TR" sz="1300" noProof="1">
              <a:latin typeface="+mj-lt"/>
            </a:endParaRPr>
          </a:p>
        </p:txBody>
      </p:sp>
      <p:sp>
        <p:nvSpPr>
          <p:cNvPr id="79" name="Metin kutusu 78"/>
          <p:cNvSpPr txBox="1"/>
          <p:nvPr/>
        </p:nvSpPr>
        <p:spPr>
          <a:xfrm>
            <a:off x="2978548" y="3635896"/>
            <a:ext cx="269626" cy="292388"/>
          </a:xfrm>
          <a:prstGeom prst="rect">
            <a:avLst/>
          </a:prstGeom>
          <a:noFill/>
        </p:spPr>
        <p:txBody>
          <a:bodyPr wrap="none" rtlCol="0">
            <a:spAutoFit/>
          </a:bodyPr>
          <a:lstStyle/>
          <a:p>
            <a:r>
              <a:rPr lang="tr-TR" sz="1300" noProof="1" smtClean="0">
                <a:latin typeface="+mj-lt"/>
              </a:rPr>
              <a:t>5</a:t>
            </a:r>
            <a:endParaRPr lang="tr-TR" sz="1300" noProof="1">
              <a:latin typeface="+mj-lt"/>
            </a:endParaRPr>
          </a:p>
        </p:txBody>
      </p:sp>
      <p:pic>
        <p:nvPicPr>
          <p:cNvPr id="3" name="Resim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0747" y="5364088"/>
            <a:ext cx="1765524" cy="1287584"/>
          </a:xfrm>
          <a:prstGeom prst="rect">
            <a:avLst/>
          </a:prstGeom>
        </p:spPr>
      </p:pic>
      <p:sp>
        <p:nvSpPr>
          <p:cNvPr id="81" name="Metin kutusu 80"/>
          <p:cNvSpPr txBox="1"/>
          <p:nvPr/>
        </p:nvSpPr>
        <p:spPr>
          <a:xfrm>
            <a:off x="260648" y="5078525"/>
            <a:ext cx="3210768" cy="276999"/>
          </a:xfrm>
          <a:prstGeom prst="rect">
            <a:avLst/>
          </a:prstGeom>
          <a:noFill/>
        </p:spPr>
        <p:txBody>
          <a:bodyPr wrap="square" rtlCol="0">
            <a:spAutoFit/>
          </a:bodyPr>
          <a:lstStyle/>
          <a:p>
            <a:r>
              <a:rPr lang="tr-TR" sz="1200" noProof="1" smtClean="0">
                <a:solidFill>
                  <a:schemeClr val="tx1">
                    <a:lumMod val="85000"/>
                    <a:lumOff val="15000"/>
                  </a:schemeClr>
                </a:solidFill>
              </a:rPr>
              <a:t>Aşağıda f(x) fonksiyonun grafiği verilmiştir..</a:t>
            </a:r>
          </a:p>
        </p:txBody>
      </p:sp>
      <p:sp>
        <p:nvSpPr>
          <p:cNvPr id="80" name="Metin kutusu 79"/>
          <p:cNvSpPr txBox="1"/>
          <p:nvPr/>
        </p:nvSpPr>
        <p:spPr>
          <a:xfrm>
            <a:off x="260651" y="1619672"/>
            <a:ext cx="3109099" cy="646331"/>
          </a:xfrm>
          <a:prstGeom prst="rect">
            <a:avLst/>
          </a:prstGeom>
          <a:noFill/>
        </p:spPr>
        <p:txBody>
          <a:bodyPr wrap="square" rtlCol="0">
            <a:spAutoFit/>
          </a:bodyPr>
          <a:lstStyle/>
          <a:p>
            <a:pPr marL="228600" indent="-228600">
              <a:buAutoNum type="alphaUcParenR"/>
            </a:pPr>
            <a:r>
              <a:rPr lang="tr-TR" sz="1200" noProof="1" smtClean="0">
                <a:solidFill>
                  <a:schemeClr val="tx1">
                    <a:lumMod val="85000"/>
                    <a:lumOff val="15000"/>
                  </a:schemeClr>
                </a:solidFill>
              </a:rPr>
              <a:t>6                     B) 8                   C) 10 </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                D) 12                     E) 14</a:t>
            </a:r>
            <a:endParaRPr lang="tr-TR" sz="1200" noProof="1">
              <a:solidFill>
                <a:schemeClr val="tx1">
                  <a:lumMod val="85000"/>
                  <a:lumOff val="15000"/>
                </a:schemeClr>
              </a:solidFill>
            </a:endParaRPr>
          </a:p>
        </p:txBody>
      </p:sp>
      <p:sp>
        <p:nvSpPr>
          <p:cNvPr id="94" name="Metin kutusu 93"/>
          <p:cNvSpPr txBox="1"/>
          <p:nvPr/>
        </p:nvSpPr>
        <p:spPr>
          <a:xfrm>
            <a:off x="1833637" y="5492718"/>
            <a:ext cx="3155597" cy="276999"/>
          </a:xfrm>
          <a:prstGeom prst="rect">
            <a:avLst/>
          </a:prstGeom>
          <a:noFill/>
        </p:spPr>
        <p:txBody>
          <a:bodyPr wrap="square" rtlCol="0">
            <a:spAutoFit/>
          </a:bodyPr>
          <a:lstStyle/>
          <a:p>
            <a:r>
              <a:rPr lang="tr-TR" sz="1200" noProof="1" smtClean="0">
                <a:solidFill>
                  <a:schemeClr val="tx1">
                    <a:lumMod val="85000"/>
                    <a:lumOff val="15000"/>
                  </a:schemeClr>
                </a:solidFill>
              </a:rPr>
              <a:t>f(x)</a:t>
            </a:r>
            <a:endParaRPr lang="tr-TR" sz="1200" noProof="1">
              <a:solidFill>
                <a:schemeClr val="tx1">
                  <a:lumMod val="85000"/>
                  <a:lumOff val="15000"/>
                </a:schemeClr>
              </a:solidFill>
            </a:endParaRPr>
          </a:p>
        </p:txBody>
      </p:sp>
      <p:sp>
        <p:nvSpPr>
          <p:cNvPr id="95" name="Metin kutusu 94"/>
          <p:cNvSpPr txBox="1"/>
          <p:nvPr/>
        </p:nvSpPr>
        <p:spPr>
          <a:xfrm>
            <a:off x="129390" y="6643863"/>
            <a:ext cx="3155597" cy="461665"/>
          </a:xfrm>
          <a:prstGeom prst="rect">
            <a:avLst/>
          </a:prstGeom>
          <a:noFill/>
        </p:spPr>
        <p:txBody>
          <a:bodyPr wrap="square" rtlCol="0">
            <a:spAutoFit/>
          </a:bodyPr>
          <a:lstStyle/>
          <a:p>
            <a:r>
              <a:rPr lang="tr-TR" sz="1200" noProof="1" smtClean="0">
                <a:solidFill>
                  <a:schemeClr val="tx1">
                    <a:lumMod val="85000"/>
                    <a:lumOff val="15000"/>
                  </a:schemeClr>
                </a:solidFill>
              </a:rPr>
              <a:t>f(x) fonksiyonun denklemi aşağıdakilerden hangisidir?</a:t>
            </a:r>
            <a:endParaRPr lang="tr-TR" sz="1200" noProof="1">
              <a:solidFill>
                <a:schemeClr val="tx1">
                  <a:lumMod val="85000"/>
                  <a:lumOff val="15000"/>
                </a:schemeClr>
              </a:solidFill>
            </a:endParaRPr>
          </a:p>
        </p:txBody>
      </p:sp>
      <p:sp>
        <p:nvSpPr>
          <p:cNvPr id="118" name="Metin kutusu 117"/>
          <p:cNvSpPr txBox="1"/>
          <p:nvPr/>
        </p:nvSpPr>
        <p:spPr>
          <a:xfrm>
            <a:off x="1052736" y="4176109"/>
            <a:ext cx="393056" cy="292388"/>
          </a:xfrm>
          <a:prstGeom prst="rect">
            <a:avLst/>
          </a:prstGeom>
          <a:noFill/>
        </p:spPr>
        <p:txBody>
          <a:bodyPr wrap="none" rtlCol="0">
            <a:spAutoFit/>
          </a:bodyPr>
          <a:lstStyle/>
          <a:p>
            <a:r>
              <a:rPr lang="tr-TR" sz="1300" noProof="1" smtClean="0">
                <a:latin typeface="+mj-lt"/>
              </a:rPr>
              <a:t> 12</a:t>
            </a:r>
            <a:endParaRPr lang="tr-TR" sz="1300" noProof="1">
              <a:latin typeface="+mj-lt"/>
            </a:endParaRPr>
          </a:p>
        </p:txBody>
      </p:sp>
      <mc:AlternateContent xmlns:mc="http://schemas.openxmlformats.org/markup-compatibility/2006" xmlns:a14="http://schemas.microsoft.com/office/drawing/2010/main">
        <mc:Choice Requires="a14">
          <p:sp>
            <p:nvSpPr>
              <p:cNvPr id="120" name="Metin kutusu 119"/>
              <p:cNvSpPr txBox="1"/>
              <p:nvPr/>
            </p:nvSpPr>
            <p:spPr>
              <a:xfrm>
                <a:off x="2427947" y="4176109"/>
                <a:ext cx="409086" cy="29238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sz="1300" b="0" i="1" noProof="1" dirty="0" smtClean="0">
                          <a:latin typeface="Cambria Math"/>
                        </a:rPr>
                        <m:t>16</m:t>
                      </m:r>
                    </m:oMath>
                  </m:oMathPara>
                </a14:m>
                <a:endParaRPr lang="tr-TR" sz="1300" noProof="1">
                  <a:latin typeface="+mj-lt"/>
                </a:endParaRPr>
              </a:p>
            </p:txBody>
          </p:sp>
        </mc:Choice>
        <mc:Fallback xmlns="">
          <p:sp>
            <p:nvSpPr>
              <p:cNvPr id="120" name="Metin kutusu 119"/>
              <p:cNvSpPr txBox="1">
                <a:spLocks noRot="1" noChangeAspect="1" noMove="1" noResize="1" noEditPoints="1" noAdjustHandles="1" noChangeArrowheads="1" noChangeShapeType="1" noTextEdit="1"/>
              </p:cNvSpPr>
              <p:nvPr/>
            </p:nvSpPr>
            <p:spPr>
              <a:xfrm>
                <a:off x="2427947" y="4176109"/>
                <a:ext cx="409086" cy="292388"/>
              </a:xfrm>
              <a:prstGeom prst="rect">
                <a:avLst/>
              </a:prstGeom>
              <a:blipFill rotWithShape="1">
                <a:blip r:embed="rId6"/>
                <a:stretch>
                  <a:fillRect/>
                </a:stretch>
              </a:blipFill>
            </p:spPr>
            <p:txBody>
              <a:bodyPr/>
              <a:lstStyle/>
              <a:p>
                <a:r>
                  <a:rPr lang="tr-TR">
                    <a:noFill/>
                  </a:rPr>
                  <a:t> </a:t>
                </a:r>
              </a:p>
            </p:txBody>
          </p:sp>
        </mc:Fallback>
      </mc:AlternateContent>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noProof="1" smtClean="0">
              <a:solidFill>
                <a:schemeClr val="tx1">
                  <a:lumMod val="85000"/>
                  <a:lumOff val="15000"/>
                </a:schemeClr>
              </a:solidFill>
            </a:endParaRPr>
          </a:p>
        </p:txBody>
      </p:sp>
      <p:sp>
        <p:nvSpPr>
          <p:cNvPr id="131" name="Metin kutusu 130"/>
          <p:cNvSpPr txBox="1"/>
          <p:nvPr/>
        </p:nvSpPr>
        <p:spPr>
          <a:xfrm>
            <a:off x="3851898" y="5580117"/>
            <a:ext cx="2984728" cy="1384995"/>
          </a:xfrm>
          <a:prstGeom prst="rect">
            <a:avLst/>
          </a:prstGeom>
          <a:noFill/>
        </p:spPr>
        <p:txBody>
          <a:bodyPr wrap="square" rtlCol="0">
            <a:spAutoFit/>
          </a:bodyPr>
          <a:lstStyle/>
          <a:p>
            <a:r>
              <a:rPr lang="tr-TR" sz="1200" noProof="1" smtClean="0">
                <a:solidFill>
                  <a:schemeClr val="tx1">
                    <a:lumMod val="85000"/>
                    <a:lumOff val="15000"/>
                  </a:schemeClr>
                </a:solidFill>
              </a:rPr>
              <a:t>x    - m x + m+1 denkleminin  2 farklı kökü vardır. </a:t>
            </a:r>
            <a:r>
              <a:rPr lang="tr-TR" sz="1200" b="1" noProof="1" smtClean="0">
                <a:solidFill>
                  <a:schemeClr val="tx1">
                    <a:lumMod val="85000"/>
                    <a:lumOff val="15000"/>
                  </a:schemeClr>
                </a:solidFill>
              </a:rPr>
              <a:t>Verilen denklemin kökler toplamı aşağıdaki denklemin bir köküdür. </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x  + 6x + 5</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Buna göre m kaçtır?</a:t>
            </a:r>
          </a:p>
        </p:txBody>
      </p:sp>
      <p:sp>
        <p:nvSpPr>
          <p:cNvPr id="132" name="Metin kutusu 131"/>
          <p:cNvSpPr txBox="1"/>
          <p:nvPr/>
        </p:nvSpPr>
        <p:spPr>
          <a:xfrm>
            <a:off x="3933058" y="5580117"/>
            <a:ext cx="239378" cy="200055"/>
          </a:xfrm>
          <a:prstGeom prst="rect">
            <a:avLst/>
          </a:prstGeom>
          <a:noFill/>
        </p:spPr>
        <p:txBody>
          <a:bodyPr wrap="square" rtlCol="0">
            <a:spAutoFit/>
          </a:bodyPr>
          <a:lstStyle/>
          <a:p>
            <a:r>
              <a:rPr lang="tr-TR" sz="700" noProof="1" smtClean="0">
                <a:solidFill>
                  <a:schemeClr val="tx1">
                    <a:lumMod val="85000"/>
                    <a:lumOff val="15000"/>
                  </a:schemeClr>
                </a:solidFill>
              </a:rPr>
              <a:t>2</a:t>
            </a:r>
            <a:endParaRPr lang="tr-TR" sz="700" noProof="1">
              <a:solidFill>
                <a:schemeClr val="tx1">
                  <a:lumMod val="85000"/>
                  <a:lumOff val="15000"/>
                </a:schemeClr>
              </a:solidFill>
            </a:endParaRPr>
          </a:p>
        </p:txBody>
      </p:sp>
      <p:sp>
        <p:nvSpPr>
          <p:cNvPr id="133" name="Metin kutusu 132"/>
          <p:cNvSpPr txBox="1"/>
          <p:nvPr/>
        </p:nvSpPr>
        <p:spPr>
          <a:xfrm>
            <a:off x="3681030" y="717532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-5                         B)  -</a:t>
            </a:r>
            <a:r>
              <a:rPr lang="tr-TR" sz="1200" dirty="0">
                <a:solidFill>
                  <a:schemeClr val="tx1">
                    <a:lumMod val="85000"/>
                    <a:lumOff val="15000"/>
                  </a:schemeClr>
                </a:solidFill>
              </a:rPr>
              <a:t>1</a:t>
            </a:r>
            <a:r>
              <a:rPr lang="tr-TR" sz="1200" dirty="0" smtClean="0">
                <a:solidFill>
                  <a:schemeClr val="tx1">
                    <a:lumMod val="85000"/>
                    <a:lumOff val="15000"/>
                  </a:schemeClr>
                </a:solidFill>
              </a:rPr>
              <a:t>                C) 0</a:t>
            </a:r>
          </a:p>
        </p:txBody>
      </p:sp>
      <p:sp>
        <p:nvSpPr>
          <p:cNvPr id="134" name="Metin kutusu 133"/>
          <p:cNvSpPr txBox="1"/>
          <p:nvPr/>
        </p:nvSpPr>
        <p:spPr>
          <a:xfrm>
            <a:off x="4149080" y="7535365"/>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- 14                        E)  14 </a:t>
            </a:r>
          </a:p>
        </p:txBody>
      </p:sp>
      <p:sp>
        <p:nvSpPr>
          <p:cNvPr id="6" name="Serbest Form 5"/>
          <p:cNvSpPr/>
          <p:nvPr/>
        </p:nvSpPr>
        <p:spPr>
          <a:xfrm>
            <a:off x="1126612" y="5508979"/>
            <a:ext cx="790223" cy="812800"/>
          </a:xfrm>
          <a:custGeom>
            <a:avLst/>
            <a:gdLst>
              <a:gd name="connsiteX0" fmla="*/ 0 w 790223"/>
              <a:gd name="connsiteY0" fmla="*/ 0 h 812800"/>
              <a:gd name="connsiteX1" fmla="*/ 383823 w 790223"/>
              <a:gd name="connsiteY1" fmla="*/ 812800 h 812800"/>
              <a:gd name="connsiteX2" fmla="*/ 790223 w 790223"/>
              <a:gd name="connsiteY2" fmla="*/ 0 h 812800"/>
            </a:gdLst>
            <a:ahLst/>
            <a:cxnLst>
              <a:cxn ang="0">
                <a:pos x="connsiteX0" y="connsiteY0"/>
              </a:cxn>
              <a:cxn ang="0">
                <a:pos x="connsiteX1" y="connsiteY1"/>
              </a:cxn>
              <a:cxn ang="0">
                <a:pos x="connsiteX2" y="connsiteY2"/>
              </a:cxn>
            </a:cxnLst>
            <a:rect l="l" t="t" r="r" b="b"/>
            <a:pathLst>
              <a:path w="790223" h="812800">
                <a:moveTo>
                  <a:pt x="0" y="0"/>
                </a:moveTo>
                <a:cubicBezTo>
                  <a:pt x="126059" y="406400"/>
                  <a:pt x="252119" y="812800"/>
                  <a:pt x="383823" y="812800"/>
                </a:cubicBezTo>
                <a:cubicBezTo>
                  <a:pt x="515527" y="812800"/>
                  <a:pt x="686742" y="95956"/>
                  <a:pt x="790223"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noProof="1"/>
          </a:p>
        </p:txBody>
      </p:sp>
      <p:sp>
        <p:nvSpPr>
          <p:cNvPr id="76" name="Metin kutusu 75"/>
          <p:cNvSpPr txBox="1"/>
          <p:nvPr/>
        </p:nvSpPr>
        <p:spPr>
          <a:xfrm>
            <a:off x="919323" y="5508107"/>
            <a:ext cx="787866" cy="246221"/>
          </a:xfrm>
          <a:prstGeom prst="rect">
            <a:avLst/>
          </a:prstGeom>
          <a:noFill/>
        </p:spPr>
        <p:txBody>
          <a:bodyPr wrap="square" rtlCol="0">
            <a:spAutoFit/>
          </a:bodyPr>
          <a:lstStyle/>
          <a:p>
            <a:r>
              <a:rPr lang="tr-TR" sz="1000" noProof="1" smtClean="0">
                <a:solidFill>
                  <a:schemeClr val="tx1">
                    <a:lumMod val="85000"/>
                    <a:lumOff val="15000"/>
                  </a:schemeClr>
                </a:solidFill>
              </a:rPr>
              <a:t>10</a:t>
            </a:r>
            <a:endParaRPr lang="tr-TR" sz="1000" noProof="1">
              <a:solidFill>
                <a:schemeClr val="tx1">
                  <a:lumMod val="85000"/>
                  <a:lumOff val="15000"/>
                </a:schemeClr>
              </a:solidFill>
            </a:endParaRPr>
          </a:p>
        </p:txBody>
      </p:sp>
      <p:sp>
        <p:nvSpPr>
          <p:cNvPr id="82" name="Metin kutusu 81"/>
          <p:cNvSpPr txBox="1"/>
          <p:nvPr/>
        </p:nvSpPr>
        <p:spPr>
          <a:xfrm>
            <a:off x="1126612" y="6007880"/>
            <a:ext cx="3253115" cy="246221"/>
          </a:xfrm>
          <a:prstGeom prst="rect">
            <a:avLst/>
          </a:prstGeom>
          <a:noFill/>
        </p:spPr>
        <p:txBody>
          <a:bodyPr wrap="square" rtlCol="0">
            <a:spAutoFit/>
          </a:bodyPr>
          <a:lstStyle/>
          <a:p>
            <a:r>
              <a:rPr lang="tr-TR" sz="1000" noProof="1" smtClean="0">
                <a:solidFill>
                  <a:schemeClr val="tx1">
                    <a:lumMod val="85000"/>
                    <a:lumOff val="15000"/>
                  </a:schemeClr>
                </a:solidFill>
              </a:rPr>
              <a:t>2</a:t>
            </a:r>
            <a:endParaRPr lang="tr-TR" sz="1000" noProof="1">
              <a:solidFill>
                <a:schemeClr val="tx1">
                  <a:lumMod val="85000"/>
                  <a:lumOff val="15000"/>
                </a:schemeClr>
              </a:solidFill>
            </a:endParaRPr>
          </a:p>
        </p:txBody>
      </p:sp>
      <p:sp>
        <p:nvSpPr>
          <p:cNvPr id="83" name="Metin kutusu 82"/>
          <p:cNvSpPr txBox="1"/>
          <p:nvPr/>
        </p:nvSpPr>
        <p:spPr>
          <a:xfrm>
            <a:off x="1632168" y="6007880"/>
            <a:ext cx="3253115" cy="246221"/>
          </a:xfrm>
          <a:prstGeom prst="rect">
            <a:avLst/>
          </a:prstGeom>
          <a:noFill/>
        </p:spPr>
        <p:txBody>
          <a:bodyPr wrap="square" rtlCol="0">
            <a:spAutoFit/>
          </a:bodyPr>
          <a:lstStyle/>
          <a:p>
            <a:r>
              <a:rPr lang="tr-TR" sz="1000" noProof="1" smtClean="0">
                <a:solidFill>
                  <a:schemeClr val="tx1">
                    <a:lumMod val="85000"/>
                    <a:lumOff val="15000"/>
                  </a:schemeClr>
                </a:solidFill>
              </a:rPr>
              <a:t>5</a:t>
            </a:r>
            <a:endParaRPr lang="tr-TR" sz="1000" noProof="1">
              <a:solidFill>
                <a:schemeClr val="tx1">
                  <a:lumMod val="85000"/>
                  <a:lumOff val="15000"/>
                </a:schemeClr>
              </a:solidFill>
            </a:endParaRPr>
          </a:p>
        </p:txBody>
      </p:sp>
      <p:sp>
        <p:nvSpPr>
          <p:cNvPr id="97" name="Metin kutusu 96"/>
          <p:cNvSpPr txBox="1"/>
          <p:nvPr/>
        </p:nvSpPr>
        <p:spPr>
          <a:xfrm>
            <a:off x="116635" y="7175325"/>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x   -7x + 10    B) </a:t>
            </a:r>
            <a:r>
              <a:rPr lang="tr-TR" sz="1200" dirty="0">
                <a:solidFill>
                  <a:schemeClr val="tx1">
                    <a:lumMod val="85000"/>
                    <a:lumOff val="15000"/>
                  </a:schemeClr>
                </a:solidFill>
              </a:rPr>
              <a:t> </a:t>
            </a:r>
            <a:r>
              <a:rPr lang="tr-TR" sz="1200" dirty="0" smtClean="0">
                <a:solidFill>
                  <a:schemeClr val="tx1">
                    <a:lumMod val="85000"/>
                    <a:lumOff val="15000"/>
                  </a:schemeClr>
                </a:solidFill>
              </a:rPr>
              <a:t>x   </a:t>
            </a:r>
            <a:r>
              <a:rPr lang="tr-TR" sz="1200" dirty="0">
                <a:solidFill>
                  <a:schemeClr val="tx1">
                    <a:lumMod val="85000"/>
                    <a:lumOff val="15000"/>
                  </a:schemeClr>
                </a:solidFill>
              </a:rPr>
              <a:t>+ 6x + 12      </a:t>
            </a:r>
            <a:r>
              <a:rPr lang="tr-TR" sz="1200" dirty="0" smtClean="0">
                <a:solidFill>
                  <a:schemeClr val="tx1">
                    <a:lumMod val="85000"/>
                    <a:lumOff val="15000"/>
                  </a:schemeClr>
                </a:solidFill>
              </a:rPr>
              <a:t>C) </a:t>
            </a:r>
            <a:r>
              <a:rPr lang="tr-TR" sz="1200" dirty="0">
                <a:solidFill>
                  <a:schemeClr val="tx1">
                    <a:lumMod val="85000"/>
                    <a:lumOff val="15000"/>
                  </a:schemeClr>
                </a:solidFill>
              </a:rPr>
              <a:t>x   </a:t>
            </a:r>
            <a:r>
              <a:rPr lang="tr-TR" sz="1200" dirty="0" smtClean="0">
                <a:solidFill>
                  <a:schemeClr val="tx1">
                    <a:lumMod val="85000"/>
                    <a:lumOff val="15000"/>
                  </a:schemeClr>
                </a:solidFill>
              </a:rPr>
              <a:t>- 4x +13 </a:t>
            </a:r>
          </a:p>
        </p:txBody>
      </p:sp>
      <p:sp>
        <p:nvSpPr>
          <p:cNvPr id="99" name="Metin kutusu 98"/>
          <p:cNvSpPr txBox="1"/>
          <p:nvPr/>
        </p:nvSpPr>
        <p:spPr>
          <a:xfrm>
            <a:off x="902124" y="2843808"/>
            <a:ext cx="150612" cy="230832"/>
          </a:xfrm>
          <a:prstGeom prst="rect">
            <a:avLst/>
          </a:prstGeom>
          <a:noFill/>
        </p:spPr>
        <p:txBody>
          <a:bodyPr wrap="square" rtlCol="0">
            <a:spAutoFit/>
          </a:bodyPr>
          <a:lstStyle/>
          <a:p>
            <a:r>
              <a:rPr lang="tr-TR" sz="900" noProof="1" smtClean="0">
                <a:solidFill>
                  <a:schemeClr val="tx1">
                    <a:lumMod val="85000"/>
                    <a:lumOff val="15000"/>
                  </a:schemeClr>
                </a:solidFill>
              </a:rPr>
              <a:t>2</a:t>
            </a:r>
            <a:endParaRPr lang="tr-TR" sz="900" noProof="1">
              <a:solidFill>
                <a:schemeClr val="tx1">
                  <a:lumMod val="85000"/>
                  <a:lumOff val="15000"/>
                </a:schemeClr>
              </a:solidFill>
            </a:endParaRPr>
          </a:p>
        </p:txBody>
      </p:sp>
      <p:sp>
        <p:nvSpPr>
          <p:cNvPr id="100" name="Metin kutusu 99"/>
          <p:cNvSpPr txBox="1"/>
          <p:nvPr/>
        </p:nvSpPr>
        <p:spPr>
          <a:xfrm>
            <a:off x="417422" y="7657851"/>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D) x  + 12x + 15              E) </a:t>
            </a:r>
            <a:r>
              <a:rPr lang="tr-TR" sz="1200" dirty="0">
                <a:solidFill>
                  <a:schemeClr val="tx1">
                    <a:lumMod val="85000"/>
                    <a:lumOff val="15000"/>
                  </a:schemeClr>
                </a:solidFill>
              </a:rPr>
              <a:t>x </a:t>
            </a:r>
            <a:r>
              <a:rPr lang="tr-TR" sz="1200" dirty="0" smtClean="0">
                <a:solidFill>
                  <a:schemeClr val="tx1">
                    <a:lumMod val="85000"/>
                    <a:lumOff val="15000"/>
                  </a:schemeClr>
                </a:solidFill>
              </a:rPr>
              <a:t>   + </a:t>
            </a:r>
            <a:r>
              <a:rPr lang="tr-TR" sz="1200" dirty="0">
                <a:solidFill>
                  <a:schemeClr val="tx1">
                    <a:lumMod val="85000"/>
                    <a:lumOff val="15000"/>
                  </a:schemeClr>
                </a:solidFill>
              </a:rPr>
              <a:t>12x + 15</a:t>
            </a:r>
            <a:r>
              <a:rPr lang="tr-TR" sz="1200" dirty="0" smtClean="0">
                <a:solidFill>
                  <a:schemeClr val="tx1">
                    <a:lumMod val="85000"/>
                    <a:lumOff val="15000"/>
                  </a:schemeClr>
                </a:solidFill>
              </a:rPr>
              <a:t> </a:t>
            </a:r>
          </a:p>
        </p:txBody>
      </p:sp>
      <p:sp>
        <p:nvSpPr>
          <p:cNvPr id="101" name="Metin kutusu 100"/>
          <p:cNvSpPr txBox="1"/>
          <p:nvPr/>
        </p:nvSpPr>
        <p:spPr>
          <a:xfrm>
            <a:off x="669343" y="765785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2" name="Metin kutusu 101"/>
          <p:cNvSpPr txBox="1"/>
          <p:nvPr/>
        </p:nvSpPr>
        <p:spPr>
          <a:xfrm>
            <a:off x="2133823" y="7632474"/>
            <a:ext cx="214097"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4" name="Metin kutusu 103"/>
          <p:cNvSpPr txBox="1"/>
          <p:nvPr/>
        </p:nvSpPr>
        <p:spPr>
          <a:xfrm>
            <a:off x="350749" y="7164293"/>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5" name="Metin kutusu 104"/>
          <p:cNvSpPr txBox="1"/>
          <p:nvPr/>
        </p:nvSpPr>
        <p:spPr>
          <a:xfrm>
            <a:off x="2466316" y="7141650"/>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6" name="Metin kutusu 105"/>
          <p:cNvSpPr txBox="1"/>
          <p:nvPr/>
        </p:nvSpPr>
        <p:spPr>
          <a:xfrm>
            <a:off x="1353401" y="7141649"/>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0" name="Dikdörtgen 9"/>
          <p:cNvSpPr/>
          <p:nvPr/>
        </p:nvSpPr>
        <p:spPr>
          <a:xfrm>
            <a:off x="3727440" y="755579"/>
            <a:ext cx="2908168" cy="830997"/>
          </a:xfrm>
          <a:prstGeom prst="rect">
            <a:avLst/>
          </a:prstGeom>
        </p:spPr>
        <p:txBody>
          <a:bodyPr wrap="none">
            <a:spAutoFit/>
          </a:bodyPr>
          <a:lstStyle/>
          <a:p>
            <a:r>
              <a:rPr lang="tr-TR" sz="1200" noProof="1" smtClean="0">
                <a:solidFill>
                  <a:schemeClr val="tx1">
                    <a:lumMod val="85000"/>
                    <a:lumOff val="15000"/>
                  </a:schemeClr>
                </a:solidFill>
              </a:rPr>
              <a:t>x   -9x + 6  denkleminin kökleri a ve b `dir.</a:t>
            </a:r>
          </a:p>
          <a:p>
            <a:r>
              <a:rPr lang="tr-TR" sz="1200" noProof="1" smtClean="0">
                <a:solidFill>
                  <a:schemeClr val="tx1">
                    <a:lumMod val="85000"/>
                    <a:lumOff val="15000"/>
                  </a:schemeClr>
                </a:solidFill>
              </a:rPr>
              <a:t>Buna göre  ;</a:t>
            </a:r>
          </a:p>
          <a:p>
            <a:endParaRPr lang="tr-TR" sz="1200" noProof="1" smtClean="0">
              <a:solidFill>
                <a:schemeClr val="tx1">
                  <a:lumMod val="85000"/>
                  <a:lumOff val="15000"/>
                </a:schemeClr>
              </a:solidFill>
            </a:endParaRPr>
          </a:p>
          <a:p>
            <a:r>
              <a:rPr lang="tr-TR" sz="1200" b="1" noProof="1" smtClean="0">
                <a:solidFill>
                  <a:schemeClr val="tx1">
                    <a:lumMod val="85000"/>
                    <a:lumOff val="15000"/>
                  </a:schemeClr>
                </a:solidFill>
              </a:rPr>
              <a:t>4   + 9b+9a + (a.b)  işleminin sonucu nedir?</a:t>
            </a:r>
            <a:endParaRPr lang="tr-TR" sz="1200" b="1" noProof="1"/>
          </a:p>
        </p:txBody>
      </p:sp>
      <p:sp>
        <p:nvSpPr>
          <p:cNvPr id="111" name="Metin kutusu 110"/>
          <p:cNvSpPr txBox="1"/>
          <p:nvPr/>
        </p:nvSpPr>
        <p:spPr>
          <a:xfrm>
            <a:off x="3789040" y="729331"/>
            <a:ext cx="239378" cy="200055"/>
          </a:xfrm>
          <a:prstGeom prst="rect">
            <a:avLst/>
          </a:prstGeom>
          <a:noFill/>
        </p:spPr>
        <p:txBody>
          <a:bodyPr wrap="square" rtlCol="0">
            <a:spAutoFit/>
          </a:bodyPr>
          <a:lstStyle/>
          <a:p>
            <a:r>
              <a:rPr lang="tr-TR" sz="700" noProof="1" smtClean="0">
                <a:solidFill>
                  <a:schemeClr val="tx1">
                    <a:lumMod val="85000"/>
                    <a:lumOff val="15000"/>
                  </a:schemeClr>
                </a:solidFill>
              </a:rPr>
              <a:t>2</a:t>
            </a:r>
            <a:endParaRPr lang="tr-TR" sz="700" noProof="1">
              <a:solidFill>
                <a:schemeClr val="tx1">
                  <a:lumMod val="85000"/>
                  <a:lumOff val="15000"/>
                </a:schemeClr>
              </a:solidFill>
            </a:endParaRPr>
          </a:p>
        </p:txBody>
      </p:sp>
      <p:sp>
        <p:nvSpPr>
          <p:cNvPr id="112" name="Metin kutusu 111"/>
          <p:cNvSpPr txBox="1"/>
          <p:nvPr/>
        </p:nvSpPr>
        <p:spPr>
          <a:xfrm>
            <a:off x="3818850" y="1271715"/>
            <a:ext cx="239378" cy="200055"/>
          </a:xfrm>
          <a:prstGeom prst="rect">
            <a:avLst/>
          </a:prstGeom>
          <a:noFill/>
        </p:spPr>
        <p:txBody>
          <a:bodyPr wrap="square" rtlCol="0">
            <a:spAutoFit/>
          </a:bodyPr>
          <a:lstStyle/>
          <a:p>
            <a:r>
              <a:rPr lang="tr-TR" sz="700" noProof="1" smtClean="0">
                <a:solidFill>
                  <a:schemeClr val="tx1">
                    <a:lumMod val="85000"/>
                    <a:lumOff val="15000"/>
                  </a:schemeClr>
                </a:solidFill>
              </a:rPr>
              <a:t>2</a:t>
            </a:r>
            <a:endParaRPr lang="tr-TR" sz="700" noProof="1">
              <a:solidFill>
                <a:schemeClr val="tx1">
                  <a:lumMod val="85000"/>
                  <a:lumOff val="15000"/>
                </a:schemeClr>
              </a:solidFill>
            </a:endParaRPr>
          </a:p>
        </p:txBody>
      </p:sp>
      <p:sp>
        <p:nvSpPr>
          <p:cNvPr id="125" name="Metin kutusu 124"/>
          <p:cNvSpPr txBox="1"/>
          <p:nvPr/>
        </p:nvSpPr>
        <p:spPr>
          <a:xfrm>
            <a:off x="3729790" y="1619677"/>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48                       B) 56                             C) 72</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91                   E) </a:t>
            </a:r>
            <a:r>
              <a:rPr lang="tr-TR" sz="1200" dirty="0">
                <a:solidFill>
                  <a:schemeClr val="tx1">
                    <a:lumMod val="85000"/>
                    <a:lumOff val="15000"/>
                  </a:schemeClr>
                </a:solidFill>
              </a:rPr>
              <a:t> </a:t>
            </a:r>
            <a:r>
              <a:rPr lang="tr-TR" sz="1200" dirty="0" smtClean="0">
                <a:solidFill>
                  <a:schemeClr val="tx1">
                    <a:lumMod val="85000"/>
                    <a:lumOff val="15000"/>
                  </a:schemeClr>
                </a:solidFill>
              </a:rPr>
              <a:t>103</a:t>
            </a:r>
            <a:endParaRPr lang="tr-TR" sz="1200" dirty="0">
              <a:solidFill>
                <a:schemeClr val="tx1">
                  <a:lumMod val="85000"/>
                  <a:lumOff val="15000"/>
                </a:schemeClr>
              </a:solidFill>
            </a:endParaRPr>
          </a:p>
        </p:txBody>
      </p:sp>
      <p:sp>
        <p:nvSpPr>
          <p:cNvPr id="84" name="Metin kutusu 83"/>
          <p:cNvSpPr txBox="1"/>
          <p:nvPr/>
        </p:nvSpPr>
        <p:spPr>
          <a:xfrm>
            <a:off x="3933056" y="6316161"/>
            <a:ext cx="239378" cy="200055"/>
          </a:xfrm>
          <a:prstGeom prst="rect">
            <a:avLst/>
          </a:prstGeom>
          <a:noFill/>
        </p:spPr>
        <p:txBody>
          <a:bodyPr wrap="square" rtlCol="0">
            <a:spAutoFit/>
          </a:bodyPr>
          <a:lstStyle/>
          <a:p>
            <a:r>
              <a:rPr lang="tr-TR" sz="700" noProof="1" smtClean="0">
                <a:solidFill>
                  <a:schemeClr val="tx1">
                    <a:lumMod val="85000"/>
                    <a:lumOff val="15000"/>
                  </a:schemeClr>
                </a:solidFill>
              </a:rPr>
              <a:t>2</a:t>
            </a:r>
            <a:endParaRPr lang="tr-TR" sz="700" noProof="1">
              <a:solidFill>
                <a:schemeClr val="tx1">
                  <a:lumMod val="85000"/>
                  <a:lumOff val="15000"/>
                </a:schemeClr>
              </a:solidFill>
            </a:endParaRPr>
          </a:p>
        </p:txBody>
      </p:sp>
      <p:sp>
        <p:nvSpPr>
          <p:cNvPr id="85" name="Metin kutusu 84"/>
          <p:cNvSpPr txBox="1"/>
          <p:nvPr/>
        </p:nvSpPr>
        <p:spPr>
          <a:xfrm>
            <a:off x="3642932" y="3995936"/>
            <a:ext cx="3155597" cy="646331"/>
          </a:xfrm>
          <a:prstGeom prst="rect">
            <a:avLst/>
          </a:prstGeom>
          <a:noFill/>
        </p:spPr>
        <p:txBody>
          <a:bodyPr wrap="square" rtlCol="0">
            <a:spAutoFit/>
          </a:bodyPr>
          <a:lstStyle/>
          <a:p>
            <a:r>
              <a:rPr lang="tr-TR" sz="1200" noProof="1" smtClean="0">
                <a:solidFill>
                  <a:schemeClr val="tx1">
                    <a:lumMod val="85000"/>
                    <a:lumOff val="15000"/>
                  </a:schemeClr>
                </a:solidFill>
              </a:rPr>
              <a:t>A) 14                        B) 21                             C) 23</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                 D) 37                   E)  41</a:t>
            </a:r>
            <a:endParaRPr lang="tr-TR" sz="1200" noProof="1">
              <a:solidFill>
                <a:schemeClr val="tx1">
                  <a:lumMod val="85000"/>
                  <a:lumOff val="15000"/>
                </a:schemeClr>
              </a:solidFill>
            </a:endParaRPr>
          </a:p>
        </p:txBody>
      </p:sp>
      <p:sp>
        <p:nvSpPr>
          <p:cNvPr id="127" name="Dikdörtgen 126"/>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28" name="Metin kutusu 127"/>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7.C</a:t>
            </a:r>
            <a:endParaRPr lang="tr-TR" sz="1000" dirty="0">
              <a:solidFill>
                <a:schemeClr val="tx1">
                  <a:lumMod val="85000"/>
                  <a:lumOff val="15000"/>
                </a:schemeClr>
              </a:solidFill>
            </a:endParaRPr>
          </a:p>
        </p:txBody>
      </p:sp>
      <p:sp>
        <p:nvSpPr>
          <p:cNvPr id="135" name="Metin kutusu 134"/>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8._</a:t>
            </a:r>
            <a:endParaRPr lang="tr-TR" sz="1000" dirty="0">
              <a:solidFill>
                <a:schemeClr val="tx1">
                  <a:lumMod val="85000"/>
                  <a:lumOff val="15000"/>
                </a:schemeClr>
              </a:solidFill>
            </a:endParaRPr>
          </a:p>
        </p:txBody>
      </p:sp>
      <p:sp>
        <p:nvSpPr>
          <p:cNvPr id="136" name="Metin kutusu 135"/>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9.A</a:t>
            </a:r>
            <a:endParaRPr lang="tr-TR" sz="1000" dirty="0">
              <a:solidFill>
                <a:schemeClr val="tx1">
                  <a:lumMod val="85000"/>
                  <a:lumOff val="15000"/>
                </a:schemeClr>
              </a:solidFill>
            </a:endParaRPr>
          </a:p>
        </p:txBody>
      </p:sp>
      <p:sp>
        <p:nvSpPr>
          <p:cNvPr id="137" name="Metin kutusu 136"/>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10.E</a:t>
            </a:r>
            <a:endParaRPr lang="tr-TR" sz="1000" dirty="0">
              <a:solidFill>
                <a:schemeClr val="tx1">
                  <a:lumMod val="85000"/>
                  <a:lumOff val="15000"/>
                </a:schemeClr>
              </a:solidFill>
            </a:endParaRPr>
          </a:p>
        </p:txBody>
      </p:sp>
      <p:sp>
        <p:nvSpPr>
          <p:cNvPr id="138" name="Metin kutusu 137"/>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11.E</a:t>
            </a:r>
            <a:endParaRPr lang="tr-TR" sz="1000" dirty="0">
              <a:solidFill>
                <a:schemeClr val="tx1">
                  <a:lumMod val="85000"/>
                  <a:lumOff val="15000"/>
                </a:schemeClr>
              </a:solidFill>
            </a:endParaRPr>
          </a:p>
        </p:txBody>
      </p:sp>
      <p:sp>
        <p:nvSpPr>
          <p:cNvPr id="139" name="Metin kutusu 138"/>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12.A</a:t>
            </a:r>
            <a:endParaRPr lang="tr-TR" sz="1000" dirty="0">
              <a:solidFill>
                <a:schemeClr val="tx1">
                  <a:lumMod val="85000"/>
                  <a:lumOff val="15000"/>
                </a:schemeClr>
              </a:solidFill>
            </a:endParaRPr>
          </a:p>
        </p:txBody>
      </p:sp>
      <p:cxnSp>
        <p:nvCxnSpPr>
          <p:cNvPr id="140" name="Düz Bağlayıcı 139"/>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1" name="Düz Bağlayıcı 140"/>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2" name="Düz Bağlayıcı 141"/>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3" name="Düz Bağlayıcı 142"/>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4" name="Düz Bağlayıcı 143"/>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45" name="Oval 14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46" name="Metin kutusu 145"/>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147" name="Metin kutusu 146"/>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148" name="Oval 147"/>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49" name="Düz Bağlayıcı 148"/>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Düz Bağlayıcı 149"/>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51" name="Metin kutusu 150"/>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152" name="Oval 151"/>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53" name="Düz Bağlayıcı 152"/>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54" name="Metin kutusu 153"/>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155" name="Oval 154"/>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56" name="Dikdörtgen 15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57"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9" name="Aşağı Şerit 88"/>
          <p:cNvSpPr/>
          <p:nvPr/>
        </p:nvSpPr>
        <p:spPr>
          <a:xfrm>
            <a:off x="3068960" y="8786305"/>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63529" y="8768771"/>
            <a:ext cx="612442" cy="353943"/>
          </a:xfrm>
          <a:prstGeom prst="rect">
            <a:avLst/>
          </a:prstGeom>
          <a:noFill/>
        </p:spPr>
        <p:txBody>
          <a:bodyPr wrap="square" rtlCol="0">
            <a:spAutoFit/>
          </a:bodyPr>
          <a:lstStyle/>
          <a:p>
            <a:pPr algn="ctr"/>
            <a:r>
              <a:rPr lang="tr-TR" sz="1700" b="1" dirty="0" smtClean="0">
                <a:solidFill>
                  <a:schemeClr val="bg1"/>
                </a:solidFill>
              </a:rPr>
              <a:t>6</a:t>
            </a:r>
          </a:p>
        </p:txBody>
      </p:sp>
    </p:spTree>
    <p:extLst>
      <p:ext uri="{BB962C8B-B14F-4D97-AF65-F5344CB8AC3E}">
        <p14:creationId xmlns:p14="http://schemas.microsoft.com/office/powerpoint/2010/main" val="287100083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38"/>
            <a:ext cx="3155597" cy="646331"/>
          </a:xfrm>
          <a:prstGeom prst="rect">
            <a:avLst/>
          </a:prstGeom>
          <a:noFill/>
        </p:spPr>
        <p:txBody>
          <a:bodyPr wrap="square" rtlCol="0">
            <a:spAutoFit/>
          </a:bodyPr>
          <a:lstStyle/>
          <a:p>
            <a:r>
              <a:rPr lang="tr-TR" sz="1200" dirty="0">
                <a:solidFill>
                  <a:schemeClr val="tx1">
                    <a:lumMod val="85000"/>
                    <a:lumOff val="15000"/>
                  </a:schemeClr>
                </a:solidFill>
              </a:rPr>
              <a:t>h(x) =  2x   + </a:t>
            </a:r>
            <a:r>
              <a:rPr lang="tr-TR" sz="1200" noProof="1" smtClean="0">
                <a:solidFill>
                  <a:schemeClr val="tx1">
                    <a:lumMod val="85000"/>
                    <a:lumOff val="15000"/>
                  </a:schemeClr>
                </a:solidFill>
              </a:rPr>
              <a:t>4x + 12 parabolü [-10,0) aralığında tanımlıdır.  Buna göre </a:t>
            </a:r>
            <a:r>
              <a:rPr lang="tr-TR" sz="1200" b="1" noProof="1" smtClean="0">
                <a:solidFill>
                  <a:schemeClr val="tx1">
                    <a:lumMod val="85000"/>
                    <a:lumOff val="15000"/>
                  </a:schemeClr>
                </a:solidFill>
              </a:rPr>
              <a:t>parabolün tanımlı olduğu</a:t>
            </a:r>
          </a:p>
          <a:p>
            <a:r>
              <a:rPr lang="tr-TR" sz="1200" b="1" noProof="1" smtClean="0">
                <a:solidFill>
                  <a:schemeClr val="tx1">
                    <a:lumMod val="85000"/>
                    <a:lumOff val="15000"/>
                  </a:schemeClr>
                </a:solidFill>
              </a:rPr>
              <a:t>aralıkta alabileceği en küçük değer kaçtır?</a:t>
            </a:r>
            <a:endParaRPr lang="tr-TR" sz="1200" b="1" dirty="0">
              <a:solidFill>
                <a:schemeClr val="tx1">
                  <a:lumMod val="85000"/>
                  <a:lumOff val="15000"/>
                </a:schemeClr>
              </a:solidFill>
            </a:endParaRP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122" name="Dikdörtgen 121"/>
          <p:cNvSpPr/>
          <p:nvPr/>
        </p:nvSpPr>
        <p:spPr>
          <a:xfrm>
            <a:off x="3451432" y="3337995"/>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7</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4</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326714" y="604014"/>
            <a:ext cx="3155597" cy="1200329"/>
          </a:xfrm>
          <a:prstGeom prst="rect">
            <a:avLst/>
          </a:prstGeom>
          <a:noFill/>
        </p:spPr>
        <p:txBody>
          <a:bodyPr wrap="square" rtlCol="0">
            <a:spAutoFit/>
          </a:bodyPr>
          <a:lstStyle/>
          <a:p>
            <a:endParaRPr lang="tr-TR" sz="1200" dirty="0">
              <a:solidFill>
                <a:schemeClr val="tx1">
                  <a:lumMod val="85000"/>
                  <a:lumOff val="15000"/>
                </a:schemeClr>
              </a:solidFill>
            </a:endParaRPr>
          </a:p>
          <a:p>
            <a:r>
              <a:rPr lang="tr-TR" sz="1200" dirty="0">
                <a:solidFill>
                  <a:schemeClr val="tx1">
                    <a:lumMod val="85000"/>
                    <a:lumOff val="15000"/>
                  </a:schemeClr>
                </a:solidFill>
              </a:rPr>
              <a:t>f</a:t>
            </a:r>
            <a:r>
              <a:rPr lang="tr-TR" sz="1200" dirty="0" smtClean="0">
                <a:solidFill>
                  <a:schemeClr val="tx1">
                    <a:lumMod val="85000"/>
                    <a:lumOff val="15000"/>
                  </a:schemeClr>
                </a:solidFill>
              </a:rPr>
              <a:t>(x) =   x  -  6x + 12</a:t>
            </a:r>
          </a:p>
          <a:p>
            <a:endParaRPr lang="tr-TR" sz="1200" dirty="0" smtClean="0">
              <a:solidFill>
                <a:schemeClr val="tx1">
                  <a:lumMod val="85000"/>
                  <a:lumOff val="15000"/>
                </a:schemeClr>
              </a:solidFill>
            </a:endParaRPr>
          </a:p>
          <a:p>
            <a:r>
              <a:rPr lang="tr-TR" sz="1200" b="1" dirty="0" smtClean="0">
                <a:solidFill>
                  <a:schemeClr val="tx1">
                    <a:lumMod val="85000"/>
                    <a:lumOff val="15000"/>
                  </a:schemeClr>
                </a:solidFill>
              </a:rPr>
              <a:t>Fonksiyonu grafiği m birim sağa, n birim aşağı</a:t>
            </a:r>
          </a:p>
          <a:p>
            <a:r>
              <a:rPr lang="tr-TR" sz="1200" b="1" dirty="0" smtClean="0">
                <a:solidFill>
                  <a:schemeClr val="tx1">
                    <a:lumMod val="85000"/>
                    <a:lumOff val="15000"/>
                  </a:schemeClr>
                </a:solidFill>
              </a:rPr>
              <a:t>Ötelenerek x  </a:t>
            </a:r>
            <a:r>
              <a:rPr lang="tr-TR" sz="1200" b="1" dirty="0" smtClean="0">
                <a:solidFill>
                  <a:schemeClr val="tx1">
                    <a:lumMod val="85000"/>
                    <a:lumOff val="15000"/>
                  </a:schemeClr>
                </a:solidFill>
              </a:rPr>
              <a:t>- 8x + 6 parabolü elde </a:t>
            </a:r>
            <a:r>
              <a:rPr lang="tr-TR" sz="1200" b="1" dirty="0" smtClean="0">
                <a:solidFill>
                  <a:schemeClr val="tx1">
                    <a:lumMod val="85000"/>
                    <a:lumOff val="15000"/>
                  </a:schemeClr>
                </a:solidFill>
              </a:rPr>
              <a:t>ediliyor. Verilen</a:t>
            </a:r>
            <a:r>
              <a:rPr lang="tr-TR" sz="1200" b="1" dirty="0">
                <a:solidFill>
                  <a:schemeClr val="tx1">
                    <a:lumMod val="85000"/>
                    <a:lumOff val="15000"/>
                  </a:schemeClr>
                </a:solidFill>
              </a:rPr>
              <a:t> </a:t>
            </a:r>
            <a:r>
              <a:rPr lang="tr-TR" sz="1200" b="1" dirty="0" smtClean="0">
                <a:solidFill>
                  <a:schemeClr val="tx1">
                    <a:lumMod val="85000"/>
                    <a:lumOff val="15000"/>
                  </a:schemeClr>
                </a:solidFill>
              </a:rPr>
              <a:t>bilgilere </a:t>
            </a:r>
            <a:r>
              <a:rPr lang="tr-TR" sz="1200" b="1" dirty="0" smtClean="0">
                <a:solidFill>
                  <a:schemeClr val="tx1">
                    <a:lumMod val="85000"/>
                    <a:lumOff val="15000"/>
                  </a:schemeClr>
                </a:solidFill>
              </a:rPr>
              <a:t>göre |m| + |n| kaçtır?</a:t>
            </a:r>
          </a:p>
        </p:txBody>
      </p:sp>
      <p:sp>
        <p:nvSpPr>
          <p:cNvPr id="78" name="Metin kutusu 77"/>
          <p:cNvSpPr txBox="1"/>
          <p:nvPr/>
        </p:nvSpPr>
        <p:spPr>
          <a:xfrm>
            <a:off x="830116" y="74076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73" name="Metin kutusu 72"/>
          <p:cNvSpPr txBox="1"/>
          <p:nvPr/>
        </p:nvSpPr>
        <p:spPr>
          <a:xfrm>
            <a:off x="350747" y="3542175"/>
            <a:ext cx="3016609" cy="646331"/>
          </a:xfrm>
          <a:prstGeom prst="rect">
            <a:avLst/>
          </a:prstGeom>
          <a:noFill/>
        </p:spPr>
        <p:txBody>
          <a:bodyPr wrap="square" rtlCol="0">
            <a:spAutoFit/>
          </a:bodyPr>
          <a:lstStyle/>
          <a:p>
            <a:pPr marL="228600" indent="-228600">
              <a:buAutoNum type="alphaUcParenR"/>
            </a:pPr>
            <a:r>
              <a:rPr lang="tr-TR" sz="1200" dirty="0">
                <a:solidFill>
                  <a:schemeClr val="tx1">
                    <a:lumMod val="85000"/>
                    <a:lumOff val="15000"/>
                  </a:schemeClr>
                </a:solidFill>
              </a:rPr>
              <a:t>0</a:t>
            </a:r>
            <a:r>
              <a:rPr lang="tr-TR" sz="1200" dirty="0" smtClean="0">
                <a:solidFill>
                  <a:schemeClr val="tx1">
                    <a:lumMod val="85000"/>
                    <a:lumOff val="15000"/>
                  </a:schemeClr>
                </a:solidFill>
              </a:rPr>
              <a:t>                      B) 10                             C) 12</a:t>
            </a:r>
          </a:p>
          <a:p>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- 228                    E)  -20</a:t>
            </a:r>
            <a:endParaRPr lang="tr-TR" sz="1200" dirty="0">
              <a:solidFill>
                <a:schemeClr val="tx1">
                  <a:lumMod val="85000"/>
                  <a:lumOff val="15000"/>
                </a:schemeClr>
              </a:solidFill>
            </a:endParaRPr>
          </a:p>
        </p:txBody>
      </p:sp>
      <p:pic>
        <p:nvPicPr>
          <p:cNvPr id="3" name="Resim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0747" y="5076056"/>
            <a:ext cx="1765524" cy="1287584"/>
          </a:xfrm>
          <a:prstGeom prst="rect">
            <a:avLst/>
          </a:prstGeom>
        </p:spPr>
      </p:pic>
      <p:sp>
        <p:nvSpPr>
          <p:cNvPr id="80" name="Metin kutusu 79"/>
          <p:cNvSpPr txBox="1"/>
          <p:nvPr/>
        </p:nvSpPr>
        <p:spPr>
          <a:xfrm>
            <a:off x="260651" y="1835696"/>
            <a:ext cx="3109099"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3                     B</a:t>
            </a:r>
            <a:r>
              <a:rPr lang="tr-TR" sz="1200" dirty="0">
                <a:solidFill>
                  <a:schemeClr val="tx1">
                    <a:lumMod val="85000"/>
                    <a:lumOff val="15000"/>
                  </a:schemeClr>
                </a:solidFill>
              </a:rPr>
              <a:t>) 7</a:t>
            </a:r>
            <a:r>
              <a:rPr lang="tr-TR" sz="1200" dirty="0" smtClean="0">
                <a:solidFill>
                  <a:schemeClr val="tx1">
                    <a:lumMod val="85000"/>
                    <a:lumOff val="15000"/>
                  </a:schemeClr>
                </a:solidFill>
              </a:rPr>
              <a:t>                  C) </a:t>
            </a:r>
            <a:r>
              <a:rPr lang="tr-TR" sz="1200" dirty="0">
                <a:solidFill>
                  <a:schemeClr val="tx1">
                    <a:lumMod val="85000"/>
                    <a:lumOff val="15000"/>
                  </a:schemeClr>
                </a:solidFill>
              </a:rPr>
              <a:t>9</a:t>
            </a:r>
            <a:r>
              <a:rPr lang="tr-TR" sz="1200" dirty="0" smtClean="0">
                <a:solidFill>
                  <a:schemeClr val="tx1">
                    <a:lumMod val="85000"/>
                    <a:lumOff val="15000"/>
                  </a:schemeClr>
                </a:solidFill>
              </a:rPr>
              <a:t> </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14                     E) 18</a:t>
            </a:r>
            <a:endParaRPr lang="tr-TR" sz="1200" dirty="0">
              <a:solidFill>
                <a:schemeClr val="tx1">
                  <a:lumMod val="85000"/>
                  <a:lumOff val="15000"/>
                </a:schemeClr>
              </a:solidFill>
            </a:endParaRPr>
          </a:p>
        </p:txBody>
      </p:sp>
      <p:sp>
        <p:nvSpPr>
          <p:cNvPr id="95" name="Metin kutusu 94"/>
          <p:cNvSpPr txBox="1"/>
          <p:nvPr/>
        </p:nvSpPr>
        <p:spPr>
          <a:xfrm>
            <a:off x="147870" y="6404633"/>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Yukarıda </a:t>
            </a:r>
            <a:r>
              <a:rPr lang="tr-TR" sz="1200" dirty="0">
                <a:solidFill>
                  <a:schemeClr val="tx1">
                    <a:lumMod val="85000"/>
                    <a:lumOff val="15000"/>
                  </a:schemeClr>
                </a:solidFill>
              </a:rPr>
              <a:t>x   </a:t>
            </a:r>
            <a:r>
              <a:rPr lang="tr-TR" sz="1200" dirty="0" smtClean="0">
                <a:solidFill>
                  <a:schemeClr val="tx1">
                    <a:lumMod val="85000"/>
                    <a:lumOff val="15000"/>
                  </a:schemeClr>
                </a:solidFill>
              </a:rPr>
              <a:t>+ x + a-4 fonksiyonun grafiği verilmiştir. |AB| = 3 birim olduğuna göre a kaçtır? </a:t>
            </a:r>
            <a:endParaRPr lang="tr-TR" sz="1200" dirty="0">
              <a:solidFill>
                <a:schemeClr val="tx1">
                  <a:lumMod val="85000"/>
                  <a:lumOff val="15000"/>
                </a:schemeClr>
              </a:solidFill>
            </a:endParaRPr>
          </a:p>
        </p:txBody>
      </p:sp>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133" name="Metin kutusu 132"/>
          <p:cNvSpPr txBox="1"/>
          <p:nvPr/>
        </p:nvSpPr>
        <p:spPr>
          <a:xfrm>
            <a:off x="3573019" y="8131444"/>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39                         B)  40                               C) 41</a:t>
            </a:r>
          </a:p>
        </p:txBody>
      </p:sp>
      <p:sp>
        <p:nvSpPr>
          <p:cNvPr id="134" name="Metin kutusu 133"/>
          <p:cNvSpPr txBox="1"/>
          <p:nvPr/>
        </p:nvSpPr>
        <p:spPr>
          <a:xfrm>
            <a:off x="4258915" y="8471465"/>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42                        E)  43</a:t>
            </a:r>
          </a:p>
        </p:txBody>
      </p:sp>
      <p:sp>
        <p:nvSpPr>
          <p:cNvPr id="6" name="Serbest Form 5"/>
          <p:cNvSpPr/>
          <p:nvPr/>
        </p:nvSpPr>
        <p:spPr>
          <a:xfrm>
            <a:off x="620688" y="5220947"/>
            <a:ext cx="1388218" cy="814654"/>
          </a:xfrm>
          <a:custGeom>
            <a:avLst/>
            <a:gdLst>
              <a:gd name="connsiteX0" fmla="*/ 0 w 790223"/>
              <a:gd name="connsiteY0" fmla="*/ 0 h 812800"/>
              <a:gd name="connsiteX1" fmla="*/ 383823 w 790223"/>
              <a:gd name="connsiteY1" fmla="*/ 812800 h 812800"/>
              <a:gd name="connsiteX2" fmla="*/ 790223 w 790223"/>
              <a:gd name="connsiteY2" fmla="*/ 0 h 812800"/>
            </a:gdLst>
            <a:ahLst/>
            <a:cxnLst>
              <a:cxn ang="0">
                <a:pos x="connsiteX0" y="connsiteY0"/>
              </a:cxn>
              <a:cxn ang="0">
                <a:pos x="connsiteX1" y="connsiteY1"/>
              </a:cxn>
              <a:cxn ang="0">
                <a:pos x="connsiteX2" y="connsiteY2"/>
              </a:cxn>
            </a:cxnLst>
            <a:rect l="l" t="t" r="r" b="b"/>
            <a:pathLst>
              <a:path w="790223" h="812800">
                <a:moveTo>
                  <a:pt x="0" y="0"/>
                </a:moveTo>
                <a:cubicBezTo>
                  <a:pt x="126059" y="406400"/>
                  <a:pt x="252119" y="812800"/>
                  <a:pt x="383823" y="812800"/>
                </a:cubicBezTo>
                <a:cubicBezTo>
                  <a:pt x="515527" y="812800"/>
                  <a:pt x="686742" y="95956"/>
                  <a:pt x="790223"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2" name="Metin kutusu 81"/>
          <p:cNvSpPr txBox="1"/>
          <p:nvPr/>
        </p:nvSpPr>
        <p:spPr>
          <a:xfrm>
            <a:off x="756872" y="5719848"/>
            <a:ext cx="295864" cy="246221"/>
          </a:xfrm>
          <a:prstGeom prst="rect">
            <a:avLst/>
          </a:prstGeom>
          <a:noFill/>
        </p:spPr>
        <p:txBody>
          <a:bodyPr wrap="square" rtlCol="0">
            <a:spAutoFit/>
          </a:bodyPr>
          <a:lstStyle/>
          <a:p>
            <a:r>
              <a:rPr lang="tr-TR" sz="1000" dirty="0" smtClean="0">
                <a:solidFill>
                  <a:schemeClr val="tx1">
                    <a:lumMod val="85000"/>
                    <a:lumOff val="15000"/>
                  </a:schemeClr>
                </a:solidFill>
              </a:rPr>
              <a:t>A</a:t>
            </a:r>
            <a:endParaRPr lang="tr-TR" sz="1000" dirty="0">
              <a:solidFill>
                <a:schemeClr val="tx1">
                  <a:lumMod val="85000"/>
                  <a:lumOff val="15000"/>
                </a:schemeClr>
              </a:solidFill>
            </a:endParaRPr>
          </a:p>
        </p:txBody>
      </p:sp>
      <p:sp>
        <p:nvSpPr>
          <p:cNvPr id="83" name="Metin kutusu 82"/>
          <p:cNvSpPr txBox="1"/>
          <p:nvPr/>
        </p:nvSpPr>
        <p:spPr>
          <a:xfrm>
            <a:off x="1556792" y="5719848"/>
            <a:ext cx="3253115" cy="246221"/>
          </a:xfrm>
          <a:prstGeom prst="rect">
            <a:avLst/>
          </a:prstGeom>
          <a:noFill/>
        </p:spPr>
        <p:txBody>
          <a:bodyPr wrap="square" rtlCol="0">
            <a:spAutoFit/>
          </a:bodyPr>
          <a:lstStyle/>
          <a:p>
            <a:r>
              <a:rPr lang="tr-TR" sz="1000" dirty="0" smtClean="0">
                <a:solidFill>
                  <a:schemeClr val="tx1">
                    <a:lumMod val="85000"/>
                    <a:lumOff val="15000"/>
                  </a:schemeClr>
                </a:solidFill>
              </a:rPr>
              <a:t>B</a:t>
            </a:r>
            <a:endParaRPr lang="tr-TR" sz="1000" dirty="0">
              <a:solidFill>
                <a:schemeClr val="tx1">
                  <a:lumMod val="85000"/>
                  <a:lumOff val="15000"/>
                </a:schemeClr>
              </a:solidFill>
            </a:endParaRPr>
          </a:p>
        </p:txBody>
      </p:sp>
      <p:sp>
        <p:nvSpPr>
          <p:cNvPr id="97" name="Metin kutusu 96"/>
          <p:cNvSpPr txBox="1"/>
          <p:nvPr/>
        </p:nvSpPr>
        <p:spPr>
          <a:xfrm>
            <a:off x="116635" y="7175325"/>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-2                         B ) -3                      C) -4</a:t>
            </a:r>
          </a:p>
        </p:txBody>
      </p:sp>
      <p:sp>
        <p:nvSpPr>
          <p:cNvPr id="99" name="Metin kutusu 98"/>
          <p:cNvSpPr txBox="1"/>
          <p:nvPr/>
        </p:nvSpPr>
        <p:spPr>
          <a:xfrm>
            <a:off x="902124" y="284380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100" name="Metin kutusu 99"/>
          <p:cNvSpPr txBox="1"/>
          <p:nvPr/>
        </p:nvSpPr>
        <p:spPr>
          <a:xfrm>
            <a:off x="620688" y="7524328"/>
            <a:ext cx="2613821" cy="276999"/>
          </a:xfrm>
          <a:prstGeom prst="rect">
            <a:avLst/>
          </a:prstGeom>
          <a:noFill/>
        </p:spPr>
        <p:txBody>
          <a:bodyPr wrap="square" rtlCol="0">
            <a:spAutoFit/>
          </a:bodyPr>
          <a:lstStyle/>
          <a:p>
            <a:r>
              <a:rPr lang="tr-TR" sz="1200" dirty="0" smtClean="0">
                <a:solidFill>
                  <a:schemeClr val="tx1">
                    <a:lumMod val="85000"/>
                    <a:lumOff val="15000"/>
                  </a:schemeClr>
                </a:solidFill>
              </a:rPr>
              <a:t>D) 3                                E)  2</a:t>
            </a:r>
          </a:p>
        </p:txBody>
      </p:sp>
      <p:sp>
        <p:nvSpPr>
          <p:cNvPr id="10" name="Dikdörtgen 9"/>
          <p:cNvSpPr/>
          <p:nvPr/>
        </p:nvSpPr>
        <p:spPr>
          <a:xfrm>
            <a:off x="3727440" y="755579"/>
            <a:ext cx="3136115" cy="646331"/>
          </a:xfrm>
          <a:prstGeom prst="rect">
            <a:avLst/>
          </a:prstGeom>
        </p:spPr>
        <p:txBody>
          <a:bodyPr wrap="none">
            <a:spAutoFit/>
          </a:bodyPr>
          <a:lstStyle/>
          <a:p>
            <a:r>
              <a:rPr lang="tr-TR" sz="1200" dirty="0" smtClean="0">
                <a:solidFill>
                  <a:schemeClr val="tx1">
                    <a:lumMod val="85000"/>
                    <a:lumOff val="15000"/>
                  </a:schemeClr>
                </a:solidFill>
              </a:rPr>
              <a:t>-6x   -5x + 6 parabolü [0,3] aralığında tanımlı </a:t>
            </a:r>
          </a:p>
          <a:p>
            <a:r>
              <a:rPr lang="tr-TR" sz="1200" dirty="0" smtClean="0">
                <a:solidFill>
                  <a:schemeClr val="tx1">
                    <a:lumMod val="85000"/>
                    <a:lumOff val="15000"/>
                  </a:schemeClr>
                </a:solidFill>
              </a:rPr>
              <a:t>olduğu bilindiğine göre </a:t>
            </a:r>
            <a:r>
              <a:rPr lang="tr-TR" sz="1200" b="1" dirty="0" smtClean="0">
                <a:solidFill>
                  <a:schemeClr val="tx1">
                    <a:lumMod val="85000"/>
                    <a:lumOff val="15000"/>
                  </a:schemeClr>
                </a:solidFill>
              </a:rPr>
              <a:t>alabileceği en büyük ve</a:t>
            </a:r>
          </a:p>
          <a:p>
            <a:r>
              <a:rPr lang="tr-TR" sz="1200" b="1" dirty="0" smtClean="0">
                <a:solidFill>
                  <a:schemeClr val="tx1">
                    <a:lumMod val="85000"/>
                    <a:lumOff val="15000"/>
                  </a:schemeClr>
                </a:solidFill>
              </a:rPr>
              <a:t>en küçük tam sayı değerinin toplamı kaçtır?</a:t>
            </a:r>
          </a:p>
        </p:txBody>
      </p:sp>
      <p:sp>
        <p:nvSpPr>
          <p:cNvPr id="111" name="Metin kutusu 110"/>
          <p:cNvSpPr txBox="1"/>
          <p:nvPr/>
        </p:nvSpPr>
        <p:spPr>
          <a:xfrm>
            <a:off x="3909702" y="72933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25" name="Metin kutusu 124"/>
          <p:cNvSpPr txBox="1"/>
          <p:nvPr/>
        </p:nvSpPr>
        <p:spPr>
          <a:xfrm>
            <a:off x="3729790" y="1439852"/>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- 79                       B) -63                             C) -57</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-35                   E) </a:t>
            </a:r>
            <a:r>
              <a:rPr lang="tr-TR" sz="1200" dirty="0">
                <a:solidFill>
                  <a:schemeClr val="tx1">
                    <a:lumMod val="85000"/>
                    <a:lumOff val="15000"/>
                  </a:schemeClr>
                </a:solidFill>
              </a:rPr>
              <a:t> </a:t>
            </a:r>
            <a:r>
              <a:rPr lang="tr-TR" sz="1200" dirty="0" smtClean="0">
                <a:solidFill>
                  <a:schemeClr val="tx1">
                    <a:lumMod val="85000"/>
                    <a:lumOff val="15000"/>
                  </a:schemeClr>
                </a:solidFill>
              </a:rPr>
              <a:t>6</a:t>
            </a:r>
            <a:endParaRPr lang="tr-TR" sz="1200" dirty="0">
              <a:solidFill>
                <a:schemeClr val="tx1">
                  <a:lumMod val="85000"/>
                  <a:lumOff val="15000"/>
                </a:schemeClr>
              </a:solidFill>
            </a:endParaRPr>
          </a:p>
        </p:txBody>
      </p:sp>
      <p:sp>
        <p:nvSpPr>
          <p:cNvPr id="68" name="Metin kutusu 67"/>
          <p:cNvSpPr txBox="1"/>
          <p:nvPr/>
        </p:nvSpPr>
        <p:spPr>
          <a:xfrm>
            <a:off x="1164185" y="1316832"/>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6" name="Dikdörtgen 85"/>
          <p:cNvSpPr/>
          <p:nvPr/>
        </p:nvSpPr>
        <p:spPr>
          <a:xfrm>
            <a:off x="53885" y="8819480"/>
            <a:ext cx="2078971"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cxnSp>
        <p:nvCxnSpPr>
          <p:cNvPr id="14" name="Düz Bağlayıcı 13"/>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87" name="Metin kutusu 86"/>
          <p:cNvSpPr txBox="1"/>
          <p:nvPr/>
        </p:nvSpPr>
        <p:spPr>
          <a:xfrm>
            <a:off x="44624"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1 .D</a:t>
            </a:r>
            <a:endParaRPr lang="tr-TR" sz="1000" dirty="0">
              <a:solidFill>
                <a:schemeClr val="tx1">
                  <a:lumMod val="85000"/>
                  <a:lumOff val="15000"/>
                </a:schemeClr>
              </a:solidFill>
            </a:endParaRPr>
          </a:p>
        </p:txBody>
      </p:sp>
      <p:cxnSp>
        <p:nvCxnSpPr>
          <p:cNvPr id="89" name="Düz Bağlayıcı 88"/>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0" name="Düz Bağlayıcı 89"/>
          <p:cNvCxnSpPr/>
          <p:nvPr/>
        </p:nvCxnSpPr>
        <p:spPr>
          <a:xfrm>
            <a:off x="2132856" y="8830546"/>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2" name="Düz Bağlayıcı 91"/>
          <p:cNvCxnSpPr/>
          <p:nvPr/>
        </p:nvCxnSpPr>
        <p:spPr>
          <a:xfrm>
            <a:off x="899618" y="8828612"/>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3" name="Düz Bağlayıcı 9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6" name="Metin kutusu 95"/>
          <p:cNvSpPr txBox="1"/>
          <p:nvPr/>
        </p:nvSpPr>
        <p:spPr>
          <a:xfrm>
            <a:off x="476672"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2. </a:t>
            </a:r>
            <a:r>
              <a:rPr lang="tr-TR" sz="1000" dirty="0">
                <a:solidFill>
                  <a:schemeClr val="tx1">
                    <a:lumMod val="85000"/>
                    <a:lumOff val="15000"/>
                  </a:schemeClr>
                </a:solidFill>
              </a:rPr>
              <a:t>B</a:t>
            </a:r>
          </a:p>
        </p:txBody>
      </p:sp>
      <p:sp>
        <p:nvSpPr>
          <p:cNvPr id="98" name="Metin kutusu 97"/>
          <p:cNvSpPr txBox="1"/>
          <p:nvPr/>
        </p:nvSpPr>
        <p:spPr>
          <a:xfrm>
            <a:off x="888219" y="8830476"/>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3. E </a:t>
            </a:r>
            <a:endParaRPr lang="tr-TR" sz="1000" dirty="0">
              <a:solidFill>
                <a:schemeClr val="tx1">
                  <a:lumMod val="85000"/>
                  <a:lumOff val="15000"/>
                </a:schemeClr>
              </a:solidFill>
            </a:endParaRPr>
          </a:p>
        </p:txBody>
      </p:sp>
      <p:sp>
        <p:nvSpPr>
          <p:cNvPr id="103" name="Metin kutusu 102"/>
          <p:cNvSpPr txBox="1"/>
          <p:nvPr/>
        </p:nvSpPr>
        <p:spPr>
          <a:xfrm>
            <a:off x="1300632"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4 . </a:t>
            </a:r>
            <a:r>
              <a:rPr lang="tr-TR" sz="1000" dirty="0">
                <a:solidFill>
                  <a:schemeClr val="tx1">
                    <a:lumMod val="85000"/>
                    <a:lumOff val="15000"/>
                  </a:schemeClr>
                </a:solidFill>
              </a:rPr>
              <a:t>C</a:t>
            </a:r>
          </a:p>
        </p:txBody>
      </p:sp>
      <p:sp>
        <p:nvSpPr>
          <p:cNvPr id="107" name="Metin kutusu 106"/>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5 . D</a:t>
            </a:r>
            <a:endParaRPr lang="tr-TR" sz="1000" dirty="0">
              <a:solidFill>
                <a:schemeClr val="tx1">
                  <a:lumMod val="85000"/>
                  <a:lumOff val="15000"/>
                </a:schemeClr>
              </a:solidFill>
            </a:endParaRPr>
          </a:p>
        </p:txBody>
      </p:sp>
      <p:pic>
        <p:nvPicPr>
          <p:cNvPr id="18" name="Resim 1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126" name="Dikdörtgen 12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27"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8" name="Metin kutusu 87"/>
          <p:cNvSpPr txBox="1"/>
          <p:nvPr/>
        </p:nvSpPr>
        <p:spPr>
          <a:xfrm>
            <a:off x="813358" y="6388169"/>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cxnSp>
        <p:nvCxnSpPr>
          <p:cNvPr id="8" name="Düz Ok Bağlayıcısı 7"/>
          <p:cNvCxnSpPr/>
          <p:nvPr/>
        </p:nvCxnSpPr>
        <p:spPr>
          <a:xfrm>
            <a:off x="4009044" y="3542175"/>
            <a:ext cx="0" cy="2086099"/>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Düz Ok Bağlayıcısı 14"/>
          <p:cNvCxnSpPr/>
          <p:nvPr/>
        </p:nvCxnSpPr>
        <p:spPr>
          <a:xfrm>
            <a:off x="3573019" y="4926894"/>
            <a:ext cx="3096341"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81" name="Metin kutusu 80"/>
          <p:cNvSpPr txBox="1"/>
          <p:nvPr/>
        </p:nvSpPr>
        <p:spPr>
          <a:xfrm>
            <a:off x="6453336" y="4931656"/>
            <a:ext cx="584870" cy="276999"/>
          </a:xfrm>
          <a:prstGeom prst="rect">
            <a:avLst/>
          </a:prstGeom>
          <a:noFill/>
        </p:spPr>
        <p:txBody>
          <a:bodyPr wrap="square" rtlCol="0">
            <a:spAutoFit/>
          </a:bodyPr>
          <a:lstStyle/>
          <a:p>
            <a:r>
              <a:rPr lang="tr-TR" sz="1200" dirty="0" smtClean="0">
                <a:solidFill>
                  <a:schemeClr val="tx1">
                    <a:lumMod val="85000"/>
                    <a:lumOff val="15000"/>
                  </a:schemeClr>
                </a:solidFill>
              </a:rPr>
              <a:t>x (m)</a:t>
            </a:r>
            <a:endParaRPr lang="tr-TR" sz="1200" b="1" dirty="0">
              <a:solidFill>
                <a:schemeClr val="tx1">
                  <a:lumMod val="85000"/>
                  <a:lumOff val="15000"/>
                </a:schemeClr>
              </a:solidFill>
            </a:endParaRPr>
          </a:p>
        </p:txBody>
      </p:sp>
      <p:sp>
        <p:nvSpPr>
          <p:cNvPr id="101" name="Metin kutusu 100"/>
          <p:cNvSpPr txBox="1"/>
          <p:nvPr/>
        </p:nvSpPr>
        <p:spPr>
          <a:xfrm>
            <a:off x="3717032" y="3343606"/>
            <a:ext cx="584870" cy="276999"/>
          </a:xfrm>
          <a:prstGeom prst="rect">
            <a:avLst/>
          </a:prstGeom>
          <a:noFill/>
        </p:spPr>
        <p:txBody>
          <a:bodyPr wrap="square" rtlCol="0">
            <a:spAutoFit/>
          </a:bodyPr>
          <a:lstStyle/>
          <a:p>
            <a:r>
              <a:rPr lang="tr-TR" sz="1200" dirty="0">
                <a:solidFill>
                  <a:schemeClr val="tx1">
                    <a:lumMod val="85000"/>
                    <a:lumOff val="15000"/>
                  </a:schemeClr>
                </a:solidFill>
              </a:rPr>
              <a:t>y</a:t>
            </a:r>
            <a:r>
              <a:rPr lang="tr-TR" sz="1200" dirty="0" smtClean="0">
                <a:solidFill>
                  <a:schemeClr val="tx1">
                    <a:lumMod val="85000"/>
                    <a:lumOff val="15000"/>
                  </a:schemeClr>
                </a:solidFill>
              </a:rPr>
              <a:t> (m)</a:t>
            </a:r>
            <a:endParaRPr lang="tr-TR" sz="1200" b="1"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17" name="Metin kutusu 16"/>
              <p:cNvSpPr txBox="1"/>
              <p:nvPr/>
            </p:nvSpPr>
            <p:spPr>
              <a:xfrm>
                <a:off x="3528869" y="6588224"/>
                <a:ext cx="1653209" cy="338426"/>
              </a:xfrm>
              <a:prstGeom prst="rect">
                <a:avLst/>
              </a:prstGeom>
              <a:noFill/>
            </p:spPr>
            <p:txBody>
              <a:bodyPr wrap="none" rtlCol="0">
                <a:spAutoFit/>
              </a:bodyPr>
              <a:lstStyle/>
              <a:p>
                <a14:m>
                  <m:oMath xmlns:m="http://schemas.openxmlformats.org/officeDocument/2006/math">
                    <m:r>
                      <m:rPr>
                        <m:sty m:val="p"/>
                      </m:rPr>
                      <a:rPr lang="tr-TR" sz="1200" i="1" smtClean="0">
                        <a:latin typeface="Cambria Math"/>
                      </a:rPr>
                      <m:t>y</m:t>
                    </m:r>
                    <m:r>
                      <a:rPr lang="tr-TR" sz="1200" b="0" i="1" smtClean="0">
                        <a:latin typeface="Cambria Math"/>
                      </a:rPr>
                      <m:t>= </m:t>
                    </m:r>
                    <m:r>
                      <a:rPr lang="tr-TR" sz="1200" b="0" i="1" smtClean="0">
                        <a:latin typeface="Cambria Math"/>
                      </a:rPr>
                      <m:t>𝑓</m:t>
                    </m:r>
                    <m:d>
                      <m:dPr>
                        <m:ctrlPr>
                          <a:rPr lang="tr-TR" sz="1200" b="0" i="1" smtClean="0">
                            <a:latin typeface="Cambria Math"/>
                          </a:rPr>
                        </m:ctrlPr>
                      </m:dPr>
                      <m:e>
                        <m:r>
                          <a:rPr lang="tr-TR" sz="1200" b="0" i="1" smtClean="0">
                            <a:latin typeface="Cambria Math"/>
                          </a:rPr>
                          <m:t>𝑥</m:t>
                        </m:r>
                      </m:e>
                    </m:d>
                    <m:r>
                      <a:rPr lang="tr-TR" sz="1200" b="0" i="1" smtClean="0">
                        <a:latin typeface="Cambria Math"/>
                      </a:rPr>
                      <m:t>=−</m:t>
                    </m:r>
                    <m:f>
                      <m:fPr>
                        <m:ctrlPr>
                          <a:rPr lang="tr-TR" sz="1200" b="0" i="1" smtClean="0">
                            <a:latin typeface="Cambria Math"/>
                          </a:rPr>
                        </m:ctrlPr>
                      </m:fPr>
                      <m:num>
                        <m:r>
                          <m:rPr>
                            <m:sty m:val="p"/>
                          </m:rPr>
                          <a:rPr lang="tr-TR" sz="1200" b="0" i="0" smtClean="0">
                            <a:latin typeface="Cambria Math"/>
                          </a:rPr>
                          <m:t>x</m:t>
                        </m:r>
                      </m:num>
                      <m:den>
                        <m:r>
                          <a:rPr lang="tr-TR" sz="1200" b="0" i="1" smtClean="0">
                            <a:latin typeface="Cambria Math"/>
                          </a:rPr>
                          <m:t>200</m:t>
                        </m:r>
                      </m:den>
                    </m:f>
                  </m:oMath>
                </a14:m>
                <a:r>
                  <a:rPr lang="tr-TR" sz="1200" dirty="0" smtClean="0"/>
                  <a:t> + </a:t>
                </a:r>
                <a14:m>
                  <m:oMath xmlns:m="http://schemas.openxmlformats.org/officeDocument/2006/math">
                    <m:f>
                      <m:fPr>
                        <m:ctrlPr>
                          <a:rPr lang="tr-TR" sz="1200" i="1" smtClean="0">
                            <a:latin typeface="Cambria Math"/>
                          </a:rPr>
                        </m:ctrlPr>
                      </m:fPr>
                      <m:num>
                        <m:r>
                          <a:rPr lang="tr-TR" sz="1200" b="0" i="1" smtClean="0">
                            <a:latin typeface="Cambria Math"/>
                          </a:rPr>
                          <m:t>𝑥</m:t>
                        </m:r>
                      </m:num>
                      <m:den>
                        <m:r>
                          <a:rPr lang="tr-TR" sz="1200" b="0" i="1" smtClean="0">
                            <a:latin typeface="Cambria Math"/>
                          </a:rPr>
                          <m:t>5</m:t>
                        </m:r>
                      </m:den>
                    </m:f>
                  </m:oMath>
                </a14:m>
                <a:r>
                  <a:rPr lang="tr-TR" sz="1200" dirty="0" smtClean="0"/>
                  <a:t> </a:t>
                </a:r>
                <a:endParaRPr lang="tr-TR" sz="1200" dirty="0"/>
              </a:p>
            </p:txBody>
          </p:sp>
        </mc:Choice>
        <mc:Fallback xmlns="">
          <p:sp>
            <p:nvSpPr>
              <p:cNvPr id="17" name="Metin kutusu 16"/>
              <p:cNvSpPr txBox="1">
                <a:spLocks noRot="1" noChangeAspect="1" noMove="1" noResize="1" noEditPoints="1" noAdjustHandles="1" noChangeArrowheads="1" noChangeShapeType="1" noTextEdit="1"/>
              </p:cNvSpPr>
              <p:nvPr/>
            </p:nvSpPr>
            <p:spPr>
              <a:xfrm>
                <a:off x="3528869" y="6588224"/>
                <a:ext cx="1653209" cy="338426"/>
              </a:xfrm>
              <a:prstGeom prst="rect">
                <a:avLst/>
              </a:prstGeom>
              <a:blipFill rotWithShape="1">
                <a:blip r:embed="rId7"/>
                <a:stretch>
                  <a:fillRect b="-3636"/>
                </a:stretch>
              </a:blipFill>
            </p:spPr>
            <p:txBody>
              <a:bodyPr/>
              <a:lstStyle/>
              <a:p>
                <a:r>
                  <a:rPr lang="tr-TR">
                    <a:noFill/>
                  </a:rPr>
                  <a:t> </a:t>
                </a:r>
              </a:p>
            </p:txBody>
          </p:sp>
        </mc:Fallback>
      </mc:AlternateContent>
      <p:pic>
        <p:nvPicPr>
          <p:cNvPr id="1028" name="Picture 4" descr="C:\Users\Pc\AppData\Local\Microsoft\Windows\Temporary Internet Files\Content.IE5\Y5CZX9ZW\prehistoric-153082_640[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618205" y="3865339"/>
            <a:ext cx="1043043" cy="1074607"/>
          </a:xfrm>
          <a:prstGeom prst="rect">
            <a:avLst/>
          </a:prstGeom>
          <a:noFill/>
          <a:extLst>
            <a:ext uri="{909E8E84-426E-40DD-AFC4-6F175D3DCCD1}">
              <a14:hiddenFill xmlns:a14="http://schemas.microsoft.com/office/drawing/2010/main">
                <a:solidFill>
                  <a:srgbClr val="FFFFFF"/>
                </a:solidFill>
              </a14:hiddenFill>
            </a:ext>
          </a:extLst>
        </p:spPr>
      </p:pic>
      <p:sp>
        <p:nvSpPr>
          <p:cNvPr id="19" name="Serbest Form 18"/>
          <p:cNvSpPr/>
          <p:nvPr/>
        </p:nvSpPr>
        <p:spPr>
          <a:xfrm>
            <a:off x="4010025" y="3695688"/>
            <a:ext cx="2447925" cy="1257312"/>
          </a:xfrm>
          <a:custGeom>
            <a:avLst/>
            <a:gdLst>
              <a:gd name="connsiteX0" fmla="*/ 0 w 2447925"/>
              <a:gd name="connsiteY0" fmla="*/ 1238262 h 1257312"/>
              <a:gd name="connsiteX1" fmla="*/ 1123950 w 2447925"/>
              <a:gd name="connsiteY1" fmla="*/ 12 h 1257312"/>
              <a:gd name="connsiteX2" fmla="*/ 2447925 w 2447925"/>
              <a:gd name="connsiteY2" fmla="*/ 1257312 h 1257312"/>
            </a:gdLst>
            <a:ahLst/>
            <a:cxnLst>
              <a:cxn ang="0">
                <a:pos x="connsiteX0" y="connsiteY0"/>
              </a:cxn>
              <a:cxn ang="0">
                <a:pos x="connsiteX1" y="connsiteY1"/>
              </a:cxn>
              <a:cxn ang="0">
                <a:pos x="connsiteX2" y="connsiteY2"/>
              </a:cxn>
            </a:cxnLst>
            <a:rect l="l" t="t" r="r" b="b"/>
            <a:pathLst>
              <a:path w="2447925" h="1257312">
                <a:moveTo>
                  <a:pt x="0" y="1238262"/>
                </a:moveTo>
                <a:cubicBezTo>
                  <a:pt x="357981" y="617549"/>
                  <a:pt x="715963" y="-3163"/>
                  <a:pt x="1123950" y="12"/>
                </a:cubicBezTo>
                <a:cubicBezTo>
                  <a:pt x="1531937" y="3187"/>
                  <a:pt x="2160588" y="1033475"/>
                  <a:pt x="2447925" y="1257312"/>
                </a:cubicBezTo>
              </a:path>
            </a:pathLst>
          </a:custGeom>
          <a:noFill/>
          <a:ln w="63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2" name="Metin kutusu 101"/>
          <p:cNvSpPr txBox="1"/>
          <p:nvPr/>
        </p:nvSpPr>
        <p:spPr>
          <a:xfrm>
            <a:off x="3473576" y="5610583"/>
            <a:ext cx="3475554" cy="1015663"/>
          </a:xfrm>
          <a:prstGeom prst="rect">
            <a:avLst/>
          </a:prstGeom>
          <a:noFill/>
        </p:spPr>
        <p:txBody>
          <a:bodyPr wrap="square" rtlCol="0">
            <a:spAutoFit/>
          </a:bodyPr>
          <a:lstStyle/>
          <a:p>
            <a:r>
              <a:rPr lang="tr-TR" sz="1200" noProof="1" smtClean="0">
                <a:solidFill>
                  <a:schemeClr val="tx1">
                    <a:lumMod val="85000"/>
                    <a:lumOff val="15000"/>
                  </a:schemeClr>
                </a:solidFill>
              </a:rPr>
              <a:t>Tsubasa orijin noktasından topu havaya doğru dikmiş ve çadırın üstünü aşırtarak B noktasında Wakabayashi yakalamıştır. Topun yatay mesafede aldığı yol x(m) , düşey mesafede aldığı yok y(m) olmak üzere bu parabolün denklemi</a:t>
            </a:r>
          </a:p>
        </p:txBody>
      </p:sp>
      <p:sp>
        <p:nvSpPr>
          <p:cNvPr id="104" name="Metin kutusu 103"/>
          <p:cNvSpPr txBox="1"/>
          <p:nvPr/>
        </p:nvSpPr>
        <p:spPr>
          <a:xfrm>
            <a:off x="6228506" y="4860032"/>
            <a:ext cx="584870" cy="276999"/>
          </a:xfrm>
          <a:prstGeom prst="rect">
            <a:avLst/>
          </a:prstGeom>
          <a:noFill/>
        </p:spPr>
        <p:txBody>
          <a:bodyPr wrap="square" rtlCol="0">
            <a:spAutoFit/>
          </a:bodyPr>
          <a:lstStyle/>
          <a:p>
            <a:r>
              <a:rPr lang="tr-TR" sz="1200" dirty="0" smtClean="0">
                <a:solidFill>
                  <a:schemeClr val="tx1">
                    <a:lumMod val="85000"/>
                    <a:lumOff val="15000"/>
                  </a:schemeClr>
                </a:solidFill>
              </a:rPr>
              <a:t>B</a:t>
            </a:r>
            <a:endParaRPr lang="tr-TR" sz="1200" b="1" dirty="0">
              <a:solidFill>
                <a:schemeClr val="tx1">
                  <a:lumMod val="85000"/>
                  <a:lumOff val="15000"/>
                </a:schemeClr>
              </a:solidFill>
            </a:endParaRPr>
          </a:p>
        </p:txBody>
      </p:sp>
      <p:pic>
        <p:nvPicPr>
          <p:cNvPr id="21" name="Resim 20"/>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176895" y="4427984"/>
            <a:ext cx="325754" cy="453298"/>
          </a:xfrm>
          <a:prstGeom prst="rect">
            <a:avLst/>
          </a:prstGeom>
        </p:spPr>
      </p:pic>
      <p:sp>
        <p:nvSpPr>
          <p:cNvPr id="105" name="Metin kutusu 104"/>
          <p:cNvSpPr txBox="1"/>
          <p:nvPr/>
        </p:nvSpPr>
        <p:spPr>
          <a:xfrm>
            <a:off x="4618205" y="6543132"/>
            <a:ext cx="178947" cy="184666"/>
          </a:xfrm>
          <a:prstGeom prst="rect">
            <a:avLst/>
          </a:prstGeom>
          <a:noFill/>
        </p:spPr>
        <p:txBody>
          <a:bodyPr wrap="square" rtlCol="0">
            <a:spAutoFit/>
          </a:bodyPr>
          <a:lstStyle/>
          <a:p>
            <a:r>
              <a:rPr lang="tr-TR" sz="600" noProof="1" smtClean="0">
                <a:solidFill>
                  <a:schemeClr val="tx1">
                    <a:lumMod val="85000"/>
                    <a:lumOff val="15000"/>
                  </a:schemeClr>
                </a:solidFill>
              </a:rPr>
              <a:t>2</a:t>
            </a:r>
            <a:endParaRPr lang="tr-TR" sz="600" noProof="1">
              <a:solidFill>
                <a:schemeClr val="tx1">
                  <a:lumMod val="85000"/>
                  <a:lumOff val="15000"/>
                </a:schemeClr>
              </a:solidFill>
            </a:endParaRPr>
          </a:p>
        </p:txBody>
      </p:sp>
      <p:sp>
        <p:nvSpPr>
          <p:cNvPr id="22" name="Dikdörtgen 21"/>
          <p:cNvSpPr/>
          <p:nvPr/>
        </p:nvSpPr>
        <p:spPr>
          <a:xfrm>
            <a:off x="3429000" y="6938473"/>
            <a:ext cx="3609206" cy="1200329"/>
          </a:xfrm>
          <a:prstGeom prst="rect">
            <a:avLst/>
          </a:prstGeom>
        </p:spPr>
        <p:txBody>
          <a:bodyPr wrap="square">
            <a:spAutoFit/>
          </a:bodyPr>
          <a:lstStyle/>
          <a:p>
            <a:r>
              <a:rPr lang="tr-TR" sz="1200" b="1" noProof="1">
                <a:solidFill>
                  <a:schemeClr val="tx1">
                    <a:lumMod val="85000"/>
                    <a:lumOff val="15000"/>
                  </a:schemeClr>
                </a:solidFill>
              </a:rPr>
              <a:t>K : Topun yatay olarak aldığı mesafe kaç </a:t>
            </a:r>
            <a:r>
              <a:rPr lang="tr-TR" sz="1200" b="1" noProof="1" smtClean="0">
                <a:solidFill>
                  <a:schemeClr val="tx1">
                    <a:lumMod val="85000"/>
                    <a:lumOff val="15000"/>
                  </a:schemeClr>
                </a:solidFill>
              </a:rPr>
              <a:t>metredir?</a:t>
            </a:r>
            <a:endParaRPr lang="tr-TR" sz="1200" b="1" noProof="1">
              <a:solidFill>
                <a:schemeClr val="tx1">
                  <a:lumMod val="85000"/>
                  <a:lumOff val="15000"/>
                </a:schemeClr>
              </a:solidFill>
            </a:endParaRPr>
          </a:p>
          <a:p>
            <a:r>
              <a:rPr lang="tr-TR" sz="1200" b="1" noProof="1">
                <a:solidFill>
                  <a:schemeClr val="tx1">
                    <a:lumMod val="85000"/>
                    <a:lumOff val="15000"/>
                  </a:schemeClr>
                </a:solidFill>
              </a:rPr>
              <a:t>L : Topun wakabayashi`ye ulaşması için topun </a:t>
            </a:r>
            <a:r>
              <a:rPr lang="tr-TR" sz="1200" b="1" u="sng" noProof="1">
                <a:solidFill>
                  <a:schemeClr val="tx1">
                    <a:lumMod val="85000"/>
                    <a:lumOff val="15000"/>
                  </a:schemeClr>
                </a:solidFill>
              </a:rPr>
              <a:t>en çok </a:t>
            </a:r>
            <a:r>
              <a:rPr lang="tr-TR" sz="1200" b="1" noProof="1">
                <a:solidFill>
                  <a:schemeClr val="tx1">
                    <a:lumMod val="85000"/>
                    <a:lumOff val="15000"/>
                  </a:schemeClr>
                </a:solidFill>
              </a:rPr>
              <a:t>kaç metre yüksekliğindeki </a:t>
            </a:r>
            <a:r>
              <a:rPr lang="tr-TR" sz="1200" b="1" noProof="1" smtClean="0">
                <a:solidFill>
                  <a:schemeClr val="tx1">
                    <a:lumMod val="85000"/>
                    <a:lumOff val="15000"/>
                  </a:schemeClr>
                </a:solidFill>
              </a:rPr>
              <a:t>bir çadırın boyunu aşması gerekir? </a:t>
            </a:r>
          </a:p>
          <a:p>
            <a:endParaRPr lang="tr-TR" sz="1200" b="1" noProof="1">
              <a:solidFill>
                <a:schemeClr val="tx1">
                  <a:lumMod val="85000"/>
                  <a:lumOff val="15000"/>
                </a:schemeClr>
              </a:solidFill>
            </a:endParaRPr>
          </a:p>
          <a:p>
            <a:r>
              <a:rPr lang="tr-TR" sz="1200" b="1" noProof="1" smtClean="0">
                <a:solidFill>
                  <a:schemeClr val="tx1">
                    <a:lumMod val="85000"/>
                    <a:lumOff val="15000"/>
                  </a:schemeClr>
                </a:solidFill>
              </a:rPr>
              <a:t>K ve L sorularının doğru cevaplarının toplamı kaçtır?</a:t>
            </a:r>
            <a:endParaRPr lang="tr-TR" sz="1200" b="1" noProof="1">
              <a:solidFill>
                <a:schemeClr val="tx1">
                  <a:lumMod val="85000"/>
                  <a:lumOff val="15000"/>
                </a:schemeClr>
              </a:solidFill>
            </a:endParaRPr>
          </a:p>
        </p:txBody>
      </p:sp>
      <p:pic>
        <p:nvPicPr>
          <p:cNvPr id="26" name="Resim 2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3563917" y="4387048"/>
            <a:ext cx="574151" cy="567356"/>
          </a:xfrm>
          <a:prstGeom prst="rect">
            <a:avLst/>
          </a:prstGeom>
        </p:spPr>
      </p:pic>
      <p:sp>
        <p:nvSpPr>
          <p:cNvPr id="106" name="Metin kutusu 105"/>
          <p:cNvSpPr txBox="1"/>
          <p:nvPr/>
        </p:nvSpPr>
        <p:spPr>
          <a:xfrm>
            <a:off x="4962482" y="6588224"/>
            <a:ext cx="1783289" cy="276999"/>
          </a:xfrm>
          <a:prstGeom prst="rect">
            <a:avLst/>
          </a:prstGeom>
          <a:noFill/>
        </p:spPr>
        <p:txBody>
          <a:bodyPr wrap="square" rtlCol="0">
            <a:spAutoFit/>
          </a:bodyPr>
          <a:lstStyle/>
          <a:p>
            <a:r>
              <a:rPr lang="tr-TR" sz="1200" noProof="1" smtClean="0">
                <a:solidFill>
                  <a:schemeClr val="tx1">
                    <a:lumMod val="85000"/>
                    <a:lumOff val="15000"/>
                  </a:schemeClr>
                </a:solidFill>
              </a:rPr>
              <a:t>şeklinde modellenmiştir.</a:t>
            </a:r>
          </a:p>
        </p:txBody>
      </p:sp>
    </p:spTree>
    <p:extLst>
      <p:ext uri="{BB962C8B-B14F-4D97-AF65-F5344CB8AC3E}">
        <p14:creationId xmlns:p14="http://schemas.microsoft.com/office/powerpoint/2010/main" val="10670202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6.</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7.</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51089" y="8820472"/>
            <a:ext cx="657279" cy="353943"/>
          </a:xfrm>
          <a:prstGeom prst="rect">
            <a:avLst/>
          </a:prstGeom>
          <a:noFill/>
        </p:spPr>
        <p:txBody>
          <a:bodyPr wrap="square" rtlCol="0">
            <a:spAutoFit/>
          </a:bodyPr>
          <a:lstStyle/>
          <a:p>
            <a:pPr algn="ctr"/>
            <a:r>
              <a:rPr lang="tr-TR" sz="1700" b="1" dirty="0" smtClean="0">
                <a:solidFill>
                  <a:schemeClr val="bg1"/>
                </a:solidFill>
              </a:rPr>
              <a:t>8</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4</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138" name="Dikdörtgen 137"/>
          <p:cNvSpPr/>
          <p:nvPr/>
        </p:nvSpPr>
        <p:spPr>
          <a:xfrm>
            <a:off x="92035" y="8819480"/>
            <a:ext cx="1248733"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39" name="Metin kutusu 138"/>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6.C</a:t>
            </a:r>
            <a:endParaRPr lang="tr-TR" sz="1000" dirty="0">
              <a:solidFill>
                <a:schemeClr val="tx1">
                  <a:lumMod val="85000"/>
                  <a:lumOff val="15000"/>
                </a:schemeClr>
              </a:solidFill>
            </a:endParaRPr>
          </a:p>
        </p:txBody>
      </p:sp>
      <p:sp>
        <p:nvSpPr>
          <p:cNvPr id="140" name="Metin kutusu 139"/>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7.D</a:t>
            </a:r>
            <a:endParaRPr lang="tr-TR" sz="1000" dirty="0">
              <a:solidFill>
                <a:schemeClr val="tx1">
                  <a:lumMod val="85000"/>
                  <a:lumOff val="15000"/>
                </a:schemeClr>
              </a:solidFill>
            </a:endParaRPr>
          </a:p>
        </p:txBody>
      </p:sp>
      <p:cxnSp>
        <p:nvCxnSpPr>
          <p:cNvPr id="145" name="Düz Bağlayıcı 144"/>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48" name="Düz Bağlayıcı 147"/>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50" name="Dikdörtgen 14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5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descr="C:\Users\Pc\AppData\Local\Microsoft\Windows\Temporary Internet Files\Content.IE5\GRK5B6ZB\high-heeled-shoes-303218_960_72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4392" y="771810"/>
            <a:ext cx="2504608" cy="2033053"/>
          </a:xfrm>
          <a:prstGeom prst="rect">
            <a:avLst/>
          </a:prstGeom>
          <a:noFill/>
          <a:extLst>
            <a:ext uri="{909E8E84-426E-40DD-AFC4-6F175D3DCCD1}">
              <a14:hiddenFill xmlns:a14="http://schemas.microsoft.com/office/drawing/2010/main">
                <a:solidFill>
                  <a:srgbClr val="FFFFFF"/>
                </a:solidFill>
              </a14:hiddenFill>
            </a:ext>
          </a:extLst>
        </p:spPr>
      </p:pic>
      <p:sp>
        <p:nvSpPr>
          <p:cNvPr id="12" name="Serbest Form 11"/>
          <p:cNvSpPr/>
          <p:nvPr/>
        </p:nvSpPr>
        <p:spPr>
          <a:xfrm>
            <a:off x="184350" y="1432550"/>
            <a:ext cx="2092521" cy="1303030"/>
          </a:xfrm>
          <a:custGeom>
            <a:avLst/>
            <a:gdLst>
              <a:gd name="connsiteX0" fmla="*/ 0 w 2057400"/>
              <a:gd name="connsiteY0" fmla="*/ 1303030 h 1303030"/>
              <a:gd name="connsiteX1" fmla="*/ 853440 w 2057400"/>
              <a:gd name="connsiteY1" fmla="*/ 10 h 1303030"/>
              <a:gd name="connsiteX2" fmla="*/ 2057400 w 2057400"/>
              <a:gd name="connsiteY2" fmla="*/ 1280170 h 1303030"/>
            </a:gdLst>
            <a:ahLst/>
            <a:cxnLst>
              <a:cxn ang="0">
                <a:pos x="connsiteX0" y="connsiteY0"/>
              </a:cxn>
              <a:cxn ang="0">
                <a:pos x="connsiteX1" y="connsiteY1"/>
              </a:cxn>
              <a:cxn ang="0">
                <a:pos x="connsiteX2" y="connsiteY2"/>
              </a:cxn>
            </a:cxnLst>
            <a:rect l="l" t="t" r="r" b="b"/>
            <a:pathLst>
              <a:path w="2057400" h="1303030">
                <a:moveTo>
                  <a:pt x="0" y="1303030"/>
                </a:moveTo>
                <a:cubicBezTo>
                  <a:pt x="255270" y="653425"/>
                  <a:pt x="510540" y="3820"/>
                  <a:pt x="853440" y="10"/>
                </a:cubicBezTo>
                <a:cubicBezTo>
                  <a:pt x="1196340" y="-3800"/>
                  <a:pt x="1863090" y="1041410"/>
                  <a:pt x="2057400" y="1280170"/>
                </a:cubicBezTo>
              </a:path>
            </a:pathLst>
          </a:cu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3" name="Metin kutusu 102"/>
          <p:cNvSpPr txBox="1"/>
          <p:nvPr/>
        </p:nvSpPr>
        <p:spPr>
          <a:xfrm>
            <a:off x="53884" y="3275856"/>
            <a:ext cx="3109099" cy="1938992"/>
          </a:xfrm>
          <a:prstGeom prst="rect">
            <a:avLst/>
          </a:prstGeom>
          <a:noFill/>
        </p:spPr>
        <p:txBody>
          <a:bodyPr wrap="square" rtlCol="0">
            <a:spAutoFit/>
          </a:bodyPr>
          <a:lstStyle/>
          <a:p>
            <a:r>
              <a:rPr lang="tr-TR" sz="1200" dirty="0" smtClean="0">
                <a:solidFill>
                  <a:schemeClr val="tx1">
                    <a:lumMod val="85000"/>
                    <a:lumOff val="15000"/>
                  </a:schemeClr>
                </a:solidFill>
              </a:rPr>
              <a:t>Yukarıda bir topuklu ayakkabı görseli ve bilgisayar ortamında çizilen bir parabol görseli verilmiştir.  </a:t>
            </a:r>
            <a:r>
              <a:rPr lang="tr-TR" sz="1200" b="1" dirty="0" smtClean="0">
                <a:solidFill>
                  <a:schemeClr val="tx1">
                    <a:lumMod val="85000"/>
                    <a:lumOff val="15000"/>
                  </a:schemeClr>
                </a:solidFill>
              </a:rPr>
              <a:t>|KL| = 3|LM| eşitliği sağlanmaktadır. Parabolün kökleri arasındaki mesafe 8 birim ölçülmüştür.</a:t>
            </a:r>
            <a:r>
              <a:rPr lang="tr-TR" sz="1200" dirty="0" smtClean="0">
                <a:solidFill>
                  <a:schemeClr val="tx1">
                    <a:lumMod val="85000"/>
                    <a:lumOff val="15000"/>
                  </a:schemeClr>
                </a:solidFill>
              </a:rPr>
              <a:t> Topuklu ayakkabının topuğunun yüksekliğini L noktasının apsis değeri sağlamaktadır.</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Buna göre, topuklu ayakkabının yüksekliği kaç birimdir? </a:t>
            </a:r>
            <a:endParaRPr lang="tr-TR" sz="1200" b="1" dirty="0">
              <a:solidFill>
                <a:schemeClr val="tx1">
                  <a:lumMod val="85000"/>
                  <a:lumOff val="15000"/>
                </a:schemeClr>
              </a:solidFill>
            </a:endParaRPr>
          </a:p>
        </p:txBody>
      </p:sp>
      <p:sp>
        <p:nvSpPr>
          <p:cNvPr id="108" name="Metin kutusu 107"/>
          <p:cNvSpPr txBox="1"/>
          <p:nvPr/>
        </p:nvSpPr>
        <p:spPr>
          <a:xfrm>
            <a:off x="44624" y="2735580"/>
            <a:ext cx="298838" cy="276999"/>
          </a:xfrm>
          <a:prstGeom prst="rect">
            <a:avLst/>
          </a:prstGeom>
          <a:noFill/>
        </p:spPr>
        <p:txBody>
          <a:bodyPr wrap="square" rtlCol="0">
            <a:spAutoFit/>
          </a:bodyPr>
          <a:lstStyle/>
          <a:p>
            <a:r>
              <a:rPr lang="tr-TR" sz="1200" dirty="0">
                <a:solidFill>
                  <a:schemeClr val="tx1">
                    <a:lumMod val="85000"/>
                    <a:lumOff val="15000"/>
                  </a:schemeClr>
                </a:solidFill>
              </a:rPr>
              <a:t>K</a:t>
            </a:r>
          </a:p>
        </p:txBody>
      </p:sp>
      <p:sp>
        <p:nvSpPr>
          <p:cNvPr id="109" name="Metin kutusu 108"/>
          <p:cNvSpPr txBox="1"/>
          <p:nvPr/>
        </p:nvSpPr>
        <p:spPr>
          <a:xfrm>
            <a:off x="1129384" y="2735580"/>
            <a:ext cx="298838" cy="276999"/>
          </a:xfrm>
          <a:prstGeom prst="rect">
            <a:avLst/>
          </a:prstGeom>
          <a:noFill/>
        </p:spPr>
        <p:txBody>
          <a:bodyPr wrap="square" rtlCol="0">
            <a:spAutoFit/>
          </a:bodyPr>
          <a:lstStyle/>
          <a:p>
            <a:r>
              <a:rPr lang="tr-TR" sz="1200" dirty="0" smtClean="0">
                <a:solidFill>
                  <a:schemeClr val="tx1">
                    <a:lumMod val="85000"/>
                    <a:lumOff val="15000"/>
                  </a:schemeClr>
                </a:solidFill>
              </a:rPr>
              <a:t>L</a:t>
            </a:r>
            <a:endParaRPr lang="tr-TR" sz="1200" dirty="0">
              <a:solidFill>
                <a:schemeClr val="tx1">
                  <a:lumMod val="85000"/>
                  <a:lumOff val="15000"/>
                </a:schemeClr>
              </a:solidFill>
            </a:endParaRPr>
          </a:p>
        </p:txBody>
      </p:sp>
      <p:sp>
        <p:nvSpPr>
          <p:cNvPr id="113" name="Metin kutusu 112"/>
          <p:cNvSpPr txBox="1"/>
          <p:nvPr/>
        </p:nvSpPr>
        <p:spPr>
          <a:xfrm>
            <a:off x="2055445" y="2735579"/>
            <a:ext cx="298838" cy="276999"/>
          </a:xfrm>
          <a:prstGeom prst="rect">
            <a:avLst/>
          </a:prstGeom>
          <a:noFill/>
        </p:spPr>
        <p:txBody>
          <a:bodyPr wrap="square" rtlCol="0">
            <a:spAutoFit/>
          </a:bodyPr>
          <a:lstStyle/>
          <a:p>
            <a:r>
              <a:rPr lang="tr-TR" sz="1200" dirty="0">
                <a:solidFill>
                  <a:schemeClr val="tx1">
                    <a:lumMod val="85000"/>
                    <a:lumOff val="15000"/>
                  </a:schemeClr>
                </a:solidFill>
              </a:rPr>
              <a:t>M</a:t>
            </a:r>
          </a:p>
        </p:txBody>
      </p:sp>
      <p:sp>
        <p:nvSpPr>
          <p:cNvPr id="119" name="Dikdörtgen 118"/>
          <p:cNvSpPr/>
          <p:nvPr/>
        </p:nvSpPr>
        <p:spPr>
          <a:xfrm>
            <a:off x="53884" y="2987824"/>
            <a:ext cx="2645890" cy="461665"/>
          </a:xfrm>
          <a:prstGeom prst="rect">
            <a:avLst/>
          </a:prstGeom>
        </p:spPr>
        <p:txBody>
          <a:bodyPr wrap="square">
            <a:spAutoFit/>
          </a:bodyPr>
          <a:lstStyle/>
          <a:p>
            <a:pPr algn="just"/>
            <a:r>
              <a:rPr lang="tr-TR" sz="1200" dirty="0" smtClean="0">
                <a:solidFill>
                  <a:schemeClr val="tx1">
                    <a:lumMod val="85000"/>
                    <a:lumOff val="15000"/>
                  </a:schemeClr>
                </a:solidFill>
              </a:rPr>
              <a:t>-  x  + </a:t>
            </a:r>
            <a:r>
              <a:rPr lang="tr-TR" sz="1200" dirty="0">
                <a:solidFill>
                  <a:schemeClr val="tx1">
                    <a:lumMod val="85000"/>
                    <a:lumOff val="15000"/>
                  </a:schemeClr>
                </a:solidFill>
              </a:rPr>
              <a:t>2</a:t>
            </a:r>
            <a:r>
              <a:rPr lang="tr-TR" sz="1200" dirty="0" smtClean="0">
                <a:solidFill>
                  <a:schemeClr val="tx1">
                    <a:lumMod val="85000"/>
                    <a:lumOff val="15000"/>
                  </a:schemeClr>
                </a:solidFill>
              </a:rPr>
              <a:t>x + 15 parabolü modellenmiştir.</a:t>
            </a:r>
          </a:p>
          <a:p>
            <a:pPr algn="just"/>
            <a:endParaRPr lang="tr-TR" sz="1200" dirty="0" smtClean="0">
              <a:solidFill>
                <a:schemeClr val="tx1">
                  <a:lumMod val="85000"/>
                  <a:lumOff val="15000"/>
                </a:schemeClr>
              </a:solidFill>
            </a:endParaRPr>
          </a:p>
        </p:txBody>
      </p:sp>
      <p:sp>
        <p:nvSpPr>
          <p:cNvPr id="124" name="Metin kutusu 123"/>
          <p:cNvSpPr txBox="1"/>
          <p:nvPr/>
        </p:nvSpPr>
        <p:spPr>
          <a:xfrm>
            <a:off x="237294" y="2982883"/>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53" name="Metin kutusu 152"/>
          <p:cNvSpPr txBox="1"/>
          <p:nvPr/>
        </p:nvSpPr>
        <p:spPr>
          <a:xfrm>
            <a:off x="53884" y="5263722"/>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10                            B) </a:t>
            </a:r>
            <a:r>
              <a:rPr lang="tr-TR" sz="1200" dirty="0">
                <a:solidFill>
                  <a:schemeClr val="tx1">
                    <a:lumMod val="85000"/>
                    <a:lumOff val="15000"/>
                  </a:schemeClr>
                </a:solidFill>
              </a:rPr>
              <a:t>1</a:t>
            </a:r>
            <a:r>
              <a:rPr lang="tr-TR" sz="1200" dirty="0" smtClean="0">
                <a:solidFill>
                  <a:schemeClr val="tx1">
                    <a:lumMod val="85000"/>
                    <a:lumOff val="15000"/>
                  </a:schemeClr>
                </a:solidFill>
              </a:rPr>
              <a:t>1                             C) 12</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13                            E) </a:t>
            </a:r>
            <a:r>
              <a:rPr lang="tr-TR" sz="1200" dirty="0">
                <a:solidFill>
                  <a:schemeClr val="tx1">
                    <a:lumMod val="85000"/>
                    <a:lumOff val="15000"/>
                  </a:schemeClr>
                </a:solidFill>
              </a:rPr>
              <a:t> </a:t>
            </a:r>
            <a:r>
              <a:rPr lang="tr-TR" sz="1200" dirty="0" smtClean="0">
                <a:solidFill>
                  <a:schemeClr val="tx1">
                    <a:lumMod val="85000"/>
                    <a:lumOff val="15000"/>
                  </a:schemeClr>
                </a:solidFill>
              </a:rPr>
              <a:t>14</a:t>
            </a:r>
            <a:endParaRPr lang="tr-TR" sz="1200" dirty="0">
              <a:solidFill>
                <a:schemeClr val="tx1">
                  <a:lumMod val="85000"/>
                  <a:lumOff val="15000"/>
                </a:schemeClr>
              </a:solidFill>
            </a:endParaRPr>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7528" y="853569"/>
            <a:ext cx="2903840" cy="17859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7" name="Metin kutusu 16"/>
              <p:cNvSpPr txBox="1"/>
              <p:nvPr/>
            </p:nvSpPr>
            <p:spPr>
              <a:xfrm>
                <a:off x="3825191" y="2735580"/>
                <a:ext cx="2903840" cy="1015663"/>
              </a:xfrm>
              <a:prstGeom prst="rect">
                <a:avLst/>
              </a:prstGeom>
              <a:noFill/>
            </p:spPr>
            <p:txBody>
              <a:bodyPr wrap="square" rtlCol="0">
                <a:spAutoFit/>
              </a:bodyPr>
              <a:lstStyle/>
              <a:p>
                <a:r>
                  <a:rPr lang="tr-TR" sz="1200" b="1" dirty="0" smtClean="0"/>
                  <a:t>Yukarıda parabol şeklinde bir manzara resmi verilmiştir. </a:t>
                </a:r>
                <a14:m>
                  <m:oMath xmlns:m="http://schemas.openxmlformats.org/officeDocument/2006/math">
                    <m:r>
                      <a:rPr lang="tr-TR" sz="1200" b="1" i="1" smtClean="0">
                        <a:latin typeface="Cambria Math"/>
                      </a:rPr>
                      <m:t>𝒂</m:t>
                    </m:r>
                    <m:r>
                      <a:rPr lang="tr-TR" sz="1200" b="1" i="1" smtClean="0">
                        <a:latin typeface="Cambria Math"/>
                      </a:rPr>
                      <m:t>,</m:t>
                    </m:r>
                    <m:r>
                      <a:rPr lang="tr-TR" sz="1200" b="1" i="1" smtClean="0">
                        <a:latin typeface="Cambria Math"/>
                      </a:rPr>
                      <m:t>𝒃</m:t>
                    </m:r>
                    <m:r>
                      <a:rPr lang="tr-TR" sz="1200" b="1" i="1" smtClean="0">
                        <a:latin typeface="Cambria Math"/>
                      </a:rPr>
                      <m:t>,</m:t>
                    </m:r>
                    <m:r>
                      <a:rPr lang="tr-TR" sz="1200" b="1" i="1" smtClean="0">
                        <a:latin typeface="Cambria Math"/>
                      </a:rPr>
                      <m:t>𝒄</m:t>
                    </m:r>
                    <m:r>
                      <a:rPr lang="tr-TR" sz="1200" b="1" i="1" smtClean="0">
                        <a:latin typeface="Cambria Math"/>
                      </a:rPr>
                      <m:t> ∈</m:t>
                    </m:r>
                    <m:r>
                      <a:rPr lang="tr-TR" sz="1200" b="1" i="1" smtClean="0">
                        <a:latin typeface="Cambria Math"/>
                        <a:ea typeface="Cambria Math"/>
                      </a:rPr>
                      <m:t>𝑹</m:t>
                    </m:r>
                  </m:oMath>
                </a14:m>
                <a:endParaRPr lang="tr-TR" sz="1200" b="1" dirty="0" smtClean="0">
                  <a:ea typeface="Cambria Math"/>
                </a:endParaRPr>
              </a:p>
              <a:p>
                <a:r>
                  <a:rPr lang="tr-TR" sz="1200" b="1" dirty="0"/>
                  <a:t>Bu parabolün </a:t>
                </a:r>
                <a:r>
                  <a:rPr lang="tr-TR" sz="1200" b="1" dirty="0" smtClean="0"/>
                  <a:t>denklemi</a:t>
                </a:r>
                <a:r>
                  <a:rPr lang="tr-TR" sz="1200" b="1" dirty="0"/>
                  <a:t> </a:t>
                </a:r>
                <a:r>
                  <a:rPr lang="tr-TR" sz="1200" b="1" dirty="0" smtClean="0"/>
                  <a:t>a x  +  b x + c  üzere aşağıdaki ifadelerden hangisi </a:t>
                </a:r>
                <a:r>
                  <a:rPr lang="tr-TR" sz="1200" b="1" u="sng" dirty="0" smtClean="0"/>
                  <a:t>kesinlikle</a:t>
                </a:r>
                <a:r>
                  <a:rPr lang="tr-TR" sz="1200" b="1" dirty="0" smtClean="0"/>
                  <a:t> doğrudur?</a:t>
                </a:r>
                <a:endParaRPr lang="tr-TR" sz="1200" b="1" dirty="0"/>
              </a:p>
            </p:txBody>
          </p:sp>
        </mc:Choice>
        <mc:Fallback xmlns="">
          <p:sp>
            <p:nvSpPr>
              <p:cNvPr id="17" name="Metin kutusu 16"/>
              <p:cNvSpPr txBox="1">
                <a:spLocks noRot="1" noChangeAspect="1" noMove="1" noResize="1" noEditPoints="1" noAdjustHandles="1" noChangeArrowheads="1" noChangeShapeType="1" noTextEdit="1"/>
              </p:cNvSpPr>
              <p:nvPr/>
            </p:nvSpPr>
            <p:spPr>
              <a:xfrm>
                <a:off x="3825191" y="2735580"/>
                <a:ext cx="2903840" cy="1015663"/>
              </a:xfrm>
              <a:prstGeom prst="rect">
                <a:avLst/>
              </a:prstGeom>
              <a:blipFill rotWithShape="1">
                <a:blip r:embed="rId7"/>
                <a:stretch>
                  <a:fillRect b="-4217"/>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54" name="Metin kutusu 153"/>
              <p:cNvSpPr txBox="1"/>
              <p:nvPr/>
            </p:nvSpPr>
            <p:spPr>
              <a:xfrm>
                <a:off x="3837528" y="3600470"/>
                <a:ext cx="2903840" cy="2123658"/>
              </a:xfrm>
              <a:prstGeom prst="rect">
                <a:avLst/>
              </a:prstGeom>
              <a:noFill/>
            </p:spPr>
            <p:txBody>
              <a:bodyPr wrap="square" rtlCol="0">
                <a:spAutoFit/>
              </a:bodyPr>
              <a:lstStyle/>
              <a:p>
                <a:endParaRPr lang="tr-TR" sz="1200" dirty="0"/>
              </a:p>
              <a:p>
                <a:pPr marL="228600" indent="-228600">
                  <a:buAutoNum type="alphaUcParenR"/>
                </a:pPr>
                <a:r>
                  <a:rPr lang="tr-TR" sz="1200" dirty="0" smtClean="0"/>
                  <a:t>Kökler toplamı çift bir sayıdır.</a:t>
                </a:r>
              </a:p>
              <a:p>
                <a:pPr marL="228600" indent="-228600">
                  <a:buFontTx/>
                  <a:buAutoNum type="alphaUcParenR"/>
                </a:pPr>
                <a:endParaRPr lang="tr-TR" sz="1200" dirty="0" smtClean="0">
                  <a:latin typeface="Cambria Math"/>
                  <a:ea typeface="Cambria Math"/>
                </a:endParaRPr>
              </a:p>
              <a:p>
                <a:pPr marL="228600" indent="-228600">
                  <a:buFontTx/>
                  <a:buAutoNum type="alphaUcParenR"/>
                </a:pPr>
                <a14:m>
                  <m:oMath xmlns:m="http://schemas.openxmlformats.org/officeDocument/2006/math">
                    <m:r>
                      <a:rPr lang="tr-TR" sz="1200" dirty="0">
                        <a:latin typeface="Cambria Math"/>
                        <a:ea typeface="Cambria Math"/>
                      </a:rPr>
                      <m:t>∀ </m:t>
                    </m:r>
                    <m:r>
                      <m:rPr>
                        <m:sty m:val="p"/>
                      </m:rPr>
                      <a:rPr lang="tr-TR" sz="1200" dirty="0">
                        <a:latin typeface="Cambria Math"/>
                        <a:ea typeface="Cambria Math"/>
                      </a:rPr>
                      <m:t>x</m:t>
                    </m:r>
                    <m:r>
                      <a:rPr lang="tr-TR" sz="1200" dirty="0">
                        <a:latin typeface="Cambria Math"/>
                        <a:ea typeface="Cambria Math"/>
                      </a:rPr>
                      <m:t> </m:t>
                    </m:r>
                    <m:r>
                      <m:rPr>
                        <m:sty m:val="p"/>
                      </m:rPr>
                      <a:rPr lang="tr-TR" sz="1200" dirty="0">
                        <a:latin typeface="Cambria Math"/>
                        <a:ea typeface="Cambria Math"/>
                      </a:rPr>
                      <m:t>say</m:t>
                    </m:r>
                    <m:r>
                      <a:rPr lang="tr-TR" sz="1200" dirty="0">
                        <a:latin typeface="Cambria Math"/>
                        <a:ea typeface="Cambria Math"/>
                      </a:rPr>
                      <m:t>ı</m:t>
                    </m:r>
                    <m:r>
                      <m:rPr>
                        <m:sty m:val="p"/>
                      </m:rPr>
                      <a:rPr lang="tr-TR" sz="1200" dirty="0">
                        <a:latin typeface="Cambria Math"/>
                        <a:ea typeface="Cambria Math"/>
                      </a:rPr>
                      <m:t>s</m:t>
                    </m:r>
                    <m:r>
                      <a:rPr lang="tr-TR" sz="1200" dirty="0">
                        <a:latin typeface="Cambria Math"/>
                        <a:ea typeface="Cambria Math"/>
                      </a:rPr>
                      <m:t>ı </m:t>
                    </m:r>
                    <m:r>
                      <m:rPr>
                        <m:sty m:val="p"/>
                      </m:rPr>
                      <a:rPr lang="tr-TR" sz="1200" dirty="0">
                        <a:latin typeface="Cambria Math"/>
                        <a:ea typeface="Cambria Math"/>
                      </a:rPr>
                      <m:t>i</m:t>
                    </m:r>
                    <m:r>
                      <a:rPr lang="tr-TR" sz="1200" dirty="0">
                        <a:latin typeface="Cambria Math"/>
                        <a:ea typeface="Cambria Math"/>
                      </a:rPr>
                      <m:t>ç</m:t>
                    </m:r>
                    <m:r>
                      <m:rPr>
                        <m:sty m:val="p"/>
                      </m:rPr>
                      <a:rPr lang="tr-TR" sz="1200" dirty="0">
                        <a:latin typeface="Cambria Math"/>
                        <a:ea typeface="Cambria Math"/>
                      </a:rPr>
                      <m:t>in</m:t>
                    </m:r>
                    <m:r>
                      <a:rPr lang="tr-TR" sz="1200" dirty="0">
                        <a:latin typeface="Cambria Math"/>
                        <a:ea typeface="Cambria Math"/>
                      </a:rPr>
                      <m:t> </m:t>
                    </m:r>
                    <m:r>
                      <m:rPr>
                        <m:sty m:val="p"/>
                      </m:rPr>
                      <a:rPr lang="tr-TR" sz="1200" dirty="0">
                        <a:latin typeface="Cambria Math"/>
                        <a:ea typeface="Cambria Math"/>
                      </a:rPr>
                      <m:t>g</m:t>
                    </m:r>
                    <m:r>
                      <a:rPr lang="tr-TR" sz="1200" dirty="0">
                        <a:latin typeface="Cambria Math"/>
                        <a:ea typeface="Cambria Math"/>
                      </a:rPr>
                      <m:t>ö</m:t>
                    </m:r>
                    <m:r>
                      <m:rPr>
                        <m:sty m:val="p"/>
                      </m:rPr>
                      <a:rPr lang="tr-TR" sz="1200" dirty="0">
                        <a:latin typeface="Cambria Math"/>
                        <a:ea typeface="Cambria Math"/>
                      </a:rPr>
                      <m:t>r</m:t>
                    </m:r>
                    <m:r>
                      <a:rPr lang="tr-TR" sz="1200" dirty="0">
                        <a:latin typeface="Cambria Math"/>
                        <a:ea typeface="Cambria Math"/>
                      </a:rPr>
                      <m:t>ü</m:t>
                    </m:r>
                    <m:r>
                      <m:rPr>
                        <m:sty m:val="p"/>
                      </m:rPr>
                      <a:rPr lang="tr-TR" sz="1200" dirty="0">
                        <a:latin typeface="Cambria Math"/>
                        <a:ea typeface="Cambria Math"/>
                      </a:rPr>
                      <m:t>nt</m:t>
                    </m:r>
                    <m:r>
                      <a:rPr lang="tr-TR" sz="1200" dirty="0">
                        <a:latin typeface="Cambria Math"/>
                        <a:ea typeface="Cambria Math"/>
                      </a:rPr>
                      <m:t>ü </m:t>
                    </m:r>
                    <m:r>
                      <m:rPr>
                        <m:sty m:val="p"/>
                      </m:rPr>
                      <a:rPr lang="tr-TR" sz="1200" dirty="0">
                        <a:latin typeface="Cambria Math"/>
                        <a:ea typeface="Cambria Math"/>
                      </a:rPr>
                      <m:t>pozitif</m:t>
                    </m:r>
                    <m:r>
                      <a:rPr lang="tr-TR" sz="1200" dirty="0">
                        <a:latin typeface="Cambria Math"/>
                        <a:ea typeface="Cambria Math"/>
                      </a:rPr>
                      <m:t> çı</m:t>
                    </m:r>
                    <m:r>
                      <m:rPr>
                        <m:sty m:val="p"/>
                      </m:rPr>
                      <a:rPr lang="tr-TR" sz="1200" dirty="0">
                        <a:latin typeface="Cambria Math"/>
                        <a:ea typeface="Cambria Math"/>
                      </a:rPr>
                      <m:t>kar</m:t>
                    </m:r>
                    <m:r>
                      <a:rPr lang="tr-TR" sz="1200" dirty="0">
                        <a:latin typeface="Cambria Math"/>
                        <a:ea typeface="Cambria Math"/>
                      </a:rPr>
                      <m:t>.</m:t>
                    </m:r>
                  </m:oMath>
                </a14:m>
                <a:endParaRPr lang="tr-TR" sz="1200" dirty="0">
                  <a:ea typeface="Cambria Math"/>
                </a:endParaRPr>
              </a:p>
              <a:p>
                <a:pPr marL="228600" indent="-228600">
                  <a:buAutoNum type="alphaUcParenR"/>
                </a:pPr>
                <a:endParaRPr lang="tr-TR" sz="1200" dirty="0"/>
              </a:p>
              <a:p>
                <a:pPr marL="228600" indent="-228600">
                  <a:buAutoNum type="alphaUcParenR"/>
                </a:pPr>
                <a:r>
                  <a:rPr lang="tr-TR" sz="1200" dirty="0" smtClean="0"/>
                  <a:t>b&gt;0 ve b&gt;c eşitsizliği sağlanır.</a:t>
                </a:r>
              </a:p>
              <a:p>
                <a:pPr marL="228600" indent="-228600">
                  <a:buAutoNum type="alphaUcParenR"/>
                </a:pPr>
                <a:endParaRPr lang="tr-TR" sz="1200" dirty="0"/>
              </a:p>
              <a:p>
                <a:pPr marL="228600" indent="-228600">
                  <a:buAutoNum type="alphaUcParenR"/>
                </a:pPr>
                <a:r>
                  <a:rPr lang="tr-TR" sz="1200" dirty="0" smtClean="0"/>
                  <a:t>a negatif bir sayıdır.</a:t>
                </a:r>
              </a:p>
              <a:p>
                <a:pPr marL="228600" indent="-228600">
                  <a:buAutoNum type="alphaUcParenR"/>
                </a:pPr>
                <a:endParaRPr lang="tr-TR" sz="1200" dirty="0"/>
              </a:p>
              <a:p>
                <a:pPr marL="228600" indent="-228600">
                  <a:buAutoNum type="alphaUcParenR"/>
                </a:pPr>
                <a:r>
                  <a:rPr lang="tr-TR" sz="1200" dirty="0" smtClean="0"/>
                  <a:t>Kökler arası uzaklık b sayısının yarısı kadardır.</a:t>
                </a:r>
                <a:endParaRPr lang="tr-TR" sz="1200" dirty="0"/>
              </a:p>
            </p:txBody>
          </p:sp>
        </mc:Choice>
        <mc:Fallback xmlns="">
          <p:sp>
            <p:nvSpPr>
              <p:cNvPr id="154" name="Metin kutusu 153"/>
              <p:cNvSpPr txBox="1">
                <a:spLocks noRot="1" noChangeAspect="1" noMove="1" noResize="1" noEditPoints="1" noAdjustHandles="1" noChangeArrowheads="1" noChangeShapeType="1" noTextEdit="1"/>
              </p:cNvSpPr>
              <p:nvPr/>
            </p:nvSpPr>
            <p:spPr>
              <a:xfrm>
                <a:off x="3837528" y="3600470"/>
                <a:ext cx="2903840" cy="2123658"/>
              </a:xfrm>
              <a:prstGeom prst="rect">
                <a:avLst/>
              </a:prstGeom>
              <a:blipFill rotWithShape="1">
                <a:blip r:embed="rId8"/>
                <a:stretch>
                  <a:fillRect l="-210" b="-1437"/>
                </a:stretch>
              </a:blipFill>
            </p:spPr>
            <p:txBody>
              <a:bodyPr/>
              <a:lstStyle/>
              <a:p>
                <a:r>
                  <a:rPr lang="tr-TR">
                    <a:noFill/>
                  </a:rPr>
                  <a:t> </a:t>
                </a:r>
              </a:p>
            </p:txBody>
          </p:sp>
        </mc:Fallback>
      </mc:AlternateContent>
      <p:sp>
        <p:nvSpPr>
          <p:cNvPr id="155" name="Metin kutusu 154"/>
          <p:cNvSpPr txBox="1"/>
          <p:nvPr/>
        </p:nvSpPr>
        <p:spPr>
          <a:xfrm>
            <a:off x="5517232" y="307580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50" name="Metin kutusu 49"/>
          <p:cNvSpPr txBox="1"/>
          <p:nvPr/>
        </p:nvSpPr>
        <p:spPr>
          <a:xfrm>
            <a:off x="3517093" y="6677571"/>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8.</a:t>
            </a:r>
            <a:endParaRPr lang="tr-TR" sz="1400" b="1" dirty="0">
              <a:solidFill>
                <a:srgbClr val="C00000"/>
              </a:solidFill>
              <a:latin typeface="Arial Narrow" panose="020B0606020202030204" pitchFamily="34" charset="0"/>
            </a:endParaRPr>
          </a:p>
        </p:txBody>
      </p:sp>
      <p:sp>
        <p:nvSpPr>
          <p:cNvPr id="51" name="Dikdörtgen 50"/>
          <p:cNvSpPr/>
          <p:nvPr/>
        </p:nvSpPr>
        <p:spPr>
          <a:xfrm>
            <a:off x="3711514" y="6714967"/>
            <a:ext cx="2645890" cy="646331"/>
          </a:xfrm>
          <a:prstGeom prst="rect">
            <a:avLst/>
          </a:prstGeom>
        </p:spPr>
        <p:txBody>
          <a:bodyPr wrap="square">
            <a:spAutoFit/>
          </a:bodyPr>
          <a:lstStyle/>
          <a:p>
            <a:pPr algn="just"/>
            <a:r>
              <a:rPr lang="tr-TR" sz="1200" dirty="0" smtClean="0">
                <a:solidFill>
                  <a:schemeClr val="tx1">
                    <a:lumMod val="85000"/>
                    <a:lumOff val="15000"/>
                  </a:schemeClr>
                </a:solidFill>
              </a:rPr>
              <a:t>f(x) =  x – x - 5 parabolü ile y = 3x – 4 doğrusunun </a:t>
            </a:r>
            <a:r>
              <a:rPr lang="tr-TR" sz="1200" b="1" dirty="0" smtClean="0">
                <a:solidFill>
                  <a:schemeClr val="tx1">
                    <a:lumMod val="85000"/>
                    <a:lumOff val="15000"/>
                  </a:schemeClr>
                </a:solidFill>
              </a:rPr>
              <a:t>oluşturacağı kirişin orta noktasının koordinatlar çarpımı kaçtır?</a:t>
            </a:r>
          </a:p>
        </p:txBody>
      </p:sp>
      <p:sp>
        <p:nvSpPr>
          <p:cNvPr id="52" name="Metin kutusu 51"/>
          <p:cNvSpPr txBox="1"/>
          <p:nvPr/>
        </p:nvSpPr>
        <p:spPr>
          <a:xfrm>
            <a:off x="4221088" y="667757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53" name="Metin kutusu 52"/>
          <p:cNvSpPr txBox="1"/>
          <p:nvPr/>
        </p:nvSpPr>
        <p:spPr>
          <a:xfrm>
            <a:off x="3609949" y="7361298"/>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-2                         B) -2                         C) 4</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-6                        E)</a:t>
            </a:r>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54" name="Metin kutusu 53"/>
              <p:cNvSpPr txBox="1"/>
              <p:nvPr/>
            </p:nvSpPr>
            <p:spPr>
              <a:xfrm>
                <a:off x="5430880" y="7684463"/>
                <a:ext cx="325730" cy="40921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100" i="1" smtClean="0">
                              <a:latin typeface="Cambria Math"/>
                            </a:rPr>
                          </m:ctrlPr>
                        </m:fPr>
                        <m:num>
                          <m:r>
                            <a:rPr lang="tr-TR" sz="1100" b="0" i="1" smtClean="0">
                              <a:latin typeface="Cambria Math"/>
                            </a:rPr>
                            <m:t> 3</m:t>
                          </m:r>
                        </m:num>
                        <m:den>
                          <m:r>
                            <a:rPr lang="tr-TR" sz="1100" b="0" i="1" smtClean="0">
                              <a:latin typeface="Cambria Math"/>
                            </a:rPr>
                            <m:t>4</m:t>
                          </m:r>
                        </m:den>
                      </m:f>
                    </m:oMath>
                  </m:oMathPara>
                </a14:m>
                <a:endParaRPr lang="tr-TR" sz="1100" dirty="0">
                  <a:latin typeface="+mj-lt"/>
                </a:endParaRPr>
              </a:p>
            </p:txBody>
          </p:sp>
        </mc:Choice>
        <mc:Fallback xmlns="">
          <p:sp>
            <p:nvSpPr>
              <p:cNvPr id="54" name="Metin kutusu 53"/>
              <p:cNvSpPr txBox="1">
                <a:spLocks noRot="1" noChangeAspect="1" noMove="1" noResize="1" noEditPoints="1" noAdjustHandles="1" noChangeArrowheads="1" noChangeShapeType="1" noTextEdit="1"/>
              </p:cNvSpPr>
              <p:nvPr/>
            </p:nvSpPr>
            <p:spPr>
              <a:xfrm>
                <a:off x="5430880" y="7684463"/>
                <a:ext cx="325730" cy="409215"/>
              </a:xfrm>
              <a:prstGeom prst="rect">
                <a:avLst/>
              </a:prstGeom>
              <a:blipFill rotWithShape="1">
                <a:blip r:embed="rId9"/>
                <a:stretch>
                  <a:fillRect/>
                </a:stretch>
              </a:blipFill>
            </p:spPr>
            <p:txBody>
              <a:bodyPr/>
              <a:lstStyle/>
              <a:p>
                <a:r>
                  <a:rPr lang="tr-TR">
                    <a:noFill/>
                  </a:rPr>
                  <a:t> </a:t>
                </a:r>
              </a:p>
            </p:txBody>
          </p:sp>
        </mc:Fallback>
      </mc:AlternateContent>
      <p:cxnSp>
        <p:nvCxnSpPr>
          <p:cNvPr id="56" name="Düz Bağlayıcı 55"/>
          <p:cNvCxnSpPr/>
          <p:nvPr/>
        </p:nvCxnSpPr>
        <p:spPr>
          <a:xfrm>
            <a:off x="1340768" y="8820472"/>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57" name="Metin kutusu 56"/>
          <p:cNvSpPr txBox="1"/>
          <p:nvPr/>
        </p:nvSpPr>
        <p:spPr>
          <a:xfrm>
            <a:off x="915731"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8.C</a:t>
            </a:r>
            <a:endParaRPr lang="tr-TR" sz="1000" dirty="0">
              <a:solidFill>
                <a:schemeClr val="tx1">
                  <a:lumMod val="85000"/>
                  <a:lumOff val="15000"/>
                </a:schemeClr>
              </a:solidFill>
            </a:endParaRPr>
          </a:p>
        </p:txBody>
      </p:sp>
      <p:pic>
        <p:nvPicPr>
          <p:cNvPr id="58" name="Resim 5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Tree>
    <p:extLst>
      <p:ext uri="{BB962C8B-B14F-4D97-AF65-F5344CB8AC3E}">
        <p14:creationId xmlns:p14="http://schemas.microsoft.com/office/powerpoint/2010/main" val="92313744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0" name="Serbest Form 2069"/>
          <p:cNvSpPr/>
          <p:nvPr/>
        </p:nvSpPr>
        <p:spPr>
          <a:xfrm>
            <a:off x="22860" y="1249001"/>
            <a:ext cx="6492240" cy="1509439"/>
          </a:xfrm>
          <a:custGeom>
            <a:avLst/>
            <a:gdLst>
              <a:gd name="connsiteX0" fmla="*/ 6492240 w 6492240"/>
              <a:gd name="connsiteY0" fmla="*/ 1357039 h 1509439"/>
              <a:gd name="connsiteX1" fmla="*/ 4709160 w 6492240"/>
              <a:gd name="connsiteY1" fmla="*/ 679 h 1509439"/>
              <a:gd name="connsiteX2" fmla="*/ 0 w 6492240"/>
              <a:gd name="connsiteY2" fmla="*/ 1509439 h 1509439"/>
            </a:gdLst>
            <a:ahLst/>
            <a:cxnLst>
              <a:cxn ang="0">
                <a:pos x="connsiteX0" y="connsiteY0"/>
              </a:cxn>
              <a:cxn ang="0">
                <a:pos x="connsiteX1" y="connsiteY1"/>
              </a:cxn>
              <a:cxn ang="0">
                <a:pos x="connsiteX2" y="connsiteY2"/>
              </a:cxn>
            </a:cxnLst>
            <a:rect l="l" t="t" r="r" b="b"/>
            <a:pathLst>
              <a:path w="6492240" h="1509439">
                <a:moveTo>
                  <a:pt x="6492240" y="1357039"/>
                </a:moveTo>
                <a:cubicBezTo>
                  <a:pt x="6141720" y="666159"/>
                  <a:pt x="5791200" y="-24721"/>
                  <a:pt x="4709160" y="679"/>
                </a:cubicBezTo>
                <a:cubicBezTo>
                  <a:pt x="3627120" y="26079"/>
                  <a:pt x="704850" y="1312589"/>
                  <a:pt x="0" y="1509439"/>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pic>
        <p:nvPicPr>
          <p:cNvPr id="101"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56866" y="1150199"/>
            <a:ext cx="461298" cy="3886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93" y="732153"/>
            <a:ext cx="3360865" cy="28317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9" name="Dikdörtgen 88"/>
          <p:cNvSpPr/>
          <p:nvPr/>
        </p:nvSpPr>
        <p:spPr>
          <a:xfrm flipH="1">
            <a:off x="3933053" y="2675193"/>
            <a:ext cx="2612342" cy="82049"/>
          </a:xfrm>
          <a:prstGeom prst="rect">
            <a:avLst/>
          </a:prstGeom>
          <a:solidFill>
            <a:schemeClr val="accent4">
              <a:lumMod val="40000"/>
              <a:lumOff val="60000"/>
            </a:schemeClr>
          </a:solidFill>
          <a:ln>
            <a:noFill/>
          </a:ln>
          <a:effectLst>
            <a:glow rad="1397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tr-TR">
              <a:effectLst>
                <a:glow rad="228600">
                  <a:schemeClr val="accent4">
                    <a:satMod val="175000"/>
                    <a:alpha val="40000"/>
                  </a:schemeClr>
                </a:glow>
              </a:effectLst>
            </a:endParaRPr>
          </a:p>
        </p:txBody>
      </p:sp>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9.</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51089" y="8820472"/>
            <a:ext cx="657279" cy="353943"/>
          </a:xfrm>
          <a:prstGeom prst="rect">
            <a:avLst/>
          </a:prstGeom>
          <a:noFill/>
        </p:spPr>
        <p:txBody>
          <a:bodyPr wrap="square" rtlCol="0">
            <a:spAutoFit/>
          </a:bodyPr>
          <a:lstStyle/>
          <a:p>
            <a:pPr algn="ctr"/>
            <a:r>
              <a:rPr lang="tr-TR" sz="1700" b="1" dirty="0" smtClean="0">
                <a:solidFill>
                  <a:schemeClr val="bg1"/>
                </a:solidFill>
              </a:rPr>
              <a:t>8</a:t>
            </a:r>
          </a:p>
        </p:txBody>
      </p:sp>
      <p:sp>
        <p:nvSpPr>
          <p:cNvPr id="2" name="Beşgen 1"/>
          <p:cNvSpPr/>
          <p:nvPr/>
        </p:nvSpPr>
        <p:spPr>
          <a:xfrm>
            <a:off x="-27383" y="-36512"/>
            <a:ext cx="6875042" cy="720080"/>
          </a:xfrm>
          <a:prstGeom prst="homePlate">
            <a:avLst/>
          </a:prstGeom>
          <a:blipFill dpi="0" rotWithShape="1">
            <a:blip r:embed="rId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Test 4</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15" name="Oval 1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10" name="Metin kutusu 109"/>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115" name="Metin kutusu 114"/>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126" name="Oval 125"/>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26" name="Düz Bağlayıcı 25"/>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Düz Bağlayıcı 126"/>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28" name="Metin kutusu 127"/>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130" name="Oval 129"/>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35" name="Düz Bağlayıcı 134"/>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36" name="Metin kutusu 135"/>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137" name="Oval 136"/>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50" name="Dikdörtgen 14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51"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4" name="Metin kutusu 123"/>
          <p:cNvSpPr txBox="1"/>
          <p:nvPr/>
        </p:nvSpPr>
        <p:spPr>
          <a:xfrm>
            <a:off x="381310" y="771545"/>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153" name="Metin kutusu 152"/>
          <p:cNvSpPr txBox="1"/>
          <p:nvPr/>
        </p:nvSpPr>
        <p:spPr>
          <a:xfrm>
            <a:off x="111918" y="1823501"/>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0                              B) 1                             C) 2</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3                          E) </a:t>
            </a:r>
            <a:r>
              <a:rPr lang="tr-TR" sz="1200" dirty="0">
                <a:solidFill>
                  <a:schemeClr val="tx1">
                    <a:lumMod val="85000"/>
                    <a:lumOff val="15000"/>
                  </a:schemeClr>
                </a:solidFill>
              </a:rPr>
              <a:t> </a:t>
            </a:r>
            <a:r>
              <a:rPr lang="tr-TR" sz="1200" dirty="0" smtClean="0">
                <a:solidFill>
                  <a:schemeClr val="tx1">
                    <a:lumMod val="85000"/>
                    <a:lumOff val="15000"/>
                  </a:schemeClr>
                </a:solidFill>
              </a:rPr>
              <a:t>4</a:t>
            </a:r>
            <a:endParaRPr lang="tr-TR" sz="1200" dirty="0">
              <a:solidFill>
                <a:schemeClr val="tx1">
                  <a:lumMod val="85000"/>
                  <a:lumOff val="15000"/>
                </a:schemeClr>
              </a:solidFill>
            </a:endParaRPr>
          </a:p>
        </p:txBody>
      </p:sp>
      <p:sp>
        <p:nvSpPr>
          <p:cNvPr id="17" name="Metin kutusu 16"/>
          <p:cNvSpPr txBox="1"/>
          <p:nvPr/>
        </p:nvSpPr>
        <p:spPr>
          <a:xfrm>
            <a:off x="305641" y="807838"/>
            <a:ext cx="2903840" cy="1015663"/>
          </a:xfrm>
          <a:prstGeom prst="rect">
            <a:avLst/>
          </a:prstGeom>
          <a:noFill/>
        </p:spPr>
        <p:txBody>
          <a:bodyPr wrap="square" rtlCol="0">
            <a:spAutoFit/>
          </a:bodyPr>
          <a:lstStyle/>
          <a:p>
            <a:r>
              <a:rPr lang="tr-TR" sz="1200" b="1" dirty="0" smtClean="0"/>
              <a:t>x  + mx + 2m – n parabolünün her x gerçek sayısı için gerçek sayılarda tanımlı kökü olmadığı biliniyor. Buna göre n gerçek sayısının alabileceği en büyük tam sayı değeri kaçtır? </a:t>
            </a:r>
            <a:endParaRPr lang="tr-TR" sz="1200" b="1" dirty="0"/>
          </a:p>
        </p:txBody>
      </p:sp>
      <p:sp>
        <p:nvSpPr>
          <p:cNvPr id="50" name="Dikdörtgen 49"/>
          <p:cNvSpPr/>
          <p:nvPr/>
        </p:nvSpPr>
        <p:spPr>
          <a:xfrm>
            <a:off x="53885" y="8819480"/>
            <a:ext cx="166984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1" name="Metin kutusu 50"/>
          <p:cNvSpPr txBox="1"/>
          <p:nvPr/>
        </p:nvSpPr>
        <p:spPr>
          <a:xfrm>
            <a:off x="25277" y="88311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9.D</a:t>
            </a:r>
            <a:endParaRPr lang="tr-TR" sz="1000" dirty="0">
              <a:solidFill>
                <a:schemeClr val="tx1">
                  <a:lumMod val="85000"/>
                  <a:lumOff val="15000"/>
                </a:schemeClr>
              </a:solidFill>
            </a:endParaRPr>
          </a:p>
        </p:txBody>
      </p:sp>
      <p:sp>
        <p:nvSpPr>
          <p:cNvPr id="52" name="Metin kutusu 51"/>
          <p:cNvSpPr txBox="1"/>
          <p:nvPr/>
        </p:nvSpPr>
        <p:spPr>
          <a:xfrm>
            <a:off x="438935" y="8827037"/>
            <a:ext cx="449284"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 E</a:t>
            </a:r>
            <a:endParaRPr lang="tr-TR" sz="1000" dirty="0">
              <a:solidFill>
                <a:schemeClr val="tx1">
                  <a:lumMod val="85000"/>
                  <a:lumOff val="15000"/>
                </a:schemeClr>
              </a:solidFill>
            </a:endParaRPr>
          </a:p>
        </p:txBody>
      </p:sp>
      <p:sp>
        <p:nvSpPr>
          <p:cNvPr id="53" name="Metin kutusu 52"/>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 </a:t>
            </a:r>
            <a:r>
              <a:rPr lang="tr-TR" sz="1000" dirty="0">
                <a:solidFill>
                  <a:schemeClr val="tx1">
                    <a:lumMod val="85000"/>
                    <a:lumOff val="15000"/>
                  </a:schemeClr>
                </a:solidFill>
              </a:rPr>
              <a:t>B</a:t>
            </a:r>
          </a:p>
        </p:txBody>
      </p:sp>
      <p:sp>
        <p:nvSpPr>
          <p:cNvPr id="54" name="Metin kutusu 53"/>
          <p:cNvSpPr txBox="1"/>
          <p:nvPr/>
        </p:nvSpPr>
        <p:spPr>
          <a:xfrm>
            <a:off x="1300632" y="8820472"/>
            <a:ext cx="456929"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 </a:t>
            </a:r>
            <a:r>
              <a:rPr lang="tr-TR" sz="1000" dirty="0">
                <a:solidFill>
                  <a:schemeClr val="tx1">
                    <a:lumMod val="85000"/>
                    <a:lumOff val="15000"/>
                  </a:schemeClr>
                </a:solidFill>
              </a:rPr>
              <a:t>B</a:t>
            </a:r>
          </a:p>
        </p:txBody>
      </p:sp>
      <p:cxnSp>
        <p:nvCxnSpPr>
          <p:cNvPr id="57" name="Düz Bağlayıcı 56"/>
          <p:cNvCxnSpPr/>
          <p:nvPr/>
        </p:nvCxnSpPr>
        <p:spPr>
          <a:xfrm>
            <a:off x="42983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Düz Bağlayıcı 57"/>
          <p:cNvCxnSpPr/>
          <p:nvPr/>
        </p:nvCxnSpPr>
        <p:spPr>
          <a:xfrm>
            <a:off x="1724517"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Düz Bağlayıcı 59"/>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Düz Bağlayıcı 6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6" name="Metin kutusu 45"/>
          <p:cNvSpPr txBox="1"/>
          <p:nvPr/>
        </p:nvSpPr>
        <p:spPr>
          <a:xfrm>
            <a:off x="3435909" y="755385"/>
            <a:ext cx="389850"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11.</a:t>
            </a:r>
            <a:endParaRPr lang="tr-TR" sz="1400" b="1" dirty="0">
              <a:solidFill>
                <a:srgbClr val="C00000"/>
              </a:solidFill>
              <a:latin typeface="Arial Narrow" panose="020B0606020202030204" pitchFamily="34" charset="0"/>
            </a:endParaRPr>
          </a:p>
        </p:txBody>
      </p:sp>
      <p:sp>
        <p:nvSpPr>
          <p:cNvPr id="20" name="Serbest Form 19"/>
          <p:cNvSpPr/>
          <p:nvPr/>
        </p:nvSpPr>
        <p:spPr>
          <a:xfrm>
            <a:off x="4708511" y="1243770"/>
            <a:ext cx="1809750" cy="1362525"/>
          </a:xfrm>
          <a:custGeom>
            <a:avLst/>
            <a:gdLst>
              <a:gd name="connsiteX0" fmla="*/ 1809750 w 1809750"/>
              <a:gd name="connsiteY0" fmla="*/ 1362525 h 1362525"/>
              <a:gd name="connsiteX1" fmla="*/ 0 w 1809750"/>
              <a:gd name="connsiteY1" fmla="*/ 450 h 1362525"/>
            </a:gdLst>
            <a:ahLst/>
            <a:cxnLst>
              <a:cxn ang="0">
                <a:pos x="connsiteX0" y="connsiteY0"/>
              </a:cxn>
              <a:cxn ang="0">
                <a:pos x="connsiteX1" y="connsiteY1"/>
              </a:cxn>
            </a:cxnLst>
            <a:rect l="l" t="t" r="r" b="b"/>
            <a:pathLst>
              <a:path w="1809750" h="1362525">
                <a:moveTo>
                  <a:pt x="1809750" y="1362525"/>
                </a:moveTo>
                <a:cubicBezTo>
                  <a:pt x="1447006" y="671169"/>
                  <a:pt x="1084262" y="-20187"/>
                  <a:pt x="0" y="450"/>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cxnSp>
        <p:nvCxnSpPr>
          <p:cNvPr id="25" name="Düz Bağlayıcı 24"/>
          <p:cNvCxnSpPr/>
          <p:nvPr/>
        </p:nvCxnSpPr>
        <p:spPr>
          <a:xfrm>
            <a:off x="4708240" y="1264383"/>
            <a:ext cx="271" cy="1368045"/>
          </a:xfrm>
          <a:prstGeom prst="line">
            <a:avLst/>
          </a:prstGeom>
          <a:ln w="31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2051" name="Dirsek Bağlayıcısı 2050"/>
          <p:cNvCxnSpPr/>
          <p:nvPr/>
        </p:nvCxnSpPr>
        <p:spPr>
          <a:xfrm>
            <a:off x="3467735" y="1547664"/>
            <a:ext cx="3084341" cy="1084764"/>
          </a:xfrm>
          <a:prstGeom prst="bentConnector3">
            <a:avLst>
              <a:gd name="adj1" fmla="val 14898"/>
            </a:avLst>
          </a:prstGeom>
        </p:spPr>
        <p:style>
          <a:lnRef idx="1">
            <a:schemeClr val="accent1"/>
          </a:lnRef>
          <a:fillRef idx="0">
            <a:schemeClr val="accent1"/>
          </a:fillRef>
          <a:effectRef idx="0">
            <a:schemeClr val="accent1"/>
          </a:effectRef>
          <a:fontRef idx="minor">
            <a:schemeClr val="tx1"/>
          </a:fontRef>
        </p:style>
      </p:cxnSp>
      <p:sp>
        <p:nvSpPr>
          <p:cNvPr id="2054" name="Metin kutusu 2053"/>
          <p:cNvSpPr txBox="1"/>
          <p:nvPr/>
        </p:nvSpPr>
        <p:spPr>
          <a:xfrm>
            <a:off x="4616145" y="966771"/>
            <a:ext cx="279244" cy="276999"/>
          </a:xfrm>
          <a:prstGeom prst="rect">
            <a:avLst/>
          </a:prstGeom>
          <a:noFill/>
        </p:spPr>
        <p:txBody>
          <a:bodyPr wrap="none" rtlCol="0">
            <a:spAutoFit/>
          </a:bodyPr>
          <a:lstStyle/>
          <a:p>
            <a:r>
              <a:rPr lang="tr-TR" sz="1200" dirty="0" smtClean="0"/>
              <a:t>D</a:t>
            </a:r>
            <a:endParaRPr lang="tr-TR" sz="1200" dirty="0"/>
          </a:p>
        </p:txBody>
      </p:sp>
      <p:sp>
        <p:nvSpPr>
          <p:cNvPr id="2065" name="Dikdörtgen 2064"/>
          <p:cNvSpPr/>
          <p:nvPr/>
        </p:nvSpPr>
        <p:spPr>
          <a:xfrm>
            <a:off x="3752841" y="1589742"/>
            <a:ext cx="144016" cy="1181185"/>
          </a:xfrm>
          <a:prstGeom prst="rect">
            <a:avLst/>
          </a:prstGeom>
          <a:solidFill>
            <a:schemeClr val="accent4">
              <a:lumMod val="40000"/>
              <a:lumOff val="60000"/>
            </a:schemeClr>
          </a:solidFill>
          <a:ln>
            <a:noFill/>
          </a:ln>
          <a:effectLst>
            <a:glow rad="1397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tr-TR">
              <a:effectLst>
                <a:glow rad="228600">
                  <a:schemeClr val="accent4">
                    <a:satMod val="175000"/>
                    <a:alpha val="40000"/>
                  </a:schemeClr>
                </a:glow>
              </a:effectLst>
            </a:endParaRPr>
          </a:p>
        </p:txBody>
      </p:sp>
      <p:cxnSp>
        <p:nvCxnSpPr>
          <p:cNvPr id="77" name="Dirsek Bağlayıcısı 76"/>
          <p:cNvCxnSpPr/>
          <p:nvPr/>
        </p:nvCxnSpPr>
        <p:spPr>
          <a:xfrm>
            <a:off x="3467735" y="1719775"/>
            <a:ext cx="3084341" cy="1084764"/>
          </a:xfrm>
          <a:prstGeom prst="bentConnector3">
            <a:avLst>
              <a:gd name="adj1" fmla="val 8413"/>
            </a:avLst>
          </a:prstGeom>
        </p:spPr>
        <p:style>
          <a:lnRef idx="1">
            <a:schemeClr val="accent1"/>
          </a:lnRef>
          <a:fillRef idx="0">
            <a:schemeClr val="accent1"/>
          </a:fillRef>
          <a:effectRef idx="0">
            <a:schemeClr val="accent1"/>
          </a:effectRef>
          <a:fontRef idx="minor">
            <a:schemeClr val="tx1"/>
          </a:fontRef>
        </p:style>
      </p:cxnSp>
      <p:sp>
        <p:nvSpPr>
          <p:cNvPr id="88" name="Dikdörtgen 87"/>
          <p:cNvSpPr/>
          <p:nvPr/>
        </p:nvSpPr>
        <p:spPr>
          <a:xfrm flipH="1">
            <a:off x="3479502" y="1589742"/>
            <a:ext cx="195484" cy="101938"/>
          </a:xfrm>
          <a:prstGeom prst="rect">
            <a:avLst/>
          </a:prstGeom>
          <a:solidFill>
            <a:schemeClr val="accent4">
              <a:lumMod val="40000"/>
              <a:lumOff val="60000"/>
            </a:schemeClr>
          </a:solidFill>
          <a:ln>
            <a:noFill/>
          </a:ln>
          <a:effectLst>
            <a:glow rad="139700">
              <a:schemeClr val="accent4">
                <a:satMod val="175000"/>
                <a:alpha val="40000"/>
              </a:schemeClr>
            </a:glow>
          </a:effectLst>
        </p:spPr>
        <p:style>
          <a:lnRef idx="2">
            <a:schemeClr val="accent2"/>
          </a:lnRef>
          <a:fillRef idx="1">
            <a:schemeClr val="lt1"/>
          </a:fillRef>
          <a:effectRef idx="0">
            <a:schemeClr val="accent2"/>
          </a:effectRef>
          <a:fontRef idx="minor">
            <a:schemeClr val="dk1"/>
          </a:fontRef>
        </p:style>
        <p:txBody>
          <a:bodyPr rtlCol="0" anchor="ctr"/>
          <a:lstStyle/>
          <a:p>
            <a:pPr algn="ctr"/>
            <a:endParaRPr lang="tr-TR">
              <a:effectLst>
                <a:glow rad="228600">
                  <a:schemeClr val="accent2">
                    <a:satMod val="175000"/>
                    <a:alpha val="40000"/>
                  </a:schemeClr>
                </a:glow>
              </a:effectLst>
            </a:endParaRPr>
          </a:p>
        </p:txBody>
      </p:sp>
      <p:sp>
        <p:nvSpPr>
          <p:cNvPr id="2068" name="Oval 2067"/>
          <p:cNvSpPr/>
          <p:nvPr/>
        </p:nvSpPr>
        <p:spPr>
          <a:xfrm>
            <a:off x="3615945" y="1200519"/>
            <a:ext cx="302219" cy="288032"/>
          </a:xfrm>
          <a:prstGeom prst="ellipse">
            <a:avLst/>
          </a:prstGeom>
          <a:solidFill>
            <a:srgbClr val="FFC000"/>
          </a:solidFill>
          <a:effectLst>
            <a:glow rad="228600">
              <a:schemeClr val="accent6">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2" name="Metin kutusu 91"/>
          <p:cNvSpPr txBox="1"/>
          <p:nvPr/>
        </p:nvSpPr>
        <p:spPr>
          <a:xfrm>
            <a:off x="3631382" y="2987824"/>
            <a:ext cx="2903840" cy="1569660"/>
          </a:xfrm>
          <a:prstGeom prst="rect">
            <a:avLst/>
          </a:prstGeom>
          <a:noFill/>
        </p:spPr>
        <p:txBody>
          <a:bodyPr wrap="square" rtlCol="0">
            <a:spAutoFit/>
          </a:bodyPr>
          <a:lstStyle/>
          <a:p>
            <a:r>
              <a:rPr lang="tr-TR" sz="1200" dirty="0" smtClean="0"/>
              <a:t>Yukarıdaki şekilde gösterilen turuncu renkli top bulunduğu yerden belli bir açıyla fırlatılıyor ve gösterilen yolda parabolik bir rotasyon izliyor C noktasında yere düşüyor.   </a:t>
            </a:r>
          </a:p>
          <a:p>
            <a:endParaRPr lang="tr-TR" sz="1200" b="1" dirty="0"/>
          </a:p>
          <a:p>
            <a:r>
              <a:rPr lang="tr-TR" sz="1200" b="1" dirty="0" smtClean="0"/>
              <a:t>|AB|= 15 m, |DP| = 16 m  , |AC|=  17 m</a:t>
            </a:r>
          </a:p>
          <a:p>
            <a:endParaRPr lang="tr-TR" sz="1200" b="1" dirty="0"/>
          </a:p>
          <a:p>
            <a:r>
              <a:rPr lang="tr-TR" sz="1200" b="1" dirty="0" smtClean="0"/>
              <a:t>Buna göre |BC| kaç metredir?</a:t>
            </a:r>
          </a:p>
        </p:txBody>
      </p:sp>
      <p:sp>
        <p:nvSpPr>
          <p:cNvPr id="93" name="Metin kutusu 92"/>
          <p:cNvSpPr txBox="1"/>
          <p:nvPr/>
        </p:nvSpPr>
        <p:spPr>
          <a:xfrm>
            <a:off x="6471606" y="2398194"/>
            <a:ext cx="266420" cy="276999"/>
          </a:xfrm>
          <a:prstGeom prst="rect">
            <a:avLst/>
          </a:prstGeom>
          <a:noFill/>
        </p:spPr>
        <p:txBody>
          <a:bodyPr wrap="none" rtlCol="0">
            <a:spAutoFit/>
          </a:bodyPr>
          <a:lstStyle/>
          <a:p>
            <a:r>
              <a:rPr lang="tr-TR" sz="1200" dirty="0" smtClean="0"/>
              <a:t>C</a:t>
            </a:r>
            <a:endParaRPr lang="tr-TR" sz="1200" dirty="0"/>
          </a:p>
        </p:txBody>
      </p:sp>
      <p:sp>
        <p:nvSpPr>
          <p:cNvPr id="94" name="Metin kutusu 93"/>
          <p:cNvSpPr txBox="1"/>
          <p:nvPr/>
        </p:nvSpPr>
        <p:spPr>
          <a:xfrm>
            <a:off x="3888143" y="1344535"/>
            <a:ext cx="274434" cy="276999"/>
          </a:xfrm>
          <a:prstGeom prst="rect">
            <a:avLst/>
          </a:prstGeom>
          <a:noFill/>
        </p:spPr>
        <p:txBody>
          <a:bodyPr wrap="none" rtlCol="0">
            <a:spAutoFit/>
          </a:bodyPr>
          <a:lstStyle/>
          <a:p>
            <a:r>
              <a:rPr lang="tr-TR" sz="1200" dirty="0" smtClean="0"/>
              <a:t>A</a:t>
            </a:r>
            <a:endParaRPr lang="tr-TR" sz="1200" dirty="0"/>
          </a:p>
        </p:txBody>
      </p:sp>
      <p:sp>
        <p:nvSpPr>
          <p:cNvPr id="95" name="Metin kutusu 94"/>
          <p:cNvSpPr txBox="1"/>
          <p:nvPr/>
        </p:nvSpPr>
        <p:spPr>
          <a:xfrm>
            <a:off x="3898914" y="2382544"/>
            <a:ext cx="274434" cy="276999"/>
          </a:xfrm>
          <a:prstGeom prst="rect">
            <a:avLst/>
          </a:prstGeom>
          <a:noFill/>
        </p:spPr>
        <p:txBody>
          <a:bodyPr wrap="none" rtlCol="0">
            <a:spAutoFit/>
          </a:bodyPr>
          <a:lstStyle/>
          <a:p>
            <a:r>
              <a:rPr lang="tr-TR" sz="1200" dirty="0" smtClean="0"/>
              <a:t>B</a:t>
            </a:r>
            <a:endParaRPr lang="tr-TR" sz="1200" dirty="0"/>
          </a:p>
        </p:txBody>
      </p:sp>
      <p:sp>
        <p:nvSpPr>
          <p:cNvPr id="96" name="Metin kutusu 95"/>
          <p:cNvSpPr txBox="1"/>
          <p:nvPr/>
        </p:nvSpPr>
        <p:spPr>
          <a:xfrm>
            <a:off x="4697666" y="2368562"/>
            <a:ext cx="264816" cy="276999"/>
          </a:xfrm>
          <a:prstGeom prst="rect">
            <a:avLst/>
          </a:prstGeom>
          <a:noFill/>
        </p:spPr>
        <p:txBody>
          <a:bodyPr wrap="none" rtlCol="0">
            <a:spAutoFit/>
          </a:bodyPr>
          <a:lstStyle/>
          <a:p>
            <a:r>
              <a:rPr lang="tr-TR" sz="1200" dirty="0"/>
              <a:t>P</a:t>
            </a:r>
          </a:p>
        </p:txBody>
      </p:sp>
      <p:sp>
        <p:nvSpPr>
          <p:cNvPr id="98" name="Metin kutusu 97"/>
          <p:cNvSpPr txBox="1"/>
          <p:nvPr/>
        </p:nvSpPr>
        <p:spPr>
          <a:xfrm>
            <a:off x="3585771" y="4886166"/>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6                              B) </a:t>
            </a:r>
            <a:r>
              <a:rPr lang="tr-TR" sz="1200" dirty="0">
                <a:solidFill>
                  <a:schemeClr val="tx1">
                    <a:lumMod val="85000"/>
                    <a:lumOff val="15000"/>
                  </a:schemeClr>
                </a:solidFill>
              </a:rPr>
              <a:t>8</a:t>
            </a:r>
            <a:r>
              <a:rPr lang="tr-TR" sz="1200" dirty="0" smtClean="0">
                <a:solidFill>
                  <a:schemeClr val="tx1">
                    <a:lumMod val="85000"/>
                    <a:lumOff val="15000"/>
                  </a:schemeClr>
                </a:solidFill>
              </a:rPr>
              <a:t>                             C) 5</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12                          E) </a:t>
            </a:r>
            <a:r>
              <a:rPr lang="tr-TR" sz="1200" dirty="0">
                <a:solidFill>
                  <a:schemeClr val="tx1">
                    <a:lumMod val="85000"/>
                    <a:lumOff val="15000"/>
                  </a:schemeClr>
                </a:solidFill>
              </a:rPr>
              <a:t> </a:t>
            </a:r>
            <a:r>
              <a:rPr lang="tr-TR" sz="1200" dirty="0" smtClean="0">
                <a:solidFill>
                  <a:schemeClr val="tx1">
                    <a:lumMod val="85000"/>
                    <a:lumOff val="15000"/>
                  </a:schemeClr>
                </a:solidFill>
              </a:rPr>
              <a:t>13</a:t>
            </a:r>
            <a:endParaRPr lang="tr-TR" sz="1200" dirty="0">
              <a:solidFill>
                <a:schemeClr val="tx1">
                  <a:lumMod val="85000"/>
                  <a:lumOff val="15000"/>
                </a:schemeClr>
              </a:solidFill>
            </a:endParaRPr>
          </a:p>
        </p:txBody>
      </p:sp>
      <p:sp>
        <p:nvSpPr>
          <p:cNvPr id="102" name="Metin kutusu 101"/>
          <p:cNvSpPr txBox="1"/>
          <p:nvPr/>
        </p:nvSpPr>
        <p:spPr>
          <a:xfrm>
            <a:off x="-22111" y="3613993"/>
            <a:ext cx="389850"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pic>
        <p:nvPicPr>
          <p:cNvPr id="1034" name="Picture 10" descr="C:\Users\Pc\AppData\Local\Microsoft\Windows\Temporary Internet Files\Content.IE5\GRK5B6ZB\chalkboard-152414_640[1].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6913" y="3923933"/>
            <a:ext cx="3234925" cy="230425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071" name="Metin kutusu 2070"/>
              <p:cNvSpPr txBox="1"/>
              <p:nvPr/>
            </p:nvSpPr>
            <p:spPr>
              <a:xfrm>
                <a:off x="281717" y="4092084"/>
                <a:ext cx="2769371" cy="2092881"/>
              </a:xfrm>
              <a:prstGeom prst="rect">
                <a:avLst/>
              </a:prstGeom>
              <a:noFill/>
            </p:spPr>
            <p:txBody>
              <a:bodyPr wrap="square" rtlCol="0">
                <a:spAutoFit/>
              </a:bodyPr>
              <a:lstStyle/>
              <a:p>
                <a:r>
                  <a:rPr lang="tr-TR" sz="1000" dirty="0" smtClean="0">
                    <a:solidFill>
                      <a:srgbClr val="FFFF00"/>
                    </a:solidFill>
                  </a:rPr>
                  <a:t>f(x) = </a:t>
                </a:r>
                <a14:m>
                  <m:oMath xmlns:m="http://schemas.openxmlformats.org/officeDocument/2006/math">
                    <m:r>
                      <m:rPr>
                        <m:sty m:val="p"/>
                      </m:rPr>
                      <a:rPr lang="tr-TR" sz="1000" i="0" smtClean="0">
                        <a:solidFill>
                          <a:srgbClr val="FFFF00"/>
                        </a:solidFill>
                        <a:latin typeface="Cambria Math"/>
                      </a:rPr>
                      <m:t>a</m:t>
                    </m:r>
                    <m:sSup>
                      <m:sSupPr>
                        <m:ctrlPr>
                          <a:rPr lang="tr-TR" sz="1000" b="0" i="1" smtClean="0">
                            <a:solidFill>
                              <a:srgbClr val="FFFF00"/>
                            </a:solidFill>
                            <a:latin typeface="Cambria Math"/>
                          </a:rPr>
                        </m:ctrlPr>
                      </m:sSupPr>
                      <m:e>
                        <m:r>
                          <m:rPr>
                            <m:sty m:val="p"/>
                          </m:rPr>
                          <a:rPr lang="tr-TR" sz="1000" b="0" i="0" smtClean="0">
                            <a:solidFill>
                              <a:srgbClr val="FFFF00"/>
                            </a:solidFill>
                            <a:latin typeface="Cambria Math"/>
                          </a:rPr>
                          <m:t>x</m:t>
                        </m:r>
                      </m:e>
                      <m:sup>
                        <m:r>
                          <a:rPr lang="tr-TR" sz="1000" b="0" i="0" smtClean="0">
                            <a:solidFill>
                              <a:srgbClr val="FFFF00"/>
                            </a:solidFill>
                            <a:latin typeface="Cambria Math"/>
                          </a:rPr>
                          <m:t>2</m:t>
                        </m:r>
                      </m:sup>
                    </m:sSup>
                    <m:r>
                      <a:rPr lang="tr-TR" sz="1000" b="0" i="0" smtClean="0">
                        <a:solidFill>
                          <a:srgbClr val="FFFF00"/>
                        </a:solidFill>
                        <a:latin typeface="Cambria Math"/>
                      </a:rPr>
                      <m:t>+</m:t>
                    </m:r>
                    <m:r>
                      <m:rPr>
                        <m:sty m:val="p"/>
                      </m:rPr>
                      <a:rPr lang="tr-TR" sz="1000" b="0" i="0" smtClean="0">
                        <a:solidFill>
                          <a:srgbClr val="FFFF00"/>
                        </a:solidFill>
                        <a:latin typeface="Cambria Math"/>
                      </a:rPr>
                      <m:t>bx</m:t>
                    </m:r>
                  </m:oMath>
                </a14:m>
                <a:r>
                  <a:rPr lang="tr-TR" sz="1000" dirty="0" smtClean="0">
                    <a:solidFill>
                      <a:srgbClr val="FFFF00"/>
                    </a:solidFill>
                  </a:rPr>
                  <a:t> + c</a:t>
                </a:r>
              </a:p>
              <a:p>
                <a:endParaRPr lang="tr-TR" sz="1000" dirty="0">
                  <a:solidFill>
                    <a:srgbClr val="FFFF00"/>
                  </a:solidFill>
                </a:endParaRPr>
              </a:p>
              <a:p>
                <a:pPr marL="228600" indent="-228600">
                  <a:buFont typeface="Wingdings" panose="05000000000000000000" pitchFamily="2" charset="2"/>
                  <a:buChar char="ü"/>
                </a:pPr>
                <a:r>
                  <a:rPr lang="tr-TR" sz="1000" b="1" dirty="0" smtClean="0">
                    <a:solidFill>
                      <a:schemeClr val="bg1"/>
                    </a:solidFill>
                  </a:rPr>
                  <a:t>Parabolü orijinden geçmemektedir.</a:t>
                </a:r>
              </a:p>
              <a:p>
                <a:pPr marL="228600" indent="-228600">
                  <a:buFont typeface="Wingdings" panose="05000000000000000000" pitchFamily="2" charset="2"/>
                  <a:buChar char="ü"/>
                </a:pPr>
                <a:r>
                  <a:rPr lang="tr-TR" sz="1000" b="1" dirty="0" smtClean="0">
                    <a:solidFill>
                      <a:schemeClr val="bg1"/>
                    </a:solidFill>
                  </a:rPr>
                  <a:t>Parabolünün eksenleri kestiği noktalar bir dik üçgen belirttiğine göre aşağıdakilerden hangisi  </a:t>
                </a:r>
                <a:r>
                  <a:rPr lang="tr-TR" sz="1000" b="1" u="sng" dirty="0" smtClean="0">
                    <a:solidFill>
                      <a:schemeClr val="bg1"/>
                    </a:solidFill>
                  </a:rPr>
                  <a:t>kesinlikle</a:t>
                </a:r>
                <a:r>
                  <a:rPr lang="tr-TR" sz="1000" b="1" dirty="0" smtClean="0">
                    <a:solidFill>
                      <a:schemeClr val="bg1"/>
                    </a:solidFill>
                  </a:rPr>
                  <a:t> doğrudur?</a:t>
                </a:r>
              </a:p>
              <a:p>
                <a:pPr marL="228600" indent="-228600">
                  <a:buFont typeface="Wingdings" panose="05000000000000000000" pitchFamily="2" charset="2"/>
                  <a:buChar char="ü"/>
                </a:pPr>
                <a:endParaRPr lang="tr-TR" sz="1000" dirty="0">
                  <a:solidFill>
                    <a:srgbClr val="FFFF00"/>
                  </a:solidFill>
                </a:endParaRPr>
              </a:p>
              <a:p>
                <a:pPr marL="285750" indent="-285750">
                  <a:buFont typeface="+mj-lt"/>
                  <a:buAutoNum type="romanUcPeriod"/>
                </a:pPr>
                <a14:m>
                  <m:oMath xmlns:m="http://schemas.openxmlformats.org/officeDocument/2006/math">
                    <m:sSup>
                      <m:sSupPr>
                        <m:ctrlPr>
                          <a:rPr lang="tr-TR" sz="1000" i="1">
                            <a:solidFill>
                              <a:srgbClr val="FFFF00"/>
                            </a:solidFill>
                            <a:latin typeface="Cambria Math"/>
                          </a:rPr>
                        </m:ctrlPr>
                      </m:sSupPr>
                      <m:e>
                        <m:r>
                          <m:rPr>
                            <m:sty m:val="p"/>
                          </m:rPr>
                          <a:rPr lang="tr-TR" sz="1000" b="0" i="0" smtClean="0">
                            <a:solidFill>
                              <a:srgbClr val="FFFF00"/>
                            </a:solidFill>
                            <a:latin typeface="Cambria Math"/>
                          </a:rPr>
                          <m:t>b</m:t>
                        </m:r>
                      </m:e>
                      <m:sup>
                        <m:r>
                          <a:rPr lang="tr-TR" sz="1000" i="0">
                            <a:solidFill>
                              <a:srgbClr val="FFFF00"/>
                            </a:solidFill>
                            <a:latin typeface="Cambria Math"/>
                          </a:rPr>
                          <m:t>2</m:t>
                        </m:r>
                      </m:sup>
                    </m:sSup>
                    <m:r>
                      <a:rPr lang="tr-TR" sz="1000" b="0" i="0" smtClean="0">
                        <a:solidFill>
                          <a:srgbClr val="FFFF00"/>
                        </a:solidFill>
                        <a:latin typeface="Cambria Math"/>
                      </a:rPr>
                      <m:t>&gt;</m:t>
                    </m:r>
                    <m:r>
                      <m:rPr>
                        <m:sty m:val="p"/>
                      </m:rPr>
                      <a:rPr lang="tr-TR" sz="1000" b="0" i="0" smtClean="0">
                        <a:solidFill>
                          <a:srgbClr val="FFFF00"/>
                        </a:solidFill>
                        <a:latin typeface="Cambria Math"/>
                      </a:rPr>
                      <m:t>ac</m:t>
                    </m:r>
                  </m:oMath>
                </a14:m>
                <a:endParaRPr lang="tr-TR" sz="1000" dirty="0" smtClean="0">
                  <a:solidFill>
                    <a:srgbClr val="FFFF00"/>
                  </a:solidFill>
                </a:endParaRPr>
              </a:p>
              <a:p>
                <a:pPr marL="285750" indent="-285750">
                  <a:buFont typeface="+mj-lt"/>
                  <a:buAutoNum type="romanUcPeriod"/>
                </a:pPr>
                <a:r>
                  <a:rPr lang="tr-TR" sz="1000" dirty="0" smtClean="0">
                    <a:solidFill>
                      <a:srgbClr val="FFFF00"/>
                    </a:solidFill>
                  </a:rPr>
                  <a:t>Kökün birisi </a:t>
                </a:r>
                <a:r>
                  <a:rPr lang="tr-TR" sz="1000" u="sng" dirty="0" smtClean="0">
                    <a:solidFill>
                      <a:srgbClr val="FFFF00"/>
                    </a:solidFill>
                  </a:rPr>
                  <a:t>negatiftir</a:t>
                </a:r>
                <a:r>
                  <a:rPr lang="tr-TR" sz="1000" dirty="0" smtClean="0">
                    <a:solidFill>
                      <a:srgbClr val="FFFF00"/>
                    </a:solidFill>
                  </a:rPr>
                  <a:t>.</a:t>
                </a:r>
              </a:p>
              <a:p>
                <a:pPr marL="285750" indent="-285750">
                  <a:buFont typeface="+mj-lt"/>
                  <a:buAutoNum type="romanUcPeriod"/>
                </a:pPr>
                <a:r>
                  <a:rPr lang="tr-TR" sz="1000" dirty="0" smtClean="0">
                    <a:solidFill>
                      <a:srgbClr val="FFFF00"/>
                    </a:solidFill>
                  </a:rPr>
                  <a:t>İkizkenar üçgen belirtir.</a:t>
                </a:r>
              </a:p>
              <a:p>
                <a:pPr marL="285750" indent="-285750">
                  <a:buFont typeface="+mj-lt"/>
                  <a:buAutoNum type="romanUcPeriod"/>
                </a:pPr>
                <a:endParaRPr lang="tr-TR" sz="1000" dirty="0" smtClean="0">
                  <a:solidFill>
                    <a:srgbClr val="FFFF00"/>
                  </a:solidFill>
                </a:endParaRPr>
              </a:p>
              <a:p>
                <a:pPr marL="285750" indent="-285750">
                  <a:buFont typeface="+mj-lt"/>
                  <a:buAutoNum type="romanUcPeriod"/>
                </a:pPr>
                <a:endParaRPr lang="tr-TR" sz="1000" dirty="0" smtClean="0">
                  <a:solidFill>
                    <a:srgbClr val="FFFF00"/>
                  </a:solidFill>
                </a:endParaRPr>
              </a:p>
              <a:p>
                <a:pPr marL="285750" indent="-285750">
                  <a:buFont typeface="+mj-lt"/>
                  <a:buAutoNum type="romanUcPeriod"/>
                </a:pPr>
                <a:endParaRPr lang="tr-TR" sz="1000" dirty="0" smtClean="0">
                  <a:solidFill>
                    <a:srgbClr val="FFFF00"/>
                  </a:solidFill>
                </a:endParaRPr>
              </a:p>
            </p:txBody>
          </p:sp>
        </mc:Choice>
        <mc:Fallback xmlns="">
          <p:sp>
            <p:nvSpPr>
              <p:cNvPr id="2071" name="Metin kutusu 2070"/>
              <p:cNvSpPr txBox="1">
                <a:spLocks noRot="1" noChangeAspect="1" noMove="1" noResize="1" noEditPoints="1" noAdjustHandles="1" noChangeArrowheads="1" noChangeShapeType="1" noTextEdit="1"/>
              </p:cNvSpPr>
              <p:nvPr/>
            </p:nvSpPr>
            <p:spPr>
              <a:xfrm>
                <a:off x="281717" y="4092084"/>
                <a:ext cx="2769371" cy="2092881"/>
              </a:xfrm>
              <a:prstGeom prst="rect">
                <a:avLst/>
              </a:prstGeom>
              <a:blipFill rotWithShape="1">
                <a:blip r:embed="rId8"/>
                <a:stretch>
                  <a:fillRect/>
                </a:stretch>
              </a:blipFill>
            </p:spPr>
            <p:txBody>
              <a:bodyPr/>
              <a:lstStyle/>
              <a:p>
                <a:r>
                  <a:rPr lang="tr-TR">
                    <a:noFill/>
                  </a:rPr>
                  <a:t> </a:t>
                </a:r>
              </a:p>
            </p:txBody>
          </p:sp>
        </mc:Fallback>
      </mc:AlternateContent>
      <p:sp>
        <p:nvSpPr>
          <p:cNvPr id="113" name="Metin kutusu 112"/>
          <p:cNvSpPr txBox="1"/>
          <p:nvPr/>
        </p:nvSpPr>
        <p:spPr>
          <a:xfrm>
            <a:off x="116913" y="6046385"/>
            <a:ext cx="2903840" cy="646331"/>
          </a:xfrm>
          <a:prstGeom prst="rect">
            <a:avLst/>
          </a:prstGeom>
          <a:noFill/>
        </p:spPr>
        <p:txBody>
          <a:bodyPr wrap="square" rtlCol="0">
            <a:spAutoFit/>
          </a:bodyPr>
          <a:lstStyle/>
          <a:p>
            <a:r>
              <a:rPr lang="tr-TR" sz="1200" b="1" dirty="0" smtClean="0"/>
              <a:t>Ahmet Öğretmenin tahtaya yazdığı soruyu öğrencisi Hande doğru yanıtlamıştır. Hande  hangi cevabı vermiştir?</a:t>
            </a:r>
            <a:endParaRPr lang="tr-TR" sz="1200" b="1" dirty="0"/>
          </a:p>
        </p:txBody>
      </p:sp>
      <p:sp>
        <p:nvSpPr>
          <p:cNvPr id="116" name="Metin kutusu 115"/>
          <p:cNvSpPr txBox="1"/>
          <p:nvPr/>
        </p:nvSpPr>
        <p:spPr>
          <a:xfrm>
            <a:off x="88603" y="6692716"/>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Yalnız III              B) II ve III                   C) Yalnız I</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I ve III                          E) </a:t>
            </a:r>
            <a:r>
              <a:rPr lang="tr-TR" sz="1200" dirty="0">
                <a:solidFill>
                  <a:schemeClr val="tx1">
                    <a:lumMod val="85000"/>
                    <a:lumOff val="15000"/>
                  </a:schemeClr>
                </a:solidFill>
              </a:rPr>
              <a:t> </a:t>
            </a:r>
            <a:r>
              <a:rPr lang="tr-TR" sz="1200" dirty="0" smtClean="0">
                <a:solidFill>
                  <a:schemeClr val="tx1">
                    <a:lumMod val="85000"/>
                    <a:lumOff val="15000"/>
                  </a:schemeClr>
                </a:solidFill>
              </a:rPr>
              <a:t>I ve II</a:t>
            </a:r>
            <a:endParaRPr lang="tr-TR" sz="1200" dirty="0">
              <a:solidFill>
                <a:schemeClr val="tx1">
                  <a:lumMod val="85000"/>
                  <a:lumOff val="15000"/>
                </a:schemeClr>
              </a:solidFill>
            </a:endParaRPr>
          </a:p>
        </p:txBody>
      </p:sp>
      <p:sp>
        <p:nvSpPr>
          <p:cNvPr id="117" name="Metin kutusu 116"/>
          <p:cNvSpPr txBox="1"/>
          <p:nvPr/>
        </p:nvSpPr>
        <p:spPr>
          <a:xfrm>
            <a:off x="2289363" y="4085273"/>
            <a:ext cx="851605" cy="200055"/>
          </a:xfrm>
          <a:prstGeom prst="rect">
            <a:avLst/>
          </a:prstGeom>
          <a:noFill/>
        </p:spPr>
        <p:txBody>
          <a:bodyPr wrap="square" rtlCol="0">
            <a:spAutoFit/>
          </a:bodyPr>
          <a:lstStyle/>
          <a:p>
            <a:r>
              <a:rPr lang="tr-TR" sz="700" b="1" dirty="0" smtClean="0">
                <a:solidFill>
                  <a:schemeClr val="bg1"/>
                </a:solidFill>
              </a:rPr>
              <a:t>Ders : Matematik</a:t>
            </a:r>
          </a:p>
        </p:txBody>
      </p:sp>
      <p:sp>
        <p:nvSpPr>
          <p:cNvPr id="118" name="Metin kutusu 117"/>
          <p:cNvSpPr txBox="1"/>
          <p:nvPr/>
        </p:nvSpPr>
        <p:spPr>
          <a:xfrm>
            <a:off x="3517583" y="6184965"/>
            <a:ext cx="389850"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12.</a:t>
            </a:r>
            <a:endParaRPr lang="tr-TR" sz="1400" b="1" dirty="0">
              <a:solidFill>
                <a:srgbClr val="C00000"/>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119" name="Metin kutusu 118"/>
              <p:cNvSpPr txBox="1"/>
              <p:nvPr/>
            </p:nvSpPr>
            <p:spPr>
              <a:xfrm>
                <a:off x="3861645" y="6228184"/>
                <a:ext cx="2903840" cy="1015663"/>
              </a:xfrm>
              <a:prstGeom prst="rect">
                <a:avLst/>
              </a:prstGeom>
              <a:noFill/>
            </p:spPr>
            <p:txBody>
              <a:bodyPr wrap="square" rtlCol="0">
                <a:spAutoFit/>
              </a:bodyPr>
              <a:lstStyle/>
              <a:p>
                <a:r>
                  <a:rPr lang="tr-TR" sz="1200" dirty="0" smtClean="0"/>
                  <a:t>f(x) = (a-3) </a:t>
                </a:r>
                <a14:m>
                  <m:oMath xmlns:m="http://schemas.openxmlformats.org/officeDocument/2006/math">
                    <m:sSup>
                      <m:sSupPr>
                        <m:ctrlPr>
                          <a:rPr lang="tr-TR" sz="1200" i="1" smtClean="0">
                            <a:latin typeface="Cambria Math"/>
                          </a:rPr>
                        </m:ctrlPr>
                      </m:sSupPr>
                      <m:e>
                        <m:r>
                          <m:rPr>
                            <m:sty m:val="p"/>
                          </m:rPr>
                          <a:rPr lang="tr-TR" sz="1200" i="0" smtClean="0">
                            <a:latin typeface="Cambria Math"/>
                          </a:rPr>
                          <m:t>x</m:t>
                        </m:r>
                      </m:e>
                      <m:sup>
                        <m:r>
                          <a:rPr lang="tr-TR" sz="1200" b="0" i="0" smtClean="0">
                            <a:latin typeface="Cambria Math"/>
                          </a:rPr>
                          <m:t>4</m:t>
                        </m:r>
                      </m:sup>
                    </m:sSup>
                  </m:oMath>
                </a14:m>
                <a:r>
                  <a:rPr lang="tr-TR" sz="1200" dirty="0" smtClean="0"/>
                  <a:t> + (b-5) </a:t>
                </a:r>
                <a14:m>
                  <m:oMath xmlns:m="http://schemas.openxmlformats.org/officeDocument/2006/math">
                    <m:sSup>
                      <m:sSupPr>
                        <m:ctrlPr>
                          <a:rPr lang="tr-TR" sz="1200" i="1" smtClean="0">
                            <a:latin typeface="Cambria Math"/>
                          </a:rPr>
                        </m:ctrlPr>
                      </m:sSupPr>
                      <m:e>
                        <m:r>
                          <m:rPr>
                            <m:sty m:val="p"/>
                          </m:rPr>
                          <a:rPr lang="tr-TR" sz="1200" i="0" smtClean="0">
                            <a:latin typeface="Cambria Math"/>
                          </a:rPr>
                          <m:t>x</m:t>
                        </m:r>
                      </m:e>
                      <m:sup>
                        <m:r>
                          <a:rPr lang="tr-TR" sz="1200" b="0" i="0" smtClean="0">
                            <a:latin typeface="Cambria Math"/>
                          </a:rPr>
                          <m:t>3</m:t>
                        </m:r>
                      </m:sup>
                    </m:sSup>
                  </m:oMath>
                </a14:m>
                <a:r>
                  <a:rPr lang="tr-TR" sz="1200" dirty="0" smtClean="0"/>
                  <a:t>+ (c-1) </a:t>
                </a:r>
                <a14:m>
                  <m:oMath xmlns:m="http://schemas.openxmlformats.org/officeDocument/2006/math">
                    <m:sSup>
                      <m:sSupPr>
                        <m:ctrlPr>
                          <a:rPr lang="tr-TR" sz="1200" i="1" smtClean="0">
                            <a:latin typeface="Cambria Math"/>
                          </a:rPr>
                        </m:ctrlPr>
                      </m:sSupPr>
                      <m:e>
                        <m:r>
                          <m:rPr>
                            <m:sty m:val="p"/>
                          </m:rPr>
                          <a:rPr lang="tr-TR" sz="1200" i="0" smtClean="0">
                            <a:latin typeface="Cambria Math"/>
                          </a:rPr>
                          <m:t>x</m:t>
                        </m:r>
                      </m:e>
                      <m:sup>
                        <m:r>
                          <a:rPr lang="tr-TR" sz="1200" i="0" smtClean="0">
                            <a:latin typeface="Cambria Math"/>
                          </a:rPr>
                          <m:t>2</m:t>
                        </m:r>
                      </m:sup>
                    </m:sSup>
                    <m:r>
                      <a:rPr lang="tr-TR" sz="1200" b="0" i="0" smtClean="0">
                        <a:latin typeface="Cambria Math"/>
                      </a:rPr>
                      <m:t>  </m:t>
                    </m:r>
                  </m:oMath>
                </a14:m>
                <a:r>
                  <a:rPr lang="tr-TR" sz="1200" b="0" dirty="0" smtClean="0"/>
                  <a:t/>
                </a:r>
                <a:br>
                  <a:rPr lang="tr-TR" sz="1200" b="0" dirty="0" smtClean="0"/>
                </a:br>
                <a:endParaRPr lang="tr-TR" sz="1200" b="0" dirty="0" smtClean="0"/>
              </a:p>
              <a:p>
                <a:r>
                  <a:rPr lang="tr-TR" sz="1200" b="1" noProof="1" smtClean="0"/>
                  <a:t>İfadesi bir parabol belirttiğine göre </a:t>
                </a:r>
              </a:p>
              <a:p>
                <a:r>
                  <a:rPr lang="tr-TR" sz="1200" b="1" noProof="1" smtClean="0"/>
                  <a:t>a+b+c işleminin sonucu aşağıdakilerden hangisi kesinlikle olamaz?</a:t>
                </a:r>
              </a:p>
            </p:txBody>
          </p:sp>
        </mc:Choice>
        <mc:Fallback xmlns="">
          <p:sp>
            <p:nvSpPr>
              <p:cNvPr id="119" name="Metin kutusu 118"/>
              <p:cNvSpPr txBox="1">
                <a:spLocks noRot="1" noChangeAspect="1" noMove="1" noResize="1" noEditPoints="1" noAdjustHandles="1" noChangeArrowheads="1" noChangeShapeType="1" noTextEdit="1"/>
              </p:cNvSpPr>
              <p:nvPr/>
            </p:nvSpPr>
            <p:spPr>
              <a:xfrm>
                <a:off x="3861645" y="6228184"/>
                <a:ext cx="2903840" cy="1015663"/>
              </a:xfrm>
              <a:prstGeom prst="rect">
                <a:avLst/>
              </a:prstGeom>
              <a:blipFill rotWithShape="1">
                <a:blip r:embed="rId9"/>
                <a:stretch>
                  <a:fillRect b="-4217"/>
                </a:stretch>
              </a:blipFill>
            </p:spPr>
            <p:txBody>
              <a:bodyPr/>
              <a:lstStyle/>
              <a:p>
                <a:r>
                  <a:rPr lang="tr-TR">
                    <a:noFill/>
                  </a:rPr>
                  <a:t> </a:t>
                </a:r>
              </a:p>
            </p:txBody>
          </p:sp>
        </mc:Fallback>
      </mc:AlternateContent>
      <p:sp>
        <p:nvSpPr>
          <p:cNvPr id="120" name="Metin kutusu 119"/>
          <p:cNvSpPr txBox="1"/>
          <p:nvPr/>
        </p:nvSpPr>
        <p:spPr>
          <a:xfrm>
            <a:off x="3585771" y="7236296"/>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6                              B) </a:t>
            </a:r>
            <a:r>
              <a:rPr lang="tr-TR" sz="1200" dirty="0">
                <a:solidFill>
                  <a:schemeClr val="tx1">
                    <a:lumMod val="85000"/>
                    <a:lumOff val="15000"/>
                  </a:schemeClr>
                </a:solidFill>
              </a:rPr>
              <a:t>8</a:t>
            </a:r>
            <a:r>
              <a:rPr lang="tr-TR" sz="1200" dirty="0" smtClean="0">
                <a:solidFill>
                  <a:schemeClr val="tx1">
                    <a:lumMod val="85000"/>
                    <a:lumOff val="15000"/>
                  </a:schemeClr>
                </a:solidFill>
              </a:rPr>
              <a:t>                             C) 3</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5                          E) </a:t>
            </a:r>
            <a:r>
              <a:rPr lang="tr-TR" sz="1200" dirty="0">
                <a:solidFill>
                  <a:schemeClr val="tx1">
                    <a:lumMod val="85000"/>
                    <a:lumOff val="15000"/>
                  </a:schemeClr>
                </a:solidFill>
              </a:rPr>
              <a:t> 0</a:t>
            </a:r>
          </a:p>
        </p:txBody>
      </p:sp>
    </p:spTree>
    <p:extLst>
      <p:ext uri="{BB962C8B-B14F-4D97-AF65-F5344CB8AC3E}">
        <p14:creationId xmlns:p14="http://schemas.microsoft.com/office/powerpoint/2010/main" val="288033664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6235" y="767773"/>
            <a:ext cx="1923438" cy="17370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710" y="5624976"/>
            <a:ext cx="1768051" cy="15968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9685"/>
            <a:ext cx="6847658" cy="615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Metin kutusu 26"/>
          <p:cNvSpPr txBox="1"/>
          <p:nvPr/>
        </p:nvSpPr>
        <p:spPr>
          <a:xfrm>
            <a:off x="53885" y="683573"/>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4" name="Dikdörtgen 3"/>
          <p:cNvSpPr/>
          <p:nvPr/>
        </p:nvSpPr>
        <p:spPr>
          <a:xfrm>
            <a:off x="3447678" y="652608"/>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6" name="Metin kutusu 115"/>
          <p:cNvSpPr txBox="1"/>
          <p:nvPr/>
        </p:nvSpPr>
        <p:spPr>
          <a:xfrm>
            <a:off x="332659" y="2879238"/>
            <a:ext cx="3155597" cy="646331"/>
          </a:xfrm>
          <a:prstGeom prst="rect">
            <a:avLst/>
          </a:prstGeom>
          <a:noFill/>
        </p:spPr>
        <p:txBody>
          <a:bodyPr wrap="square" rtlCol="0">
            <a:spAutoFit/>
          </a:bodyPr>
          <a:lstStyle/>
          <a:p>
            <a:r>
              <a:rPr lang="tr-TR" sz="1200" dirty="0">
                <a:solidFill>
                  <a:schemeClr val="tx1">
                    <a:lumMod val="85000"/>
                    <a:lumOff val="15000"/>
                  </a:schemeClr>
                </a:solidFill>
              </a:rPr>
              <a:t> </a:t>
            </a:r>
            <a:r>
              <a:rPr lang="tr-TR" sz="1200" dirty="0" smtClean="0">
                <a:solidFill>
                  <a:schemeClr val="tx1">
                    <a:lumMod val="85000"/>
                    <a:lumOff val="15000"/>
                  </a:schemeClr>
                </a:solidFill>
              </a:rPr>
              <a:t>h(x) =   x   - 9x  </a:t>
            </a:r>
            <a:r>
              <a:rPr lang="tr-TR" sz="1200" dirty="0">
                <a:solidFill>
                  <a:schemeClr val="tx1">
                    <a:lumMod val="85000"/>
                    <a:lumOff val="15000"/>
                  </a:schemeClr>
                </a:solidFill>
              </a:rPr>
              <a:t>+ </a:t>
            </a:r>
            <a:r>
              <a:rPr lang="tr-TR" sz="1200" dirty="0" smtClean="0">
                <a:solidFill>
                  <a:schemeClr val="tx1">
                    <a:lumMod val="85000"/>
                    <a:lumOff val="15000"/>
                  </a:schemeClr>
                </a:solidFill>
              </a:rPr>
              <a:t>7 parabolünün </a:t>
            </a:r>
            <a:r>
              <a:rPr lang="tr-TR" sz="1200" b="1" dirty="0" smtClean="0">
                <a:solidFill>
                  <a:schemeClr val="tx1">
                    <a:lumMod val="85000"/>
                    <a:lumOff val="15000"/>
                  </a:schemeClr>
                </a:solidFill>
              </a:rPr>
              <a:t>y eksenini kestiği noktalar ile x eksenini kestiği noktaları </a:t>
            </a:r>
          </a:p>
          <a:p>
            <a:r>
              <a:rPr lang="tr-TR" sz="1200" b="1" dirty="0" smtClean="0">
                <a:solidFill>
                  <a:schemeClr val="tx1">
                    <a:lumMod val="85000"/>
                    <a:lumOff val="15000"/>
                  </a:schemeClr>
                </a:solidFill>
              </a:rPr>
              <a:t>köşe kabul eden üçgenin alanı nedir? </a:t>
            </a:r>
            <a:endParaRPr lang="tr-TR" sz="1200" b="1" dirty="0">
              <a:solidFill>
                <a:schemeClr val="tx1">
                  <a:lumMod val="85000"/>
                  <a:lumOff val="15000"/>
                </a:schemeClr>
              </a:solidFill>
            </a:endParaRPr>
          </a:p>
        </p:txBody>
      </p: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11</a:t>
            </a: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264044" y="767773"/>
            <a:ext cx="3155597" cy="1384995"/>
          </a:xfrm>
          <a:prstGeom prst="rect">
            <a:avLst/>
          </a:prstGeom>
          <a:noFill/>
        </p:spPr>
        <p:txBody>
          <a:bodyPr wrap="square" rtlCol="0">
            <a:spAutoFit/>
          </a:bodyPr>
          <a:lstStyle/>
          <a:p>
            <a:r>
              <a:rPr lang="tr-TR" sz="1200" noProof="1" smtClean="0">
                <a:solidFill>
                  <a:schemeClr val="tx1">
                    <a:lumMod val="85000"/>
                    <a:lumOff val="15000"/>
                  </a:schemeClr>
                </a:solidFill>
              </a:rPr>
              <a:t>a ve b gerçel sayılar olmak üzere  ; </a:t>
            </a:r>
          </a:p>
          <a:p>
            <a:r>
              <a:rPr lang="tr-TR" sz="1200" noProof="1" smtClean="0">
                <a:solidFill>
                  <a:schemeClr val="tx1">
                    <a:lumMod val="85000"/>
                    <a:lumOff val="15000"/>
                  </a:schemeClr>
                </a:solidFill>
              </a:rPr>
              <a:t/>
            </a:r>
            <a:br>
              <a:rPr lang="tr-TR" sz="1200" noProof="1" smtClean="0">
                <a:solidFill>
                  <a:schemeClr val="tx1">
                    <a:lumMod val="85000"/>
                    <a:lumOff val="15000"/>
                  </a:schemeClr>
                </a:solidFill>
              </a:rPr>
            </a:br>
            <a:r>
              <a:rPr lang="tr-TR" sz="1200" noProof="1" smtClean="0">
                <a:solidFill>
                  <a:schemeClr val="tx1">
                    <a:lumMod val="85000"/>
                    <a:lumOff val="15000"/>
                  </a:schemeClr>
                </a:solidFill>
              </a:rPr>
              <a:t>f(x)=  x   +  a x  + b  parabolü 2 birim sağa, 3 birim yukarı öteleniyor. Öteleme sonucunda  </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g(x) = x   + 4x + 12 parabolü elde ediliyor. Buna göre a + b ifadesi nedir?</a:t>
            </a: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p:sp>
        <p:nvSpPr>
          <p:cNvPr id="91" name="Metin kutusu 90"/>
          <p:cNvSpPr txBox="1"/>
          <p:nvPr/>
        </p:nvSpPr>
        <p:spPr>
          <a:xfrm>
            <a:off x="44624" y="5047748"/>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121" name="Dikdörtgen 120"/>
          <p:cNvSpPr/>
          <p:nvPr/>
        </p:nvSpPr>
        <p:spPr>
          <a:xfrm>
            <a:off x="3429000" y="558011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73" name="Metin kutusu 72"/>
          <p:cNvSpPr txBox="1"/>
          <p:nvPr/>
        </p:nvSpPr>
        <p:spPr>
          <a:xfrm>
            <a:off x="387549" y="3524983"/>
            <a:ext cx="3016609"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                           B)                            C)</a:t>
            </a: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E) </a:t>
            </a:r>
            <a:endParaRPr lang="tr-TR" sz="1200" dirty="0">
              <a:solidFill>
                <a:schemeClr val="tx1">
                  <a:lumMod val="85000"/>
                  <a:lumOff val="15000"/>
                </a:schemeClr>
              </a:solidFill>
            </a:endParaRPr>
          </a:p>
        </p:txBody>
      </p:sp>
      <p:sp>
        <p:nvSpPr>
          <p:cNvPr id="81" name="Metin kutusu 80"/>
          <p:cNvSpPr txBox="1"/>
          <p:nvPr/>
        </p:nvSpPr>
        <p:spPr>
          <a:xfrm>
            <a:off x="260648" y="5078525"/>
            <a:ext cx="3210768" cy="461665"/>
          </a:xfrm>
          <a:prstGeom prst="rect">
            <a:avLst/>
          </a:prstGeom>
          <a:noFill/>
        </p:spPr>
        <p:txBody>
          <a:bodyPr wrap="square" rtlCol="0">
            <a:spAutoFit/>
          </a:bodyPr>
          <a:lstStyle/>
          <a:p>
            <a:r>
              <a:rPr lang="tr-TR" sz="1200" dirty="0" smtClean="0">
                <a:solidFill>
                  <a:schemeClr val="tx1">
                    <a:lumMod val="85000"/>
                    <a:lumOff val="15000"/>
                  </a:schemeClr>
                </a:solidFill>
              </a:rPr>
              <a:t>f(x) = mx  + ( m  - 4) – 12 bir parabol olmak üzere, ABC üçgenin alanını hangisidir?</a:t>
            </a:r>
          </a:p>
        </p:txBody>
      </p:sp>
      <p:sp>
        <p:nvSpPr>
          <p:cNvPr id="80" name="Metin kutusu 79"/>
          <p:cNvSpPr txBox="1"/>
          <p:nvPr/>
        </p:nvSpPr>
        <p:spPr>
          <a:xfrm>
            <a:off x="260651" y="2123733"/>
            <a:ext cx="3253115" cy="646331"/>
          </a:xfrm>
          <a:prstGeom prst="rect">
            <a:avLst/>
          </a:prstGeom>
          <a:noFill/>
        </p:spPr>
        <p:txBody>
          <a:bodyPr wrap="square" rtlCol="0">
            <a:spAutoFit/>
          </a:bodyPr>
          <a:lstStyle/>
          <a:p>
            <a:pPr marL="228600" indent="-228600">
              <a:buAutoNum type="alphaUcParenR"/>
            </a:pPr>
            <a:r>
              <a:rPr lang="tr-TR" sz="1200" dirty="0">
                <a:solidFill>
                  <a:schemeClr val="tx1">
                    <a:lumMod val="85000"/>
                    <a:lumOff val="15000"/>
                  </a:schemeClr>
                </a:solidFill>
              </a:rPr>
              <a:t>8</a:t>
            </a:r>
            <a:r>
              <a:rPr lang="tr-TR" sz="1200" dirty="0" smtClean="0">
                <a:solidFill>
                  <a:schemeClr val="tx1">
                    <a:lumMod val="85000"/>
                    <a:lumOff val="15000"/>
                  </a:schemeClr>
                </a:solidFill>
              </a:rPr>
              <a:t>                     B</a:t>
            </a:r>
            <a:r>
              <a:rPr lang="tr-TR" sz="1200" dirty="0">
                <a:solidFill>
                  <a:schemeClr val="tx1">
                    <a:lumMod val="85000"/>
                    <a:lumOff val="15000"/>
                  </a:schemeClr>
                </a:solidFill>
              </a:rPr>
              <a:t>)  </a:t>
            </a:r>
            <a:r>
              <a:rPr lang="tr-TR" sz="1200" dirty="0" smtClean="0">
                <a:solidFill>
                  <a:schemeClr val="tx1">
                    <a:lumMod val="85000"/>
                    <a:lumOff val="15000"/>
                  </a:schemeClr>
                </a:solidFill>
              </a:rPr>
              <a:t>16                  C) 29</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34                     E) 41</a:t>
            </a:r>
            <a:endParaRPr lang="tr-TR" sz="1200" dirty="0">
              <a:solidFill>
                <a:schemeClr val="tx1">
                  <a:lumMod val="85000"/>
                  <a:lumOff val="15000"/>
                </a:schemeClr>
              </a:solidFill>
            </a:endParaRPr>
          </a:p>
        </p:txBody>
      </p:sp>
      <p:sp>
        <p:nvSpPr>
          <p:cNvPr id="118" name="Metin kutusu 117"/>
          <p:cNvSpPr txBox="1"/>
          <p:nvPr/>
        </p:nvSpPr>
        <p:spPr>
          <a:xfrm>
            <a:off x="1052736" y="4499992"/>
            <a:ext cx="223138" cy="292388"/>
          </a:xfrm>
          <a:prstGeom prst="rect">
            <a:avLst/>
          </a:prstGeom>
          <a:noFill/>
        </p:spPr>
        <p:txBody>
          <a:bodyPr wrap="none" rtlCol="0">
            <a:spAutoFit/>
          </a:bodyPr>
          <a:lstStyle/>
          <a:p>
            <a:r>
              <a:rPr lang="tr-TR" sz="1300" dirty="0" smtClean="0">
                <a:latin typeface="+mj-lt"/>
              </a:rPr>
              <a:t> </a:t>
            </a:r>
            <a:endParaRPr lang="tr-TR" sz="1300" dirty="0">
              <a:latin typeface="+mj-lt"/>
            </a:endParaRPr>
          </a:p>
        </p:txBody>
      </p:sp>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99" name="Metin kutusu 98"/>
          <p:cNvSpPr txBox="1"/>
          <p:nvPr/>
        </p:nvSpPr>
        <p:spPr>
          <a:xfrm>
            <a:off x="902124" y="284380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125" name="Metin kutusu 124"/>
          <p:cNvSpPr txBox="1"/>
          <p:nvPr/>
        </p:nvSpPr>
        <p:spPr>
          <a:xfrm>
            <a:off x="3711653" y="2451725"/>
            <a:ext cx="3155597" cy="1015663"/>
          </a:xfrm>
          <a:prstGeom prst="rect">
            <a:avLst/>
          </a:prstGeom>
          <a:noFill/>
        </p:spPr>
        <p:txBody>
          <a:bodyPr wrap="square" rtlCol="0">
            <a:spAutoFit/>
          </a:bodyPr>
          <a:lstStyle/>
          <a:p>
            <a:r>
              <a:rPr lang="tr-TR" sz="1200" noProof="1" smtClean="0">
                <a:solidFill>
                  <a:schemeClr val="tx1">
                    <a:lumMod val="85000"/>
                    <a:lumOff val="15000"/>
                  </a:schemeClr>
                </a:solidFill>
              </a:rPr>
              <a:t>Şekilde verilen y = a x  + (a+c)  x +  c parabolü ve d1 doğrusu teğettir. Doğrunun x ekseni ile yaptığı pozitif yönlü açı 45 derecedir. Verilen bilgilere göre </a:t>
            </a:r>
            <a:r>
              <a:rPr lang="tr-TR" sz="1200" b="1" noProof="1" smtClean="0">
                <a:solidFill>
                  <a:schemeClr val="tx1">
                    <a:lumMod val="85000"/>
                    <a:lumOff val="15000"/>
                  </a:schemeClr>
                </a:solidFill>
              </a:rPr>
              <a:t>c`nin alabileceği değerlerin çarpımı kaçtır?</a:t>
            </a:r>
            <a:endParaRPr lang="tr-TR" sz="1200" b="1" noProof="1">
              <a:solidFill>
                <a:schemeClr val="tx1">
                  <a:lumMod val="85000"/>
                  <a:lumOff val="15000"/>
                </a:schemeClr>
              </a:solidFill>
            </a:endParaRPr>
          </a:p>
        </p:txBody>
      </p:sp>
      <p:sp>
        <p:nvSpPr>
          <p:cNvPr id="84" name="Dikdörtgen 83"/>
          <p:cNvSpPr/>
          <p:nvPr/>
        </p:nvSpPr>
        <p:spPr>
          <a:xfrm>
            <a:off x="-27383" y="139441"/>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ÖSYM TADINDA</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85" name="Metin kutusu 84"/>
          <p:cNvSpPr txBox="1"/>
          <p:nvPr/>
        </p:nvSpPr>
        <p:spPr>
          <a:xfrm>
            <a:off x="669343" y="1115621"/>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86" name="Metin kutusu 85"/>
          <p:cNvSpPr txBox="1"/>
          <p:nvPr/>
        </p:nvSpPr>
        <p:spPr>
          <a:xfrm>
            <a:off x="702055" y="1635645"/>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8" name="Metin kutusu 7"/>
              <p:cNvSpPr txBox="1"/>
              <p:nvPr/>
            </p:nvSpPr>
            <p:spPr>
              <a:xfrm>
                <a:off x="1707819" y="3467388"/>
                <a:ext cx="567015" cy="4151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000" i="1" smtClean="0">
                              <a:latin typeface="Cambria Math"/>
                            </a:rPr>
                          </m:ctrlPr>
                        </m:fPr>
                        <m:num>
                          <m:r>
                            <a:rPr lang="tr-TR" sz="1000" b="0" i="0" smtClean="0">
                              <a:latin typeface="Cambria Math"/>
                            </a:rPr>
                            <m:t> 3 </m:t>
                          </m:r>
                          <m:rad>
                            <m:radPr>
                              <m:degHide m:val="on"/>
                              <m:ctrlPr>
                                <a:rPr lang="tr-TR" sz="1000" i="1" smtClean="0">
                                  <a:latin typeface="Cambria Math"/>
                                </a:rPr>
                              </m:ctrlPr>
                            </m:radPr>
                            <m:deg/>
                            <m:e>
                              <m:r>
                                <a:rPr lang="tr-TR" sz="1000" b="0" i="0" smtClean="0">
                                  <a:latin typeface="Cambria Math"/>
                                </a:rPr>
                                <m:t>37</m:t>
                              </m:r>
                            </m:e>
                          </m:rad>
                        </m:num>
                        <m:den>
                          <m:r>
                            <a:rPr lang="tr-TR" sz="1000" i="0" smtClean="0">
                              <a:latin typeface="Cambria Math"/>
                            </a:rPr>
                            <m:t>2</m:t>
                          </m:r>
                        </m:den>
                      </m:f>
                    </m:oMath>
                  </m:oMathPara>
                </a14:m>
                <a:endParaRPr lang="tr-TR" sz="1000" dirty="0"/>
              </a:p>
            </p:txBody>
          </p:sp>
        </mc:Choice>
        <mc:Fallback xmlns="">
          <p:sp>
            <p:nvSpPr>
              <p:cNvPr id="8" name="Metin kutusu 7"/>
              <p:cNvSpPr txBox="1">
                <a:spLocks noRot="1" noChangeAspect="1" noMove="1" noResize="1" noEditPoints="1" noAdjustHandles="1" noChangeArrowheads="1" noChangeShapeType="1" noTextEdit="1"/>
              </p:cNvSpPr>
              <p:nvPr/>
            </p:nvSpPr>
            <p:spPr>
              <a:xfrm>
                <a:off x="1707819" y="3467388"/>
                <a:ext cx="567015" cy="415114"/>
              </a:xfrm>
              <a:prstGeom prst="rect">
                <a:avLst/>
              </a:prstGeom>
              <a:blipFill rotWithShape="1">
                <a:blip r:embed="rId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98" name="Metin kutusu 97"/>
              <p:cNvSpPr txBox="1"/>
              <p:nvPr/>
            </p:nvSpPr>
            <p:spPr>
              <a:xfrm>
                <a:off x="572033" y="3467388"/>
                <a:ext cx="538161" cy="41665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000" i="1" smtClean="0">
                              <a:latin typeface="Cambria Math"/>
                            </a:rPr>
                          </m:ctrlPr>
                        </m:fPr>
                        <m:num>
                          <m:r>
                            <a:rPr lang="tr-TR" sz="1000" b="0" i="0" smtClean="0">
                              <a:latin typeface="Cambria Math"/>
                            </a:rPr>
                            <m:t>7 </m:t>
                          </m:r>
                          <m:rad>
                            <m:radPr>
                              <m:degHide m:val="on"/>
                              <m:ctrlPr>
                                <a:rPr lang="tr-TR" sz="1000" i="1" smtClean="0">
                                  <a:latin typeface="Cambria Math"/>
                                </a:rPr>
                              </m:ctrlPr>
                            </m:radPr>
                            <m:deg/>
                            <m:e>
                              <m:r>
                                <a:rPr lang="tr-TR" sz="1000" b="0" i="0" smtClean="0">
                                  <a:latin typeface="Cambria Math"/>
                                </a:rPr>
                                <m:t>53</m:t>
                              </m:r>
                            </m:e>
                          </m:rad>
                        </m:num>
                        <m:den>
                          <m:r>
                            <a:rPr lang="tr-TR" sz="1000" i="0" smtClean="0">
                              <a:latin typeface="Cambria Math"/>
                            </a:rPr>
                            <m:t>2</m:t>
                          </m:r>
                        </m:den>
                      </m:f>
                    </m:oMath>
                  </m:oMathPara>
                </a14:m>
                <a:endParaRPr lang="tr-TR" sz="1000" dirty="0"/>
              </a:p>
            </p:txBody>
          </p:sp>
        </mc:Choice>
        <mc:Fallback xmlns="">
          <p:sp>
            <p:nvSpPr>
              <p:cNvPr id="98" name="Metin kutusu 97"/>
              <p:cNvSpPr txBox="1">
                <a:spLocks noRot="1" noChangeAspect="1" noMove="1" noResize="1" noEditPoints="1" noAdjustHandles="1" noChangeArrowheads="1" noChangeShapeType="1" noTextEdit="1"/>
              </p:cNvSpPr>
              <p:nvPr/>
            </p:nvSpPr>
            <p:spPr>
              <a:xfrm>
                <a:off x="572033" y="3467388"/>
                <a:ext cx="538161" cy="416653"/>
              </a:xfrm>
              <a:prstGeom prst="rect">
                <a:avLst/>
              </a:prstGeom>
              <a:blipFill rotWithShape="1">
                <a:blip r:embed="rId6"/>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3" name="Metin kutusu 102"/>
              <p:cNvSpPr txBox="1"/>
              <p:nvPr/>
            </p:nvSpPr>
            <p:spPr>
              <a:xfrm>
                <a:off x="1111693" y="4067949"/>
                <a:ext cx="509306" cy="2643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sz="1000" i="1" smtClean="0">
                          <a:latin typeface="Cambria Math"/>
                        </a:rPr>
                        <m:t>4</m:t>
                      </m:r>
                      <m:rad>
                        <m:radPr>
                          <m:degHide m:val="on"/>
                          <m:ctrlPr>
                            <a:rPr lang="tr-TR" sz="1000" i="1" smtClean="0">
                              <a:latin typeface="Cambria Math"/>
                            </a:rPr>
                          </m:ctrlPr>
                        </m:radPr>
                        <m:deg/>
                        <m:e>
                          <m:r>
                            <a:rPr lang="tr-TR" sz="1000" b="0" i="1" smtClean="0">
                              <a:latin typeface="Cambria Math"/>
                            </a:rPr>
                            <m:t>39</m:t>
                          </m:r>
                        </m:e>
                      </m:rad>
                    </m:oMath>
                  </m:oMathPara>
                </a14:m>
                <a:endParaRPr lang="tr-TR" sz="1000" dirty="0"/>
              </a:p>
            </p:txBody>
          </p:sp>
        </mc:Choice>
        <mc:Fallback xmlns="">
          <p:sp>
            <p:nvSpPr>
              <p:cNvPr id="103" name="Metin kutusu 102"/>
              <p:cNvSpPr txBox="1">
                <a:spLocks noRot="1" noChangeAspect="1" noMove="1" noResize="1" noEditPoints="1" noAdjustHandles="1" noChangeArrowheads="1" noChangeShapeType="1" noTextEdit="1"/>
              </p:cNvSpPr>
              <p:nvPr/>
            </p:nvSpPr>
            <p:spPr>
              <a:xfrm>
                <a:off x="1111693" y="4067949"/>
                <a:ext cx="509306" cy="264368"/>
              </a:xfrm>
              <a:prstGeom prst="rect">
                <a:avLst/>
              </a:prstGeom>
              <a:blipFill rotWithShape="1">
                <a:blip r:embed="rId7"/>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6" name="Metin kutusu 125"/>
              <p:cNvSpPr txBox="1"/>
              <p:nvPr/>
            </p:nvSpPr>
            <p:spPr>
              <a:xfrm>
                <a:off x="2605704" y="3515255"/>
                <a:ext cx="893906" cy="26744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tr-TR" sz="1000" i="1" smtClean="0">
                              <a:latin typeface="Cambria Math"/>
                            </a:rPr>
                          </m:ctrlPr>
                        </m:radPr>
                        <m:deg/>
                        <m:e>
                          <m:r>
                            <a:rPr lang="tr-TR" sz="1000" b="0" i="1" smtClean="0">
                              <a:latin typeface="Cambria Math"/>
                            </a:rPr>
                            <m:t>53</m:t>
                          </m:r>
                        </m:e>
                      </m:rad>
                    </m:oMath>
                  </m:oMathPara>
                </a14:m>
                <a:endParaRPr lang="tr-TR" sz="1000" dirty="0"/>
              </a:p>
            </p:txBody>
          </p:sp>
        </mc:Choice>
        <mc:Fallback xmlns="">
          <p:sp>
            <p:nvSpPr>
              <p:cNvPr id="126" name="Metin kutusu 125"/>
              <p:cNvSpPr txBox="1">
                <a:spLocks noRot="1" noChangeAspect="1" noMove="1" noResize="1" noEditPoints="1" noAdjustHandles="1" noChangeArrowheads="1" noChangeShapeType="1" noTextEdit="1"/>
              </p:cNvSpPr>
              <p:nvPr/>
            </p:nvSpPr>
            <p:spPr>
              <a:xfrm>
                <a:off x="2605704" y="3515255"/>
                <a:ext cx="893906" cy="267446"/>
              </a:xfrm>
              <a:prstGeom prst="rect">
                <a:avLst/>
              </a:prstGeom>
              <a:blipFill rotWithShape="1">
                <a:blip r:embed="rId8"/>
                <a:stretch>
                  <a:fillRect/>
                </a:stretch>
              </a:blipFill>
            </p:spPr>
            <p:txBody>
              <a:bodyPr/>
              <a:lstStyle/>
              <a:p>
                <a:r>
                  <a:rPr lang="tr-TR">
                    <a:noFill/>
                  </a:rPr>
                  <a:t> </a:t>
                </a:r>
              </a:p>
            </p:txBody>
          </p:sp>
        </mc:Fallback>
      </mc:AlternateContent>
      <p:sp>
        <p:nvSpPr>
          <p:cNvPr id="25" name="İkizkenar Üçgen 24"/>
          <p:cNvSpPr/>
          <p:nvPr/>
        </p:nvSpPr>
        <p:spPr>
          <a:xfrm rot="10800000">
            <a:off x="572034" y="6427774"/>
            <a:ext cx="798940" cy="602975"/>
          </a:xfrm>
          <a:prstGeom prst="triangle">
            <a:avLst>
              <a:gd name="adj" fmla="val 44945"/>
            </a:avLst>
          </a:prstGeom>
          <a:solidFill>
            <a:srgbClr val="002060"/>
          </a:solidFill>
          <a:ln>
            <a:solidFill>
              <a:srgbClr val="FFCC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7" name="Serbest Form 16"/>
          <p:cNvSpPr/>
          <p:nvPr/>
        </p:nvSpPr>
        <p:spPr>
          <a:xfrm>
            <a:off x="277099" y="5637818"/>
            <a:ext cx="1434108" cy="1371625"/>
          </a:xfrm>
          <a:custGeom>
            <a:avLst/>
            <a:gdLst>
              <a:gd name="connsiteX0" fmla="*/ 0 w 1447800"/>
              <a:gd name="connsiteY0" fmla="*/ 28575 h 1371625"/>
              <a:gd name="connsiteX1" fmla="*/ 733425 w 1447800"/>
              <a:gd name="connsiteY1" fmla="*/ 1371600 h 1371625"/>
              <a:gd name="connsiteX2" fmla="*/ 1447800 w 1447800"/>
              <a:gd name="connsiteY2" fmla="*/ 0 h 1371625"/>
            </a:gdLst>
            <a:ahLst/>
            <a:cxnLst>
              <a:cxn ang="0">
                <a:pos x="connsiteX0" y="connsiteY0"/>
              </a:cxn>
              <a:cxn ang="0">
                <a:pos x="connsiteX1" y="connsiteY1"/>
              </a:cxn>
              <a:cxn ang="0">
                <a:pos x="connsiteX2" y="connsiteY2"/>
              </a:cxn>
            </a:cxnLst>
            <a:rect l="l" t="t" r="r" b="b"/>
            <a:pathLst>
              <a:path w="1447800" h="1371625">
                <a:moveTo>
                  <a:pt x="0" y="28575"/>
                </a:moveTo>
                <a:cubicBezTo>
                  <a:pt x="246062" y="702469"/>
                  <a:pt x="492125" y="1376363"/>
                  <a:pt x="733425" y="1371600"/>
                </a:cubicBezTo>
                <a:cubicBezTo>
                  <a:pt x="974725" y="1366838"/>
                  <a:pt x="1320800" y="187325"/>
                  <a:pt x="1447800"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87" name="Metin kutusu 86"/>
          <p:cNvSpPr txBox="1"/>
          <p:nvPr/>
        </p:nvSpPr>
        <p:spPr>
          <a:xfrm>
            <a:off x="790819" y="5035167"/>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89" name="Metin kutusu 88"/>
          <p:cNvSpPr txBox="1"/>
          <p:nvPr/>
        </p:nvSpPr>
        <p:spPr>
          <a:xfrm>
            <a:off x="1190156" y="5061248"/>
            <a:ext cx="150612" cy="230832"/>
          </a:xfrm>
          <a:prstGeom prst="rect">
            <a:avLst/>
          </a:prstGeom>
          <a:noFill/>
        </p:spPr>
        <p:txBody>
          <a:bodyPr wrap="square" rtlCol="0">
            <a:spAutoFit/>
          </a:bodyPr>
          <a:lstStyle/>
          <a:p>
            <a:r>
              <a:rPr lang="tr-TR" sz="900" dirty="0" smtClean="0">
                <a:solidFill>
                  <a:schemeClr val="tx1">
                    <a:lumMod val="85000"/>
                    <a:lumOff val="15000"/>
                  </a:schemeClr>
                </a:solidFill>
              </a:rPr>
              <a:t>2</a:t>
            </a:r>
            <a:endParaRPr lang="tr-TR" sz="900" dirty="0">
              <a:solidFill>
                <a:schemeClr val="tx1">
                  <a:lumMod val="85000"/>
                  <a:lumOff val="15000"/>
                </a:schemeClr>
              </a:solidFill>
            </a:endParaRPr>
          </a:p>
        </p:txBody>
      </p:sp>
      <p:sp>
        <p:nvSpPr>
          <p:cNvPr id="90" name="Metin kutusu 89"/>
          <p:cNvSpPr txBox="1"/>
          <p:nvPr/>
        </p:nvSpPr>
        <p:spPr>
          <a:xfrm>
            <a:off x="370813" y="6383237"/>
            <a:ext cx="3253115" cy="276999"/>
          </a:xfrm>
          <a:prstGeom prst="rect">
            <a:avLst/>
          </a:prstGeom>
          <a:noFill/>
        </p:spPr>
        <p:txBody>
          <a:bodyPr wrap="square" rtlCol="0">
            <a:spAutoFit/>
          </a:bodyPr>
          <a:lstStyle/>
          <a:p>
            <a:r>
              <a:rPr lang="tr-TR" sz="1200" dirty="0" smtClean="0">
                <a:solidFill>
                  <a:schemeClr val="tx1">
                    <a:lumMod val="85000"/>
                    <a:lumOff val="15000"/>
                  </a:schemeClr>
                </a:solidFill>
              </a:rPr>
              <a:t>A</a:t>
            </a:r>
          </a:p>
        </p:txBody>
      </p:sp>
      <p:sp>
        <p:nvSpPr>
          <p:cNvPr id="93" name="Metin kutusu 92"/>
          <p:cNvSpPr txBox="1"/>
          <p:nvPr/>
        </p:nvSpPr>
        <p:spPr>
          <a:xfrm>
            <a:off x="1328017" y="6390658"/>
            <a:ext cx="669354" cy="276999"/>
          </a:xfrm>
          <a:prstGeom prst="rect">
            <a:avLst/>
          </a:prstGeom>
          <a:noFill/>
        </p:spPr>
        <p:txBody>
          <a:bodyPr wrap="square" rtlCol="0">
            <a:spAutoFit/>
          </a:bodyPr>
          <a:lstStyle/>
          <a:p>
            <a:r>
              <a:rPr lang="tr-TR" sz="1200" dirty="0" smtClean="0">
                <a:solidFill>
                  <a:schemeClr val="tx1">
                    <a:lumMod val="85000"/>
                    <a:lumOff val="15000"/>
                  </a:schemeClr>
                </a:solidFill>
              </a:rPr>
              <a:t>B</a:t>
            </a:r>
          </a:p>
        </p:txBody>
      </p:sp>
      <mc:AlternateContent xmlns:mc="http://schemas.openxmlformats.org/markup-compatibility/2006" xmlns:a14="http://schemas.microsoft.com/office/drawing/2010/main">
        <mc:Choice Requires="a14">
          <p:sp>
            <p:nvSpPr>
              <p:cNvPr id="127" name="Metin kutusu 126"/>
              <p:cNvSpPr txBox="1"/>
              <p:nvPr/>
            </p:nvSpPr>
            <p:spPr>
              <a:xfrm>
                <a:off x="123012" y="7330721"/>
                <a:ext cx="3155597" cy="294376"/>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4</a:t>
                </a:r>
                <a14:m>
                  <m:oMath xmlns:m="http://schemas.openxmlformats.org/officeDocument/2006/math">
                    <m:rad>
                      <m:radPr>
                        <m:degHide m:val="on"/>
                        <m:ctrlPr>
                          <a:rPr lang="tr-TR" sz="1200" i="1">
                            <a:latin typeface="Cambria Math"/>
                          </a:rPr>
                        </m:ctrlPr>
                      </m:radPr>
                      <m:deg/>
                      <m:e>
                        <m:r>
                          <a:rPr lang="tr-TR" sz="1200" b="0" i="1" smtClean="0">
                            <a:latin typeface="Cambria Math"/>
                          </a:rPr>
                          <m:t>3</m:t>
                        </m:r>
                      </m:e>
                    </m:rad>
                  </m:oMath>
                </a14:m>
                <a:r>
                  <a:rPr lang="tr-TR" sz="1200" dirty="0" smtClean="0">
                    <a:solidFill>
                      <a:schemeClr val="tx1">
                        <a:lumMod val="85000"/>
                        <a:lumOff val="15000"/>
                      </a:schemeClr>
                    </a:solidFill>
                  </a:rPr>
                  <a:t>                      B)  6</a:t>
                </a:r>
                <a14:m>
                  <m:oMath xmlns:m="http://schemas.openxmlformats.org/officeDocument/2006/math">
                    <m:rad>
                      <m:radPr>
                        <m:degHide m:val="on"/>
                        <m:ctrlPr>
                          <a:rPr lang="tr-TR" sz="1200" i="1">
                            <a:latin typeface="Cambria Math"/>
                          </a:rPr>
                        </m:ctrlPr>
                      </m:radPr>
                      <m:deg/>
                      <m:e>
                        <m:r>
                          <a:rPr lang="tr-TR" sz="1200" b="0" i="1" smtClean="0">
                            <a:latin typeface="Cambria Math"/>
                          </a:rPr>
                          <m:t>3</m:t>
                        </m:r>
                      </m:e>
                    </m:rad>
                  </m:oMath>
                </a14:m>
                <a:r>
                  <a:rPr lang="tr-TR" sz="1200" dirty="0" smtClean="0">
                    <a:solidFill>
                      <a:schemeClr val="tx1">
                        <a:lumMod val="85000"/>
                        <a:lumOff val="15000"/>
                      </a:schemeClr>
                    </a:solidFill>
                  </a:rPr>
                  <a:t>                     C) </a:t>
                </a:r>
                <a14:m>
                  <m:oMath xmlns:m="http://schemas.openxmlformats.org/officeDocument/2006/math">
                    <m:r>
                      <a:rPr lang="tr-TR" sz="1200" b="0" i="0" smtClean="0">
                        <a:latin typeface="Cambria Math"/>
                      </a:rPr>
                      <m:t>12</m:t>
                    </m:r>
                    <m:rad>
                      <m:radPr>
                        <m:degHide m:val="on"/>
                        <m:ctrlPr>
                          <a:rPr lang="tr-TR" sz="1200" i="1">
                            <a:latin typeface="Cambria Math"/>
                          </a:rPr>
                        </m:ctrlPr>
                      </m:radPr>
                      <m:deg/>
                      <m:e>
                        <m:r>
                          <a:rPr lang="tr-TR" sz="1200" b="0" i="1" smtClean="0">
                            <a:latin typeface="Cambria Math"/>
                          </a:rPr>
                          <m:t>3</m:t>
                        </m:r>
                      </m:e>
                    </m:rad>
                  </m:oMath>
                </a14:m>
                <a:endParaRPr lang="tr-TR" sz="1200" dirty="0" smtClean="0">
                  <a:solidFill>
                    <a:schemeClr val="tx1">
                      <a:lumMod val="85000"/>
                      <a:lumOff val="15000"/>
                    </a:schemeClr>
                  </a:solidFill>
                </a:endParaRPr>
              </a:p>
            </p:txBody>
          </p:sp>
        </mc:Choice>
        <mc:Fallback xmlns="">
          <p:sp>
            <p:nvSpPr>
              <p:cNvPr id="127" name="Metin kutusu 126"/>
              <p:cNvSpPr txBox="1">
                <a:spLocks noRot="1" noChangeAspect="1" noMove="1" noResize="1" noEditPoints="1" noAdjustHandles="1" noChangeArrowheads="1" noChangeShapeType="1" noTextEdit="1"/>
              </p:cNvSpPr>
              <p:nvPr/>
            </p:nvSpPr>
            <p:spPr>
              <a:xfrm>
                <a:off x="123012" y="7330721"/>
                <a:ext cx="3155597" cy="294376"/>
              </a:xfrm>
              <a:prstGeom prst="rect">
                <a:avLst/>
              </a:prstGeom>
              <a:blipFill rotWithShape="1">
                <a:blip r:embed="rId9"/>
                <a:stretch>
                  <a:fillRect b="-16667"/>
                </a:stretch>
              </a:blipFill>
            </p:spPr>
            <p:txBody>
              <a:bodyPr/>
              <a:lstStyle/>
              <a:p>
                <a:r>
                  <a:rPr lang="tr-TR">
                    <a:noFill/>
                  </a:rPr>
                  <a:t> </a:t>
                </a:r>
              </a:p>
            </p:txBody>
          </p:sp>
        </mc:Fallback>
      </mc:AlternateContent>
      <p:sp>
        <p:nvSpPr>
          <p:cNvPr id="128" name="Metin kutusu 127"/>
          <p:cNvSpPr txBox="1"/>
          <p:nvPr/>
        </p:nvSpPr>
        <p:spPr>
          <a:xfrm>
            <a:off x="702053" y="7687765"/>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a:t>
            </a:r>
            <a:r>
              <a:rPr lang="tr-TR" sz="1200" dirty="0">
                <a:solidFill>
                  <a:schemeClr val="tx1">
                    <a:lumMod val="85000"/>
                    <a:lumOff val="15000"/>
                  </a:schemeClr>
                </a:solidFill>
              </a:rPr>
              <a:t>8</a:t>
            </a:r>
            <a:r>
              <a:rPr lang="tr-TR" sz="1200" dirty="0" smtClean="0">
                <a:solidFill>
                  <a:schemeClr val="tx1">
                    <a:lumMod val="85000"/>
                    <a:lumOff val="15000"/>
                  </a:schemeClr>
                </a:solidFill>
              </a:rPr>
              <a:t>                        E)  16</a:t>
            </a:r>
          </a:p>
        </p:txBody>
      </p:sp>
      <p:sp>
        <p:nvSpPr>
          <p:cNvPr id="67" name="Metin kutusu 66"/>
          <p:cNvSpPr txBox="1"/>
          <p:nvPr/>
        </p:nvSpPr>
        <p:spPr>
          <a:xfrm>
            <a:off x="1586387" y="5852911"/>
            <a:ext cx="410983" cy="276999"/>
          </a:xfrm>
          <a:prstGeom prst="rect">
            <a:avLst/>
          </a:prstGeom>
          <a:noFill/>
        </p:spPr>
        <p:txBody>
          <a:bodyPr wrap="square" rtlCol="0">
            <a:spAutoFit/>
          </a:bodyPr>
          <a:lstStyle/>
          <a:p>
            <a:r>
              <a:rPr lang="tr-TR" sz="1200" dirty="0" smtClean="0">
                <a:solidFill>
                  <a:schemeClr val="tx1">
                    <a:lumMod val="85000"/>
                    <a:lumOff val="15000"/>
                  </a:schemeClr>
                </a:solidFill>
              </a:rPr>
              <a:t>f(x)</a:t>
            </a:r>
          </a:p>
        </p:txBody>
      </p:sp>
      <p:sp>
        <p:nvSpPr>
          <p:cNvPr id="5" name="Serbest Form 4"/>
          <p:cNvSpPr/>
          <p:nvPr/>
        </p:nvSpPr>
        <p:spPr>
          <a:xfrm rot="21068233">
            <a:off x="4354220" y="955752"/>
            <a:ext cx="491415" cy="513929"/>
          </a:xfrm>
          <a:custGeom>
            <a:avLst/>
            <a:gdLst>
              <a:gd name="connsiteX0" fmla="*/ 0 w 697424"/>
              <a:gd name="connsiteY0" fmla="*/ 0 h 883409"/>
              <a:gd name="connsiteX1" fmla="*/ 242807 w 697424"/>
              <a:gd name="connsiteY1" fmla="*/ 883403 h 883409"/>
              <a:gd name="connsiteX2" fmla="*/ 697424 w 697424"/>
              <a:gd name="connsiteY2" fmla="*/ 15498 h 883409"/>
            </a:gdLst>
            <a:ahLst/>
            <a:cxnLst>
              <a:cxn ang="0">
                <a:pos x="connsiteX0" y="connsiteY0"/>
              </a:cxn>
              <a:cxn ang="0">
                <a:pos x="connsiteX1" y="connsiteY1"/>
              </a:cxn>
              <a:cxn ang="0">
                <a:pos x="connsiteX2" y="connsiteY2"/>
              </a:cxn>
            </a:cxnLst>
            <a:rect l="l" t="t" r="r" b="b"/>
            <a:pathLst>
              <a:path w="697424" h="883409">
                <a:moveTo>
                  <a:pt x="0" y="0"/>
                </a:moveTo>
                <a:cubicBezTo>
                  <a:pt x="63285" y="440410"/>
                  <a:pt x="126570" y="880820"/>
                  <a:pt x="242807" y="883403"/>
                </a:cubicBezTo>
                <a:cubicBezTo>
                  <a:pt x="359044" y="885986"/>
                  <a:pt x="615627" y="122264"/>
                  <a:pt x="697424" y="15498"/>
                </a:cubicBezTo>
              </a:path>
            </a:pathLst>
          </a:custGeom>
        </p:spPr>
        <p:style>
          <a:lnRef idx="1">
            <a:schemeClr val="accent5"/>
          </a:lnRef>
          <a:fillRef idx="0">
            <a:schemeClr val="accent5"/>
          </a:fillRef>
          <a:effectRef idx="0">
            <a:schemeClr val="accent5"/>
          </a:effectRef>
          <a:fontRef idx="minor">
            <a:schemeClr val="tx1"/>
          </a:fontRef>
        </p:style>
        <p:txBody>
          <a:bodyPr rtlCol="0" anchor="ctr"/>
          <a:lstStyle/>
          <a:p>
            <a:pPr algn="ctr"/>
            <a:endParaRPr lang="tr-TR"/>
          </a:p>
        </p:txBody>
      </p:sp>
      <p:cxnSp>
        <p:nvCxnSpPr>
          <p:cNvPr id="7" name="Düz Ok Bağlayıcısı 6"/>
          <p:cNvCxnSpPr/>
          <p:nvPr/>
        </p:nvCxnSpPr>
        <p:spPr>
          <a:xfrm flipV="1">
            <a:off x="3849523" y="790025"/>
            <a:ext cx="1494738" cy="1340483"/>
          </a:xfrm>
          <a:prstGeom prst="straightConnector1">
            <a:avLst/>
          </a:prstGeom>
          <a:ln>
            <a:headEnd type="arrow"/>
            <a:tailEnd type="arrow"/>
          </a:ln>
        </p:spPr>
        <p:style>
          <a:lnRef idx="1">
            <a:schemeClr val="accent4"/>
          </a:lnRef>
          <a:fillRef idx="0">
            <a:schemeClr val="accent4"/>
          </a:fillRef>
          <a:effectRef idx="0">
            <a:schemeClr val="accent4"/>
          </a:effectRef>
          <a:fontRef idx="minor">
            <a:schemeClr val="tx1"/>
          </a:fontRef>
        </p:style>
      </p:cxnSp>
      <mc:AlternateContent xmlns:mc="http://schemas.openxmlformats.org/markup-compatibility/2006" xmlns:a14="http://schemas.microsoft.com/office/drawing/2010/main">
        <mc:Choice Requires="a14">
          <p:sp>
            <p:nvSpPr>
              <p:cNvPr id="71" name="Metin kutusu 70"/>
              <p:cNvSpPr txBox="1"/>
              <p:nvPr/>
            </p:nvSpPr>
            <p:spPr>
              <a:xfrm>
                <a:off x="4189788" y="1576964"/>
                <a:ext cx="535356"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a:rPr>
                        <m:t>−2</m:t>
                      </m:r>
                    </m:oMath>
                  </m:oMathPara>
                </a14:m>
                <a:endParaRPr lang="tr-TR" sz="1200" dirty="0">
                  <a:solidFill>
                    <a:schemeClr val="tx1">
                      <a:lumMod val="85000"/>
                      <a:lumOff val="15000"/>
                    </a:schemeClr>
                  </a:solidFill>
                </a:endParaRPr>
              </a:p>
            </p:txBody>
          </p:sp>
        </mc:Choice>
        <mc:Fallback xmlns="">
          <p:sp>
            <p:nvSpPr>
              <p:cNvPr id="71" name="Metin kutusu 70"/>
              <p:cNvSpPr txBox="1">
                <a:spLocks noRot="1" noChangeAspect="1" noMove="1" noResize="1" noEditPoints="1" noAdjustHandles="1" noChangeArrowheads="1" noChangeShapeType="1" noTextEdit="1"/>
              </p:cNvSpPr>
              <p:nvPr/>
            </p:nvSpPr>
            <p:spPr>
              <a:xfrm>
                <a:off x="4189788" y="1576964"/>
                <a:ext cx="535356" cy="276999"/>
              </a:xfrm>
              <a:prstGeom prst="rect">
                <a:avLst/>
              </a:prstGeom>
              <a:blipFill rotWithShape="1">
                <a:blip r:embed="rId1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75" name="Metin kutusu 74"/>
              <p:cNvSpPr txBox="1"/>
              <p:nvPr/>
            </p:nvSpPr>
            <p:spPr>
              <a:xfrm>
                <a:off x="4963561" y="960385"/>
                <a:ext cx="33087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tr-TR" sz="1200" b="0" i="1" smtClean="0">
                          <a:solidFill>
                            <a:schemeClr val="tx1">
                              <a:lumMod val="85000"/>
                              <a:lumOff val="15000"/>
                            </a:schemeClr>
                          </a:solidFill>
                          <a:latin typeface="Cambria Math"/>
                        </a:rPr>
                        <m:t>𝑎</m:t>
                      </m:r>
                    </m:oMath>
                  </m:oMathPara>
                </a14:m>
                <a:endParaRPr lang="tr-TR" sz="1200" dirty="0">
                  <a:solidFill>
                    <a:schemeClr val="tx1">
                      <a:lumMod val="85000"/>
                      <a:lumOff val="15000"/>
                    </a:schemeClr>
                  </a:solidFill>
                </a:endParaRPr>
              </a:p>
            </p:txBody>
          </p:sp>
        </mc:Choice>
        <mc:Fallback xmlns="">
          <p:sp>
            <p:nvSpPr>
              <p:cNvPr id="75" name="Metin kutusu 74"/>
              <p:cNvSpPr txBox="1">
                <a:spLocks noRot="1" noChangeAspect="1" noMove="1" noResize="1" noEditPoints="1" noAdjustHandles="1" noChangeArrowheads="1" noChangeShapeType="1" noTextEdit="1"/>
              </p:cNvSpPr>
              <p:nvPr/>
            </p:nvSpPr>
            <p:spPr>
              <a:xfrm>
                <a:off x="4963561" y="960385"/>
                <a:ext cx="330878" cy="276999"/>
              </a:xfrm>
              <a:prstGeom prst="rect">
                <a:avLst/>
              </a:prstGeom>
              <a:blipFill rotWithShape="1">
                <a:blip r:embed="rId13"/>
                <a:stretch>
                  <a:fillRect/>
                </a:stretch>
              </a:blipFill>
            </p:spPr>
            <p:txBody>
              <a:bodyPr/>
              <a:lstStyle/>
              <a:p>
                <a:r>
                  <a:rPr lang="tr-TR">
                    <a:noFill/>
                  </a:rPr>
                  <a:t> </a:t>
                </a:r>
              </a:p>
            </p:txBody>
          </p:sp>
        </mc:Fallback>
      </mc:AlternateContent>
      <p:sp>
        <p:nvSpPr>
          <p:cNvPr id="61" name="Metin kutusu 60"/>
          <p:cNvSpPr txBox="1"/>
          <p:nvPr/>
        </p:nvSpPr>
        <p:spPr>
          <a:xfrm>
            <a:off x="3742456" y="3430801"/>
            <a:ext cx="3253115" cy="646331"/>
          </a:xfrm>
          <a:prstGeom prst="rect">
            <a:avLst/>
          </a:prstGeom>
          <a:noFill/>
        </p:spPr>
        <p:txBody>
          <a:bodyPr wrap="square" rtlCol="0">
            <a:spAutoFit/>
          </a:bodyPr>
          <a:lstStyle/>
          <a:p>
            <a:pPr marL="228600" indent="-228600">
              <a:buAutoNum type="alphaUcParenR"/>
            </a:pPr>
            <a:r>
              <a:rPr lang="tr-TR" sz="1200" dirty="0">
                <a:solidFill>
                  <a:schemeClr val="tx1">
                    <a:lumMod val="85000"/>
                    <a:lumOff val="15000"/>
                  </a:schemeClr>
                </a:solidFill>
              </a:rPr>
              <a:t>7</a:t>
            </a:r>
            <a:r>
              <a:rPr lang="tr-TR" sz="1200" dirty="0" smtClean="0">
                <a:solidFill>
                  <a:schemeClr val="tx1">
                    <a:lumMod val="85000"/>
                    <a:lumOff val="15000"/>
                  </a:schemeClr>
                </a:solidFill>
              </a:rPr>
              <a:t>                     B</a:t>
            </a:r>
            <a:r>
              <a:rPr lang="tr-TR" sz="1200" dirty="0">
                <a:solidFill>
                  <a:schemeClr val="tx1">
                    <a:lumMod val="85000"/>
                    <a:lumOff val="15000"/>
                  </a:schemeClr>
                </a:solidFill>
              </a:rPr>
              <a:t>)  </a:t>
            </a:r>
            <a:r>
              <a:rPr lang="tr-TR" sz="1200" dirty="0" smtClean="0">
                <a:solidFill>
                  <a:schemeClr val="tx1">
                    <a:lumMod val="85000"/>
                    <a:lumOff val="15000"/>
                  </a:schemeClr>
                </a:solidFill>
              </a:rPr>
              <a:t>11                  C) 13</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17                     E) 19</a:t>
            </a:r>
            <a:endParaRPr lang="tr-TR" sz="1200" dirty="0">
              <a:solidFill>
                <a:schemeClr val="tx1">
                  <a:lumMod val="85000"/>
                  <a:lumOff val="15000"/>
                </a:schemeClr>
              </a:solidFill>
            </a:endParaRPr>
          </a:p>
        </p:txBody>
      </p:sp>
      <p:sp>
        <p:nvSpPr>
          <p:cNvPr id="65" name="Metin kutusu 64"/>
          <p:cNvSpPr txBox="1"/>
          <p:nvPr/>
        </p:nvSpPr>
        <p:spPr>
          <a:xfrm>
            <a:off x="3700664" y="5657060"/>
            <a:ext cx="3040704" cy="830997"/>
          </a:xfrm>
          <a:prstGeom prst="rect">
            <a:avLst/>
          </a:prstGeom>
          <a:noFill/>
        </p:spPr>
        <p:txBody>
          <a:bodyPr wrap="square" rtlCol="0">
            <a:spAutoFit/>
          </a:bodyPr>
          <a:lstStyle/>
          <a:p>
            <a:r>
              <a:rPr lang="tr-TR" sz="1200" dirty="0" smtClean="0">
                <a:solidFill>
                  <a:schemeClr val="tx1">
                    <a:lumMod val="85000"/>
                    <a:lumOff val="15000"/>
                  </a:schemeClr>
                </a:solidFill>
              </a:rPr>
              <a:t>f(x) = x  + (m-2)x + (m-7) parabolünün simetri ekseni x=2 doğrusudur. Buna göre verilen denklemdeki parabolün </a:t>
            </a:r>
            <a:r>
              <a:rPr lang="tr-TR" sz="1200" b="1" dirty="0" smtClean="0">
                <a:solidFill>
                  <a:schemeClr val="tx1">
                    <a:lumMod val="85000"/>
                    <a:lumOff val="15000"/>
                  </a:schemeClr>
                </a:solidFill>
              </a:rPr>
              <a:t>x eksenini kestiği noktalar arası uzaklık kaç birimdir?</a:t>
            </a:r>
          </a:p>
        </p:txBody>
      </p:sp>
      <p:sp>
        <p:nvSpPr>
          <p:cNvPr id="68" name="Metin kutusu 67"/>
          <p:cNvSpPr txBox="1"/>
          <p:nvPr/>
        </p:nvSpPr>
        <p:spPr>
          <a:xfrm>
            <a:off x="3742456" y="6521736"/>
            <a:ext cx="3253115"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2                     B</a:t>
            </a:r>
            <a:r>
              <a:rPr lang="tr-TR" sz="1200" dirty="0">
                <a:solidFill>
                  <a:schemeClr val="tx1">
                    <a:lumMod val="85000"/>
                    <a:lumOff val="15000"/>
                  </a:schemeClr>
                </a:solidFill>
              </a:rPr>
              <a:t>)  </a:t>
            </a:r>
            <a:r>
              <a:rPr lang="tr-TR" sz="1200" dirty="0" smtClean="0">
                <a:solidFill>
                  <a:schemeClr val="tx1">
                    <a:lumMod val="85000"/>
                    <a:lumOff val="15000"/>
                  </a:schemeClr>
                </a:solidFill>
              </a:rPr>
              <a:t>5                         C) 6</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x eksenini kesmez           E) 0</a:t>
            </a:r>
            <a:endParaRPr lang="tr-TR" sz="1200" dirty="0">
              <a:solidFill>
                <a:schemeClr val="tx1">
                  <a:lumMod val="85000"/>
                  <a:lumOff val="15000"/>
                </a:schemeClr>
              </a:solidFill>
            </a:endParaRPr>
          </a:p>
        </p:txBody>
      </p:sp>
      <p:sp>
        <p:nvSpPr>
          <p:cNvPr id="69" name="Metin kutusu 68"/>
          <p:cNvSpPr txBox="1"/>
          <p:nvPr/>
        </p:nvSpPr>
        <p:spPr>
          <a:xfrm>
            <a:off x="4141932" y="5623994"/>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59" name="Metin kutusu 58"/>
          <p:cNvSpPr txBox="1"/>
          <p:nvPr/>
        </p:nvSpPr>
        <p:spPr>
          <a:xfrm>
            <a:off x="5037506" y="2446898"/>
            <a:ext cx="309131" cy="184666"/>
          </a:xfrm>
          <a:prstGeom prst="rect">
            <a:avLst/>
          </a:prstGeom>
          <a:noFill/>
        </p:spPr>
        <p:txBody>
          <a:bodyPr wrap="square" rtlCol="0">
            <a:spAutoFit/>
          </a:bodyPr>
          <a:lstStyle/>
          <a:p>
            <a:r>
              <a:rPr lang="tr-TR" sz="600" dirty="0" smtClean="0">
                <a:solidFill>
                  <a:schemeClr val="tx1">
                    <a:lumMod val="85000"/>
                    <a:lumOff val="15000"/>
                  </a:schemeClr>
                </a:solidFill>
              </a:rPr>
              <a:t>2</a:t>
            </a:r>
            <a:endParaRPr lang="tr-TR" sz="6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60" name="Metin kutusu 59"/>
              <p:cNvSpPr txBox="1"/>
              <p:nvPr/>
            </p:nvSpPr>
            <p:spPr>
              <a:xfrm>
                <a:off x="3773288" y="1735672"/>
                <a:ext cx="33087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tr-TR" sz="1200" b="0" i="0" smtClean="0">
                          <a:solidFill>
                            <a:schemeClr val="tx1">
                              <a:lumMod val="85000"/>
                              <a:lumOff val="15000"/>
                            </a:schemeClr>
                          </a:solidFill>
                          <a:latin typeface="Cambria Math"/>
                        </a:rPr>
                        <m:t>d</m:t>
                      </m:r>
                      <m:r>
                        <a:rPr lang="tr-TR" sz="1200" b="0" i="0" smtClean="0">
                          <a:solidFill>
                            <a:schemeClr val="tx1">
                              <a:lumMod val="85000"/>
                              <a:lumOff val="15000"/>
                            </a:schemeClr>
                          </a:solidFill>
                          <a:latin typeface="Cambria Math"/>
                        </a:rPr>
                        <m:t>1</m:t>
                      </m:r>
                    </m:oMath>
                  </m:oMathPara>
                </a14:m>
                <a:endParaRPr lang="tr-TR" sz="1200" dirty="0">
                  <a:solidFill>
                    <a:schemeClr val="tx1">
                      <a:lumMod val="85000"/>
                      <a:lumOff val="15000"/>
                    </a:schemeClr>
                  </a:solidFill>
                </a:endParaRPr>
              </a:p>
            </p:txBody>
          </p:sp>
        </mc:Choice>
        <mc:Fallback xmlns="">
          <p:sp>
            <p:nvSpPr>
              <p:cNvPr id="60" name="Metin kutusu 59"/>
              <p:cNvSpPr txBox="1">
                <a:spLocks noRot="1" noChangeAspect="1" noMove="1" noResize="1" noEditPoints="1" noAdjustHandles="1" noChangeArrowheads="1" noChangeShapeType="1" noTextEdit="1"/>
              </p:cNvSpPr>
              <p:nvPr/>
            </p:nvSpPr>
            <p:spPr>
              <a:xfrm>
                <a:off x="3773288" y="1735672"/>
                <a:ext cx="330878" cy="276999"/>
              </a:xfrm>
              <a:prstGeom prst="rect">
                <a:avLst/>
              </a:prstGeom>
              <a:blipFill rotWithShape="1">
                <a:blip r:embed="rId1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4" name="Metin kutusu 63"/>
              <p:cNvSpPr txBox="1"/>
              <p:nvPr/>
            </p:nvSpPr>
            <p:spPr>
              <a:xfrm>
                <a:off x="4106234" y="971600"/>
                <a:ext cx="330878"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m:rPr>
                          <m:sty m:val="p"/>
                        </m:rPr>
                        <a:rPr lang="tr-TR" sz="1200" b="0" i="0" smtClean="0">
                          <a:solidFill>
                            <a:schemeClr val="tx1">
                              <a:lumMod val="85000"/>
                              <a:lumOff val="15000"/>
                            </a:schemeClr>
                          </a:solidFill>
                          <a:latin typeface="Cambria Math"/>
                        </a:rPr>
                        <m:t>y</m:t>
                      </m:r>
                    </m:oMath>
                  </m:oMathPara>
                </a14:m>
                <a:endParaRPr lang="tr-TR" sz="1200" dirty="0">
                  <a:solidFill>
                    <a:schemeClr val="tx1">
                      <a:lumMod val="85000"/>
                      <a:lumOff val="15000"/>
                    </a:schemeClr>
                  </a:solidFill>
                </a:endParaRPr>
              </a:p>
            </p:txBody>
          </p:sp>
        </mc:Choice>
        <mc:Fallback xmlns="">
          <p:sp>
            <p:nvSpPr>
              <p:cNvPr id="64" name="Metin kutusu 63"/>
              <p:cNvSpPr txBox="1">
                <a:spLocks noRot="1" noChangeAspect="1" noMove="1" noResize="1" noEditPoints="1" noAdjustHandles="1" noChangeArrowheads="1" noChangeShapeType="1" noTextEdit="1"/>
              </p:cNvSpPr>
              <p:nvPr/>
            </p:nvSpPr>
            <p:spPr>
              <a:xfrm>
                <a:off x="4106234" y="971600"/>
                <a:ext cx="330878" cy="276999"/>
              </a:xfrm>
              <a:prstGeom prst="rect">
                <a:avLst/>
              </a:prstGeom>
              <a:blipFill rotWithShape="1">
                <a:blip r:embed="rId15"/>
                <a:stretch>
                  <a:fillRect/>
                </a:stretch>
              </a:blipFill>
            </p:spPr>
            <p:txBody>
              <a:bodyPr/>
              <a:lstStyle/>
              <a:p>
                <a:r>
                  <a:rPr lang="tr-TR">
                    <a:noFill/>
                  </a:rPr>
                  <a:t> </a:t>
                </a:r>
              </a:p>
            </p:txBody>
          </p:sp>
        </mc:Fallback>
      </mc:AlternateContent>
      <p:pic>
        <p:nvPicPr>
          <p:cNvPr id="66" name="Resim 65"/>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70" name="Dikdörtgen 69"/>
          <p:cNvSpPr/>
          <p:nvPr/>
        </p:nvSpPr>
        <p:spPr>
          <a:xfrm>
            <a:off x="53885" y="8819480"/>
            <a:ext cx="253212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6" name="Metin kutusu 75"/>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1.D</a:t>
            </a:r>
            <a:endParaRPr lang="tr-TR" sz="1000" dirty="0">
              <a:solidFill>
                <a:schemeClr val="tx1">
                  <a:lumMod val="85000"/>
                  <a:lumOff val="15000"/>
                </a:schemeClr>
              </a:solidFill>
            </a:endParaRPr>
          </a:p>
        </p:txBody>
      </p:sp>
      <p:sp>
        <p:nvSpPr>
          <p:cNvPr id="77" name="Metin kutusu 76"/>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a:t>
            </a:r>
            <a:endParaRPr lang="tr-TR" sz="1000" dirty="0">
              <a:solidFill>
                <a:schemeClr val="tx1">
                  <a:lumMod val="85000"/>
                  <a:lumOff val="15000"/>
                </a:schemeClr>
              </a:solidFill>
            </a:endParaRPr>
          </a:p>
        </p:txBody>
      </p:sp>
      <p:sp>
        <p:nvSpPr>
          <p:cNvPr id="78" name="Metin kutusu 77"/>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C</a:t>
            </a:r>
            <a:endParaRPr lang="tr-TR" sz="1000" dirty="0">
              <a:solidFill>
                <a:schemeClr val="tx1">
                  <a:lumMod val="85000"/>
                  <a:lumOff val="15000"/>
                </a:schemeClr>
              </a:solidFill>
            </a:endParaRPr>
          </a:p>
        </p:txBody>
      </p:sp>
      <p:sp>
        <p:nvSpPr>
          <p:cNvPr id="79" name="Metin kutusu 78"/>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a:t>
            </a:r>
            <a:r>
              <a:rPr lang="tr-TR" sz="1000" dirty="0">
                <a:solidFill>
                  <a:schemeClr val="tx1">
                    <a:lumMod val="85000"/>
                    <a:lumOff val="15000"/>
                  </a:schemeClr>
                </a:solidFill>
              </a:rPr>
              <a:t>D</a:t>
            </a:r>
          </a:p>
        </p:txBody>
      </p:sp>
      <p:sp>
        <p:nvSpPr>
          <p:cNvPr id="82" name="Metin kutusu 81"/>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5. A</a:t>
            </a:r>
            <a:endParaRPr lang="tr-TR" sz="1000" dirty="0">
              <a:solidFill>
                <a:schemeClr val="tx1">
                  <a:lumMod val="85000"/>
                  <a:lumOff val="15000"/>
                </a:schemeClr>
              </a:solidFill>
            </a:endParaRPr>
          </a:p>
        </p:txBody>
      </p:sp>
      <p:sp>
        <p:nvSpPr>
          <p:cNvPr id="83" name="Metin kutusu 82"/>
          <p:cNvSpPr txBox="1"/>
          <p:nvPr/>
        </p:nvSpPr>
        <p:spPr>
          <a:xfrm>
            <a:off x="2132856"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6. -</a:t>
            </a:r>
            <a:endParaRPr lang="tr-TR" sz="1000" dirty="0">
              <a:solidFill>
                <a:schemeClr val="tx1">
                  <a:lumMod val="85000"/>
                  <a:lumOff val="15000"/>
                </a:schemeClr>
              </a:solidFill>
            </a:endParaRPr>
          </a:p>
        </p:txBody>
      </p:sp>
      <p:cxnSp>
        <p:nvCxnSpPr>
          <p:cNvPr id="88" name="Düz Bağlayıcı 87"/>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4" name="Düz Bağlayıcı 93"/>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5" name="Düz Bağlayıcı 94"/>
          <p:cNvCxnSpPr/>
          <p:nvPr/>
        </p:nvCxnSpPr>
        <p:spPr>
          <a:xfrm>
            <a:off x="2132856"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6" name="Düz Bağlayıcı 95"/>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7" name="Düz Bağlayıcı 96"/>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0" name="Dikdörtgen 9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1" name="Picture 2"/>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02" name="Metin kutusu 101"/>
              <p:cNvSpPr txBox="1"/>
              <p:nvPr/>
            </p:nvSpPr>
            <p:spPr>
              <a:xfrm>
                <a:off x="2420888" y="4091612"/>
                <a:ext cx="509306" cy="2643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tr-TR" sz="1000" i="1">
                          <a:latin typeface="Cambria Math"/>
                        </a:rPr>
                        <m:t>2</m:t>
                      </m:r>
                      <m:rad>
                        <m:radPr>
                          <m:degHide m:val="on"/>
                          <m:ctrlPr>
                            <a:rPr lang="tr-TR" sz="1000" i="1" smtClean="0">
                              <a:latin typeface="Cambria Math"/>
                            </a:rPr>
                          </m:ctrlPr>
                        </m:radPr>
                        <m:deg/>
                        <m:e>
                          <m:r>
                            <a:rPr lang="tr-TR" sz="1000" b="0" i="1" smtClean="0">
                              <a:latin typeface="Cambria Math"/>
                            </a:rPr>
                            <m:t>17</m:t>
                          </m:r>
                        </m:e>
                      </m:rad>
                    </m:oMath>
                  </m:oMathPara>
                </a14:m>
                <a:endParaRPr lang="tr-TR" sz="1000" dirty="0"/>
              </a:p>
            </p:txBody>
          </p:sp>
        </mc:Choice>
        <mc:Fallback xmlns="">
          <p:sp>
            <p:nvSpPr>
              <p:cNvPr id="102" name="Metin kutusu 101"/>
              <p:cNvSpPr txBox="1">
                <a:spLocks noRot="1" noChangeAspect="1" noMove="1" noResize="1" noEditPoints="1" noAdjustHandles="1" noChangeArrowheads="1" noChangeShapeType="1" noTextEdit="1"/>
              </p:cNvSpPr>
              <p:nvPr/>
            </p:nvSpPr>
            <p:spPr>
              <a:xfrm>
                <a:off x="2420888" y="4091612"/>
                <a:ext cx="509306" cy="264368"/>
              </a:xfrm>
              <a:prstGeom prst="rect">
                <a:avLst/>
              </a:prstGeom>
              <a:blipFill rotWithShape="1">
                <a:blip r:embed="rId18"/>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05" name="Metin kutusu 104"/>
              <p:cNvSpPr txBox="1"/>
              <p:nvPr/>
            </p:nvSpPr>
            <p:spPr>
              <a:xfrm>
                <a:off x="3831238" y="6510868"/>
                <a:ext cx="893906" cy="29873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ad>
                        <m:radPr>
                          <m:degHide m:val="on"/>
                          <m:ctrlPr>
                            <a:rPr lang="tr-TR" sz="1200" i="1" smtClean="0">
                              <a:latin typeface="Cambria Math"/>
                            </a:rPr>
                          </m:ctrlPr>
                        </m:radPr>
                        <m:deg/>
                        <m:e>
                          <m:r>
                            <a:rPr lang="tr-TR" sz="1200" b="0" i="1" smtClean="0">
                              <a:latin typeface="Cambria Math"/>
                            </a:rPr>
                            <m:t>13</m:t>
                          </m:r>
                        </m:e>
                      </m:rad>
                    </m:oMath>
                  </m:oMathPara>
                </a14:m>
                <a:endParaRPr lang="tr-TR" sz="1200" dirty="0"/>
              </a:p>
            </p:txBody>
          </p:sp>
        </mc:Choice>
        <mc:Fallback xmlns="">
          <p:sp>
            <p:nvSpPr>
              <p:cNvPr id="105" name="Metin kutusu 104"/>
              <p:cNvSpPr txBox="1">
                <a:spLocks noRot="1" noChangeAspect="1" noMove="1" noResize="1" noEditPoints="1" noAdjustHandles="1" noChangeArrowheads="1" noChangeShapeType="1" noTextEdit="1"/>
              </p:cNvSpPr>
              <p:nvPr/>
            </p:nvSpPr>
            <p:spPr>
              <a:xfrm>
                <a:off x="3831238" y="6510868"/>
                <a:ext cx="893906" cy="298736"/>
              </a:xfrm>
              <a:prstGeom prst="rect">
                <a:avLst/>
              </a:prstGeom>
              <a:blipFill rotWithShape="1">
                <a:blip r:embed="rId19"/>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188642657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685"/>
            <a:ext cx="6847658" cy="615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Metin kutusu 26"/>
          <p:cNvSpPr txBox="1"/>
          <p:nvPr/>
        </p:nvSpPr>
        <p:spPr>
          <a:xfrm>
            <a:off x="53885" y="683573"/>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6.</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62" name="Dikdörtgen 61"/>
          <p:cNvSpPr/>
          <p:nvPr/>
        </p:nvSpPr>
        <p:spPr>
          <a:xfrm>
            <a:off x="4962482" y="19684"/>
            <a:ext cx="1603324"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Ahmetcelen.com.tr</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652608"/>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8.</a:t>
            </a:r>
            <a:endParaRPr lang="tr-TR" sz="1400" b="1" dirty="0">
              <a:solidFill>
                <a:srgbClr val="C00000"/>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Metin kutusu 116"/>
          <p:cNvSpPr txBox="1"/>
          <p:nvPr/>
        </p:nvSpPr>
        <p:spPr>
          <a:xfrm>
            <a:off x="53885" y="2843812"/>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7.</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10</a:t>
            </a: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264044" y="748745"/>
            <a:ext cx="3155597" cy="646331"/>
          </a:xfrm>
          <a:prstGeom prst="rect">
            <a:avLst/>
          </a:prstGeom>
          <a:noFill/>
        </p:spPr>
        <p:txBody>
          <a:bodyPr wrap="square" rtlCol="0">
            <a:spAutoFit/>
          </a:bodyPr>
          <a:lstStyle/>
          <a:p>
            <a:r>
              <a:rPr lang="tr-TR" sz="1200" dirty="0">
                <a:solidFill>
                  <a:schemeClr val="tx1">
                    <a:lumMod val="85000"/>
                    <a:lumOff val="15000"/>
                  </a:schemeClr>
                </a:solidFill>
              </a:rPr>
              <a:t>f</a:t>
            </a:r>
            <a:r>
              <a:rPr lang="tr-TR" sz="1200" dirty="0" smtClean="0">
                <a:solidFill>
                  <a:schemeClr val="tx1">
                    <a:lumMod val="85000"/>
                    <a:lumOff val="15000"/>
                  </a:schemeClr>
                </a:solidFill>
              </a:rPr>
              <a:t> (x) = x  -  4x  + 7 fonksiyonun Z (2,3) </a:t>
            </a:r>
            <a:r>
              <a:rPr lang="tr-TR" sz="1200" b="1" dirty="0" smtClean="0">
                <a:solidFill>
                  <a:schemeClr val="tx1">
                    <a:lumMod val="85000"/>
                    <a:lumOff val="15000"/>
                  </a:schemeClr>
                </a:solidFill>
              </a:rPr>
              <a:t>noktasına</a:t>
            </a:r>
          </a:p>
          <a:p>
            <a:r>
              <a:rPr lang="tr-TR" sz="1200" b="1" dirty="0" smtClean="0">
                <a:solidFill>
                  <a:schemeClr val="tx1">
                    <a:lumMod val="85000"/>
                    <a:lumOff val="15000"/>
                  </a:schemeClr>
                </a:solidFill>
              </a:rPr>
              <a:t>göre simetrisinin y eksenini kestiği noktanın ordinatı kaçtır?</a:t>
            </a:r>
          </a:p>
        </p:txBody>
      </p:sp>
      <p:sp>
        <p:nvSpPr>
          <p:cNvPr id="121" name="Dikdörtgen 120"/>
          <p:cNvSpPr/>
          <p:nvPr/>
        </p:nvSpPr>
        <p:spPr>
          <a:xfrm>
            <a:off x="3379729" y="498584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9.</a:t>
            </a:r>
            <a:endParaRPr lang="tr-TR" sz="1400" b="1" dirty="0">
              <a:solidFill>
                <a:srgbClr val="C00000"/>
              </a:solidFill>
              <a:latin typeface="Arial Narrow" panose="020B0606020202030204" pitchFamily="34" charset="0"/>
            </a:endParaRPr>
          </a:p>
        </p:txBody>
      </p:sp>
      <p:sp>
        <p:nvSpPr>
          <p:cNvPr id="80" name="Metin kutusu 79"/>
          <p:cNvSpPr txBox="1"/>
          <p:nvPr/>
        </p:nvSpPr>
        <p:spPr>
          <a:xfrm>
            <a:off x="283899" y="1391962"/>
            <a:ext cx="3253115"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-3                     B</a:t>
            </a:r>
            <a:r>
              <a:rPr lang="tr-TR" sz="1200" dirty="0">
                <a:solidFill>
                  <a:schemeClr val="tx1">
                    <a:lumMod val="85000"/>
                    <a:lumOff val="15000"/>
                  </a:schemeClr>
                </a:solidFill>
              </a:rPr>
              <a:t>)  </a:t>
            </a:r>
            <a:r>
              <a:rPr lang="tr-TR" sz="1200" dirty="0" smtClean="0">
                <a:solidFill>
                  <a:schemeClr val="tx1">
                    <a:lumMod val="85000"/>
                    <a:lumOff val="15000"/>
                  </a:schemeClr>
                </a:solidFill>
              </a:rPr>
              <a:t>-1                  C) 2</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3                     E) </a:t>
            </a:r>
            <a:r>
              <a:rPr lang="tr-TR" sz="1200" dirty="0">
                <a:solidFill>
                  <a:schemeClr val="tx1">
                    <a:lumMod val="85000"/>
                    <a:lumOff val="15000"/>
                  </a:schemeClr>
                </a:solidFill>
              </a:rPr>
              <a:t>7</a:t>
            </a:r>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p:txBody>
      </p:sp>
      <p:sp>
        <p:nvSpPr>
          <p:cNvPr id="118" name="Metin kutusu 117"/>
          <p:cNvSpPr txBox="1"/>
          <p:nvPr/>
        </p:nvSpPr>
        <p:spPr>
          <a:xfrm>
            <a:off x="1052736" y="4499992"/>
            <a:ext cx="223138" cy="292388"/>
          </a:xfrm>
          <a:prstGeom prst="rect">
            <a:avLst/>
          </a:prstGeom>
          <a:noFill/>
        </p:spPr>
        <p:txBody>
          <a:bodyPr wrap="none" rtlCol="0">
            <a:spAutoFit/>
          </a:bodyPr>
          <a:lstStyle/>
          <a:p>
            <a:r>
              <a:rPr lang="tr-TR" sz="1300" dirty="0" smtClean="0">
                <a:latin typeface="+mj-lt"/>
              </a:rPr>
              <a:t> </a:t>
            </a:r>
            <a:endParaRPr lang="tr-TR" sz="1300" dirty="0">
              <a:latin typeface="+mj-lt"/>
            </a:endParaRPr>
          </a:p>
        </p:txBody>
      </p:sp>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84" name="Dikdörtgen 83"/>
          <p:cNvSpPr/>
          <p:nvPr/>
        </p:nvSpPr>
        <p:spPr>
          <a:xfrm>
            <a:off x="-27383" y="139441"/>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ÖSYM TADINDA</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85" name="Metin kutusu 84"/>
          <p:cNvSpPr txBox="1"/>
          <p:nvPr/>
        </p:nvSpPr>
        <p:spPr>
          <a:xfrm>
            <a:off x="734715" y="74130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pic>
        <p:nvPicPr>
          <p:cNvPr id="59"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6672" y="2825001"/>
            <a:ext cx="2199857" cy="19868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0" name="Metin kutusu 59"/>
          <p:cNvSpPr txBox="1"/>
          <p:nvPr/>
        </p:nvSpPr>
        <p:spPr>
          <a:xfrm>
            <a:off x="207934" y="4835172"/>
            <a:ext cx="3040704" cy="646331"/>
          </a:xfrm>
          <a:prstGeom prst="rect">
            <a:avLst/>
          </a:prstGeom>
          <a:noFill/>
        </p:spPr>
        <p:txBody>
          <a:bodyPr wrap="square" rtlCol="0">
            <a:spAutoFit/>
          </a:bodyPr>
          <a:lstStyle/>
          <a:p>
            <a:r>
              <a:rPr lang="tr-TR" sz="1200" dirty="0" smtClean="0">
                <a:solidFill>
                  <a:schemeClr val="tx1">
                    <a:lumMod val="85000"/>
                    <a:lumOff val="15000"/>
                  </a:schemeClr>
                </a:solidFill>
              </a:rPr>
              <a:t>Yukarıda verilen grafiğin denklemi </a:t>
            </a:r>
          </a:p>
          <a:p>
            <a:r>
              <a:rPr lang="tr-TR" sz="1200" dirty="0" smtClean="0">
                <a:solidFill>
                  <a:schemeClr val="tx1">
                    <a:lumMod val="85000"/>
                    <a:lumOff val="15000"/>
                  </a:schemeClr>
                </a:solidFill>
              </a:rPr>
              <a:t>f(x) = mx  + (m -1)x + (m+9) parabolüdür. </a:t>
            </a:r>
          </a:p>
          <a:p>
            <a:r>
              <a:rPr lang="tr-TR" sz="1200" b="1" dirty="0" smtClean="0">
                <a:solidFill>
                  <a:schemeClr val="tx1">
                    <a:lumMod val="85000"/>
                    <a:lumOff val="15000"/>
                  </a:schemeClr>
                </a:solidFill>
              </a:rPr>
              <a:t>ABCD Yamuğunun alanı kaçtır? </a:t>
            </a:r>
          </a:p>
        </p:txBody>
      </p:sp>
      <p:sp>
        <p:nvSpPr>
          <p:cNvPr id="20" name="Serbest Form 19"/>
          <p:cNvSpPr/>
          <p:nvPr/>
        </p:nvSpPr>
        <p:spPr>
          <a:xfrm>
            <a:off x="1016731" y="3067601"/>
            <a:ext cx="1188133" cy="1251102"/>
          </a:xfrm>
          <a:custGeom>
            <a:avLst/>
            <a:gdLst>
              <a:gd name="connsiteX0" fmla="*/ 0 w 1330325"/>
              <a:gd name="connsiteY0" fmla="*/ 1184427 h 1251102"/>
              <a:gd name="connsiteX1" fmla="*/ 603250 w 1330325"/>
              <a:gd name="connsiteY1" fmla="*/ 152 h 1251102"/>
              <a:gd name="connsiteX2" fmla="*/ 1330325 w 1330325"/>
              <a:gd name="connsiteY2" fmla="*/ 1251102 h 1251102"/>
            </a:gdLst>
            <a:ahLst/>
            <a:cxnLst>
              <a:cxn ang="0">
                <a:pos x="connsiteX0" y="connsiteY0"/>
              </a:cxn>
              <a:cxn ang="0">
                <a:pos x="connsiteX1" y="connsiteY1"/>
              </a:cxn>
              <a:cxn ang="0">
                <a:pos x="connsiteX2" y="connsiteY2"/>
              </a:cxn>
            </a:cxnLst>
            <a:rect l="l" t="t" r="r" b="b"/>
            <a:pathLst>
              <a:path w="1330325" h="1251102">
                <a:moveTo>
                  <a:pt x="0" y="1184427"/>
                </a:moveTo>
                <a:cubicBezTo>
                  <a:pt x="190764" y="586733"/>
                  <a:pt x="381529" y="-10961"/>
                  <a:pt x="603250" y="152"/>
                </a:cubicBezTo>
                <a:cubicBezTo>
                  <a:pt x="824971" y="11264"/>
                  <a:pt x="1216554" y="1056898"/>
                  <a:pt x="1330325" y="1251102"/>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26" name="Düz Bağlayıcı 25"/>
          <p:cNvCxnSpPr/>
          <p:nvPr/>
        </p:nvCxnSpPr>
        <p:spPr>
          <a:xfrm>
            <a:off x="1275874" y="3419872"/>
            <a:ext cx="5689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29" name="Düz Bağlayıcı 28"/>
          <p:cNvCxnSpPr/>
          <p:nvPr/>
        </p:nvCxnSpPr>
        <p:spPr>
          <a:xfrm flipH="1">
            <a:off x="1124744" y="3419872"/>
            <a:ext cx="151130" cy="402139"/>
          </a:xfrm>
          <a:prstGeom prst="line">
            <a:avLst/>
          </a:prstGeom>
        </p:spPr>
        <p:style>
          <a:lnRef idx="1">
            <a:schemeClr val="accent2"/>
          </a:lnRef>
          <a:fillRef idx="0">
            <a:schemeClr val="accent2"/>
          </a:fillRef>
          <a:effectRef idx="0">
            <a:schemeClr val="accent2"/>
          </a:effectRef>
          <a:fontRef idx="minor">
            <a:schemeClr val="tx1"/>
          </a:fontRef>
        </p:style>
      </p:cxnSp>
      <p:cxnSp>
        <p:nvCxnSpPr>
          <p:cNvPr id="31" name="Düz Bağlayıcı 30"/>
          <p:cNvCxnSpPr/>
          <p:nvPr/>
        </p:nvCxnSpPr>
        <p:spPr>
          <a:xfrm>
            <a:off x="1841842" y="3419872"/>
            <a:ext cx="146998" cy="398567"/>
          </a:xfrm>
          <a:prstGeom prst="line">
            <a:avLst/>
          </a:prstGeom>
        </p:spPr>
        <p:style>
          <a:lnRef idx="1">
            <a:schemeClr val="accent2"/>
          </a:lnRef>
          <a:fillRef idx="0">
            <a:schemeClr val="accent2"/>
          </a:fillRef>
          <a:effectRef idx="0">
            <a:schemeClr val="accent2"/>
          </a:effectRef>
          <a:fontRef idx="minor">
            <a:schemeClr val="tx1"/>
          </a:fontRef>
        </p:style>
      </p:cxnSp>
      <p:cxnSp>
        <p:nvCxnSpPr>
          <p:cNvPr id="79" name="Düz Bağlayıcı 78"/>
          <p:cNvCxnSpPr/>
          <p:nvPr/>
        </p:nvCxnSpPr>
        <p:spPr>
          <a:xfrm>
            <a:off x="1124744" y="3822011"/>
            <a:ext cx="864096" cy="0"/>
          </a:xfrm>
          <a:prstGeom prst="line">
            <a:avLst/>
          </a:prstGeom>
        </p:spPr>
        <p:style>
          <a:lnRef idx="1">
            <a:schemeClr val="accent2"/>
          </a:lnRef>
          <a:fillRef idx="0">
            <a:schemeClr val="accent2"/>
          </a:fillRef>
          <a:effectRef idx="0">
            <a:schemeClr val="accent2"/>
          </a:effectRef>
          <a:fontRef idx="minor">
            <a:schemeClr val="tx1"/>
          </a:fontRef>
        </p:style>
      </p:cxnSp>
      <p:sp>
        <p:nvSpPr>
          <p:cNvPr id="82" name="Metin kutusu 81"/>
          <p:cNvSpPr txBox="1"/>
          <p:nvPr/>
        </p:nvSpPr>
        <p:spPr>
          <a:xfrm>
            <a:off x="1058611" y="3281371"/>
            <a:ext cx="282158" cy="246221"/>
          </a:xfrm>
          <a:prstGeom prst="rect">
            <a:avLst/>
          </a:prstGeom>
          <a:noFill/>
        </p:spPr>
        <p:txBody>
          <a:bodyPr wrap="square" rtlCol="0">
            <a:spAutoFit/>
          </a:bodyPr>
          <a:lstStyle/>
          <a:p>
            <a:r>
              <a:rPr lang="tr-TR" sz="1000" dirty="0" smtClean="0">
                <a:solidFill>
                  <a:schemeClr val="tx1">
                    <a:lumMod val="85000"/>
                    <a:lumOff val="15000"/>
                  </a:schemeClr>
                </a:solidFill>
              </a:rPr>
              <a:t>A</a:t>
            </a:r>
            <a:endParaRPr lang="tr-TR" sz="1000" dirty="0">
              <a:solidFill>
                <a:schemeClr val="tx1">
                  <a:lumMod val="85000"/>
                  <a:lumOff val="15000"/>
                </a:schemeClr>
              </a:solidFill>
            </a:endParaRPr>
          </a:p>
        </p:txBody>
      </p:sp>
      <p:sp>
        <p:nvSpPr>
          <p:cNvPr id="83" name="Metin kutusu 82"/>
          <p:cNvSpPr txBox="1"/>
          <p:nvPr/>
        </p:nvSpPr>
        <p:spPr>
          <a:xfrm>
            <a:off x="1775552" y="3275856"/>
            <a:ext cx="282158" cy="246221"/>
          </a:xfrm>
          <a:prstGeom prst="rect">
            <a:avLst/>
          </a:prstGeom>
          <a:noFill/>
        </p:spPr>
        <p:txBody>
          <a:bodyPr wrap="square" rtlCol="0">
            <a:spAutoFit/>
          </a:bodyPr>
          <a:lstStyle/>
          <a:p>
            <a:r>
              <a:rPr lang="tr-TR" sz="1000" dirty="0" smtClean="0">
                <a:solidFill>
                  <a:schemeClr val="tx1">
                    <a:lumMod val="85000"/>
                    <a:lumOff val="15000"/>
                  </a:schemeClr>
                </a:solidFill>
              </a:rPr>
              <a:t>B</a:t>
            </a:r>
            <a:endParaRPr lang="tr-TR" sz="1000" dirty="0">
              <a:solidFill>
                <a:schemeClr val="tx1">
                  <a:lumMod val="85000"/>
                  <a:lumOff val="15000"/>
                </a:schemeClr>
              </a:solidFill>
            </a:endParaRPr>
          </a:p>
        </p:txBody>
      </p:sp>
      <p:sp>
        <p:nvSpPr>
          <p:cNvPr id="88" name="Metin kutusu 87"/>
          <p:cNvSpPr txBox="1"/>
          <p:nvPr/>
        </p:nvSpPr>
        <p:spPr>
          <a:xfrm>
            <a:off x="1916832" y="3656011"/>
            <a:ext cx="282158" cy="246221"/>
          </a:xfrm>
          <a:prstGeom prst="rect">
            <a:avLst/>
          </a:prstGeom>
          <a:noFill/>
        </p:spPr>
        <p:txBody>
          <a:bodyPr wrap="square" rtlCol="0">
            <a:spAutoFit/>
          </a:bodyPr>
          <a:lstStyle/>
          <a:p>
            <a:r>
              <a:rPr lang="tr-TR" sz="1000" dirty="0" smtClean="0">
                <a:solidFill>
                  <a:schemeClr val="tx1">
                    <a:lumMod val="85000"/>
                    <a:lumOff val="15000"/>
                  </a:schemeClr>
                </a:solidFill>
              </a:rPr>
              <a:t>C</a:t>
            </a:r>
            <a:endParaRPr lang="tr-TR" sz="1000" dirty="0">
              <a:solidFill>
                <a:schemeClr val="tx1">
                  <a:lumMod val="85000"/>
                  <a:lumOff val="15000"/>
                </a:schemeClr>
              </a:solidFill>
            </a:endParaRPr>
          </a:p>
        </p:txBody>
      </p:sp>
      <p:sp>
        <p:nvSpPr>
          <p:cNvPr id="94" name="Metin kutusu 93"/>
          <p:cNvSpPr txBox="1"/>
          <p:nvPr/>
        </p:nvSpPr>
        <p:spPr>
          <a:xfrm>
            <a:off x="943117" y="3656806"/>
            <a:ext cx="282158" cy="246221"/>
          </a:xfrm>
          <a:prstGeom prst="rect">
            <a:avLst/>
          </a:prstGeom>
          <a:noFill/>
        </p:spPr>
        <p:txBody>
          <a:bodyPr wrap="square" rtlCol="0">
            <a:spAutoFit/>
          </a:bodyPr>
          <a:lstStyle/>
          <a:p>
            <a:r>
              <a:rPr lang="tr-TR" sz="1000" dirty="0" smtClean="0">
                <a:solidFill>
                  <a:schemeClr val="tx1">
                    <a:lumMod val="85000"/>
                    <a:lumOff val="15000"/>
                  </a:schemeClr>
                </a:solidFill>
              </a:rPr>
              <a:t>D</a:t>
            </a:r>
            <a:endParaRPr lang="tr-TR" sz="1000" dirty="0">
              <a:solidFill>
                <a:schemeClr val="tx1">
                  <a:lumMod val="85000"/>
                  <a:lumOff val="15000"/>
                </a:schemeClr>
              </a:solidFill>
            </a:endParaRPr>
          </a:p>
        </p:txBody>
      </p:sp>
      <p:sp>
        <p:nvSpPr>
          <p:cNvPr id="95" name="Metin kutusu 94"/>
          <p:cNvSpPr txBox="1"/>
          <p:nvPr/>
        </p:nvSpPr>
        <p:spPr>
          <a:xfrm>
            <a:off x="734715" y="4997258"/>
            <a:ext cx="28215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96" name="Metin kutusu 95"/>
          <p:cNvSpPr txBox="1"/>
          <p:nvPr/>
        </p:nvSpPr>
        <p:spPr>
          <a:xfrm>
            <a:off x="1084196" y="4997258"/>
            <a:ext cx="28215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97" name="Metin kutusu 96"/>
          <p:cNvSpPr txBox="1"/>
          <p:nvPr/>
        </p:nvSpPr>
        <p:spPr>
          <a:xfrm>
            <a:off x="1469718" y="3217787"/>
            <a:ext cx="282158" cy="246221"/>
          </a:xfrm>
          <a:prstGeom prst="rect">
            <a:avLst/>
          </a:prstGeom>
          <a:noFill/>
        </p:spPr>
        <p:txBody>
          <a:bodyPr wrap="square" rtlCol="0">
            <a:spAutoFit/>
          </a:bodyPr>
          <a:lstStyle/>
          <a:p>
            <a:r>
              <a:rPr lang="tr-TR" sz="1000" dirty="0" smtClean="0">
                <a:solidFill>
                  <a:schemeClr val="tx1">
                    <a:lumMod val="85000"/>
                    <a:lumOff val="15000"/>
                  </a:schemeClr>
                </a:solidFill>
              </a:rPr>
              <a:t>4</a:t>
            </a:r>
            <a:endParaRPr lang="tr-TR" sz="10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101" name="Metin kutusu 100"/>
              <p:cNvSpPr txBox="1"/>
              <p:nvPr/>
            </p:nvSpPr>
            <p:spPr>
              <a:xfrm>
                <a:off x="169299" y="5481334"/>
                <a:ext cx="3115685" cy="71885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8 (</a:t>
                </a:r>
                <a14:m>
                  <m:oMath xmlns:m="http://schemas.openxmlformats.org/officeDocument/2006/math">
                    <m:rad>
                      <m:radPr>
                        <m:degHide m:val="on"/>
                        <m:ctrlPr>
                          <a:rPr lang="tr-TR" sz="1200" i="1">
                            <a:latin typeface="Cambria Math"/>
                          </a:rPr>
                        </m:ctrlPr>
                      </m:radPr>
                      <m:deg/>
                      <m:e>
                        <m:r>
                          <a:rPr lang="tr-TR" sz="1200" b="0" i="1" smtClean="0">
                            <a:latin typeface="Cambria Math"/>
                          </a:rPr>
                          <m:t>2</m:t>
                        </m:r>
                      </m:e>
                    </m:rad>
                  </m:oMath>
                </a14:m>
                <a:r>
                  <a:rPr lang="tr-TR" sz="1200" dirty="0" smtClean="0">
                    <a:solidFill>
                      <a:schemeClr val="tx1">
                        <a:lumMod val="85000"/>
                        <a:lumOff val="15000"/>
                      </a:schemeClr>
                    </a:solidFill>
                  </a:rPr>
                  <a:t> + 1)          B</a:t>
                </a:r>
                <a:r>
                  <a:rPr lang="tr-TR" sz="1200" dirty="0">
                    <a:solidFill>
                      <a:schemeClr val="tx1">
                        <a:lumMod val="85000"/>
                        <a:lumOff val="15000"/>
                      </a:schemeClr>
                    </a:solidFill>
                  </a:rPr>
                  <a:t>) </a:t>
                </a:r>
                <a:r>
                  <a:rPr lang="tr-TR" sz="1200" dirty="0" smtClean="0">
                    <a:solidFill>
                      <a:schemeClr val="tx1">
                        <a:lumMod val="85000"/>
                        <a:lumOff val="15000"/>
                      </a:schemeClr>
                    </a:solidFill>
                  </a:rPr>
                  <a:t>4 </a:t>
                </a:r>
                <a:r>
                  <a:rPr lang="tr-TR" sz="1200" dirty="0">
                    <a:solidFill>
                      <a:schemeClr val="tx1">
                        <a:lumMod val="85000"/>
                        <a:lumOff val="15000"/>
                      </a:schemeClr>
                    </a:solidFill>
                  </a:rPr>
                  <a:t>(</a:t>
                </a:r>
                <a14:m>
                  <m:oMath xmlns:m="http://schemas.openxmlformats.org/officeDocument/2006/math">
                    <m:rad>
                      <m:radPr>
                        <m:degHide m:val="on"/>
                        <m:ctrlPr>
                          <a:rPr lang="tr-TR" sz="1200" i="1">
                            <a:latin typeface="Cambria Math"/>
                          </a:rPr>
                        </m:ctrlPr>
                      </m:radPr>
                      <m:deg/>
                      <m:e>
                        <m:r>
                          <a:rPr lang="tr-TR" sz="1200" b="0" i="1" smtClean="0">
                            <a:latin typeface="Cambria Math"/>
                          </a:rPr>
                          <m:t>2</m:t>
                        </m:r>
                      </m:e>
                    </m:rad>
                  </m:oMath>
                </a14:m>
                <a:r>
                  <a:rPr lang="tr-TR" sz="1200" dirty="0">
                    <a:solidFill>
                      <a:schemeClr val="tx1">
                        <a:lumMod val="85000"/>
                        <a:lumOff val="15000"/>
                      </a:schemeClr>
                    </a:solidFill>
                  </a:rPr>
                  <a:t> + 1)       </a:t>
                </a:r>
                <a:r>
                  <a:rPr lang="tr-TR" sz="1200" dirty="0" smtClean="0">
                    <a:solidFill>
                      <a:schemeClr val="tx1">
                        <a:lumMod val="85000"/>
                        <a:lumOff val="15000"/>
                      </a:schemeClr>
                    </a:solidFill>
                  </a:rPr>
                  <a:t>       C) 8</a:t>
                </a:r>
                <a14:m>
                  <m:oMath xmlns:m="http://schemas.openxmlformats.org/officeDocument/2006/math">
                    <m:rad>
                      <m:radPr>
                        <m:degHide m:val="on"/>
                        <m:ctrlPr>
                          <a:rPr lang="tr-TR" sz="1200" i="1" smtClean="0">
                            <a:latin typeface="Cambria Math"/>
                          </a:rPr>
                        </m:ctrlPr>
                      </m:radPr>
                      <m:deg/>
                      <m:e>
                        <m:r>
                          <a:rPr lang="tr-TR" sz="1200" b="0" i="1" smtClean="0">
                            <a:latin typeface="Cambria Math"/>
                          </a:rPr>
                          <m:t>2</m:t>
                        </m:r>
                      </m:e>
                    </m:rad>
                  </m:oMath>
                </a14:m>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4 (</a:t>
                </a:r>
                <a14:m>
                  <m:oMath xmlns:m="http://schemas.openxmlformats.org/officeDocument/2006/math">
                    <m:rad>
                      <m:radPr>
                        <m:degHide m:val="on"/>
                        <m:ctrlPr>
                          <a:rPr lang="tr-TR" sz="1200" i="1" smtClean="0">
                            <a:latin typeface="Cambria Math"/>
                          </a:rPr>
                        </m:ctrlPr>
                      </m:radPr>
                      <m:deg/>
                      <m:e>
                        <m:r>
                          <a:rPr lang="tr-TR" sz="1200" b="0" i="1" smtClean="0">
                            <a:latin typeface="Cambria Math"/>
                          </a:rPr>
                          <m:t>2 </m:t>
                        </m:r>
                      </m:e>
                    </m:rad>
                  </m:oMath>
                </a14:m>
                <a:r>
                  <a:rPr lang="tr-TR" sz="1200" dirty="0" smtClean="0">
                    <a:solidFill>
                      <a:schemeClr val="tx1">
                        <a:lumMod val="85000"/>
                        <a:lumOff val="15000"/>
                      </a:schemeClr>
                    </a:solidFill>
                  </a:rPr>
                  <a:t> -1)         E) </a:t>
                </a:r>
                <a14:m>
                  <m:oMath xmlns:m="http://schemas.openxmlformats.org/officeDocument/2006/math">
                    <m:r>
                      <a:rPr lang="tr-TR" sz="1200" b="0" i="0" smtClean="0">
                        <a:latin typeface="Cambria Math"/>
                      </a:rPr>
                      <m:t>4 (</m:t>
                    </m:r>
                    <m:rad>
                      <m:radPr>
                        <m:degHide m:val="on"/>
                        <m:ctrlPr>
                          <a:rPr lang="tr-TR" sz="1200" i="1">
                            <a:latin typeface="Cambria Math"/>
                          </a:rPr>
                        </m:ctrlPr>
                      </m:radPr>
                      <m:deg/>
                      <m:e>
                        <m:r>
                          <a:rPr lang="tr-TR" sz="1200" b="0" i="1" smtClean="0">
                            <a:latin typeface="Cambria Math"/>
                          </a:rPr>
                          <m:t>1 </m:t>
                        </m:r>
                        <m:rad>
                          <m:radPr>
                            <m:degHide m:val="on"/>
                            <m:ctrlPr>
                              <a:rPr lang="tr-TR" sz="1200" i="1" smtClean="0">
                                <a:latin typeface="Cambria Math"/>
                              </a:rPr>
                            </m:ctrlPr>
                          </m:radPr>
                          <m:deg/>
                          <m:e>
                            <m:r>
                              <a:rPr lang="tr-TR" sz="1200" b="0" i="1" smtClean="0">
                                <a:latin typeface="Cambria Math"/>
                              </a:rPr>
                              <m:t>2</m:t>
                            </m:r>
                          </m:e>
                        </m:rad>
                      </m:e>
                    </m:rad>
                    <m:r>
                      <a:rPr lang="tr-TR" sz="1200" b="0" i="0" smtClean="0">
                        <a:latin typeface="Cambria Math"/>
                      </a:rPr>
                      <m:t> )</m:t>
                    </m:r>
                  </m:oMath>
                </a14:m>
                <a:endParaRPr lang="tr-TR" sz="1200" dirty="0">
                  <a:solidFill>
                    <a:schemeClr val="tx1">
                      <a:lumMod val="85000"/>
                      <a:lumOff val="15000"/>
                    </a:schemeClr>
                  </a:solidFill>
                </a:endParaRPr>
              </a:p>
            </p:txBody>
          </p:sp>
        </mc:Choice>
        <mc:Fallback xmlns="">
          <p:sp>
            <p:nvSpPr>
              <p:cNvPr id="101" name="Metin kutusu 100"/>
              <p:cNvSpPr txBox="1">
                <a:spLocks noRot="1" noChangeAspect="1" noMove="1" noResize="1" noEditPoints="1" noAdjustHandles="1" noChangeArrowheads="1" noChangeShapeType="1" noTextEdit="1"/>
              </p:cNvSpPr>
              <p:nvPr/>
            </p:nvSpPr>
            <p:spPr>
              <a:xfrm>
                <a:off x="169299" y="5481334"/>
                <a:ext cx="3115685" cy="718851"/>
              </a:xfrm>
              <a:prstGeom prst="rect">
                <a:avLst/>
              </a:prstGeom>
              <a:blipFill rotWithShape="1">
                <a:blip r:embed="rId6"/>
                <a:stretch>
                  <a:fillRect l="-196" b="-5932"/>
                </a:stretch>
              </a:blipFill>
            </p:spPr>
            <p:txBody>
              <a:bodyPr/>
              <a:lstStyle/>
              <a:p>
                <a:r>
                  <a:rPr lang="tr-TR">
                    <a:noFill/>
                  </a:rPr>
                  <a:t> </a:t>
                </a:r>
              </a:p>
            </p:txBody>
          </p:sp>
        </mc:Fallback>
      </mc:AlternateContent>
      <p:sp>
        <p:nvSpPr>
          <p:cNvPr id="102" name="Metin kutusu 101"/>
          <p:cNvSpPr txBox="1"/>
          <p:nvPr/>
        </p:nvSpPr>
        <p:spPr>
          <a:xfrm>
            <a:off x="3713626" y="741879"/>
            <a:ext cx="3155597" cy="1015663"/>
          </a:xfrm>
          <a:prstGeom prst="rect">
            <a:avLst/>
          </a:prstGeom>
          <a:noFill/>
        </p:spPr>
        <p:txBody>
          <a:bodyPr wrap="square" rtlCol="0">
            <a:spAutoFit/>
          </a:bodyPr>
          <a:lstStyle/>
          <a:p>
            <a:r>
              <a:rPr lang="tr-TR" sz="1200" dirty="0">
                <a:solidFill>
                  <a:schemeClr val="tx1">
                    <a:lumMod val="85000"/>
                    <a:lumOff val="15000"/>
                  </a:schemeClr>
                </a:solidFill>
              </a:rPr>
              <a:t>f</a:t>
            </a:r>
            <a:r>
              <a:rPr lang="tr-TR" sz="1200" dirty="0" smtClean="0">
                <a:solidFill>
                  <a:schemeClr val="tx1">
                    <a:lumMod val="85000"/>
                    <a:lumOff val="15000"/>
                  </a:schemeClr>
                </a:solidFill>
              </a:rPr>
              <a:t> (x) = ( x + </a:t>
            </a:r>
            <a:r>
              <a:rPr lang="tr-TR" sz="1200" dirty="0">
                <a:solidFill>
                  <a:schemeClr val="tx1">
                    <a:lumMod val="85000"/>
                    <a:lumOff val="15000"/>
                  </a:schemeClr>
                </a:solidFill>
              </a:rPr>
              <a:t>4</a:t>
            </a:r>
            <a:r>
              <a:rPr lang="tr-TR" sz="1200" dirty="0" smtClean="0">
                <a:solidFill>
                  <a:schemeClr val="tx1">
                    <a:lumMod val="85000"/>
                    <a:lumOff val="15000"/>
                  </a:schemeClr>
                </a:solidFill>
              </a:rPr>
              <a:t> )    +1  , 1 birim sola 3 birim yukarı</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g(x</a:t>
            </a:r>
            <a:r>
              <a:rPr lang="tr-TR" sz="1200" dirty="0">
                <a:solidFill>
                  <a:schemeClr val="tx1">
                    <a:lumMod val="85000"/>
                    <a:lumOff val="15000"/>
                  </a:schemeClr>
                </a:solidFill>
              </a:rPr>
              <a:t>) = ( x – </a:t>
            </a:r>
            <a:r>
              <a:rPr lang="tr-TR" sz="1200" dirty="0" smtClean="0">
                <a:solidFill>
                  <a:schemeClr val="tx1">
                    <a:lumMod val="85000"/>
                    <a:lumOff val="15000"/>
                  </a:schemeClr>
                </a:solidFill>
              </a:rPr>
              <a:t>4 </a:t>
            </a:r>
            <a:r>
              <a:rPr lang="tr-TR" sz="1200" dirty="0">
                <a:solidFill>
                  <a:schemeClr val="tx1">
                    <a:lumMod val="85000"/>
                    <a:lumOff val="15000"/>
                  </a:schemeClr>
                </a:solidFill>
              </a:rPr>
              <a:t>)  </a:t>
            </a:r>
            <a:r>
              <a:rPr lang="tr-TR" sz="1200" dirty="0" smtClean="0">
                <a:solidFill>
                  <a:schemeClr val="tx1">
                    <a:lumMod val="85000"/>
                    <a:lumOff val="15000"/>
                  </a:schemeClr>
                </a:solidFill>
              </a:rPr>
              <a:t>  +8 , 2 birim sağa 7 birim yukarı</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h(x</a:t>
            </a:r>
            <a:r>
              <a:rPr lang="tr-TR" sz="1200" dirty="0">
                <a:solidFill>
                  <a:schemeClr val="tx1">
                    <a:lumMod val="85000"/>
                    <a:lumOff val="15000"/>
                  </a:schemeClr>
                </a:solidFill>
              </a:rPr>
              <a:t>) = </a:t>
            </a:r>
            <a:r>
              <a:rPr lang="tr-TR" sz="1200" dirty="0" smtClean="0">
                <a:solidFill>
                  <a:schemeClr val="tx1">
                    <a:lumMod val="85000"/>
                    <a:lumOff val="15000"/>
                  </a:schemeClr>
                </a:solidFill>
              </a:rPr>
              <a:t>( </a:t>
            </a:r>
            <a:r>
              <a:rPr lang="tr-TR" sz="1200" dirty="0">
                <a:solidFill>
                  <a:schemeClr val="tx1">
                    <a:lumMod val="85000"/>
                    <a:lumOff val="15000"/>
                  </a:schemeClr>
                </a:solidFill>
              </a:rPr>
              <a:t>x </a:t>
            </a:r>
            <a:r>
              <a:rPr lang="tr-TR" sz="1200" dirty="0" smtClean="0">
                <a:solidFill>
                  <a:schemeClr val="tx1">
                    <a:lumMod val="85000"/>
                    <a:lumOff val="15000"/>
                  </a:schemeClr>
                </a:solidFill>
              </a:rPr>
              <a:t>+ 2 </a:t>
            </a:r>
            <a:r>
              <a:rPr lang="tr-TR" sz="1200" dirty="0">
                <a:solidFill>
                  <a:schemeClr val="tx1">
                    <a:lumMod val="85000"/>
                    <a:lumOff val="15000"/>
                  </a:schemeClr>
                </a:solidFill>
              </a:rPr>
              <a:t>)   </a:t>
            </a:r>
            <a:r>
              <a:rPr lang="tr-TR" sz="1200" dirty="0" smtClean="0">
                <a:solidFill>
                  <a:schemeClr val="tx1">
                    <a:lumMod val="85000"/>
                    <a:lumOff val="15000"/>
                  </a:schemeClr>
                </a:solidFill>
              </a:rPr>
              <a:t>  -4  , 4 birim aşağı</a:t>
            </a:r>
            <a:endParaRPr lang="tr-TR" sz="1200" dirty="0">
              <a:solidFill>
                <a:schemeClr val="tx1">
                  <a:lumMod val="85000"/>
                  <a:lumOff val="15000"/>
                </a:schemeClr>
              </a:solidFill>
            </a:endParaRPr>
          </a:p>
        </p:txBody>
      </p:sp>
      <p:sp>
        <p:nvSpPr>
          <p:cNvPr id="105" name="Metin kutusu 104"/>
          <p:cNvSpPr txBox="1"/>
          <p:nvPr/>
        </p:nvSpPr>
        <p:spPr>
          <a:xfrm>
            <a:off x="3692063" y="1796787"/>
            <a:ext cx="3040704" cy="1015663"/>
          </a:xfrm>
          <a:prstGeom prst="rect">
            <a:avLst/>
          </a:prstGeom>
          <a:noFill/>
        </p:spPr>
        <p:txBody>
          <a:bodyPr wrap="square" rtlCol="0">
            <a:spAutoFit/>
          </a:bodyPr>
          <a:lstStyle/>
          <a:p>
            <a:r>
              <a:rPr lang="tr-TR" sz="1200" dirty="0" smtClean="0">
                <a:solidFill>
                  <a:schemeClr val="tx1">
                    <a:lumMod val="85000"/>
                    <a:lumOff val="15000"/>
                  </a:schemeClr>
                </a:solidFill>
              </a:rPr>
              <a:t>Ötelenerek yeni paraboller ele ediliyor. Bu parabollerin </a:t>
            </a:r>
            <a:r>
              <a:rPr lang="tr-TR" sz="1200" b="1" u="sng" dirty="0" smtClean="0">
                <a:solidFill>
                  <a:schemeClr val="tx1">
                    <a:lumMod val="85000"/>
                    <a:lumOff val="15000"/>
                  </a:schemeClr>
                </a:solidFill>
              </a:rPr>
              <a:t>yeni tepe noktalarını köşe kabul eden geometrik cismin </a:t>
            </a:r>
            <a:r>
              <a:rPr lang="tr-TR" sz="1200" b="1" dirty="0" smtClean="0">
                <a:solidFill>
                  <a:schemeClr val="tx1">
                    <a:lumMod val="85000"/>
                    <a:lumOff val="15000"/>
                  </a:schemeClr>
                </a:solidFill>
              </a:rPr>
              <a:t>kenarları birer tamsayı olmak üzere bu şeklin çevresi en fazla kaç birim olabilir? </a:t>
            </a:r>
          </a:p>
        </p:txBody>
      </p:sp>
      <p:sp>
        <p:nvSpPr>
          <p:cNvPr id="106" name="Metin kutusu 105"/>
          <p:cNvSpPr txBox="1"/>
          <p:nvPr/>
        </p:nvSpPr>
        <p:spPr>
          <a:xfrm>
            <a:off x="4573756" y="704942"/>
            <a:ext cx="28215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107" name="Metin kutusu 106"/>
          <p:cNvSpPr txBox="1"/>
          <p:nvPr/>
        </p:nvSpPr>
        <p:spPr>
          <a:xfrm>
            <a:off x="4577204" y="1090938"/>
            <a:ext cx="28215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108" name="Metin kutusu 107"/>
          <p:cNvSpPr txBox="1"/>
          <p:nvPr/>
        </p:nvSpPr>
        <p:spPr>
          <a:xfrm>
            <a:off x="4573756" y="1403648"/>
            <a:ext cx="282158" cy="215444"/>
          </a:xfrm>
          <a:prstGeom prst="rect">
            <a:avLst/>
          </a:prstGeom>
          <a:noFill/>
        </p:spPr>
        <p:txBody>
          <a:bodyPr wrap="square" rtlCol="0">
            <a:spAutoFit/>
          </a:bodyPr>
          <a:lstStyle/>
          <a:p>
            <a:r>
              <a:rPr lang="tr-TR" sz="800" dirty="0" smtClean="0">
                <a:solidFill>
                  <a:schemeClr val="tx1">
                    <a:lumMod val="85000"/>
                    <a:lumOff val="15000"/>
                  </a:schemeClr>
                </a:solidFill>
              </a:rPr>
              <a:t>2</a:t>
            </a:r>
            <a:endParaRPr lang="tr-TR" sz="800" dirty="0">
              <a:solidFill>
                <a:schemeClr val="tx1">
                  <a:lumMod val="85000"/>
                  <a:lumOff val="15000"/>
                </a:schemeClr>
              </a:solidFill>
            </a:endParaRPr>
          </a:p>
        </p:txBody>
      </p:sp>
      <p:sp>
        <p:nvSpPr>
          <p:cNvPr id="49" name="Metin kutusu 48"/>
          <p:cNvSpPr txBox="1"/>
          <p:nvPr/>
        </p:nvSpPr>
        <p:spPr>
          <a:xfrm>
            <a:off x="3737098" y="2826462"/>
            <a:ext cx="3253115"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43                     B</a:t>
            </a:r>
            <a:r>
              <a:rPr lang="tr-TR" sz="1200" dirty="0">
                <a:solidFill>
                  <a:schemeClr val="tx1">
                    <a:lumMod val="85000"/>
                    <a:lumOff val="15000"/>
                  </a:schemeClr>
                </a:solidFill>
              </a:rPr>
              <a:t>)  </a:t>
            </a:r>
            <a:r>
              <a:rPr lang="tr-TR" sz="1200" dirty="0" smtClean="0">
                <a:solidFill>
                  <a:schemeClr val="tx1">
                    <a:lumMod val="85000"/>
                    <a:lumOff val="15000"/>
                  </a:schemeClr>
                </a:solidFill>
              </a:rPr>
              <a:t>44                  C) 45</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46                     E) 47</a:t>
            </a:r>
          </a:p>
          <a:p>
            <a:endParaRPr lang="tr-TR" sz="1200" dirty="0">
              <a:solidFill>
                <a:schemeClr val="tx1">
                  <a:lumMod val="85000"/>
                  <a:lumOff val="15000"/>
                </a:schemeClr>
              </a:solidFill>
            </a:endParaRPr>
          </a:p>
        </p:txBody>
      </p:sp>
      <p:sp>
        <p:nvSpPr>
          <p:cNvPr id="50" name="Metin kutusu 49"/>
          <p:cNvSpPr txBox="1"/>
          <p:nvPr/>
        </p:nvSpPr>
        <p:spPr>
          <a:xfrm>
            <a:off x="1340768" y="2916396"/>
            <a:ext cx="280918" cy="215444"/>
          </a:xfrm>
          <a:prstGeom prst="rect">
            <a:avLst/>
          </a:prstGeom>
          <a:noFill/>
        </p:spPr>
        <p:txBody>
          <a:bodyPr wrap="square" rtlCol="0">
            <a:spAutoFit/>
          </a:bodyPr>
          <a:lstStyle/>
          <a:p>
            <a:r>
              <a:rPr lang="tr-TR" sz="800" dirty="0">
                <a:solidFill>
                  <a:schemeClr val="tx1">
                    <a:lumMod val="85000"/>
                    <a:lumOff val="15000"/>
                  </a:schemeClr>
                </a:solidFill>
              </a:rPr>
              <a:t>T</a:t>
            </a:r>
            <a:endParaRPr lang="tr-TR" sz="800" dirty="0" smtClean="0">
              <a:solidFill>
                <a:schemeClr val="tx1">
                  <a:lumMod val="85000"/>
                  <a:lumOff val="15000"/>
                </a:schemeClr>
              </a:solidFill>
            </a:endParaRPr>
          </a:p>
        </p:txBody>
      </p:sp>
      <p:sp>
        <p:nvSpPr>
          <p:cNvPr id="52" name="Metin kutusu 51"/>
          <p:cNvSpPr txBox="1"/>
          <p:nvPr/>
        </p:nvSpPr>
        <p:spPr>
          <a:xfrm>
            <a:off x="3628656" y="5019837"/>
            <a:ext cx="3040704" cy="646331"/>
          </a:xfrm>
          <a:prstGeom prst="rect">
            <a:avLst/>
          </a:prstGeom>
          <a:noFill/>
        </p:spPr>
        <p:txBody>
          <a:bodyPr wrap="square" rtlCol="0">
            <a:spAutoFit/>
          </a:bodyPr>
          <a:lstStyle/>
          <a:p>
            <a:r>
              <a:rPr lang="tr-TR" sz="1200" dirty="0" smtClean="0">
                <a:solidFill>
                  <a:schemeClr val="tx1">
                    <a:lumMod val="85000"/>
                    <a:lumOff val="15000"/>
                  </a:schemeClr>
                </a:solidFill>
              </a:rPr>
              <a:t>f(x) = (x-m)  parabolünün </a:t>
            </a:r>
            <a:r>
              <a:rPr lang="tr-TR" sz="1200" b="1" dirty="0" smtClean="0">
                <a:solidFill>
                  <a:schemeClr val="tx1">
                    <a:lumMod val="85000"/>
                    <a:lumOff val="15000"/>
                  </a:schemeClr>
                </a:solidFill>
              </a:rPr>
              <a:t>x eksenine negatif tarafta bir tam kare olabilmesi için </a:t>
            </a:r>
            <a:r>
              <a:rPr lang="tr-TR" sz="1200" dirty="0" smtClean="0">
                <a:solidFill>
                  <a:schemeClr val="tx1">
                    <a:lumMod val="85000"/>
                    <a:lumOff val="15000"/>
                  </a:schemeClr>
                </a:solidFill>
              </a:rPr>
              <a:t>m değeri kaç olabilir?</a:t>
            </a:r>
          </a:p>
        </p:txBody>
      </p:sp>
      <p:sp>
        <p:nvSpPr>
          <p:cNvPr id="53" name="Metin kutusu 52"/>
          <p:cNvSpPr txBox="1"/>
          <p:nvPr/>
        </p:nvSpPr>
        <p:spPr>
          <a:xfrm>
            <a:off x="3632269" y="5685219"/>
            <a:ext cx="3253115"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16                     B</a:t>
            </a:r>
            <a:r>
              <a:rPr lang="tr-TR" sz="1200" dirty="0">
                <a:solidFill>
                  <a:schemeClr val="tx1">
                    <a:lumMod val="85000"/>
                    <a:lumOff val="15000"/>
                  </a:schemeClr>
                </a:solidFill>
              </a:rPr>
              <a:t>)  9</a:t>
            </a:r>
            <a:r>
              <a:rPr lang="tr-TR" sz="1200" dirty="0" smtClean="0">
                <a:solidFill>
                  <a:schemeClr val="tx1">
                    <a:lumMod val="85000"/>
                    <a:lumOff val="15000"/>
                  </a:schemeClr>
                </a:solidFill>
              </a:rPr>
              <a:t>                  C) 4</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0</a:t>
            </a:r>
            <a:r>
              <a:rPr lang="tr-TR" sz="1200" dirty="0" smtClean="0">
                <a:solidFill>
                  <a:schemeClr val="tx1">
                    <a:lumMod val="85000"/>
                    <a:lumOff val="15000"/>
                  </a:schemeClr>
                </a:solidFill>
              </a:rPr>
              <a:t>                     E) -7</a:t>
            </a:r>
          </a:p>
          <a:p>
            <a:endParaRPr lang="tr-TR" sz="1200" dirty="0">
              <a:solidFill>
                <a:schemeClr val="tx1">
                  <a:lumMod val="85000"/>
                  <a:lumOff val="15000"/>
                </a:schemeClr>
              </a:solidFill>
            </a:endParaRPr>
          </a:p>
        </p:txBody>
      </p:sp>
      <p:sp>
        <p:nvSpPr>
          <p:cNvPr id="54" name="Metin kutusu 53"/>
          <p:cNvSpPr txBox="1"/>
          <p:nvPr/>
        </p:nvSpPr>
        <p:spPr>
          <a:xfrm>
            <a:off x="4298970" y="4963398"/>
            <a:ext cx="282158" cy="184666"/>
          </a:xfrm>
          <a:prstGeom prst="rect">
            <a:avLst/>
          </a:prstGeom>
          <a:noFill/>
        </p:spPr>
        <p:txBody>
          <a:bodyPr wrap="square" rtlCol="0">
            <a:spAutoFit/>
          </a:bodyPr>
          <a:lstStyle/>
          <a:p>
            <a:r>
              <a:rPr lang="tr-TR" sz="600" dirty="0" smtClean="0">
                <a:solidFill>
                  <a:schemeClr val="tx1">
                    <a:lumMod val="85000"/>
                    <a:lumOff val="15000"/>
                  </a:schemeClr>
                </a:solidFill>
              </a:rPr>
              <a:t>2</a:t>
            </a:r>
            <a:endParaRPr lang="tr-TR" sz="600" dirty="0">
              <a:solidFill>
                <a:schemeClr val="tx1">
                  <a:lumMod val="85000"/>
                  <a:lumOff val="15000"/>
                </a:schemeClr>
              </a:solidFill>
            </a:endParaRPr>
          </a:p>
        </p:txBody>
      </p:sp>
      <p:sp>
        <p:nvSpPr>
          <p:cNvPr id="65" name="Oval 6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66" name="Metin kutusu 65"/>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67" name="Metin kutusu 66"/>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68" name="Oval 67"/>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69" name="Düz Bağlayıcı 68"/>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Düz Bağlayıcı 70"/>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3" name="Metin kutusu 72"/>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74" name="Oval 73"/>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5" name="Düz Bağlayıcı 74"/>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6" name="Metin kutusu 75"/>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77" name="Oval 76"/>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90" name="Dikdörtgen 89"/>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1" name="Metin kutusu 90"/>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7._</a:t>
            </a:r>
            <a:endParaRPr lang="tr-TR" sz="1000" dirty="0">
              <a:solidFill>
                <a:schemeClr val="tx1">
                  <a:lumMod val="85000"/>
                  <a:lumOff val="15000"/>
                </a:schemeClr>
              </a:solidFill>
            </a:endParaRPr>
          </a:p>
        </p:txBody>
      </p:sp>
      <p:sp>
        <p:nvSpPr>
          <p:cNvPr id="92" name="Metin kutusu 91"/>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8._</a:t>
            </a:r>
            <a:endParaRPr lang="tr-TR" sz="1000" dirty="0">
              <a:solidFill>
                <a:schemeClr val="tx1">
                  <a:lumMod val="85000"/>
                  <a:lumOff val="15000"/>
                </a:schemeClr>
              </a:solidFill>
            </a:endParaRPr>
          </a:p>
        </p:txBody>
      </p:sp>
      <p:sp>
        <p:nvSpPr>
          <p:cNvPr id="93" name="Metin kutusu 92"/>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9._</a:t>
            </a:r>
            <a:endParaRPr lang="tr-TR" sz="1000" dirty="0">
              <a:solidFill>
                <a:schemeClr val="tx1">
                  <a:lumMod val="85000"/>
                  <a:lumOff val="15000"/>
                </a:schemeClr>
              </a:solidFill>
            </a:endParaRPr>
          </a:p>
        </p:txBody>
      </p:sp>
      <p:sp>
        <p:nvSpPr>
          <p:cNvPr id="98" name="Metin kutusu 97"/>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10._</a:t>
            </a:r>
            <a:endParaRPr lang="tr-TR" sz="1000" dirty="0">
              <a:solidFill>
                <a:schemeClr val="tx1">
                  <a:lumMod val="85000"/>
                  <a:lumOff val="15000"/>
                </a:schemeClr>
              </a:solidFill>
            </a:endParaRPr>
          </a:p>
        </p:txBody>
      </p:sp>
      <p:sp>
        <p:nvSpPr>
          <p:cNvPr id="99" name="Metin kutusu 98"/>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11._</a:t>
            </a:r>
            <a:endParaRPr lang="tr-TR" sz="1000" dirty="0">
              <a:solidFill>
                <a:schemeClr val="tx1">
                  <a:lumMod val="85000"/>
                  <a:lumOff val="15000"/>
                </a:schemeClr>
              </a:solidFill>
            </a:endParaRPr>
          </a:p>
        </p:txBody>
      </p:sp>
      <p:sp>
        <p:nvSpPr>
          <p:cNvPr id="100" name="Metin kutusu 99"/>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12._</a:t>
            </a:r>
            <a:endParaRPr lang="tr-TR" sz="1000" dirty="0">
              <a:solidFill>
                <a:schemeClr val="tx1">
                  <a:lumMod val="85000"/>
                  <a:lumOff val="15000"/>
                </a:schemeClr>
              </a:solidFill>
            </a:endParaRPr>
          </a:p>
        </p:txBody>
      </p:sp>
      <p:cxnSp>
        <p:nvCxnSpPr>
          <p:cNvPr id="103" name="Düz Bağlayıcı 102"/>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Düz Bağlayıcı 103"/>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Düz Bağlayıcı 109"/>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Düz Bağlayıcı 110"/>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Düz Bağlayıcı 111"/>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3" name="Dikdörtgen 112"/>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15"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371945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9685"/>
            <a:ext cx="6847658" cy="6151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7" name="Metin kutusu 26"/>
          <p:cNvSpPr txBox="1"/>
          <p:nvPr/>
        </p:nvSpPr>
        <p:spPr>
          <a:xfrm>
            <a:off x="-27384" y="683573"/>
            <a:ext cx="389850"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62" name="Dikdörtgen 61"/>
          <p:cNvSpPr/>
          <p:nvPr/>
        </p:nvSpPr>
        <p:spPr>
          <a:xfrm>
            <a:off x="4962482" y="19684"/>
            <a:ext cx="1603324"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Ahmetcelen.com.tr</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652608"/>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12.</a:t>
            </a:r>
            <a:endParaRPr lang="tr-TR" sz="1400" b="1" dirty="0">
              <a:solidFill>
                <a:srgbClr val="C00000"/>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Metin kutusu 116"/>
          <p:cNvSpPr txBox="1"/>
          <p:nvPr/>
        </p:nvSpPr>
        <p:spPr>
          <a:xfrm>
            <a:off x="44624" y="4865948"/>
            <a:ext cx="381771"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11.</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10</a:t>
            </a: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57" name="Metin kutusu 56"/>
          <p:cNvSpPr txBox="1"/>
          <p:nvPr/>
        </p:nvSpPr>
        <p:spPr>
          <a:xfrm>
            <a:off x="264044" y="748745"/>
            <a:ext cx="3155597" cy="1200329"/>
          </a:xfrm>
          <a:prstGeom prst="rect">
            <a:avLst/>
          </a:prstGeom>
          <a:noFill/>
        </p:spPr>
        <p:txBody>
          <a:bodyPr wrap="square" rtlCol="0">
            <a:spAutoFit/>
          </a:bodyPr>
          <a:lstStyle/>
          <a:p>
            <a:r>
              <a:rPr lang="tr-TR" sz="1200" dirty="0">
                <a:solidFill>
                  <a:schemeClr val="tx1">
                    <a:lumMod val="85000"/>
                    <a:lumOff val="15000"/>
                  </a:schemeClr>
                </a:solidFill>
              </a:rPr>
              <a:t>f</a:t>
            </a:r>
            <a:r>
              <a:rPr lang="tr-TR" sz="1200" dirty="0" smtClean="0">
                <a:solidFill>
                  <a:schemeClr val="tx1">
                    <a:lumMod val="85000"/>
                    <a:lumOff val="15000"/>
                  </a:schemeClr>
                </a:solidFill>
              </a:rPr>
              <a:t> (x) = (a+2) x  + 6x + 4 </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g(x) = (a-1) x + 4x + c </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parabolleri x eksenini aynı noktalarda kestiklerine göre c/a kaçtır? </a:t>
            </a:r>
          </a:p>
        </p:txBody>
      </p:sp>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84" name="Dikdörtgen 83"/>
          <p:cNvSpPr/>
          <p:nvPr/>
        </p:nvSpPr>
        <p:spPr>
          <a:xfrm>
            <a:off x="-27383" y="139441"/>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ÖSYM TADINDA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02" name="Metin kutusu 101"/>
          <p:cNvSpPr txBox="1"/>
          <p:nvPr/>
        </p:nvSpPr>
        <p:spPr>
          <a:xfrm>
            <a:off x="3713626" y="683568"/>
            <a:ext cx="3155597" cy="1384995"/>
          </a:xfrm>
          <a:prstGeom prst="rect">
            <a:avLst/>
          </a:prstGeom>
          <a:noFill/>
        </p:spPr>
        <p:txBody>
          <a:bodyPr wrap="square" rtlCol="0">
            <a:spAutoFit/>
          </a:bodyPr>
          <a:lstStyle/>
          <a:p>
            <a:r>
              <a:rPr lang="tr-TR" sz="1200" noProof="1" smtClean="0">
                <a:solidFill>
                  <a:schemeClr val="tx1">
                    <a:lumMod val="85000"/>
                    <a:lumOff val="15000"/>
                  </a:schemeClr>
                </a:solidFill>
              </a:rPr>
              <a:t>m,n,k  0 sayısından farklı gerçek sayılardır.</a:t>
            </a:r>
          </a:p>
          <a:p>
            <a:endParaRPr lang="tr-TR" sz="1200" noProof="1" smtClean="0">
              <a:solidFill>
                <a:schemeClr val="tx1">
                  <a:lumMod val="85000"/>
                  <a:lumOff val="15000"/>
                </a:schemeClr>
              </a:solidFill>
            </a:endParaRPr>
          </a:p>
          <a:p>
            <a:pPr marL="171450" indent="-171450">
              <a:buFont typeface="Arial" panose="020B0604020202020204" pitchFamily="34" charset="0"/>
              <a:buChar char="•"/>
            </a:pPr>
            <a:r>
              <a:rPr lang="tr-TR" sz="1200" noProof="1" smtClean="0">
                <a:solidFill>
                  <a:schemeClr val="tx1">
                    <a:lumMod val="85000"/>
                    <a:lumOff val="15000"/>
                  </a:schemeClr>
                </a:solidFill>
              </a:rPr>
              <a:t>P(2m) =  P(2m+k)</a:t>
            </a:r>
          </a:p>
          <a:p>
            <a:pPr marL="171450" indent="-171450">
              <a:buFont typeface="Arial" panose="020B0604020202020204" pitchFamily="34" charset="0"/>
              <a:buChar char="•"/>
            </a:pPr>
            <a:r>
              <a:rPr lang="tr-TR" sz="1200" noProof="1" smtClean="0">
                <a:solidFill>
                  <a:schemeClr val="tx1">
                    <a:lumMod val="85000"/>
                    <a:lumOff val="15000"/>
                  </a:schemeClr>
                </a:solidFill>
              </a:rPr>
              <a:t>P(n)  = P (n+k)</a:t>
            </a:r>
          </a:p>
          <a:p>
            <a:pPr marL="171450" indent="-171450">
              <a:buFont typeface="Arial" panose="020B0604020202020204" pitchFamily="34" charset="0"/>
              <a:buChar char="•"/>
            </a:pPr>
            <a:r>
              <a:rPr lang="tr-TR" sz="1200" noProof="1" smtClean="0">
                <a:solidFill>
                  <a:schemeClr val="tx1">
                    <a:lumMod val="85000"/>
                    <a:lumOff val="15000"/>
                  </a:schemeClr>
                </a:solidFill>
              </a:rPr>
              <a:t>P(3m) = P (3k)</a:t>
            </a:r>
          </a:p>
          <a:p>
            <a:pPr marL="171450" indent="-171450">
              <a:buFont typeface="Arial" panose="020B0604020202020204" pitchFamily="34" charset="0"/>
              <a:buChar char="•"/>
            </a:pPr>
            <a:endParaRPr lang="tr-TR" sz="1200" b="1" noProof="1">
              <a:solidFill>
                <a:schemeClr val="tx1">
                  <a:lumMod val="85000"/>
                  <a:lumOff val="15000"/>
                </a:schemeClr>
              </a:solidFill>
            </a:endParaRPr>
          </a:p>
          <a:p>
            <a:r>
              <a:rPr lang="tr-TR" sz="1200" b="1" noProof="1" smtClean="0">
                <a:solidFill>
                  <a:schemeClr val="tx1">
                    <a:lumMod val="85000"/>
                    <a:lumOff val="15000"/>
                  </a:schemeClr>
                </a:solidFill>
              </a:rPr>
              <a:t>Buna göre P (3m) nin eşiti nedir?</a:t>
            </a:r>
            <a:endParaRPr lang="tr-TR" sz="1200" b="1" noProof="1">
              <a:solidFill>
                <a:schemeClr val="tx1">
                  <a:lumMod val="85000"/>
                  <a:lumOff val="15000"/>
                </a:schemeClr>
              </a:solidFill>
            </a:endParaRPr>
          </a:p>
        </p:txBody>
      </p:sp>
      <p:sp>
        <p:nvSpPr>
          <p:cNvPr id="49" name="Metin kutusu 48"/>
          <p:cNvSpPr txBox="1"/>
          <p:nvPr/>
        </p:nvSpPr>
        <p:spPr>
          <a:xfrm>
            <a:off x="3632269" y="2267744"/>
            <a:ext cx="3253115" cy="646331"/>
          </a:xfrm>
          <a:prstGeom prst="rect">
            <a:avLst/>
          </a:prstGeom>
          <a:noFill/>
        </p:spPr>
        <p:txBody>
          <a:bodyPr wrap="square" rtlCol="0">
            <a:spAutoFit/>
          </a:bodyPr>
          <a:lstStyle/>
          <a:p>
            <a:pPr marL="228600" indent="-228600">
              <a:buAutoNum type="alphaUcParenR"/>
            </a:pPr>
            <a:r>
              <a:rPr lang="tr-TR" sz="1200" noProof="1" smtClean="0">
                <a:solidFill>
                  <a:schemeClr val="tx1">
                    <a:lumMod val="85000"/>
                    <a:lumOff val="15000"/>
                  </a:schemeClr>
                </a:solidFill>
              </a:rPr>
              <a:t>P(n+2k)           B) P(3k+n)           C) P(m+n+k)</a:t>
            </a:r>
          </a:p>
          <a:p>
            <a:endParaRPr lang="tr-TR" sz="1200" noProof="1" smtClean="0">
              <a:solidFill>
                <a:schemeClr val="tx1">
                  <a:lumMod val="85000"/>
                  <a:lumOff val="15000"/>
                </a:schemeClr>
              </a:solidFill>
            </a:endParaRPr>
          </a:p>
          <a:p>
            <a:r>
              <a:rPr lang="tr-TR" sz="1200" noProof="1" smtClean="0">
                <a:solidFill>
                  <a:schemeClr val="tx1">
                    <a:lumMod val="85000"/>
                    <a:lumOff val="15000"/>
                  </a:schemeClr>
                </a:solidFill>
              </a:rPr>
              <a:t>                D) P(3k+n)             E) P(3m+2k)</a:t>
            </a:r>
          </a:p>
        </p:txBody>
      </p:sp>
      <p:sp>
        <p:nvSpPr>
          <p:cNvPr id="65" name="Oval 6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66" name="Metin kutusu 65"/>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67" name="Metin kutusu 66"/>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68" name="Oval 67"/>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69" name="Düz Bağlayıcı 68"/>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Düz Bağlayıcı 70"/>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3" name="Metin kutusu 72"/>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74" name="Oval 73"/>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75" name="Düz Bağlayıcı 74"/>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76" name="Metin kutusu 75"/>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77" name="Oval 76"/>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90" name="Dikdörtgen 89"/>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1" name="Metin kutusu 90"/>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10.D</a:t>
            </a:r>
            <a:endParaRPr lang="tr-TR" sz="1000" dirty="0">
              <a:solidFill>
                <a:schemeClr val="tx1">
                  <a:lumMod val="85000"/>
                  <a:lumOff val="15000"/>
                </a:schemeClr>
              </a:solidFill>
            </a:endParaRPr>
          </a:p>
        </p:txBody>
      </p:sp>
      <p:sp>
        <p:nvSpPr>
          <p:cNvPr id="92" name="Metin kutusu 91"/>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11.B</a:t>
            </a:r>
            <a:endParaRPr lang="tr-TR" sz="1000" dirty="0">
              <a:solidFill>
                <a:schemeClr val="tx1">
                  <a:lumMod val="85000"/>
                  <a:lumOff val="15000"/>
                </a:schemeClr>
              </a:solidFill>
            </a:endParaRPr>
          </a:p>
        </p:txBody>
      </p:sp>
      <p:sp>
        <p:nvSpPr>
          <p:cNvPr id="93" name="Metin kutusu 92"/>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12.A</a:t>
            </a:r>
            <a:endParaRPr lang="tr-TR" sz="1000" dirty="0">
              <a:solidFill>
                <a:schemeClr val="tx1">
                  <a:lumMod val="85000"/>
                  <a:lumOff val="15000"/>
                </a:schemeClr>
              </a:solidFill>
            </a:endParaRPr>
          </a:p>
        </p:txBody>
      </p:sp>
      <p:sp>
        <p:nvSpPr>
          <p:cNvPr id="98" name="Metin kutusu 97"/>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13.D</a:t>
            </a:r>
            <a:endParaRPr lang="tr-TR" sz="1000" dirty="0">
              <a:solidFill>
                <a:schemeClr val="tx1">
                  <a:lumMod val="85000"/>
                  <a:lumOff val="15000"/>
                </a:schemeClr>
              </a:solidFill>
            </a:endParaRPr>
          </a:p>
        </p:txBody>
      </p:sp>
      <p:sp>
        <p:nvSpPr>
          <p:cNvPr id="99" name="Metin kutusu 98"/>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11._</a:t>
            </a:r>
            <a:endParaRPr lang="tr-TR" sz="1000" dirty="0">
              <a:solidFill>
                <a:schemeClr val="tx1">
                  <a:lumMod val="85000"/>
                  <a:lumOff val="15000"/>
                </a:schemeClr>
              </a:solidFill>
            </a:endParaRPr>
          </a:p>
        </p:txBody>
      </p:sp>
      <p:sp>
        <p:nvSpPr>
          <p:cNvPr id="100" name="Metin kutusu 99"/>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12._</a:t>
            </a:r>
            <a:endParaRPr lang="tr-TR" sz="1000" dirty="0">
              <a:solidFill>
                <a:schemeClr val="tx1">
                  <a:lumMod val="85000"/>
                  <a:lumOff val="15000"/>
                </a:schemeClr>
              </a:solidFill>
            </a:endParaRPr>
          </a:p>
        </p:txBody>
      </p:sp>
      <p:cxnSp>
        <p:nvCxnSpPr>
          <p:cNvPr id="103" name="Düz Bağlayıcı 102"/>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Düz Bağlayıcı 103"/>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0" name="Düz Bağlayıcı 109"/>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1" name="Düz Bağlayıcı 110"/>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2" name="Düz Bağlayıcı 111"/>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3" name="Dikdörtgen 112"/>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15"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8" name="Metin kutusu 77"/>
              <p:cNvSpPr txBox="1"/>
              <p:nvPr/>
            </p:nvSpPr>
            <p:spPr>
              <a:xfrm>
                <a:off x="102028" y="1907704"/>
                <a:ext cx="3253115" cy="923843"/>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8                     B</a:t>
                </a:r>
                <a:r>
                  <a:rPr lang="tr-TR" sz="1200" dirty="0">
                    <a:solidFill>
                      <a:schemeClr val="tx1">
                        <a:lumMod val="85000"/>
                        <a:lumOff val="15000"/>
                      </a:schemeClr>
                    </a:solidFill>
                  </a:rPr>
                  <a:t>)  </a:t>
                </a:r>
                <a:r>
                  <a:rPr lang="tr-TR" sz="1200" dirty="0" smtClean="0">
                    <a:solidFill>
                      <a:schemeClr val="tx1">
                        <a:lumMod val="85000"/>
                        <a:lumOff val="15000"/>
                      </a:schemeClr>
                    </a:solidFill>
                  </a:rPr>
                  <a:t>21                  C) 3</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a:t>
                </a:r>
                <a14:m>
                  <m:oMath xmlns:m="http://schemas.openxmlformats.org/officeDocument/2006/math">
                    <m:f>
                      <m:fPr>
                        <m:ctrlPr>
                          <a:rPr lang="tr-TR" sz="1200" i="1" smtClean="0">
                            <a:solidFill>
                              <a:schemeClr val="tx1">
                                <a:lumMod val="85000"/>
                                <a:lumOff val="15000"/>
                              </a:schemeClr>
                            </a:solidFill>
                            <a:latin typeface="Cambria Math"/>
                          </a:rPr>
                        </m:ctrlPr>
                      </m:fPr>
                      <m:num>
                        <m:r>
                          <a:rPr lang="tr-TR" sz="1200" b="0" i="1" smtClean="0">
                            <a:solidFill>
                              <a:schemeClr val="tx1">
                                <a:lumMod val="85000"/>
                                <a:lumOff val="15000"/>
                              </a:schemeClr>
                            </a:solidFill>
                            <a:latin typeface="Cambria Math"/>
                          </a:rPr>
                          <m:t>8</m:t>
                        </m:r>
                      </m:num>
                      <m:den>
                        <m:r>
                          <a:rPr lang="tr-TR" sz="1200" b="0" i="1" smtClean="0">
                            <a:solidFill>
                              <a:schemeClr val="tx1">
                                <a:lumMod val="85000"/>
                                <a:lumOff val="15000"/>
                              </a:schemeClr>
                            </a:solidFill>
                            <a:latin typeface="Cambria Math"/>
                          </a:rPr>
                          <m:t>21</m:t>
                        </m:r>
                      </m:den>
                    </m:f>
                  </m:oMath>
                </a14:m>
                <a:r>
                  <a:rPr lang="tr-TR" sz="1200" dirty="0" smtClean="0">
                    <a:solidFill>
                      <a:schemeClr val="tx1">
                        <a:lumMod val="85000"/>
                        <a:lumOff val="15000"/>
                      </a:schemeClr>
                    </a:solidFill>
                  </a:rPr>
                  <a:t>                     E) </a:t>
                </a:r>
                <a14:m>
                  <m:oMath xmlns:m="http://schemas.openxmlformats.org/officeDocument/2006/math">
                    <m:f>
                      <m:fPr>
                        <m:ctrlPr>
                          <a:rPr lang="tr-TR" sz="1200" i="1" smtClean="0">
                            <a:solidFill>
                              <a:schemeClr val="tx1">
                                <a:lumMod val="85000"/>
                                <a:lumOff val="15000"/>
                              </a:schemeClr>
                            </a:solidFill>
                            <a:latin typeface="Cambria Math"/>
                          </a:rPr>
                        </m:ctrlPr>
                      </m:fPr>
                      <m:num>
                        <m:r>
                          <a:rPr lang="tr-TR" sz="1200" b="0" i="1" smtClean="0">
                            <a:solidFill>
                              <a:schemeClr val="tx1">
                                <a:lumMod val="85000"/>
                                <a:lumOff val="15000"/>
                              </a:schemeClr>
                            </a:solidFill>
                            <a:latin typeface="Cambria Math"/>
                          </a:rPr>
                          <m:t>49</m:t>
                        </m:r>
                      </m:num>
                      <m:den>
                        <m:r>
                          <a:rPr lang="tr-TR" sz="1200" b="0" i="1" smtClean="0">
                            <a:solidFill>
                              <a:schemeClr val="tx1">
                                <a:lumMod val="85000"/>
                                <a:lumOff val="15000"/>
                              </a:schemeClr>
                            </a:solidFill>
                            <a:latin typeface="Cambria Math"/>
                          </a:rPr>
                          <m:t>4</m:t>
                        </m:r>
                      </m:den>
                    </m:f>
                  </m:oMath>
                </a14:m>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p:txBody>
          </p:sp>
        </mc:Choice>
        <mc:Fallback xmlns="">
          <p:sp>
            <p:nvSpPr>
              <p:cNvPr id="78" name="Metin kutusu 77"/>
              <p:cNvSpPr txBox="1">
                <a:spLocks noRot="1" noChangeAspect="1" noMove="1" noResize="1" noEditPoints="1" noAdjustHandles="1" noChangeArrowheads="1" noChangeShapeType="1" noTextEdit="1"/>
              </p:cNvSpPr>
              <p:nvPr/>
            </p:nvSpPr>
            <p:spPr>
              <a:xfrm>
                <a:off x="102028" y="1907704"/>
                <a:ext cx="3253115" cy="923843"/>
              </a:xfrm>
              <a:prstGeom prst="rect">
                <a:avLst/>
              </a:prstGeom>
              <a:blipFill rotWithShape="1">
                <a:blip r:embed="rId5"/>
                <a:stretch>
                  <a:fillRect l="-188" t="-662"/>
                </a:stretch>
              </a:blipFill>
            </p:spPr>
            <p:txBody>
              <a:bodyPr/>
              <a:lstStyle/>
              <a:p>
                <a:r>
                  <a:rPr lang="tr-TR">
                    <a:noFill/>
                  </a:rPr>
                  <a:t> </a:t>
                </a:r>
              </a:p>
            </p:txBody>
          </p:sp>
        </mc:Fallback>
      </mc:AlternateContent>
      <p:sp>
        <p:nvSpPr>
          <p:cNvPr id="81" name="Metin kutusu 80"/>
          <p:cNvSpPr txBox="1"/>
          <p:nvPr/>
        </p:nvSpPr>
        <p:spPr>
          <a:xfrm>
            <a:off x="388296" y="4905059"/>
            <a:ext cx="3040704" cy="1569660"/>
          </a:xfrm>
          <a:prstGeom prst="rect">
            <a:avLst/>
          </a:prstGeom>
          <a:noFill/>
        </p:spPr>
        <p:txBody>
          <a:bodyPr wrap="square" rtlCol="0">
            <a:spAutoFit/>
          </a:bodyPr>
          <a:lstStyle/>
          <a:p>
            <a:r>
              <a:rPr lang="tr-TR" sz="1200" dirty="0" smtClean="0">
                <a:solidFill>
                  <a:schemeClr val="tx1">
                    <a:lumMod val="85000"/>
                    <a:lumOff val="15000"/>
                  </a:schemeClr>
                </a:solidFill>
              </a:rPr>
              <a:t>Bir servis sağlayıcısı 250 kişilik stoklarla sınırlı bir kampanya oluşturmuştur. Bu sağlayıcı ilk </a:t>
            </a:r>
          </a:p>
          <a:p>
            <a:r>
              <a:rPr lang="tr-TR" sz="1200" dirty="0" smtClean="0">
                <a:solidFill>
                  <a:schemeClr val="tx1">
                    <a:lumMod val="85000"/>
                    <a:lumOff val="15000"/>
                  </a:schemeClr>
                </a:solidFill>
              </a:rPr>
              <a:t>50 müşterisi için kişi başı 70 TL,  50 müşteriden fazla her bir kişiye 1 TL indirim uygulamıştır.</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Bu servis sağlayıcısı en fazla ciro elde ettiğine göre kampanyaya kaç kişi katılamamıştır?</a:t>
            </a:r>
          </a:p>
        </p:txBody>
      </p:sp>
      <p:sp>
        <p:nvSpPr>
          <p:cNvPr id="86" name="Metin kutusu 85"/>
          <p:cNvSpPr txBox="1"/>
          <p:nvPr/>
        </p:nvSpPr>
        <p:spPr>
          <a:xfrm>
            <a:off x="239088" y="6516216"/>
            <a:ext cx="3253115" cy="830997"/>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175                     B</a:t>
            </a:r>
            <a:r>
              <a:rPr lang="tr-TR" sz="1200" dirty="0">
                <a:solidFill>
                  <a:schemeClr val="tx1">
                    <a:lumMod val="85000"/>
                    <a:lumOff val="15000"/>
                  </a:schemeClr>
                </a:solidFill>
              </a:rPr>
              <a:t>)  </a:t>
            </a:r>
            <a:r>
              <a:rPr lang="tr-TR" sz="1200" dirty="0" smtClean="0">
                <a:solidFill>
                  <a:schemeClr val="tx1">
                    <a:lumMod val="85000"/>
                    <a:lumOff val="15000"/>
                  </a:schemeClr>
                </a:solidFill>
              </a:rPr>
              <a:t>185                  C) 50</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65                     E) 120</a:t>
            </a:r>
          </a:p>
          <a:p>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87" name="Metin kutusu 86"/>
              <p:cNvSpPr txBox="1"/>
              <p:nvPr/>
            </p:nvSpPr>
            <p:spPr>
              <a:xfrm>
                <a:off x="3794944" y="4982834"/>
                <a:ext cx="3108147" cy="830997"/>
              </a:xfrm>
              <a:prstGeom prst="rect">
                <a:avLst/>
              </a:prstGeom>
              <a:noFill/>
            </p:spPr>
            <p:txBody>
              <a:bodyPr wrap="square" rtlCol="0">
                <a:spAutoFit/>
              </a:bodyPr>
              <a:lstStyle/>
              <a:p>
                <a:r>
                  <a:rPr lang="tr-TR" sz="1200" noProof="1" smtClean="0">
                    <a:solidFill>
                      <a:schemeClr val="tx1">
                        <a:lumMod val="85000"/>
                        <a:lumOff val="15000"/>
                      </a:schemeClr>
                    </a:solidFill>
                  </a:rPr>
                  <a:t>f(x)  =  x  parabolü ile  y = -2x+3 doğrusu</a:t>
                </a:r>
                <a:r>
                  <a:rPr lang="tr-TR" sz="1200" noProof="1">
                    <a:solidFill>
                      <a:schemeClr val="tx1">
                        <a:lumMod val="85000"/>
                        <a:lumOff val="15000"/>
                      </a:schemeClr>
                    </a:solidFill>
                  </a:rPr>
                  <a:t> </a:t>
                </a:r>
                <a:r>
                  <a:rPr lang="tr-TR" sz="1200" noProof="1" smtClean="0">
                    <a:solidFill>
                      <a:schemeClr val="tx1">
                        <a:lumMod val="85000"/>
                        <a:lumOff val="15000"/>
                      </a:schemeClr>
                    </a:solidFill>
                  </a:rPr>
                  <a:t>arasında </a:t>
                </a:r>
                <a:r>
                  <a:rPr lang="tr-TR" sz="1200" b="1" noProof="1" smtClean="0">
                    <a:solidFill>
                      <a:schemeClr val="tx1">
                        <a:lumMod val="85000"/>
                        <a:lumOff val="15000"/>
                      </a:schemeClr>
                    </a:solidFill>
                  </a:rPr>
                  <a:t>kalan sınırlı bölgenin üzerindeki (x,y) noktaları için </a:t>
                </a:r>
                <a14:m>
                  <m:oMath xmlns:m="http://schemas.openxmlformats.org/officeDocument/2006/math">
                    <m:sSup>
                      <m:sSupPr>
                        <m:ctrlPr>
                          <a:rPr lang="tr-TR" sz="1200" b="1" i="1" noProof="1" dirty="0" smtClean="0">
                            <a:solidFill>
                              <a:schemeClr val="tx1">
                                <a:lumMod val="85000"/>
                                <a:lumOff val="15000"/>
                              </a:schemeClr>
                            </a:solidFill>
                            <a:latin typeface="Cambria Math"/>
                          </a:rPr>
                        </m:ctrlPr>
                      </m:sSupPr>
                      <m:e>
                        <m:r>
                          <a:rPr lang="tr-TR" sz="1200" b="1" i="0" noProof="1" dirty="0" smtClean="0">
                            <a:solidFill>
                              <a:schemeClr val="tx1">
                                <a:lumMod val="85000"/>
                                <a:lumOff val="15000"/>
                              </a:schemeClr>
                            </a:solidFill>
                            <a:latin typeface="Cambria Math"/>
                          </a:rPr>
                          <m:t>𝐱</m:t>
                        </m:r>
                      </m:e>
                      <m:sup>
                        <m:r>
                          <a:rPr lang="tr-TR" sz="1200" b="1" i="0" noProof="1" dirty="0" smtClean="0">
                            <a:solidFill>
                              <a:schemeClr val="tx1">
                                <a:lumMod val="85000"/>
                                <a:lumOff val="15000"/>
                              </a:schemeClr>
                            </a:solidFill>
                            <a:latin typeface="Cambria Math"/>
                          </a:rPr>
                          <m:t>𝟐</m:t>
                        </m:r>
                      </m:sup>
                    </m:sSup>
                    <m:r>
                      <a:rPr lang="tr-TR" sz="1200" b="1" i="0" noProof="1" dirty="0" smtClean="0">
                        <a:solidFill>
                          <a:schemeClr val="tx1">
                            <a:lumMod val="85000"/>
                            <a:lumOff val="15000"/>
                          </a:schemeClr>
                        </a:solidFill>
                        <a:latin typeface="Cambria Math"/>
                      </a:rPr>
                      <m:t>+</m:t>
                    </m:r>
                    <m:sSup>
                      <m:sSupPr>
                        <m:ctrlPr>
                          <a:rPr lang="tr-TR" sz="1200" b="1" i="1" noProof="1" dirty="0" smtClean="0">
                            <a:solidFill>
                              <a:schemeClr val="tx1">
                                <a:lumMod val="85000"/>
                                <a:lumOff val="15000"/>
                              </a:schemeClr>
                            </a:solidFill>
                            <a:latin typeface="Cambria Math"/>
                          </a:rPr>
                        </m:ctrlPr>
                      </m:sSupPr>
                      <m:e>
                        <m:r>
                          <a:rPr lang="tr-TR" sz="1200" b="1" i="0" noProof="1" dirty="0" smtClean="0">
                            <a:solidFill>
                              <a:schemeClr val="tx1">
                                <a:lumMod val="85000"/>
                                <a:lumOff val="15000"/>
                              </a:schemeClr>
                            </a:solidFill>
                            <a:latin typeface="Cambria Math"/>
                          </a:rPr>
                          <m:t>𝐲</m:t>
                        </m:r>
                      </m:e>
                      <m:sup>
                        <m:r>
                          <a:rPr lang="tr-TR" sz="1200" b="1" i="0" noProof="1" dirty="0" smtClean="0">
                            <a:solidFill>
                              <a:schemeClr val="tx1">
                                <a:lumMod val="85000"/>
                                <a:lumOff val="15000"/>
                              </a:schemeClr>
                            </a:solidFill>
                            <a:latin typeface="Cambria Math"/>
                          </a:rPr>
                          <m:t>𝟐</m:t>
                        </m:r>
                      </m:sup>
                    </m:sSup>
                  </m:oMath>
                </a14:m>
                <a:r>
                  <a:rPr lang="tr-TR" sz="1200" b="1" noProof="1" smtClean="0">
                    <a:solidFill>
                      <a:schemeClr val="tx1">
                        <a:lumMod val="85000"/>
                        <a:lumOff val="15000"/>
                      </a:schemeClr>
                    </a:solidFill>
                  </a:rPr>
                  <a:t> ifadesinin alabileceği en büyük değer kaçtır?</a:t>
                </a:r>
              </a:p>
            </p:txBody>
          </p:sp>
        </mc:Choice>
        <mc:Fallback xmlns="">
          <p:sp>
            <p:nvSpPr>
              <p:cNvPr id="87" name="Metin kutusu 86"/>
              <p:cNvSpPr txBox="1">
                <a:spLocks noRot="1" noChangeAspect="1" noMove="1" noResize="1" noEditPoints="1" noAdjustHandles="1" noChangeArrowheads="1" noChangeShapeType="1" noTextEdit="1"/>
              </p:cNvSpPr>
              <p:nvPr/>
            </p:nvSpPr>
            <p:spPr>
              <a:xfrm>
                <a:off x="3794944" y="4982834"/>
                <a:ext cx="3108147" cy="830997"/>
              </a:xfrm>
              <a:prstGeom prst="rect">
                <a:avLst/>
              </a:prstGeom>
              <a:blipFill rotWithShape="1">
                <a:blip r:embed="rId6"/>
                <a:stretch>
                  <a:fillRect l="-196" r="-982" b="-5109"/>
                </a:stretch>
              </a:blipFill>
            </p:spPr>
            <p:txBody>
              <a:bodyPr/>
              <a:lstStyle/>
              <a:p>
                <a:r>
                  <a:rPr lang="tr-TR">
                    <a:noFill/>
                  </a:rPr>
                  <a:t> </a:t>
                </a:r>
              </a:p>
            </p:txBody>
          </p:sp>
        </mc:Fallback>
      </mc:AlternateContent>
      <p:sp>
        <p:nvSpPr>
          <p:cNvPr id="89" name="Dikdörtgen 88"/>
          <p:cNvSpPr/>
          <p:nvPr/>
        </p:nvSpPr>
        <p:spPr>
          <a:xfrm>
            <a:off x="3450789" y="4916072"/>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13.</a:t>
            </a:r>
            <a:endParaRPr lang="tr-TR" sz="1400" b="1" dirty="0">
              <a:solidFill>
                <a:srgbClr val="C00000"/>
              </a:solidFill>
              <a:latin typeface="Arial Narrow" panose="020B0606020202030204" pitchFamily="34" charset="0"/>
            </a:endParaRPr>
          </a:p>
        </p:txBody>
      </p:sp>
      <p:sp>
        <p:nvSpPr>
          <p:cNvPr id="109" name="Metin kutusu 108"/>
          <p:cNvSpPr txBox="1"/>
          <p:nvPr/>
        </p:nvSpPr>
        <p:spPr>
          <a:xfrm>
            <a:off x="3645714" y="5821431"/>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73                        B)   58                     C) 37</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90                            E) 101</a:t>
            </a:r>
            <a:endParaRPr lang="tr-TR" sz="1200" dirty="0">
              <a:solidFill>
                <a:schemeClr val="tx1">
                  <a:lumMod val="85000"/>
                  <a:lumOff val="15000"/>
                </a:schemeClr>
              </a:solidFill>
            </a:endParaRPr>
          </a:p>
        </p:txBody>
      </p:sp>
      <p:sp>
        <p:nvSpPr>
          <p:cNvPr id="116" name="Metin kutusu 115"/>
          <p:cNvSpPr txBox="1"/>
          <p:nvPr/>
        </p:nvSpPr>
        <p:spPr>
          <a:xfrm>
            <a:off x="4279220" y="4977627"/>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Tree>
    <p:extLst>
      <p:ext uri="{BB962C8B-B14F-4D97-AF65-F5344CB8AC3E}">
        <p14:creationId xmlns:p14="http://schemas.microsoft.com/office/powerpoint/2010/main" val="164567726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12</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74" name="Metin kutusu 73"/>
          <p:cNvSpPr txBox="1"/>
          <p:nvPr/>
        </p:nvSpPr>
        <p:spPr>
          <a:xfrm>
            <a:off x="5346637" y="1586572"/>
            <a:ext cx="767768" cy="1754326"/>
          </a:xfrm>
          <a:prstGeom prst="rect">
            <a:avLst/>
          </a:prstGeom>
          <a:noFill/>
        </p:spPr>
        <p:txBody>
          <a:bodyPr wrap="square" rtlCol="0">
            <a:spAutoFit/>
          </a:bodyPr>
          <a:lstStyle/>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a:p>
            <a:endParaRPr lang="tr-TR" sz="1200" dirty="0" smtClean="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80" name="Metin kutusu 79"/>
              <p:cNvSpPr txBox="1"/>
              <p:nvPr/>
            </p:nvSpPr>
            <p:spPr>
              <a:xfrm>
                <a:off x="188640" y="5581853"/>
                <a:ext cx="3253115" cy="883255"/>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7                     B</a:t>
                </a:r>
                <a:r>
                  <a:rPr lang="tr-TR" sz="1200" dirty="0">
                    <a:solidFill>
                      <a:schemeClr val="tx1">
                        <a:lumMod val="85000"/>
                        <a:lumOff val="15000"/>
                      </a:schemeClr>
                    </a:solidFill>
                  </a:rPr>
                  <a:t>) </a:t>
                </a:r>
                <a:r>
                  <a:rPr lang="tr-TR" sz="1200" dirty="0" smtClean="0">
                    <a:solidFill>
                      <a:schemeClr val="tx1">
                        <a:lumMod val="85000"/>
                        <a:lumOff val="15000"/>
                      </a:schemeClr>
                    </a:solidFill>
                  </a:rPr>
                  <a:t>18                  C) 21 </a:t>
                </a:r>
              </a:p>
              <a:p>
                <a:endParaRPr lang="tr-TR" sz="1200" dirty="0" smtClean="0">
                  <a:solidFill>
                    <a:schemeClr val="tx1">
                      <a:lumMod val="85000"/>
                      <a:lumOff val="15000"/>
                    </a:schemeClr>
                  </a:solidFill>
                </a:endParaRPr>
              </a:p>
              <a:p>
                <a:r>
                  <a:rPr lang="tr-TR" sz="1200" dirty="0" smtClean="0">
                    <a:solidFill>
                      <a:schemeClr val="tx1">
                        <a:lumMod val="85000"/>
                        <a:lumOff val="15000"/>
                      </a:schemeClr>
                    </a:solidFill>
                  </a:rPr>
                  <a:t>                D) 28                     E) </a:t>
                </a:r>
                <a14:m>
                  <m:oMath xmlns:m="http://schemas.openxmlformats.org/officeDocument/2006/math">
                    <m:r>
                      <a:rPr lang="tr-TR" sz="1200">
                        <a:solidFill>
                          <a:schemeClr val="tx1">
                            <a:lumMod val="85000"/>
                            <a:lumOff val="15000"/>
                          </a:schemeClr>
                        </a:solidFill>
                        <a:latin typeface="Cambria Math"/>
                      </a:rPr>
                      <m:t>7</m:t>
                    </m:r>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5</m:t>
                        </m:r>
                      </m:e>
                    </m:rad>
                  </m:oMath>
                </a14:m>
                <a:endParaRPr lang="tr-TR" sz="1200" dirty="0"/>
              </a:p>
              <a:p>
                <a:endParaRPr lang="tr-TR" sz="1200" dirty="0">
                  <a:solidFill>
                    <a:schemeClr val="tx1">
                      <a:lumMod val="85000"/>
                      <a:lumOff val="15000"/>
                    </a:schemeClr>
                  </a:solidFill>
                </a:endParaRPr>
              </a:p>
            </p:txBody>
          </p:sp>
        </mc:Choice>
        <mc:Fallback xmlns="">
          <p:sp>
            <p:nvSpPr>
              <p:cNvPr id="80" name="Metin kutusu 79"/>
              <p:cNvSpPr txBox="1">
                <a:spLocks noRot="1" noChangeAspect="1" noMove="1" noResize="1" noEditPoints="1" noAdjustHandles="1" noChangeArrowheads="1" noChangeShapeType="1" noTextEdit="1"/>
              </p:cNvSpPr>
              <p:nvPr/>
            </p:nvSpPr>
            <p:spPr>
              <a:xfrm>
                <a:off x="188640" y="5581853"/>
                <a:ext cx="3253115" cy="883255"/>
              </a:xfrm>
              <a:prstGeom prst="rect">
                <a:avLst/>
              </a:prstGeom>
              <a:blipFill rotWithShape="1">
                <a:blip r:embed="rId6"/>
                <a:stretch>
                  <a:fillRect l="-187" t="-690"/>
                </a:stretch>
              </a:blipFill>
            </p:spPr>
            <p:txBody>
              <a:bodyPr/>
              <a:lstStyle/>
              <a:p>
                <a:r>
                  <a:rPr lang="tr-TR">
                    <a:noFill/>
                  </a:rPr>
                  <a:t> </a:t>
                </a:r>
              </a:p>
            </p:txBody>
          </p:sp>
        </mc:Fallback>
      </mc:AlternateContent>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133" name="Metin kutusu 132"/>
          <p:cNvSpPr txBox="1"/>
          <p:nvPr/>
        </p:nvSpPr>
        <p:spPr>
          <a:xfrm>
            <a:off x="3683802" y="6948264"/>
            <a:ext cx="3155597" cy="2000548"/>
          </a:xfrm>
          <a:prstGeom prst="rect">
            <a:avLst/>
          </a:prstGeom>
          <a:noFill/>
        </p:spPr>
        <p:txBody>
          <a:bodyPr wrap="square" rtlCol="0">
            <a:spAutoFit/>
          </a:bodyPr>
          <a:lstStyle/>
          <a:p>
            <a:pPr marL="228600" indent="-228600">
              <a:buAutoNum type="alphaUcParenR"/>
            </a:pPr>
            <a:r>
              <a:rPr lang="tr-TR" sz="1100" dirty="0" smtClean="0">
                <a:solidFill>
                  <a:schemeClr val="tx1">
                    <a:lumMod val="85000"/>
                    <a:lumOff val="15000"/>
                  </a:schemeClr>
                </a:solidFill>
              </a:rPr>
              <a:t>2 doğru önermesi vardır.</a:t>
            </a:r>
          </a:p>
          <a:p>
            <a:pPr marL="228600" indent="-228600">
              <a:buAutoNum type="alphaUcParenR"/>
            </a:pPr>
            <a:endParaRPr lang="tr-TR" sz="1100" dirty="0">
              <a:solidFill>
                <a:schemeClr val="tx1">
                  <a:lumMod val="85000"/>
                  <a:lumOff val="15000"/>
                </a:schemeClr>
              </a:solidFill>
            </a:endParaRPr>
          </a:p>
          <a:p>
            <a:pPr marL="228600" indent="-228600">
              <a:buAutoNum type="alphaUcParenR"/>
            </a:pPr>
            <a:r>
              <a:rPr lang="tr-TR" sz="1100" dirty="0" smtClean="0">
                <a:solidFill>
                  <a:schemeClr val="tx1">
                    <a:lumMod val="85000"/>
                    <a:lumOff val="15000"/>
                  </a:schemeClr>
                </a:solidFill>
              </a:rPr>
              <a:t>Toplamda 45 puan almıştır.</a:t>
            </a:r>
          </a:p>
          <a:p>
            <a:pPr marL="228600" indent="-228600">
              <a:buAutoNum type="alphaUcParenR"/>
            </a:pPr>
            <a:endParaRPr lang="tr-TR" sz="1100" dirty="0">
              <a:solidFill>
                <a:schemeClr val="tx1">
                  <a:lumMod val="85000"/>
                  <a:lumOff val="15000"/>
                </a:schemeClr>
              </a:solidFill>
            </a:endParaRPr>
          </a:p>
          <a:p>
            <a:pPr marL="228600" indent="-228600">
              <a:buAutoNum type="alphaUcParenR"/>
            </a:pPr>
            <a:r>
              <a:rPr lang="tr-TR" sz="1100" dirty="0" smtClean="0">
                <a:solidFill>
                  <a:schemeClr val="tx1">
                    <a:lumMod val="85000"/>
                    <a:lumOff val="15000"/>
                  </a:schemeClr>
                </a:solidFill>
              </a:rPr>
              <a:t>2.önermesi doğrudur.</a:t>
            </a:r>
          </a:p>
          <a:p>
            <a:pPr marL="228600" indent="-228600">
              <a:buAutoNum type="alphaUcParenR"/>
            </a:pPr>
            <a:endParaRPr lang="tr-TR" sz="1100" dirty="0">
              <a:solidFill>
                <a:schemeClr val="tx1">
                  <a:lumMod val="85000"/>
                  <a:lumOff val="15000"/>
                </a:schemeClr>
              </a:solidFill>
            </a:endParaRPr>
          </a:p>
          <a:p>
            <a:pPr marL="228600" indent="-228600">
              <a:buAutoNum type="alphaUcParenR"/>
            </a:pPr>
            <a:r>
              <a:rPr lang="tr-TR" sz="1100" dirty="0" smtClean="0">
                <a:solidFill>
                  <a:schemeClr val="tx1">
                    <a:lumMod val="85000"/>
                    <a:lumOff val="15000"/>
                  </a:schemeClr>
                </a:solidFill>
              </a:rPr>
              <a:t>Toplamda 65 puan almıştır.</a:t>
            </a:r>
          </a:p>
          <a:p>
            <a:pPr marL="228600" indent="-228600">
              <a:buAutoNum type="alphaUcParenR"/>
            </a:pPr>
            <a:endParaRPr lang="tr-TR" sz="1100" dirty="0">
              <a:solidFill>
                <a:schemeClr val="tx1">
                  <a:lumMod val="85000"/>
                  <a:lumOff val="15000"/>
                </a:schemeClr>
              </a:solidFill>
            </a:endParaRPr>
          </a:p>
          <a:p>
            <a:pPr marL="228600" indent="-228600">
              <a:buAutoNum type="alphaUcParenR"/>
            </a:pPr>
            <a:r>
              <a:rPr lang="tr-TR" sz="1100" dirty="0" smtClean="0">
                <a:solidFill>
                  <a:schemeClr val="tx1">
                    <a:lumMod val="85000"/>
                    <a:lumOff val="15000"/>
                  </a:schemeClr>
                </a:solidFill>
              </a:rPr>
              <a:t>4 doğru önermesi vardır.</a:t>
            </a:r>
            <a:endParaRPr lang="tr-TR" sz="1200" dirty="0">
              <a:solidFill>
                <a:schemeClr val="tx1">
                  <a:lumMod val="85000"/>
                  <a:lumOff val="15000"/>
                </a:schemeClr>
              </a:solidFill>
            </a:endParaRPr>
          </a:p>
          <a:p>
            <a:pPr marL="228600" indent="-228600">
              <a:buAutoNum type="alphaUcParenR"/>
            </a:pPr>
            <a:endParaRPr lang="tr-TR" sz="1200" dirty="0" smtClean="0">
              <a:solidFill>
                <a:schemeClr val="tx1">
                  <a:lumMod val="85000"/>
                  <a:lumOff val="15000"/>
                </a:schemeClr>
              </a:solidFill>
            </a:endParaRPr>
          </a:p>
          <a:p>
            <a:pPr marL="228600" indent="-228600">
              <a:buAutoNum type="alphaUcParenR"/>
            </a:pPr>
            <a:endParaRPr lang="tr-TR" sz="1200" dirty="0">
              <a:solidFill>
                <a:schemeClr val="tx1">
                  <a:lumMod val="85000"/>
                  <a:lumOff val="15000"/>
                </a:schemeClr>
              </a:solidFill>
            </a:endParaRPr>
          </a:p>
        </p:txBody>
      </p:sp>
      <p:sp>
        <p:nvSpPr>
          <p:cNvPr id="10" name="Dikdörtgen 9"/>
          <p:cNvSpPr/>
          <p:nvPr/>
        </p:nvSpPr>
        <p:spPr>
          <a:xfrm>
            <a:off x="3727440" y="755579"/>
            <a:ext cx="3068469" cy="261610"/>
          </a:xfrm>
          <a:prstGeom prst="rect">
            <a:avLst/>
          </a:prstGeom>
        </p:spPr>
        <p:txBody>
          <a:bodyPr wrap="none">
            <a:spAutoFit/>
          </a:bodyPr>
          <a:lstStyle/>
          <a:p>
            <a:r>
              <a:rPr lang="tr-TR" sz="1100" dirty="0" smtClean="0">
                <a:solidFill>
                  <a:schemeClr val="tx1">
                    <a:lumMod val="85000"/>
                    <a:lumOff val="15000"/>
                  </a:schemeClr>
                </a:solidFill>
              </a:rPr>
              <a:t>Aşağıda maske takan bir kadının görseli verilmiştir.</a:t>
            </a:r>
            <a:endParaRPr lang="tr-TR" sz="1100" dirty="0"/>
          </a:p>
        </p:txBody>
      </p:sp>
      <p:pic>
        <p:nvPicPr>
          <p:cNvPr id="7" name="Resim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37092" y="749036"/>
            <a:ext cx="3219900" cy="2657846"/>
          </a:xfrm>
          <a:prstGeom prst="rect">
            <a:avLst/>
          </a:prstGeom>
        </p:spPr>
      </p:pic>
      <p:sp>
        <p:nvSpPr>
          <p:cNvPr id="8" name="Serbest Form 7"/>
          <p:cNvSpPr/>
          <p:nvPr/>
        </p:nvSpPr>
        <p:spPr>
          <a:xfrm>
            <a:off x="761318" y="1104664"/>
            <a:ext cx="2307642" cy="1937179"/>
          </a:xfrm>
          <a:custGeom>
            <a:avLst/>
            <a:gdLst>
              <a:gd name="connsiteX0" fmla="*/ 90222 w 2307642"/>
              <a:gd name="connsiteY0" fmla="*/ 1813796 h 1937179"/>
              <a:gd name="connsiteX1" fmla="*/ 97842 w 2307642"/>
              <a:gd name="connsiteY1" fmla="*/ 1745216 h 1937179"/>
              <a:gd name="connsiteX2" fmla="*/ 1088442 w 2307642"/>
              <a:gd name="connsiteY2" fmla="*/ 236 h 1937179"/>
              <a:gd name="connsiteX3" fmla="*/ 2307642 w 2307642"/>
              <a:gd name="connsiteY3" fmla="*/ 1874756 h 1937179"/>
            </a:gdLst>
            <a:ahLst/>
            <a:cxnLst>
              <a:cxn ang="0">
                <a:pos x="connsiteX0" y="connsiteY0"/>
              </a:cxn>
              <a:cxn ang="0">
                <a:pos x="connsiteX1" y="connsiteY1"/>
              </a:cxn>
              <a:cxn ang="0">
                <a:pos x="connsiteX2" y="connsiteY2"/>
              </a:cxn>
              <a:cxn ang="0">
                <a:pos x="connsiteX3" y="connsiteY3"/>
              </a:cxn>
            </a:cxnLst>
            <a:rect l="l" t="t" r="r" b="b"/>
            <a:pathLst>
              <a:path w="2307642" h="1937179">
                <a:moveTo>
                  <a:pt x="90222" y="1813796"/>
                </a:moveTo>
                <a:cubicBezTo>
                  <a:pt x="10847" y="1930636"/>
                  <a:pt x="-68528" y="2047476"/>
                  <a:pt x="97842" y="1745216"/>
                </a:cubicBezTo>
                <a:cubicBezTo>
                  <a:pt x="264212" y="1442956"/>
                  <a:pt x="720142" y="-21354"/>
                  <a:pt x="1088442" y="236"/>
                </a:cubicBezTo>
                <a:cubicBezTo>
                  <a:pt x="1456742" y="21826"/>
                  <a:pt x="2054912" y="1548366"/>
                  <a:pt x="2307642" y="1874756"/>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4" name="Çentikli Sağ Ok 13"/>
          <p:cNvSpPr/>
          <p:nvPr/>
        </p:nvSpPr>
        <p:spPr>
          <a:xfrm>
            <a:off x="1171026" y="2073253"/>
            <a:ext cx="493781" cy="122483"/>
          </a:xfrm>
          <a:prstGeom prst="notchedRightArrow">
            <a:avLst/>
          </a:prstGeom>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78" name="Çentikli Sağ Ok 77"/>
          <p:cNvSpPr/>
          <p:nvPr/>
        </p:nvSpPr>
        <p:spPr>
          <a:xfrm rot="16200000">
            <a:off x="1143049" y="1631594"/>
            <a:ext cx="1024657" cy="103623"/>
          </a:xfrm>
          <a:prstGeom prst="notchedRightArrow">
            <a:avLst/>
          </a:prstGeom>
          <a:solidFill>
            <a:srgbClr val="00B0F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84" name="Çentikli Sağ Ok 83"/>
          <p:cNvSpPr/>
          <p:nvPr/>
        </p:nvSpPr>
        <p:spPr>
          <a:xfrm>
            <a:off x="1664808" y="2073251"/>
            <a:ext cx="981102" cy="122483"/>
          </a:xfrm>
          <a:prstGeom prst="notchedRightArrow">
            <a:avLst/>
          </a:prstGeom>
          <a:solidFill>
            <a:srgbClr val="92D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15" name="Metin kutusu 14"/>
          <p:cNvSpPr txBox="1"/>
          <p:nvPr/>
        </p:nvSpPr>
        <p:spPr>
          <a:xfrm>
            <a:off x="1247931" y="2134761"/>
            <a:ext cx="1428598" cy="276999"/>
          </a:xfrm>
          <a:prstGeom prst="rect">
            <a:avLst/>
          </a:prstGeom>
          <a:noFill/>
        </p:spPr>
        <p:txBody>
          <a:bodyPr wrap="square" rtlCol="0">
            <a:spAutoFit/>
          </a:bodyPr>
          <a:lstStyle/>
          <a:p>
            <a:r>
              <a:rPr lang="tr-TR" sz="1200" dirty="0" smtClean="0">
                <a:solidFill>
                  <a:schemeClr val="tx1">
                    <a:lumMod val="85000"/>
                    <a:lumOff val="15000"/>
                  </a:schemeClr>
                </a:solidFill>
              </a:rPr>
              <a:t>1</a:t>
            </a:r>
            <a:endParaRPr lang="tr-TR" sz="1200" dirty="0">
              <a:solidFill>
                <a:schemeClr val="tx1">
                  <a:lumMod val="85000"/>
                  <a:lumOff val="15000"/>
                </a:schemeClr>
              </a:solidFill>
            </a:endParaRPr>
          </a:p>
        </p:txBody>
      </p:sp>
      <p:sp>
        <p:nvSpPr>
          <p:cNvPr id="85" name="Metin kutusu 84"/>
          <p:cNvSpPr txBox="1"/>
          <p:nvPr/>
        </p:nvSpPr>
        <p:spPr>
          <a:xfrm>
            <a:off x="1633621" y="1515726"/>
            <a:ext cx="181576" cy="276999"/>
          </a:xfrm>
          <a:prstGeom prst="rect">
            <a:avLst/>
          </a:prstGeom>
          <a:noFill/>
        </p:spPr>
        <p:txBody>
          <a:bodyPr wrap="square" rtlCol="0">
            <a:spAutoFit/>
          </a:bodyPr>
          <a:lstStyle/>
          <a:p>
            <a:r>
              <a:rPr lang="tr-TR" sz="1200" dirty="0" smtClean="0">
                <a:solidFill>
                  <a:schemeClr val="tx1">
                    <a:lumMod val="85000"/>
                    <a:lumOff val="15000"/>
                  </a:schemeClr>
                </a:solidFill>
              </a:rPr>
              <a:t>2</a:t>
            </a:r>
            <a:endParaRPr lang="tr-TR" sz="1200" dirty="0">
              <a:solidFill>
                <a:schemeClr val="tx1">
                  <a:lumMod val="85000"/>
                  <a:lumOff val="15000"/>
                </a:schemeClr>
              </a:solidFill>
            </a:endParaRPr>
          </a:p>
        </p:txBody>
      </p:sp>
      <p:sp>
        <p:nvSpPr>
          <p:cNvPr id="86" name="Metin kutusu 85"/>
          <p:cNvSpPr txBox="1"/>
          <p:nvPr/>
        </p:nvSpPr>
        <p:spPr>
          <a:xfrm>
            <a:off x="1941152" y="2127508"/>
            <a:ext cx="1428598" cy="276999"/>
          </a:xfrm>
          <a:prstGeom prst="rect">
            <a:avLst/>
          </a:prstGeom>
          <a:noFill/>
        </p:spPr>
        <p:txBody>
          <a:bodyPr wrap="square" rtlCol="0">
            <a:spAutoFit/>
          </a:bodyPr>
          <a:lstStyle/>
          <a:p>
            <a:r>
              <a:rPr lang="tr-TR" sz="1200" dirty="0" smtClean="0">
                <a:solidFill>
                  <a:schemeClr val="tx1">
                    <a:lumMod val="85000"/>
                    <a:lumOff val="15000"/>
                  </a:schemeClr>
                </a:solidFill>
              </a:rPr>
              <a:t>3</a:t>
            </a:r>
            <a:endParaRPr lang="tr-TR" sz="1200" dirty="0">
              <a:solidFill>
                <a:schemeClr val="tx1">
                  <a:lumMod val="85000"/>
                  <a:lumOff val="15000"/>
                </a:schemeClr>
              </a:solidFill>
            </a:endParaRPr>
          </a:p>
        </p:txBody>
      </p:sp>
      <p:sp>
        <p:nvSpPr>
          <p:cNvPr id="87" name="Metin kutusu 86"/>
          <p:cNvSpPr txBox="1"/>
          <p:nvPr/>
        </p:nvSpPr>
        <p:spPr>
          <a:xfrm>
            <a:off x="162142" y="3419872"/>
            <a:ext cx="3155597" cy="2123658"/>
          </a:xfrm>
          <a:prstGeom prst="rect">
            <a:avLst/>
          </a:prstGeom>
          <a:noFill/>
        </p:spPr>
        <p:txBody>
          <a:bodyPr wrap="square" rtlCol="0">
            <a:spAutoFit/>
          </a:bodyPr>
          <a:lstStyle/>
          <a:p>
            <a:r>
              <a:rPr lang="tr-TR" sz="1200" dirty="0" smtClean="0">
                <a:solidFill>
                  <a:schemeClr val="tx1">
                    <a:lumMod val="85000"/>
                    <a:lumOff val="15000"/>
                  </a:schemeClr>
                </a:solidFill>
              </a:rPr>
              <a:t>Yukarıda bir hareketli 1,2,3 numaralı oklarla sırasıyla yol almaktadır.  A Noktasından yani 1 Numaralı oktan başlayıp 2 numaralı okla devam etmiştir. Yukarı çıktığında tekrardan 2 numaralı ok ile geri dönmüş ve 3 numaralı ok ile devam etmiştir. Bitiş olarak B noktasına ulaşmıştır. Eğer bu hareketli 2 numaralı ok yerine parabolün </a:t>
            </a:r>
            <a:r>
              <a:rPr lang="tr-TR" sz="1200" b="1" dirty="0" smtClean="0">
                <a:solidFill>
                  <a:schemeClr val="tx1">
                    <a:lumMod val="85000"/>
                    <a:lumOff val="15000"/>
                  </a:schemeClr>
                </a:solidFill>
              </a:rPr>
              <a:t>tepe noktasının ordinatına eş değer olarak dümdüz 2.ok boyunca ilerlemiş ve tekrar geri </a:t>
            </a:r>
            <a:r>
              <a:rPr lang="tr-TR" sz="1200" dirty="0" smtClean="0">
                <a:solidFill>
                  <a:schemeClr val="tx1">
                    <a:lumMod val="85000"/>
                    <a:lumOff val="15000"/>
                  </a:schemeClr>
                </a:solidFill>
              </a:rPr>
              <a:t>B (bitiş noktasına) gelmiş olsaydı yolunu kaç birim kadar uzatmış olurdu ?</a:t>
            </a:r>
          </a:p>
        </p:txBody>
      </p:sp>
      <p:sp>
        <p:nvSpPr>
          <p:cNvPr id="89" name="Metin kutusu 88"/>
          <p:cNvSpPr txBox="1"/>
          <p:nvPr/>
        </p:nvSpPr>
        <p:spPr>
          <a:xfrm>
            <a:off x="137092" y="1265221"/>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y = - x   + 6x + 5 </a:t>
            </a:r>
          </a:p>
        </p:txBody>
      </p:sp>
      <p:sp>
        <p:nvSpPr>
          <p:cNvPr id="90" name="Metin kutusu 89"/>
          <p:cNvSpPr txBox="1"/>
          <p:nvPr/>
        </p:nvSpPr>
        <p:spPr>
          <a:xfrm>
            <a:off x="512307" y="1259632"/>
            <a:ext cx="239378" cy="200055"/>
          </a:xfrm>
          <a:prstGeom prst="rect">
            <a:avLst/>
          </a:prstGeom>
          <a:noFill/>
        </p:spPr>
        <p:txBody>
          <a:bodyPr wrap="square" rtlCol="0">
            <a:spAutoFit/>
          </a:bodyPr>
          <a:lstStyle/>
          <a:p>
            <a:r>
              <a:rPr lang="tr-TR" sz="700" dirty="0" smtClean="0">
                <a:solidFill>
                  <a:schemeClr val="tx1">
                    <a:lumMod val="85000"/>
                    <a:lumOff val="15000"/>
                  </a:schemeClr>
                </a:solidFill>
              </a:rPr>
              <a:t>2</a:t>
            </a:r>
            <a:endParaRPr lang="tr-TR" sz="700" dirty="0">
              <a:solidFill>
                <a:schemeClr val="tx1">
                  <a:lumMod val="85000"/>
                  <a:lumOff val="15000"/>
                </a:schemeClr>
              </a:solidFill>
            </a:endParaRPr>
          </a:p>
        </p:txBody>
      </p:sp>
      <p:sp>
        <p:nvSpPr>
          <p:cNvPr id="93" name="Metin kutusu 92"/>
          <p:cNvSpPr txBox="1"/>
          <p:nvPr/>
        </p:nvSpPr>
        <p:spPr>
          <a:xfrm>
            <a:off x="906240" y="2123728"/>
            <a:ext cx="1767898" cy="276999"/>
          </a:xfrm>
          <a:prstGeom prst="rect">
            <a:avLst/>
          </a:prstGeom>
          <a:noFill/>
        </p:spPr>
        <p:txBody>
          <a:bodyPr wrap="square" rtlCol="0">
            <a:spAutoFit/>
          </a:bodyPr>
          <a:lstStyle/>
          <a:p>
            <a:r>
              <a:rPr lang="tr-TR" sz="1200" dirty="0">
                <a:solidFill>
                  <a:schemeClr val="tx1">
                    <a:lumMod val="85000"/>
                    <a:lumOff val="15000"/>
                  </a:schemeClr>
                </a:solidFill>
              </a:rPr>
              <a:t>A</a:t>
            </a:r>
          </a:p>
        </p:txBody>
      </p:sp>
      <p:pic>
        <p:nvPicPr>
          <p:cNvPr id="1028"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08302" y="1086365"/>
            <a:ext cx="2002291" cy="23517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Serbest Form 27"/>
          <p:cNvSpPr/>
          <p:nvPr/>
        </p:nvSpPr>
        <p:spPr>
          <a:xfrm>
            <a:off x="4366583" y="2458073"/>
            <a:ext cx="1450975" cy="917899"/>
          </a:xfrm>
          <a:custGeom>
            <a:avLst/>
            <a:gdLst>
              <a:gd name="connsiteX0" fmla="*/ 0 w 1450975"/>
              <a:gd name="connsiteY0" fmla="*/ 0 h 917899"/>
              <a:gd name="connsiteX1" fmla="*/ 120650 w 1450975"/>
              <a:gd name="connsiteY1" fmla="*/ 473075 h 917899"/>
              <a:gd name="connsiteX2" fmla="*/ 441325 w 1450975"/>
              <a:gd name="connsiteY2" fmla="*/ 831850 h 917899"/>
              <a:gd name="connsiteX3" fmla="*/ 844550 w 1450975"/>
              <a:gd name="connsiteY3" fmla="*/ 904875 h 917899"/>
              <a:gd name="connsiteX4" fmla="*/ 1250950 w 1450975"/>
              <a:gd name="connsiteY4" fmla="*/ 628650 h 917899"/>
              <a:gd name="connsiteX5" fmla="*/ 1450975 w 1450975"/>
              <a:gd name="connsiteY5" fmla="*/ 104775 h 917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0975" h="917899">
                <a:moveTo>
                  <a:pt x="0" y="0"/>
                </a:moveTo>
                <a:cubicBezTo>
                  <a:pt x="23548" y="167216"/>
                  <a:pt x="47096" y="334433"/>
                  <a:pt x="120650" y="473075"/>
                </a:cubicBezTo>
                <a:cubicBezTo>
                  <a:pt x="194204" y="611717"/>
                  <a:pt x="320675" y="759883"/>
                  <a:pt x="441325" y="831850"/>
                </a:cubicBezTo>
                <a:cubicBezTo>
                  <a:pt x="561975" y="903817"/>
                  <a:pt x="709613" y="938742"/>
                  <a:pt x="844550" y="904875"/>
                </a:cubicBezTo>
                <a:cubicBezTo>
                  <a:pt x="979488" y="871008"/>
                  <a:pt x="1149879" y="762000"/>
                  <a:pt x="1250950" y="628650"/>
                </a:cubicBezTo>
                <a:cubicBezTo>
                  <a:pt x="1352021" y="495300"/>
                  <a:pt x="1411817" y="189442"/>
                  <a:pt x="1450975" y="104775"/>
                </a:cubicBezTo>
              </a:path>
            </a:pathLst>
          </a:cu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10" name="Dikdörtgen 109"/>
          <p:cNvSpPr/>
          <p:nvPr/>
        </p:nvSpPr>
        <p:spPr>
          <a:xfrm>
            <a:off x="3752214" y="3518307"/>
            <a:ext cx="3018775" cy="261610"/>
          </a:xfrm>
          <a:prstGeom prst="rect">
            <a:avLst/>
          </a:prstGeom>
        </p:spPr>
        <p:txBody>
          <a:bodyPr wrap="none">
            <a:spAutoFit/>
          </a:bodyPr>
          <a:lstStyle/>
          <a:p>
            <a:r>
              <a:rPr lang="tr-TR" sz="1100" dirty="0" smtClean="0">
                <a:solidFill>
                  <a:schemeClr val="tx1">
                    <a:lumMod val="85000"/>
                    <a:lumOff val="15000"/>
                  </a:schemeClr>
                </a:solidFill>
              </a:rPr>
              <a:t>Ali, öğretmenine aşağıdaki önermelerini söylüyor.</a:t>
            </a:r>
          </a:p>
        </p:txBody>
      </p:sp>
      <p:sp>
        <p:nvSpPr>
          <p:cNvPr id="124" name="Dikdörtgen 123"/>
          <p:cNvSpPr/>
          <p:nvPr/>
        </p:nvSpPr>
        <p:spPr>
          <a:xfrm>
            <a:off x="3818850" y="3851920"/>
            <a:ext cx="2922518" cy="2123658"/>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tr-TR" sz="1100" noProof="1" smtClean="0">
                <a:solidFill>
                  <a:schemeClr val="tx1">
                    <a:lumMod val="85000"/>
                    <a:lumOff val="15000"/>
                  </a:schemeClr>
                </a:solidFill>
              </a:rPr>
              <a:t>Analitik düzlemde sarı şekli parabol olarak varsayıp incelediğimizde ; </a:t>
            </a:r>
          </a:p>
          <a:p>
            <a:endParaRPr lang="tr-TR" sz="1100" noProof="1" smtClean="0">
              <a:solidFill>
                <a:schemeClr val="tx1">
                  <a:lumMod val="85000"/>
                  <a:lumOff val="15000"/>
                </a:schemeClr>
              </a:solidFill>
            </a:endParaRPr>
          </a:p>
          <a:p>
            <a:pPr marL="228600" indent="-228600">
              <a:buAutoNum type="arabicPeriod"/>
            </a:pPr>
            <a:r>
              <a:rPr lang="tr-TR" sz="1100" noProof="1" smtClean="0">
                <a:solidFill>
                  <a:schemeClr val="tx1">
                    <a:lumMod val="85000"/>
                    <a:lumOff val="15000"/>
                  </a:schemeClr>
                </a:solidFill>
              </a:rPr>
              <a:t>Denklemi 2.dereceden olmalıdır.</a:t>
            </a:r>
          </a:p>
          <a:p>
            <a:pPr marL="228600" indent="-228600">
              <a:buAutoNum type="arabicPeriod"/>
            </a:pPr>
            <a:r>
              <a:rPr lang="tr-TR" sz="1100" noProof="1" smtClean="0">
                <a:solidFill>
                  <a:schemeClr val="tx1">
                    <a:lumMod val="85000"/>
                    <a:lumOff val="15000"/>
                  </a:schemeClr>
                </a:solidFill>
              </a:rPr>
              <a:t>A ve B noktalarını bilirsek bu parabolün denklemini kesinlikle yazabiliriz.</a:t>
            </a:r>
          </a:p>
          <a:p>
            <a:pPr marL="228600" indent="-228600">
              <a:buAutoNum type="arabicPeriod"/>
            </a:pPr>
            <a:r>
              <a:rPr lang="tr-TR" sz="1100" noProof="1" smtClean="0">
                <a:solidFill>
                  <a:schemeClr val="tx1">
                    <a:lumMod val="85000"/>
                    <a:lumOff val="15000"/>
                  </a:schemeClr>
                </a:solidFill>
              </a:rPr>
              <a:t>Tepe noktası bu parabolde fonksiyonun maksimum noktasını belirtir. </a:t>
            </a:r>
          </a:p>
          <a:p>
            <a:pPr marL="228600" indent="-228600">
              <a:buAutoNum type="arabicPeriod"/>
            </a:pPr>
            <a:r>
              <a:rPr lang="tr-TR" sz="1100" noProof="1" smtClean="0">
                <a:solidFill>
                  <a:schemeClr val="tx1">
                    <a:lumMod val="85000"/>
                    <a:lumOff val="15000"/>
                  </a:schemeClr>
                </a:solidFill>
              </a:rPr>
              <a:t>C noktasının ordinatını iki farklı apsis değeri sağlar.</a:t>
            </a:r>
          </a:p>
          <a:p>
            <a:pPr marL="228600" indent="-228600">
              <a:buAutoNum type="arabicPeriod"/>
            </a:pPr>
            <a:r>
              <a:rPr lang="tr-TR" sz="1100" noProof="1" smtClean="0">
                <a:solidFill>
                  <a:schemeClr val="tx1">
                    <a:lumMod val="85000"/>
                    <a:lumOff val="15000"/>
                  </a:schemeClr>
                </a:solidFill>
              </a:rPr>
              <a:t>Kolları yukarı olduğundan baş katsayısı pozitif bir sayıdır.</a:t>
            </a:r>
          </a:p>
        </p:txBody>
      </p:sp>
      <p:sp>
        <p:nvSpPr>
          <p:cNvPr id="126" name="Dikdörtgen 125"/>
          <p:cNvSpPr/>
          <p:nvPr/>
        </p:nvSpPr>
        <p:spPr>
          <a:xfrm>
            <a:off x="4149080" y="2294166"/>
            <a:ext cx="266420" cy="261610"/>
          </a:xfrm>
          <a:prstGeom prst="rect">
            <a:avLst/>
          </a:prstGeom>
        </p:spPr>
        <p:txBody>
          <a:bodyPr wrap="none">
            <a:spAutoFit/>
          </a:bodyPr>
          <a:lstStyle/>
          <a:p>
            <a:r>
              <a:rPr lang="tr-TR" sz="1100" dirty="0" smtClean="0">
                <a:solidFill>
                  <a:schemeClr val="tx1">
                    <a:lumMod val="85000"/>
                    <a:lumOff val="15000"/>
                  </a:schemeClr>
                </a:solidFill>
              </a:rPr>
              <a:t>A</a:t>
            </a:r>
          </a:p>
        </p:txBody>
      </p:sp>
      <p:sp>
        <p:nvSpPr>
          <p:cNvPr id="127" name="Dikdörtgen 126"/>
          <p:cNvSpPr/>
          <p:nvPr/>
        </p:nvSpPr>
        <p:spPr>
          <a:xfrm>
            <a:off x="5747452" y="2483768"/>
            <a:ext cx="266420" cy="261610"/>
          </a:xfrm>
          <a:prstGeom prst="rect">
            <a:avLst/>
          </a:prstGeom>
        </p:spPr>
        <p:txBody>
          <a:bodyPr wrap="none">
            <a:spAutoFit/>
          </a:bodyPr>
          <a:lstStyle/>
          <a:p>
            <a:r>
              <a:rPr lang="tr-TR" sz="1100" dirty="0" smtClean="0">
                <a:solidFill>
                  <a:schemeClr val="bg1"/>
                </a:solidFill>
              </a:rPr>
              <a:t>B</a:t>
            </a:r>
          </a:p>
        </p:txBody>
      </p:sp>
      <p:sp>
        <p:nvSpPr>
          <p:cNvPr id="136" name="Dikdörtgen 135"/>
          <p:cNvSpPr/>
          <p:nvPr/>
        </p:nvSpPr>
        <p:spPr>
          <a:xfrm>
            <a:off x="4537144" y="2896151"/>
            <a:ext cx="260008" cy="261610"/>
          </a:xfrm>
          <a:prstGeom prst="rect">
            <a:avLst/>
          </a:prstGeom>
        </p:spPr>
        <p:txBody>
          <a:bodyPr wrap="none">
            <a:spAutoFit/>
          </a:bodyPr>
          <a:lstStyle/>
          <a:p>
            <a:r>
              <a:rPr lang="tr-TR" sz="1100" dirty="0" smtClean="0">
                <a:solidFill>
                  <a:schemeClr val="bg1"/>
                </a:solidFill>
              </a:rPr>
              <a:t>C</a:t>
            </a:r>
          </a:p>
        </p:txBody>
      </p:sp>
      <p:sp>
        <p:nvSpPr>
          <p:cNvPr id="137" name="Dikdörtgen 136"/>
          <p:cNvSpPr/>
          <p:nvPr/>
        </p:nvSpPr>
        <p:spPr>
          <a:xfrm>
            <a:off x="3709735" y="6046633"/>
            <a:ext cx="3222357" cy="938719"/>
          </a:xfrm>
          <a:prstGeom prst="rect">
            <a:avLst/>
          </a:prstGeom>
        </p:spPr>
        <p:txBody>
          <a:bodyPr wrap="none">
            <a:spAutoFit/>
          </a:bodyPr>
          <a:lstStyle/>
          <a:p>
            <a:r>
              <a:rPr lang="tr-TR" sz="1100" b="1" dirty="0" smtClean="0">
                <a:solidFill>
                  <a:schemeClr val="tx1">
                    <a:lumMod val="85000"/>
                    <a:lumOff val="15000"/>
                  </a:schemeClr>
                </a:solidFill>
              </a:rPr>
              <a:t>Öğretmeni Veysel Bey Ali`nin her doğru önermesine</a:t>
            </a:r>
          </a:p>
          <a:p>
            <a:r>
              <a:rPr lang="tr-TR" sz="1100" b="1" dirty="0" smtClean="0">
                <a:solidFill>
                  <a:schemeClr val="tx1">
                    <a:lumMod val="85000"/>
                    <a:lumOff val="15000"/>
                  </a:schemeClr>
                </a:solidFill>
              </a:rPr>
              <a:t>20 puan vermektedir. Yanlış önermeleri için ilk </a:t>
            </a:r>
          </a:p>
          <a:p>
            <a:r>
              <a:rPr lang="tr-TR" sz="1100" b="1" dirty="0" smtClean="0">
                <a:solidFill>
                  <a:schemeClr val="tx1">
                    <a:lumMod val="85000"/>
                    <a:lumOff val="15000"/>
                  </a:schemeClr>
                </a:solidFill>
              </a:rPr>
              <a:t>yanlışına 10 puan, diğer söyleyeceği her yanlış </a:t>
            </a:r>
          </a:p>
          <a:p>
            <a:r>
              <a:rPr lang="tr-TR" sz="1100" b="1" dirty="0" smtClean="0">
                <a:solidFill>
                  <a:schemeClr val="tx1">
                    <a:lumMod val="85000"/>
                    <a:lumOff val="15000"/>
                  </a:schemeClr>
                </a:solidFill>
              </a:rPr>
              <a:t>yanlış önerme için 5 puan kaybetmektedir.</a:t>
            </a:r>
          </a:p>
          <a:p>
            <a:r>
              <a:rPr lang="tr-TR" sz="1100" b="1" dirty="0" smtClean="0">
                <a:solidFill>
                  <a:schemeClr val="tx1">
                    <a:lumMod val="85000"/>
                    <a:lumOff val="15000"/>
                  </a:schemeClr>
                </a:solidFill>
              </a:rPr>
              <a:t>Buna göre aşağıdakilerden hangisi doğrudur?</a:t>
            </a:r>
          </a:p>
        </p:txBody>
      </p:sp>
      <p:sp>
        <p:nvSpPr>
          <p:cNvPr id="51" name="Metin kutusu 50"/>
          <p:cNvSpPr txBox="1"/>
          <p:nvPr/>
        </p:nvSpPr>
        <p:spPr>
          <a:xfrm>
            <a:off x="2598685" y="2088579"/>
            <a:ext cx="1767898" cy="276999"/>
          </a:xfrm>
          <a:prstGeom prst="rect">
            <a:avLst/>
          </a:prstGeom>
          <a:noFill/>
        </p:spPr>
        <p:txBody>
          <a:bodyPr wrap="square" rtlCol="0">
            <a:spAutoFit/>
          </a:bodyPr>
          <a:lstStyle/>
          <a:p>
            <a:r>
              <a:rPr lang="tr-TR" sz="1200" dirty="0" smtClean="0">
                <a:solidFill>
                  <a:schemeClr val="tx1">
                    <a:lumMod val="85000"/>
                    <a:lumOff val="15000"/>
                  </a:schemeClr>
                </a:solidFill>
              </a:rPr>
              <a:t>B</a:t>
            </a:r>
            <a:endParaRPr lang="tr-TR" sz="1200" dirty="0">
              <a:solidFill>
                <a:schemeClr val="tx1">
                  <a:lumMod val="85000"/>
                  <a:lumOff val="15000"/>
                </a:schemeClr>
              </a:solidFill>
            </a:endParaRPr>
          </a:p>
        </p:txBody>
      </p:sp>
      <p:sp>
        <p:nvSpPr>
          <p:cNvPr id="52" name="Metin kutusu 51"/>
          <p:cNvSpPr txBox="1"/>
          <p:nvPr/>
        </p:nvSpPr>
        <p:spPr>
          <a:xfrm>
            <a:off x="1785571" y="2854841"/>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Ok numaraları.</a:t>
            </a:r>
          </a:p>
        </p:txBody>
      </p:sp>
      <p:cxnSp>
        <p:nvCxnSpPr>
          <p:cNvPr id="6" name="Düz Ok Bağlayıcısı 5"/>
          <p:cNvCxnSpPr/>
          <p:nvPr/>
        </p:nvCxnSpPr>
        <p:spPr>
          <a:xfrm>
            <a:off x="2060848" y="2366174"/>
            <a:ext cx="180021" cy="54964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53" name="Dikdörtgen 52"/>
          <p:cNvSpPr/>
          <p:nvPr/>
        </p:nvSpPr>
        <p:spPr>
          <a:xfrm>
            <a:off x="53885" y="8819480"/>
            <a:ext cx="8523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4" name="Metin kutusu 53"/>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1._</a:t>
            </a:r>
            <a:endParaRPr lang="tr-TR" sz="1000" dirty="0">
              <a:solidFill>
                <a:schemeClr val="tx1">
                  <a:lumMod val="85000"/>
                  <a:lumOff val="15000"/>
                </a:schemeClr>
              </a:solidFill>
            </a:endParaRPr>
          </a:p>
        </p:txBody>
      </p:sp>
      <p:cxnSp>
        <p:nvCxnSpPr>
          <p:cNvPr id="60" name="Düz Bağlayıcı 59"/>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5" name="Düz Bağlayıcı 64"/>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8" name="Resim 6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69" name="Metin kutusu 68"/>
          <p:cNvSpPr txBox="1"/>
          <p:nvPr/>
        </p:nvSpPr>
        <p:spPr>
          <a:xfrm>
            <a:off x="440948" y="882861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t>
            </a:r>
            <a:r>
              <a:rPr lang="tr-TR" sz="1000" dirty="0">
                <a:solidFill>
                  <a:schemeClr val="tx1">
                    <a:lumMod val="85000"/>
                    <a:lumOff val="15000"/>
                  </a:schemeClr>
                </a:solidFill>
              </a:rPr>
              <a:t>_</a:t>
            </a:r>
          </a:p>
        </p:txBody>
      </p:sp>
      <p:sp>
        <p:nvSpPr>
          <p:cNvPr id="79" name="Dikdörtgen 78"/>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81"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8152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 name="Serbest Form 2057"/>
          <p:cNvSpPr/>
          <p:nvPr/>
        </p:nvSpPr>
        <p:spPr>
          <a:xfrm>
            <a:off x="4219922" y="1228825"/>
            <a:ext cx="1657350" cy="1758999"/>
          </a:xfrm>
          <a:custGeom>
            <a:avLst/>
            <a:gdLst>
              <a:gd name="connsiteX0" fmla="*/ 0 w 1657350"/>
              <a:gd name="connsiteY0" fmla="*/ 1704977 h 1714502"/>
              <a:gd name="connsiteX1" fmla="*/ 866775 w 1657350"/>
              <a:gd name="connsiteY1" fmla="*/ 2 h 1714502"/>
              <a:gd name="connsiteX2" fmla="*/ 1657350 w 1657350"/>
              <a:gd name="connsiteY2" fmla="*/ 1714502 h 1714502"/>
            </a:gdLst>
            <a:ahLst/>
            <a:cxnLst>
              <a:cxn ang="0">
                <a:pos x="connsiteX0" y="connsiteY0"/>
              </a:cxn>
              <a:cxn ang="0">
                <a:pos x="connsiteX1" y="connsiteY1"/>
              </a:cxn>
              <a:cxn ang="0">
                <a:pos x="connsiteX2" y="connsiteY2"/>
              </a:cxn>
            </a:cxnLst>
            <a:rect l="l" t="t" r="r" b="b"/>
            <a:pathLst>
              <a:path w="1657350" h="1714502">
                <a:moveTo>
                  <a:pt x="0" y="1704977"/>
                </a:moveTo>
                <a:cubicBezTo>
                  <a:pt x="295275" y="851696"/>
                  <a:pt x="590550" y="-1585"/>
                  <a:pt x="866775" y="2"/>
                </a:cubicBezTo>
                <a:cubicBezTo>
                  <a:pt x="1143000" y="1589"/>
                  <a:pt x="1462088" y="1392240"/>
                  <a:pt x="1657350" y="1714502"/>
                </a:cubicBezTo>
              </a:path>
            </a:pathLst>
          </a:cu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13</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129" name="Metin kutusu 128"/>
          <p:cNvSpPr txBox="1"/>
          <p:nvPr/>
        </p:nvSpPr>
        <p:spPr>
          <a:xfrm>
            <a:off x="3708651" y="6046633"/>
            <a:ext cx="3155597" cy="276999"/>
          </a:xfrm>
          <a:prstGeom prst="rect">
            <a:avLst/>
          </a:prstGeom>
          <a:noFill/>
        </p:spPr>
        <p:txBody>
          <a:bodyPr wrap="square" rtlCol="0">
            <a:spAutoFit/>
          </a:bodyPr>
          <a:lstStyle/>
          <a:p>
            <a:endParaRPr lang="tr-TR" sz="1200" dirty="0" smtClean="0">
              <a:solidFill>
                <a:schemeClr val="tx1">
                  <a:lumMod val="85000"/>
                  <a:lumOff val="15000"/>
                </a:schemeClr>
              </a:solidFill>
            </a:endParaRPr>
          </a:p>
        </p:txBody>
      </p:sp>
      <p:sp>
        <p:nvSpPr>
          <p:cNvPr id="133" name="Metin kutusu 132"/>
          <p:cNvSpPr txBox="1"/>
          <p:nvPr/>
        </p:nvSpPr>
        <p:spPr>
          <a:xfrm>
            <a:off x="3793533" y="4439017"/>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a:t>
            </a:r>
            <a:r>
              <a:rPr lang="tr-TR" sz="1200" dirty="0" smtClean="0">
                <a:solidFill>
                  <a:schemeClr val="tx1">
                    <a:lumMod val="85000"/>
                    <a:lumOff val="15000"/>
                  </a:schemeClr>
                </a:solidFill>
              </a:rPr>
              <a:t>12                       B)  28                           C) 32 </a:t>
            </a:r>
          </a:p>
        </p:txBody>
      </p:sp>
      <p:sp>
        <p:nvSpPr>
          <p:cNvPr id="134" name="Metin kutusu 133"/>
          <p:cNvSpPr txBox="1"/>
          <p:nvPr/>
        </p:nvSpPr>
        <p:spPr>
          <a:xfrm>
            <a:off x="4364088" y="4788024"/>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36                    E)  42</a:t>
            </a:r>
          </a:p>
        </p:txBody>
      </p:sp>
      <p:sp>
        <p:nvSpPr>
          <p:cNvPr id="127" name="Dikdörtgen 126"/>
          <p:cNvSpPr/>
          <p:nvPr/>
        </p:nvSpPr>
        <p:spPr>
          <a:xfrm>
            <a:off x="5747452" y="2483768"/>
            <a:ext cx="266420" cy="261610"/>
          </a:xfrm>
          <a:prstGeom prst="rect">
            <a:avLst/>
          </a:prstGeom>
        </p:spPr>
        <p:txBody>
          <a:bodyPr wrap="none">
            <a:spAutoFit/>
          </a:bodyPr>
          <a:lstStyle/>
          <a:p>
            <a:r>
              <a:rPr lang="tr-TR" sz="1100" dirty="0" smtClean="0">
                <a:solidFill>
                  <a:schemeClr val="bg1"/>
                </a:solidFill>
              </a:rPr>
              <a:t>B</a:t>
            </a:r>
          </a:p>
        </p:txBody>
      </p:sp>
      <p:sp>
        <p:nvSpPr>
          <p:cNvPr id="3" name="Dikdörtgen 2"/>
          <p:cNvSpPr/>
          <p:nvPr/>
        </p:nvSpPr>
        <p:spPr>
          <a:xfrm>
            <a:off x="411188" y="1318561"/>
            <a:ext cx="1918938" cy="1728189"/>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2" name="Dikdörtgen 51"/>
          <p:cNvSpPr/>
          <p:nvPr/>
        </p:nvSpPr>
        <p:spPr>
          <a:xfrm>
            <a:off x="379209" y="824755"/>
            <a:ext cx="2618024" cy="430887"/>
          </a:xfrm>
          <a:prstGeom prst="rect">
            <a:avLst/>
          </a:prstGeom>
        </p:spPr>
        <p:txBody>
          <a:bodyPr wrap="none">
            <a:spAutoFit/>
          </a:bodyPr>
          <a:lstStyle/>
          <a:p>
            <a:r>
              <a:rPr lang="tr-TR" sz="1100" dirty="0" smtClean="0">
                <a:solidFill>
                  <a:schemeClr val="tx1">
                    <a:lumMod val="85000"/>
                    <a:lumOff val="15000"/>
                  </a:schemeClr>
                </a:solidFill>
              </a:rPr>
              <a:t>Aşağıda alanı 36m  ABCD karesi verilmiştir.</a:t>
            </a:r>
          </a:p>
          <a:p>
            <a:endParaRPr lang="tr-TR" sz="1100" dirty="0"/>
          </a:p>
        </p:txBody>
      </p:sp>
      <p:sp>
        <p:nvSpPr>
          <p:cNvPr id="53" name="Dikdörtgen 52"/>
          <p:cNvSpPr/>
          <p:nvPr/>
        </p:nvSpPr>
        <p:spPr>
          <a:xfrm>
            <a:off x="1038483" y="1315671"/>
            <a:ext cx="1285774" cy="453772"/>
          </a:xfrm>
          <a:prstGeom prst="rect">
            <a:avLst/>
          </a:prstGeom>
          <a:solidFill>
            <a:srgbClr val="FFCC0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54" name="Dikdörtgen 53"/>
          <p:cNvSpPr/>
          <p:nvPr/>
        </p:nvSpPr>
        <p:spPr>
          <a:xfrm rot="16200000">
            <a:off x="-138882" y="1863516"/>
            <a:ext cx="1733304" cy="633164"/>
          </a:xfrm>
          <a:prstGeom prst="rect">
            <a:avLst/>
          </a:prstGeom>
          <a:solidFill>
            <a:srgbClr val="00B050"/>
          </a:solid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tr-TR"/>
          </a:p>
        </p:txBody>
      </p:sp>
      <p:sp>
        <p:nvSpPr>
          <p:cNvPr id="56" name="Dikdörtgen 55"/>
          <p:cNvSpPr/>
          <p:nvPr/>
        </p:nvSpPr>
        <p:spPr>
          <a:xfrm>
            <a:off x="1392838" y="782002"/>
            <a:ext cx="235962" cy="215444"/>
          </a:xfrm>
          <a:prstGeom prst="rect">
            <a:avLst/>
          </a:prstGeom>
        </p:spPr>
        <p:txBody>
          <a:bodyPr wrap="none">
            <a:spAutoFit/>
          </a:bodyPr>
          <a:lstStyle/>
          <a:p>
            <a:r>
              <a:rPr lang="tr-TR" sz="800" dirty="0" smtClean="0">
                <a:solidFill>
                  <a:schemeClr val="tx1">
                    <a:lumMod val="85000"/>
                    <a:lumOff val="15000"/>
                  </a:schemeClr>
                </a:solidFill>
              </a:rPr>
              <a:t>2</a:t>
            </a:r>
            <a:endParaRPr lang="tr-TR" sz="800" dirty="0"/>
          </a:p>
        </p:txBody>
      </p:sp>
      <p:sp>
        <p:nvSpPr>
          <p:cNvPr id="57" name="Dikdörtgen 56"/>
          <p:cNvSpPr/>
          <p:nvPr/>
        </p:nvSpPr>
        <p:spPr>
          <a:xfrm>
            <a:off x="188640" y="1115616"/>
            <a:ext cx="266420" cy="261610"/>
          </a:xfrm>
          <a:prstGeom prst="rect">
            <a:avLst/>
          </a:prstGeom>
        </p:spPr>
        <p:txBody>
          <a:bodyPr wrap="none">
            <a:spAutoFit/>
          </a:bodyPr>
          <a:lstStyle/>
          <a:p>
            <a:r>
              <a:rPr lang="tr-TR" sz="1100" dirty="0" smtClean="0">
                <a:solidFill>
                  <a:schemeClr val="tx1">
                    <a:lumMod val="85000"/>
                    <a:lumOff val="15000"/>
                  </a:schemeClr>
                </a:solidFill>
              </a:rPr>
              <a:t>A</a:t>
            </a:r>
            <a:endParaRPr lang="tr-TR" sz="1100" dirty="0"/>
          </a:p>
        </p:txBody>
      </p:sp>
      <p:sp>
        <p:nvSpPr>
          <p:cNvPr id="58" name="Dikdörtgen 57"/>
          <p:cNvSpPr/>
          <p:nvPr/>
        </p:nvSpPr>
        <p:spPr>
          <a:xfrm>
            <a:off x="2268286" y="1115616"/>
            <a:ext cx="266420" cy="261610"/>
          </a:xfrm>
          <a:prstGeom prst="rect">
            <a:avLst/>
          </a:prstGeom>
        </p:spPr>
        <p:txBody>
          <a:bodyPr wrap="none">
            <a:spAutoFit/>
          </a:bodyPr>
          <a:lstStyle/>
          <a:p>
            <a:r>
              <a:rPr lang="tr-TR" sz="1100" dirty="0" smtClean="0">
                <a:solidFill>
                  <a:schemeClr val="tx1">
                    <a:lumMod val="85000"/>
                    <a:lumOff val="15000"/>
                  </a:schemeClr>
                </a:solidFill>
              </a:rPr>
              <a:t>B</a:t>
            </a:r>
            <a:endParaRPr lang="tr-TR" sz="1100" dirty="0"/>
          </a:p>
        </p:txBody>
      </p:sp>
      <p:sp>
        <p:nvSpPr>
          <p:cNvPr id="59" name="Dikdörtgen 58"/>
          <p:cNvSpPr/>
          <p:nvPr/>
        </p:nvSpPr>
        <p:spPr>
          <a:xfrm>
            <a:off x="2276872" y="2896151"/>
            <a:ext cx="266420" cy="261610"/>
          </a:xfrm>
          <a:prstGeom prst="rect">
            <a:avLst/>
          </a:prstGeom>
        </p:spPr>
        <p:txBody>
          <a:bodyPr wrap="none">
            <a:spAutoFit/>
          </a:bodyPr>
          <a:lstStyle/>
          <a:p>
            <a:r>
              <a:rPr lang="tr-TR" sz="1100" dirty="0" smtClean="0">
                <a:solidFill>
                  <a:schemeClr val="tx1">
                    <a:lumMod val="85000"/>
                    <a:lumOff val="15000"/>
                  </a:schemeClr>
                </a:solidFill>
              </a:rPr>
              <a:t>C</a:t>
            </a:r>
            <a:endParaRPr lang="tr-TR" sz="1100" dirty="0"/>
          </a:p>
        </p:txBody>
      </p:sp>
      <p:sp>
        <p:nvSpPr>
          <p:cNvPr id="60" name="Dikdörtgen 59"/>
          <p:cNvSpPr/>
          <p:nvPr/>
        </p:nvSpPr>
        <p:spPr>
          <a:xfrm>
            <a:off x="188643" y="2948156"/>
            <a:ext cx="271228" cy="261610"/>
          </a:xfrm>
          <a:prstGeom prst="rect">
            <a:avLst/>
          </a:prstGeom>
        </p:spPr>
        <p:txBody>
          <a:bodyPr wrap="none">
            <a:spAutoFit/>
          </a:bodyPr>
          <a:lstStyle/>
          <a:p>
            <a:r>
              <a:rPr lang="tr-TR" sz="1100" dirty="0" smtClean="0">
                <a:solidFill>
                  <a:schemeClr val="tx1">
                    <a:lumMod val="85000"/>
                    <a:lumOff val="15000"/>
                  </a:schemeClr>
                </a:solidFill>
              </a:rPr>
              <a:t>D</a:t>
            </a:r>
            <a:endParaRPr lang="tr-TR" sz="1100" dirty="0"/>
          </a:p>
        </p:txBody>
      </p:sp>
      <p:sp>
        <p:nvSpPr>
          <p:cNvPr id="63" name="Dikdörtgen 62"/>
          <p:cNvSpPr/>
          <p:nvPr/>
        </p:nvSpPr>
        <p:spPr>
          <a:xfrm>
            <a:off x="911142" y="1115616"/>
            <a:ext cx="258404" cy="261610"/>
          </a:xfrm>
          <a:prstGeom prst="rect">
            <a:avLst/>
          </a:prstGeom>
        </p:spPr>
        <p:txBody>
          <a:bodyPr wrap="none">
            <a:spAutoFit/>
          </a:bodyPr>
          <a:lstStyle/>
          <a:p>
            <a:r>
              <a:rPr lang="tr-TR" sz="1100" dirty="0" smtClean="0">
                <a:solidFill>
                  <a:schemeClr val="tx1">
                    <a:lumMod val="85000"/>
                    <a:lumOff val="15000"/>
                  </a:schemeClr>
                </a:solidFill>
              </a:rPr>
              <a:t>K</a:t>
            </a:r>
            <a:endParaRPr lang="tr-TR" sz="1100" dirty="0"/>
          </a:p>
        </p:txBody>
      </p:sp>
      <p:sp>
        <p:nvSpPr>
          <p:cNvPr id="64" name="Dikdörtgen 63"/>
          <p:cNvSpPr/>
          <p:nvPr/>
        </p:nvSpPr>
        <p:spPr>
          <a:xfrm>
            <a:off x="2279507" y="1638638"/>
            <a:ext cx="243978" cy="261610"/>
          </a:xfrm>
          <a:prstGeom prst="rect">
            <a:avLst/>
          </a:prstGeom>
        </p:spPr>
        <p:txBody>
          <a:bodyPr wrap="none">
            <a:spAutoFit/>
          </a:bodyPr>
          <a:lstStyle/>
          <a:p>
            <a:r>
              <a:rPr lang="tr-TR" sz="1100" dirty="0" smtClean="0">
                <a:solidFill>
                  <a:schemeClr val="tx1">
                    <a:lumMod val="85000"/>
                    <a:lumOff val="15000"/>
                  </a:schemeClr>
                </a:solidFill>
              </a:rPr>
              <a:t>L</a:t>
            </a:r>
            <a:endParaRPr lang="tr-TR" sz="1100" dirty="0"/>
          </a:p>
        </p:txBody>
      </p:sp>
      <p:sp>
        <p:nvSpPr>
          <p:cNvPr id="65" name="Dikdörtgen 64"/>
          <p:cNvSpPr/>
          <p:nvPr/>
        </p:nvSpPr>
        <p:spPr>
          <a:xfrm>
            <a:off x="922363" y="2987824"/>
            <a:ext cx="304892" cy="261610"/>
          </a:xfrm>
          <a:prstGeom prst="rect">
            <a:avLst/>
          </a:prstGeom>
        </p:spPr>
        <p:txBody>
          <a:bodyPr wrap="none">
            <a:spAutoFit/>
          </a:bodyPr>
          <a:lstStyle/>
          <a:p>
            <a:r>
              <a:rPr lang="tr-TR" sz="1100" dirty="0" smtClean="0">
                <a:solidFill>
                  <a:schemeClr val="tx1">
                    <a:lumMod val="85000"/>
                    <a:lumOff val="15000"/>
                  </a:schemeClr>
                </a:solidFill>
              </a:rPr>
              <a:t>M</a:t>
            </a:r>
            <a:endParaRPr lang="tr-TR" sz="1100" dirty="0"/>
          </a:p>
        </p:txBody>
      </p:sp>
      <p:sp>
        <p:nvSpPr>
          <p:cNvPr id="66" name="Metin kutusu 65"/>
          <p:cNvSpPr txBox="1"/>
          <p:nvPr/>
        </p:nvSpPr>
        <p:spPr>
          <a:xfrm>
            <a:off x="248561" y="4146515"/>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a:t>
            </a:r>
            <a:r>
              <a:rPr lang="tr-TR" sz="1200" dirty="0">
                <a:solidFill>
                  <a:schemeClr val="tx1">
                    <a:lumMod val="85000"/>
                    <a:lumOff val="15000"/>
                  </a:schemeClr>
                </a:solidFill>
              </a:rPr>
              <a:t> 9</a:t>
            </a:r>
            <a:r>
              <a:rPr lang="tr-TR" sz="1200" dirty="0" smtClean="0">
                <a:solidFill>
                  <a:schemeClr val="tx1">
                    <a:lumMod val="85000"/>
                    <a:lumOff val="15000"/>
                  </a:schemeClr>
                </a:solidFill>
              </a:rPr>
              <a:t>                        B)  18                        C) 27</a:t>
            </a:r>
          </a:p>
        </p:txBody>
      </p:sp>
      <p:sp>
        <p:nvSpPr>
          <p:cNvPr id="68" name="Metin kutusu 67"/>
          <p:cNvSpPr txBox="1"/>
          <p:nvPr/>
        </p:nvSpPr>
        <p:spPr>
          <a:xfrm>
            <a:off x="759009" y="4511395"/>
            <a:ext cx="1844721" cy="276999"/>
          </a:xfrm>
          <a:prstGeom prst="rect">
            <a:avLst/>
          </a:prstGeom>
          <a:noFill/>
        </p:spPr>
        <p:txBody>
          <a:bodyPr wrap="square" rtlCol="0">
            <a:spAutoFit/>
          </a:bodyPr>
          <a:lstStyle/>
          <a:p>
            <a:r>
              <a:rPr lang="tr-TR" sz="1200" dirty="0" smtClean="0">
                <a:solidFill>
                  <a:schemeClr val="tx1">
                    <a:lumMod val="85000"/>
                    <a:lumOff val="15000"/>
                  </a:schemeClr>
                </a:solidFill>
              </a:rPr>
              <a:t>D) 36                          E)  48</a:t>
            </a:r>
          </a:p>
        </p:txBody>
      </p:sp>
      <p:sp>
        <p:nvSpPr>
          <p:cNvPr id="71" name="Dikdörtgen 70"/>
          <p:cNvSpPr/>
          <p:nvPr/>
        </p:nvSpPr>
        <p:spPr>
          <a:xfrm>
            <a:off x="3601728" y="3154487"/>
            <a:ext cx="3362070" cy="1277273"/>
          </a:xfrm>
          <a:prstGeom prst="rect">
            <a:avLst/>
          </a:prstGeom>
        </p:spPr>
        <p:txBody>
          <a:bodyPr wrap="square">
            <a:spAutoFit/>
          </a:bodyPr>
          <a:lstStyle/>
          <a:p>
            <a:r>
              <a:rPr lang="tr-TR" sz="1100" b="1" dirty="0" smtClean="0">
                <a:solidFill>
                  <a:schemeClr val="tx1">
                    <a:lumMod val="85000"/>
                    <a:lumOff val="15000"/>
                  </a:schemeClr>
                </a:solidFill>
              </a:rPr>
              <a:t>Yukarıda f(x) = -x   + 12x</a:t>
            </a:r>
            <a:r>
              <a:rPr lang="tr-TR" sz="1100" b="1" dirty="0" smtClean="0"/>
              <a:t> fonksiyonu ile  modellenmiş</a:t>
            </a:r>
          </a:p>
          <a:p>
            <a:r>
              <a:rPr lang="tr-TR" sz="1100" b="1" dirty="0">
                <a:solidFill>
                  <a:schemeClr val="tx1">
                    <a:lumMod val="85000"/>
                    <a:lumOff val="15000"/>
                  </a:schemeClr>
                </a:solidFill>
              </a:rPr>
              <a:t>p</a:t>
            </a:r>
            <a:r>
              <a:rPr lang="tr-TR" sz="1100" b="1" dirty="0" smtClean="0">
                <a:solidFill>
                  <a:schemeClr val="tx1">
                    <a:lumMod val="85000"/>
                    <a:lumOff val="15000"/>
                  </a:schemeClr>
                </a:solidFill>
              </a:rPr>
              <a:t>arabol analitik düzlemde verilmiştir. Güneş panelinin</a:t>
            </a:r>
          </a:p>
          <a:p>
            <a:r>
              <a:rPr lang="tr-TR" sz="1100" b="1" dirty="0" smtClean="0">
                <a:solidFill>
                  <a:schemeClr val="tx1">
                    <a:lumMod val="85000"/>
                    <a:lumOff val="15000"/>
                  </a:schemeClr>
                </a:solidFill>
              </a:rPr>
              <a:t>aydınlattığı siyah daire bölgenin alanı  16</a:t>
            </a:r>
            <a:r>
              <a:rPr lang="el-GR" sz="1100" b="1" dirty="0" smtClean="0"/>
              <a:t>π</a:t>
            </a:r>
            <a:r>
              <a:rPr lang="tr-TR" sz="1100" b="1" dirty="0" smtClean="0"/>
              <a:t>`</a:t>
            </a:r>
            <a:r>
              <a:rPr lang="tr-TR" sz="1100" b="1" dirty="0" err="1" smtClean="0"/>
              <a:t>dir</a:t>
            </a:r>
            <a:r>
              <a:rPr lang="tr-TR" sz="1100" b="1" dirty="0" smtClean="0"/>
              <a:t>. </a:t>
            </a:r>
          </a:p>
          <a:p>
            <a:r>
              <a:rPr lang="tr-TR" sz="1100" b="1" dirty="0" smtClean="0"/>
              <a:t>P noktası C ve H noktalarının orta noktasıdır. </a:t>
            </a:r>
          </a:p>
          <a:p>
            <a:r>
              <a:rPr lang="tr-TR" sz="1100" b="1" dirty="0" smtClean="0"/>
              <a:t>D tepe noktasının apsisini belirtmektedir. |AC|= 2</a:t>
            </a:r>
          </a:p>
          <a:p>
            <a:r>
              <a:rPr lang="tr-TR" sz="1100" b="1" dirty="0" smtClean="0"/>
              <a:t>birim olmak üzere, P noktasının apsisi m`dir. Buna göre</a:t>
            </a:r>
            <a:r>
              <a:rPr lang="tr-TR" sz="1100" b="1" dirty="0"/>
              <a:t> </a:t>
            </a:r>
            <a:r>
              <a:rPr lang="tr-TR" sz="1100" b="1" dirty="0" smtClean="0"/>
              <a:t>f(m) + m kaçtır?</a:t>
            </a:r>
          </a:p>
        </p:txBody>
      </p:sp>
      <p:cxnSp>
        <p:nvCxnSpPr>
          <p:cNvPr id="20" name="Düz Ok Bağlayıcısı 19"/>
          <p:cNvCxnSpPr/>
          <p:nvPr/>
        </p:nvCxnSpPr>
        <p:spPr>
          <a:xfrm flipV="1">
            <a:off x="3933056" y="827584"/>
            <a:ext cx="0" cy="2104953"/>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76" name="Düz Ok Bağlayıcısı 75"/>
          <p:cNvCxnSpPr/>
          <p:nvPr/>
        </p:nvCxnSpPr>
        <p:spPr>
          <a:xfrm flipV="1">
            <a:off x="3895330" y="2986022"/>
            <a:ext cx="2549622" cy="1802"/>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059" name="Oval 2058"/>
          <p:cNvSpPr/>
          <p:nvPr/>
        </p:nvSpPr>
        <p:spPr>
          <a:xfrm>
            <a:off x="4239876" y="2825899"/>
            <a:ext cx="1595999" cy="159747"/>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96" name="Dikdörtgen 95"/>
          <p:cNvSpPr/>
          <p:nvPr/>
        </p:nvSpPr>
        <p:spPr>
          <a:xfrm>
            <a:off x="3755776" y="611560"/>
            <a:ext cx="248786" cy="261610"/>
          </a:xfrm>
          <a:prstGeom prst="rect">
            <a:avLst/>
          </a:prstGeom>
        </p:spPr>
        <p:txBody>
          <a:bodyPr wrap="none">
            <a:spAutoFit/>
          </a:bodyPr>
          <a:lstStyle/>
          <a:p>
            <a:r>
              <a:rPr lang="tr-TR" sz="1100" dirty="0" smtClean="0">
                <a:solidFill>
                  <a:schemeClr val="tx1">
                    <a:lumMod val="85000"/>
                    <a:lumOff val="15000"/>
                  </a:schemeClr>
                </a:solidFill>
              </a:rPr>
              <a:t>y</a:t>
            </a:r>
            <a:endParaRPr lang="tr-TR" sz="1100" dirty="0"/>
          </a:p>
        </p:txBody>
      </p:sp>
      <p:sp>
        <p:nvSpPr>
          <p:cNvPr id="97" name="Dikdörtgen 96"/>
          <p:cNvSpPr/>
          <p:nvPr/>
        </p:nvSpPr>
        <p:spPr>
          <a:xfrm>
            <a:off x="6453336" y="2857019"/>
            <a:ext cx="253596" cy="261610"/>
          </a:xfrm>
          <a:prstGeom prst="rect">
            <a:avLst/>
          </a:prstGeom>
        </p:spPr>
        <p:txBody>
          <a:bodyPr wrap="none">
            <a:spAutoFit/>
          </a:bodyPr>
          <a:lstStyle/>
          <a:p>
            <a:r>
              <a:rPr lang="tr-TR" sz="1100" dirty="0" smtClean="0">
                <a:solidFill>
                  <a:schemeClr val="tx1">
                    <a:lumMod val="85000"/>
                    <a:lumOff val="15000"/>
                  </a:schemeClr>
                </a:solidFill>
              </a:rPr>
              <a:t>x</a:t>
            </a:r>
            <a:endParaRPr lang="tr-TR" sz="1100" dirty="0"/>
          </a:p>
        </p:txBody>
      </p:sp>
      <p:cxnSp>
        <p:nvCxnSpPr>
          <p:cNvPr id="2061" name="Düz Bağlayıcı 2060"/>
          <p:cNvCxnSpPr/>
          <p:nvPr/>
        </p:nvCxnSpPr>
        <p:spPr>
          <a:xfrm flipH="1">
            <a:off x="5038214" y="1246421"/>
            <a:ext cx="6100" cy="1671287"/>
          </a:xfrm>
          <a:prstGeom prst="line">
            <a:avLst/>
          </a:prstGeom>
        </p:spPr>
        <p:style>
          <a:lnRef idx="1">
            <a:schemeClr val="accent1"/>
          </a:lnRef>
          <a:fillRef idx="0">
            <a:schemeClr val="accent1"/>
          </a:fillRef>
          <a:effectRef idx="0">
            <a:schemeClr val="accent1"/>
          </a:effectRef>
          <a:fontRef idx="minor">
            <a:schemeClr val="tx1"/>
          </a:fontRef>
        </p:style>
      </p:cxnSp>
      <p:cxnSp>
        <p:nvCxnSpPr>
          <p:cNvPr id="2063" name="Düz Bağlayıcı 2062"/>
          <p:cNvCxnSpPr/>
          <p:nvPr/>
        </p:nvCxnSpPr>
        <p:spPr>
          <a:xfrm>
            <a:off x="4250597" y="2915816"/>
            <a:ext cx="1595999" cy="0"/>
          </a:xfrm>
          <a:prstGeom prst="line">
            <a:avLst/>
          </a:prstGeom>
        </p:spPr>
        <p:style>
          <a:lnRef idx="1">
            <a:schemeClr val="accent1"/>
          </a:lnRef>
          <a:fillRef idx="0">
            <a:schemeClr val="accent1"/>
          </a:fillRef>
          <a:effectRef idx="0">
            <a:schemeClr val="accent1"/>
          </a:effectRef>
          <a:fontRef idx="minor">
            <a:schemeClr val="tx1"/>
          </a:fontRef>
        </p:style>
      </p:cxnSp>
      <p:sp>
        <p:nvSpPr>
          <p:cNvPr id="104" name="Dikdörtgen 103"/>
          <p:cNvSpPr/>
          <p:nvPr/>
        </p:nvSpPr>
        <p:spPr>
          <a:xfrm>
            <a:off x="5756367" y="2699792"/>
            <a:ext cx="266420" cy="261610"/>
          </a:xfrm>
          <a:prstGeom prst="rect">
            <a:avLst/>
          </a:prstGeom>
        </p:spPr>
        <p:txBody>
          <a:bodyPr wrap="none">
            <a:spAutoFit/>
          </a:bodyPr>
          <a:lstStyle/>
          <a:p>
            <a:r>
              <a:rPr lang="tr-TR" sz="1100" dirty="0" smtClean="0">
                <a:solidFill>
                  <a:schemeClr val="tx1">
                    <a:lumMod val="85000"/>
                    <a:lumOff val="15000"/>
                  </a:schemeClr>
                </a:solidFill>
              </a:rPr>
              <a:t>B</a:t>
            </a:r>
          </a:p>
        </p:txBody>
      </p:sp>
      <p:sp>
        <p:nvSpPr>
          <p:cNvPr id="106" name="Dikdörtgen 105"/>
          <p:cNvSpPr/>
          <p:nvPr/>
        </p:nvSpPr>
        <p:spPr>
          <a:xfrm>
            <a:off x="6836199" y="961715"/>
            <a:ext cx="255198" cy="230832"/>
          </a:xfrm>
          <a:prstGeom prst="rect">
            <a:avLst/>
          </a:prstGeom>
        </p:spPr>
        <p:txBody>
          <a:bodyPr wrap="none">
            <a:spAutoFit/>
          </a:bodyPr>
          <a:lstStyle/>
          <a:p>
            <a:r>
              <a:rPr lang="tr-TR" sz="900" dirty="0" smtClean="0">
                <a:solidFill>
                  <a:schemeClr val="tx1">
                    <a:lumMod val="85000"/>
                    <a:lumOff val="15000"/>
                  </a:schemeClr>
                </a:solidFill>
              </a:rPr>
              <a:t>D</a:t>
            </a:r>
          </a:p>
        </p:txBody>
      </p:sp>
      <p:sp>
        <p:nvSpPr>
          <p:cNvPr id="107" name="Serbest Form 106"/>
          <p:cNvSpPr/>
          <p:nvPr/>
        </p:nvSpPr>
        <p:spPr>
          <a:xfrm>
            <a:off x="3923339" y="961715"/>
            <a:ext cx="2343150" cy="1981200"/>
          </a:xfrm>
          <a:custGeom>
            <a:avLst/>
            <a:gdLst>
              <a:gd name="connsiteX0" fmla="*/ 0 w 2343150"/>
              <a:gd name="connsiteY0" fmla="*/ 1981200 h 1981200"/>
              <a:gd name="connsiteX1" fmla="*/ 1076325 w 2343150"/>
              <a:gd name="connsiteY1" fmla="*/ 0 h 1981200"/>
              <a:gd name="connsiteX2" fmla="*/ 2343150 w 2343150"/>
              <a:gd name="connsiteY2" fmla="*/ 1981200 h 1981200"/>
            </a:gdLst>
            <a:ahLst/>
            <a:cxnLst>
              <a:cxn ang="0">
                <a:pos x="connsiteX0" y="connsiteY0"/>
              </a:cxn>
              <a:cxn ang="0">
                <a:pos x="connsiteX1" y="connsiteY1"/>
              </a:cxn>
              <a:cxn ang="0">
                <a:pos x="connsiteX2" y="connsiteY2"/>
              </a:cxn>
            </a:cxnLst>
            <a:rect l="l" t="t" r="r" b="b"/>
            <a:pathLst>
              <a:path w="2343150" h="1981200">
                <a:moveTo>
                  <a:pt x="0" y="1981200"/>
                </a:moveTo>
                <a:cubicBezTo>
                  <a:pt x="342900" y="990600"/>
                  <a:pt x="685800" y="0"/>
                  <a:pt x="1076325" y="0"/>
                </a:cubicBezTo>
                <a:cubicBezTo>
                  <a:pt x="1466850" y="0"/>
                  <a:pt x="2257425" y="1638300"/>
                  <a:pt x="2343150" y="1981200"/>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103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9966" y="1064598"/>
            <a:ext cx="771525" cy="18092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86448" y="1105865"/>
            <a:ext cx="415675" cy="21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8848" y="1470961"/>
            <a:ext cx="415675" cy="21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8083" y="1620476"/>
            <a:ext cx="415675" cy="21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6685" y="1879224"/>
            <a:ext cx="415675" cy="21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7"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18532" y="1751356"/>
            <a:ext cx="415675" cy="21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048" name="Serbest Form 2047"/>
          <p:cNvSpPr/>
          <p:nvPr/>
        </p:nvSpPr>
        <p:spPr>
          <a:xfrm>
            <a:off x="3923339" y="971600"/>
            <a:ext cx="2343150" cy="1981200"/>
          </a:xfrm>
          <a:custGeom>
            <a:avLst/>
            <a:gdLst>
              <a:gd name="connsiteX0" fmla="*/ 0 w 2343150"/>
              <a:gd name="connsiteY0" fmla="*/ 1981200 h 1981200"/>
              <a:gd name="connsiteX1" fmla="*/ 1076325 w 2343150"/>
              <a:gd name="connsiteY1" fmla="*/ 0 h 1981200"/>
              <a:gd name="connsiteX2" fmla="*/ 2343150 w 2343150"/>
              <a:gd name="connsiteY2" fmla="*/ 1981200 h 1981200"/>
            </a:gdLst>
            <a:ahLst/>
            <a:cxnLst>
              <a:cxn ang="0">
                <a:pos x="connsiteX0" y="connsiteY0"/>
              </a:cxn>
              <a:cxn ang="0">
                <a:pos x="connsiteX1" y="connsiteY1"/>
              </a:cxn>
              <a:cxn ang="0">
                <a:pos x="connsiteX2" y="connsiteY2"/>
              </a:cxn>
            </a:cxnLst>
            <a:rect l="l" t="t" r="r" b="b"/>
            <a:pathLst>
              <a:path w="2343150" h="1981200">
                <a:moveTo>
                  <a:pt x="0" y="1981200"/>
                </a:moveTo>
                <a:cubicBezTo>
                  <a:pt x="342900" y="990600"/>
                  <a:pt x="685800" y="0"/>
                  <a:pt x="1076325" y="0"/>
                </a:cubicBezTo>
                <a:cubicBezTo>
                  <a:pt x="1466850" y="0"/>
                  <a:pt x="2257425" y="1638300"/>
                  <a:pt x="2343150" y="1981200"/>
                </a:cubicBezTo>
              </a:path>
            </a:pathLst>
          </a:cu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Dikdörtgen 68"/>
          <p:cNvSpPr/>
          <p:nvPr/>
        </p:nvSpPr>
        <p:spPr>
          <a:xfrm>
            <a:off x="1044352" y="2222157"/>
            <a:ext cx="1279905" cy="323165"/>
          </a:xfrm>
          <a:prstGeom prst="rect">
            <a:avLst/>
          </a:prstGeom>
        </p:spPr>
        <p:txBody>
          <a:bodyPr wrap="square">
            <a:spAutoFit/>
          </a:bodyPr>
          <a:lstStyle/>
          <a:p>
            <a:pPr algn="ctr"/>
            <a:r>
              <a:rPr lang="tr-TR" sz="1500" b="1" dirty="0" smtClean="0">
                <a:solidFill>
                  <a:schemeClr val="bg1"/>
                </a:solidFill>
              </a:rPr>
              <a:t>Havuz</a:t>
            </a:r>
            <a:endParaRPr lang="tr-TR" sz="1500" b="1" dirty="0">
              <a:solidFill>
                <a:schemeClr val="bg1"/>
              </a:solidFill>
            </a:endParaRPr>
          </a:p>
        </p:txBody>
      </p:sp>
      <p:sp>
        <p:nvSpPr>
          <p:cNvPr id="74" name="Dikdörtgen 73"/>
          <p:cNvSpPr/>
          <p:nvPr/>
        </p:nvSpPr>
        <p:spPr>
          <a:xfrm>
            <a:off x="1044353" y="1380974"/>
            <a:ext cx="1285774" cy="323165"/>
          </a:xfrm>
          <a:prstGeom prst="rect">
            <a:avLst/>
          </a:prstGeom>
        </p:spPr>
        <p:txBody>
          <a:bodyPr wrap="square">
            <a:spAutoFit/>
          </a:bodyPr>
          <a:lstStyle/>
          <a:p>
            <a:pPr algn="ctr"/>
            <a:r>
              <a:rPr lang="tr-TR" sz="1500" b="1" dirty="0" smtClean="0">
                <a:solidFill>
                  <a:schemeClr val="bg1"/>
                </a:solidFill>
              </a:rPr>
              <a:t>Park</a:t>
            </a:r>
            <a:endParaRPr lang="tr-TR" sz="1500" b="1" dirty="0">
              <a:solidFill>
                <a:schemeClr val="bg1"/>
              </a:solidFill>
            </a:endParaRPr>
          </a:p>
        </p:txBody>
      </p:sp>
      <p:sp>
        <p:nvSpPr>
          <p:cNvPr id="75" name="Dikdörtgen 74"/>
          <p:cNvSpPr/>
          <p:nvPr/>
        </p:nvSpPr>
        <p:spPr>
          <a:xfrm rot="16200000">
            <a:off x="-121054" y="2016548"/>
            <a:ext cx="1697649" cy="323165"/>
          </a:xfrm>
          <a:prstGeom prst="rect">
            <a:avLst/>
          </a:prstGeom>
        </p:spPr>
        <p:txBody>
          <a:bodyPr wrap="square">
            <a:spAutoFit/>
          </a:bodyPr>
          <a:lstStyle/>
          <a:p>
            <a:pPr algn="ctr"/>
            <a:r>
              <a:rPr lang="tr-TR" sz="1500" b="1" dirty="0" smtClean="0">
                <a:solidFill>
                  <a:schemeClr val="bg1"/>
                </a:solidFill>
              </a:rPr>
              <a:t>Tarla</a:t>
            </a:r>
            <a:endParaRPr lang="tr-TR" sz="1500" b="1" dirty="0">
              <a:solidFill>
                <a:schemeClr val="bg1"/>
              </a:solidFill>
            </a:endParaRPr>
          </a:p>
        </p:txBody>
      </p:sp>
      <p:sp>
        <p:nvSpPr>
          <p:cNvPr id="77" name="Dikdörtgen 76"/>
          <p:cNvSpPr/>
          <p:nvPr/>
        </p:nvSpPr>
        <p:spPr>
          <a:xfrm>
            <a:off x="224525" y="3249434"/>
            <a:ext cx="3279877" cy="938719"/>
          </a:xfrm>
          <a:prstGeom prst="rect">
            <a:avLst/>
          </a:prstGeom>
        </p:spPr>
        <p:txBody>
          <a:bodyPr wrap="square">
            <a:spAutoFit/>
          </a:bodyPr>
          <a:lstStyle/>
          <a:p>
            <a:r>
              <a:rPr lang="tr-TR" sz="1100" b="1" dirty="0" smtClean="0">
                <a:solidFill>
                  <a:schemeClr val="tx1">
                    <a:lumMod val="85000"/>
                    <a:lumOff val="15000"/>
                  </a:schemeClr>
                </a:solidFill>
              </a:rPr>
              <a:t>Görsel temsilidir, uzunluklar ile şeklin doğrudan bağlantısı yoktur. Dikdörtgen şeklinde ayrılmış</a:t>
            </a:r>
            <a:r>
              <a:rPr lang="tr-TR" sz="1100" b="1" dirty="0">
                <a:solidFill>
                  <a:schemeClr val="tx1">
                    <a:lumMod val="85000"/>
                    <a:lumOff val="15000"/>
                  </a:schemeClr>
                </a:solidFill>
              </a:rPr>
              <a:t> </a:t>
            </a:r>
            <a:r>
              <a:rPr lang="tr-TR" sz="1100" b="1" dirty="0" smtClean="0">
                <a:solidFill>
                  <a:schemeClr val="tx1">
                    <a:lumMod val="85000"/>
                    <a:lumOff val="15000"/>
                  </a:schemeClr>
                </a:solidFill>
              </a:rPr>
              <a:t>bölgelere üstünde yazan birim inşa edilecektir. </a:t>
            </a:r>
          </a:p>
          <a:p>
            <a:r>
              <a:rPr lang="tr-TR" sz="1100" b="1" dirty="0" smtClean="0">
                <a:solidFill>
                  <a:schemeClr val="tx1">
                    <a:lumMod val="85000"/>
                    <a:lumOff val="15000"/>
                  </a:schemeClr>
                </a:solidFill>
              </a:rPr>
              <a:t>3|AK| =  |LC| olduğuna göre Havuz için ayrılan en fazla kaç </a:t>
            </a:r>
            <a:r>
              <a:rPr lang="tr-TR" sz="1100" b="1" noProof="1" smtClean="0">
                <a:solidFill>
                  <a:schemeClr val="tx1">
                    <a:lumMod val="85000"/>
                    <a:lumOff val="15000"/>
                  </a:schemeClr>
                </a:solidFill>
              </a:rPr>
              <a:t>birimkare</a:t>
            </a:r>
            <a:r>
              <a:rPr lang="tr-TR" sz="1100" b="1" dirty="0" smtClean="0">
                <a:solidFill>
                  <a:schemeClr val="tx1">
                    <a:lumMod val="85000"/>
                    <a:lumOff val="15000"/>
                  </a:schemeClr>
                </a:solidFill>
              </a:rPr>
              <a:t> olabilir?</a:t>
            </a:r>
          </a:p>
        </p:txBody>
      </p:sp>
      <p:sp>
        <p:nvSpPr>
          <p:cNvPr id="78" name="Dikdörtgen 77"/>
          <p:cNvSpPr/>
          <p:nvPr/>
        </p:nvSpPr>
        <p:spPr>
          <a:xfrm>
            <a:off x="3793533" y="2946742"/>
            <a:ext cx="251992" cy="230832"/>
          </a:xfrm>
          <a:prstGeom prst="rect">
            <a:avLst/>
          </a:prstGeom>
        </p:spPr>
        <p:txBody>
          <a:bodyPr wrap="none">
            <a:spAutoFit/>
          </a:bodyPr>
          <a:lstStyle/>
          <a:p>
            <a:r>
              <a:rPr lang="tr-TR" sz="900" dirty="0" smtClean="0">
                <a:solidFill>
                  <a:schemeClr val="tx1">
                    <a:lumMod val="85000"/>
                    <a:lumOff val="15000"/>
                  </a:schemeClr>
                </a:solidFill>
              </a:rPr>
              <a:t>A</a:t>
            </a:r>
          </a:p>
        </p:txBody>
      </p:sp>
      <p:sp>
        <p:nvSpPr>
          <p:cNvPr id="79" name="Dikdörtgen 78"/>
          <p:cNvSpPr/>
          <p:nvPr/>
        </p:nvSpPr>
        <p:spPr>
          <a:xfrm>
            <a:off x="6155958" y="2915816"/>
            <a:ext cx="251992" cy="230832"/>
          </a:xfrm>
          <a:prstGeom prst="rect">
            <a:avLst/>
          </a:prstGeom>
        </p:spPr>
        <p:txBody>
          <a:bodyPr wrap="none">
            <a:spAutoFit/>
          </a:bodyPr>
          <a:lstStyle/>
          <a:p>
            <a:r>
              <a:rPr lang="tr-TR" sz="900" dirty="0" smtClean="0">
                <a:solidFill>
                  <a:schemeClr val="tx1">
                    <a:lumMod val="85000"/>
                    <a:lumOff val="15000"/>
                  </a:schemeClr>
                </a:solidFill>
              </a:rPr>
              <a:t>B</a:t>
            </a:r>
          </a:p>
        </p:txBody>
      </p:sp>
      <p:pic>
        <p:nvPicPr>
          <p:cNvPr id="1026" name="Picture 2" descr="C:\Users\Pc\AppData\Local\Microsoft\Windows\Temporary Internet Files\Content.IE5\Y5CZX9ZW\1302871371[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37144" y="806062"/>
            <a:ext cx="977646" cy="597586"/>
          </a:xfrm>
          <a:prstGeom prst="rect">
            <a:avLst/>
          </a:prstGeom>
          <a:ln>
            <a:noFill/>
          </a:ln>
          <a:effectLst>
            <a:softEdge rad="112500"/>
          </a:effectLst>
          <a:scene3d>
            <a:camera prst="orthographicFront"/>
            <a:lightRig rig="threePt" dir="t"/>
          </a:scene3d>
          <a:sp3d>
            <a:bevelT prst="angle"/>
            <a:bevelB w="139700" h="139700" prst="divot"/>
          </a:sp3d>
          <a:extLst>
            <a:ext uri="{909E8E84-426E-40DD-AFC4-6F175D3DCCD1}">
              <a14:hiddenFill xmlns:a14="http://schemas.microsoft.com/office/drawing/2010/main">
                <a:solidFill>
                  <a:srgbClr val="FFFFFF"/>
                </a:solidFill>
              </a14:hiddenFill>
            </a:ext>
          </a:extLst>
        </p:spPr>
      </p:pic>
      <p:sp>
        <p:nvSpPr>
          <p:cNvPr id="105" name="Dikdörtgen 104"/>
          <p:cNvSpPr/>
          <p:nvPr/>
        </p:nvSpPr>
        <p:spPr>
          <a:xfrm>
            <a:off x="4149080" y="2963545"/>
            <a:ext cx="255198" cy="230832"/>
          </a:xfrm>
          <a:prstGeom prst="rect">
            <a:avLst/>
          </a:prstGeom>
        </p:spPr>
        <p:txBody>
          <a:bodyPr wrap="none">
            <a:spAutoFit/>
          </a:bodyPr>
          <a:lstStyle/>
          <a:p>
            <a:r>
              <a:rPr lang="tr-TR" sz="900" dirty="0" smtClean="0">
                <a:solidFill>
                  <a:schemeClr val="tx1">
                    <a:lumMod val="85000"/>
                    <a:lumOff val="15000"/>
                  </a:schemeClr>
                </a:solidFill>
              </a:rPr>
              <a:t>C</a:t>
            </a:r>
          </a:p>
        </p:txBody>
      </p:sp>
      <p:sp>
        <p:nvSpPr>
          <p:cNvPr id="85" name="Dikdörtgen 84"/>
          <p:cNvSpPr/>
          <p:nvPr/>
        </p:nvSpPr>
        <p:spPr>
          <a:xfrm>
            <a:off x="4603155" y="3141712"/>
            <a:ext cx="235962" cy="215444"/>
          </a:xfrm>
          <a:prstGeom prst="rect">
            <a:avLst/>
          </a:prstGeom>
        </p:spPr>
        <p:txBody>
          <a:bodyPr wrap="none">
            <a:spAutoFit/>
          </a:bodyPr>
          <a:lstStyle/>
          <a:p>
            <a:r>
              <a:rPr lang="tr-TR" sz="800" dirty="0" smtClean="0">
                <a:solidFill>
                  <a:schemeClr val="tx1">
                    <a:lumMod val="85000"/>
                    <a:lumOff val="15000"/>
                  </a:schemeClr>
                </a:solidFill>
              </a:rPr>
              <a:t>2</a:t>
            </a:r>
            <a:endParaRPr lang="tr-TR" sz="800" dirty="0"/>
          </a:p>
        </p:txBody>
      </p:sp>
      <p:sp>
        <p:nvSpPr>
          <p:cNvPr id="86" name="Dikdörtgen 85"/>
          <p:cNvSpPr/>
          <p:nvPr/>
        </p:nvSpPr>
        <p:spPr>
          <a:xfrm>
            <a:off x="4898368" y="2957156"/>
            <a:ext cx="255198" cy="230832"/>
          </a:xfrm>
          <a:prstGeom prst="rect">
            <a:avLst/>
          </a:prstGeom>
        </p:spPr>
        <p:txBody>
          <a:bodyPr wrap="none">
            <a:spAutoFit/>
          </a:bodyPr>
          <a:lstStyle/>
          <a:p>
            <a:r>
              <a:rPr lang="tr-TR" sz="900" dirty="0" smtClean="0">
                <a:solidFill>
                  <a:schemeClr val="tx1">
                    <a:lumMod val="85000"/>
                    <a:lumOff val="15000"/>
                  </a:schemeClr>
                </a:solidFill>
              </a:rPr>
              <a:t>D</a:t>
            </a:r>
          </a:p>
        </p:txBody>
      </p:sp>
      <p:sp>
        <p:nvSpPr>
          <p:cNvPr id="87" name="Dikdörtgen 86"/>
          <p:cNvSpPr/>
          <p:nvPr/>
        </p:nvSpPr>
        <p:spPr>
          <a:xfrm>
            <a:off x="4481166" y="2963746"/>
            <a:ext cx="243978" cy="230832"/>
          </a:xfrm>
          <a:prstGeom prst="rect">
            <a:avLst/>
          </a:prstGeom>
        </p:spPr>
        <p:txBody>
          <a:bodyPr wrap="none">
            <a:spAutoFit/>
          </a:bodyPr>
          <a:lstStyle/>
          <a:p>
            <a:r>
              <a:rPr lang="tr-TR" sz="900" dirty="0" smtClean="0">
                <a:solidFill>
                  <a:schemeClr val="tx1">
                    <a:lumMod val="85000"/>
                    <a:lumOff val="15000"/>
                  </a:schemeClr>
                </a:solidFill>
              </a:rPr>
              <a:t>P</a:t>
            </a:r>
          </a:p>
        </p:txBody>
      </p:sp>
      <p:pic>
        <p:nvPicPr>
          <p:cNvPr id="92" name="Resim 9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93" name="Dikdörtgen 92"/>
          <p:cNvSpPr/>
          <p:nvPr/>
        </p:nvSpPr>
        <p:spPr>
          <a:xfrm>
            <a:off x="53885" y="8819480"/>
            <a:ext cx="8523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4" name="Metin kutusu 93"/>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3._</a:t>
            </a:r>
            <a:endParaRPr lang="tr-TR" sz="1000" dirty="0">
              <a:solidFill>
                <a:schemeClr val="tx1">
                  <a:lumMod val="85000"/>
                  <a:lumOff val="15000"/>
                </a:schemeClr>
              </a:solidFill>
            </a:endParaRPr>
          </a:p>
        </p:txBody>
      </p:sp>
      <p:cxnSp>
        <p:nvCxnSpPr>
          <p:cNvPr id="95" name="Düz Bağlayıcı 94"/>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98" name="Düz Bağlayıcı 97"/>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9" name="Metin kutusu 98"/>
          <p:cNvSpPr txBox="1"/>
          <p:nvPr/>
        </p:nvSpPr>
        <p:spPr>
          <a:xfrm>
            <a:off x="440948" y="882861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a:t>
            </a:r>
            <a:r>
              <a:rPr lang="tr-TR" sz="1000" dirty="0">
                <a:solidFill>
                  <a:schemeClr val="tx1">
                    <a:lumMod val="85000"/>
                    <a:lumOff val="15000"/>
                  </a:schemeClr>
                </a:solidFill>
              </a:rPr>
              <a:t>_</a:t>
            </a:r>
          </a:p>
        </p:txBody>
      </p:sp>
      <p:sp>
        <p:nvSpPr>
          <p:cNvPr id="100" name="Dikdörtgen 9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1"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227325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3" name="Serbest Form 2072"/>
          <p:cNvSpPr/>
          <p:nvPr/>
        </p:nvSpPr>
        <p:spPr>
          <a:xfrm>
            <a:off x="4362450" y="952474"/>
            <a:ext cx="1981200" cy="800126"/>
          </a:xfrm>
          <a:custGeom>
            <a:avLst/>
            <a:gdLst>
              <a:gd name="connsiteX0" fmla="*/ 0 w 1981200"/>
              <a:gd name="connsiteY0" fmla="*/ 800126 h 800126"/>
              <a:gd name="connsiteX1" fmla="*/ 1171575 w 1981200"/>
              <a:gd name="connsiteY1" fmla="*/ 26 h 800126"/>
              <a:gd name="connsiteX2" fmla="*/ 1981200 w 1981200"/>
              <a:gd name="connsiteY2" fmla="*/ 771551 h 800126"/>
            </a:gdLst>
            <a:ahLst/>
            <a:cxnLst>
              <a:cxn ang="0">
                <a:pos x="connsiteX0" y="connsiteY0"/>
              </a:cxn>
              <a:cxn ang="0">
                <a:pos x="connsiteX1" y="connsiteY1"/>
              </a:cxn>
              <a:cxn ang="0">
                <a:pos x="connsiteX2" y="connsiteY2"/>
              </a:cxn>
            </a:cxnLst>
            <a:rect l="l" t="t" r="r" b="b"/>
            <a:pathLst>
              <a:path w="1981200" h="800126">
                <a:moveTo>
                  <a:pt x="0" y="800126"/>
                </a:moveTo>
                <a:cubicBezTo>
                  <a:pt x="420687" y="402457"/>
                  <a:pt x="841375" y="4788"/>
                  <a:pt x="1171575" y="26"/>
                </a:cubicBezTo>
                <a:cubicBezTo>
                  <a:pt x="1501775" y="-4737"/>
                  <a:pt x="1844675" y="639788"/>
                  <a:pt x="1981200" y="771551"/>
                </a:cubicBezTo>
              </a:path>
            </a:pathLst>
          </a:cu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10" name="Serbest Form 9"/>
          <p:cNvSpPr/>
          <p:nvPr/>
        </p:nvSpPr>
        <p:spPr>
          <a:xfrm>
            <a:off x="82045" y="1547664"/>
            <a:ext cx="2554867" cy="1190642"/>
          </a:xfrm>
          <a:custGeom>
            <a:avLst/>
            <a:gdLst>
              <a:gd name="connsiteX0" fmla="*/ 0 w 1247775"/>
              <a:gd name="connsiteY0" fmla="*/ 1190642 h 1190642"/>
              <a:gd name="connsiteX1" fmla="*/ 571500 w 1247775"/>
              <a:gd name="connsiteY1" fmla="*/ 17 h 1190642"/>
              <a:gd name="connsiteX2" fmla="*/ 1247775 w 1247775"/>
              <a:gd name="connsiteY2" fmla="*/ 1162067 h 1190642"/>
            </a:gdLst>
            <a:ahLst/>
            <a:cxnLst>
              <a:cxn ang="0">
                <a:pos x="connsiteX0" y="connsiteY0"/>
              </a:cxn>
              <a:cxn ang="0">
                <a:pos x="connsiteX1" y="connsiteY1"/>
              </a:cxn>
              <a:cxn ang="0">
                <a:pos x="connsiteX2" y="connsiteY2"/>
              </a:cxn>
            </a:cxnLst>
            <a:rect l="l" t="t" r="r" b="b"/>
            <a:pathLst>
              <a:path w="1247775" h="1190642">
                <a:moveTo>
                  <a:pt x="0" y="1190642"/>
                </a:moveTo>
                <a:cubicBezTo>
                  <a:pt x="181769" y="597710"/>
                  <a:pt x="363538" y="4779"/>
                  <a:pt x="571500" y="17"/>
                </a:cubicBezTo>
                <a:cubicBezTo>
                  <a:pt x="779462" y="-4745"/>
                  <a:pt x="1109663" y="955692"/>
                  <a:pt x="1247775" y="1162067"/>
                </a:cubicBezTo>
              </a:path>
            </a:pathLst>
          </a:cu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7" name="Metin kutusu 26"/>
          <p:cNvSpPr txBox="1"/>
          <p:nvPr/>
        </p:nvSpPr>
        <p:spPr>
          <a:xfrm>
            <a:off x="0"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a:solidFill>
                  <a:srgbClr val="C00000"/>
                </a:solidFill>
                <a:latin typeface="Arial Narrow" panose="020B0606020202030204" pitchFamily="34" charset="0"/>
              </a:rPr>
              <a:t>6</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14</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63938"/>
            <a:ext cx="1214263" cy="246221"/>
          </a:xfrm>
          <a:prstGeom prst="rect">
            <a:avLst/>
          </a:prstGeom>
          <a:noFill/>
        </p:spPr>
        <p:txBody>
          <a:bodyPr wrap="square" rtlCol="0">
            <a:spAutoFit/>
          </a:bodyPr>
          <a:lstStyle/>
          <a:p>
            <a:r>
              <a:rPr lang="tr-TR" sz="1000" dirty="0">
                <a:solidFill>
                  <a:srgbClr val="00B050"/>
                </a:solidFill>
              </a:rPr>
              <a:t>Ahmetcelen.com.tr</a:t>
            </a:r>
          </a:p>
        </p:txBody>
      </p:sp>
      <p:sp>
        <p:nvSpPr>
          <p:cNvPr id="133" name="Metin kutusu 132"/>
          <p:cNvSpPr txBox="1"/>
          <p:nvPr/>
        </p:nvSpPr>
        <p:spPr>
          <a:xfrm>
            <a:off x="3652608" y="5770002"/>
            <a:ext cx="3155597" cy="1754326"/>
          </a:xfrm>
          <a:prstGeom prst="rect">
            <a:avLst/>
          </a:prstGeom>
          <a:noFill/>
        </p:spPr>
        <p:txBody>
          <a:bodyPr wrap="square" rtlCol="0">
            <a:spAutoFit/>
          </a:bodyPr>
          <a:lstStyle/>
          <a:p>
            <a:pPr marL="228600" indent="-228600">
              <a:buAutoNum type="alphaUcParenR"/>
            </a:pPr>
            <a:r>
              <a:rPr lang="tr-TR" sz="1200" dirty="0">
                <a:solidFill>
                  <a:schemeClr val="tx1">
                    <a:lumMod val="85000"/>
                    <a:lumOff val="15000"/>
                  </a:schemeClr>
                </a:solidFill>
              </a:rPr>
              <a:t> </a:t>
            </a:r>
            <a:r>
              <a:rPr lang="tr-TR" sz="1200" dirty="0" smtClean="0">
                <a:solidFill>
                  <a:schemeClr val="tx1">
                    <a:lumMod val="85000"/>
                    <a:lumOff val="15000"/>
                  </a:schemeClr>
                </a:solidFill>
              </a:rPr>
              <a:t>  0                          232                       68</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200                         232                       72</a:t>
            </a:r>
            <a:endParaRPr lang="tr-TR" sz="1200" dirty="0">
              <a:solidFill>
                <a:schemeClr val="tx1">
                  <a:lumMod val="85000"/>
                  <a:lumOff val="15000"/>
                </a:schemeClr>
              </a:solidFill>
            </a:endParaRPr>
          </a:p>
          <a:p>
            <a:pPr marL="228600" indent="-228600">
              <a:buAutoNum type="alphaUcParenR"/>
            </a:pPr>
            <a:endParaRPr lang="tr-TR" sz="1200" dirty="0" smtClean="0">
              <a:solidFill>
                <a:schemeClr val="tx1">
                  <a:lumMod val="85000"/>
                  <a:lumOff val="15000"/>
                </a:schemeClr>
              </a:solidFill>
            </a:endParaRPr>
          </a:p>
          <a:p>
            <a:pPr marL="228600" indent="-228600">
              <a:buFontTx/>
              <a:buAutoNum type="alphaUcParenR"/>
            </a:pPr>
            <a:r>
              <a:rPr lang="tr-TR" sz="1200" dirty="0" smtClean="0">
                <a:solidFill>
                  <a:schemeClr val="tx1">
                    <a:lumMod val="85000"/>
                    <a:lumOff val="15000"/>
                  </a:schemeClr>
                </a:solidFill>
              </a:rPr>
              <a:t>200                         212,5                    68</a:t>
            </a:r>
          </a:p>
          <a:p>
            <a:pPr marL="228600" indent="-228600">
              <a:buFontTx/>
              <a:buAutoNum type="alphaUcParenR"/>
            </a:pPr>
            <a:endParaRPr lang="tr-TR" sz="1200" dirty="0">
              <a:solidFill>
                <a:schemeClr val="tx1">
                  <a:lumMod val="85000"/>
                  <a:lumOff val="15000"/>
                </a:schemeClr>
              </a:solidFill>
            </a:endParaRPr>
          </a:p>
          <a:p>
            <a:pPr marL="228600" indent="-228600">
              <a:buFontTx/>
              <a:buAutoNum type="alphaUcParenR"/>
            </a:pPr>
            <a:r>
              <a:rPr lang="tr-TR" sz="1200" dirty="0" smtClean="0">
                <a:solidFill>
                  <a:schemeClr val="tx1">
                    <a:lumMod val="85000"/>
                    <a:lumOff val="15000"/>
                  </a:schemeClr>
                </a:solidFill>
              </a:rPr>
              <a:t>     0                        321,5                    72</a:t>
            </a:r>
            <a:endParaRPr lang="tr-TR" sz="1200" dirty="0">
              <a:solidFill>
                <a:schemeClr val="tx1">
                  <a:lumMod val="85000"/>
                  <a:lumOff val="15000"/>
                </a:schemeClr>
              </a:solidFill>
            </a:endParaRPr>
          </a:p>
          <a:p>
            <a:pPr marL="228600" indent="-228600">
              <a:buFontTx/>
              <a:buAutoNum type="alphaUcParenR"/>
            </a:pPr>
            <a:endParaRPr lang="tr-TR" sz="1200" dirty="0" smtClean="0">
              <a:solidFill>
                <a:schemeClr val="tx1">
                  <a:lumMod val="85000"/>
                  <a:lumOff val="15000"/>
                </a:schemeClr>
              </a:solidFill>
            </a:endParaRPr>
          </a:p>
          <a:p>
            <a:pPr marL="228600" indent="-228600">
              <a:buFontTx/>
              <a:buAutoNum type="alphaUcParenR"/>
            </a:pPr>
            <a:r>
              <a:rPr lang="tr-TR" sz="1200" dirty="0" smtClean="0">
                <a:solidFill>
                  <a:schemeClr val="tx1">
                    <a:lumMod val="85000"/>
                    <a:lumOff val="15000"/>
                  </a:schemeClr>
                </a:solidFill>
              </a:rPr>
              <a:t>200                          232                      68</a:t>
            </a:r>
            <a:endParaRPr lang="tr-TR" sz="1200" dirty="0">
              <a:solidFill>
                <a:schemeClr val="tx1">
                  <a:lumMod val="85000"/>
                  <a:lumOff val="15000"/>
                </a:schemeClr>
              </a:solidFill>
            </a:endParaRPr>
          </a:p>
        </p:txBody>
      </p:sp>
      <p:sp>
        <p:nvSpPr>
          <p:cNvPr id="136" name="Dikdörtgen 135"/>
          <p:cNvSpPr/>
          <p:nvPr/>
        </p:nvSpPr>
        <p:spPr>
          <a:xfrm>
            <a:off x="4537144" y="2896151"/>
            <a:ext cx="260008" cy="261610"/>
          </a:xfrm>
          <a:prstGeom prst="rect">
            <a:avLst/>
          </a:prstGeom>
        </p:spPr>
        <p:txBody>
          <a:bodyPr wrap="none">
            <a:spAutoFit/>
          </a:bodyPr>
          <a:lstStyle/>
          <a:p>
            <a:r>
              <a:rPr lang="tr-TR" sz="1100" dirty="0" smtClean="0">
                <a:solidFill>
                  <a:schemeClr val="bg1"/>
                </a:solidFill>
              </a:rPr>
              <a:t>C</a:t>
            </a:r>
          </a:p>
        </p:txBody>
      </p:sp>
      <p:pic>
        <p:nvPicPr>
          <p:cNvPr id="6" name="Picture 5" descr="C:\Users\Pc\AppData\Local\Microsoft\Windows\Temporary Internet Files\Content.IE5\GE4A7UL2\building-2106571_960_720[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1400" y="1187624"/>
            <a:ext cx="1448837" cy="2232248"/>
          </a:xfrm>
          <a:prstGeom prst="rect">
            <a:avLst/>
          </a:prstGeom>
          <a:noFill/>
          <a:extLst>
            <a:ext uri="{909E8E84-426E-40DD-AFC4-6F175D3DCCD1}">
              <a14:hiddenFill xmlns:a14="http://schemas.microsoft.com/office/drawing/2010/main">
                <a:solidFill>
                  <a:srgbClr val="FFFFFF"/>
                </a:solidFill>
              </a14:hiddenFill>
            </a:ext>
          </a:extLst>
        </p:spPr>
      </p:pic>
      <p:pic>
        <p:nvPicPr>
          <p:cNvPr id="2055"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33731" y="2231740"/>
            <a:ext cx="1116123" cy="6120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3" name="Serbest Form 72"/>
          <p:cNvSpPr/>
          <p:nvPr/>
        </p:nvSpPr>
        <p:spPr>
          <a:xfrm>
            <a:off x="54658" y="1547664"/>
            <a:ext cx="2654262" cy="1224136"/>
          </a:xfrm>
          <a:custGeom>
            <a:avLst/>
            <a:gdLst>
              <a:gd name="connsiteX0" fmla="*/ 0 w 1247775"/>
              <a:gd name="connsiteY0" fmla="*/ 1190642 h 1190642"/>
              <a:gd name="connsiteX1" fmla="*/ 571500 w 1247775"/>
              <a:gd name="connsiteY1" fmla="*/ 17 h 1190642"/>
              <a:gd name="connsiteX2" fmla="*/ 1247775 w 1247775"/>
              <a:gd name="connsiteY2" fmla="*/ 1162067 h 1190642"/>
            </a:gdLst>
            <a:ahLst/>
            <a:cxnLst>
              <a:cxn ang="0">
                <a:pos x="connsiteX0" y="connsiteY0"/>
              </a:cxn>
              <a:cxn ang="0">
                <a:pos x="connsiteX1" y="connsiteY1"/>
              </a:cxn>
              <a:cxn ang="0">
                <a:pos x="connsiteX2" y="connsiteY2"/>
              </a:cxn>
            </a:cxnLst>
            <a:rect l="l" t="t" r="r" b="b"/>
            <a:pathLst>
              <a:path w="1247775" h="1190642">
                <a:moveTo>
                  <a:pt x="0" y="1190642"/>
                </a:moveTo>
                <a:cubicBezTo>
                  <a:pt x="181769" y="597710"/>
                  <a:pt x="363538" y="4779"/>
                  <a:pt x="571500" y="17"/>
                </a:cubicBezTo>
                <a:cubicBezTo>
                  <a:pt x="779462" y="-4745"/>
                  <a:pt x="1109663" y="955692"/>
                  <a:pt x="1247775" y="1162067"/>
                </a:cubicBezTo>
              </a:path>
            </a:pathLst>
          </a:custGeom>
          <a:ln>
            <a:prstDash val="sysDash"/>
          </a:ln>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pic>
        <p:nvPicPr>
          <p:cNvPr id="2057" name="Picture 9" descr="C:\Users\Pc\AppData\Local\Microsoft\Windows\Temporary Internet Files\Content.IE5\GRK5B6ZB\fire-305341_960_720[1].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4664" y="1252687"/>
            <a:ext cx="442251" cy="589953"/>
          </a:xfrm>
          <a:prstGeom prst="rect">
            <a:avLst/>
          </a:prstGeom>
          <a:noFill/>
          <a:extLst>
            <a:ext uri="{909E8E84-426E-40DD-AFC4-6F175D3DCCD1}">
              <a14:hiddenFill xmlns:a14="http://schemas.microsoft.com/office/drawing/2010/main">
                <a:solidFill>
                  <a:srgbClr val="FFFFFF"/>
                </a:solidFill>
              </a14:hiddenFill>
            </a:ext>
          </a:extLst>
        </p:spPr>
      </p:pic>
      <p:pic>
        <p:nvPicPr>
          <p:cNvPr id="74" name="Resim 7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1404136">
            <a:off x="1265319" y="655332"/>
            <a:ext cx="895769" cy="837544"/>
          </a:xfrm>
          <a:prstGeom prst="rect">
            <a:avLst/>
          </a:prstGeom>
          <a:ln>
            <a:noFill/>
          </a:ln>
          <a:effectLst>
            <a:outerShdw blurRad="190500" algn="tl" rotWithShape="0">
              <a:srgbClr val="000000">
                <a:alpha val="70000"/>
              </a:srgbClr>
            </a:outerShdw>
          </a:effectLst>
        </p:spPr>
      </p:pic>
      <p:pic>
        <p:nvPicPr>
          <p:cNvPr id="14" name="Resim 1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rot="3273880">
            <a:off x="495570" y="755576"/>
            <a:ext cx="895769" cy="837544"/>
          </a:xfrm>
          <a:prstGeom prst="rect">
            <a:avLst/>
          </a:prstGeom>
        </p:spPr>
      </p:pic>
      <p:sp>
        <p:nvSpPr>
          <p:cNvPr id="75" name="Metin kutusu 74"/>
          <p:cNvSpPr txBox="1"/>
          <p:nvPr/>
        </p:nvSpPr>
        <p:spPr>
          <a:xfrm>
            <a:off x="82046" y="2911375"/>
            <a:ext cx="3365632" cy="1938992"/>
          </a:xfrm>
          <a:prstGeom prst="rect">
            <a:avLst/>
          </a:prstGeom>
          <a:noFill/>
        </p:spPr>
        <p:txBody>
          <a:bodyPr wrap="square" rtlCol="0">
            <a:spAutoFit/>
          </a:bodyPr>
          <a:lstStyle/>
          <a:p>
            <a:r>
              <a:rPr lang="tr-TR" sz="1000" dirty="0" smtClean="0">
                <a:solidFill>
                  <a:schemeClr val="tx1">
                    <a:lumMod val="85000"/>
                    <a:lumOff val="15000"/>
                  </a:schemeClr>
                </a:solidFill>
              </a:rPr>
              <a:t>Yanan bir binaya itfaiye ekipleri müdahale etmişlerdir. Binada 1 kız bulunmaktadır, itfaiyenin merdiveni uzunluğu kızı kurtarmak yetersizdir.  İtfaiyenin suyu en fazla 100 desimetre yükseğe çıkabilmektedir. Görevliler suyun parabolik bir rotasyon izlediğini görmüşler ve binanın başlangıcı A noktasına kadar ilerleyebileceklerini düşünmüşlerdir. </a:t>
            </a:r>
          </a:p>
          <a:p>
            <a:r>
              <a:rPr lang="tr-TR" sz="1000" dirty="0" smtClean="0">
                <a:solidFill>
                  <a:schemeClr val="tx1">
                    <a:lumMod val="85000"/>
                    <a:lumOff val="15000"/>
                  </a:schemeClr>
                </a:solidFill>
              </a:rPr>
              <a:t>|AB| = 20 dm , |MB| =  5 dm , |AD| =  7 dm uzunluğuna sahiptirler.  Takviyeye gelecek olan araç merdiven uzunluğu dışında hiçbir farkı bulunmamaktadır. Gelecek ve şimdiki itfaiye aracının boyu 75 dm . Merdiven boyunu İstasyona bildirip yeni araç gelmiş ve kurtarma operasyonuna başlamıştır. Aşağıda kırmızı doğru ile merdiven gösterilmiştir.</a:t>
            </a:r>
          </a:p>
        </p:txBody>
      </p:sp>
      <p:sp>
        <p:nvSpPr>
          <p:cNvPr id="77" name="Metin kutusu 76"/>
          <p:cNvSpPr txBox="1"/>
          <p:nvPr/>
        </p:nvSpPr>
        <p:spPr>
          <a:xfrm>
            <a:off x="-58738" y="2710825"/>
            <a:ext cx="3379725" cy="276999"/>
          </a:xfrm>
          <a:prstGeom prst="rect">
            <a:avLst/>
          </a:prstGeom>
          <a:noFill/>
        </p:spPr>
        <p:txBody>
          <a:bodyPr wrap="square" rtlCol="0">
            <a:spAutoFit/>
          </a:bodyPr>
          <a:lstStyle/>
          <a:p>
            <a:r>
              <a:rPr lang="tr-TR" sz="1200" dirty="0" smtClean="0">
                <a:solidFill>
                  <a:schemeClr val="tx1">
                    <a:lumMod val="85000"/>
                    <a:lumOff val="15000"/>
                  </a:schemeClr>
                </a:solidFill>
              </a:rPr>
              <a:t>A</a:t>
            </a:r>
          </a:p>
        </p:txBody>
      </p:sp>
      <p:sp>
        <p:nvSpPr>
          <p:cNvPr id="78" name="Metin kutusu 77"/>
          <p:cNvSpPr txBox="1"/>
          <p:nvPr/>
        </p:nvSpPr>
        <p:spPr>
          <a:xfrm>
            <a:off x="2497547" y="2705308"/>
            <a:ext cx="3379725" cy="276999"/>
          </a:xfrm>
          <a:prstGeom prst="rect">
            <a:avLst/>
          </a:prstGeom>
          <a:noFill/>
        </p:spPr>
        <p:txBody>
          <a:bodyPr wrap="square" rtlCol="0">
            <a:spAutoFit/>
          </a:bodyPr>
          <a:lstStyle/>
          <a:p>
            <a:r>
              <a:rPr lang="tr-TR" sz="1200" dirty="0" smtClean="0">
                <a:solidFill>
                  <a:schemeClr val="tx1">
                    <a:lumMod val="85000"/>
                    <a:lumOff val="15000"/>
                  </a:schemeClr>
                </a:solidFill>
              </a:rPr>
              <a:t>B</a:t>
            </a:r>
          </a:p>
        </p:txBody>
      </p:sp>
      <p:cxnSp>
        <p:nvCxnSpPr>
          <p:cNvPr id="19" name="Düz Bağlayıcı 18"/>
          <p:cNvCxnSpPr/>
          <p:nvPr/>
        </p:nvCxnSpPr>
        <p:spPr>
          <a:xfrm>
            <a:off x="2204864" y="2303748"/>
            <a:ext cx="0" cy="468052"/>
          </a:xfrm>
          <a:prstGeom prst="line">
            <a:avLst/>
          </a:prstGeom>
          <a:ln>
            <a:prstDash val="sysDot"/>
          </a:ln>
        </p:spPr>
        <p:style>
          <a:lnRef idx="2">
            <a:schemeClr val="dk1"/>
          </a:lnRef>
          <a:fillRef idx="0">
            <a:schemeClr val="dk1"/>
          </a:fillRef>
          <a:effectRef idx="1">
            <a:schemeClr val="dk1"/>
          </a:effectRef>
          <a:fontRef idx="minor">
            <a:schemeClr val="tx1"/>
          </a:fontRef>
        </p:style>
      </p:cxnSp>
      <p:sp>
        <p:nvSpPr>
          <p:cNvPr id="82" name="Metin kutusu 81"/>
          <p:cNvSpPr txBox="1"/>
          <p:nvPr/>
        </p:nvSpPr>
        <p:spPr>
          <a:xfrm>
            <a:off x="2036376" y="2710825"/>
            <a:ext cx="3379725" cy="276999"/>
          </a:xfrm>
          <a:prstGeom prst="rect">
            <a:avLst/>
          </a:prstGeom>
          <a:noFill/>
        </p:spPr>
        <p:txBody>
          <a:bodyPr wrap="square" rtlCol="0">
            <a:spAutoFit/>
          </a:bodyPr>
          <a:lstStyle/>
          <a:p>
            <a:r>
              <a:rPr lang="tr-TR" sz="1200" dirty="0" smtClean="0">
                <a:solidFill>
                  <a:schemeClr val="tx1">
                    <a:lumMod val="85000"/>
                    <a:lumOff val="15000"/>
                  </a:schemeClr>
                </a:solidFill>
              </a:rPr>
              <a:t>M</a:t>
            </a:r>
          </a:p>
        </p:txBody>
      </p:sp>
      <p:sp>
        <p:nvSpPr>
          <p:cNvPr id="84" name="Metin kutusu 83"/>
          <p:cNvSpPr txBox="1"/>
          <p:nvPr/>
        </p:nvSpPr>
        <p:spPr>
          <a:xfrm>
            <a:off x="904992" y="2710825"/>
            <a:ext cx="3379725" cy="276999"/>
          </a:xfrm>
          <a:prstGeom prst="rect">
            <a:avLst/>
          </a:prstGeom>
          <a:noFill/>
        </p:spPr>
        <p:txBody>
          <a:bodyPr wrap="square" rtlCol="0">
            <a:spAutoFit/>
          </a:bodyPr>
          <a:lstStyle/>
          <a:p>
            <a:r>
              <a:rPr lang="tr-TR" sz="1200" dirty="0" smtClean="0">
                <a:solidFill>
                  <a:schemeClr val="tx1">
                    <a:lumMod val="85000"/>
                    <a:lumOff val="15000"/>
                  </a:schemeClr>
                </a:solidFill>
              </a:rPr>
              <a:t>D</a:t>
            </a:r>
          </a:p>
        </p:txBody>
      </p:sp>
      <p:pic>
        <p:nvPicPr>
          <p:cNvPr id="2062" name="Picture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0084" y="4932040"/>
            <a:ext cx="2837365" cy="1419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0" name="Düz Bağlayıcı 29"/>
          <p:cNvCxnSpPr/>
          <p:nvPr/>
        </p:nvCxnSpPr>
        <p:spPr>
          <a:xfrm flipH="1" flipV="1">
            <a:off x="943454" y="5436096"/>
            <a:ext cx="1045386" cy="50405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9" name="Düz Bağlayıcı 98"/>
          <p:cNvCxnSpPr/>
          <p:nvPr/>
        </p:nvCxnSpPr>
        <p:spPr>
          <a:xfrm flipH="1">
            <a:off x="980728" y="5940152"/>
            <a:ext cx="1153003" cy="0"/>
          </a:xfrm>
          <a:prstGeom prst="line">
            <a:avLst/>
          </a:prstGeom>
        </p:spPr>
        <p:style>
          <a:lnRef idx="1">
            <a:schemeClr val="accent1"/>
          </a:lnRef>
          <a:fillRef idx="0">
            <a:schemeClr val="accent1"/>
          </a:fillRef>
          <a:effectRef idx="0">
            <a:schemeClr val="accent1"/>
          </a:effectRef>
          <a:fontRef idx="minor">
            <a:schemeClr val="tx1"/>
          </a:fontRef>
        </p:style>
      </p:cxnSp>
      <p:sp>
        <p:nvSpPr>
          <p:cNvPr id="102" name="Metin kutusu 101"/>
          <p:cNvSpPr txBox="1"/>
          <p:nvPr/>
        </p:nvSpPr>
        <p:spPr>
          <a:xfrm>
            <a:off x="44624" y="6352038"/>
            <a:ext cx="3403054" cy="400110"/>
          </a:xfrm>
          <a:prstGeom prst="rect">
            <a:avLst/>
          </a:prstGeom>
          <a:noFill/>
        </p:spPr>
        <p:txBody>
          <a:bodyPr wrap="square" rtlCol="0">
            <a:spAutoFit/>
          </a:bodyPr>
          <a:lstStyle/>
          <a:p>
            <a:r>
              <a:rPr lang="tr-TR" sz="1000" b="1" dirty="0" smtClean="0">
                <a:solidFill>
                  <a:schemeClr val="tx1">
                    <a:lumMod val="85000"/>
                    <a:lumOff val="15000"/>
                  </a:schemeClr>
                </a:solidFill>
              </a:rPr>
              <a:t>K ve L noktaları doğrusal ve görevlilerin düşündüklerine göre desimetre cinsinden takviye için gelen merdiven boyu kaçtır?</a:t>
            </a:r>
          </a:p>
        </p:txBody>
      </p:sp>
      <p:sp>
        <p:nvSpPr>
          <p:cNvPr id="107" name="Metin kutusu 106"/>
          <p:cNvSpPr txBox="1"/>
          <p:nvPr/>
        </p:nvSpPr>
        <p:spPr>
          <a:xfrm>
            <a:off x="120084" y="6876256"/>
            <a:ext cx="3155597" cy="276999"/>
          </a:xfrm>
          <a:prstGeom prst="rect">
            <a:avLst/>
          </a:prstGeom>
          <a:noFill/>
        </p:spPr>
        <p:txBody>
          <a:bodyPr wrap="square" rtlCol="0">
            <a:spAutoFit/>
          </a:bodyPr>
          <a:lstStyle/>
          <a:p>
            <a:r>
              <a:rPr lang="tr-TR" sz="1200" dirty="0" smtClean="0">
                <a:solidFill>
                  <a:schemeClr val="tx1">
                    <a:lumMod val="85000"/>
                    <a:lumOff val="15000"/>
                  </a:schemeClr>
                </a:solidFill>
              </a:rPr>
              <a:t>A)                             B)                                    C) 14</a:t>
            </a:r>
          </a:p>
        </p:txBody>
      </p:sp>
      <p:sp>
        <p:nvSpPr>
          <p:cNvPr id="108" name="Metin kutusu 107"/>
          <p:cNvSpPr txBox="1"/>
          <p:nvPr/>
        </p:nvSpPr>
        <p:spPr>
          <a:xfrm>
            <a:off x="913371" y="5925344"/>
            <a:ext cx="2336483" cy="230832"/>
          </a:xfrm>
          <a:prstGeom prst="rect">
            <a:avLst/>
          </a:prstGeom>
          <a:noFill/>
        </p:spPr>
        <p:txBody>
          <a:bodyPr wrap="square" rtlCol="0">
            <a:spAutoFit/>
          </a:bodyPr>
          <a:lstStyle/>
          <a:p>
            <a:r>
              <a:rPr lang="tr-TR" sz="900" dirty="0">
                <a:solidFill>
                  <a:schemeClr val="tx1">
                    <a:lumMod val="85000"/>
                    <a:lumOff val="15000"/>
                  </a:schemeClr>
                </a:solidFill>
              </a:rPr>
              <a:t>K</a:t>
            </a:r>
            <a:endParaRPr lang="tr-TR" sz="900" dirty="0" smtClean="0">
              <a:solidFill>
                <a:schemeClr val="tx1">
                  <a:lumMod val="85000"/>
                  <a:lumOff val="15000"/>
                </a:schemeClr>
              </a:solidFill>
            </a:endParaRPr>
          </a:p>
        </p:txBody>
      </p:sp>
      <p:sp>
        <p:nvSpPr>
          <p:cNvPr id="110" name="Metin kutusu 109"/>
          <p:cNvSpPr txBox="1"/>
          <p:nvPr/>
        </p:nvSpPr>
        <p:spPr>
          <a:xfrm>
            <a:off x="1757815" y="5925344"/>
            <a:ext cx="1067633" cy="230832"/>
          </a:xfrm>
          <a:prstGeom prst="rect">
            <a:avLst/>
          </a:prstGeom>
          <a:noFill/>
        </p:spPr>
        <p:txBody>
          <a:bodyPr wrap="square" rtlCol="0">
            <a:spAutoFit/>
          </a:bodyPr>
          <a:lstStyle/>
          <a:p>
            <a:r>
              <a:rPr lang="tr-TR" sz="900" dirty="0">
                <a:solidFill>
                  <a:schemeClr val="tx1">
                    <a:lumMod val="85000"/>
                    <a:lumOff val="15000"/>
                  </a:schemeClr>
                </a:solidFill>
              </a:rPr>
              <a:t>L</a:t>
            </a:r>
            <a:endParaRPr lang="tr-TR" sz="900" dirty="0" smtClean="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2070" name="Dikdörtgen 2069"/>
              <p:cNvSpPr/>
              <p:nvPr/>
            </p:nvSpPr>
            <p:spPr>
              <a:xfrm>
                <a:off x="1462537" y="6867988"/>
                <a:ext cx="490904" cy="296300"/>
              </a:xfrm>
              <a:prstGeom prst="rect">
                <a:avLst/>
              </a:prstGeom>
            </p:spPr>
            <p:txBody>
              <a:bodyPr wrap="none">
                <a:spAutoFit/>
              </a:bodyPr>
              <a:lstStyle/>
              <a:p>
                <a14:m>
                  <m:oMath xmlns:m="http://schemas.openxmlformats.org/officeDocument/2006/math">
                    <m:r>
                      <a:rPr lang="tr-TR" sz="1200" b="0" i="1" smtClean="0">
                        <a:latin typeface="Cambria Math"/>
                      </a:rPr>
                      <m:t>8</m:t>
                    </m:r>
                    <m:rad>
                      <m:radPr>
                        <m:degHide m:val="on"/>
                        <m:ctrlPr>
                          <a:rPr lang="tr-TR" sz="1200" i="1" smtClean="0">
                            <a:latin typeface="Cambria Math"/>
                          </a:rPr>
                        </m:ctrlPr>
                      </m:radPr>
                      <m:deg/>
                      <m:e>
                        <m:r>
                          <a:rPr lang="tr-TR" sz="1200" b="0" i="1" smtClean="0">
                            <a:latin typeface="Cambria Math"/>
                          </a:rPr>
                          <m:t>5</m:t>
                        </m:r>
                      </m:e>
                    </m:rad>
                  </m:oMath>
                </a14:m>
                <a:r>
                  <a:rPr lang="tr-TR" sz="1200" i="1" dirty="0" smtClean="0"/>
                  <a:t> </a:t>
                </a:r>
                <a:endParaRPr lang="tr-TR" sz="1200" dirty="0"/>
              </a:p>
            </p:txBody>
          </p:sp>
        </mc:Choice>
        <mc:Fallback xmlns="">
          <p:sp>
            <p:nvSpPr>
              <p:cNvPr id="2070" name="Dikdörtgen 2069"/>
              <p:cNvSpPr>
                <a:spLocks noRot="1" noChangeAspect="1" noMove="1" noResize="1" noEditPoints="1" noAdjustHandles="1" noChangeArrowheads="1" noChangeShapeType="1" noTextEdit="1"/>
              </p:cNvSpPr>
              <p:nvPr/>
            </p:nvSpPr>
            <p:spPr>
              <a:xfrm>
                <a:off x="1462537" y="6867988"/>
                <a:ext cx="490904" cy="296300"/>
              </a:xfrm>
              <a:prstGeom prst="rect">
                <a:avLst/>
              </a:prstGeom>
              <a:blipFill rotWithShape="1">
                <a:blip r:embed="rId11"/>
                <a:stretch>
                  <a:fillRect/>
                </a:stretch>
              </a:blipFill>
            </p:spPr>
            <p:txBody>
              <a:bodyPr/>
              <a:lstStyle/>
              <a:p>
                <a:r>
                  <a:rPr lang="tr-TR">
                    <a:noFill/>
                  </a:rPr>
                  <a:t> </a:t>
                </a:r>
              </a:p>
            </p:txBody>
          </p:sp>
        </mc:Fallback>
      </mc:AlternateContent>
      <p:sp>
        <p:nvSpPr>
          <p:cNvPr id="113" name="Metin kutusu 112"/>
          <p:cNvSpPr txBox="1"/>
          <p:nvPr/>
        </p:nvSpPr>
        <p:spPr>
          <a:xfrm>
            <a:off x="843093" y="7247329"/>
            <a:ext cx="1982355" cy="276999"/>
          </a:xfrm>
          <a:prstGeom prst="rect">
            <a:avLst/>
          </a:prstGeom>
          <a:noFill/>
        </p:spPr>
        <p:txBody>
          <a:bodyPr wrap="square" rtlCol="0">
            <a:spAutoFit/>
          </a:bodyPr>
          <a:lstStyle/>
          <a:p>
            <a:r>
              <a:rPr lang="tr-TR" sz="1200" dirty="0" smtClean="0">
                <a:solidFill>
                  <a:schemeClr val="tx1">
                    <a:lumMod val="85000"/>
                    <a:lumOff val="15000"/>
                  </a:schemeClr>
                </a:solidFill>
              </a:rPr>
              <a:t>D)     16                        B) 18</a:t>
            </a:r>
          </a:p>
        </p:txBody>
      </p:sp>
      <mc:AlternateContent xmlns:mc="http://schemas.openxmlformats.org/markup-compatibility/2006" xmlns:a14="http://schemas.microsoft.com/office/drawing/2010/main">
        <mc:Choice Requires="a14">
          <p:sp>
            <p:nvSpPr>
              <p:cNvPr id="115" name="Dikdörtgen 114"/>
              <p:cNvSpPr/>
              <p:nvPr/>
            </p:nvSpPr>
            <p:spPr>
              <a:xfrm>
                <a:off x="332656" y="6867988"/>
                <a:ext cx="490904" cy="298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200" b="0" i="1" smtClean="0">
                          <a:latin typeface="Cambria Math"/>
                        </a:rPr>
                        <m:t>8</m:t>
                      </m:r>
                      <m:rad>
                        <m:radPr>
                          <m:degHide m:val="on"/>
                          <m:ctrlPr>
                            <a:rPr lang="tr-TR" sz="1200" i="1" smtClean="0">
                              <a:latin typeface="Cambria Math"/>
                            </a:rPr>
                          </m:ctrlPr>
                        </m:radPr>
                        <m:deg/>
                        <m:e>
                          <m:r>
                            <a:rPr lang="tr-TR" sz="1200" b="0" i="1" smtClean="0">
                              <a:latin typeface="Cambria Math"/>
                            </a:rPr>
                            <m:t>3</m:t>
                          </m:r>
                        </m:e>
                      </m:rad>
                    </m:oMath>
                  </m:oMathPara>
                </a14:m>
                <a:endParaRPr lang="tr-TR" sz="1200" dirty="0"/>
              </a:p>
            </p:txBody>
          </p:sp>
        </mc:Choice>
        <mc:Fallback xmlns="">
          <p:sp>
            <p:nvSpPr>
              <p:cNvPr id="115" name="Dikdörtgen 114"/>
              <p:cNvSpPr>
                <a:spLocks noRot="1" noChangeAspect="1" noMove="1" noResize="1" noEditPoints="1" noAdjustHandles="1" noChangeArrowheads="1" noChangeShapeType="1" noTextEdit="1"/>
              </p:cNvSpPr>
              <p:nvPr/>
            </p:nvSpPr>
            <p:spPr>
              <a:xfrm>
                <a:off x="332656" y="6867988"/>
                <a:ext cx="490904" cy="298736"/>
              </a:xfrm>
              <a:prstGeom prst="rect">
                <a:avLst/>
              </a:prstGeom>
              <a:blipFill rotWithShape="1">
                <a:blip r:embed="rId12"/>
                <a:stretch>
                  <a:fillRect/>
                </a:stretch>
              </a:blipFill>
            </p:spPr>
            <p:txBody>
              <a:bodyPr/>
              <a:lstStyle/>
              <a:p>
                <a:r>
                  <a:rPr lang="tr-TR">
                    <a:noFill/>
                  </a:rPr>
                  <a:t> </a:t>
                </a:r>
              </a:p>
            </p:txBody>
          </p:sp>
        </mc:Fallback>
      </mc:AlternateContent>
      <p:sp>
        <p:nvSpPr>
          <p:cNvPr id="2071" name="Dikdörtgen 2070"/>
          <p:cNvSpPr/>
          <p:nvPr/>
        </p:nvSpPr>
        <p:spPr>
          <a:xfrm>
            <a:off x="3755776" y="1782069"/>
            <a:ext cx="1206706" cy="87104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pic>
        <p:nvPicPr>
          <p:cNvPr id="2072" name="Picture 17"/>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3786937" y="1043613"/>
            <a:ext cx="1148360" cy="79208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7" name="Metin kutusu 116"/>
          <p:cNvSpPr txBox="1"/>
          <p:nvPr/>
        </p:nvSpPr>
        <p:spPr>
          <a:xfrm>
            <a:off x="3647439" y="2653317"/>
            <a:ext cx="3165937" cy="2708434"/>
          </a:xfrm>
          <a:prstGeom prst="rect">
            <a:avLst/>
          </a:prstGeom>
          <a:noFill/>
        </p:spPr>
        <p:txBody>
          <a:bodyPr wrap="square" rtlCol="0">
            <a:spAutoFit/>
          </a:bodyPr>
          <a:lstStyle/>
          <a:p>
            <a:r>
              <a:rPr lang="tr-TR" sz="1000" dirty="0" smtClean="0">
                <a:solidFill>
                  <a:schemeClr val="tx1">
                    <a:lumMod val="85000"/>
                    <a:lumOff val="15000"/>
                  </a:schemeClr>
                </a:solidFill>
              </a:rPr>
              <a:t>Yukarıda eski bir geleneğimiz halinde olan ve hala bazı</a:t>
            </a:r>
          </a:p>
          <a:p>
            <a:r>
              <a:rPr lang="tr-TR" sz="1000" dirty="0">
                <a:solidFill>
                  <a:schemeClr val="tx1">
                    <a:lumMod val="85000"/>
                    <a:lumOff val="15000"/>
                  </a:schemeClr>
                </a:solidFill>
              </a:rPr>
              <a:t>y</a:t>
            </a:r>
            <a:r>
              <a:rPr lang="tr-TR" sz="1000" dirty="0" smtClean="0">
                <a:solidFill>
                  <a:schemeClr val="tx1">
                    <a:lumMod val="85000"/>
                    <a:lumOff val="15000"/>
                  </a:schemeClr>
                </a:solidFill>
              </a:rPr>
              <a:t>erlerde devam etmekte olan iftar topu bulunmaktadır.</a:t>
            </a:r>
          </a:p>
          <a:p>
            <a:r>
              <a:rPr lang="tr-TR" sz="1000" dirty="0" smtClean="0">
                <a:solidFill>
                  <a:schemeClr val="tx1">
                    <a:lumMod val="85000"/>
                    <a:lumOff val="15000"/>
                  </a:schemeClr>
                </a:solidFill>
              </a:rPr>
              <a:t/>
            </a:r>
            <a:br>
              <a:rPr lang="tr-TR" sz="1000" dirty="0" smtClean="0">
                <a:solidFill>
                  <a:schemeClr val="tx1">
                    <a:lumMod val="85000"/>
                    <a:lumOff val="15000"/>
                  </a:schemeClr>
                </a:solidFill>
              </a:rPr>
            </a:br>
            <a:r>
              <a:rPr lang="tr-TR" sz="1000" dirty="0" smtClean="0">
                <a:solidFill>
                  <a:schemeClr val="tx1">
                    <a:lumMod val="85000"/>
                    <a:lumOff val="15000"/>
                  </a:schemeClr>
                </a:solidFill>
              </a:rPr>
              <a:t>Bu topun </a:t>
            </a:r>
            <a:r>
              <a:rPr lang="tr-TR" sz="1000" u="sng" dirty="0" smtClean="0">
                <a:solidFill>
                  <a:schemeClr val="tx1">
                    <a:lumMod val="85000"/>
                    <a:lumOff val="15000"/>
                  </a:schemeClr>
                </a:solidFill>
              </a:rPr>
              <a:t>saniyeye  göre </a:t>
            </a:r>
            <a:r>
              <a:rPr lang="tr-TR" sz="1000" dirty="0" smtClean="0">
                <a:solidFill>
                  <a:schemeClr val="tx1">
                    <a:lumMod val="85000"/>
                    <a:lumOff val="15000"/>
                  </a:schemeClr>
                </a:solidFill>
              </a:rPr>
              <a:t>aldığı yol aşağıdaki gibi parabolik şekilde modellenmiştir.</a:t>
            </a:r>
          </a:p>
          <a:p>
            <a:r>
              <a:rPr lang="tr-TR" sz="1000" dirty="0" smtClean="0">
                <a:solidFill>
                  <a:schemeClr val="tx1">
                    <a:lumMod val="85000"/>
                    <a:lumOff val="15000"/>
                  </a:schemeClr>
                </a:solidFill>
              </a:rPr>
              <a:t/>
            </a:r>
            <a:br>
              <a:rPr lang="tr-TR" sz="1000" dirty="0" smtClean="0">
                <a:solidFill>
                  <a:schemeClr val="tx1">
                    <a:lumMod val="85000"/>
                    <a:lumOff val="15000"/>
                  </a:schemeClr>
                </a:solidFill>
              </a:rPr>
            </a:br>
            <a:r>
              <a:rPr lang="tr-TR" sz="1000" dirty="0" smtClean="0">
                <a:solidFill>
                  <a:schemeClr val="tx1">
                    <a:lumMod val="85000"/>
                    <a:lumOff val="15000"/>
                  </a:schemeClr>
                </a:solidFill>
              </a:rPr>
              <a:t>y =  - 2 s   -10s  + 200</a:t>
            </a:r>
          </a:p>
          <a:p>
            <a:endParaRPr lang="tr-TR" sz="1000" dirty="0">
              <a:solidFill>
                <a:schemeClr val="tx1">
                  <a:lumMod val="85000"/>
                  <a:lumOff val="15000"/>
                </a:schemeClr>
              </a:solidFill>
            </a:endParaRPr>
          </a:p>
          <a:p>
            <a:r>
              <a:rPr lang="tr-TR" sz="1000" dirty="0" smtClean="0">
                <a:solidFill>
                  <a:schemeClr val="tx1">
                    <a:lumMod val="85000"/>
                    <a:lumOff val="15000"/>
                  </a:schemeClr>
                </a:solidFill>
              </a:rPr>
              <a:t>Topu fırlatmakta görevli olan Recep Bey ezan okunduktan </a:t>
            </a:r>
          </a:p>
          <a:p>
            <a:r>
              <a:rPr lang="tr-TR" sz="1000" dirty="0" smtClean="0">
                <a:solidFill>
                  <a:schemeClr val="tx1">
                    <a:lumMod val="85000"/>
                    <a:lumOff val="15000"/>
                  </a:schemeClr>
                </a:solidFill>
              </a:rPr>
              <a:t>sonra topu fırlatmaya başlamıştır. </a:t>
            </a:r>
          </a:p>
          <a:p>
            <a:endParaRPr lang="tr-TR" sz="1000" dirty="0">
              <a:solidFill>
                <a:schemeClr val="tx1">
                  <a:lumMod val="85000"/>
                  <a:lumOff val="15000"/>
                </a:schemeClr>
              </a:solidFill>
            </a:endParaRPr>
          </a:p>
          <a:p>
            <a:r>
              <a:rPr lang="tr-TR" sz="1000" dirty="0" smtClean="0">
                <a:solidFill>
                  <a:schemeClr val="tx1">
                    <a:lumMod val="85000"/>
                    <a:lumOff val="15000"/>
                  </a:schemeClr>
                </a:solidFill>
              </a:rPr>
              <a:t>Topun ilk fırlatıldığındaki yüksekliği  : M</a:t>
            </a:r>
          </a:p>
          <a:p>
            <a:r>
              <a:rPr lang="tr-TR" sz="1000" dirty="0" smtClean="0">
                <a:solidFill>
                  <a:schemeClr val="tx1">
                    <a:lumMod val="85000"/>
                    <a:lumOff val="15000"/>
                  </a:schemeClr>
                </a:solidFill>
              </a:rPr>
              <a:t>Topun alabileceği en fazla yükseklik  : K</a:t>
            </a:r>
          </a:p>
          <a:p>
            <a:r>
              <a:rPr lang="tr-TR" sz="1000" dirty="0" smtClean="0">
                <a:solidFill>
                  <a:schemeClr val="tx1">
                    <a:lumMod val="85000"/>
                    <a:lumOff val="15000"/>
                  </a:schemeClr>
                </a:solidFill>
              </a:rPr>
              <a:t>Topun 6.saniyedeki yüksekliği ise  : L ile ifade ediliyor.</a:t>
            </a:r>
          </a:p>
          <a:p>
            <a:endParaRPr lang="tr-TR" sz="1000" dirty="0">
              <a:solidFill>
                <a:schemeClr val="tx1">
                  <a:lumMod val="85000"/>
                  <a:lumOff val="15000"/>
                </a:schemeClr>
              </a:solidFill>
            </a:endParaRPr>
          </a:p>
          <a:p>
            <a:r>
              <a:rPr lang="tr-TR" sz="1000" b="1" dirty="0" smtClean="0">
                <a:solidFill>
                  <a:schemeClr val="tx1">
                    <a:lumMod val="85000"/>
                    <a:lumOff val="15000"/>
                  </a:schemeClr>
                </a:solidFill>
              </a:rPr>
              <a:t>Buna göre M,K,L için verilen değerler aşağıdakilerden hangisinde doğru olarak verilmiştir?</a:t>
            </a:r>
          </a:p>
        </p:txBody>
      </p:sp>
      <p:sp>
        <p:nvSpPr>
          <p:cNvPr id="118" name="Metin kutusu 117"/>
          <p:cNvSpPr txBox="1"/>
          <p:nvPr/>
        </p:nvSpPr>
        <p:spPr>
          <a:xfrm>
            <a:off x="4079487" y="3563888"/>
            <a:ext cx="3165937" cy="200055"/>
          </a:xfrm>
          <a:prstGeom prst="rect">
            <a:avLst/>
          </a:prstGeom>
          <a:noFill/>
        </p:spPr>
        <p:txBody>
          <a:bodyPr wrap="square" rtlCol="0">
            <a:spAutoFit/>
          </a:bodyPr>
          <a:lstStyle/>
          <a:p>
            <a:r>
              <a:rPr lang="tr-TR" sz="700" dirty="0" smtClean="0">
                <a:solidFill>
                  <a:schemeClr val="tx1">
                    <a:lumMod val="85000"/>
                    <a:lumOff val="15000"/>
                  </a:schemeClr>
                </a:solidFill>
              </a:rPr>
              <a:t>2</a:t>
            </a:r>
          </a:p>
        </p:txBody>
      </p:sp>
      <p:sp>
        <p:nvSpPr>
          <p:cNvPr id="120" name="Metin kutusu 119"/>
          <p:cNvSpPr txBox="1"/>
          <p:nvPr/>
        </p:nvSpPr>
        <p:spPr>
          <a:xfrm>
            <a:off x="3895330" y="5436096"/>
            <a:ext cx="292079" cy="276999"/>
          </a:xfrm>
          <a:prstGeom prst="rect">
            <a:avLst/>
          </a:prstGeom>
          <a:noFill/>
        </p:spPr>
        <p:txBody>
          <a:bodyPr wrap="square" rtlCol="0">
            <a:spAutoFit/>
          </a:bodyPr>
          <a:lstStyle/>
          <a:p>
            <a:r>
              <a:rPr lang="tr-TR" sz="1200" dirty="0">
                <a:solidFill>
                  <a:schemeClr val="tx1">
                    <a:lumMod val="85000"/>
                    <a:lumOff val="15000"/>
                  </a:schemeClr>
                </a:solidFill>
              </a:rPr>
              <a:t>M</a:t>
            </a:r>
          </a:p>
        </p:txBody>
      </p:sp>
      <p:sp>
        <p:nvSpPr>
          <p:cNvPr id="121" name="Metin kutusu 120"/>
          <p:cNvSpPr txBox="1"/>
          <p:nvPr/>
        </p:nvSpPr>
        <p:spPr>
          <a:xfrm>
            <a:off x="4974845" y="5436095"/>
            <a:ext cx="292079" cy="276999"/>
          </a:xfrm>
          <a:prstGeom prst="rect">
            <a:avLst/>
          </a:prstGeom>
          <a:noFill/>
        </p:spPr>
        <p:txBody>
          <a:bodyPr wrap="square" rtlCol="0">
            <a:spAutoFit/>
          </a:bodyPr>
          <a:lstStyle/>
          <a:p>
            <a:r>
              <a:rPr lang="tr-TR" sz="1200" dirty="0" smtClean="0">
                <a:solidFill>
                  <a:schemeClr val="tx1">
                    <a:lumMod val="85000"/>
                    <a:lumOff val="15000"/>
                  </a:schemeClr>
                </a:solidFill>
              </a:rPr>
              <a:t>K</a:t>
            </a:r>
            <a:endParaRPr lang="tr-TR" sz="1200" dirty="0">
              <a:solidFill>
                <a:schemeClr val="tx1">
                  <a:lumMod val="85000"/>
                  <a:lumOff val="15000"/>
                </a:schemeClr>
              </a:solidFill>
            </a:endParaRPr>
          </a:p>
        </p:txBody>
      </p:sp>
      <p:sp>
        <p:nvSpPr>
          <p:cNvPr id="122" name="Metin kutusu 121"/>
          <p:cNvSpPr txBox="1"/>
          <p:nvPr/>
        </p:nvSpPr>
        <p:spPr>
          <a:xfrm>
            <a:off x="5972065" y="5436095"/>
            <a:ext cx="292079" cy="276999"/>
          </a:xfrm>
          <a:prstGeom prst="rect">
            <a:avLst/>
          </a:prstGeom>
          <a:noFill/>
        </p:spPr>
        <p:txBody>
          <a:bodyPr wrap="square" rtlCol="0">
            <a:spAutoFit/>
          </a:bodyPr>
          <a:lstStyle/>
          <a:p>
            <a:r>
              <a:rPr lang="tr-TR" sz="1200" dirty="0" smtClean="0">
                <a:solidFill>
                  <a:schemeClr val="tx1">
                    <a:lumMod val="85000"/>
                    <a:lumOff val="15000"/>
                  </a:schemeClr>
                </a:solidFill>
              </a:rPr>
              <a:t>L</a:t>
            </a:r>
            <a:endParaRPr lang="tr-TR" sz="1200" dirty="0">
              <a:solidFill>
                <a:schemeClr val="tx1">
                  <a:lumMod val="85000"/>
                  <a:lumOff val="15000"/>
                </a:schemeClr>
              </a:solidFill>
            </a:endParaRPr>
          </a:p>
        </p:txBody>
      </p:sp>
      <p:cxnSp>
        <p:nvCxnSpPr>
          <p:cNvPr id="2075" name="Düz Bağlayıcı 2074"/>
          <p:cNvCxnSpPr/>
          <p:nvPr/>
        </p:nvCxnSpPr>
        <p:spPr>
          <a:xfrm>
            <a:off x="3704243" y="5693648"/>
            <a:ext cx="2833281" cy="0"/>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259830" y="5574594"/>
            <a:ext cx="537322" cy="210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9"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93794" y="5547132"/>
            <a:ext cx="537322" cy="2106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0"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34547" y="5559354"/>
            <a:ext cx="252390" cy="198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5" name="Resim 84"/>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86" name="Dikdörtgen 85"/>
          <p:cNvSpPr/>
          <p:nvPr/>
        </p:nvSpPr>
        <p:spPr>
          <a:xfrm>
            <a:off x="53885" y="8819480"/>
            <a:ext cx="8523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87" name="Metin kutusu 86"/>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5. B</a:t>
            </a:r>
            <a:endParaRPr lang="tr-TR" sz="1000" dirty="0">
              <a:solidFill>
                <a:schemeClr val="tx1">
                  <a:lumMod val="85000"/>
                  <a:lumOff val="15000"/>
                </a:schemeClr>
              </a:solidFill>
            </a:endParaRPr>
          </a:p>
        </p:txBody>
      </p:sp>
      <p:cxnSp>
        <p:nvCxnSpPr>
          <p:cNvPr id="88" name="Düz Bağlayıcı 87"/>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Düz Bağlayıcı 88"/>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0" name="Metin kutusu 89"/>
          <p:cNvSpPr txBox="1"/>
          <p:nvPr/>
        </p:nvSpPr>
        <p:spPr>
          <a:xfrm>
            <a:off x="440948" y="882861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6.  C</a:t>
            </a:r>
            <a:endParaRPr lang="tr-TR" sz="1000" dirty="0">
              <a:solidFill>
                <a:schemeClr val="tx1">
                  <a:lumMod val="85000"/>
                  <a:lumOff val="15000"/>
                </a:schemeClr>
              </a:solidFill>
            </a:endParaRPr>
          </a:p>
        </p:txBody>
      </p:sp>
      <p:sp>
        <p:nvSpPr>
          <p:cNvPr id="91" name="Dikdörtgen 90"/>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92" name="Picture 2"/>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42084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0"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7.</a:t>
            </a:r>
            <a:endParaRPr lang="tr-TR" sz="1400" b="1" dirty="0">
              <a:solidFill>
                <a:srgbClr val="C00000"/>
              </a:solidFill>
              <a:latin typeface="Arial Narrow" panose="020B0606020202030204" pitchFamily="34" charset="0"/>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8.</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sp>
        <p:nvSpPr>
          <p:cNvPr id="72" name="Metin kutusu 71"/>
          <p:cNvSpPr txBox="1"/>
          <p:nvPr/>
        </p:nvSpPr>
        <p:spPr>
          <a:xfrm>
            <a:off x="5661248" y="4649895"/>
            <a:ext cx="71452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15</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1"/>
            <a:ext cx="1214265"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136" name="Dikdörtgen 135"/>
          <p:cNvSpPr/>
          <p:nvPr/>
        </p:nvSpPr>
        <p:spPr>
          <a:xfrm>
            <a:off x="4537144" y="2896151"/>
            <a:ext cx="260008" cy="261610"/>
          </a:xfrm>
          <a:prstGeom prst="rect">
            <a:avLst/>
          </a:prstGeom>
        </p:spPr>
        <p:txBody>
          <a:bodyPr wrap="none">
            <a:spAutoFit/>
          </a:bodyPr>
          <a:lstStyle/>
          <a:p>
            <a:r>
              <a:rPr lang="tr-TR" sz="1100" dirty="0" smtClean="0">
                <a:solidFill>
                  <a:schemeClr val="bg1"/>
                </a:solidFill>
              </a:rPr>
              <a:t>C</a:t>
            </a:r>
          </a:p>
        </p:txBody>
      </p:sp>
      <p:pic>
        <p:nvPicPr>
          <p:cNvPr id="6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4547" y="5559354"/>
            <a:ext cx="252390" cy="1984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73020" y="1128778"/>
            <a:ext cx="2242901" cy="17870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15921"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1"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37434"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57579"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79092"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9"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10659"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4"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2172"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5"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52317"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6" name="Picture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73830" y="1115616"/>
            <a:ext cx="130228"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07542" y="1331640"/>
            <a:ext cx="971550" cy="900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6" name="Resim 205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67463" y="1155788"/>
            <a:ext cx="3085368" cy="1758796"/>
          </a:xfrm>
          <a:prstGeom prst="rect">
            <a:avLst/>
          </a:prstGeom>
        </p:spPr>
      </p:pic>
      <p:sp>
        <p:nvSpPr>
          <p:cNvPr id="2063" name="Serbest Form 2062"/>
          <p:cNvSpPr/>
          <p:nvPr/>
        </p:nvSpPr>
        <p:spPr>
          <a:xfrm>
            <a:off x="4441031" y="1230777"/>
            <a:ext cx="1567014" cy="969498"/>
          </a:xfrm>
          <a:custGeom>
            <a:avLst/>
            <a:gdLst>
              <a:gd name="connsiteX0" fmla="*/ 0 w 1567014"/>
              <a:gd name="connsiteY0" fmla="*/ 736136 h 969498"/>
              <a:gd name="connsiteX1" fmla="*/ 976313 w 1567014"/>
              <a:gd name="connsiteY1" fmla="*/ 2711 h 969498"/>
              <a:gd name="connsiteX2" fmla="*/ 1566863 w 1567014"/>
              <a:gd name="connsiteY2" fmla="*/ 969498 h 969498"/>
            </a:gdLst>
            <a:ahLst/>
            <a:cxnLst>
              <a:cxn ang="0">
                <a:pos x="connsiteX0" y="connsiteY0"/>
              </a:cxn>
              <a:cxn ang="0">
                <a:pos x="connsiteX1" y="connsiteY1"/>
              </a:cxn>
              <a:cxn ang="0">
                <a:pos x="connsiteX2" y="connsiteY2"/>
              </a:cxn>
            </a:cxnLst>
            <a:rect l="l" t="t" r="r" b="b"/>
            <a:pathLst>
              <a:path w="1567014" h="969498">
                <a:moveTo>
                  <a:pt x="0" y="736136"/>
                </a:moveTo>
                <a:cubicBezTo>
                  <a:pt x="357584" y="349976"/>
                  <a:pt x="715169" y="-36183"/>
                  <a:pt x="976313" y="2711"/>
                </a:cubicBezTo>
                <a:cubicBezTo>
                  <a:pt x="1237457" y="41605"/>
                  <a:pt x="1575197" y="789317"/>
                  <a:pt x="1566863" y="969498"/>
                </a:cubicBezTo>
              </a:path>
            </a:pathLst>
          </a:cu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a:p>
        </p:txBody>
      </p:sp>
      <p:cxnSp>
        <p:nvCxnSpPr>
          <p:cNvPr id="40" name="Düz Ok Bağlayıcısı 39"/>
          <p:cNvCxnSpPr/>
          <p:nvPr/>
        </p:nvCxnSpPr>
        <p:spPr>
          <a:xfrm flipH="1" flipV="1">
            <a:off x="5596134" y="1155788"/>
            <a:ext cx="1142810" cy="6479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pic>
        <p:nvPicPr>
          <p:cNvPr id="1035" name="Picture 11" descr="C:\Users\Pc\AppData\Local\Microsoft\Windows\Temporary Internet Files\Content.IE5\GRK5B6ZB\seagull-304421_640[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20676225">
            <a:off x="6363097" y="1589462"/>
            <a:ext cx="612527" cy="351246"/>
          </a:xfrm>
          <a:prstGeom prst="rect">
            <a:avLst/>
          </a:prstGeom>
          <a:noFill/>
          <a:extLst>
            <a:ext uri="{909E8E84-426E-40DD-AFC4-6F175D3DCCD1}">
              <a14:hiddenFill xmlns:a14="http://schemas.microsoft.com/office/drawing/2010/main">
                <a:solidFill>
                  <a:srgbClr val="FFFFFF"/>
                </a:solidFill>
              </a14:hiddenFill>
            </a:ext>
          </a:extLst>
        </p:spPr>
      </p:pic>
      <p:sp>
        <p:nvSpPr>
          <p:cNvPr id="43" name="Dikdörtgen 42"/>
          <p:cNvSpPr/>
          <p:nvPr/>
        </p:nvSpPr>
        <p:spPr>
          <a:xfrm>
            <a:off x="4608639" y="1715526"/>
            <a:ext cx="1197764" cy="261610"/>
          </a:xfrm>
          <a:prstGeom prst="rect">
            <a:avLst/>
          </a:prstGeom>
        </p:spPr>
        <p:txBody>
          <a:bodyPr wrap="none">
            <a:spAutoFit/>
          </a:bodyPr>
          <a:lstStyle/>
          <a:p>
            <a:r>
              <a:rPr lang="tr-TR" sz="1100" dirty="0" smtClean="0">
                <a:solidFill>
                  <a:schemeClr val="tx1">
                    <a:lumMod val="85000"/>
                    <a:lumOff val="15000"/>
                  </a:schemeClr>
                </a:solidFill>
              </a:rPr>
              <a:t>f(x) = a x  + b x + c</a:t>
            </a:r>
            <a:endParaRPr lang="tr-TR" sz="1100" dirty="0"/>
          </a:p>
        </p:txBody>
      </p:sp>
      <p:sp>
        <p:nvSpPr>
          <p:cNvPr id="166" name="Dikdörtgen 165"/>
          <p:cNvSpPr/>
          <p:nvPr/>
        </p:nvSpPr>
        <p:spPr>
          <a:xfrm>
            <a:off x="5922835" y="1155788"/>
            <a:ext cx="713657" cy="261610"/>
          </a:xfrm>
          <a:prstGeom prst="rect">
            <a:avLst/>
          </a:prstGeom>
        </p:spPr>
        <p:txBody>
          <a:bodyPr wrap="none">
            <a:spAutoFit/>
          </a:bodyPr>
          <a:lstStyle/>
          <a:p>
            <a:r>
              <a:rPr lang="tr-TR" sz="1100" dirty="0">
                <a:solidFill>
                  <a:schemeClr val="tx1">
                    <a:lumMod val="85000"/>
                    <a:lumOff val="15000"/>
                  </a:schemeClr>
                </a:solidFill>
              </a:rPr>
              <a:t>u</a:t>
            </a:r>
            <a:r>
              <a:rPr lang="tr-TR" sz="1100" dirty="0" smtClean="0">
                <a:solidFill>
                  <a:schemeClr val="tx1">
                    <a:lumMod val="85000"/>
                    <a:lumOff val="15000"/>
                  </a:schemeClr>
                </a:solidFill>
              </a:rPr>
              <a:t>(x) = mx</a:t>
            </a:r>
            <a:endParaRPr lang="tr-TR" sz="1100" dirty="0"/>
          </a:p>
        </p:txBody>
      </p:sp>
      <p:sp>
        <p:nvSpPr>
          <p:cNvPr id="168" name="Dikdörtgen 167"/>
          <p:cNvSpPr/>
          <p:nvPr/>
        </p:nvSpPr>
        <p:spPr>
          <a:xfrm>
            <a:off x="3608398" y="755576"/>
            <a:ext cx="3348994" cy="430887"/>
          </a:xfrm>
          <a:prstGeom prst="rect">
            <a:avLst/>
          </a:prstGeom>
        </p:spPr>
        <p:txBody>
          <a:bodyPr wrap="none">
            <a:spAutoFit/>
          </a:bodyPr>
          <a:lstStyle/>
          <a:p>
            <a:r>
              <a:rPr lang="tr-TR" sz="1100" dirty="0" smtClean="0">
                <a:solidFill>
                  <a:schemeClr val="tx1">
                    <a:lumMod val="85000"/>
                    <a:lumOff val="15000"/>
                  </a:schemeClr>
                </a:solidFill>
              </a:rPr>
              <a:t>Aşağıda f(x)  ve u (x) fonksiyonu denklemleri verilmiştir.</a:t>
            </a:r>
          </a:p>
          <a:p>
            <a:endParaRPr lang="tr-TR" sz="1100" dirty="0"/>
          </a:p>
        </p:txBody>
      </p:sp>
      <mc:AlternateContent xmlns:mc="http://schemas.openxmlformats.org/markup-compatibility/2006" xmlns:a14="http://schemas.microsoft.com/office/drawing/2010/main">
        <mc:Choice Requires="a14">
          <p:sp>
            <p:nvSpPr>
              <p:cNvPr id="169" name="Dikdörtgen 168"/>
              <p:cNvSpPr/>
              <p:nvPr/>
            </p:nvSpPr>
            <p:spPr>
              <a:xfrm>
                <a:off x="3573020" y="2987824"/>
                <a:ext cx="1740348" cy="261610"/>
              </a:xfrm>
              <a:prstGeom prst="rect">
                <a:avLst/>
              </a:prstGeom>
            </p:spPr>
            <p:txBody>
              <a:bodyPr wrap="none">
                <a:spAutoFit/>
              </a:bodyPr>
              <a:lstStyle/>
              <a:p>
                <a:r>
                  <a:rPr lang="tr-TR" sz="1100" noProof="1" smtClean="0">
                    <a:solidFill>
                      <a:schemeClr val="tx1">
                        <a:lumMod val="85000"/>
                        <a:lumOff val="15000"/>
                      </a:schemeClr>
                    </a:solidFill>
                  </a:rPr>
                  <a:t>a,b,c,m, </a:t>
                </a:r>
                <a14:m>
                  <m:oMath xmlns:m="http://schemas.openxmlformats.org/officeDocument/2006/math">
                    <m:r>
                      <a:rPr lang="tr-TR" sz="1100" i="1" noProof="1" dirty="0" smtClean="0">
                        <a:solidFill>
                          <a:schemeClr val="tx1">
                            <a:lumMod val="85000"/>
                            <a:lumOff val="15000"/>
                          </a:schemeClr>
                        </a:solidFill>
                        <a:latin typeface="Cambria Math"/>
                        <a:ea typeface="Cambria Math"/>
                      </a:rPr>
                      <m:t>∈</m:t>
                    </m:r>
                    <m:r>
                      <a:rPr lang="tr-TR" sz="1100" b="0" i="1" noProof="1" dirty="0" smtClean="0">
                        <a:solidFill>
                          <a:schemeClr val="tx1">
                            <a:lumMod val="85000"/>
                            <a:lumOff val="15000"/>
                          </a:schemeClr>
                        </a:solidFill>
                        <a:latin typeface="Cambria Math"/>
                        <a:ea typeface="Cambria Math"/>
                      </a:rPr>
                      <m:t>𝑅</m:t>
                    </m:r>
                    <m:r>
                      <a:rPr lang="tr-TR" sz="1100" b="0" i="1" noProof="1" dirty="0" smtClean="0">
                        <a:solidFill>
                          <a:schemeClr val="tx1">
                            <a:lumMod val="85000"/>
                            <a:lumOff val="15000"/>
                          </a:schemeClr>
                        </a:solidFill>
                        <a:latin typeface="Cambria Math"/>
                        <a:ea typeface="Cambria Math"/>
                      </a:rPr>
                      <m:t> </m:t>
                    </m:r>
                    <m:r>
                      <a:rPr lang="tr-TR" sz="1100" b="0" i="1" noProof="1" dirty="0" smtClean="0">
                        <a:solidFill>
                          <a:schemeClr val="tx1">
                            <a:lumMod val="85000"/>
                            <a:lumOff val="15000"/>
                          </a:schemeClr>
                        </a:solidFill>
                        <a:latin typeface="Cambria Math"/>
                        <a:ea typeface="Cambria Math"/>
                      </a:rPr>
                      <m:t>𝑜𝑙𝑚𝑎𝑘</m:t>
                    </m:r>
                    <m:r>
                      <a:rPr lang="tr-TR" sz="1100" b="0" i="1" noProof="1" dirty="0" smtClean="0">
                        <a:solidFill>
                          <a:schemeClr val="tx1">
                            <a:lumMod val="85000"/>
                            <a:lumOff val="15000"/>
                          </a:schemeClr>
                        </a:solidFill>
                        <a:latin typeface="Cambria Math"/>
                        <a:ea typeface="Cambria Math"/>
                      </a:rPr>
                      <m:t> ü</m:t>
                    </m:r>
                    <m:r>
                      <a:rPr lang="tr-TR" sz="1100" b="0" i="1" noProof="1" dirty="0" smtClean="0">
                        <a:solidFill>
                          <a:schemeClr val="tx1">
                            <a:lumMod val="85000"/>
                            <a:lumOff val="15000"/>
                          </a:schemeClr>
                        </a:solidFill>
                        <a:latin typeface="Cambria Math"/>
                        <a:ea typeface="Cambria Math"/>
                      </a:rPr>
                      <m:t>𝑧𝑒𝑟𝑒</m:t>
                    </m:r>
                    <m:r>
                      <a:rPr lang="tr-TR" sz="1100" b="0" i="1" noProof="1" dirty="0" smtClean="0">
                        <a:solidFill>
                          <a:schemeClr val="tx1">
                            <a:lumMod val="85000"/>
                            <a:lumOff val="15000"/>
                          </a:schemeClr>
                        </a:solidFill>
                        <a:latin typeface="Cambria Math"/>
                        <a:ea typeface="Cambria Math"/>
                      </a:rPr>
                      <m:t>,</m:t>
                    </m:r>
                  </m:oMath>
                </a14:m>
                <a:endParaRPr lang="tr-TR" sz="1100" noProof="1" smtClean="0">
                  <a:solidFill>
                    <a:schemeClr val="tx1">
                      <a:lumMod val="85000"/>
                      <a:lumOff val="15000"/>
                    </a:schemeClr>
                  </a:solidFill>
                </a:endParaRPr>
              </a:p>
            </p:txBody>
          </p:sp>
        </mc:Choice>
        <mc:Fallback xmlns="">
          <p:sp>
            <p:nvSpPr>
              <p:cNvPr id="169" name="Dikdörtgen 168"/>
              <p:cNvSpPr>
                <a:spLocks noRot="1" noChangeAspect="1" noMove="1" noResize="1" noEditPoints="1" noAdjustHandles="1" noChangeArrowheads="1" noChangeShapeType="1" noTextEdit="1"/>
              </p:cNvSpPr>
              <p:nvPr/>
            </p:nvSpPr>
            <p:spPr>
              <a:xfrm>
                <a:off x="3573020" y="2987824"/>
                <a:ext cx="1740348" cy="261610"/>
              </a:xfrm>
              <a:prstGeom prst="rect">
                <a:avLst/>
              </a:prstGeom>
              <a:blipFill rotWithShape="1">
                <a:blip r:embed="rId20"/>
                <a:stretch>
                  <a:fillRect b="-16279"/>
                </a:stretch>
              </a:blipFill>
            </p:spPr>
            <p:txBody>
              <a:bodyPr/>
              <a:lstStyle/>
              <a:p>
                <a:r>
                  <a:rPr lang="tr-TR">
                    <a:noFill/>
                  </a:rPr>
                  <a:t> </a:t>
                </a:r>
              </a:p>
            </p:txBody>
          </p:sp>
        </mc:Fallback>
      </mc:AlternateContent>
      <p:sp>
        <p:nvSpPr>
          <p:cNvPr id="170" name="Dikdörtgen 169"/>
          <p:cNvSpPr/>
          <p:nvPr/>
        </p:nvSpPr>
        <p:spPr>
          <a:xfrm>
            <a:off x="3608398" y="3248416"/>
            <a:ext cx="2985113" cy="1954381"/>
          </a:xfrm>
          <a:prstGeom prst="rect">
            <a:avLst/>
          </a:prstGeom>
        </p:spPr>
        <p:txBody>
          <a:bodyPr wrap="none">
            <a:spAutoFit/>
          </a:bodyPr>
          <a:lstStyle/>
          <a:p>
            <a:pPr marL="285750" indent="-285750">
              <a:buFont typeface="+mj-lt"/>
              <a:buAutoNum type="romanUcPeriod"/>
            </a:pPr>
            <a:r>
              <a:rPr lang="tr-TR" sz="1100" dirty="0" smtClean="0"/>
              <a:t>a pozitif bir sayıdır.</a:t>
            </a:r>
          </a:p>
          <a:p>
            <a:pPr marL="285750" indent="-285750">
              <a:buFont typeface="+mj-lt"/>
              <a:buAutoNum type="romanUcPeriod"/>
            </a:pPr>
            <a:endParaRPr lang="tr-TR" sz="1100" dirty="0" smtClean="0">
              <a:solidFill>
                <a:schemeClr val="tx1">
                  <a:lumMod val="85000"/>
                  <a:lumOff val="15000"/>
                </a:schemeClr>
              </a:solidFill>
            </a:endParaRPr>
          </a:p>
          <a:p>
            <a:pPr marL="285750" indent="-285750">
              <a:buFont typeface="+mj-lt"/>
              <a:buAutoNum type="romanUcPeriod"/>
            </a:pPr>
            <a:r>
              <a:rPr lang="tr-TR" sz="1100" noProof="1" smtClean="0">
                <a:solidFill>
                  <a:schemeClr val="tx1">
                    <a:lumMod val="85000"/>
                    <a:lumOff val="15000"/>
                  </a:schemeClr>
                </a:solidFill>
              </a:rPr>
              <a:t>c – 4 + ac  = 0</a:t>
            </a:r>
          </a:p>
          <a:p>
            <a:pPr marL="285750" indent="-285750">
              <a:buFont typeface="+mj-lt"/>
              <a:buAutoNum type="romanUcPeriod"/>
            </a:pPr>
            <a:endParaRPr lang="tr-TR" sz="1100" dirty="0" smtClean="0">
              <a:solidFill>
                <a:schemeClr val="tx1">
                  <a:lumMod val="85000"/>
                  <a:lumOff val="15000"/>
                </a:schemeClr>
              </a:solidFill>
            </a:endParaRPr>
          </a:p>
          <a:p>
            <a:pPr marL="285750" indent="-285750">
              <a:buFont typeface="+mj-lt"/>
              <a:buAutoNum type="romanUcPeriod"/>
            </a:pPr>
            <a:r>
              <a:rPr lang="tr-TR" sz="1100" dirty="0" smtClean="0">
                <a:solidFill>
                  <a:schemeClr val="tx1">
                    <a:lumMod val="85000"/>
                    <a:lumOff val="15000"/>
                  </a:schemeClr>
                </a:solidFill>
              </a:rPr>
              <a:t>a x  + (b-m) x + c  denkleminde </a:t>
            </a:r>
          </a:p>
          <a:p>
            <a:pPr marL="285750" indent="-285750">
              <a:buFont typeface="+mj-lt"/>
              <a:buAutoNum type="romanUcPeriod"/>
            </a:pPr>
            <a:endParaRPr lang="tr-TR" sz="1100" dirty="0">
              <a:solidFill>
                <a:schemeClr val="tx1">
                  <a:lumMod val="85000"/>
                  <a:lumOff val="15000"/>
                </a:schemeClr>
              </a:solidFill>
            </a:endParaRPr>
          </a:p>
          <a:p>
            <a:r>
              <a:rPr lang="tr-TR" sz="1100" dirty="0" smtClean="0">
                <a:solidFill>
                  <a:schemeClr val="tx1">
                    <a:lumMod val="85000"/>
                    <a:lumOff val="15000"/>
                  </a:schemeClr>
                </a:solidFill>
              </a:rPr>
              <a:t>(b-m)  &lt; 4ac eşitsizliği sağlanır.</a:t>
            </a:r>
          </a:p>
          <a:p>
            <a:endParaRPr lang="tr-TR" sz="1100" dirty="0">
              <a:solidFill>
                <a:schemeClr val="tx1">
                  <a:lumMod val="85000"/>
                  <a:lumOff val="15000"/>
                </a:schemeClr>
              </a:solidFill>
            </a:endParaRPr>
          </a:p>
          <a:p>
            <a:r>
              <a:rPr lang="tr-TR" sz="1100" dirty="0" smtClean="0">
                <a:solidFill>
                  <a:schemeClr val="tx1">
                    <a:lumMod val="85000"/>
                    <a:lumOff val="15000"/>
                  </a:schemeClr>
                </a:solidFill>
              </a:rPr>
              <a:t>IV.    f ve u fonksiyonları kesişmedikleri için ortak </a:t>
            </a:r>
          </a:p>
          <a:p>
            <a:r>
              <a:rPr lang="tr-TR" sz="1100" dirty="0" smtClean="0">
                <a:solidFill>
                  <a:schemeClr val="tx1">
                    <a:lumMod val="85000"/>
                    <a:lumOff val="15000"/>
                  </a:schemeClr>
                </a:solidFill>
              </a:rPr>
              <a:t>çözüm denklemi kurulamaz.</a:t>
            </a:r>
            <a:endParaRPr lang="tr-TR" sz="1100" dirty="0">
              <a:solidFill>
                <a:schemeClr val="tx1">
                  <a:lumMod val="85000"/>
                  <a:lumOff val="15000"/>
                </a:schemeClr>
              </a:solidFill>
            </a:endParaRPr>
          </a:p>
          <a:p>
            <a:endParaRPr lang="tr-TR" sz="1100" dirty="0" smtClean="0">
              <a:solidFill>
                <a:schemeClr val="tx1">
                  <a:lumMod val="85000"/>
                  <a:lumOff val="15000"/>
                </a:schemeClr>
              </a:solidFill>
            </a:endParaRPr>
          </a:p>
        </p:txBody>
      </p:sp>
      <p:sp>
        <p:nvSpPr>
          <p:cNvPr id="171" name="Dikdörtgen 170"/>
          <p:cNvSpPr/>
          <p:nvPr/>
        </p:nvSpPr>
        <p:spPr>
          <a:xfrm>
            <a:off x="3600136" y="5047443"/>
            <a:ext cx="3065263" cy="430887"/>
          </a:xfrm>
          <a:prstGeom prst="rect">
            <a:avLst/>
          </a:prstGeom>
        </p:spPr>
        <p:txBody>
          <a:bodyPr wrap="none">
            <a:spAutoFit/>
          </a:bodyPr>
          <a:lstStyle/>
          <a:p>
            <a:r>
              <a:rPr lang="tr-TR" sz="1100" b="1" dirty="0" smtClean="0">
                <a:solidFill>
                  <a:schemeClr val="tx1">
                    <a:lumMod val="85000"/>
                    <a:lumOff val="15000"/>
                  </a:schemeClr>
                </a:solidFill>
              </a:rPr>
              <a:t>Verilen yargılardan hangileri kesinlikle doğrudur?</a:t>
            </a:r>
          </a:p>
          <a:p>
            <a:endParaRPr lang="tr-TR" sz="1100" dirty="0"/>
          </a:p>
        </p:txBody>
      </p:sp>
      <p:sp>
        <p:nvSpPr>
          <p:cNvPr id="173" name="Metin kutusu 172"/>
          <p:cNvSpPr txBox="1"/>
          <p:nvPr/>
        </p:nvSpPr>
        <p:spPr>
          <a:xfrm>
            <a:off x="3573020" y="5339830"/>
            <a:ext cx="3313445"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Yalnız I                B)  I ve IV                  C) Yalnız III</a:t>
            </a: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D) II ve III                  E)  II ve IV</a:t>
            </a:r>
          </a:p>
        </p:txBody>
      </p:sp>
      <p:sp>
        <p:nvSpPr>
          <p:cNvPr id="174" name="Dikdörtgen 173"/>
          <p:cNvSpPr/>
          <p:nvPr/>
        </p:nvSpPr>
        <p:spPr>
          <a:xfrm>
            <a:off x="5085185" y="1690640"/>
            <a:ext cx="229550" cy="200055"/>
          </a:xfrm>
          <a:prstGeom prst="rect">
            <a:avLst/>
          </a:prstGeom>
        </p:spPr>
        <p:txBody>
          <a:bodyPr wrap="none">
            <a:spAutoFit/>
          </a:bodyPr>
          <a:lstStyle/>
          <a:p>
            <a:r>
              <a:rPr lang="tr-TR" sz="700" dirty="0" smtClean="0">
                <a:solidFill>
                  <a:schemeClr val="tx1">
                    <a:lumMod val="85000"/>
                    <a:lumOff val="15000"/>
                  </a:schemeClr>
                </a:solidFill>
              </a:rPr>
              <a:t>2</a:t>
            </a:r>
            <a:endParaRPr lang="tr-TR" sz="700" dirty="0"/>
          </a:p>
        </p:txBody>
      </p:sp>
      <p:sp>
        <p:nvSpPr>
          <p:cNvPr id="175" name="Dikdörtgen 174"/>
          <p:cNvSpPr/>
          <p:nvPr/>
        </p:nvSpPr>
        <p:spPr>
          <a:xfrm>
            <a:off x="3933056" y="4211960"/>
            <a:ext cx="229550" cy="200055"/>
          </a:xfrm>
          <a:prstGeom prst="rect">
            <a:avLst/>
          </a:prstGeom>
        </p:spPr>
        <p:txBody>
          <a:bodyPr wrap="none">
            <a:spAutoFit/>
          </a:bodyPr>
          <a:lstStyle/>
          <a:p>
            <a:r>
              <a:rPr lang="tr-TR" sz="700" dirty="0" smtClean="0">
                <a:solidFill>
                  <a:schemeClr val="tx1">
                    <a:lumMod val="85000"/>
                    <a:lumOff val="15000"/>
                  </a:schemeClr>
                </a:solidFill>
              </a:rPr>
              <a:t>2</a:t>
            </a:r>
            <a:endParaRPr lang="tr-TR" sz="700" dirty="0"/>
          </a:p>
        </p:txBody>
      </p:sp>
      <p:sp>
        <p:nvSpPr>
          <p:cNvPr id="176" name="Dikdörtgen 175"/>
          <p:cNvSpPr/>
          <p:nvPr/>
        </p:nvSpPr>
        <p:spPr>
          <a:xfrm>
            <a:off x="4063546" y="3867889"/>
            <a:ext cx="229550" cy="200055"/>
          </a:xfrm>
          <a:prstGeom prst="rect">
            <a:avLst/>
          </a:prstGeom>
        </p:spPr>
        <p:txBody>
          <a:bodyPr wrap="none">
            <a:spAutoFit/>
          </a:bodyPr>
          <a:lstStyle/>
          <a:p>
            <a:r>
              <a:rPr lang="tr-TR" sz="700" dirty="0" smtClean="0">
                <a:solidFill>
                  <a:schemeClr val="tx1">
                    <a:lumMod val="85000"/>
                    <a:lumOff val="15000"/>
                  </a:schemeClr>
                </a:solidFill>
              </a:rPr>
              <a:t>2</a:t>
            </a:r>
            <a:endParaRPr lang="tr-TR" sz="700" dirty="0"/>
          </a:p>
        </p:txBody>
      </p:sp>
      <p:sp>
        <p:nvSpPr>
          <p:cNvPr id="78" name="Oval 77"/>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9" name="Metin kutusu 78"/>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80" name="Metin kutusu 79"/>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81" name="Oval 80"/>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82" name="Düz Bağlayıcı 81"/>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Düz Bağlayıcı 83"/>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85" name="Metin kutusu 84"/>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86" name="Oval 85"/>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87" name="Düz Bağlayıcı 86"/>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88" name="Metin kutusu 87"/>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89" name="Oval 88"/>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01" name="Dikdörtgen 100"/>
          <p:cNvSpPr/>
          <p:nvPr/>
        </p:nvSpPr>
        <p:spPr>
          <a:xfrm>
            <a:off x="53885" y="8819480"/>
            <a:ext cx="8523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02" name="Metin kutusu 101"/>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7._</a:t>
            </a:r>
            <a:endParaRPr lang="tr-TR" sz="1000" dirty="0">
              <a:solidFill>
                <a:schemeClr val="tx1">
                  <a:lumMod val="85000"/>
                  <a:lumOff val="15000"/>
                </a:schemeClr>
              </a:solidFill>
            </a:endParaRPr>
          </a:p>
        </p:txBody>
      </p:sp>
      <p:cxnSp>
        <p:nvCxnSpPr>
          <p:cNvPr id="103" name="Düz Bağlayıcı 102"/>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Düz Bağlayıcı 103"/>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Metin kutusu 104"/>
          <p:cNvSpPr txBox="1"/>
          <p:nvPr/>
        </p:nvSpPr>
        <p:spPr>
          <a:xfrm>
            <a:off x="440948" y="8828612"/>
            <a:ext cx="425037" cy="246221"/>
          </a:xfrm>
          <a:prstGeom prst="rect">
            <a:avLst/>
          </a:prstGeom>
          <a:noFill/>
        </p:spPr>
        <p:txBody>
          <a:bodyPr wrap="square" rtlCol="0">
            <a:spAutoFit/>
          </a:bodyPr>
          <a:lstStyle/>
          <a:p>
            <a:pPr algn="ctr"/>
            <a:r>
              <a:rPr lang="tr-TR" sz="1000" dirty="0">
                <a:solidFill>
                  <a:schemeClr val="tx1">
                    <a:lumMod val="85000"/>
                    <a:lumOff val="15000"/>
                  </a:schemeClr>
                </a:solidFill>
              </a:rPr>
              <a:t>8</a:t>
            </a:r>
            <a:r>
              <a:rPr lang="tr-TR" sz="1000" dirty="0" smtClean="0">
                <a:solidFill>
                  <a:schemeClr val="tx1">
                    <a:lumMod val="85000"/>
                    <a:lumOff val="15000"/>
                  </a:schemeClr>
                </a:solidFill>
              </a:rPr>
              <a:t>.  C</a:t>
            </a:r>
            <a:endParaRPr lang="tr-TR" sz="1000" dirty="0">
              <a:solidFill>
                <a:schemeClr val="tx1">
                  <a:lumMod val="85000"/>
                  <a:lumOff val="15000"/>
                </a:schemeClr>
              </a:solidFill>
            </a:endParaRPr>
          </a:p>
        </p:txBody>
      </p:sp>
      <p:sp>
        <p:nvSpPr>
          <p:cNvPr id="106" name="Dikdörtgen 10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7" name="Picture 2"/>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 name="Düz Ok Bağlayıcısı 5"/>
          <p:cNvCxnSpPr/>
          <p:nvPr/>
        </p:nvCxnSpPr>
        <p:spPr>
          <a:xfrm>
            <a:off x="1700808" y="755576"/>
            <a:ext cx="0" cy="2746172"/>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a:off x="257142" y="1977136"/>
            <a:ext cx="2992713"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7" name="Serbest Form 16"/>
          <p:cNvSpPr/>
          <p:nvPr/>
        </p:nvSpPr>
        <p:spPr>
          <a:xfrm>
            <a:off x="1276959" y="825500"/>
            <a:ext cx="968375" cy="1158888"/>
          </a:xfrm>
          <a:custGeom>
            <a:avLst/>
            <a:gdLst>
              <a:gd name="connsiteX0" fmla="*/ 0 w 968375"/>
              <a:gd name="connsiteY0" fmla="*/ 19050 h 1158888"/>
              <a:gd name="connsiteX1" fmla="*/ 431800 w 968375"/>
              <a:gd name="connsiteY1" fmla="*/ 1158875 h 1158888"/>
              <a:gd name="connsiteX2" fmla="*/ 968375 w 968375"/>
              <a:gd name="connsiteY2" fmla="*/ 0 h 1158888"/>
            </a:gdLst>
            <a:ahLst/>
            <a:cxnLst>
              <a:cxn ang="0">
                <a:pos x="connsiteX0" y="connsiteY0"/>
              </a:cxn>
              <a:cxn ang="0">
                <a:pos x="connsiteX1" y="connsiteY1"/>
              </a:cxn>
              <a:cxn ang="0">
                <a:pos x="connsiteX2" y="connsiteY2"/>
              </a:cxn>
            </a:cxnLst>
            <a:rect l="l" t="t" r="r" b="b"/>
            <a:pathLst>
              <a:path w="968375" h="1158888">
                <a:moveTo>
                  <a:pt x="0" y="19050"/>
                </a:moveTo>
                <a:cubicBezTo>
                  <a:pt x="135202" y="590550"/>
                  <a:pt x="270404" y="1162050"/>
                  <a:pt x="431800" y="1158875"/>
                </a:cubicBezTo>
                <a:cubicBezTo>
                  <a:pt x="593196" y="1155700"/>
                  <a:pt x="780785" y="577850"/>
                  <a:pt x="968375" y="0"/>
                </a:cubicBezTo>
              </a:path>
            </a:pathLst>
          </a:cu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18" name="Serbest Form 17"/>
          <p:cNvSpPr/>
          <p:nvPr/>
        </p:nvSpPr>
        <p:spPr>
          <a:xfrm>
            <a:off x="818469" y="844550"/>
            <a:ext cx="1762125" cy="1136773"/>
          </a:xfrm>
          <a:custGeom>
            <a:avLst/>
            <a:gdLst>
              <a:gd name="connsiteX0" fmla="*/ 0 w 1762125"/>
              <a:gd name="connsiteY0" fmla="*/ 57150 h 1136773"/>
              <a:gd name="connsiteX1" fmla="*/ 898525 w 1762125"/>
              <a:gd name="connsiteY1" fmla="*/ 1136650 h 1136773"/>
              <a:gd name="connsiteX2" fmla="*/ 1762125 w 1762125"/>
              <a:gd name="connsiteY2" fmla="*/ 0 h 1136773"/>
            </a:gdLst>
            <a:ahLst/>
            <a:cxnLst>
              <a:cxn ang="0">
                <a:pos x="connsiteX0" y="connsiteY0"/>
              </a:cxn>
              <a:cxn ang="0">
                <a:pos x="connsiteX1" y="connsiteY1"/>
              </a:cxn>
              <a:cxn ang="0">
                <a:pos x="connsiteX2" y="connsiteY2"/>
              </a:cxn>
            </a:cxnLst>
            <a:rect l="l" t="t" r="r" b="b"/>
            <a:pathLst>
              <a:path w="1762125" h="1136773">
                <a:moveTo>
                  <a:pt x="0" y="57150"/>
                </a:moveTo>
                <a:cubicBezTo>
                  <a:pt x="302419" y="601662"/>
                  <a:pt x="604838" y="1146175"/>
                  <a:pt x="898525" y="1136650"/>
                </a:cubicBezTo>
                <a:cubicBezTo>
                  <a:pt x="1192212" y="1127125"/>
                  <a:pt x="1617133" y="158221"/>
                  <a:pt x="1762125" y="0"/>
                </a:cubicBezTo>
              </a:path>
            </a:pathLst>
          </a:cu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19" name="Serbest Form 18"/>
          <p:cNvSpPr/>
          <p:nvPr/>
        </p:nvSpPr>
        <p:spPr>
          <a:xfrm>
            <a:off x="619125" y="920750"/>
            <a:ext cx="2241550" cy="1066878"/>
          </a:xfrm>
          <a:custGeom>
            <a:avLst/>
            <a:gdLst>
              <a:gd name="connsiteX0" fmla="*/ 0 w 2241550"/>
              <a:gd name="connsiteY0" fmla="*/ 44450 h 1066878"/>
              <a:gd name="connsiteX1" fmla="*/ 1089025 w 2241550"/>
              <a:gd name="connsiteY1" fmla="*/ 1066800 h 1066878"/>
              <a:gd name="connsiteX2" fmla="*/ 2241550 w 2241550"/>
              <a:gd name="connsiteY2" fmla="*/ 0 h 1066878"/>
            </a:gdLst>
            <a:ahLst/>
            <a:cxnLst>
              <a:cxn ang="0">
                <a:pos x="connsiteX0" y="connsiteY0"/>
              </a:cxn>
              <a:cxn ang="0">
                <a:pos x="connsiteX1" y="connsiteY1"/>
              </a:cxn>
              <a:cxn ang="0">
                <a:pos x="connsiteX2" y="connsiteY2"/>
              </a:cxn>
            </a:cxnLst>
            <a:rect l="l" t="t" r="r" b="b"/>
            <a:pathLst>
              <a:path w="2241550" h="1066878">
                <a:moveTo>
                  <a:pt x="0" y="44450"/>
                </a:moveTo>
                <a:cubicBezTo>
                  <a:pt x="357716" y="559329"/>
                  <a:pt x="715433" y="1074208"/>
                  <a:pt x="1089025" y="1066800"/>
                </a:cubicBezTo>
                <a:cubicBezTo>
                  <a:pt x="1462617" y="1059392"/>
                  <a:pt x="2146300" y="122767"/>
                  <a:pt x="2241550" y="0"/>
                </a:cubicBezTo>
              </a:path>
            </a:pathLst>
          </a:custGeom>
        </p:spPr>
        <p:style>
          <a:lnRef idx="1">
            <a:schemeClr val="accent4"/>
          </a:lnRef>
          <a:fillRef idx="0">
            <a:schemeClr val="accent4"/>
          </a:fillRef>
          <a:effectRef idx="0">
            <a:schemeClr val="accent4"/>
          </a:effectRef>
          <a:fontRef idx="minor">
            <a:schemeClr val="tx1"/>
          </a:fontRef>
        </p:style>
        <p:txBody>
          <a:bodyPr rtlCol="0" anchor="ctr"/>
          <a:lstStyle/>
          <a:p>
            <a:pPr algn="ctr"/>
            <a:endParaRPr lang="tr-TR"/>
          </a:p>
        </p:txBody>
      </p:sp>
      <p:sp>
        <p:nvSpPr>
          <p:cNvPr id="20" name="Serbest Form 19"/>
          <p:cNvSpPr/>
          <p:nvPr/>
        </p:nvSpPr>
        <p:spPr>
          <a:xfrm>
            <a:off x="1031875" y="1987540"/>
            <a:ext cx="1400175" cy="968385"/>
          </a:xfrm>
          <a:custGeom>
            <a:avLst/>
            <a:gdLst>
              <a:gd name="connsiteX0" fmla="*/ 0 w 1400175"/>
              <a:gd name="connsiteY0" fmla="*/ 952510 h 968385"/>
              <a:gd name="connsiteX1" fmla="*/ 673100 w 1400175"/>
              <a:gd name="connsiteY1" fmla="*/ 10 h 968385"/>
              <a:gd name="connsiteX2" fmla="*/ 1400175 w 1400175"/>
              <a:gd name="connsiteY2" fmla="*/ 968385 h 968385"/>
            </a:gdLst>
            <a:ahLst/>
            <a:cxnLst>
              <a:cxn ang="0">
                <a:pos x="connsiteX0" y="connsiteY0"/>
              </a:cxn>
              <a:cxn ang="0">
                <a:pos x="connsiteX1" y="connsiteY1"/>
              </a:cxn>
              <a:cxn ang="0">
                <a:pos x="connsiteX2" y="connsiteY2"/>
              </a:cxn>
            </a:cxnLst>
            <a:rect l="l" t="t" r="r" b="b"/>
            <a:pathLst>
              <a:path w="1400175" h="968385">
                <a:moveTo>
                  <a:pt x="0" y="952510"/>
                </a:moveTo>
                <a:cubicBezTo>
                  <a:pt x="219869" y="474937"/>
                  <a:pt x="439738" y="-2636"/>
                  <a:pt x="673100" y="10"/>
                </a:cubicBezTo>
                <a:cubicBezTo>
                  <a:pt x="906462" y="2656"/>
                  <a:pt x="1304925" y="826568"/>
                  <a:pt x="1400175" y="968385"/>
                </a:cubicBezTo>
              </a:path>
            </a:pathLst>
          </a:cu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21" name="Serbest Form 20"/>
          <p:cNvSpPr/>
          <p:nvPr/>
        </p:nvSpPr>
        <p:spPr>
          <a:xfrm>
            <a:off x="695325" y="1974823"/>
            <a:ext cx="2187575" cy="987452"/>
          </a:xfrm>
          <a:custGeom>
            <a:avLst/>
            <a:gdLst>
              <a:gd name="connsiteX0" fmla="*/ 0 w 2187575"/>
              <a:gd name="connsiteY0" fmla="*/ 962052 h 987452"/>
              <a:gd name="connsiteX1" fmla="*/ 1009650 w 2187575"/>
              <a:gd name="connsiteY1" fmla="*/ 27 h 987452"/>
              <a:gd name="connsiteX2" fmla="*/ 2187575 w 2187575"/>
              <a:gd name="connsiteY2" fmla="*/ 987452 h 987452"/>
            </a:gdLst>
            <a:ahLst/>
            <a:cxnLst>
              <a:cxn ang="0">
                <a:pos x="connsiteX0" y="connsiteY0"/>
              </a:cxn>
              <a:cxn ang="0">
                <a:pos x="connsiteX1" y="connsiteY1"/>
              </a:cxn>
              <a:cxn ang="0">
                <a:pos x="connsiteX2" y="connsiteY2"/>
              </a:cxn>
            </a:cxnLst>
            <a:rect l="l" t="t" r="r" b="b"/>
            <a:pathLst>
              <a:path w="2187575" h="987452">
                <a:moveTo>
                  <a:pt x="0" y="962052"/>
                </a:moveTo>
                <a:cubicBezTo>
                  <a:pt x="322527" y="478923"/>
                  <a:pt x="645054" y="-4206"/>
                  <a:pt x="1009650" y="27"/>
                </a:cubicBezTo>
                <a:cubicBezTo>
                  <a:pt x="1374246" y="4260"/>
                  <a:pt x="2014008" y="822881"/>
                  <a:pt x="2187575" y="987452"/>
                </a:cubicBezTo>
              </a:path>
            </a:pathLst>
          </a:custGeom>
          <a:ln>
            <a:solidFill>
              <a:srgbClr val="7030A0"/>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99" name="Dikdörtgen 98"/>
          <p:cNvSpPr/>
          <p:nvPr/>
        </p:nvSpPr>
        <p:spPr>
          <a:xfrm>
            <a:off x="31518" y="3652445"/>
            <a:ext cx="3379451" cy="769441"/>
          </a:xfrm>
          <a:prstGeom prst="rect">
            <a:avLst/>
          </a:prstGeom>
        </p:spPr>
        <p:txBody>
          <a:bodyPr wrap="none">
            <a:spAutoFit/>
          </a:bodyPr>
          <a:lstStyle/>
          <a:p>
            <a:r>
              <a:rPr lang="tr-TR" sz="1100" b="1" noProof="1" smtClean="0">
                <a:solidFill>
                  <a:schemeClr val="tx1">
                    <a:lumMod val="85000"/>
                    <a:lumOff val="15000"/>
                  </a:schemeClr>
                </a:solidFill>
              </a:rPr>
              <a:t>Murat x ekseni üzerinde kalan paraboller çizmiş, Beyza</a:t>
            </a:r>
          </a:p>
          <a:p>
            <a:r>
              <a:rPr lang="tr-TR" sz="1100" b="1" noProof="1" smtClean="0">
                <a:solidFill>
                  <a:schemeClr val="tx1">
                    <a:lumMod val="85000"/>
                    <a:lumOff val="15000"/>
                  </a:schemeClr>
                </a:solidFill>
              </a:rPr>
              <a:t>X ekseninin altında kalan paraboller çizmiştir. </a:t>
            </a:r>
          </a:p>
          <a:p>
            <a:r>
              <a:rPr lang="tr-TR" sz="1100" b="1" noProof="1" smtClean="0">
                <a:solidFill>
                  <a:schemeClr val="tx1">
                    <a:lumMod val="85000"/>
                    <a:lumOff val="15000"/>
                  </a:schemeClr>
                </a:solidFill>
              </a:rPr>
              <a:t>Buna göre a,b,c,d,e,f gerçel sayılarının büyükten </a:t>
            </a:r>
          </a:p>
          <a:p>
            <a:r>
              <a:rPr lang="tr-TR" sz="1100" b="1" noProof="1" smtClean="0">
                <a:solidFill>
                  <a:schemeClr val="tx1">
                    <a:lumMod val="85000"/>
                    <a:lumOff val="15000"/>
                  </a:schemeClr>
                </a:solidFill>
              </a:rPr>
              <a:t>küçüğe </a:t>
            </a:r>
            <a:r>
              <a:rPr lang="tr-TR" sz="1100" b="1" noProof="1">
                <a:solidFill>
                  <a:schemeClr val="tx1">
                    <a:lumMod val="85000"/>
                    <a:lumOff val="15000"/>
                  </a:schemeClr>
                </a:solidFill>
              </a:rPr>
              <a:t> </a:t>
            </a:r>
            <a:r>
              <a:rPr lang="tr-TR" sz="1100" b="1" noProof="1" smtClean="0">
                <a:solidFill>
                  <a:schemeClr val="tx1">
                    <a:lumMod val="85000"/>
                    <a:lumOff val="15000"/>
                  </a:schemeClr>
                </a:solidFill>
              </a:rPr>
              <a:t>doğru sıralaması aşağıdakilerden hangisidir?</a:t>
            </a:r>
          </a:p>
        </p:txBody>
      </p:sp>
      <p:sp>
        <p:nvSpPr>
          <p:cNvPr id="108" name="Metin kutusu 107"/>
          <p:cNvSpPr txBox="1"/>
          <p:nvPr/>
        </p:nvSpPr>
        <p:spPr>
          <a:xfrm>
            <a:off x="84154" y="4423916"/>
            <a:ext cx="3313445" cy="2308324"/>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a&gt;b&gt;c&gt;d&gt;e</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c&gt;b&gt;a&gt;d&gt;e</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e&gt;d&gt;a&gt;b&gt;c</a:t>
            </a:r>
          </a:p>
          <a:p>
            <a:pPr marL="228600" indent="-228600">
              <a:buAutoNum type="alphaUcParenR"/>
            </a:pPr>
            <a:endParaRPr lang="tr-TR" sz="1200" dirty="0" smtClean="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c&gt;b&gt;a&gt;d&gt;e</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e&gt;a&gt;b&gt;c&gt;b</a:t>
            </a:r>
            <a:endParaRPr lang="tr-TR" sz="1200" dirty="0">
              <a:solidFill>
                <a:schemeClr val="tx1">
                  <a:lumMod val="85000"/>
                  <a:lumOff val="15000"/>
                </a:schemeClr>
              </a:solidFill>
            </a:endParaRPr>
          </a:p>
          <a:p>
            <a:pPr marL="228600" indent="-228600">
              <a:buAutoNum type="alphaUcParenR"/>
            </a:pPr>
            <a:endParaRPr lang="tr-TR" sz="1200" dirty="0" smtClean="0">
              <a:solidFill>
                <a:schemeClr val="tx1">
                  <a:lumMod val="85000"/>
                  <a:lumOff val="15000"/>
                </a:schemeClr>
              </a:solidFill>
            </a:endParaRPr>
          </a:p>
          <a:p>
            <a:pPr marL="228600" indent="-228600">
              <a:buAutoNum type="alphaUcParenR"/>
            </a:pPr>
            <a:endParaRPr lang="tr-TR" sz="1200" dirty="0">
              <a:solidFill>
                <a:schemeClr val="tx1">
                  <a:lumMod val="85000"/>
                  <a:lumOff val="15000"/>
                </a:schemeClr>
              </a:solidFill>
            </a:endParaRPr>
          </a:p>
          <a:p>
            <a:pPr marL="228600" indent="-228600">
              <a:buAutoNum type="alphaUcParenR"/>
            </a:pPr>
            <a:endParaRPr lang="tr-TR" sz="1200" dirty="0" smtClean="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109" name="Metin kutusu 108"/>
              <p:cNvSpPr txBox="1"/>
              <p:nvPr/>
            </p:nvSpPr>
            <p:spPr>
              <a:xfrm>
                <a:off x="1177958" y="706050"/>
                <a:ext cx="54328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tr-TR" sz="1200" i="1" dirty="0" smtClean="0">
                              <a:solidFill>
                                <a:schemeClr val="tx1">
                                  <a:lumMod val="85000"/>
                                  <a:lumOff val="15000"/>
                                </a:schemeClr>
                              </a:solidFill>
                              <a:latin typeface="Cambria Math"/>
                            </a:rPr>
                          </m:ctrlPr>
                        </m:sSupPr>
                        <m:e>
                          <m:r>
                            <m:rPr>
                              <m:sty m:val="p"/>
                            </m:rPr>
                            <a:rPr lang="tr-TR" sz="1200" b="0" i="0" dirty="0" smtClean="0">
                              <a:solidFill>
                                <a:schemeClr val="tx1">
                                  <a:lumMod val="85000"/>
                                  <a:lumOff val="15000"/>
                                </a:schemeClr>
                              </a:solidFill>
                              <a:latin typeface="Cambria Math"/>
                            </a:rPr>
                            <m:t>ax</m:t>
                          </m:r>
                        </m:e>
                        <m:sup>
                          <m:r>
                            <a:rPr lang="tr-TR" sz="1200" i="0" dirty="0" smtClean="0">
                              <a:solidFill>
                                <a:schemeClr val="tx1">
                                  <a:lumMod val="85000"/>
                                  <a:lumOff val="15000"/>
                                </a:schemeClr>
                              </a:solidFill>
                              <a:latin typeface="Cambria Math"/>
                            </a:rPr>
                            <m:t>2</m:t>
                          </m:r>
                        </m:sup>
                      </m:sSup>
                    </m:oMath>
                  </m:oMathPara>
                </a14:m>
                <a:endParaRPr lang="tr-TR" sz="1200" dirty="0">
                  <a:solidFill>
                    <a:schemeClr val="tx1">
                      <a:lumMod val="85000"/>
                      <a:lumOff val="15000"/>
                    </a:schemeClr>
                  </a:solidFill>
                </a:endParaRPr>
              </a:p>
            </p:txBody>
          </p:sp>
        </mc:Choice>
        <mc:Fallback xmlns="">
          <p:sp>
            <p:nvSpPr>
              <p:cNvPr id="109" name="Metin kutusu 108"/>
              <p:cNvSpPr txBox="1">
                <a:spLocks noRot="1" noChangeAspect="1" noMove="1" noResize="1" noEditPoints="1" noAdjustHandles="1" noChangeArrowheads="1" noChangeShapeType="1" noTextEdit="1"/>
              </p:cNvSpPr>
              <p:nvPr/>
            </p:nvSpPr>
            <p:spPr>
              <a:xfrm>
                <a:off x="1177958" y="706050"/>
                <a:ext cx="543285" cy="276999"/>
              </a:xfrm>
              <a:prstGeom prst="rect">
                <a:avLst/>
              </a:prstGeom>
              <a:blipFill rotWithShape="1">
                <a:blip r:embed="rId22"/>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0" name="Metin kutusu 109"/>
              <p:cNvSpPr txBox="1"/>
              <p:nvPr/>
            </p:nvSpPr>
            <p:spPr>
              <a:xfrm>
                <a:off x="594342" y="694020"/>
                <a:ext cx="54328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tr-TR" sz="1200" i="1" dirty="0" smtClean="0">
                              <a:solidFill>
                                <a:schemeClr val="tx1">
                                  <a:lumMod val="85000"/>
                                  <a:lumOff val="15000"/>
                                </a:schemeClr>
                              </a:solidFill>
                              <a:latin typeface="Cambria Math"/>
                            </a:rPr>
                          </m:ctrlPr>
                        </m:sSupPr>
                        <m:e>
                          <m:r>
                            <m:rPr>
                              <m:sty m:val="p"/>
                            </m:rPr>
                            <a:rPr lang="tr-TR" sz="1200" b="0" i="0" dirty="0" smtClean="0">
                              <a:solidFill>
                                <a:schemeClr val="tx1">
                                  <a:lumMod val="85000"/>
                                  <a:lumOff val="15000"/>
                                </a:schemeClr>
                              </a:solidFill>
                              <a:latin typeface="Cambria Math"/>
                            </a:rPr>
                            <m:t>bx</m:t>
                          </m:r>
                        </m:e>
                        <m:sup>
                          <m:r>
                            <a:rPr lang="tr-TR" sz="1200" i="0" dirty="0" smtClean="0">
                              <a:solidFill>
                                <a:schemeClr val="tx1">
                                  <a:lumMod val="85000"/>
                                  <a:lumOff val="15000"/>
                                </a:schemeClr>
                              </a:solidFill>
                              <a:latin typeface="Cambria Math"/>
                            </a:rPr>
                            <m:t>2</m:t>
                          </m:r>
                        </m:sup>
                      </m:sSup>
                    </m:oMath>
                  </m:oMathPara>
                </a14:m>
                <a:endParaRPr lang="tr-TR" sz="1200" dirty="0">
                  <a:solidFill>
                    <a:schemeClr val="tx1">
                      <a:lumMod val="85000"/>
                      <a:lumOff val="15000"/>
                    </a:schemeClr>
                  </a:solidFill>
                </a:endParaRPr>
              </a:p>
            </p:txBody>
          </p:sp>
        </mc:Choice>
        <mc:Fallback xmlns="">
          <p:sp>
            <p:nvSpPr>
              <p:cNvPr id="110" name="Metin kutusu 109"/>
              <p:cNvSpPr txBox="1">
                <a:spLocks noRot="1" noChangeAspect="1" noMove="1" noResize="1" noEditPoints="1" noAdjustHandles="1" noChangeArrowheads="1" noChangeShapeType="1" noTextEdit="1"/>
              </p:cNvSpPr>
              <p:nvPr/>
            </p:nvSpPr>
            <p:spPr>
              <a:xfrm>
                <a:off x="594342" y="694020"/>
                <a:ext cx="543285" cy="276999"/>
              </a:xfrm>
              <a:prstGeom prst="rect">
                <a:avLst/>
              </a:prstGeom>
              <a:blipFill rotWithShape="1">
                <a:blip r:embed="rId23"/>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7" name="Metin kutusu 116"/>
              <p:cNvSpPr txBox="1"/>
              <p:nvPr/>
            </p:nvSpPr>
            <p:spPr>
              <a:xfrm>
                <a:off x="198018" y="832519"/>
                <a:ext cx="54328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tr-TR" sz="1200" i="1" dirty="0" smtClean="0">
                              <a:solidFill>
                                <a:schemeClr val="tx1">
                                  <a:lumMod val="85000"/>
                                  <a:lumOff val="15000"/>
                                </a:schemeClr>
                              </a:solidFill>
                              <a:latin typeface="Cambria Math"/>
                            </a:rPr>
                          </m:ctrlPr>
                        </m:sSupPr>
                        <m:e>
                          <m:r>
                            <m:rPr>
                              <m:sty m:val="p"/>
                            </m:rPr>
                            <a:rPr lang="tr-TR" sz="1200" b="0" i="0" dirty="0" smtClean="0">
                              <a:solidFill>
                                <a:schemeClr val="tx1">
                                  <a:lumMod val="85000"/>
                                  <a:lumOff val="15000"/>
                                </a:schemeClr>
                              </a:solidFill>
                              <a:latin typeface="Cambria Math"/>
                            </a:rPr>
                            <m:t>cx</m:t>
                          </m:r>
                        </m:e>
                        <m:sup>
                          <m:r>
                            <a:rPr lang="tr-TR" sz="1200" i="0" dirty="0" smtClean="0">
                              <a:solidFill>
                                <a:schemeClr val="tx1">
                                  <a:lumMod val="85000"/>
                                  <a:lumOff val="15000"/>
                                </a:schemeClr>
                              </a:solidFill>
                              <a:latin typeface="Cambria Math"/>
                            </a:rPr>
                            <m:t>2</m:t>
                          </m:r>
                        </m:sup>
                      </m:sSup>
                    </m:oMath>
                  </m:oMathPara>
                </a14:m>
                <a:endParaRPr lang="tr-TR" sz="1200" dirty="0">
                  <a:solidFill>
                    <a:schemeClr val="tx1">
                      <a:lumMod val="85000"/>
                      <a:lumOff val="15000"/>
                    </a:schemeClr>
                  </a:solidFill>
                </a:endParaRPr>
              </a:p>
            </p:txBody>
          </p:sp>
        </mc:Choice>
        <mc:Fallback xmlns="">
          <p:sp>
            <p:nvSpPr>
              <p:cNvPr id="117" name="Metin kutusu 116"/>
              <p:cNvSpPr txBox="1">
                <a:spLocks noRot="1" noChangeAspect="1" noMove="1" noResize="1" noEditPoints="1" noAdjustHandles="1" noChangeArrowheads="1" noChangeShapeType="1" noTextEdit="1"/>
              </p:cNvSpPr>
              <p:nvPr/>
            </p:nvSpPr>
            <p:spPr>
              <a:xfrm>
                <a:off x="198018" y="832519"/>
                <a:ext cx="543285" cy="276999"/>
              </a:xfrm>
              <a:prstGeom prst="rect">
                <a:avLst/>
              </a:prstGeom>
              <a:blipFill rotWithShape="1">
                <a:blip r:embed="rId24"/>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18" name="Metin kutusu 117"/>
              <p:cNvSpPr txBox="1"/>
              <p:nvPr/>
            </p:nvSpPr>
            <p:spPr>
              <a:xfrm>
                <a:off x="619125" y="2191550"/>
                <a:ext cx="54328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tr-TR" sz="1200" i="1" dirty="0" smtClean="0">
                              <a:solidFill>
                                <a:schemeClr val="tx1">
                                  <a:lumMod val="85000"/>
                                  <a:lumOff val="15000"/>
                                </a:schemeClr>
                              </a:solidFill>
                              <a:latin typeface="Cambria Math"/>
                            </a:rPr>
                          </m:ctrlPr>
                        </m:sSupPr>
                        <m:e>
                          <m:r>
                            <m:rPr>
                              <m:sty m:val="p"/>
                            </m:rPr>
                            <a:rPr lang="tr-TR" sz="1200" b="0" i="0" dirty="0" smtClean="0">
                              <a:solidFill>
                                <a:schemeClr val="tx1">
                                  <a:lumMod val="85000"/>
                                  <a:lumOff val="15000"/>
                                </a:schemeClr>
                              </a:solidFill>
                              <a:latin typeface="Cambria Math"/>
                            </a:rPr>
                            <m:t>dx</m:t>
                          </m:r>
                        </m:e>
                        <m:sup>
                          <m:r>
                            <a:rPr lang="tr-TR" sz="1200" i="0" dirty="0" smtClean="0">
                              <a:solidFill>
                                <a:schemeClr val="tx1">
                                  <a:lumMod val="85000"/>
                                  <a:lumOff val="15000"/>
                                </a:schemeClr>
                              </a:solidFill>
                              <a:latin typeface="Cambria Math"/>
                            </a:rPr>
                            <m:t>2</m:t>
                          </m:r>
                        </m:sup>
                      </m:sSup>
                    </m:oMath>
                  </m:oMathPara>
                </a14:m>
                <a:endParaRPr lang="tr-TR" sz="1200" dirty="0">
                  <a:solidFill>
                    <a:schemeClr val="tx1">
                      <a:lumMod val="85000"/>
                      <a:lumOff val="15000"/>
                    </a:schemeClr>
                  </a:solidFill>
                </a:endParaRPr>
              </a:p>
            </p:txBody>
          </p:sp>
        </mc:Choice>
        <mc:Fallback xmlns="">
          <p:sp>
            <p:nvSpPr>
              <p:cNvPr id="118" name="Metin kutusu 117"/>
              <p:cNvSpPr txBox="1">
                <a:spLocks noRot="1" noChangeAspect="1" noMove="1" noResize="1" noEditPoints="1" noAdjustHandles="1" noChangeArrowheads="1" noChangeShapeType="1" noTextEdit="1"/>
              </p:cNvSpPr>
              <p:nvPr/>
            </p:nvSpPr>
            <p:spPr>
              <a:xfrm>
                <a:off x="619125" y="2191550"/>
                <a:ext cx="543285" cy="276999"/>
              </a:xfrm>
              <a:prstGeom prst="rect">
                <a:avLst/>
              </a:prstGeom>
              <a:blipFill rotWithShape="1">
                <a:blip r:embed="rId25"/>
                <a:stretch>
                  <a:fillRect/>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120" name="Metin kutusu 119"/>
              <p:cNvSpPr txBox="1"/>
              <p:nvPr/>
            </p:nvSpPr>
            <p:spPr>
              <a:xfrm>
                <a:off x="1122624" y="2460598"/>
                <a:ext cx="543285" cy="276999"/>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tr-TR" sz="1200" i="1" dirty="0" smtClean="0">
                              <a:solidFill>
                                <a:schemeClr val="tx1">
                                  <a:lumMod val="85000"/>
                                  <a:lumOff val="15000"/>
                                </a:schemeClr>
                              </a:solidFill>
                              <a:latin typeface="Cambria Math"/>
                            </a:rPr>
                          </m:ctrlPr>
                        </m:sSupPr>
                        <m:e>
                          <m:r>
                            <m:rPr>
                              <m:sty m:val="p"/>
                            </m:rPr>
                            <a:rPr lang="tr-TR" sz="1200" b="0" i="0" dirty="0" smtClean="0">
                              <a:solidFill>
                                <a:schemeClr val="tx1">
                                  <a:lumMod val="85000"/>
                                  <a:lumOff val="15000"/>
                                </a:schemeClr>
                              </a:solidFill>
                              <a:latin typeface="Cambria Math"/>
                            </a:rPr>
                            <m:t>ex</m:t>
                          </m:r>
                        </m:e>
                        <m:sup>
                          <m:r>
                            <a:rPr lang="tr-TR" sz="1200" i="0" dirty="0" smtClean="0">
                              <a:solidFill>
                                <a:schemeClr val="tx1">
                                  <a:lumMod val="85000"/>
                                  <a:lumOff val="15000"/>
                                </a:schemeClr>
                              </a:solidFill>
                              <a:latin typeface="Cambria Math"/>
                            </a:rPr>
                            <m:t>2</m:t>
                          </m:r>
                        </m:sup>
                      </m:sSup>
                    </m:oMath>
                  </m:oMathPara>
                </a14:m>
                <a:endParaRPr lang="tr-TR" sz="1200" dirty="0">
                  <a:solidFill>
                    <a:schemeClr val="tx1">
                      <a:lumMod val="85000"/>
                      <a:lumOff val="15000"/>
                    </a:schemeClr>
                  </a:solidFill>
                </a:endParaRPr>
              </a:p>
            </p:txBody>
          </p:sp>
        </mc:Choice>
        <mc:Fallback xmlns="">
          <p:sp>
            <p:nvSpPr>
              <p:cNvPr id="120" name="Metin kutusu 119"/>
              <p:cNvSpPr txBox="1">
                <a:spLocks noRot="1" noChangeAspect="1" noMove="1" noResize="1" noEditPoints="1" noAdjustHandles="1" noChangeArrowheads="1" noChangeShapeType="1" noTextEdit="1"/>
              </p:cNvSpPr>
              <p:nvPr/>
            </p:nvSpPr>
            <p:spPr>
              <a:xfrm>
                <a:off x="1122624" y="2460598"/>
                <a:ext cx="543285" cy="276999"/>
              </a:xfrm>
              <a:prstGeom prst="rect">
                <a:avLst/>
              </a:prstGeom>
              <a:blipFill rotWithShape="1">
                <a:blip r:embed="rId26"/>
                <a:stretch>
                  <a:fillRect/>
                </a:stretch>
              </a:blipFill>
            </p:spPr>
            <p:txBody>
              <a:bodyPr/>
              <a:lstStyle/>
              <a:p>
                <a:r>
                  <a:rPr lang="tr-TR">
                    <a:noFill/>
                  </a:rPr>
                  <a:t> </a:t>
                </a:r>
              </a:p>
            </p:txBody>
          </p:sp>
        </mc:Fallback>
      </mc:AlternateContent>
    </p:spTree>
    <p:extLst>
      <p:ext uri="{BB962C8B-B14F-4D97-AF65-F5344CB8AC3E}">
        <p14:creationId xmlns:p14="http://schemas.microsoft.com/office/powerpoint/2010/main" val="21705674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11387" y="735836"/>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9</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399190" y="735836"/>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15</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mc:AlternateContent xmlns:mc="http://schemas.openxmlformats.org/markup-compatibility/2006" xmlns:a14="http://schemas.microsoft.com/office/drawing/2010/main">
        <mc:Choice Requires="a14">
          <p:sp>
            <p:nvSpPr>
              <p:cNvPr id="115" name="Dikdörtgen 114"/>
              <p:cNvSpPr/>
              <p:nvPr/>
            </p:nvSpPr>
            <p:spPr>
              <a:xfrm>
                <a:off x="906240" y="5512843"/>
                <a:ext cx="545021" cy="2815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tr-TR" sz="1100" b="0" i="0" smtClean="0">
                          <a:latin typeface="Cambria Math"/>
                        </a:rPr>
                        <m:t>12</m:t>
                      </m:r>
                      <m:rad>
                        <m:radPr>
                          <m:degHide m:val="on"/>
                          <m:ctrlPr>
                            <a:rPr lang="tr-TR" sz="1100" i="1" smtClean="0">
                              <a:latin typeface="Cambria Math"/>
                            </a:rPr>
                          </m:ctrlPr>
                        </m:radPr>
                        <m:deg/>
                        <m:e>
                          <m:r>
                            <a:rPr lang="tr-TR" sz="1100" b="0" i="0" smtClean="0">
                              <a:latin typeface="Cambria Math"/>
                            </a:rPr>
                            <m:t>3</m:t>
                          </m:r>
                        </m:e>
                      </m:rad>
                    </m:oMath>
                  </m:oMathPara>
                </a14:m>
                <a:endParaRPr lang="tr-TR" sz="1100" dirty="0"/>
              </a:p>
            </p:txBody>
          </p:sp>
        </mc:Choice>
        <mc:Fallback xmlns="">
          <p:sp>
            <p:nvSpPr>
              <p:cNvPr id="115" name="Dikdörtgen 114"/>
              <p:cNvSpPr>
                <a:spLocks noRot="1" noChangeAspect="1" noMove="1" noResize="1" noEditPoints="1" noAdjustHandles="1" noChangeArrowheads="1" noChangeShapeType="1" noTextEdit="1"/>
              </p:cNvSpPr>
              <p:nvPr/>
            </p:nvSpPr>
            <p:spPr>
              <a:xfrm>
                <a:off x="906240" y="5512843"/>
                <a:ext cx="545021" cy="281552"/>
              </a:xfrm>
              <a:prstGeom prst="rect">
                <a:avLst/>
              </a:prstGeom>
              <a:blipFill rotWithShape="1">
                <a:blip r:embed="rId4"/>
                <a:stretch>
                  <a:fillRect/>
                </a:stretch>
              </a:blipFill>
            </p:spPr>
            <p:txBody>
              <a:bodyPr/>
              <a:lstStyle/>
              <a:p>
                <a:r>
                  <a:rPr lang="tr-TR">
                    <a:noFill/>
                  </a:rPr>
                  <a:t> </a:t>
                </a:r>
              </a:p>
            </p:txBody>
          </p:sp>
        </mc:Fallback>
      </mc:AlternateContent>
      <p:sp>
        <p:nvSpPr>
          <p:cNvPr id="83" name="Dikdörtgen 82"/>
          <p:cNvSpPr/>
          <p:nvPr/>
        </p:nvSpPr>
        <p:spPr>
          <a:xfrm>
            <a:off x="53885" y="3636476"/>
            <a:ext cx="3357009" cy="1615827"/>
          </a:xfrm>
          <a:prstGeom prst="rect">
            <a:avLst/>
          </a:prstGeom>
        </p:spPr>
        <p:txBody>
          <a:bodyPr wrap="none">
            <a:spAutoFit/>
          </a:bodyPr>
          <a:lstStyle/>
          <a:p>
            <a:r>
              <a:rPr lang="tr-TR" sz="1100" noProof="1" smtClean="0">
                <a:solidFill>
                  <a:schemeClr val="tx1">
                    <a:lumMod val="85000"/>
                    <a:lumOff val="15000"/>
                  </a:schemeClr>
                </a:solidFill>
              </a:rPr>
              <a:t>Yukarıda parabolik şekilde bir yüzme havuzu verilmiştir.</a:t>
            </a:r>
          </a:p>
          <a:p>
            <a:r>
              <a:rPr lang="tr-TR" sz="1100" dirty="0" smtClean="0">
                <a:solidFill>
                  <a:schemeClr val="tx1">
                    <a:lumMod val="85000"/>
                    <a:lumOff val="15000"/>
                  </a:schemeClr>
                </a:solidFill>
              </a:rPr>
              <a:t>edilmiştir. |AB| arasına atlama tahtası yerleştirilmiştir.</a:t>
            </a:r>
          </a:p>
          <a:p>
            <a:r>
              <a:rPr lang="tr-TR" sz="1100" dirty="0" smtClean="0">
                <a:solidFill>
                  <a:schemeClr val="tx1">
                    <a:lumMod val="85000"/>
                    <a:lumOff val="15000"/>
                  </a:schemeClr>
                </a:solidFill>
              </a:rPr>
              <a:t>T noktası C ve A noktasının orta noktasıdır. </a:t>
            </a:r>
          </a:p>
          <a:p>
            <a:endParaRPr lang="tr-TR" sz="1100" dirty="0">
              <a:solidFill>
                <a:schemeClr val="tx1">
                  <a:lumMod val="85000"/>
                  <a:lumOff val="15000"/>
                </a:schemeClr>
              </a:solidFill>
            </a:endParaRPr>
          </a:p>
          <a:p>
            <a:r>
              <a:rPr lang="tr-TR" sz="1100" b="1" dirty="0" smtClean="0">
                <a:solidFill>
                  <a:schemeClr val="tx1">
                    <a:lumMod val="85000"/>
                    <a:lumOff val="15000"/>
                  </a:schemeClr>
                </a:solidFill>
              </a:rPr>
              <a:t>|AB| =  2 metre ,  |BC| = |DB| = 4 metre</a:t>
            </a:r>
          </a:p>
          <a:p>
            <a:endParaRPr lang="tr-TR" sz="1100" b="1" dirty="0" smtClean="0">
              <a:solidFill>
                <a:schemeClr val="tx1">
                  <a:lumMod val="85000"/>
                  <a:lumOff val="15000"/>
                </a:schemeClr>
              </a:solidFill>
            </a:endParaRPr>
          </a:p>
          <a:p>
            <a:r>
              <a:rPr lang="tr-TR" sz="1100" b="1" dirty="0" smtClean="0">
                <a:solidFill>
                  <a:schemeClr val="tx1">
                    <a:lumMod val="85000"/>
                    <a:lumOff val="15000"/>
                  </a:schemeClr>
                </a:solidFill>
              </a:rPr>
              <a:t>Verilenlere göre havuzun en derin noktasının uzunluğu</a:t>
            </a:r>
          </a:p>
          <a:p>
            <a:r>
              <a:rPr lang="tr-TR" sz="1100" b="1" dirty="0" smtClean="0">
                <a:solidFill>
                  <a:schemeClr val="tx1">
                    <a:lumMod val="85000"/>
                    <a:lumOff val="15000"/>
                  </a:schemeClr>
                </a:solidFill>
              </a:rPr>
              <a:t>kaç metredir?</a:t>
            </a:r>
            <a:endParaRPr lang="tr-TR" sz="1100" b="1" dirty="0">
              <a:solidFill>
                <a:schemeClr val="tx1">
                  <a:lumMod val="85000"/>
                  <a:lumOff val="15000"/>
                </a:schemeClr>
              </a:solidFill>
            </a:endParaRPr>
          </a:p>
          <a:p>
            <a:endParaRPr lang="tr-TR" sz="1100" dirty="0">
              <a:solidFill>
                <a:schemeClr val="tx1">
                  <a:lumMod val="85000"/>
                  <a:lumOff val="15000"/>
                </a:schemeClr>
              </a:solidFill>
            </a:endParaRPr>
          </a:p>
        </p:txBody>
      </p:sp>
      <p:sp>
        <p:nvSpPr>
          <p:cNvPr id="168" name="Dikdörtgen 167"/>
          <p:cNvSpPr/>
          <p:nvPr/>
        </p:nvSpPr>
        <p:spPr>
          <a:xfrm>
            <a:off x="3692063" y="797586"/>
            <a:ext cx="3038011" cy="261610"/>
          </a:xfrm>
          <a:prstGeom prst="rect">
            <a:avLst/>
          </a:prstGeom>
        </p:spPr>
        <p:txBody>
          <a:bodyPr wrap="none">
            <a:spAutoFit/>
          </a:bodyPr>
          <a:lstStyle/>
          <a:p>
            <a:r>
              <a:rPr lang="tr-TR" sz="1100" noProof="1" smtClean="0">
                <a:solidFill>
                  <a:schemeClr val="tx1">
                    <a:lumMod val="85000"/>
                    <a:lumOff val="15000"/>
                  </a:schemeClr>
                </a:solidFill>
              </a:rPr>
              <a:t>Şematize edilen algoritmadaki talimatları izleyiniz.</a:t>
            </a:r>
            <a:endParaRPr lang="tr-TR" sz="1100" noProof="1"/>
          </a:p>
        </p:txBody>
      </p:sp>
      <p:sp>
        <p:nvSpPr>
          <p:cNvPr id="78" name="Oval 77"/>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79" name="Metin kutusu 78"/>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80" name="Metin kutusu 79"/>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81" name="Oval 80"/>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82" name="Düz Bağlayıcı 81"/>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Düz Bağlayıcı 83"/>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85" name="Metin kutusu 84"/>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86" name="Oval 85"/>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87" name="Düz Bağlayıcı 86"/>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88" name="Metin kutusu 87"/>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89" name="Oval 88"/>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01" name="Dikdörtgen 100"/>
          <p:cNvSpPr/>
          <p:nvPr/>
        </p:nvSpPr>
        <p:spPr>
          <a:xfrm>
            <a:off x="53885" y="8819480"/>
            <a:ext cx="8523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102" name="Metin kutusu 101"/>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9.B</a:t>
            </a:r>
            <a:endParaRPr lang="tr-TR" sz="1000" dirty="0">
              <a:solidFill>
                <a:schemeClr val="tx1">
                  <a:lumMod val="85000"/>
                  <a:lumOff val="15000"/>
                </a:schemeClr>
              </a:solidFill>
            </a:endParaRPr>
          </a:p>
        </p:txBody>
      </p:sp>
      <p:cxnSp>
        <p:nvCxnSpPr>
          <p:cNvPr id="103" name="Düz Bağlayıcı 102"/>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Düz Bağlayıcı 103"/>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5" name="Metin kutusu 104"/>
          <p:cNvSpPr txBox="1"/>
          <p:nvPr/>
        </p:nvSpPr>
        <p:spPr>
          <a:xfrm>
            <a:off x="413045" y="8828612"/>
            <a:ext cx="539780"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10.  C</a:t>
            </a:r>
            <a:endParaRPr lang="tr-TR" sz="1000" dirty="0">
              <a:solidFill>
                <a:schemeClr val="tx1">
                  <a:lumMod val="85000"/>
                  <a:lumOff val="15000"/>
                </a:schemeClr>
              </a:solidFill>
            </a:endParaRPr>
          </a:p>
        </p:txBody>
      </p:sp>
      <p:sp>
        <p:nvSpPr>
          <p:cNvPr id="106" name="Dikdörtgen 10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Serbest Form 13"/>
          <p:cNvSpPr/>
          <p:nvPr/>
        </p:nvSpPr>
        <p:spPr>
          <a:xfrm>
            <a:off x="332656" y="1321773"/>
            <a:ext cx="2926080" cy="2224214"/>
          </a:xfrm>
          <a:custGeom>
            <a:avLst/>
            <a:gdLst>
              <a:gd name="connsiteX0" fmla="*/ 0 w 2926080"/>
              <a:gd name="connsiteY0" fmla="*/ 0 h 2354580"/>
              <a:gd name="connsiteX1" fmla="*/ 1379220 w 2926080"/>
              <a:gd name="connsiteY1" fmla="*/ 2354580 h 2354580"/>
              <a:gd name="connsiteX2" fmla="*/ 2926080 w 2926080"/>
              <a:gd name="connsiteY2" fmla="*/ 0 h 2354580"/>
            </a:gdLst>
            <a:ahLst/>
            <a:cxnLst>
              <a:cxn ang="0">
                <a:pos x="connsiteX0" y="connsiteY0"/>
              </a:cxn>
              <a:cxn ang="0">
                <a:pos x="connsiteX1" y="connsiteY1"/>
              </a:cxn>
              <a:cxn ang="0">
                <a:pos x="connsiteX2" y="connsiteY2"/>
              </a:cxn>
            </a:cxnLst>
            <a:rect l="l" t="t" r="r" b="b"/>
            <a:pathLst>
              <a:path w="2926080" h="2354580">
                <a:moveTo>
                  <a:pt x="0" y="0"/>
                </a:moveTo>
                <a:cubicBezTo>
                  <a:pt x="445770" y="1177290"/>
                  <a:pt x="891540" y="2354580"/>
                  <a:pt x="1379220" y="2354580"/>
                </a:cubicBezTo>
                <a:cubicBezTo>
                  <a:pt x="1866900" y="2354580"/>
                  <a:pt x="2612390" y="309880"/>
                  <a:pt x="2926080" y="0"/>
                </a:cubicBezTo>
              </a:path>
            </a:pathLst>
          </a:custGeom>
          <a:blipFill dpi="0" rotWithShape="1">
            <a:blip r:embed="rId6">
              <a:extLst>
                <a:ext uri="{28A0092B-C50C-407E-A947-70E740481C1C}">
                  <a14:useLocalDpi xmlns:a14="http://schemas.microsoft.com/office/drawing/2010/main" val="0"/>
                </a:ext>
              </a:extLst>
            </a:blip>
            <a:srcRect/>
            <a:stretch>
              <a:fillRect/>
            </a:stretch>
          </a:bli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12" name="Düz Ok Bağlayıcısı 11"/>
          <p:cNvCxnSpPr/>
          <p:nvPr/>
        </p:nvCxnSpPr>
        <p:spPr>
          <a:xfrm>
            <a:off x="1712985" y="1311905"/>
            <a:ext cx="0" cy="2251983"/>
          </a:xfrm>
          <a:prstGeom prst="straightConnector1">
            <a:avLst/>
          </a:prstGeom>
          <a:ln>
            <a:solidFill>
              <a:schemeClr val="bg1">
                <a:lumMod val="95000"/>
              </a:schemeClr>
            </a:solidFill>
            <a:tailEnd type="arrow"/>
          </a:ln>
        </p:spPr>
        <p:style>
          <a:lnRef idx="1">
            <a:schemeClr val="accent1"/>
          </a:lnRef>
          <a:fillRef idx="0">
            <a:schemeClr val="accent1"/>
          </a:fillRef>
          <a:effectRef idx="0">
            <a:schemeClr val="accent1"/>
          </a:effectRef>
          <a:fontRef idx="minor">
            <a:schemeClr val="tx1"/>
          </a:fontRef>
        </p:style>
      </p:cxnSp>
      <p:sp>
        <p:nvSpPr>
          <p:cNvPr id="43" name="Dikdörtgen 42"/>
          <p:cNvSpPr/>
          <p:nvPr/>
        </p:nvSpPr>
        <p:spPr>
          <a:xfrm>
            <a:off x="3116645" y="1114165"/>
            <a:ext cx="266420" cy="261610"/>
          </a:xfrm>
          <a:prstGeom prst="rect">
            <a:avLst/>
          </a:prstGeom>
        </p:spPr>
        <p:txBody>
          <a:bodyPr wrap="none">
            <a:spAutoFit/>
          </a:bodyPr>
          <a:lstStyle/>
          <a:p>
            <a:r>
              <a:rPr lang="tr-TR" sz="1100" dirty="0" smtClean="0">
                <a:solidFill>
                  <a:schemeClr val="tx1">
                    <a:lumMod val="85000"/>
                    <a:lumOff val="15000"/>
                  </a:schemeClr>
                </a:solidFill>
              </a:rPr>
              <a:t>A</a:t>
            </a:r>
            <a:endParaRPr lang="tr-TR" sz="1100" dirty="0"/>
          </a:p>
        </p:txBody>
      </p:sp>
      <p:sp>
        <p:nvSpPr>
          <p:cNvPr id="44" name="Dikdörtgen 43"/>
          <p:cNvSpPr/>
          <p:nvPr/>
        </p:nvSpPr>
        <p:spPr>
          <a:xfrm>
            <a:off x="2276872" y="1114165"/>
            <a:ext cx="266420" cy="261610"/>
          </a:xfrm>
          <a:prstGeom prst="rect">
            <a:avLst/>
          </a:prstGeom>
        </p:spPr>
        <p:txBody>
          <a:bodyPr wrap="none">
            <a:spAutoFit/>
          </a:bodyPr>
          <a:lstStyle/>
          <a:p>
            <a:r>
              <a:rPr lang="tr-TR" sz="1100" dirty="0" smtClean="0">
                <a:solidFill>
                  <a:schemeClr val="tx1">
                    <a:lumMod val="85000"/>
                    <a:lumOff val="15000"/>
                  </a:schemeClr>
                </a:solidFill>
              </a:rPr>
              <a:t>B</a:t>
            </a:r>
            <a:endParaRPr lang="tr-TR" sz="1100" dirty="0"/>
          </a:p>
        </p:txBody>
      </p:sp>
      <p:cxnSp>
        <p:nvCxnSpPr>
          <p:cNvPr id="7" name="Düz Bağlayıcı 6"/>
          <p:cNvCxnSpPr/>
          <p:nvPr/>
        </p:nvCxnSpPr>
        <p:spPr>
          <a:xfrm>
            <a:off x="2395610" y="1316978"/>
            <a:ext cx="0" cy="152683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Dikdörtgen 48"/>
          <p:cNvSpPr/>
          <p:nvPr/>
        </p:nvSpPr>
        <p:spPr>
          <a:xfrm>
            <a:off x="1586187" y="1114165"/>
            <a:ext cx="253596" cy="261610"/>
          </a:xfrm>
          <a:prstGeom prst="rect">
            <a:avLst/>
          </a:prstGeom>
        </p:spPr>
        <p:txBody>
          <a:bodyPr wrap="none">
            <a:spAutoFit/>
          </a:bodyPr>
          <a:lstStyle/>
          <a:p>
            <a:r>
              <a:rPr lang="tr-TR" sz="1100" dirty="0" smtClean="0">
                <a:solidFill>
                  <a:schemeClr val="tx1">
                    <a:lumMod val="85000"/>
                    <a:lumOff val="15000"/>
                  </a:schemeClr>
                </a:solidFill>
              </a:rPr>
              <a:t>T</a:t>
            </a:r>
            <a:endParaRPr lang="tr-TR" sz="1100" dirty="0"/>
          </a:p>
        </p:txBody>
      </p:sp>
      <p:sp>
        <p:nvSpPr>
          <p:cNvPr id="50" name="Dikdörtgen 49"/>
          <p:cNvSpPr/>
          <p:nvPr/>
        </p:nvSpPr>
        <p:spPr>
          <a:xfrm>
            <a:off x="244483" y="1122165"/>
            <a:ext cx="260008" cy="261610"/>
          </a:xfrm>
          <a:prstGeom prst="rect">
            <a:avLst/>
          </a:prstGeom>
        </p:spPr>
        <p:txBody>
          <a:bodyPr wrap="none">
            <a:spAutoFit/>
          </a:bodyPr>
          <a:lstStyle/>
          <a:p>
            <a:r>
              <a:rPr lang="tr-TR" sz="1100" dirty="0" smtClean="0">
                <a:solidFill>
                  <a:schemeClr val="tx1">
                    <a:lumMod val="85000"/>
                    <a:lumOff val="15000"/>
                  </a:schemeClr>
                </a:solidFill>
              </a:rPr>
              <a:t>C</a:t>
            </a:r>
            <a:endParaRPr lang="tr-TR" sz="1100" dirty="0"/>
          </a:p>
        </p:txBody>
      </p:sp>
      <p:sp>
        <p:nvSpPr>
          <p:cNvPr id="51" name="Dikdörtgen 50"/>
          <p:cNvSpPr/>
          <p:nvPr/>
        </p:nvSpPr>
        <p:spPr>
          <a:xfrm>
            <a:off x="2265606" y="2839478"/>
            <a:ext cx="271228" cy="261610"/>
          </a:xfrm>
          <a:prstGeom prst="rect">
            <a:avLst/>
          </a:prstGeom>
        </p:spPr>
        <p:txBody>
          <a:bodyPr wrap="none">
            <a:spAutoFit/>
          </a:bodyPr>
          <a:lstStyle/>
          <a:p>
            <a:r>
              <a:rPr lang="tr-TR" sz="1100" dirty="0" smtClean="0">
                <a:solidFill>
                  <a:schemeClr val="tx1">
                    <a:lumMod val="85000"/>
                    <a:lumOff val="15000"/>
                  </a:schemeClr>
                </a:solidFill>
              </a:rPr>
              <a:t>D</a:t>
            </a:r>
            <a:endParaRPr lang="tr-TR" sz="1100" dirty="0"/>
          </a:p>
        </p:txBody>
      </p:sp>
      <p:sp>
        <p:nvSpPr>
          <p:cNvPr id="52" name="Metin kutusu 51"/>
          <p:cNvSpPr txBox="1"/>
          <p:nvPr/>
        </p:nvSpPr>
        <p:spPr>
          <a:xfrm>
            <a:off x="67989" y="5148064"/>
            <a:ext cx="3328491"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7,2                            B)  4,5                         C) </a:t>
            </a:r>
          </a:p>
          <a:p>
            <a:pPr marL="228600" indent="-228600">
              <a:buAutoNum type="alphaUcParenR"/>
            </a:pPr>
            <a:endParaRPr lang="tr-TR" sz="1200" dirty="0" smtClean="0">
              <a:solidFill>
                <a:schemeClr val="tx1">
                  <a:lumMod val="85000"/>
                  <a:lumOff val="15000"/>
                </a:schemeClr>
              </a:solidFill>
            </a:endParaRPr>
          </a:p>
          <a:p>
            <a:r>
              <a:rPr lang="tr-TR" sz="1200" dirty="0">
                <a:solidFill>
                  <a:schemeClr val="tx1">
                    <a:lumMod val="85000"/>
                    <a:lumOff val="15000"/>
                  </a:schemeClr>
                </a:solidFill>
              </a:rPr>
              <a:t> </a:t>
            </a:r>
            <a:r>
              <a:rPr lang="tr-TR" sz="1200" dirty="0" smtClean="0">
                <a:solidFill>
                  <a:schemeClr val="tx1">
                    <a:lumMod val="85000"/>
                    <a:lumOff val="15000"/>
                  </a:schemeClr>
                </a:solidFill>
              </a:rPr>
              <a:t>                  D) </a:t>
            </a:r>
            <a:r>
              <a:rPr lang="tr-TR" sz="1200" dirty="0">
                <a:solidFill>
                  <a:schemeClr val="tx1">
                    <a:lumMod val="85000"/>
                    <a:lumOff val="15000"/>
                  </a:schemeClr>
                </a:solidFill>
              </a:rPr>
              <a:t> </a:t>
            </a:r>
            <a:r>
              <a:rPr lang="tr-TR" sz="1200" dirty="0" smtClean="0">
                <a:solidFill>
                  <a:schemeClr val="tx1">
                    <a:lumMod val="85000"/>
                    <a:lumOff val="15000"/>
                  </a:schemeClr>
                </a:solidFill>
              </a:rPr>
              <a:t>                             E)  18</a:t>
            </a:r>
          </a:p>
        </p:txBody>
      </p:sp>
      <mc:AlternateContent xmlns:mc="http://schemas.openxmlformats.org/markup-compatibility/2006" xmlns:a14="http://schemas.microsoft.com/office/drawing/2010/main">
        <mc:Choice Requires="a14">
          <p:sp>
            <p:nvSpPr>
              <p:cNvPr id="2070" name="Dikdörtgen 2069"/>
              <p:cNvSpPr/>
              <p:nvPr/>
            </p:nvSpPr>
            <p:spPr>
              <a:xfrm>
                <a:off x="2890518" y="5152628"/>
                <a:ext cx="466474" cy="279244"/>
              </a:xfrm>
              <a:prstGeom prst="rect">
                <a:avLst/>
              </a:prstGeom>
            </p:spPr>
            <p:txBody>
              <a:bodyPr wrap="none">
                <a:spAutoFit/>
              </a:bodyPr>
              <a:lstStyle/>
              <a:p>
                <a14:m>
                  <m:oMath xmlns:m="http://schemas.openxmlformats.org/officeDocument/2006/math">
                    <m:r>
                      <a:rPr lang="tr-TR" sz="1100" i="0">
                        <a:latin typeface="Cambria Math"/>
                      </a:rPr>
                      <m:t>6</m:t>
                    </m:r>
                    <m:rad>
                      <m:radPr>
                        <m:degHide m:val="on"/>
                        <m:ctrlPr>
                          <a:rPr lang="tr-TR" sz="1100" i="1" smtClean="0">
                            <a:latin typeface="Cambria Math"/>
                          </a:rPr>
                        </m:ctrlPr>
                      </m:radPr>
                      <m:deg/>
                      <m:e>
                        <m:r>
                          <a:rPr lang="tr-TR" sz="1100" b="0" i="0" smtClean="0">
                            <a:latin typeface="Cambria Math"/>
                          </a:rPr>
                          <m:t>5</m:t>
                        </m:r>
                      </m:e>
                    </m:rad>
                  </m:oMath>
                </a14:m>
                <a:r>
                  <a:rPr lang="tr-TR" sz="1100" dirty="0" smtClean="0"/>
                  <a:t> </a:t>
                </a:r>
                <a:endParaRPr lang="tr-TR" sz="1100" dirty="0"/>
              </a:p>
            </p:txBody>
          </p:sp>
        </mc:Choice>
        <mc:Fallback xmlns="">
          <p:sp>
            <p:nvSpPr>
              <p:cNvPr id="2070" name="Dikdörtgen 2069"/>
              <p:cNvSpPr>
                <a:spLocks noRot="1" noChangeAspect="1" noMove="1" noResize="1" noEditPoints="1" noAdjustHandles="1" noChangeArrowheads="1" noChangeShapeType="1" noTextEdit="1"/>
              </p:cNvSpPr>
              <p:nvPr/>
            </p:nvSpPr>
            <p:spPr>
              <a:xfrm>
                <a:off x="2890518" y="5152628"/>
                <a:ext cx="466474" cy="279244"/>
              </a:xfrm>
              <a:prstGeom prst="rect">
                <a:avLst/>
              </a:prstGeom>
              <a:blipFill rotWithShape="1">
                <a:blip r:embed="rId7"/>
                <a:stretch>
                  <a:fillRect/>
                </a:stretch>
              </a:blipFill>
            </p:spPr>
            <p:txBody>
              <a:bodyPr/>
              <a:lstStyle/>
              <a:p>
                <a:r>
                  <a:rPr lang="tr-TR">
                    <a:noFill/>
                  </a:rPr>
                  <a:t> </a:t>
                </a:r>
              </a:p>
            </p:txBody>
          </p:sp>
        </mc:Fallback>
      </mc:AlternateContent>
      <p:sp>
        <p:nvSpPr>
          <p:cNvPr id="8" name="Dikdörtgen 7"/>
          <p:cNvSpPr/>
          <p:nvPr/>
        </p:nvSpPr>
        <p:spPr>
          <a:xfrm>
            <a:off x="3789040" y="1122165"/>
            <a:ext cx="2826286" cy="356765"/>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tr-TR"/>
          </a:p>
        </p:txBody>
      </p:sp>
      <p:sp>
        <p:nvSpPr>
          <p:cNvPr id="54" name="Dikdörtgen 53"/>
          <p:cNvSpPr/>
          <p:nvPr/>
        </p:nvSpPr>
        <p:spPr>
          <a:xfrm>
            <a:off x="3717032" y="1169742"/>
            <a:ext cx="3027077" cy="246221"/>
          </a:xfrm>
          <a:prstGeom prst="rect">
            <a:avLst/>
          </a:prstGeom>
        </p:spPr>
        <p:txBody>
          <a:bodyPr wrap="square">
            <a:spAutoFit/>
          </a:bodyPr>
          <a:lstStyle/>
          <a:p>
            <a:r>
              <a:rPr lang="tr-TR" sz="1000" b="1" dirty="0" smtClean="0">
                <a:solidFill>
                  <a:schemeClr val="tx1">
                    <a:lumMod val="85000"/>
                    <a:lumOff val="15000"/>
                  </a:schemeClr>
                </a:solidFill>
              </a:rPr>
              <a:t>Tepe noktası apsisine göre büyük olana öncelik ver.</a:t>
            </a:r>
            <a:endParaRPr lang="tr-TR" sz="1000" b="1" dirty="0"/>
          </a:p>
        </p:txBody>
      </p:sp>
      <p:sp>
        <p:nvSpPr>
          <p:cNvPr id="9" name="Aşağı Ok 8"/>
          <p:cNvSpPr/>
          <p:nvPr/>
        </p:nvSpPr>
        <p:spPr>
          <a:xfrm>
            <a:off x="3765735" y="1738008"/>
            <a:ext cx="216020" cy="46805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6" name="Aşağı Ok 55"/>
          <p:cNvSpPr/>
          <p:nvPr/>
        </p:nvSpPr>
        <p:spPr>
          <a:xfrm>
            <a:off x="4632273" y="1727684"/>
            <a:ext cx="216020" cy="46805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7" name="Aşağı Ok 56"/>
          <p:cNvSpPr/>
          <p:nvPr/>
        </p:nvSpPr>
        <p:spPr>
          <a:xfrm>
            <a:off x="5464029" y="1727684"/>
            <a:ext cx="216020" cy="46805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8" name="Aşağı Ok 57"/>
          <p:cNvSpPr/>
          <p:nvPr/>
        </p:nvSpPr>
        <p:spPr>
          <a:xfrm>
            <a:off x="6399306" y="1757342"/>
            <a:ext cx="216020" cy="468052"/>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1" name="Oval 20"/>
          <p:cNvSpPr/>
          <p:nvPr/>
        </p:nvSpPr>
        <p:spPr>
          <a:xfrm>
            <a:off x="3476331" y="2275620"/>
            <a:ext cx="794829" cy="66720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7" name="Oval 66"/>
          <p:cNvSpPr/>
          <p:nvPr/>
        </p:nvSpPr>
        <p:spPr>
          <a:xfrm>
            <a:off x="4342869" y="2274856"/>
            <a:ext cx="794829" cy="66720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8" name="Oval 67"/>
          <p:cNvSpPr/>
          <p:nvPr/>
        </p:nvSpPr>
        <p:spPr>
          <a:xfrm>
            <a:off x="5191981" y="2275620"/>
            <a:ext cx="794829" cy="66720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9" name="Oval 68"/>
          <p:cNvSpPr/>
          <p:nvPr/>
        </p:nvSpPr>
        <p:spPr>
          <a:xfrm>
            <a:off x="6021288" y="2275779"/>
            <a:ext cx="794829" cy="667208"/>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28" name="Çember Ok 27"/>
          <p:cNvSpPr/>
          <p:nvPr/>
        </p:nvSpPr>
        <p:spPr>
          <a:xfrm>
            <a:off x="3674986" y="3023828"/>
            <a:ext cx="1454985" cy="1512168"/>
          </a:xfrm>
          <a:prstGeom prst="circular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29" name="Bükülü Ok 28"/>
          <p:cNvSpPr/>
          <p:nvPr/>
        </p:nvSpPr>
        <p:spPr>
          <a:xfrm rot="13479532">
            <a:off x="3953026" y="3631734"/>
            <a:ext cx="847116" cy="683112"/>
          </a:xfrm>
          <a:prstGeom prst="bentArrow">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solidFill>
                <a:schemeClr val="tx1"/>
              </a:solidFill>
            </a:endParaRPr>
          </a:p>
        </p:txBody>
      </p:sp>
      <p:sp>
        <p:nvSpPr>
          <p:cNvPr id="30" name="Akış Çizelgesi: Depolanmış Veri 29"/>
          <p:cNvSpPr/>
          <p:nvPr/>
        </p:nvSpPr>
        <p:spPr>
          <a:xfrm>
            <a:off x="5253260" y="3131840"/>
            <a:ext cx="1490849" cy="864096"/>
          </a:xfrm>
          <a:prstGeom prst="flowChartOnlineStorage">
            <a:avLst/>
          </a:prstGeom>
        </p:spPr>
        <p:style>
          <a:lnRef idx="2">
            <a:schemeClr val="accent5"/>
          </a:lnRef>
          <a:fillRef idx="1">
            <a:schemeClr val="lt1"/>
          </a:fillRef>
          <a:effectRef idx="0">
            <a:schemeClr val="accent5"/>
          </a:effectRef>
          <a:fontRef idx="minor">
            <a:schemeClr val="dk1"/>
          </a:fontRef>
        </p:style>
        <p:txBody>
          <a:bodyPr rtlCol="0" anchor="ctr"/>
          <a:lstStyle/>
          <a:p>
            <a:pPr algn="ctr"/>
            <a:endParaRPr lang="tr-TR"/>
          </a:p>
        </p:txBody>
      </p:sp>
      <p:sp>
        <p:nvSpPr>
          <p:cNvPr id="92" name="Dikdörtgen 91"/>
          <p:cNvSpPr/>
          <p:nvPr/>
        </p:nvSpPr>
        <p:spPr>
          <a:xfrm>
            <a:off x="3527963" y="4644008"/>
            <a:ext cx="3302954" cy="769441"/>
          </a:xfrm>
          <a:prstGeom prst="rect">
            <a:avLst/>
          </a:prstGeom>
        </p:spPr>
        <p:txBody>
          <a:bodyPr wrap="square">
            <a:spAutoFit/>
          </a:bodyPr>
          <a:lstStyle/>
          <a:p>
            <a:r>
              <a:rPr lang="tr-TR" sz="1100" noProof="1" smtClean="0">
                <a:solidFill>
                  <a:schemeClr val="tx1">
                    <a:lumMod val="85000"/>
                    <a:lumOff val="15000"/>
                  </a:schemeClr>
                </a:solidFill>
              </a:rPr>
              <a:t>2.İşlem olarak C kuralına geçiş yapılmaktadır. Eğer C kuralındaki şarta uymuyorsa ok yönünü takip edip tekrar C kuralında kontrol edilmektedir. C kuralının formatına uyana kadar ilgili işlem yapılmaktadır. </a:t>
            </a:r>
            <a:endParaRPr lang="tr-TR" sz="1100" dirty="0">
              <a:solidFill>
                <a:schemeClr val="tx1">
                  <a:lumMod val="85000"/>
                  <a:lumOff val="15000"/>
                </a:schemeClr>
              </a:solidFill>
            </a:endParaRPr>
          </a:p>
        </p:txBody>
      </p:sp>
      <p:cxnSp>
        <p:nvCxnSpPr>
          <p:cNvPr id="2048" name="Düz Ok Bağlayıcısı 2047"/>
          <p:cNvCxnSpPr>
            <a:stCxn id="21" idx="4"/>
            <a:endCxn id="30" idx="0"/>
          </p:cNvCxnSpPr>
          <p:nvPr/>
        </p:nvCxnSpPr>
        <p:spPr>
          <a:xfrm>
            <a:off x="3873746" y="2942828"/>
            <a:ext cx="2124939" cy="18901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50" name="Düz Ok Bağlayıcısı 2049"/>
          <p:cNvCxnSpPr>
            <a:stCxn id="67" idx="4"/>
            <a:endCxn id="30" idx="0"/>
          </p:cNvCxnSpPr>
          <p:nvPr/>
        </p:nvCxnSpPr>
        <p:spPr>
          <a:xfrm>
            <a:off x="4740284" y="2942064"/>
            <a:ext cx="1258401" cy="189776"/>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52" name="Düz Ok Bağlayıcısı 2051"/>
          <p:cNvCxnSpPr>
            <a:stCxn id="68" idx="4"/>
            <a:endCxn id="30" idx="0"/>
          </p:cNvCxnSpPr>
          <p:nvPr/>
        </p:nvCxnSpPr>
        <p:spPr>
          <a:xfrm>
            <a:off x="5589396" y="2942828"/>
            <a:ext cx="409289" cy="18901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54" name="Düz Ok Bağlayıcısı 2053"/>
          <p:cNvCxnSpPr>
            <a:stCxn id="69" idx="4"/>
            <a:endCxn id="30" idx="0"/>
          </p:cNvCxnSpPr>
          <p:nvPr/>
        </p:nvCxnSpPr>
        <p:spPr>
          <a:xfrm flipH="1">
            <a:off x="5998685" y="2942987"/>
            <a:ext cx="420018" cy="188853"/>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3" name="Dikdörtgen 92"/>
          <p:cNvSpPr/>
          <p:nvPr/>
        </p:nvSpPr>
        <p:spPr>
          <a:xfrm>
            <a:off x="5348776" y="3203848"/>
            <a:ext cx="1416937" cy="769441"/>
          </a:xfrm>
          <a:prstGeom prst="rect">
            <a:avLst/>
          </a:prstGeom>
        </p:spPr>
        <p:txBody>
          <a:bodyPr wrap="square">
            <a:spAutoFit/>
          </a:bodyPr>
          <a:lstStyle/>
          <a:p>
            <a:r>
              <a:rPr lang="tr-TR" sz="1100" b="1" noProof="1" smtClean="0">
                <a:solidFill>
                  <a:schemeClr val="tx1">
                    <a:lumMod val="85000"/>
                    <a:lumOff val="15000"/>
                  </a:schemeClr>
                </a:solidFill>
              </a:rPr>
              <a:t>Çift fonksiyonsa</a:t>
            </a:r>
          </a:p>
          <a:p>
            <a:r>
              <a:rPr lang="tr-TR" sz="1100" b="1" noProof="1" smtClean="0">
                <a:solidFill>
                  <a:schemeClr val="tx1">
                    <a:lumMod val="85000"/>
                    <a:lumOff val="15000"/>
                  </a:schemeClr>
                </a:solidFill>
              </a:rPr>
              <a:t>işlemini bitir.</a:t>
            </a:r>
          </a:p>
          <a:p>
            <a:r>
              <a:rPr lang="tr-TR" sz="1100" b="1" noProof="1" smtClean="0">
                <a:solidFill>
                  <a:schemeClr val="tx1">
                    <a:lumMod val="85000"/>
                    <a:lumOff val="15000"/>
                  </a:schemeClr>
                </a:solidFill>
              </a:rPr>
              <a:t>Değilse oklara </a:t>
            </a:r>
          </a:p>
          <a:p>
            <a:r>
              <a:rPr lang="tr-TR" sz="1100" b="1" noProof="1" smtClean="0">
                <a:solidFill>
                  <a:schemeClr val="tx1">
                    <a:lumMod val="85000"/>
                    <a:lumOff val="15000"/>
                  </a:schemeClr>
                </a:solidFill>
              </a:rPr>
              <a:t>Yönlendir.</a:t>
            </a:r>
            <a:endParaRPr lang="tr-TR" sz="1100" b="1" dirty="0">
              <a:solidFill>
                <a:schemeClr val="tx1">
                  <a:lumMod val="85000"/>
                  <a:lumOff val="15000"/>
                </a:schemeClr>
              </a:solidFill>
            </a:endParaRPr>
          </a:p>
        </p:txBody>
      </p:sp>
      <p:sp>
        <p:nvSpPr>
          <p:cNvPr id="94" name="Dikdörtgen 93"/>
          <p:cNvSpPr/>
          <p:nvPr/>
        </p:nvSpPr>
        <p:spPr>
          <a:xfrm>
            <a:off x="6427742" y="3358079"/>
            <a:ext cx="517856" cy="338554"/>
          </a:xfrm>
          <a:prstGeom prst="rect">
            <a:avLst/>
          </a:prstGeom>
        </p:spPr>
        <p:txBody>
          <a:bodyPr wrap="square">
            <a:spAutoFit/>
          </a:bodyPr>
          <a:lstStyle/>
          <a:p>
            <a:pPr algn="ctr"/>
            <a:r>
              <a:rPr lang="tr-TR" sz="800" b="1" noProof="1" smtClean="0">
                <a:solidFill>
                  <a:schemeClr val="tx1">
                    <a:lumMod val="85000"/>
                    <a:lumOff val="15000"/>
                  </a:schemeClr>
                </a:solidFill>
              </a:rPr>
              <a:t>C </a:t>
            </a:r>
          </a:p>
          <a:p>
            <a:pPr algn="ctr"/>
            <a:r>
              <a:rPr lang="tr-TR" sz="800" b="1" noProof="1" smtClean="0">
                <a:solidFill>
                  <a:schemeClr val="tx1">
                    <a:lumMod val="85000"/>
                    <a:lumOff val="15000"/>
                  </a:schemeClr>
                </a:solidFill>
              </a:rPr>
              <a:t>Kuralı</a:t>
            </a:r>
            <a:endParaRPr lang="tr-TR" sz="800" b="1" dirty="0">
              <a:solidFill>
                <a:schemeClr val="tx1">
                  <a:lumMod val="85000"/>
                  <a:lumOff val="15000"/>
                </a:schemeClr>
              </a:solidFill>
            </a:endParaRPr>
          </a:p>
        </p:txBody>
      </p:sp>
      <p:sp>
        <p:nvSpPr>
          <p:cNvPr id="95" name="Dikdörtgen 94"/>
          <p:cNvSpPr/>
          <p:nvPr/>
        </p:nvSpPr>
        <p:spPr>
          <a:xfrm>
            <a:off x="3933230" y="3527356"/>
            <a:ext cx="904189" cy="369332"/>
          </a:xfrm>
          <a:prstGeom prst="rect">
            <a:avLst/>
          </a:prstGeom>
        </p:spPr>
        <p:txBody>
          <a:bodyPr wrap="square">
            <a:spAutoFit/>
          </a:bodyPr>
          <a:lstStyle/>
          <a:p>
            <a:pPr algn="ctr"/>
            <a:r>
              <a:rPr lang="tr-TR" sz="900" b="1" noProof="1" smtClean="0">
                <a:solidFill>
                  <a:schemeClr val="tx1">
                    <a:lumMod val="85000"/>
                    <a:lumOff val="15000"/>
                  </a:schemeClr>
                </a:solidFill>
              </a:rPr>
              <a:t>Denkleminden</a:t>
            </a:r>
          </a:p>
          <a:p>
            <a:pPr algn="ctr"/>
            <a:r>
              <a:rPr lang="tr-TR" sz="900" b="1" noProof="1" smtClean="0">
                <a:solidFill>
                  <a:schemeClr val="tx1">
                    <a:lumMod val="85000"/>
                    <a:lumOff val="15000"/>
                  </a:schemeClr>
                </a:solidFill>
              </a:rPr>
              <a:t>x çıkar.</a:t>
            </a:r>
          </a:p>
        </p:txBody>
      </p:sp>
      <p:sp>
        <p:nvSpPr>
          <p:cNvPr id="96" name="Dikdörtgen 95"/>
          <p:cNvSpPr/>
          <p:nvPr/>
        </p:nvSpPr>
        <p:spPr>
          <a:xfrm>
            <a:off x="3527963" y="1907704"/>
            <a:ext cx="328200" cy="261610"/>
          </a:xfrm>
          <a:prstGeom prst="rect">
            <a:avLst/>
          </a:prstGeom>
        </p:spPr>
        <p:txBody>
          <a:bodyPr wrap="square">
            <a:spAutoFit/>
          </a:bodyPr>
          <a:lstStyle/>
          <a:p>
            <a:r>
              <a:rPr lang="tr-TR" sz="1100" noProof="1" smtClean="0">
                <a:solidFill>
                  <a:schemeClr val="tx1">
                    <a:lumMod val="85000"/>
                    <a:lumOff val="15000"/>
                  </a:schemeClr>
                </a:solidFill>
              </a:rPr>
              <a:t>A</a:t>
            </a:r>
            <a:endParaRPr lang="tr-TR" sz="1100" dirty="0">
              <a:solidFill>
                <a:schemeClr val="tx1">
                  <a:lumMod val="85000"/>
                  <a:lumOff val="15000"/>
                </a:schemeClr>
              </a:solidFill>
            </a:endParaRPr>
          </a:p>
        </p:txBody>
      </p:sp>
      <p:sp>
        <p:nvSpPr>
          <p:cNvPr id="97" name="Dikdörtgen 96"/>
          <p:cNvSpPr/>
          <p:nvPr/>
        </p:nvSpPr>
        <p:spPr>
          <a:xfrm>
            <a:off x="4315058" y="1890078"/>
            <a:ext cx="328200" cy="261610"/>
          </a:xfrm>
          <a:prstGeom prst="rect">
            <a:avLst/>
          </a:prstGeom>
        </p:spPr>
        <p:txBody>
          <a:bodyPr wrap="square">
            <a:spAutoFit/>
          </a:bodyPr>
          <a:lstStyle/>
          <a:p>
            <a:r>
              <a:rPr lang="tr-TR" sz="1100" noProof="1" smtClean="0">
                <a:solidFill>
                  <a:schemeClr val="tx1">
                    <a:lumMod val="85000"/>
                    <a:lumOff val="15000"/>
                  </a:schemeClr>
                </a:solidFill>
              </a:rPr>
              <a:t>B</a:t>
            </a:r>
            <a:endParaRPr lang="tr-TR" sz="1100" dirty="0">
              <a:solidFill>
                <a:schemeClr val="tx1">
                  <a:lumMod val="85000"/>
                  <a:lumOff val="15000"/>
                </a:schemeClr>
              </a:solidFill>
            </a:endParaRPr>
          </a:p>
        </p:txBody>
      </p:sp>
      <p:sp>
        <p:nvSpPr>
          <p:cNvPr id="98" name="Dikdörtgen 97"/>
          <p:cNvSpPr/>
          <p:nvPr/>
        </p:nvSpPr>
        <p:spPr>
          <a:xfrm>
            <a:off x="5202672" y="1890078"/>
            <a:ext cx="328200" cy="261610"/>
          </a:xfrm>
          <a:prstGeom prst="rect">
            <a:avLst/>
          </a:prstGeom>
        </p:spPr>
        <p:txBody>
          <a:bodyPr wrap="square">
            <a:spAutoFit/>
          </a:bodyPr>
          <a:lstStyle/>
          <a:p>
            <a:r>
              <a:rPr lang="tr-TR" sz="1100" noProof="1" smtClean="0">
                <a:solidFill>
                  <a:schemeClr val="tx1">
                    <a:lumMod val="85000"/>
                    <a:lumOff val="15000"/>
                  </a:schemeClr>
                </a:solidFill>
              </a:rPr>
              <a:t>C</a:t>
            </a:r>
            <a:endParaRPr lang="tr-TR" sz="1100" dirty="0">
              <a:solidFill>
                <a:schemeClr val="tx1">
                  <a:lumMod val="85000"/>
                  <a:lumOff val="15000"/>
                </a:schemeClr>
              </a:solidFill>
            </a:endParaRPr>
          </a:p>
        </p:txBody>
      </p:sp>
      <p:sp>
        <p:nvSpPr>
          <p:cNvPr id="99" name="Dikdörtgen 98"/>
          <p:cNvSpPr/>
          <p:nvPr/>
        </p:nvSpPr>
        <p:spPr>
          <a:xfrm>
            <a:off x="6112355" y="1860563"/>
            <a:ext cx="328200" cy="261610"/>
          </a:xfrm>
          <a:prstGeom prst="rect">
            <a:avLst/>
          </a:prstGeom>
        </p:spPr>
        <p:txBody>
          <a:bodyPr wrap="square">
            <a:spAutoFit/>
          </a:bodyPr>
          <a:lstStyle/>
          <a:p>
            <a:r>
              <a:rPr lang="tr-TR" sz="1100" noProof="1" smtClean="0">
                <a:solidFill>
                  <a:schemeClr val="tx1">
                    <a:lumMod val="85000"/>
                    <a:lumOff val="15000"/>
                  </a:schemeClr>
                </a:solidFill>
              </a:rPr>
              <a:t>D</a:t>
            </a:r>
            <a:endParaRPr lang="tr-TR" sz="1100" dirty="0">
              <a:solidFill>
                <a:schemeClr val="tx1">
                  <a:lumMod val="85000"/>
                  <a:lumOff val="15000"/>
                </a:schemeClr>
              </a:solidFill>
            </a:endParaRPr>
          </a:p>
        </p:txBody>
      </p:sp>
      <p:sp>
        <p:nvSpPr>
          <p:cNvPr id="100" name="Dikdörtgen 99"/>
          <p:cNvSpPr/>
          <p:nvPr/>
        </p:nvSpPr>
        <p:spPr>
          <a:xfrm>
            <a:off x="3527963" y="5364088"/>
            <a:ext cx="3324709" cy="2292935"/>
          </a:xfrm>
          <a:prstGeom prst="rect">
            <a:avLst/>
          </a:prstGeom>
        </p:spPr>
        <p:txBody>
          <a:bodyPr wrap="square">
            <a:spAutoFit/>
          </a:bodyPr>
          <a:lstStyle/>
          <a:p>
            <a:r>
              <a:rPr lang="tr-TR" sz="1100" noProof="1" smtClean="0">
                <a:solidFill>
                  <a:schemeClr val="tx1">
                    <a:lumMod val="85000"/>
                    <a:lumOff val="15000"/>
                  </a:schemeClr>
                </a:solidFill>
              </a:rPr>
              <a:t>Örneğin :  x    + x + 4 fonksiyonu çift fonksiyon değildir,denklemden x çıkarıldığında  x   + 4 olur ve tanıma uyar ve işlemini C kuralı ilgili parabolün işlemini bitirmiş olur. Oklara uğramayan fonksiyonlar tek hamle, oklara her uğrama başı 1 hamle anlamına gelmektedir.</a:t>
            </a:r>
            <a:r>
              <a:rPr lang="tr-TR" sz="1100" b="1" noProof="1">
                <a:solidFill>
                  <a:schemeClr val="tx1">
                    <a:lumMod val="85000"/>
                    <a:lumOff val="15000"/>
                  </a:schemeClr>
                </a:solidFill>
              </a:rPr>
              <a:t> </a:t>
            </a:r>
            <a:r>
              <a:rPr lang="tr-TR" sz="1100" noProof="1" smtClean="0">
                <a:solidFill>
                  <a:schemeClr val="tx1">
                    <a:lumMod val="85000"/>
                    <a:lumOff val="15000"/>
                  </a:schemeClr>
                </a:solidFill>
              </a:rPr>
              <a:t> </a:t>
            </a:r>
            <a:r>
              <a:rPr lang="tr-TR" sz="1100" noProof="1">
                <a:solidFill>
                  <a:schemeClr val="tx1">
                    <a:lumMod val="85000"/>
                    <a:lumOff val="15000"/>
                  </a:schemeClr>
                </a:solidFill>
              </a:rPr>
              <a:t>A&lt;B  ise B daha önce bitirmiştir. Başlanıçta önceliği seçilen </a:t>
            </a:r>
            <a:r>
              <a:rPr lang="tr-TR" sz="1100" noProof="1" smtClean="0">
                <a:solidFill>
                  <a:schemeClr val="tx1">
                    <a:lumMod val="85000"/>
                    <a:lumOff val="15000"/>
                  </a:schemeClr>
                </a:solidFill>
              </a:rPr>
              <a:t>parabol  </a:t>
            </a:r>
            <a:r>
              <a:rPr lang="tr-TR" sz="1100" noProof="1">
                <a:solidFill>
                  <a:schemeClr val="tx1">
                    <a:lumMod val="85000"/>
                    <a:lumOff val="15000"/>
                  </a:schemeClr>
                </a:solidFill>
              </a:rPr>
              <a:t>1 hamle yaptıktan sonra diğeri hamlelere başlayabiliir. C Kuralı ve Oklar aynı anda tüm paraboller için </a:t>
            </a:r>
            <a:r>
              <a:rPr lang="tr-TR" sz="1100" noProof="1" smtClean="0">
                <a:solidFill>
                  <a:schemeClr val="tx1">
                    <a:lumMod val="85000"/>
                    <a:lumOff val="15000"/>
                  </a:schemeClr>
                </a:solidFill>
              </a:rPr>
              <a:t>çalışabilmektedirler.</a:t>
            </a:r>
          </a:p>
          <a:p>
            <a:endParaRPr lang="tr-TR" sz="1100" noProof="1">
              <a:solidFill>
                <a:schemeClr val="tx1">
                  <a:lumMod val="85000"/>
                  <a:lumOff val="15000"/>
                </a:schemeClr>
              </a:solidFill>
            </a:endParaRPr>
          </a:p>
          <a:p>
            <a:r>
              <a:rPr lang="tr-TR" sz="1100" b="1" noProof="1" smtClean="0">
                <a:solidFill>
                  <a:schemeClr val="tx1">
                    <a:lumMod val="85000"/>
                    <a:lumOff val="15000"/>
                  </a:schemeClr>
                </a:solidFill>
              </a:rPr>
              <a:t>Buna </a:t>
            </a:r>
            <a:r>
              <a:rPr lang="tr-TR" sz="1100" b="1" noProof="1">
                <a:solidFill>
                  <a:schemeClr val="tx1">
                    <a:lumMod val="85000"/>
                    <a:lumOff val="15000"/>
                  </a:schemeClr>
                </a:solidFill>
              </a:rPr>
              <a:t>göre bu parabollerin işlemlerinin bitme hızının ilkten sonra doğru sıralaması aşağıdakilerden hangisinde verilmiştir? </a:t>
            </a:r>
            <a:endParaRPr lang="tr-TR" sz="1100" noProof="1" smtClean="0">
              <a:solidFill>
                <a:schemeClr val="tx1">
                  <a:lumMod val="85000"/>
                  <a:lumOff val="15000"/>
                </a:schemeClr>
              </a:solidFill>
            </a:endParaRPr>
          </a:p>
        </p:txBody>
      </p:sp>
      <p:sp>
        <p:nvSpPr>
          <p:cNvPr id="109" name="Dikdörtgen 108"/>
          <p:cNvSpPr/>
          <p:nvPr/>
        </p:nvSpPr>
        <p:spPr>
          <a:xfrm>
            <a:off x="5704629" y="5541134"/>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sp>
        <p:nvSpPr>
          <p:cNvPr id="108" name="Dikdörtgen 107"/>
          <p:cNvSpPr/>
          <p:nvPr/>
        </p:nvSpPr>
        <p:spPr>
          <a:xfrm>
            <a:off x="4231966" y="5370200"/>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pic>
        <p:nvPicPr>
          <p:cNvPr id="116" name="Resim 1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780928" y="4067944"/>
            <a:ext cx="1228116" cy="576064"/>
          </a:xfrm>
          <a:prstGeom prst="rect">
            <a:avLst/>
          </a:prstGeom>
        </p:spPr>
      </p:pic>
      <p:sp>
        <p:nvSpPr>
          <p:cNvPr id="117" name="Metin kutusu 116"/>
          <p:cNvSpPr txBox="1"/>
          <p:nvPr/>
        </p:nvSpPr>
        <p:spPr>
          <a:xfrm>
            <a:off x="3512512" y="7670085"/>
            <a:ext cx="3328491"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1&gt;2&gt;3&gt;4            B) 3&gt;2&gt;4&gt;1               C</a:t>
            </a:r>
            <a:r>
              <a:rPr lang="tr-TR" sz="1200" dirty="0">
                <a:solidFill>
                  <a:schemeClr val="tx1">
                    <a:lumMod val="85000"/>
                    <a:lumOff val="15000"/>
                  </a:schemeClr>
                </a:solidFill>
              </a:rPr>
              <a:t>) </a:t>
            </a:r>
            <a:r>
              <a:rPr lang="tr-TR" sz="1200" dirty="0" smtClean="0">
                <a:solidFill>
                  <a:schemeClr val="tx1">
                    <a:lumMod val="85000"/>
                    <a:lumOff val="15000"/>
                  </a:schemeClr>
                </a:solidFill>
              </a:rPr>
              <a:t>3&gt;2&gt;4&gt;1</a:t>
            </a:r>
          </a:p>
          <a:p>
            <a:pPr marL="228600" indent="-228600">
              <a:buAutoNum type="alphaUcParenR"/>
            </a:pPr>
            <a:endParaRPr lang="tr-TR" sz="1200" dirty="0">
              <a:solidFill>
                <a:schemeClr val="tx1">
                  <a:lumMod val="85000"/>
                  <a:lumOff val="15000"/>
                </a:schemeClr>
              </a:solidFill>
            </a:endParaRPr>
          </a:p>
          <a:p>
            <a:r>
              <a:rPr lang="tr-TR" sz="1200" dirty="0" smtClean="0">
                <a:solidFill>
                  <a:schemeClr val="tx1">
                    <a:lumMod val="85000"/>
                    <a:lumOff val="15000"/>
                  </a:schemeClr>
                </a:solidFill>
              </a:rPr>
              <a:t>               D) 3&gt;2&gt;4&gt;1               E) </a:t>
            </a:r>
            <a:r>
              <a:rPr lang="tr-TR" sz="1200" dirty="0">
                <a:solidFill>
                  <a:schemeClr val="tx1">
                    <a:lumMod val="85000"/>
                    <a:lumOff val="15000"/>
                  </a:schemeClr>
                </a:solidFill>
              </a:rPr>
              <a:t>3&gt;2&gt;4&gt;1</a:t>
            </a:r>
            <a:r>
              <a:rPr lang="tr-TR" sz="1200" dirty="0" smtClean="0">
                <a:solidFill>
                  <a:schemeClr val="tx1">
                    <a:lumMod val="85000"/>
                    <a:lumOff val="15000"/>
                  </a:schemeClr>
                </a:solidFill>
              </a:rPr>
              <a:t> </a:t>
            </a:r>
          </a:p>
        </p:txBody>
      </p:sp>
      <p:sp>
        <p:nvSpPr>
          <p:cNvPr id="119" name="Dikdörtgen 118"/>
          <p:cNvSpPr/>
          <p:nvPr/>
        </p:nvSpPr>
        <p:spPr>
          <a:xfrm>
            <a:off x="3506022" y="2478419"/>
            <a:ext cx="725944" cy="261610"/>
          </a:xfrm>
          <a:prstGeom prst="rect">
            <a:avLst/>
          </a:prstGeom>
        </p:spPr>
        <p:txBody>
          <a:bodyPr wrap="square">
            <a:spAutoFit/>
          </a:bodyPr>
          <a:lstStyle/>
          <a:p>
            <a:pPr algn="ctr"/>
            <a:r>
              <a:rPr lang="tr-TR" sz="1100" noProof="1" smtClean="0">
                <a:solidFill>
                  <a:schemeClr val="tx1">
                    <a:lumMod val="85000"/>
                    <a:lumOff val="15000"/>
                  </a:schemeClr>
                </a:solidFill>
              </a:rPr>
              <a:t>x  + 5x </a:t>
            </a:r>
            <a:endParaRPr lang="tr-TR" sz="1100" dirty="0">
              <a:solidFill>
                <a:schemeClr val="tx1">
                  <a:lumMod val="85000"/>
                  <a:lumOff val="15000"/>
                </a:schemeClr>
              </a:solidFill>
            </a:endParaRPr>
          </a:p>
        </p:txBody>
      </p:sp>
      <p:sp>
        <p:nvSpPr>
          <p:cNvPr id="120" name="Dikdörtgen 119"/>
          <p:cNvSpPr/>
          <p:nvPr/>
        </p:nvSpPr>
        <p:spPr>
          <a:xfrm>
            <a:off x="4336202" y="2474032"/>
            <a:ext cx="764953" cy="261610"/>
          </a:xfrm>
          <a:prstGeom prst="rect">
            <a:avLst/>
          </a:prstGeom>
        </p:spPr>
        <p:txBody>
          <a:bodyPr wrap="none">
            <a:spAutoFit/>
          </a:bodyPr>
          <a:lstStyle/>
          <a:p>
            <a:r>
              <a:rPr lang="tr-TR" sz="1100" noProof="1" smtClean="0">
                <a:solidFill>
                  <a:schemeClr val="tx1">
                    <a:lumMod val="85000"/>
                    <a:lumOff val="15000"/>
                  </a:schemeClr>
                </a:solidFill>
              </a:rPr>
              <a:t>x - 4x + 12</a:t>
            </a:r>
            <a:endParaRPr lang="tr-TR" sz="1100" dirty="0">
              <a:solidFill>
                <a:schemeClr val="tx1">
                  <a:lumMod val="85000"/>
                  <a:lumOff val="15000"/>
                </a:schemeClr>
              </a:solidFill>
            </a:endParaRPr>
          </a:p>
        </p:txBody>
      </p:sp>
      <p:sp>
        <p:nvSpPr>
          <p:cNvPr id="121" name="Dikdörtgen 120"/>
          <p:cNvSpPr/>
          <p:nvPr/>
        </p:nvSpPr>
        <p:spPr>
          <a:xfrm>
            <a:off x="5217954" y="2477655"/>
            <a:ext cx="754111" cy="261610"/>
          </a:xfrm>
          <a:prstGeom prst="rect">
            <a:avLst/>
          </a:prstGeom>
        </p:spPr>
        <p:txBody>
          <a:bodyPr wrap="square">
            <a:spAutoFit/>
          </a:bodyPr>
          <a:lstStyle/>
          <a:p>
            <a:pPr algn="ctr"/>
            <a:r>
              <a:rPr lang="tr-TR" sz="1100" noProof="1" smtClean="0">
                <a:solidFill>
                  <a:schemeClr val="tx1">
                    <a:lumMod val="85000"/>
                    <a:lumOff val="15000"/>
                  </a:schemeClr>
                </a:solidFill>
              </a:rPr>
              <a:t>x +  12</a:t>
            </a:r>
            <a:endParaRPr lang="tr-TR" sz="1100" dirty="0">
              <a:solidFill>
                <a:schemeClr val="tx1">
                  <a:lumMod val="85000"/>
                  <a:lumOff val="15000"/>
                </a:schemeClr>
              </a:solidFill>
            </a:endParaRPr>
          </a:p>
        </p:txBody>
      </p:sp>
      <p:sp>
        <p:nvSpPr>
          <p:cNvPr id="122" name="Dikdörtgen 121"/>
          <p:cNvSpPr/>
          <p:nvPr/>
        </p:nvSpPr>
        <p:spPr>
          <a:xfrm>
            <a:off x="6024934" y="2483768"/>
            <a:ext cx="824265" cy="261610"/>
          </a:xfrm>
          <a:prstGeom prst="rect">
            <a:avLst/>
          </a:prstGeom>
        </p:spPr>
        <p:txBody>
          <a:bodyPr wrap="none">
            <a:spAutoFit/>
          </a:bodyPr>
          <a:lstStyle/>
          <a:p>
            <a:r>
              <a:rPr lang="tr-TR" sz="1100" noProof="1" smtClean="0">
                <a:solidFill>
                  <a:schemeClr val="tx1">
                    <a:lumMod val="85000"/>
                    <a:lumOff val="15000"/>
                  </a:schemeClr>
                </a:solidFill>
              </a:rPr>
              <a:t>2x  + 3x + 1</a:t>
            </a:r>
            <a:endParaRPr lang="tr-TR" sz="1100" dirty="0">
              <a:solidFill>
                <a:schemeClr val="tx1">
                  <a:lumMod val="85000"/>
                  <a:lumOff val="15000"/>
                </a:schemeClr>
              </a:solidFill>
            </a:endParaRPr>
          </a:p>
        </p:txBody>
      </p:sp>
      <p:sp>
        <p:nvSpPr>
          <p:cNvPr id="124" name="Dikdörtgen 123"/>
          <p:cNvSpPr/>
          <p:nvPr/>
        </p:nvSpPr>
        <p:spPr>
          <a:xfrm>
            <a:off x="3686467" y="2450232"/>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sp>
        <p:nvSpPr>
          <p:cNvPr id="125" name="Dikdörtgen 124"/>
          <p:cNvSpPr/>
          <p:nvPr/>
        </p:nvSpPr>
        <p:spPr>
          <a:xfrm>
            <a:off x="4416002" y="2450232"/>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sp>
        <p:nvSpPr>
          <p:cNvPr id="126" name="Dikdörtgen 125"/>
          <p:cNvSpPr/>
          <p:nvPr/>
        </p:nvSpPr>
        <p:spPr>
          <a:xfrm>
            <a:off x="5391761" y="2450232"/>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sp>
        <p:nvSpPr>
          <p:cNvPr id="127" name="Dikdörtgen 126"/>
          <p:cNvSpPr/>
          <p:nvPr/>
        </p:nvSpPr>
        <p:spPr>
          <a:xfrm>
            <a:off x="6160833" y="2472410"/>
            <a:ext cx="205146" cy="184666"/>
          </a:xfrm>
          <a:prstGeom prst="rect">
            <a:avLst/>
          </a:prstGeom>
        </p:spPr>
        <p:txBody>
          <a:bodyPr wrap="square">
            <a:spAutoFit/>
          </a:bodyPr>
          <a:lstStyle/>
          <a:p>
            <a:pPr algn="ctr"/>
            <a:r>
              <a:rPr lang="tr-TR" sz="600" noProof="1" smtClean="0">
                <a:solidFill>
                  <a:schemeClr val="tx1">
                    <a:lumMod val="85000"/>
                    <a:lumOff val="15000"/>
                  </a:schemeClr>
                </a:solidFill>
              </a:rPr>
              <a:t>2</a:t>
            </a:r>
          </a:p>
        </p:txBody>
      </p:sp>
    </p:spTree>
    <p:extLst>
      <p:ext uri="{BB962C8B-B14F-4D97-AF65-F5344CB8AC3E}">
        <p14:creationId xmlns:p14="http://schemas.microsoft.com/office/powerpoint/2010/main" val="161638123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12.</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51089" y="8820472"/>
            <a:ext cx="657279" cy="353943"/>
          </a:xfrm>
          <a:prstGeom prst="rect">
            <a:avLst/>
          </a:prstGeom>
          <a:noFill/>
        </p:spPr>
        <p:txBody>
          <a:bodyPr wrap="square" rtlCol="0">
            <a:spAutoFit/>
          </a:bodyPr>
          <a:lstStyle/>
          <a:p>
            <a:pPr algn="ctr"/>
            <a:r>
              <a:rPr lang="tr-TR" sz="1700" b="1" dirty="0" smtClean="0">
                <a:solidFill>
                  <a:schemeClr val="bg1"/>
                </a:solidFill>
              </a:rPr>
              <a:t>8</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47"/>
            <a:ext cx="4536504" cy="400110"/>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20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Yeni Nesil </a:t>
            </a:r>
            <a:endParaRPr lang="tr-TR" sz="20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0">
            <a:schemeClr val="accent1"/>
          </a:lnRef>
          <a:fillRef idx="3">
            <a:schemeClr val="accent1"/>
          </a:fillRef>
          <a:effectRef idx="3">
            <a:schemeClr val="accent1"/>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sp>
        <p:nvSpPr>
          <p:cNvPr id="15" name="Oval 14"/>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10" name="Metin kutusu 109"/>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115" name="Metin kutusu 114"/>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126" name="Oval 125"/>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26" name="Düz Bağlayıcı 25"/>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Düz Bağlayıcı 126"/>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28" name="Metin kutusu 127"/>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130" name="Oval 129"/>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35" name="Düz Bağlayıcı 134"/>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136" name="Metin kutusu 135"/>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137" name="Oval 136"/>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150" name="Dikdörtgen 14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51"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0" name="Dikdörtgen 49"/>
          <p:cNvSpPr/>
          <p:nvPr/>
        </p:nvSpPr>
        <p:spPr>
          <a:xfrm>
            <a:off x="53885" y="8819480"/>
            <a:ext cx="253212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51" name="Metin kutusu 50"/>
          <p:cNvSpPr txBox="1"/>
          <p:nvPr/>
        </p:nvSpPr>
        <p:spPr>
          <a:xfrm>
            <a:off x="25277" y="88311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11.D</a:t>
            </a:r>
            <a:endParaRPr lang="tr-TR" sz="1000" dirty="0">
              <a:solidFill>
                <a:schemeClr val="tx1">
                  <a:lumMod val="85000"/>
                  <a:lumOff val="15000"/>
                </a:schemeClr>
              </a:solidFill>
            </a:endParaRPr>
          </a:p>
        </p:txBody>
      </p:sp>
      <p:sp>
        <p:nvSpPr>
          <p:cNvPr id="52" name="Metin kutusu 51"/>
          <p:cNvSpPr txBox="1"/>
          <p:nvPr/>
        </p:nvSpPr>
        <p:spPr>
          <a:xfrm>
            <a:off x="438935" y="8827037"/>
            <a:ext cx="504056"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12.C</a:t>
            </a:r>
            <a:endParaRPr lang="tr-TR" sz="1000" dirty="0">
              <a:solidFill>
                <a:schemeClr val="tx1">
                  <a:lumMod val="85000"/>
                  <a:lumOff val="15000"/>
                </a:schemeClr>
              </a:solidFill>
            </a:endParaRPr>
          </a:p>
        </p:txBody>
      </p:sp>
      <p:sp>
        <p:nvSpPr>
          <p:cNvPr id="53" name="Metin kutusu 52"/>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13.</a:t>
            </a:r>
            <a:endParaRPr lang="tr-TR" sz="1000" dirty="0">
              <a:solidFill>
                <a:schemeClr val="tx1">
                  <a:lumMod val="85000"/>
                  <a:lumOff val="15000"/>
                </a:schemeClr>
              </a:solidFill>
            </a:endParaRPr>
          </a:p>
        </p:txBody>
      </p:sp>
      <p:sp>
        <p:nvSpPr>
          <p:cNvPr id="54" name="Metin kutusu 53"/>
          <p:cNvSpPr txBox="1"/>
          <p:nvPr/>
        </p:nvSpPr>
        <p:spPr>
          <a:xfrm>
            <a:off x="1300632" y="8820472"/>
            <a:ext cx="456929"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14.</a:t>
            </a:r>
            <a:endParaRPr lang="tr-TR" sz="1000" dirty="0">
              <a:solidFill>
                <a:schemeClr val="tx1">
                  <a:lumMod val="85000"/>
                  <a:lumOff val="15000"/>
                </a:schemeClr>
              </a:solidFill>
            </a:endParaRPr>
          </a:p>
        </p:txBody>
      </p:sp>
      <p:sp>
        <p:nvSpPr>
          <p:cNvPr id="55" name="Metin kutusu 54"/>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15.</a:t>
            </a:r>
            <a:endParaRPr lang="tr-TR" sz="1000" dirty="0">
              <a:solidFill>
                <a:schemeClr val="tx1">
                  <a:lumMod val="85000"/>
                  <a:lumOff val="15000"/>
                </a:schemeClr>
              </a:solidFill>
            </a:endParaRPr>
          </a:p>
        </p:txBody>
      </p:sp>
      <p:sp>
        <p:nvSpPr>
          <p:cNvPr id="56" name="Metin kutusu 55"/>
          <p:cNvSpPr txBox="1"/>
          <p:nvPr/>
        </p:nvSpPr>
        <p:spPr>
          <a:xfrm>
            <a:off x="2132856"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16.</a:t>
            </a:r>
            <a:endParaRPr lang="tr-TR" sz="1000" dirty="0">
              <a:solidFill>
                <a:schemeClr val="tx1">
                  <a:lumMod val="85000"/>
                  <a:lumOff val="15000"/>
                </a:schemeClr>
              </a:solidFill>
            </a:endParaRPr>
          </a:p>
        </p:txBody>
      </p:sp>
      <p:cxnSp>
        <p:nvCxnSpPr>
          <p:cNvPr id="57" name="Düz Bağlayıcı 56"/>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8" name="Düz Bağlayıcı 57"/>
          <p:cNvCxnSpPr/>
          <p:nvPr/>
        </p:nvCxnSpPr>
        <p:spPr>
          <a:xfrm>
            <a:off x="1724517"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9" name="Düz Bağlayıcı 58"/>
          <p:cNvCxnSpPr/>
          <p:nvPr/>
        </p:nvCxnSpPr>
        <p:spPr>
          <a:xfrm>
            <a:off x="2132856"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Düz Bağlayıcı 59"/>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3" name="Düz Bağlayıcı 6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46" name="Metin kutusu 45"/>
          <p:cNvSpPr txBox="1"/>
          <p:nvPr/>
        </p:nvSpPr>
        <p:spPr>
          <a:xfrm>
            <a:off x="77620" y="726730"/>
            <a:ext cx="381771"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11.</a:t>
            </a:r>
            <a:endParaRPr lang="tr-TR" sz="1400" b="1" dirty="0">
              <a:solidFill>
                <a:srgbClr val="C00000"/>
              </a:solidFill>
              <a:latin typeface="Arial Narrow" panose="020B0606020202030204" pitchFamily="34" charset="0"/>
            </a:endParaRPr>
          </a:p>
        </p:txBody>
      </p:sp>
      <p:sp>
        <p:nvSpPr>
          <p:cNvPr id="47" name="Metin kutusu 46"/>
          <p:cNvSpPr txBox="1"/>
          <p:nvPr/>
        </p:nvSpPr>
        <p:spPr>
          <a:xfrm>
            <a:off x="414827" y="747310"/>
            <a:ext cx="2903840" cy="830997"/>
          </a:xfrm>
          <a:prstGeom prst="rect">
            <a:avLst/>
          </a:prstGeom>
          <a:noFill/>
        </p:spPr>
        <p:txBody>
          <a:bodyPr wrap="square" rtlCol="0">
            <a:spAutoFit/>
          </a:bodyPr>
          <a:lstStyle/>
          <a:p>
            <a:r>
              <a:rPr lang="tr-TR" sz="1200" noProof="1" smtClean="0"/>
              <a:t>Ahmet Bey baş katsayısı 1 olan ikinci dereceden bir fonksiyonu tahtaya çizmiş tenefüse çıkıp geldiğinde bazı kısımlarının silindiğini görmüştür.</a:t>
            </a:r>
            <a:endParaRPr lang="tr-TR" sz="1200" noProof="1"/>
          </a:p>
        </p:txBody>
      </p:sp>
      <p:pic>
        <p:nvPicPr>
          <p:cNvPr id="1027" name="Picture 3" descr="C:\Users\Pc\AppData\Local\Microsoft\Windows\Temporary Internet Files\Content.IE5\Y5CZX9ZW\blackboard-148588_960_720[1].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88666" y="1619700"/>
            <a:ext cx="2935060" cy="1669239"/>
          </a:xfrm>
          <a:prstGeom prst="rect">
            <a:avLst/>
          </a:prstGeom>
          <a:noFill/>
          <a:extLst>
            <a:ext uri="{909E8E84-426E-40DD-AFC4-6F175D3DCCD1}">
              <a14:hiddenFill xmlns:a14="http://schemas.microsoft.com/office/drawing/2010/main">
                <a:solidFill>
                  <a:srgbClr val="FFFFFF"/>
                </a:solidFill>
              </a14:hiddenFill>
            </a:ext>
          </a:extLst>
        </p:spPr>
      </p:pic>
      <p:cxnSp>
        <p:nvCxnSpPr>
          <p:cNvPr id="6" name="Düz Ok Bağlayıcısı 5"/>
          <p:cNvCxnSpPr/>
          <p:nvPr/>
        </p:nvCxnSpPr>
        <p:spPr>
          <a:xfrm>
            <a:off x="1797550" y="1769155"/>
            <a:ext cx="0" cy="1303760"/>
          </a:xfrm>
          <a:prstGeom prst="straightConnector1">
            <a:avLst/>
          </a:prstGeom>
          <a:ln>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8" name="Düz Ok Bağlayıcısı 7"/>
          <p:cNvCxnSpPr/>
          <p:nvPr/>
        </p:nvCxnSpPr>
        <p:spPr>
          <a:xfrm>
            <a:off x="956324" y="2424843"/>
            <a:ext cx="1682452" cy="0"/>
          </a:xfrm>
          <a:prstGeom prst="straightConnector1">
            <a:avLst/>
          </a:prstGeom>
          <a:ln>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64" name="Metin kutusu 63"/>
          <p:cNvSpPr txBox="1"/>
          <p:nvPr/>
        </p:nvSpPr>
        <p:spPr>
          <a:xfrm>
            <a:off x="311668" y="3360947"/>
            <a:ext cx="2903840" cy="646331"/>
          </a:xfrm>
          <a:prstGeom prst="rect">
            <a:avLst/>
          </a:prstGeom>
          <a:noFill/>
        </p:spPr>
        <p:txBody>
          <a:bodyPr wrap="square" rtlCol="0">
            <a:spAutoFit/>
          </a:bodyPr>
          <a:lstStyle/>
          <a:p>
            <a:r>
              <a:rPr lang="tr-TR" sz="1200" b="1" noProof="1" smtClean="0"/>
              <a:t>Parabolün tepe noktası T olduğuna göre Ahmet Bey`in çizdiği fonksiyonun en küçük değeri kaçtır?</a:t>
            </a:r>
            <a:endParaRPr lang="tr-TR" sz="1200" b="1" noProof="1"/>
          </a:p>
        </p:txBody>
      </p:sp>
      <p:cxnSp>
        <p:nvCxnSpPr>
          <p:cNvPr id="20" name="Düz Bağlayıcı 19"/>
          <p:cNvCxnSpPr/>
          <p:nvPr/>
        </p:nvCxnSpPr>
        <p:spPr>
          <a:xfrm>
            <a:off x="1888987" y="2877786"/>
            <a:ext cx="251545"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8" name="Serbest Form 17"/>
          <p:cNvSpPr/>
          <p:nvPr/>
        </p:nvSpPr>
        <p:spPr>
          <a:xfrm>
            <a:off x="1342632" y="1977565"/>
            <a:ext cx="1081087" cy="900221"/>
          </a:xfrm>
          <a:custGeom>
            <a:avLst/>
            <a:gdLst>
              <a:gd name="connsiteX0" fmla="*/ 0 w 1081087"/>
              <a:gd name="connsiteY0" fmla="*/ 47625 h 900221"/>
              <a:gd name="connsiteX1" fmla="*/ 671512 w 1081087"/>
              <a:gd name="connsiteY1" fmla="*/ 900113 h 900221"/>
              <a:gd name="connsiteX2" fmla="*/ 1081087 w 1081087"/>
              <a:gd name="connsiteY2" fmla="*/ 0 h 900221"/>
            </a:gdLst>
            <a:ahLst/>
            <a:cxnLst>
              <a:cxn ang="0">
                <a:pos x="connsiteX0" y="connsiteY0"/>
              </a:cxn>
              <a:cxn ang="0">
                <a:pos x="connsiteX1" y="connsiteY1"/>
              </a:cxn>
              <a:cxn ang="0">
                <a:pos x="connsiteX2" y="connsiteY2"/>
              </a:cxn>
            </a:cxnLst>
            <a:rect l="l" t="t" r="r" b="b"/>
            <a:pathLst>
              <a:path w="1081087" h="900221">
                <a:moveTo>
                  <a:pt x="0" y="47625"/>
                </a:moveTo>
                <a:cubicBezTo>
                  <a:pt x="245665" y="477837"/>
                  <a:pt x="491331" y="908050"/>
                  <a:pt x="671512" y="900113"/>
                </a:cubicBezTo>
                <a:cubicBezTo>
                  <a:pt x="851693" y="892176"/>
                  <a:pt x="1012825" y="138112"/>
                  <a:pt x="1081087" y="0"/>
                </a:cubicBezTo>
              </a:path>
            </a:pathLst>
          </a:custGeom>
          <a:ln>
            <a:solidFill>
              <a:schemeClr val="bg1">
                <a:lumMod val="95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tr-TR"/>
          </a:p>
        </p:txBody>
      </p:sp>
      <p:sp>
        <p:nvSpPr>
          <p:cNvPr id="65" name="Metin kutusu 64"/>
          <p:cNvSpPr txBox="1"/>
          <p:nvPr/>
        </p:nvSpPr>
        <p:spPr>
          <a:xfrm>
            <a:off x="1894231" y="2888249"/>
            <a:ext cx="250791" cy="184666"/>
          </a:xfrm>
          <a:prstGeom prst="rect">
            <a:avLst/>
          </a:prstGeom>
          <a:noFill/>
        </p:spPr>
        <p:txBody>
          <a:bodyPr wrap="square" rtlCol="0">
            <a:spAutoFit/>
          </a:bodyPr>
          <a:lstStyle/>
          <a:p>
            <a:r>
              <a:rPr lang="tr-TR" sz="600" noProof="1" smtClean="0">
                <a:solidFill>
                  <a:schemeClr val="bg1"/>
                </a:solidFill>
              </a:rPr>
              <a:t>T</a:t>
            </a:r>
            <a:endParaRPr lang="tr-TR" sz="600" noProof="1">
              <a:solidFill>
                <a:schemeClr val="bg1"/>
              </a:solidFill>
            </a:endParaRPr>
          </a:p>
        </p:txBody>
      </p:sp>
      <p:sp>
        <p:nvSpPr>
          <p:cNvPr id="66" name="Metin kutusu 65"/>
          <p:cNvSpPr txBox="1"/>
          <p:nvPr/>
        </p:nvSpPr>
        <p:spPr>
          <a:xfrm>
            <a:off x="1342632" y="2280827"/>
            <a:ext cx="250791" cy="184666"/>
          </a:xfrm>
          <a:prstGeom prst="rect">
            <a:avLst/>
          </a:prstGeom>
          <a:noFill/>
        </p:spPr>
        <p:txBody>
          <a:bodyPr wrap="square" rtlCol="0">
            <a:spAutoFit/>
          </a:bodyPr>
          <a:lstStyle/>
          <a:p>
            <a:r>
              <a:rPr lang="tr-TR" sz="600" noProof="1" smtClean="0">
                <a:solidFill>
                  <a:schemeClr val="bg1"/>
                </a:solidFill>
              </a:rPr>
              <a:t>-3</a:t>
            </a:r>
            <a:endParaRPr lang="tr-TR" sz="600" noProof="1">
              <a:solidFill>
                <a:schemeClr val="bg1"/>
              </a:solidFill>
            </a:endParaRPr>
          </a:p>
        </p:txBody>
      </p:sp>
      <p:sp>
        <p:nvSpPr>
          <p:cNvPr id="67" name="Metin kutusu 66"/>
          <p:cNvSpPr txBox="1"/>
          <p:nvPr/>
        </p:nvSpPr>
        <p:spPr>
          <a:xfrm>
            <a:off x="1894727" y="2280827"/>
            <a:ext cx="250791" cy="184666"/>
          </a:xfrm>
          <a:prstGeom prst="rect">
            <a:avLst/>
          </a:prstGeom>
          <a:noFill/>
        </p:spPr>
        <p:txBody>
          <a:bodyPr wrap="square" rtlCol="0">
            <a:spAutoFit/>
          </a:bodyPr>
          <a:lstStyle/>
          <a:p>
            <a:r>
              <a:rPr lang="tr-TR" sz="600" noProof="1">
                <a:solidFill>
                  <a:schemeClr val="bg1"/>
                </a:solidFill>
              </a:rPr>
              <a:t>1</a:t>
            </a:r>
          </a:p>
        </p:txBody>
      </p:sp>
      <p:cxnSp>
        <p:nvCxnSpPr>
          <p:cNvPr id="2055" name="Düz Bağlayıcı 2054"/>
          <p:cNvCxnSpPr/>
          <p:nvPr/>
        </p:nvCxnSpPr>
        <p:spPr>
          <a:xfrm flipH="1">
            <a:off x="2011254" y="2427675"/>
            <a:ext cx="3505" cy="456751"/>
          </a:xfrm>
          <a:prstGeom prst="line">
            <a:avLst/>
          </a:prstGeom>
          <a:ln>
            <a:solidFill>
              <a:schemeClr val="bg1">
                <a:lumMod val="95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69883" y="1920787"/>
            <a:ext cx="611252" cy="9295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8407" y="2064803"/>
            <a:ext cx="332668" cy="5059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5" name="Metin kutusu 84"/>
          <p:cNvSpPr txBox="1"/>
          <p:nvPr/>
        </p:nvSpPr>
        <p:spPr>
          <a:xfrm>
            <a:off x="388666" y="4007278"/>
            <a:ext cx="3020565" cy="646331"/>
          </a:xfrm>
          <a:prstGeom prst="rect">
            <a:avLst/>
          </a:prstGeom>
          <a:noFill/>
        </p:spPr>
        <p:txBody>
          <a:bodyPr wrap="square" rtlCol="0">
            <a:spAutoFit/>
          </a:bodyPr>
          <a:lstStyle/>
          <a:p>
            <a:r>
              <a:rPr lang="tr-TR" sz="1200" dirty="0" smtClean="0">
                <a:solidFill>
                  <a:schemeClr val="tx1">
                    <a:lumMod val="85000"/>
                    <a:lumOff val="15000"/>
                  </a:schemeClr>
                </a:solidFill>
              </a:rPr>
              <a:t>A) -6                          B) -9                         C) -13</a:t>
            </a:r>
          </a:p>
          <a:p>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-22                             E) </a:t>
            </a:r>
            <a:r>
              <a:rPr lang="tr-TR" sz="1200" dirty="0">
                <a:solidFill>
                  <a:schemeClr val="tx1">
                    <a:lumMod val="85000"/>
                    <a:lumOff val="15000"/>
                  </a:schemeClr>
                </a:solidFill>
              </a:rPr>
              <a:t> </a:t>
            </a:r>
            <a:r>
              <a:rPr lang="tr-TR" sz="1200" dirty="0" smtClean="0">
                <a:solidFill>
                  <a:schemeClr val="tx1">
                    <a:lumMod val="85000"/>
                    <a:lumOff val="15000"/>
                  </a:schemeClr>
                </a:solidFill>
              </a:rPr>
              <a:t>-16</a:t>
            </a:r>
            <a:endParaRPr lang="tr-TR" sz="1200" dirty="0">
              <a:solidFill>
                <a:schemeClr val="tx1">
                  <a:lumMod val="85000"/>
                  <a:lumOff val="15000"/>
                </a:schemeClr>
              </a:solidFill>
            </a:endParaRPr>
          </a:p>
        </p:txBody>
      </p:sp>
      <p:pic>
        <p:nvPicPr>
          <p:cNvPr id="2057" name="Resim 205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795003" y="807839"/>
            <a:ext cx="2757073" cy="1970876"/>
          </a:xfrm>
          <a:prstGeom prst="rect">
            <a:avLst/>
          </a:prstGeom>
        </p:spPr>
      </p:pic>
      <p:pic>
        <p:nvPicPr>
          <p:cNvPr id="1031"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6884" y="2267743"/>
            <a:ext cx="3142752" cy="5109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0" name="Metin kutusu 89"/>
          <p:cNvSpPr txBox="1"/>
          <p:nvPr/>
        </p:nvSpPr>
        <p:spPr>
          <a:xfrm>
            <a:off x="3674986" y="2444859"/>
            <a:ext cx="3066382" cy="2308324"/>
          </a:xfrm>
          <a:prstGeom prst="rect">
            <a:avLst/>
          </a:prstGeom>
          <a:noFill/>
        </p:spPr>
        <p:txBody>
          <a:bodyPr wrap="square" rtlCol="0">
            <a:spAutoFit/>
          </a:bodyPr>
          <a:lstStyle/>
          <a:p>
            <a:r>
              <a:rPr lang="tr-TR" sz="1200" noProof="1" smtClean="0"/>
              <a:t>Yukarıda parabolik bir tünele bir tabela asılmıştır. Görselde tam çıkmayan parabolün başlangıç noktası A, bitiş noktası B noktasıdır.</a:t>
            </a:r>
          </a:p>
          <a:p>
            <a:r>
              <a:rPr lang="tr-TR" sz="1200" noProof="1" smtClean="0"/>
              <a:t>O noktası A ve B noktalarının orta noktasıdır.</a:t>
            </a:r>
          </a:p>
          <a:p>
            <a:r>
              <a:rPr lang="tr-TR" sz="1200" noProof="1" smtClean="0"/>
              <a:t>Asılan levha yere paralel olacak şekilde tünelin girişine K ve P noktalarında değmektedir.</a:t>
            </a:r>
          </a:p>
          <a:p>
            <a:endParaRPr lang="tr-TR" sz="1200" noProof="1"/>
          </a:p>
          <a:p>
            <a:r>
              <a:rPr lang="tr-TR" sz="1200" b="1" noProof="1" smtClean="0"/>
              <a:t>|AB|= 8 m, |AO|=|OB|, |ZO|= 6m </a:t>
            </a:r>
          </a:p>
          <a:p>
            <a:endParaRPr lang="tr-TR" sz="1200" b="1" noProof="1"/>
          </a:p>
          <a:p>
            <a:r>
              <a:rPr lang="tr-TR" sz="1200" b="1" noProof="1" smtClean="0"/>
              <a:t>Tabelanın |ZO| doğrusuna göre simetriktir.</a:t>
            </a:r>
          </a:p>
          <a:p>
            <a:r>
              <a:rPr lang="tr-TR" sz="1200" b="1" noProof="1" smtClean="0"/>
              <a:t>Yatay uzunluğu 6 metredir.</a:t>
            </a:r>
            <a:r>
              <a:rPr lang="tr-TR" sz="1200" b="1" noProof="1"/>
              <a:t> </a:t>
            </a:r>
            <a:r>
              <a:rPr lang="tr-TR" sz="1200" b="1" noProof="1" smtClean="0"/>
              <a:t>Buna göre tabelanın yerden yüksekliği kaç metredir?</a:t>
            </a:r>
          </a:p>
        </p:txBody>
      </p:sp>
      <p:cxnSp>
        <p:nvCxnSpPr>
          <p:cNvPr id="2061" name="Düz Bağlayıcı 2060"/>
          <p:cNvCxnSpPr/>
          <p:nvPr/>
        </p:nvCxnSpPr>
        <p:spPr>
          <a:xfrm flipH="1">
            <a:off x="5169610" y="1043613"/>
            <a:ext cx="3930" cy="1224129"/>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2058" name="Dikdörtgen 2057"/>
          <p:cNvSpPr/>
          <p:nvPr/>
        </p:nvSpPr>
        <p:spPr>
          <a:xfrm>
            <a:off x="4677973" y="1187624"/>
            <a:ext cx="1137949" cy="252670"/>
          </a:xfrm>
          <a:prstGeom prst="rect">
            <a:avLst/>
          </a:prstGeom>
          <a:solidFill>
            <a:srgbClr val="0070C0"/>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tr-TR"/>
          </a:p>
        </p:txBody>
      </p:sp>
      <p:sp>
        <p:nvSpPr>
          <p:cNvPr id="2059" name="Metin kutusu 2058"/>
          <p:cNvSpPr txBox="1"/>
          <p:nvPr/>
        </p:nvSpPr>
        <p:spPr>
          <a:xfrm>
            <a:off x="4677973" y="1152490"/>
            <a:ext cx="983275" cy="323165"/>
          </a:xfrm>
          <a:prstGeom prst="rect">
            <a:avLst/>
          </a:prstGeom>
          <a:noFill/>
        </p:spPr>
        <p:txBody>
          <a:bodyPr wrap="square" rtlCol="0">
            <a:spAutoFit/>
          </a:bodyPr>
          <a:lstStyle/>
          <a:p>
            <a:pPr algn="ctr"/>
            <a:r>
              <a:rPr lang="tr-TR" sz="1500" dirty="0" smtClean="0">
                <a:solidFill>
                  <a:schemeClr val="bg1"/>
                </a:solidFill>
              </a:rPr>
              <a:t>#EVDEKAL</a:t>
            </a:r>
            <a:endParaRPr lang="tr-TR" sz="1500" dirty="0">
              <a:solidFill>
                <a:schemeClr val="bg1"/>
              </a:solidFill>
            </a:endParaRPr>
          </a:p>
        </p:txBody>
      </p:sp>
      <p:cxnSp>
        <p:nvCxnSpPr>
          <p:cNvPr id="2074" name="Düz Bağlayıcı 2073"/>
          <p:cNvCxnSpPr/>
          <p:nvPr/>
        </p:nvCxnSpPr>
        <p:spPr>
          <a:xfrm flipH="1">
            <a:off x="4365104" y="2213737"/>
            <a:ext cx="72008" cy="10801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4" name="Düz Bağlayıcı 103"/>
          <p:cNvCxnSpPr/>
          <p:nvPr/>
        </p:nvCxnSpPr>
        <p:spPr>
          <a:xfrm flipH="1">
            <a:off x="4393470" y="2224055"/>
            <a:ext cx="72008" cy="10801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5" name="Düz Bağlayıcı 104"/>
          <p:cNvCxnSpPr/>
          <p:nvPr/>
        </p:nvCxnSpPr>
        <p:spPr>
          <a:xfrm flipH="1">
            <a:off x="5649106" y="2213737"/>
            <a:ext cx="72008" cy="10801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06" name="Düz Bağlayıcı 105"/>
          <p:cNvCxnSpPr/>
          <p:nvPr/>
        </p:nvCxnSpPr>
        <p:spPr>
          <a:xfrm flipH="1">
            <a:off x="5677472" y="2224055"/>
            <a:ext cx="72008" cy="108012"/>
          </a:xfrm>
          <a:prstGeom prst="line">
            <a:avLst/>
          </a:prstGeom>
          <a:ln>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2076" name="Düz Bağlayıcı 2075"/>
          <p:cNvCxnSpPr/>
          <p:nvPr/>
        </p:nvCxnSpPr>
        <p:spPr>
          <a:xfrm>
            <a:off x="5169610" y="2146665"/>
            <a:ext cx="1075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1" name="Düz Bağlayıcı 110"/>
          <p:cNvCxnSpPr/>
          <p:nvPr/>
        </p:nvCxnSpPr>
        <p:spPr>
          <a:xfrm>
            <a:off x="5272771" y="2146665"/>
            <a:ext cx="0" cy="121077"/>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33" name="Oval 32"/>
          <p:cNvSpPr/>
          <p:nvPr/>
        </p:nvSpPr>
        <p:spPr>
          <a:xfrm>
            <a:off x="5195400" y="2184343"/>
            <a:ext cx="45719" cy="45719"/>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sz="200" dirty="0"/>
          </a:p>
        </p:txBody>
      </p:sp>
      <p:sp>
        <p:nvSpPr>
          <p:cNvPr id="116" name="Metin kutusu 115"/>
          <p:cNvSpPr txBox="1"/>
          <p:nvPr/>
        </p:nvSpPr>
        <p:spPr>
          <a:xfrm>
            <a:off x="3481229" y="2146666"/>
            <a:ext cx="421667" cy="279747"/>
          </a:xfrm>
          <a:prstGeom prst="rect">
            <a:avLst/>
          </a:prstGeom>
          <a:noFill/>
        </p:spPr>
        <p:txBody>
          <a:bodyPr wrap="square" rtlCol="0">
            <a:spAutoFit/>
          </a:bodyPr>
          <a:lstStyle/>
          <a:p>
            <a:r>
              <a:rPr lang="tr-TR" sz="1200" noProof="1" smtClean="0"/>
              <a:t>A</a:t>
            </a:r>
            <a:endParaRPr lang="tr-TR" sz="1200" noProof="1"/>
          </a:p>
        </p:txBody>
      </p:sp>
      <p:sp>
        <p:nvSpPr>
          <p:cNvPr id="117" name="Metin kutusu 116"/>
          <p:cNvSpPr txBox="1"/>
          <p:nvPr/>
        </p:nvSpPr>
        <p:spPr>
          <a:xfrm>
            <a:off x="5012526" y="2204021"/>
            <a:ext cx="421667" cy="279747"/>
          </a:xfrm>
          <a:prstGeom prst="rect">
            <a:avLst/>
          </a:prstGeom>
          <a:noFill/>
        </p:spPr>
        <p:txBody>
          <a:bodyPr wrap="square" rtlCol="0">
            <a:spAutoFit/>
          </a:bodyPr>
          <a:lstStyle/>
          <a:p>
            <a:r>
              <a:rPr lang="tr-TR" sz="1200" noProof="1"/>
              <a:t>O</a:t>
            </a:r>
          </a:p>
        </p:txBody>
      </p:sp>
      <p:sp>
        <p:nvSpPr>
          <p:cNvPr id="118" name="Metin kutusu 117"/>
          <p:cNvSpPr txBox="1"/>
          <p:nvPr/>
        </p:nvSpPr>
        <p:spPr>
          <a:xfrm>
            <a:off x="6524408" y="2181875"/>
            <a:ext cx="421667" cy="279747"/>
          </a:xfrm>
          <a:prstGeom prst="rect">
            <a:avLst/>
          </a:prstGeom>
          <a:noFill/>
        </p:spPr>
        <p:txBody>
          <a:bodyPr wrap="square" rtlCol="0">
            <a:spAutoFit/>
          </a:bodyPr>
          <a:lstStyle/>
          <a:p>
            <a:r>
              <a:rPr lang="tr-TR" sz="1200" noProof="1" smtClean="0"/>
              <a:t>B</a:t>
            </a:r>
            <a:endParaRPr lang="tr-TR" sz="1200" noProof="1"/>
          </a:p>
        </p:txBody>
      </p:sp>
      <p:sp>
        <p:nvSpPr>
          <p:cNvPr id="119" name="Metin kutusu 118"/>
          <p:cNvSpPr txBox="1"/>
          <p:nvPr/>
        </p:nvSpPr>
        <p:spPr>
          <a:xfrm>
            <a:off x="5061937" y="859317"/>
            <a:ext cx="421667" cy="279747"/>
          </a:xfrm>
          <a:prstGeom prst="rect">
            <a:avLst/>
          </a:prstGeom>
          <a:noFill/>
        </p:spPr>
        <p:txBody>
          <a:bodyPr wrap="square" rtlCol="0">
            <a:spAutoFit/>
          </a:bodyPr>
          <a:lstStyle/>
          <a:p>
            <a:r>
              <a:rPr lang="tr-TR" sz="1200" noProof="1"/>
              <a:t>Z</a:t>
            </a:r>
          </a:p>
        </p:txBody>
      </p:sp>
      <p:sp>
        <p:nvSpPr>
          <p:cNvPr id="120" name="Metin kutusu 119"/>
          <p:cNvSpPr txBox="1"/>
          <p:nvPr/>
        </p:nvSpPr>
        <p:spPr>
          <a:xfrm>
            <a:off x="4511429" y="1012616"/>
            <a:ext cx="421667" cy="279747"/>
          </a:xfrm>
          <a:prstGeom prst="rect">
            <a:avLst/>
          </a:prstGeom>
          <a:noFill/>
        </p:spPr>
        <p:txBody>
          <a:bodyPr wrap="square" rtlCol="0">
            <a:spAutoFit/>
          </a:bodyPr>
          <a:lstStyle/>
          <a:p>
            <a:r>
              <a:rPr lang="tr-TR" sz="1200" noProof="1" smtClean="0">
                <a:solidFill>
                  <a:srgbClr val="FFC000"/>
                </a:solidFill>
              </a:rPr>
              <a:t>P</a:t>
            </a:r>
            <a:endParaRPr lang="tr-TR" sz="1200" noProof="1">
              <a:solidFill>
                <a:srgbClr val="FFC000"/>
              </a:solidFill>
            </a:endParaRPr>
          </a:p>
        </p:txBody>
      </p:sp>
      <p:sp>
        <p:nvSpPr>
          <p:cNvPr id="121" name="Metin kutusu 120"/>
          <p:cNvSpPr txBox="1"/>
          <p:nvPr/>
        </p:nvSpPr>
        <p:spPr>
          <a:xfrm>
            <a:off x="5698941" y="999190"/>
            <a:ext cx="421667" cy="279747"/>
          </a:xfrm>
          <a:prstGeom prst="rect">
            <a:avLst/>
          </a:prstGeom>
          <a:noFill/>
        </p:spPr>
        <p:txBody>
          <a:bodyPr wrap="square" rtlCol="0">
            <a:spAutoFit/>
          </a:bodyPr>
          <a:lstStyle/>
          <a:p>
            <a:r>
              <a:rPr lang="tr-TR" sz="1200" noProof="1" smtClean="0">
                <a:solidFill>
                  <a:srgbClr val="FFC000"/>
                </a:solidFill>
              </a:rPr>
              <a:t>K</a:t>
            </a:r>
            <a:endParaRPr lang="tr-TR" sz="1200" noProof="1">
              <a:solidFill>
                <a:srgbClr val="FFC000"/>
              </a:solidFill>
            </a:endParaRPr>
          </a:p>
        </p:txBody>
      </p:sp>
      <p:sp>
        <p:nvSpPr>
          <p:cNvPr id="122" name="Metin kutusu 121"/>
          <p:cNvSpPr txBox="1"/>
          <p:nvPr/>
        </p:nvSpPr>
        <p:spPr>
          <a:xfrm>
            <a:off x="4467139" y="1375852"/>
            <a:ext cx="421667" cy="279747"/>
          </a:xfrm>
          <a:prstGeom prst="rect">
            <a:avLst/>
          </a:prstGeom>
          <a:noFill/>
        </p:spPr>
        <p:txBody>
          <a:bodyPr wrap="square" rtlCol="0">
            <a:spAutoFit/>
          </a:bodyPr>
          <a:lstStyle/>
          <a:p>
            <a:r>
              <a:rPr lang="tr-TR" sz="1200" noProof="1">
                <a:solidFill>
                  <a:srgbClr val="FFC000"/>
                </a:solidFill>
              </a:rPr>
              <a:t>M</a:t>
            </a:r>
          </a:p>
        </p:txBody>
      </p:sp>
      <p:sp>
        <p:nvSpPr>
          <p:cNvPr id="125" name="Metin kutusu 124"/>
          <p:cNvSpPr txBox="1"/>
          <p:nvPr/>
        </p:nvSpPr>
        <p:spPr>
          <a:xfrm>
            <a:off x="5649106" y="1375930"/>
            <a:ext cx="421667" cy="279747"/>
          </a:xfrm>
          <a:prstGeom prst="rect">
            <a:avLst/>
          </a:prstGeom>
          <a:noFill/>
        </p:spPr>
        <p:txBody>
          <a:bodyPr wrap="square" rtlCol="0">
            <a:spAutoFit/>
          </a:bodyPr>
          <a:lstStyle/>
          <a:p>
            <a:r>
              <a:rPr lang="tr-TR" sz="1200" noProof="1" smtClean="0">
                <a:solidFill>
                  <a:srgbClr val="FFC000"/>
                </a:solidFill>
              </a:rPr>
              <a:t>N</a:t>
            </a:r>
            <a:endParaRPr lang="tr-TR" sz="1200" noProof="1">
              <a:solidFill>
                <a:srgbClr val="FFC000"/>
              </a:solidFill>
            </a:endParaRPr>
          </a:p>
        </p:txBody>
      </p:sp>
      <p:sp>
        <p:nvSpPr>
          <p:cNvPr id="81" name="Metin kutusu 80"/>
          <p:cNvSpPr txBox="1"/>
          <p:nvPr/>
        </p:nvSpPr>
        <p:spPr>
          <a:xfrm>
            <a:off x="3625553" y="4753183"/>
            <a:ext cx="3020565" cy="646331"/>
          </a:xfrm>
          <a:prstGeom prst="rect">
            <a:avLst/>
          </a:prstGeom>
          <a:noFill/>
        </p:spPr>
        <p:txBody>
          <a:bodyPr wrap="square" rtlCol="0">
            <a:spAutoFit/>
          </a:bodyPr>
          <a:lstStyle/>
          <a:p>
            <a:r>
              <a:rPr lang="tr-TR" sz="1200" dirty="0" smtClean="0">
                <a:solidFill>
                  <a:schemeClr val="tx1">
                    <a:lumMod val="85000"/>
                    <a:lumOff val="15000"/>
                  </a:schemeClr>
                </a:solidFill>
              </a:rPr>
              <a:t>A) 1,50                      B) 2                         C) 2,50</a:t>
            </a:r>
          </a:p>
          <a:p>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              D) </a:t>
            </a:r>
            <a:r>
              <a:rPr lang="tr-TR" sz="1200" dirty="0">
                <a:solidFill>
                  <a:schemeClr val="tx1">
                    <a:lumMod val="85000"/>
                    <a:lumOff val="15000"/>
                  </a:schemeClr>
                </a:solidFill>
              </a:rPr>
              <a:t>3</a:t>
            </a:r>
            <a:r>
              <a:rPr lang="tr-TR" sz="1200" dirty="0" smtClean="0">
                <a:solidFill>
                  <a:schemeClr val="tx1">
                    <a:lumMod val="85000"/>
                    <a:lumOff val="15000"/>
                  </a:schemeClr>
                </a:solidFill>
              </a:rPr>
              <a:t>                             E) </a:t>
            </a:r>
            <a:r>
              <a:rPr lang="tr-TR" sz="1200" dirty="0">
                <a:solidFill>
                  <a:schemeClr val="tx1">
                    <a:lumMod val="85000"/>
                    <a:lumOff val="15000"/>
                  </a:schemeClr>
                </a:solidFill>
              </a:rPr>
              <a:t> </a:t>
            </a:r>
            <a:r>
              <a:rPr lang="tr-TR" sz="1200" dirty="0" smtClean="0">
                <a:solidFill>
                  <a:schemeClr val="tx1">
                    <a:lumMod val="85000"/>
                    <a:lumOff val="15000"/>
                  </a:schemeClr>
                </a:solidFill>
              </a:rPr>
              <a:t>3,50</a:t>
            </a:r>
            <a:endParaRPr lang="tr-TR" sz="1200" dirty="0">
              <a:solidFill>
                <a:schemeClr val="tx1">
                  <a:lumMod val="85000"/>
                  <a:lumOff val="15000"/>
                </a:schemeClr>
              </a:solidFill>
            </a:endParaRPr>
          </a:p>
        </p:txBody>
      </p:sp>
    </p:spTree>
    <p:extLst>
      <p:ext uri="{BB962C8B-B14F-4D97-AF65-F5344CB8AC3E}">
        <p14:creationId xmlns:p14="http://schemas.microsoft.com/office/powerpoint/2010/main" val="161456042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44624" y="735836"/>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13" name="Dikdörtgen 12"/>
          <p:cNvSpPr/>
          <p:nvPr/>
        </p:nvSpPr>
        <p:spPr>
          <a:xfrm>
            <a:off x="2395610" y="7273127"/>
            <a:ext cx="561839" cy="523220"/>
          </a:xfrm>
          <a:prstGeom prst="rect">
            <a:avLst/>
          </a:prstGeom>
          <a:noFill/>
        </p:spPr>
        <p:txBody>
          <a:bodyPr wrap="square">
            <a:spAutoFit/>
          </a:bodyPr>
          <a:lstStyle/>
          <a:p>
            <a:pPr algn="ctr"/>
            <a:r>
              <a:rPr lang="tr-TR" sz="2800" b="1" dirty="0" smtClean="0">
                <a:solidFill>
                  <a:schemeClr val="bg1"/>
                </a:solidFill>
                <a:latin typeface="Akrobat Bold" pitchFamily="50" charset="0"/>
              </a:rPr>
              <a:t>1</a:t>
            </a:r>
            <a:endParaRPr lang="tr-TR" sz="2800" b="1" dirty="0">
              <a:solidFill>
                <a:schemeClr val="bg1"/>
              </a:solidFill>
              <a:latin typeface="Akrobat Bold" pitchFamily="50" charset="0"/>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3.</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Metin kutusu 116"/>
          <p:cNvSpPr txBox="1"/>
          <p:nvPr/>
        </p:nvSpPr>
        <p:spPr>
          <a:xfrm>
            <a:off x="44624" y="3472139"/>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2.</a:t>
            </a:r>
            <a:endParaRPr lang="tr-TR" sz="1400" b="1" dirty="0">
              <a:solidFill>
                <a:srgbClr val="C00000"/>
              </a:solidFill>
              <a:latin typeface="Arial Narrow" panose="020B0606020202030204" pitchFamily="34" charset="0"/>
            </a:endParaRPr>
          </a:p>
        </p:txBody>
      </p: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16</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52"/>
            <a:ext cx="4536504" cy="38472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19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Türev İlişkisi (Meraklısına)</a:t>
            </a:r>
            <a:endParaRPr lang="tr-TR" sz="19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63938"/>
            <a:ext cx="1214263" cy="246221"/>
          </a:xfrm>
          <a:prstGeom prst="rect">
            <a:avLst/>
          </a:prstGeom>
          <a:noFill/>
        </p:spPr>
        <p:txBody>
          <a:bodyPr wrap="square" rtlCol="0">
            <a:spAutoFit/>
          </a:bodyPr>
          <a:lstStyle/>
          <a:p>
            <a:r>
              <a:rPr lang="tr-TR" sz="1000" dirty="0" smtClean="0">
                <a:solidFill>
                  <a:srgbClr val="00B050"/>
                </a:solidFill>
              </a:rPr>
              <a:t>Ahmetcelen.com.tr</a:t>
            </a:r>
            <a:endParaRPr lang="tr-TR" sz="1000" dirty="0">
              <a:solidFill>
                <a:srgbClr val="00B050"/>
              </a:solidFill>
            </a:endParaRPr>
          </a:p>
        </p:txBody>
      </p:sp>
      <p:sp>
        <p:nvSpPr>
          <p:cNvPr id="77" name="Metin kutusu 76"/>
          <p:cNvSpPr txBox="1"/>
          <p:nvPr/>
        </p:nvSpPr>
        <p:spPr>
          <a:xfrm>
            <a:off x="1700808" y="3636601"/>
            <a:ext cx="223138" cy="292388"/>
          </a:xfrm>
          <a:prstGeom prst="rect">
            <a:avLst/>
          </a:prstGeom>
          <a:noFill/>
        </p:spPr>
        <p:txBody>
          <a:bodyPr wrap="none" rtlCol="0">
            <a:spAutoFit/>
          </a:bodyPr>
          <a:lstStyle/>
          <a:p>
            <a:r>
              <a:rPr lang="tr-TR" sz="1300" dirty="0" smtClean="0">
                <a:latin typeface="+mj-lt"/>
              </a:rPr>
              <a:t> </a:t>
            </a:r>
            <a:endParaRPr lang="tr-TR" sz="1300" dirty="0">
              <a:latin typeface="+mj-lt"/>
            </a:endParaRPr>
          </a:p>
        </p:txBody>
      </p:sp>
      <p:pic>
        <p:nvPicPr>
          <p:cNvPr id="3" name="Resim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8643" y="3814080"/>
            <a:ext cx="2226730" cy="1838040"/>
          </a:xfrm>
          <a:prstGeom prst="rect">
            <a:avLst/>
          </a:prstGeom>
        </p:spPr>
      </p:pic>
      <p:sp>
        <p:nvSpPr>
          <p:cNvPr id="36" name="Metin kutusu 35"/>
          <p:cNvSpPr txBox="1"/>
          <p:nvPr/>
        </p:nvSpPr>
        <p:spPr>
          <a:xfrm>
            <a:off x="254544" y="3472140"/>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Aşağıda y fonksiyonunda x=1 noktasından çizilen teğet ile doğru ile dik kesişmiştir.</a:t>
            </a:r>
          </a:p>
        </p:txBody>
      </p:sp>
      <p:sp>
        <p:nvSpPr>
          <p:cNvPr id="7" name="Serbest Form 6"/>
          <p:cNvSpPr/>
          <p:nvPr/>
        </p:nvSpPr>
        <p:spPr>
          <a:xfrm>
            <a:off x="586987" y="4042902"/>
            <a:ext cx="864096" cy="1047169"/>
          </a:xfrm>
          <a:custGeom>
            <a:avLst/>
            <a:gdLst>
              <a:gd name="connsiteX0" fmla="*/ 0 w 594360"/>
              <a:gd name="connsiteY0" fmla="*/ 16329 h 934006"/>
              <a:gd name="connsiteX1" fmla="*/ 238397 w 594360"/>
              <a:gd name="connsiteY1" fmla="*/ 933994 h 934006"/>
              <a:gd name="connsiteX2" fmla="*/ 594360 w 594360"/>
              <a:gd name="connsiteY2" fmla="*/ 0 h 934006"/>
            </a:gdLst>
            <a:ahLst/>
            <a:cxnLst>
              <a:cxn ang="0">
                <a:pos x="connsiteX0" y="connsiteY0"/>
              </a:cxn>
              <a:cxn ang="0">
                <a:pos x="connsiteX1" y="connsiteY1"/>
              </a:cxn>
              <a:cxn ang="0">
                <a:pos x="connsiteX2" y="connsiteY2"/>
              </a:cxn>
            </a:cxnLst>
            <a:rect l="l" t="t" r="r" b="b"/>
            <a:pathLst>
              <a:path w="594360" h="934006">
                <a:moveTo>
                  <a:pt x="0" y="16329"/>
                </a:moveTo>
                <a:cubicBezTo>
                  <a:pt x="69668" y="476522"/>
                  <a:pt x="139337" y="936716"/>
                  <a:pt x="238397" y="933994"/>
                </a:cubicBezTo>
                <a:cubicBezTo>
                  <a:pt x="337457" y="931273"/>
                  <a:pt x="501287" y="144236"/>
                  <a:pt x="594360" y="0"/>
                </a:cubicBezTo>
              </a:path>
            </a:pathLst>
          </a:custGeom>
          <a:ln>
            <a:solidFill>
              <a:srgbClr val="00B0F0"/>
            </a:solidFill>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tr-TR"/>
          </a:p>
        </p:txBody>
      </p:sp>
      <p:sp>
        <p:nvSpPr>
          <p:cNvPr id="39" name="Metin kutusu 38"/>
          <p:cNvSpPr txBox="1"/>
          <p:nvPr/>
        </p:nvSpPr>
        <p:spPr>
          <a:xfrm>
            <a:off x="421621" y="4289489"/>
            <a:ext cx="293977" cy="276999"/>
          </a:xfrm>
          <a:prstGeom prst="rect">
            <a:avLst/>
          </a:prstGeom>
          <a:noFill/>
        </p:spPr>
        <p:txBody>
          <a:bodyPr wrap="square" rtlCol="0">
            <a:spAutoFit/>
          </a:bodyPr>
          <a:lstStyle/>
          <a:p>
            <a:r>
              <a:rPr lang="tr-TR" sz="1200" dirty="0" smtClean="0">
                <a:solidFill>
                  <a:schemeClr val="tx1">
                    <a:lumMod val="85000"/>
                    <a:lumOff val="15000"/>
                  </a:schemeClr>
                </a:solidFill>
              </a:rPr>
              <a:t>y</a:t>
            </a:r>
          </a:p>
        </p:txBody>
      </p:sp>
      <mc:AlternateContent xmlns:mc="http://schemas.openxmlformats.org/markup-compatibility/2006" xmlns:a14="http://schemas.microsoft.com/office/drawing/2010/main">
        <mc:Choice Requires="a14">
          <p:sp>
            <p:nvSpPr>
              <p:cNvPr id="40" name="Metin kutusu 39"/>
              <p:cNvSpPr txBox="1"/>
              <p:nvPr/>
            </p:nvSpPr>
            <p:spPr>
              <a:xfrm>
                <a:off x="1541806" y="4369755"/>
                <a:ext cx="847094" cy="353174"/>
              </a:xfrm>
              <a:prstGeom prst="rect">
                <a:avLst/>
              </a:prstGeom>
              <a:noFill/>
            </p:spPr>
            <p:txBody>
              <a:bodyPr wrap="square" rtlCol="0">
                <a:spAutoFit/>
              </a:bodyPr>
              <a:lstStyle/>
              <a:p>
                <a:r>
                  <a:rPr lang="tr-TR" sz="1200" dirty="0" smtClean="0">
                    <a:solidFill>
                      <a:schemeClr val="tx1">
                        <a:lumMod val="85000"/>
                        <a:lumOff val="15000"/>
                      </a:schemeClr>
                    </a:solidFill>
                  </a:rPr>
                  <a:t>d = - </a:t>
                </a:r>
                <a14:m>
                  <m:oMath xmlns:m="http://schemas.openxmlformats.org/officeDocument/2006/math">
                    <m:f>
                      <m:fPr>
                        <m:ctrlPr>
                          <a:rPr lang="tr-TR" sz="1200" i="1" dirty="0" smtClean="0">
                            <a:solidFill>
                              <a:schemeClr val="tx1">
                                <a:lumMod val="85000"/>
                                <a:lumOff val="15000"/>
                              </a:schemeClr>
                            </a:solidFill>
                            <a:latin typeface="Cambria Math"/>
                          </a:rPr>
                        </m:ctrlPr>
                      </m:fPr>
                      <m:num>
                        <m:r>
                          <a:rPr lang="tr-TR" sz="1200" b="0" i="1" dirty="0" smtClean="0">
                            <a:solidFill>
                              <a:schemeClr val="tx1">
                                <a:lumMod val="85000"/>
                                <a:lumOff val="15000"/>
                              </a:schemeClr>
                            </a:solidFill>
                            <a:latin typeface="Cambria Math"/>
                          </a:rPr>
                          <m:t>1 </m:t>
                        </m:r>
                      </m:num>
                      <m:den>
                        <m:r>
                          <a:rPr lang="tr-TR" sz="1200" b="0" i="1" dirty="0" smtClean="0">
                            <a:solidFill>
                              <a:schemeClr val="tx1">
                                <a:lumMod val="85000"/>
                                <a:lumOff val="15000"/>
                              </a:schemeClr>
                            </a:solidFill>
                            <a:latin typeface="Cambria Math"/>
                          </a:rPr>
                          <m:t>10 </m:t>
                        </m:r>
                      </m:den>
                    </m:f>
                  </m:oMath>
                </a14:m>
                <a:r>
                  <a:rPr lang="tr-TR" sz="1200" dirty="0" smtClean="0">
                    <a:solidFill>
                      <a:schemeClr val="tx1">
                        <a:lumMod val="85000"/>
                        <a:lumOff val="15000"/>
                      </a:schemeClr>
                    </a:solidFill>
                  </a:rPr>
                  <a:t> </a:t>
                </a:r>
              </a:p>
            </p:txBody>
          </p:sp>
        </mc:Choice>
        <mc:Fallback xmlns="">
          <p:sp>
            <p:nvSpPr>
              <p:cNvPr id="40" name="Metin kutusu 39"/>
              <p:cNvSpPr txBox="1">
                <a:spLocks noRot="1" noChangeAspect="1" noMove="1" noResize="1" noEditPoints="1" noAdjustHandles="1" noChangeArrowheads="1" noChangeShapeType="1" noTextEdit="1"/>
              </p:cNvSpPr>
              <p:nvPr/>
            </p:nvSpPr>
            <p:spPr>
              <a:xfrm>
                <a:off x="1541806" y="4369755"/>
                <a:ext cx="847094" cy="353174"/>
              </a:xfrm>
              <a:prstGeom prst="rect">
                <a:avLst/>
              </a:prstGeom>
              <a:blipFill rotWithShape="1">
                <a:blip r:embed="rId7"/>
                <a:stretch>
                  <a:fillRect l="-719" b="-3448"/>
                </a:stretch>
              </a:blipFill>
            </p:spPr>
            <p:txBody>
              <a:bodyPr/>
              <a:lstStyle/>
              <a:p>
                <a:r>
                  <a:rPr lang="tr-TR">
                    <a:noFill/>
                  </a:rPr>
                  <a:t> </a:t>
                </a:r>
              </a:p>
            </p:txBody>
          </p:sp>
        </mc:Fallback>
      </mc:AlternateContent>
      <p:cxnSp>
        <p:nvCxnSpPr>
          <p:cNvPr id="10" name="Düz Ok Bağlayıcısı 9"/>
          <p:cNvCxnSpPr/>
          <p:nvPr/>
        </p:nvCxnSpPr>
        <p:spPr>
          <a:xfrm>
            <a:off x="980729" y="3961369"/>
            <a:ext cx="1146903" cy="1129051"/>
          </a:xfrm>
          <a:prstGeom prst="straightConnector1">
            <a:avLst/>
          </a:prstGeom>
          <a:ln>
            <a:solidFill>
              <a:srgbClr val="00B0F0"/>
            </a:solidFill>
            <a:headEnd type="arrow"/>
            <a:tailEnd type="arrow"/>
          </a:ln>
        </p:spPr>
        <p:style>
          <a:lnRef idx="1">
            <a:schemeClr val="accent4"/>
          </a:lnRef>
          <a:fillRef idx="0">
            <a:schemeClr val="accent4"/>
          </a:fillRef>
          <a:effectRef idx="0">
            <a:schemeClr val="accent4"/>
          </a:effectRef>
          <a:fontRef idx="minor">
            <a:schemeClr val="tx1"/>
          </a:fontRef>
        </p:style>
      </p:cxnSp>
      <p:sp>
        <p:nvSpPr>
          <p:cNvPr id="49" name="Metin kutusu 48"/>
          <p:cNvSpPr txBox="1"/>
          <p:nvPr/>
        </p:nvSpPr>
        <p:spPr>
          <a:xfrm>
            <a:off x="1244137" y="4212188"/>
            <a:ext cx="165511" cy="215444"/>
          </a:xfrm>
          <a:prstGeom prst="rect">
            <a:avLst/>
          </a:prstGeom>
          <a:noFill/>
        </p:spPr>
        <p:txBody>
          <a:bodyPr wrap="square" rtlCol="0">
            <a:spAutoFit/>
          </a:bodyPr>
          <a:lstStyle/>
          <a:p>
            <a:r>
              <a:rPr lang="tr-TR" sz="800" dirty="0" smtClean="0">
                <a:solidFill>
                  <a:srgbClr val="FF0000"/>
                </a:solidFill>
              </a:rPr>
              <a:t>.</a:t>
            </a:r>
          </a:p>
        </p:txBody>
      </p:sp>
      <p:sp>
        <p:nvSpPr>
          <p:cNvPr id="50" name="Metin kutusu 49"/>
          <p:cNvSpPr txBox="1"/>
          <p:nvPr/>
        </p:nvSpPr>
        <p:spPr>
          <a:xfrm>
            <a:off x="133009" y="5652124"/>
            <a:ext cx="3221261" cy="461665"/>
          </a:xfrm>
          <a:prstGeom prst="rect">
            <a:avLst/>
          </a:prstGeom>
          <a:noFill/>
        </p:spPr>
        <p:txBody>
          <a:bodyPr wrap="square" rtlCol="0">
            <a:spAutoFit/>
          </a:bodyPr>
          <a:lstStyle/>
          <a:p>
            <a:r>
              <a:rPr lang="tr-TR" sz="1200" b="1" dirty="0" smtClean="0">
                <a:solidFill>
                  <a:schemeClr val="tx1">
                    <a:lumMod val="85000"/>
                    <a:lumOff val="15000"/>
                  </a:schemeClr>
                </a:solidFill>
              </a:rPr>
              <a:t>Buna göre parabolün denklemi aşağıdakilerden hangisi olabilir?</a:t>
            </a:r>
          </a:p>
        </p:txBody>
      </p:sp>
      <p:sp>
        <p:nvSpPr>
          <p:cNvPr id="51" name="Metin kutusu 50"/>
          <p:cNvSpPr txBox="1"/>
          <p:nvPr/>
        </p:nvSpPr>
        <p:spPr>
          <a:xfrm>
            <a:off x="248561" y="6113784"/>
            <a:ext cx="3155597" cy="1938992"/>
          </a:xfrm>
          <a:prstGeom prst="rect">
            <a:avLst/>
          </a:prstGeom>
          <a:noFill/>
        </p:spPr>
        <p:txBody>
          <a:bodyPr wrap="square" rtlCol="0">
            <a:spAutoFit/>
          </a:bodyPr>
          <a:lstStyle/>
          <a:p>
            <a:r>
              <a:rPr lang="tr-TR" sz="1200" dirty="0" smtClean="0">
                <a:solidFill>
                  <a:schemeClr val="tx1">
                    <a:lumMod val="85000"/>
                    <a:lumOff val="15000"/>
                  </a:schemeClr>
                </a:solidFill>
              </a:rPr>
              <a:t>A) y =    x  + 4 x –12 </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B) y =  -2x  + 4 x + 12 </a:t>
            </a:r>
          </a:p>
          <a:p>
            <a:endParaRPr lang="tr-TR" sz="1200" dirty="0">
              <a:solidFill>
                <a:schemeClr val="tx1">
                  <a:lumMod val="85000"/>
                  <a:lumOff val="15000"/>
                </a:schemeClr>
              </a:solidFill>
            </a:endParaRPr>
          </a:p>
          <a:p>
            <a:r>
              <a:rPr lang="tr-TR" sz="1200" dirty="0">
                <a:solidFill>
                  <a:schemeClr val="tx1">
                    <a:lumMod val="85000"/>
                    <a:lumOff val="15000"/>
                  </a:schemeClr>
                </a:solidFill>
              </a:rPr>
              <a:t>C) </a:t>
            </a:r>
            <a:r>
              <a:rPr lang="tr-TR" sz="1200" dirty="0" smtClean="0">
                <a:solidFill>
                  <a:schemeClr val="tx1">
                    <a:lumMod val="85000"/>
                    <a:lumOff val="15000"/>
                  </a:schemeClr>
                </a:solidFill>
              </a:rPr>
              <a:t>2y = 2 </a:t>
            </a:r>
            <a:r>
              <a:rPr lang="tr-TR" sz="1200" dirty="0">
                <a:solidFill>
                  <a:schemeClr val="tx1">
                    <a:lumMod val="85000"/>
                    <a:lumOff val="15000"/>
                  </a:schemeClr>
                </a:solidFill>
              </a:rPr>
              <a:t>x </a:t>
            </a:r>
            <a:r>
              <a:rPr lang="tr-TR" sz="1200" dirty="0" smtClean="0">
                <a:solidFill>
                  <a:schemeClr val="tx1">
                    <a:lumMod val="85000"/>
                    <a:lumOff val="15000"/>
                  </a:schemeClr>
                </a:solidFill>
              </a:rPr>
              <a:t> + </a:t>
            </a:r>
            <a:r>
              <a:rPr lang="tr-TR" sz="1200" dirty="0">
                <a:solidFill>
                  <a:schemeClr val="tx1">
                    <a:lumMod val="85000"/>
                    <a:lumOff val="15000"/>
                  </a:schemeClr>
                </a:solidFill>
              </a:rPr>
              <a:t>4 </a:t>
            </a:r>
            <a:r>
              <a:rPr lang="tr-TR" sz="1200" dirty="0" smtClean="0">
                <a:solidFill>
                  <a:schemeClr val="tx1">
                    <a:lumMod val="85000"/>
                    <a:lumOff val="15000"/>
                  </a:schemeClr>
                </a:solidFill>
              </a:rPr>
              <a:t>x  +16 </a:t>
            </a:r>
          </a:p>
          <a:p>
            <a:endParaRPr lang="tr-TR" sz="1200" dirty="0">
              <a:solidFill>
                <a:schemeClr val="tx1">
                  <a:lumMod val="85000"/>
                  <a:lumOff val="15000"/>
                </a:schemeClr>
              </a:solidFill>
            </a:endParaRPr>
          </a:p>
          <a:p>
            <a:r>
              <a:rPr lang="tr-TR" sz="1200" dirty="0">
                <a:solidFill>
                  <a:schemeClr val="tx1">
                    <a:lumMod val="85000"/>
                    <a:lumOff val="15000"/>
                  </a:schemeClr>
                </a:solidFill>
              </a:rPr>
              <a:t>D) </a:t>
            </a:r>
            <a:r>
              <a:rPr lang="tr-TR" sz="1200" dirty="0" smtClean="0">
                <a:solidFill>
                  <a:schemeClr val="tx1">
                    <a:lumMod val="85000"/>
                    <a:lumOff val="15000"/>
                  </a:schemeClr>
                </a:solidFill>
              </a:rPr>
              <a:t>2y = -2x  </a:t>
            </a:r>
            <a:r>
              <a:rPr lang="tr-TR" sz="1200" dirty="0">
                <a:solidFill>
                  <a:schemeClr val="tx1">
                    <a:lumMod val="85000"/>
                    <a:lumOff val="15000"/>
                  </a:schemeClr>
                </a:solidFill>
              </a:rPr>
              <a:t>+ 4 x </a:t>
            </a:r>
            <a:r>
              <a:rPr lang="tr-TR" sz="1200" dirty="0" smtClean="0">
                <a:solidFill>
                  <a:schemeClr val="tx1">
                    <a:lumMod val="85000"/>
                    <a:lumOff val="15000"/>
                  </a:schemeClr>
                </a:solidFill>
              </a:rPr>
              <a:t>– 12</a:t>
            </a:r>
          </a:p>
          <a:p>
            <a:endParaRPr lang="tr-TR" sz="1200" dirty="0">
              <a:solidFill>
                <a:schemeClr val="tx1">
                  <a:lumMod val="85000"/>
                  <a:lumOff val="15000"/>
                </a:schemeClr>
              </a:solidFill>
            </a:endParaRPr>
          </a:p>
          <a:p>
            <a:r>
              <a:rPr lang="tr-TR" sz="1200" dirty="0">
                <a:solidFill>
                  <a:schemeClr val="tx1">
                    <a:lumMod val="85000"/>
                    <a:lumOff val="15000"/>
                  </a:schemeClr>
                </a:solidFill>
              </a:rPr>
              <a:t>E) </a:t>
            </a:r>
            <a:r>
              <a:rPr lang="tr-TR" sz="1200" dirty="0" smtClean="0">
                <a:solidFill>
                  <a:schemeClr val="tx1">
                    <a:lumMod val="85000"/>
                    <a:lumOff val="15000"/>
                  </a:schemeClr>
                </a:solidFill>
              </a:rPr>
              <a:t> y = 2 x   + 6 </a:t>
            </a:r>
            <a:r>
              <a:rPr lang="tr-TR" sz="1200" dirty="0">
                <a:solidFill>
                  <a:schemeClr val="tx1">
                    <a:lumMod val="85000"/>
                    <a:lumOff val="15000"/>
                  </a:schemeClr>
                </a:solidFill>
              </a:rPr>
              <a:t>x </a:t>
            </a:r>
            <a:r>
              <a:rPr lang="tr-TR" sz="1200" dirty="0" smtClean="0">
                <a:solidFill>
                  <a:schemeClr val="tx1">
                    <a:lumMod val="85000"/>
                    <a:lumOff val="15000"/>
                  </a:schemeClr>
                </a:solidFill>
              </a:rPr>
              <a:t>+ 4</a:t>
            </a:r>
            <a:endParaRPr lang="tr-TR" sz="1200" dirty="0">
              <a:solidFill>
                <a:schemeClr val="tx1">
                  <a:lumMod val="85000"/>
                  <a:lumOff val="15000"/>
                </a:schemeClr>
              </a:solidFill>
            </a:endParaRPr>
          </a:p>
          <a:p>
            <a:endParaRPr lang="tr-TR" sz="1200" dirty="0" smtClean="0">
              <a:solidFill>
                <a:schemeClr val="tx1">
                  <a:lumMod val="85000"/>
                  <a:lumOff val="15000"/>
                </a:schemeClr>
              </a:solidFill>
            </a:endParaRPr>
          </a:p>
        </p:txBody>
      </p:sp>
      <p:cxnSp>
        <p:nvCxnSpPr>
          <p:cNvPr id="26" name="Düz Bağlayıcı 25"/>
          <p:cNvCxnSpPr/>
          <p:nvPr/>
        </p:nvCxnSpPr>
        <p:spPr>
          <a:xfrm>
            <a:off x="1302007" y="4354367"/>
            <a:ext cx="38762" cy="32676"/>
          </a:xfrm>
          <a:prstGeom prst="line">
            <a:avLst/>
          </a:prstGeom>
        </p:spPr>
        <p:style>
          <a:lnRef idx="1">
            <a:schemeClr val="accent3"/>
          </a:lnRef>
          <a:fillRef idx="0">
            <a:schemeClr val="accent3"/>
          </a:fillRef>
          <a:effectRef idx="0">
            <a:schemeClr val="accent3"/>
          </a:effectRef>
          <a:fontRef idx="minor">
            <a:schemeClr val="tx1"/>
          </a:fontRef>
        </p:style>
      </p:cxnSp>
      <p:cxnSp>
        <p:nvCxnSpPr>
          <p:cNvPr id="29" name="Düz Bağlayıcı 28"/>
          <p:cNvCxnSpPr/>
          <p:nvPr/>
        </p:nvCxnSpPr>
        <p:spPr>
          <a:xfrm flipV="1">
            <a:off x="1340769" y="4354367"/>
            <a:ext cx="36004" cy="32676"/>
          </a:xfrm>
          <a:prstGeom prst="line">
            <a:avLst/>
          </a:prstGeom>
        </p:spPr>
        <p:style>
          <a:lnRef idx="1">
            <a:schemeClr val="accent3"/>
          </a:lnRef>
          <a:fillRef idx="0">
            <a:schemeClr val="accent3"/>
          </a:fillRef>
          <a:effectRef idx="0">
            <a:schemeClr val="accent3"/>
          </a:effectRef>
          <a:fontRef idx="minor">
            <a:schemeClr val="tx1"/>
          </a:fontRef>
        </p:style>
      </p:cxnSp>
      <p:sp>
        <p:nvSpPr>
          <p:cNvPr id="59" name="Metin kutusu 58"/>
          <p:cNvSpPr txBox="1"/>
          <p:nvPr/>
        </p:nvSpPr>
        <p:spPr>
          <a:xfrm>
            <a:off x="836712" y="6112518"/>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60" name="Metin kutusu 59"/>
          <p:cNvSpPr txBox="1"/>
          <p:nvPr/>
        </p:nvSpPr>
        <p:spPr>
          <a:xfrm>
            <a:off x="872499" y="647556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63" name="Metin kutusu 62"/>
          <p:cNvSpPr txBox="1"/>
          <p:nvPr/>
        </p:nvSpPr>
        <p:spPr>
          <a:xfrm>
            <a:off x="908721" y="683560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64" name="Metin kutusu 63"/>
          <p:cNvSpPr txBox="1"/>
          <p:nvPr/>
        </p:nvSpPr>
        <p:spPr>
          <a:xfrm>
            <a:off x="925467" y="7192438"/>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65" name="Metin kutusu 64"/>
          <p:cNvSpPr txBox="1"/>
          <p:nvPr/>
        </p:nvSpPr>
        <p:spPr>
          <a:xfrm>
            <a:off x="890609" y="755568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66" name="Metin kutusu 65"/>
          <p:cNvSpPr txBox="1"/>
          <p:nvPr/>
        </p:nvSpPr>
        <p:spPr>
          <a:xfrm>
            <a:off x="1988840" y="4407814"/>
            <a:ext cx="847094" cy="246221"/>
          </a:xfrm>
          <a:prstGeom prst="rect">
            <a:avLst/>
          </a:prstGeom>
          <a:noFill/>
        </p:spPr>
        <p:txBody>
          <a:bodyPr wrap="square" rtlCol="0">
            <a:spAutoFit/>
          </a:bodyPr>
          <a:lstStyle/>
          <a:p>
            <a:r>
              <a:rPr lang="tr-TR" sz="1000" dirty="0" smtClean="0">
                <a:solidFill>
                  <a:schemeClr val="tx1">
                    <a:lumMod val="85000"/>
                    <a:lumOff val="15000"/>
                  </a:schemeClr>
                </a:solidFill>
              </a:rPr>
              <a:t>x + 4</a:t>
            </a:r>
          </a:p>
        </p:txBody>
      </p:sp>
      <p:sp>
        <p:nvSpPr>
          <p:cNvPr id="68" name="Metin kutusu 67"/>
          <p:cNvSpPr txBox="1"/>
          <p:nvPr/>
        </p:nvSpPr>
        <p:spPr>
          <a:xfrm>
            <a:off x="3702406" y="737656"/>
            <a:ext cx="3155597" cy="1200329"/>
          </a:xfrm>
          <a:prstGeom prst="rect">
            <a:avLst/>
          </a:prstGeom>
          <a:noFill/>
        </p:spPr>
        <p:txBody>
          <a:bodyPr wrap="square" rtlCol="0">
            <a:spAutoFit/>
          </a:bodyPr>
          <a:lstStyle/>
          <a:p>
            <a:r>
              <a:rPr lang="tr-TR" sz="1200" dirty="0" smtClean="0">
                <a:solidFill>
                  <a:schemeClr val="tx1">
                    <a:lumMod val="85000"/>
                    <a:lumOff val="15000"/>
                  </a:schemeClr>
                </a:solidFill>
              </a:rPr>
              <a:t>f(x)  =  x  +  4 x + 12 parabolü ile </a:t>
            </a:r>
          </a:p>
          <a:p>
            <a:endParaRPr lang="tr-TR" sz="1200" dirty="0">
              <a:solidFill>
                <a:schemeClr val="tx1">
                  <a:lumMod val="85000"/>
                  <a:lumOff val="15000"/>
                </a:schemeClr>
              </a:solidFill>
            </a:endParaRPr>
          </a:p>
          <a:p>
            <a:r>
              <a:rPr lang="tr-TR" sz="1200" dirty="0">
                <a:solidFill>
                  <a:schemeClr val="tx1">
                    <a:lumMod val="85000"/>
                    <a:lumOff val="15000"/>
                  </a:schemeClr>
                </a:solidFill>
              </a:rPr>
              <a:t>h</a:t>
            </a:r>
            <a:r>
              <a:rPr lang="tr-TR" sz="1200" dirty="0" smtClean="0">
                <a:solidFill>
                  <a:schemeClr val="tx1">
                    <a:lumMod val="85000"/>
                    <a:lumOff val="15000"/>
                  </a:schemeClr>
                </a:solidFill>
              </a:rPr>
              <a:t>(x) = 4 – mx doğrusu birbirine teğettir.</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Verilenlere göre m`nin alabileceği değerlerin toplamı kaçtır?</a:t>
            </a:r>
            <a:endParaRPr lang="tr-TR" sz="1200" b="1" dirty="0">
              <a:solidFill>
                <a:schemeClr val="tx1">
                  <a:lumMod val="85000"/>
                  <a:lumOff val="15000"/>
                </a:schemeClr>
              </a:solidFill>
            </a:endParaRPr>
          </a:p>
        </p:txBody>
      </p:sp>
      <p:sp>
        <p:nvSpPr>
          <p:cNvPr id="69" name="Metin kutusu 68"/>
          <p:cNvSpPr txBox="1"/>
          <p:nvPr/>
        </p:nvSpPr>
        <p:spPr>
          <a:xfrm>
            <a:off x="269621" y="2463735"/>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-8                        B)   </a:t>
            </a:r>
            <a:r>
              <a:rPr lang="tr-TR" sz="1200" dirty="0">
                <a:solidFill>
                  <a:schemeClr val="tx1">
                    <a:lumMod val="85000"/>
                    <a:lumOff val="15000"/>
                  </a:schemeClr>
                </a:solidFill>
              </a:rPr>
              <a:t>0</a:t>
            </a:r>
            <a:r>
              <a:rPr lang="tr-TR" sz="1200" dirty="0" smtClean="0">
                <a:solidFill>
                  <a:schemeClr val="tx1">
                    <a:lumMod val="85000"/>
                    <a:lumOff val="15000"/>
                  </a:schemeClr>
                </a:solidFill>
              </a:rPr>
              <a:t>                    C) -4</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4</a:t>
            </a:r>
            <a:r>
              <a:rPr lang="tr-TR" sz="1200" dirty="0" smtClean="0">
                <a:solidFill>
                  <a:schemeClr val="tx1">
                    <a:lumMod val="85000"/>
                    <a:lumOff val="15000"/>
                  </a:schemeClr>
                </a:solidFill>
              </a:rPr>
              <a:t>                            E) 8</a:t>
            </a:r>
            <a:endParaRPr lang="tr-TR" sz="1200" dirty="0">
              <a:solidFill>
                <a:schemeClr val="tx1">
                  <a:lumMod val="85000"/>
                  <a:lumOff val="15000"/>
                </a:schemeClr>
              </a:solidFill>
            </a:endParaRPr>
          </a:p>
        </p:txBody>
      </p:sp>
      <p:sp>
        <p:nvSpPr>
          <p:cNvPr id="71" name="Dikdörtgen 70"/>
          <p:cNvSpPr/>
          <p:nvPr/>
        </p:nvSpPr>
        <p:spPr>
          <a:xfrm>
            <a:off x="3472613" y="4936533"/>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4.</a:t>
            </a:r>
            <a:endParaRPr lang="tr-TR" sz="1400" b="1" dirty="0">
              <a:solidFill>
                <a:srgbClr val="C00000"/>
              </a:solidFill>
              <a:latin typeface="Arial Narrow" panose="020B0606020202030204" pitchFamily="34" charset="0"/>
            </a:endParaRPr>
          </a:p>
        </p:txBody>
      </p:sp>
      <p:sp>
        <p:nvSpPr>
          <p:cNvPr id="72" name="Metin kutusu 71"/>
          <p:cNvSpPr txBox="1"/>
          <p:nvPr/>
        </p:nvSpPr>
        <p:spPr>
          <a:xfrm>
            <a:off x="3730871" y="4973182"/>
            <a:ext cx="3155597" cy="646331"/>
          </a:xfrm>
          <a:prstGeom prst="rect">
            <a:avLst/>
          </a:prstGeom>
          <a:noFill/>
        </p:spPr>
        <p:txBody>
          <a:bodyPr wrap="square" rtlCol="0">
            <a:spAutoFit/>
          </a:bodyPr>
          <a:lstStyle/>
          <a:p>
            <a:r>
              <a:rPr lang="tr-TR" sz="1200" b="1" noProof="1" smtClean="0">
                <a:solidFill>
                  <a:schemeClr val="tx1">
                    <a:lumMod val="85000"/>
                    <a:lumOff val="15000"/>
                  </a:schemeClr>
                </a:solidFill>
              </a:rPr>
              <a:t>f(x) 2x  +  4  x +  12  parabolü x=2 noktasından çizilen teğetin eğimi  y = ax doğrusunun eğimine eşittir. Buna göre a kaçtır?</a:t>
            </a:r>
          </a:p>
        </p:txBody>
      </p:sp>
      <p:sp>
        <p:nvSpPr>
          <p:cNvPr id="73" name="Metin kutusu 72"/>
          <p:cNvSpPr txBox="1"/>
          <p:nvPr/>
        </p:nvSpPr>
        <p:spPr>
          <a:xfrm>
            <a:off x="3730871" y="5656526"/>
            <a:ext cx="3155597" cy="1754326"/>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 </a:t>
            </a:r>
            <a:r>
              <a:rPr lang="tr-TR" sz="1200" dirty="0">
                <a:solidFill>
                  <a:schemeClr val="tx1">
                    <a:lumMod val="85000"/>
                    <a:lumOff val="15000"/>
                  </a:schemeClr>
                </a:solidFill>
              </a:rPr>
              <a:t>3</a:t>
            </a:r>
            <a:r>
              <a:rPr lang="tr-TR" sz="1200" dirty="0" smtClean="0">
                <a:solidFill>
                  <a:schemeClr val="tx1">
                    <a:lumMod val="85000"/>
                    <a:lumOff val="15000"/>
                  </a:schemeClr>
                </a:solidFill>
              </a:rPr>
              <a:t>                   </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 6         </a:t>
            </a:r>
          </a:p>
          <a:p>
            <a:pPr marL="228600" indent="-228600">
              <a:buAutoNum type="alphaUcParenR"/>
            </a:pPr>
            <a:endParaRPr lang="tr-TR" sz="1200" dirty="0">
              <a:solidFill>
                <a:schemeClr val="tx1">
                  <a:lumMod val="85000"/>
                  <a:lumOff val="15000"/>
                </a:schemeClr>
              </a:solidFill>
            </a:endParaRPr>
          </a:p>
          <a:p>
            <a:pPr marL="228600" indent="-228600">
              <a:buAutoNum type="alphaUcParenR"/>
            </a:pPr>
            <a:r>
              <a:rPr lang="tr-TR" sz="1200" dirty="0" smtClean="0">
                <a:solidFill>
                  <a:schemeClr val="tx1">
                    <a:lumMod val="85000"/>
                    <a:lumOff val="15000"/>
                  </a:schemeClr>
                </a:solidFill>
              </a:rPr>
              <a:t> 9</a:t>
            </a:r>
            <a:endParaRPr lang="tr-TR" sz="1200" dirty="0">
              <a:solidFill>
                <a:schemeClr val="tx1">
                  <a:lumMod val="85000"/>
                  <a:lumOff val="15000"/>
                </a:schemeClr>
              </a:solidFill>
            </a:endParaRPr>
          </a:p>
          <a:p>
            <a:r>
              <a:rPr lang="tr-TR" sz="1200" dirty="0" smtClean="0">
                <a:solidFill>
                  <a:schemeClr val="tx1">
                    <a:lumMod val="85000"/>
                    <a:lumOff val="15000"/>
                  </a:schemeClr>
                </a:solidFill>
              </a:rPr>
              <a:t>                 </a:t>
            </a:r>
          </a:p>
          <a:p>
            <a:r>
              <a:rPr lang="tr-TR" sz="1200" dirty="0" smtClean="0">
                <a:solidFill>
                  <a:schemeClr val="tx1">
                    <a:lumMod val="85000"/>
                    <a:lumOff val="15000"/>
                  </a:schemeClr>
                </a:solidFill>
              </a:rPr>
              <a:t>D)    12</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E)    15</a:t>
            </a:r>
            <a:endParaRPr lang="tr-TR" sz="1200" dirty="0">
              <a:solidFill>
                <a:schemeClr val="tx1">
                  <a:lumMod val="85000"/>
                  <a:lumOff val="15000"/>
                </a:schemeClr>
              </a:solidFill>
            </a:endParaRPr>
          </a:p>
        </p:txBody>
      </p:sp>
      <p:sp>
        <p:nvSpPr>
          <p:cNvPr id="76" name="Metin kutusu 75"/>
          <p:cNvSpPr txBox="1"/>
          <p:nvPr/>
        </p:nvSpPr>
        <p:spPr>
          <a:xfrm>
            <a:off x="4149080" y="4961111"/>
            <a:ext cx="180238" cy="184666"/>
          </a:xfrm>
          <a:prstGeom prst="rect">
            <a:avLst/>
          </a:prstGeom>
          <a:noFill/>
        </p:spPr>
        <p:txBody>
          <a:bodyPr wrap="square" rtlCol="0">
            <a:spAutoFit/>
          </a:bodyPr>
          <a:lstStyle/>
          <a:p>
            <a:r>
              <a:rPr lang="tr-TR" sz="600" b="1" dirty="0" smtClean="0">
                <a:solidFill>
                  <a:schemeClr val="tx1">
                    <a:lumMod val="85000"/>
                    <a:lumOff val="15000"/>
                  </a:schemeClr>
                </a:solidFill>
              </a:rPr>
              <a:t>2</a:t>
            </a:r>
          </a:p>
        </p:txBody>
      </p:sp>
      <p:pic>
        <p:nvPicPr>
          <p:cNvPr id="52" name="Resim 5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0314" y="683568"/>
            <a:ext cx="1756733" cy="1287584"/>
          </a:xfrm>
          <a:prstGeom prst="rect">
            <a:avLst/>
          </a:prstGeom>
        </p:spPr>
      </p:pic>
      <p:sp>
        <p:nvSpPr>
          <p:cNvPr id="53" name="Serbest Form 52"/>
          <p:cNvSpPr/>
          <p:nvPr/>
        </p:nvSpPr>
        <p:spPr>
          <a:xfrm>
            <a:off x="1056180" y="828459"/>
            <a:ext cx="786288" cy="812800"/>
          </a:xfrm>
          <a:custGeom>
            <a:avLst/>
            <a:gdLst>
              <a:gd name="connsiteX0" fmla="*/ 0 w 790223"/>
              <a:gd name="connsiteY0" fmla="*/ 0 h 812800"/>
              <a:gd name="connsiteX1" fmla="*/ 383823 w 790223"/>
              <a:gd name="connsiteY1" fmla="*/ 812800 h 812800"/>
              <a:gd name="connsiteX2" fmla="*/ 790223 w 790223"/>
              <a:gd name="connsiteY2" fmla="*/ 0 h 812800"/>
            </a:gdLst>
            <a:ahLst/>
            <a:cxnLst>
              <a:cxn ang="0">
                <a:pos x="connsiteX0" y="connsiteY0"/>
              </a:cxn>
              <a:cxn ang="0">
                <a:pos x="connsiteX1" y="connsiteY1"/>
              </a:cxn>
              <a:cxn ang="0">
                <a:pos x="connsiteX2" y="connsiteY2"/>
              </a:cxn>
            </a:cxnLst>
            <a:rect l="l" t="t" r="r" b="b"/>
            <a:pathLst>
              <a:path w="790223" h="812800">
                <a:moveTo>
                  <a:pt x="0" y="0"/>
                </a:moveTo>
                <a:cubicBezTo>
                  <a:pt x="126059" y="406400"/>
                  <a:pt x="252119" y="812800"/>
                  <a:pt x="383823" y="812800"/>
                </a:cubicBezTo>
                <a:cubicBezTo>
                  <a:pt x="515527" y="812800"/>
                  <a:pt x="686742" y="95956"/>
                  <a:pt x="790223" y="0"/>
                </a:cubicBezTo>
              </a:path>
            </a:pathLst>
          </a:cu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4" name="Metin kutusu 53"/>
          <p:cNvSpPr txBox="1"/>
          <p:nvPr/>
        </p:nvSpPr>
        <p:spPr>
          <a:xfrm>
            <a:off x="1052736" y="1302519"/>
            <a:ext cx="576892" cy="246221"/>
          </a:xfrm>
          <a:prstGeom prst="rect">
            <a:avLst/>
          </a:prstGeom>
          <a:noFill/>
        </p:spPr>
        <p:txBody>
          <a:bodyPr wrap="square" rtlCol="0">
            <a:spAutoFit/>
          </a:bodyPr>
          <a:lstStyle/>
          <a:p>
            <a:r>
              <a:rPr lang="tr-TR" sz="1000" dirty="0" smtClean="0">
                <a:solidFill>
                  <a:schemeClr val="tx1">
                    <a:lumMod val="85000"/>
                    <a:lumOff val="15000"/>
                  </a:schemeClr>
                </a:solidFill>
              </a:rPr>
              <a:t>2</a:t>
            </a:r>
            <a:endParaRPr lang="tr-TR" sz="1000" dirty="0">
              <a:solidFill>
                <a:schemeClr val="tx1">
                  <a:lumMod val="85000"/>
                  <a:lumOff val="15000"/>
                </a:schemeClr>
              </a:solidFill>
            </a:endParaRPr>
          </a:p>
        </p:txBody>
      </p:sp>
      <p:sp>
        <p:nvSpPr>
          <p:cNvPr id="55" name="Metin kutusu 54"/>
          <p:cNvSpPr txBox="1"/>
          <p:nvPr/>
        </p:nvSpPr>
        <p:spPr>
          <a:xfrm>
            <a:off x="1555964" y="1314000"/>
            <a:ext cx="576892" cy="246221"/>
          </a:xfrm>
          <a:prstGeom prst="rect">
            <a:avLst/>
          </a:prstGeom>
          <a:noFill/>
        </p:spPr>
        <p:txBody>
          <a:bodyPr wrap="square" rtlCol="0">
            <a:spAutoFit/>
          </a:bodyPr>
          <a:lstStyle/>
          <a:p>
            <a:r>
              <a:rPr lang="tr-TR" sz="1000" dirty="0" smtClean="0">
                <a:solidFill>
                  <a:schemeClr val="tx1">
                    <a:lumMod val="85000"/>
                    <a:lumOff val="15000"/>
                  </a:schemeClr>
                </a:solidFill>
              </a:rPr>
              <a:t>4</a:t>
            </a:r>
            <a:endParaRPr lang="tr-TR" sz="1000" dirty="0">
              <a:solidFill>
                <a:schemeClr val="tx1">
                  <a:lumMod val="85000"/>
                  <a:lumOff val="15000"/>
                </a:schemeClr>
              </a:solidFill>
            </a:endParaRPr>
          </a:p>
        </p:txBody>
      </p:sp>
      <p:sp>
        <p:nvSpPr>
          <p:cNvPr id="56" name="Metin kutusu 55"/>
          <p:cNvSpPr txBox="1"/>
          <p:nvPr/>
        </p:nvSpPr>
        <p:spPr>
          <a:xfrm>
            <a:off x="908720" y="837534"/>
            <a:ext cx="576892" cy="246221"/>
          </a:xfrm>
          <a:prstGeom prst="rect">
            <a:avLst/>
          </a:prstGeom>
          <a:noFill/>
        </p:spPr>
        <p:txBody>
          <a:bodyPr wrap="square" rtlCol="0">
            <a:spAutoFit/>
          </a:bodyPr>
          <a:lstStyle/>
          <a:p>
            <a:r>
              <a:rPr lang="tr-TR" sz="1000" dirty="0" smtClean="0">
                <a:solidFill>
                  <a:schemeClr val="tx1">
                    <a:lumMod val="85000"/>
                    <a:lumOff val="15000"/>
                  </a:schemeClr>
                </a:solidFill>
              </a:rPr>
              <a:t>8</a:t>
            </a:r>
            <a:endParaRPr lang="tr-TR" sz="1000" dirty="0">
              <a:solidFill>
                <a:schemeClr val="tx1">
                  <a:lumMod val="85000"/>
                  <a:lumOff val="15000"/>
                </a:schemeClr>
              </a:solidFill>
            </a:endParaRPr>
          </a:p>
        </p:txBody>
      </p:sp>
      <p:sp>
        <p:nvSpPr>
          <p:cNvPr id="75" name="Metin kutusu 74"/>
          <p:cNvSpPr txBox="1"/>
          <p:nvPr/>
        </p:nvSpPr>
        <p:spPr>
          <a:xfrm>
            <a:off x="198673" y="2002070"/>
            <a:ext cx="3155597" cy="461665"/>
          </a:xfrm>
          <a:prstGeom prst="rect">
            <a:avLst/>
          </a:prstGeom>
          <a:noFill/>
        </p:spPr>
        <p:txBody>
          <a:bodyPr wrap="square" rtlCol="0">
            <a:spAutoFit/>
          </a:bodyPr>
          <a:lstStyle/>
          <a:p>
            <a:r>
              <a:rPr lang="tr-TR" sz="1200" b="1" dirty="0" smtClean="0">
                <a:solidFill>
                  <a:schemeClr val="tx1">
                    <a:lumMod val="85000"/>
                    <a:lumOff val="15000"/>
                  </a:schemeClr>
                </a:solidFill>
              </a:rPr>
              <a:t>Yukarıda verilen parabolde x=1 noktasından çizilen teğetin eğimi kaçtır?</a:t>
            </a:r>
          </a:p>
        </p:txBody>
      </p:sp>
      <p:sp>
        <p:nvSpPr>
          <p:cNvPr id="85" name="Metin kutusu 84"/>
          <p:cNvSpPr txBox="1"/>
          <p:nvPr/>
        </p:nvSpPr>
        <p:spPr>
          <a:xfrm>
            <a:off x="4184866" y="728181"/>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57" name="Metin kutusu 56"/>
          <p:cNvSpPr txBox="1"/>
          <p:nvPr/>
        </p:nvSpPr>
        <p:spPr>
          <a:xfrm>
            <a:off x="3631649" y="1909736"/>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-8                        B)   -</a:t>
            </a:r>
            <a:r>
              <a:rPr lang="tr-TR" sz="1200" dirty="0">
                <a:solidFill>
                  <a:schemeClr val="tx1">
                    <a:lumMod val="85000"/>
                    <a:lumOff val="15000"/>
                  </a:schemeClr>
                </a:solidFill>
              </a:rPr>
              <a:t>5</a:t>
            </a:r>
            <a:r>
              <a:rPr lang="tr-TR" sz="1200" dirty="0" smtClean="0">
                <a:solidFill>
                  <a:schemeClr val="tx1">
                    <a:lumMod val="85000"/>
                    <a:lumOff val="15000"/>
                  </a:schemeClr>
                </a:solidFill>
              </a:rPr>
              <a:t>                    C) 4</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8</a:t>
            </a:r>
            <a:r>
              <a:rPr lang="tr-TR" sz="1200" dirty="0" smtClean="0">
                <a:solidFill>
                  <a:schemeClr val="tx1">
                    <a:lumMod val="85000"/>
                    <a:lumOff val="15000"/>
                  </a:schemeClr>
                </a:solidFill>
              </a:rPr>
              <a:t>                            E) 16</a:t>
            </a:r>
            <a:endParaRPr lang="tr-TR" sz="1200" dirty="0">
              <a:solidFill>
                <a:schemeClr val="tx1">
                  <a:lumMod val="85000"/>
                  <a:lumOff val="15000"/>
                </a:schemeClr>
              </a:solidFill>
            </a:endParaRPr>
          </a:p>
        </p:txBody>
      </p:sp>
      <p:pic>
        <p:nvPicPr>
          <p:cNvPr id="58" name="Resim 57"/>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74" name="Dikdörtgen 73"/>
          <p:cNvSpPr/>
          <p:nvPr/>
        </p:nvSpPr>
        <p:spPr>
          <a:xfrm>
            <a:off x="53885" y="8819480"/>
            <a:ext cx="253212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78" name="Metin kutusu 77"/>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1.D</a:t>
            </a:r>
            <a:endParaRPr lang="tr-TR" sz="1000" dirty="0">
              <a:solidFill>
                <a:schemeClr val="tx1">
                  <a:lumMod val="85000"/>
                  <a:lumOff val="15000"/>
                </a:schemeClr>
              </a:solidFill>
            </a:endParaRPr>
          </a:p>
        </p:txBody>
      </p:sp>
      <p:sp>
        <p:nvSpPr>
          <p:cNvPr id="79" name="Metin kutusu 78"/>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t>
            </a:r>
            <a:r>
              <a:rPr lang="tr-TR" sz="1000" dirty="0">
                <a:solidFill>
                  <a:schemeClr val="tx1">
                    <a:lumMod val="85000"/>
                    <a:lumOff val="15000"/>
                  </a:schemeClr>
                </a:solidFill>
              </a:rPr>
              <a:t>-</a:t>
            </a:r>
          </a:p>
        </p:txBody>
      </p:sp>
      <p:sp>
        <p:nvSpPr>
          <p:cNvPr id="80" name="Metin kutusu 79"/>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a:t>
            </a:r>
            <a:endParaRPr lang="tr-TR" sz="1000" dirty="0">
              <a:solidFill>
                <a:schemeClr val="tx1">
                  <a:lumMod val="85000"/>
                  <a:lumOff val="15000"/>
                </a:schemeClr>
              </a:solidFill>
            </a:endParaRPr>
          </a:p>
        </p:txBody>
      </p:sp>
      <p:sp>
        <p:nvSpPr>
          <p:cNvPr id="81" name="Metin kutusu 80"/>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a:t>
            </a:r>
            <a:endParaRPr lang="tr-TR" sz="1000" dirty="0">
              <a:solidFill>
                <a:schemeClr val="tx1">
                  <a:lumMod val="85000"/>
                  <a:lumOff val="15000"/>
                </a:schemeClr>
              </a:solidFill>
            </a:endParaRPr>
          </a:p>
        </p:txBody>
      </p:sp>
      <p:sp>
        <p:nvSpPr>
          <p:cNvPr id="82" name="Metin kutusu 81"/>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5. -</a:t>
            </a:r>
            <a:endParaRPr lang="tr-TR" sz="1000" dirty="0">
              <a:solidFill>
                <a:schemeClr val="tx1">
                  <a:lumMod val="85000"/>
                  <a:lumOff val="15000"/>
                </a:schemeClr>
              </a:solidFill>
            </a:endParaRPr>
          </a:p>
        </p:txBody>
      </p:sp>
      <p:sp>
        <p:nvSpPr>
          <p:cNvPr id="83" name="Metin kutusu 82"/>
          <p:cNvSpPr txBox="1"/>
          <p:nvPr/>
        </p:nvSpPr>
        <p:spPr>
          <a:xfrm>
            <a:off x="2132856"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6. -</a:t>
            </a:r>
            <a:endParaRPr lang="tr-TR" sz="1000" dirty="0">
              <a:solidFill>
                <a:schemeClr val="tx1">
                  <a:lumMod val="85000"/>
                  <a:lumOff val="15000"/>
                </a:schemeClr>
              </a:solidFill>
            </a:endParaRPr>
          </a:p>
        </p:txBody>
      </p:sp>
      <p:cxnSp>
        <p:nvCxnSpPr>
          <p:cNvPr id="84" name="Düz Bağlayıcı 83"/>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6" name="Düz Bağlayıcı 85"/>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7" name="Düz Bağlayıcı 86"/>
          <p:cNvCxnSpPr/>
          <p:nvPr/>
        </p:nvCxnSpPr>
        <p:spPr>
          <a:xfrm>
            <a:off x="2132856"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8" name="Düz Bağlayıcı 87"/>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89" name="Düz Bağlayıcı 88"/>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90" name="Dikdörtgen 89"/>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91" name="Picture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39712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22101" y="739515"/>
            <a:ext cx="308098"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5.</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08098"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7.</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sp>
        <p:nvSpPr>
          <p:cNvPr id="70" name="Metin kutusu 69"/>
          <p:cNvSpPr txBox="1"/>
          <p:nvPr/>
        </p:nvSpPr>
        <p:spPr>
          <a:xfrm>
            <a:off x="5085185" y="4627898"/>
            <a:ext cx="1863945" cy="276999"/>
          </a:xfrm>
          <a:prstGeom prst="rect">
            <a:avLst/>
          </a:prstGeom>
          <a:noFill/>
        </p:spPr>
        <p:txBody>
          <a:bodyPr wrap="square" rtlCol="0">
            <a:spAutoFit/>
          </a:bodyPr>
          <a:lstStyle/>
          <a:p>
            <a:r>
              <a:rPr lang="tr-TR" sz="1200" dirty="0" smtClean="0">
                <a:solidFill>
                  <a:schemeClr val="bg1"/>
                </a:solidFill>
              </a:rPr>
              <a:t>+</a:t>
            </a:r>
            <a:endParaRPr lang="tr-TR" sz="1200" dirty="0">
              <a:solidFill>
                <a:schemeClr val="bg1"/>
              </a:solidFill>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17</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52"/>
            <a:ext cx="4536504" cy="38472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19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Türev İlişkisi (Meraklısına)</a:t>
            </a:r>
            <a:endParaRPr lang="tr-TR" sz="19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9" name="Metin kutusu 8"/>
          <p:cNvSpPr txBox="1"/>
          <p:nvPr/>
        </p:nvSpPr>
        <p:spPr>
          <a:xfrm>
            <a:off x="4911862" y="1115616"/>
            <a:ext cx="5397822" cy="400110"/>
          </a:xfrm>
          <a:prstGeom prst="rect">
            <a:avLst/>
          </a:prstGeom>
          <a:noFill/>
        </p:spPr>
        <p:txBody>
          <a:bodyPr wrap="square" rtlCol="0">
            <a:spAutoFit/>
          </a:bodyPr>
          <a:lstStyle/>
          <a:p>
            <a:endParaRPr lang="tr-TR" sz="1000" b="1" dirty="0" smtClean="0">
              <a:solidFill>
                <a:schemeClr val="bg1">
                  <a:lumMod val="95000"/>
                </a:schemeClr>
              </a:solidFill>
            </a:endParaRPr>
          </a:p>
          <a:p>
            <a:endParaRPr lang="tr-TR" sz="1000" b="1" dirty="0">
              <a:solidFill>
                <a:schemeClr val="bg1">
                  <a:lumMod val="95000"/>
                </a:schemeClr>
              </a:solidFill>
            </a:endParaRPr>
          </a:p>
        </p:txBody>
      </p:sp>
      <p:sp>
        <p:nvSpPr>
          <p:cNvPr id="16" name="Metin kutusu 15"/>
          <p:cNvSpPr txBox="1"/>
          <p:nvPr/>
        </p:nvSpPr>
        <p:spPr>
          <a:xfrm>
            <a:off x="4509121" y="-36512"/>
            <a:ext cx="1400654"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mc:AlternateContent xmlns:mc="http://schemas.openxmlformats.org/markup-compatibility/2006" xmlns:a14="http://schemas.microsoft.com/office/drawing/2010/main">
        <mc:Choice Requires="a14">
          <p:sp>
            <p:nvSpPr>
              <p:cNvPr id="68" name="Metin kutusu 67"/>
              <p:cNvSpPr txBox="1"/>
              <p:nvPr/>
            </p:nvSpPr>
            <p:spPr>
              <a:xfrm>
                <a:off x="3702406" y="720442"/>
                <a:ext cx="3155597" cy="725455"/>
              </a:xfrm>
              <a:prstGeom prst="rect">
                <a:avLst/>
              </a:prstGeom>
              <a:noFill/>
            </p:spPr>
            <p:txBody>
              <a:bodyPr wrap="square" rtlCol="0">
                <a:spAutoFit/>
              </a:bodyPr>
              <a:lstStyle/>
              <a:p>
                <a:r>
                  <a:rPr lang="tr-TR" sz="1200" dirty="0" smtClean="0">
                    <a:solidFill>
                      <a:schemeClr val="tx1">
                        <a:lumMod val="85000"/>
                        <a:lumOff val="15000"/>
                      </a:schemeClr>
                    </a:solidFill>
                  </a:rPr>
                  <a:t>f(x)  =  x  +  (a-8) x  + </a:t>
                </a:r>
                <a14:m>
                  <m:oMath xmlns:m="http://schemas.openxmlformats.org/officeDocument/2006/math">
                    <m:f>
                      <m:fPr>
                        <m:ctrlPr>
                          <a:rPr lang="tr-TR" sz="1200" i="1" smtClean="0">
                            <a:solidFill>
                              <a:schemeClr val="tx1">
                                <a:lumMod val="85000"/>
                                <a:lumOff val="15000"/>
                              </a:schemeClr>
                            </a:solidFill>
                            <a:latin typeface="Cambria Math"/>
                          </a:rPr>
                        </m:ctrlPr>
                      </m:fPr>
                      <m:num>
                        <m:r>
                          <a:rPr lang="tr-TR" sz="1200" b="0" i="1" smtClean="0">
                            <a:solidFill>
                              <a:schemeClr val="tx1">
                                <a:lumMod val="85000"/>
                                <a:lumOff val="15000"/>
                              </a:schemeClr>
                            </a:solidFill>
                            <a:latin typeface="Cambria Math"/>
                          </a:rPr>
                          <m:t>15</m:t>
                        </m:r>
                      </m:num>
                      <m:den>
                        <m:r>
                          <a:rPr lang="tr-TR" sz="1200" b="0" i="1" smtClean="0">
                            <a:solidFill>
                              <a:schemeClr val="tx1">
                                <a:lumMod val="85000"/>
                                <a:lumOff val="15000"/>
                              </a:schemeClr>
                            </a:solidFill>
                            <a:latin typeface="Cambria Math"/>
                          </a:rPr>
                          <m:t>4</m:t>
                        </m:r>
                      </m:den>
                    </m:f>
                  </m:oMath>
                </a14:m>
                <a:r>
                  <a:rPr lang="tr-TR" sz="1200" dirty="0" smtClean="0">
                    <a:solidFill>
                      <a:schemeClr val="tx1">
                        <a:lumMod val="85000"/>
                        <a:lumOff val="15000"/>
                      </a:schemeClr>
                    </a:solidFill>
                  </a:rPr>
                  <a:t> parabolüne </a:t>
                </a:r>
                <a:r>
                  <a:rPr lang="tr-TR" sz="1200" b="1" dirty="0" smtClean="0">
                    <a:solidFill>
                      <a:schemeClr val="tx1">
                        <a:lumMod val="85000"/>
                        <a:lumOff val="15000"/>
                      </a:schemeClr>
                    </a:solidFill>
                  </a:rPr>
                  <a:t>x ekseni üzerinden çizilen teğetler birbirine dikse</a:t>
                </a:r>
                <a:r>
                  <a:rPr lang="tr-TR" sz="1200" dirty="0" smtClean="0">
                    <a:solidFill>
                      <a:schemeClr val="tx1">
                        <a:lumMod val="85000"/>
                        <a:lumOff val="15000"/>
                      </a:schemeClr>
                    </a:solidFill>
                  </a:rPr>
                  <a:t> a`nın alabileceği en küçük değer kaçtır?</a:t>
                </a:r>
              </a:p>
            </p:txBody>
          </p:sp>
        </mc:Choice>
        <mc:Fallback xmlns="">
          <p:sp>
            <p:nvSpPr>
              <p:cNvPr id="68" name="Metin kutusu 67"/>
              <p:cNvSpPr txBox="1">
                <a:spLocks noRot="1" noChangeAspect="1" noMove="1" noResize="1" noEditPoints="1" noAdjustHandles="1" noChangeArrowheads="1" noChangeShapeType="1" noTextEdit="1"/>
              </p:cNvSpPr>
              <p:nvPr/>
            </p:nvSpPr>
            <p:spPr>
              <a:xfrm>
                <a:off x="3702406" y="720442"/>
                <a:ext cx="3155597" cy="725455"/>
              </a:xfrm>
              <a:prstGeom prst="rect">
                <a:avLst/>
              </a:prstGeom>
              <a:blipFill rotWithShape="1">
                <a:blip r:embed="rId4"/>
                <a:stretch>
                  <a:fillRect b="-5882"/>
                </a:stretch>
              </a:blipFill>
            </p:spPr>
            <p:txBody>
              <a:bodyPr/>
              <a:lstStyle/>
              <a:p>
                <a:r>
                  <a:rPr lang="tr-TR">
                    <a:noFill/>
                  </a:rPr>
                  <a:t> </a:t>
                </a:r>
              </a:p>
            </p:txBody>
          </p:sp>
        </mc:Fallback>
      </mc:AlternateContent>
      <p:sp>
        <p:nvSpPr>
          <p:cNvPr id="69" name="Metin kutusu 68"/>
          <p:cNvSpPr txBox="1"/>
          <p:nvPr/>
        </p:nvSpPr>
        <p:spPr>
          <a:xfrm>
            <a:off x="3702403" y="1477397"/>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-2                        B)   2                     C) 4</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-4                            E) 12</a:t>
            </a:r>
            <a:endParaRPr lang="tr-TR" sz="1200" dirty="0">
              <a:solidFill>
                <a:schemeClr val="tx1">
                  <a:lumMod val="85000"/>
                  <a:lumOff val="15000"/>
                </a:schemeClr>
              </a:solidFill>
            </a:endParaRPr>
          </a:p>
        </p:txBody>
      </p:sp>
      <p:sp>
        <p:nvSpPr>
          <p:cNvPr id="71" name="Dikdörtgen 70"/>
          <p:cNvSpPr/>
          <p:nvPr/>
        </p:nvSpPr>
        <p:spPr>
          <a:xfrm>
            <a:off x="3472613" y="5008541"/>
            <a:ext cx="308098" cy="307777"/>
          </a:xfrm>
          <a:prstGeom prst="rect">
            <a:avLst/>
          </a:prstGeom>
        </p:spPr>
        <p:txBody>
          <a:bodyPr wrap="none">
            <a:spAutoFit/>
          </a:bodyPr>
          <a:lstStyle/>
          <a:p>
            <a:r>
              <a:rPr lang="tr-TR" sz="1400" b="1" dirty="0">
                <a:solidFill>
                  <a:srgbClr val="C00000"/>
                </a:solidFill>
                <a:latin typeface="Arial Narrow" panose="020B0606020202030204" pitchFamily="34" charset="0"/>
              </a:rPr>
              <a:t>8</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72" name="Metin kutusu 71"/>
          <p:cNvSpPr txBox="1"/>
          <p:nvPr/>
        </p:nvSpPr>
        <p:spPr>
          <a:xfrm>
            <a:off x="3730871" y="5045190"/>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y =   x   +  x + 6 parabolünün 0 =  -2y -6 x +2 </a:t>
            </a:r>
            <a:r>
              <a:rPr lang="tr-TR" sz="1200" b="1" dirty="0" smtClean="0">
                <a:solidFill>
                  <a:schemeClr val="tx1">
                    <a:lumMod val="85000"/>
                    <a:lumOff val="15000"/>
                  </a:schemeClr>
                </a:solidFill>
              </a:rPr>
              <a:t>doğrusuna  en yakın olan noktanın koordinatları çarpımı nedir?</a:t>
            </a:r>
          </a:p>
        </p:txBody>
      </p:sp>
      <p:sp>
        <p:nvSpPr>
          <p:cNvPr id="76" name="Metin kutusu 75"/>
          <p:cNvSpPr txBox="1"/>
          <p:nvPr/>
        </p:nvSpPr>
        <p:spPr>
          <a:xfrm>
            <a:off x="4088352" y="5033119"/>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85" name="Metin kutusu 84"/>
          <p:cNvSpPr txBox="1"/>
          <p:nvPr/>
        </p:nvSpPr>
        <p:spPr>
          <a:xfrm>
            <a:off x="4184866" y="71492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mc:AlternateContent xmlns:mc="http://schemas.openxmlformats.org/markup-compatibility/2006" xmlns:a14="http://schemas.microsoft.com/office/drawing/2010/main">
        <mc:Choice Requires="a14">
          <p:sp>
            <p:nvSpPr>
              <p:cNvPr id="78" name="Metin kutusu 77"/>
              <p:cNvSpPr txBox="1"/>
              <p:nvPr/>
            </p:nvSpPr>
            <p:spPr>
              <a:xfrm>
                <a:off x="235267" y="759255"/>
                <a:ext cx="3155597" cy="722827"/>
              </a:xfrm>
              <a:prstGeom prst="rect">
                <a:avLst/>
              </a:prstGeom>
              <a:noFill/>
            </p:spPr>
            <p:txBody>
              <a:bodyPr wrap="square" rtlCol="0">
                <a:spAutoFit/>
              </a:bodyPr>
              <a:lstStyle/>
              <a:p>
                <a:r>
                  <a:rPr lang="tr-TR" sz="1200" noProof="1" smtClean="0">
                    <a:solidFill>
                      <a:schemeClr val="tx1">
                        <a:lumMod val="85000"/>
                        <a:lumOff val="15000"/>
                      </a:schemeClr>
                    </a:solidFill>
                  </a:rPr>
                  <a:t>f(x)  =  x   +  (ax) x + </a:t>
                </a:r>
                <a14:m>
                  <m:oMath xmlns:m="http://schemas.openxmlformats.org/officeDocument/2006/math">
                    <m:f>
                      <m:fPr>
                        <m:ctrlPr>
                          <a:rPr lang="tr-TR" sz="1200" i="1" noProof="1" smtClean="0">
                            <a:solidFill>
                              <a:schemeClr val="tx1">
                                <a:lumMod val="85000"/>
                                <a:lumOff val="15000"/>
                              </a:schemeClr>
                            </a:solidFill>
                            <a:latin typeface="Cambria Math"/>
                          </a:rPr>
                        </m:ctrlPr>
                      </m:fPr>
                      <m:num>
                        <m:r>
                          <a:rPr lang="tr-TR" sz="1200" b="0" i="1" noProof="1" smtClean="0">
                            <a:solidFill>
                              <a:schemeClr val="tx1">
                                <a:lumMod val="85000"/>
                                <a:lumOff val="15000"/>
                              </a:schemeClr>
                            </a:solidFill>
                            <a:latin typeface="Cambria Math"/>
                          </a:rPr>
                          <m:t>19</m:t>
                        </m:r>
                      </m:num>
                      <m:den>
                        <m:r>
                          <a:rPr lang="tr-TR" sz="1200" b="0" i="1" noProof="1" smtClean="0">
                            <a:solidFill>
                              <a:schemeClr val="tx1">
                                <a:lumMod val="85000"/>
                                <a:lumOff val="15000"/>
                              </a:schemeClr>
                            </a:solidFill>
                            <a:latin typeface="Cambria Math"/>
                          </a:rPr>
                          <m:t>4</m:t>
                        </m:r>
                      </m:den>
                    </m:f>
                  </m:oMath>
                </a14:m>
                <a:r>
                  <a:rPr lang="tr-TR" sz="1200" noProof="1" smtClean="0">
                    <a:solidFill>
                      <a:schemeClr val="tx1">
                        <a:lumMod val="85000"/>
                        <a:lumOff val="15000"/>
                      </a:schemeClr>
                    </a:solidFill>
                  </a:rPr>
                  <a:t> parabolüne </a:t>
                </a:r>
                <a:r>
                  <a:rPr lang="tr-TR" sz="1200" b="1" noProof="1" smtClean="0">
                    <a:solidFill>
                      <a:schemeClr val="tx1">
                        <a:lumMod val="85000"/>
                        <a:lumOff val="15000"/>
                      </a:schemeClr>
                    </a:solidFill>
                  </a:rPr>
                  <a:t>orijinden çizilen teğetler dikse</a:t>
                </a:r>
                <a:r>
                  <a:rPr lang="tr-TR" sz="1200" noProof="1" smtClean="0">
                    <a:solidFill>
                      <a:schemeClr val="tx1">
                        <a:lumMod val="85000"/>
                        <a:lumOff val="15000"/>
                      </a:schemeClr>
                    </a:solidFill>
                  </a:rPr>
                  <a:t> a`nın alabileceği pozitif değer kaçtır?</a:t>
                </a:r>
              </a:p>
            </p:txBody>
          </p:sp>
        </mc:Choice>
        <mc:Fallback xmlns="">
          <p:sp>
            <p:nvSpPr>
              <p:cNvPr id="78" name="Metin kutusu 77"/>
              <p:cNvSpPr txBox="1">
                <a:spLocks noRot="1" noChangeAspect="1" noMove="1" noResize="1" noEditPoints="1" noAdjustHandles="1" noChangeArrowheads="1" noChangeShapeType="1" noTextEdit="1"/>
              </p:cNvSpPr>
              <p:nvPr/>
            </p:nvSpPr>
            <p:spPr>
              <a:xfrm>
                <a:off x="235267" y="759255"/>
                <a:ext cx="3155597" cy="722827"/>
              </a:xfrm>
              <a:prstGeom prst="rect">
                <a:avLst/>
              </a:prstGeom>
              <a:blipFill rotWithShape="1">
                <a:blip r:embed="rId5"/>
                <a:stretch>
                  <a:fillRect l="-193" b="-6780"/>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80" name="Metin kutusu 79"/>
              <p:cNvSpPr txBox="1"/>
              <p:nvPr/>
            </p:nvSpPr>
            <p:spPr>
              <a:xfrm>
                <a:off x="134106" y="1482205"/>
                <a:ext cx="3263493" cy="690317"/>
              </a:xfrm>
              <a:prstGeom prst="rect">
                <a:avLst/>
              </a:prstGeom>
              <a:noFill/>
            </p:spPr>
            <p:txBody>
              <a:bodyPr wrap="square" rtlCol="0">
                <a:spAutoFit/>
              </a:bodyPr>
              <a:lstStyle/>
              <a:p>
                <a:r>
                  <a:rPr lang="tr-TR" sz="1200" dirty="0" smtClean="0">
                    <a:solidFill>
                      <a:schemeClr val="tx1">
                        <a:lumMod val="85000"/>
                        <a:lumOff val="15000"/>
                      </a:schemeClr>
                    </a:solidFill>
                  </a:rPr>
                  <a:t>A)  </a:t>
                </a:r>
                <a14:m>
                  <m:oMath xmlns:m="http://schemas.openxmlformats.org/officeDocument/2006/math">
                    <m:r>
                      <a:rPr lang="tr-TR" sz="1200" b="0" i="0" smtClean="0">
                        <a:solidFill>
                          <a:schemeClr val="tx1">
                            <a:lumMod val="85000"/>
                            <a:lumOff val="15000"/>
                          </a:schemeClr>
                        </a:solidFill>
                        <a:latin typeface="Cambria Math"/>
                      </a:rPr>
                      <m:t>2</m:t>
                    </m:r>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3</m:t>
                        </m:r>
                      </m:e>
                    </m:rad>
                  </m:oMath>
                </a14:m>
                <a:r>
                  <a:rPr lang="tr-TR" sz="1200" dirty="0" smtClean="0">
                    <a:solidFill>
                      <a:schemeClr val="tx1">
                        <a:lumMod val="85000"/>
                        <a:lumOff val="15000"/>
                      </a:schemeClr>
                    </a:solidFill>
                  </a:rPr>
                  <a:t>                     B)   </a:t>
                </a:r>
                <a14:m>
                  <m:oMath xmlns:m="http://schemas.openxmlformats.org/officeDocument/2006/math">
                    <m:r>
                      <a:rPr lang="tr-TR" sz="1200" b="0" i="0" dirty="0" smtClean="0">
                        <a:solidFill>
                          <a:schemeClr val="tx1">
                            <a:lumMod val="85000"/>
                            <a:lumOff val="15000"/>
                          </a:schemeClr>
                        </a:solidFill>
                        <a:latin typeface="Cambria Math"/>
                      </a:rPr>
                      <m:t>3</m:t>
                    </m:r>
                    <m:rad>
                      <m:radPr>
                        <m:degHide m:val="on"/>
                        <m:ctrlPr>
                          <a:rPr lang="tr-TR" sz="1200" i="1" dirty="0" smtClean="0">
                            <a:solidFill>
                              <a:schemeClr val="tx1">
                                <a:lumMod val="85000"/>
                                <a:lumOff val="15000"/>
                              </a:schemeClr>
                            </a:solidFill>
                            <a:latin typeface="Cambria Math"/>
                          </a:rPr>
                        </m:ctrlPr>
                      </m:radPr>
                      <m:deg/>
                      <m:e>
                        <m:r>
                          <a:rPr lang="tr-TR" sz="1200" b="0" i="1" dirty="0" smtClean="0">
                            <a:solidFill>
                              <a:schemeClr val="tx1">
                                <a:lumMod val="85000"/>
                                <a:lumOff val="15000"/>
                              </a:schemeClr>
                            </a:solidFill>
                            <a:latin typeface="Cambria Math"/>
                          </a:rPr>
                          <m:t>2</m:t>
                        </m:r>
                      </m:e>
                    </m:rad>
                  </m:oMath>
                </a14:m>
                <a:r>
                  <a:rPr lang="tr-TR" sz="1200" dirty="0" smtClean="0">
                    <a:solidFill>
                      <a:schemeClr val="tx1">
                        <a:lumMod val="85000"/>
                        <a:lumOff val="15000"/>
                      </a:schemeClr>
                    </a:solidFill>
                  </a:rPr>
                  <a:t>                        C) </a:t>
                </a:r>
                <a14:m>
                  <m:oMath xmlns:m="http://schemas.openxmlformats.org/officeDocument/2006/math">
                    <m:r>
                      <a:rPr lang="tr-TR" sz="1200" b="0" i="0" smtClean="0">
                        <a:solidFill>
                          <a:schemeClr val="tx1">
                            <a:lumMod val="85000"/>
                            <a:lumOff val="15000"/>
                          </a:schemeClr>
                        </a:solidFill>
                        <a:latin typeface="Cambria Math"/>
                      </a:rPr>
                      <m:t>2</m:t>
                    </m:r>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13</m:t>
                        </m:r>
                      </m:e>
                    </m:rad>
                  </m:oMath>
                </a14:m>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2</a:t>
                </a:r>
                <a14:m>
                  <m:oMath xmlns:m="http://schemas.openxmlformats.org/officeDocument/2006/math">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21</m:t>
                        </m:r>
                      </m:e>
                    </m:rad>
                  </m:oMath>
                </a14:m>
                <a:r>
                  <a:rPr lang="tr-TR" sz="1200" dirty="0" smtClean="0">
                    <a:solidFill>
                      <a:schemeClr val="tx1">
                        <a:lumMod val="85000"/>
                        <a:lumOff val="15000"/>
                      </a:schemeClr>
                    </a:solidFill>
                  </a:rPr>
                  <a:t>                        E) 2</a:t>
                </a:r>
                <a14:m>
                  <m:oMath xmlns:m="http://schemas.openxmlformats.org/officeDocument/2006/math">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17</m:t>
                        </m:r>
                      </m:e>
                    </m:rad>
                  </m:oMath>
                </a14:m>
                <a:endParaRPr lang="tr-TR" sz="1200" dirty="0">
                  <a:solidFill>
                    <a:schemeClr val="tx1">
                      <a:lumMod val="85000"/>
                      <a:lumOff val="15000"/>
                    </a:schemeClr>
                  </a:solidFill>
                </a:endParaRPr>
              </a:p>
            </p:txBody>
          </p:sp>
        </mc:Choice>
        <mc:Fallback xmlns="">
          <p:sp>
            <p:nvSpPr>
              <p:cNvPr id="80" name="Metin kutusu 79"/>
              <p:cNvSpPr txBox="1">
                <a:spLocks noRot="1" noChangeAspect="1" noMove="1" noResize="1" noEditPoints="1" noAdjustHandles="1" noChangeArrowheads="1" noChangeShapeType="1" noTextEdit="1"/>
              </p:cNvSpPr>
              <p:nvPr/>
            </p:nvSpPr>
            <p:spPr>
              <a:xfrm>
                <a:off x="134106" y="1482205"/>
                <a:ext cx="3263493" cy="690317"/>
              </a:xfrm>
              <a:prstGeom prst="rect">
                <a:avLst/>
              </a:prstGeom>
              <a:blipFill rotWithShape="1">
                <a:blip r:embed="rId6"/>
                <a:stretch>
                  <a:fillRect l="-187" b="-5310"/>
                </a:stretch>
              </a:blipFill>
            </p:spPr>
            <p:txBody>
              <a:bodyPr/>
              <a:lstStyle/>
              <a:p>
                <a:r>
                  <a:rPr lang="tr-TR">
                    <a:noFill/>
                  </a:rPr>
                  <a:t> </a:t>
                </a:r>
              </a:p>
            </p:txBody>
          </p:sp>
        </mc:Fallback>
      </mc:AlternateContent>
      <p:sp>
        <p:nvSpPr>
          <p:cNvPr id="86" name="Metin kutusu 85"/>
          <p:cNvSpPr txBox="1"/>
          <p:nvPr/>
        </p:nvSpPr>
        <p:spPr>
          <a:xfrm>
            <a:off x="301991" y="5181163"/>
            <a:ext cx="3155597" cy="830997"/>
          </a:xfrm>
          <a:prstGeom prst="rect">
            <a:avLst/>
          </a:prstGeom>
          <a:noFill/>
        </p:spPr>
        <p:txBody>
          <a:bodyPr wrap="square" rtlCol="0">
            <a:spAutoFit/>
          </a:bodyPr>
          <a:lstStyle/>
          <a:p>
            <a:r>
              <a:rPr lang="tr-TR" sz="1200" dirty="0" smtClean="0">
                <a:solidFill>
                  <a:schemeClr val="tx1">
                    <a:lumMod val="85000"/>
                    <a:lumOff val="15000"/>
                  </a:schemeClr>
                </a:solidFill>
              </a:rPr>
              <a:t>f(x)  =  x  +  5 x + 12 parabolünün </a:t>
            </a:r>
          </a:p>
          <a:p>
            <a:endParaRPr lang="tr-TR" sz="1200" dirty="0">
              <a:solidFill>
                <a:schemeClr val="tx1">
                  <a:lumMod val="85000"/>
                  <a:lumOff val="15000"/>
                </a:schemeClr>
              </a:solidFill>
            </a:endParaRPr>
          </a:p>
          <a:p>
            <a:r>
              <a:rPr lang="tr-TR" sz="1200" b="1" dirty="0" smtClean="0">
                <a:solidFill>
                  <a:schemeClr val="tx1">
                    <a:lumMod val="85000"/>
                    <a:lumOff val="15000"/>
                  </a:schemeClr>
                </a:solidFill>
              </a:rPr>
              <a:t>y = x+1 doğrusuna en yakın olan noktanın</a:t>
            </a:r>
            <a:r>
              <a:rPr lang="tr-TR" sz="1200" b="1" dirty="0">
                <a:solidFill>
                  <a:schemeClr val="tx1">
                    <a:lumMod val="85000"/>
                    <a:lumOff val="15000"/>
                  </a:schemeClr>
                </a:solidFill>
              </a:rPr>
              <a:t> </a:t>
            </a:r>
            <a:endParaRPr lang="tr-TR" sz="1200" b="1" dirty="0" smtClean="0">
              <a:solidFill>
                <a:schemeClr val="tx1">
                  <a:lumMod val="85000"/>
                  <a:lumOff val="15000"/>
                </a:schemeClr>
              </a:solidFill>
            </a:endParaRPr>
          </a:p>
          <a:p>
            <a:r>
              <a:rPr lang="tr-TR" sz="1200" b="1" dirty="0" smtClean="0">
                <a:solidFill>
                  <a:schemeClr val="tx1">
                    <a:lumMod val="85000"/>
                    <a:lumOff val="15000"/>
                  </a:schemeClr>
                </a:solidFill>
              </a:rPr>
              <a:t>koordinatları toplamı nedir?</a:t>
            </a:r>
          </a:p>
        </p:txBody>
      </p:sp>
      <p:sp>
        <p:nvSpPr>
          <p:cNvPr id="87" name="Dikdörtgen 86"/>
          <p:cNvSpPr/>
          <p:nvPr/>
        </p:nvSpPr>
        <p:spPr>
          <a:xfrm>
            <a:off x="-6106" y="5114401"/>
            <a:ext cx="308098" cy="307777"/>
          </a:xfrm>
          <a:prstGeom prst="rect">
            <a:avLst/>
          </a:prstGeom>
        </p:spPr>
        <p:txBody>
          <a:bodyPr wrap="none">
            <a:spAutoFit/>
          </a:bodyPr>
          <a:lstStyle/>
          <a:p>
            <a:r>
              <a:rPr lang="tr-TR" sz="1400" b="1" dirty="0">
                <a:solidFill>
                  <a:srgbClr val="C00000"/>
                </a:solidFill>
                <a:latin typeface="Arial Narrow" panose="020B0606020202030204" pitchFamily="34" charset="0"/>
              </a:rPr>
              <a:t>6</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88" name="Metin kutusu 87"/>
          <p:cNvSpPr txBox="1"/>
          <p:nvPr/>
        </p:nvSpPr>
        <p:spPr>
          <a:xfrm>
            <a:off x="152761" y="6012160"/>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1                        B)   </a:t>
            </a:r>
            <a:r>
              <a:rPr lang="tr-TR" sz="1200" dirty="0">
                <a:solidFill>
                  <a:schemeClr val="tx1">
                    <a:lumMod val="85000"/>
                    <a:lumOff val="15000"/>
                  </a:schemeClr>
                </a:solidFill>
              </a:rPr>
              <a:t>2</a:t>
            </a:r>
            <a:r>
              <a:rPr lang="tr-TR" sz="1200" dirty="0" smtClean="0">
                <a:solidFill>
                  <a:schemeClr val="tx1">
                    <a:lumMod val="85000"/>
                    <a:lumOff val="15000"/>
                  </a:schemeClr>
                </a:solidFill>
              </a:rPr>
              <a:t>                     C) </a:t>
            </a:r>
            <a:r>
              <a:rPr lang="tr-TR" sz="1200" dirty="0">
                <a:solidFill>
                  <a:schemeClr val="tx1">
                    <a:lumMod val="85000"/>
                    <a:lumOff val="15000"/>
                  </a:schemeClr>
                </a:solidFill>
              </a:rPr>
              <a:t>3</a:t>
            </a:r>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a:t>
            </a:r>
            <a:r>
              <a:rPr lang="tr-TR" sz="1200" dirty="0">
                <a:solidFill>
                  <a:schemeClr val="tx1">
                    <a:lumMod val="85000"/>
                    <a:lumOff val="15000"/>
                  </a:schemeClr>
                </a:solidFill>
              </a:rPr>
              <a:t>4</a:t>
            </a:r>
            <a:r>
              <a:rPr lang="tr-TR" sz="1200" dirty="0" smtClean="0">
                <a:solidFill>
                  <a:schemeClr val="tx1">
                    <a:lumMod val="85000"/>
                    <a:lumOff val="15000"/>
                  </a:schemeClr>
                </a:solidFill>
              </a:rPr>
              <a:t>                            E) 5</a:t>
            </a:r>
            <a:endParaRPr lang="tr-TR" sz="1200" dirty="0">
              <a:solidFill>
                <a:schemeClr val="tx1">
                  <a:lumMod val="85000"/>
                  <a:lumOff val="15000"/>
                </a:schemeClr>
              </a:solidFill>
            </a:endParaRPr>
          </a:p>
        </p:txBody>
      </p:sp>
      <p:sp>
        <p:nvSpPr>
          <p:cNvPr id="89" name="Metin kutusu 88"/>
          <p:cNvSpPr txBox="1"/>
          <p:nvPr/>
        </p:nvSpPr>
        <p:spPr>
          <a:xfrm>
            <a:off x="733765" y="773061"/>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90" name="Metin kutusu 89"/>
          <p:cNvSpPr txBox="1"/>
          <p:nvPr/>
        </p:nvSpPr>
        <p:spPr>
          <a:xfrm>
            <a:off x="786267" y="517595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91" name="Metin kutusu 90"/>
          <p:cNvSpPr txBox="1"/>
          <p:nvPr/>
        </p:nvSpPr>
        <p:spPr>
          <a:xfrm>
            <a:off x="3688240" y="5653861"/>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-12                        B)   12                     C) -16</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-24                           E) 24</a:t>
            </a:r>
            <a:endParaRPr lang="tr-TR" sz="1200" dirty="0">
              <a:solidFill>
                <a:schemeClr val="tx1">
                  <a:lumMod val="85000"/>
                  <a:lumOff val="15000"/>
                </a:schemeClr>
              </a:solidFill>
            </a:endParaRPr>
          </a:p>
        </p:txBody>
      </p:sp>
      <p:pic>
        <p:nvPicPr>
          <p:cNvPr id="63" name="Resim 6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92" name="Dikdörtgen 91"/>
          <p:cNvSpPr/>
          <p:nvPr/>
        </p:nvSpPr>
        <p:spPr>
          <a:xfrm>
            <a:off x="53884" y="8819480"/>
            <a:ext cx="2590255"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3" name="Metin kutusu 92"/>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5.B</a:t>
            </a:r>
            <a:endParaRPr lang="tr-TR" sz="1000" dirty="0">
              <a:solidFill>
                <a:schemeClr val="tx1">
                  <a:lumMod val="85000"/>
                  <a:lumOff val="15000"/>
                </a:schemeClr>
              </a:solidFill>
            </a:endParaRPr>
          </a:p>
        </p:txBody>
      </p:sp>
      <p:sp>
        <p:nvSpPr>
          <p:cNvPr id="94" name="Metin kutusu 93"/>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6._</a:t>
            </a:r>
            <a:endParaRPr lang="tr-TR" sz="1000" dirty="0">
              <a:solidFill>
                <a:schemeClr val="tx1">
                  <a:lumMod val="85000"/>
                  <a:lumOff val="15000"/>
                </a:schemeClr>
              </a:solidFill>
            </a:endParaRPr>
          </a:p>
        </p:txBody>
      </p:sp>
      <p:sp>
        <p:nvSpPr>
          <p:cNvPr id="95" name="Metin kutusu 94"/>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7.C</a:t>
            </a:r>
            <a:endParaRPr lang="tr-TR" sz="1000" dirty="0">
              <a:solidFill>
                <a:schemeClr val="tx1">
                  <a:lumMod val="85000"/>
                  <a:lumOff val="15000"/>
                </a:schemeClr>
              </a:solidFill>
            </a:endParaRPr>
          </a:p>
        </p:txBody>
      </p:sp>
      <p:sp>
        <p:nvSpPr>
          <p:cNvPr id="96" name="Metin kutusu 95"/>
          <p:cNvSpPr txBox="1"/>
          <p:nvPr/>
        </p:nvSpPr>
        <p:spPr>
          <a:xfrm>
            <a:off x="1300632" y="8820472"/>
            <a:ext cx="425037" cy="246221"/>
          </a:xfrm>
          <a:prstGeom prst="rect">
            <a:avLst/>
          </a:prstGeom>
          <a:noFill/>
        </p:spPr>
        <p:txBody>
          <a:bodyPr wrap="square" rtlCol="0">
            <a:spAutoFit/>
          </a:bodyPr>
          <a:lstStyle/>
          <a:p>
            <a:pPr algn="ctr"/>
            <a:r>
              <a:rPr lang="tr-TR" sz="1000" dirty="0">
                <a:solidFill>
                  <a:schemeClr val="tx1">
                    <a:lumMod val="85000"/>
                    <a:lumOff val="15000"/>
                  </a:schemeClr>
                </a:solidFill>
              </a:rPr>
              <a:t>8</a:t>
            </a:r>
            <a:r>
              <a:rPr lang="tr-TR" sz="1000" dirty="0" smtClean="0">
                <a:solidFill>
                  <a:schemeClr val="tx1">
                    <a:lumMod val="85000"/>
                    <a:lumOff val="15000"/>
                  </a:schemeClr>
                </a:solidFill>
              </a:rPr>
              <a:t>._</a:t>
            </a:r>
            <a:endParaRPr lang="tr-TR" sz="1000" dirty="0">
              <a:solidFill>
                <a:schemeClr val="tx1">
                  <a:lumMod val="85000"/>
                  <a:lumOff val="15000"/>
                </a:schemeClr>
              </a:solidFill>
            </a:endParaRPr>
          </a:p>
        </p:txBody>
      </p:sp>
      <p:sp>
        <p:nvSpPr>
          <p:cNvPr id="97" name="Metin kutusu 96"/>
          <p:cNvSpPr txBox="1"/>
          <p:nvPr/>
        </p:nvSpPr>
        <p:spPr>
          <a:xfrm>
            <a:off x="1779827"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11._</a:t>
            </a:r>
            <a:endParaRPr lang="tr-TR" sz="1000" dirty="0">
              <a:solidFill>
                <a:schemeClr val="tx1">
                  <a:lumMod val="85000"/>
                  <a:lumOff val="15000"/>
                </a:schemeClr>
              </a:solidFill>
            </a:endParaRPr>
          </a:p>
        </p:txBody>
      </p:sp>
      <p:sp>
        <p:nvSpPr>
          <p:cNvPr id="98" name="Metin kutusu 97"/>
          <p:cNvSpPr txBox="1"/>
          <p:nvPr/>
        </p:nvSpPr>
        <p:spPr>
          <a:xfrm>
            <a:off x="2204864" y="8820472"/>
            <a:ext cx="439275"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12._</a:t>
            </a:r>
            <a:endParaRPr lang="tr-TR" sz="1000" dirty="0">
              <a:solidFill>
                <a:schemeClr val="tx1">
                  <a:lumMod val="85000"/>
                  <a:lumOff val="15000"/>
                </a:schemeClr>
              </a:solidFill>
            </a:endParaRPr>
          </a:p>
        </p:txBody>
      </p:sp>
      <p:cxnSp>
        <p:nvCxnSpPr>
          <p:cNvPr id="99" name="Düz Bağlayıcı 98"/>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0" name="Düz Bağlayıcı 99"/>
          <p:cNvCxnSpPr/>
          <p:nvPr/>
        </p:nvCxnSpPr>
        <p:spPr>
          <a:xfrm>
            <a:off x="1772816"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Düz Bağlayıcı 100"/>
          <p:cNvCxnSpPr/>
          <p:nvPr/>
        </p:nvCxnSpPr>
        <p:spPr>
          <a:xfrm>
            <a:off x="2204864"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Düz Bağlayıcı 101"/>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Düz Bağlayıcı 10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6" name="Dikdörtgen 10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7"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5454339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5" name="Düz Bağlayıcı 74"/>
          <p:cNvCxnSpPr>
            <a:endCxn id="51" idx="4"/>
          </p:cNvCxnSpPr>
          <p:nvPr/>
        </p:nvCxnSpPr>
        <p:spPr>
          <a:xfrm flipH="1">
            <a:off x="1952836" y="2627784"/>
            <a:ext cx="2" cy="569228"/>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20" name="Düz Bağlayıcı 19"/>
          <p:cNvCxnSpPr/>
          <p:nvPr/>
        </p:nvCxnSpPr>
        <p:spPr>
          <a:xfrm flipH="1">
            <a:off x="990333" y="1816000"/>
            <a:ext cx="1" cy="811784"/>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sp>
        <p:nvSpPr>
          <p:cNvPr id="27" name="Metin kutusu 26"/>
          <p:cNvSpPr txBox="1"/>
          <p:nvPr/>
        </p:nvSpPr>
        <p:spPr>
          <a:xfrm>
            <a:off x="68742" y="724798"/>
            <a:ext cx="308098" cy="307777"/>
          </a:xfrm>
          <a:prstGeom prst="rect">
            <a:avLst/>
          </a:prstGeom>
          <a:noFill/>
        </p:spPr>
        <p:txBody>
          <a:bodyPr wrap="none" rtlCol="0">
            <a:spAutoFit/>
          </a:bodyPr>
          <a:lstStyle/>
          <a:p>
            <a:r>
              <a:rPr lang="tr-TR" sz="1400" b="1" dirty="0">
                <a:solidFill>
                  <a:srgbClr val="C00000"/>
                </a:solidFill>
                <a:latin typeface="Arial Narrow" panose="020B0606020202030204" pitchFamily="34" charset="0"/>
              </a:rPr>
              <a:t>9</a:t>
            </a:r>
            <a:r>
              <a:rPr lang="tr-TR" sz="1400" b="1" dirty="0" smtClean="0">
                <a:solidFill>
                  <a:srgbClr val="C00000"/>
                </a:solidFill>
                <a:latin typeface="Arial Narrow" panose="020B0606020202030204" pitchFamily="34" charset="0"/>
              </a:rPr>
              <a:t>.</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10.</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4"/>
          </a:lnRef>
          <a:fillRef idx="3">
            <a:schemeClr val="accent4"/>
          </a:fillRef>
          <a:effectRef idx="2">
            <a:schemeClr val="accent4"/>
          </a:effectRef>
          <a:fontRef idx="minor">
            <a:schemeClr val="lt1"/>
          </a:fontRef>
        </p:style>
        <p:txBody>
          <a:bodyPr rtlCol="0" anchor="ctr"/>
          <a:lstStyle/>
          <a:p>
            <a:pPr algn="ctr"/>
            <a:endParaRPr lang="tr-TR"/>
          </a:p>
        </p:txBody>
      </p:sp>
      <p:sp>
        <p:nvSpPr>
          <p:cNvPr id="123" name="Metin kutusu 122"/>
          <p:cNvSpPr txBox="1"/>
          <p:nvPr/>
        </p:nvSpPr>
        <p:spPr>
          <a:xfrm>
            <a:off x="3068960" y="8826569"/>
            <a:ext cx="657279" cy="353943"/>
          </a:xfrm>
          <a:prstGeom prst="rect">
            <a:avLst/>
          </a:prstGeom>
          <a:noFill/>
        </p:spPr>
        <p:txBody>
          <a:bodyPr wrap="square" rtlCol="0">
            <a:spAutoFit/>
          </a:bodyPr>
          <a:lstStyle/>
          <a:p>
            <a:pPr algn="ctr"/>
            <a:r>
              <a:rPr lang="tr-TR" sz="1700" b="1" dirty="0" smtClean="0">
                <a:solidFill>
                  <a:schemeClr val="bg1"/>
                </a:solidFill>
              </a:rPr>
              <a:t>18</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52"/>
            <a:ext cx="4536504" cy="38472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19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Türev İlişkisi (Meraklısına)</a:t>
            </a:r>
            <a:endParaRPr lang="tr-TR" sz="19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2" name="Dikdörtgen 11"/>
          <p:cNvSpPr/>
          <p:nvPr/>
        </p:nvSpPr>
        <p:spPr>
          <a:xfrm>
            <a:off x="5972065" y="-24780"/>
            <a:ext cx="914400"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sp>
        <p:nvSpPr>
          <p:cNvPr id="16" name="Metin kutusu 15"/>
          <p:cNvSpPr txBox="1"/>
          <p:nvPr/>
        </p:nvSpPr>
        <p:spPr>
          <a:xfrm>
            <a:off x="4509121" y="-36512"/>
            <a:ext cx="1400654"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06291"/>
            <a:ext cx="1214263" cy="246221"/>
          </a:xfrm>
          <a:prstGeom prst="rect">
            <a:avLst/>
          </a:prstGeom>
          <a:noFill/>
        </p:spPr>
        <p:txBody>
          <a:bodyPr wrap="square" rtlCol="0">
            <a:spAutoFit/>
          </a:bodyPr>
          <a:lstStyle/>
          <a:p>
            <a:r>
              <a:rPr lang="tr-TR" sz="1000" dirty="0" smtClean="0">
                <a:solidFill>
                  <a:srgbClr val="00B050"/>
                </a:solidFill>
              </a:rPr>
              <a:t>Ahmetcelen.com.tr</a:t>
            </a:r>
            <a:endParaRPr lang="tr-TR" sz="1000" dirty="0">
              <a:solidFill>
                <a:srgbClr val="00B050"/>
              </a:solidFill>
            </a:endParaRPr>
          </a:p>
        </p:txBody>
      </p:sp>
      <mc:AlternateContent xmlns:mc="http://schemas.openxmlformats.org/markup-compatibility/2006" xmlns:a14="http://schemas.microsoft.com/office/drawing/2010/main">
        <mc:Choice Requires="a14">
          <p:sp>
            <p:nvSpPr>
              <p:cNvPr id="69" name="Metin kutusu 68"/>
              <p:cNvSpPr txBox="1"/>
              <p:nvPr/>
            </p:nvSpPr>
            <p:spPr>
              <a:xfrm>
                <a:off x="3670946" y="1697271"/>
                <a:ext cx="3155597" cy="786497"/>
              </a:xfrm>
              <a:prstGeom prst="rect">
                <a:avLst/>
              </a:prstGeom>
              <a:noFill/>
            </p:spPr>
            <p:txBody>
              <a:bodyPr wrap="square" rtlCol="0">
                <a:spAutoFit/>
              </a:bodyPr>
              <a:lstStyle/>
              <a:p>
                <a:r>
                  <a:rPr lang="tr-TR" sz="1200" dirty="0" smtClean="0">
                    <a:solidFill>
                      <a:schemeClr val="tx1">
                        <a:lumMod val="85000"/>
                        <a:lumOff val="15000"/>
                      </a:schemeClr>
                    </a:solidFill>
                  </a:rPr>
                  <a:t>A)  -4                        B)   </a:t>
                </a:r>
                <a14:m>
                  <m:oMath xmlns:m="http://schemas.openxmlformats.org/officeDocument/2006/math">
                    <m:func>
                      <m:funcPr>
                        <m:ctrlPr>
                          <a:rPr lang="tr-TR" sz="1200" i="1" dirty="0" smtClean="0">
                            <a:solidFill>
                              <a:schemeClr val="tx1">
                                <a:lumMod val="85000"/>
                                <a:lumOff val="15000"/>
                              </a:schemeClr>
                            </a:solidFill>
                            <a:latin typeface="Cambria Math"/>
                          </a:rPr>
                        </m:ctrlPr>
                      </m:funcPr>
                      <m:fName>
                        <m:sSub>
                          <m:sSubPr>
                            <m:ctrlPr>
                              <a:rPr lang="tr-TR" sz="1200" i="1" dirty="0" smtClean="0">
                                <a:solidFill>
                                  <a:schemeClr val="tx1">
                                    <a:lumMod val="85000"/>
                                    <a:lumOff val="15000"/>
                                  </a:schemeClr>
                                </a:solidFill>
                                <a:latin typeface="Cambria Math"/>
                              </a:rPr>
                            </m:ctrlPr>
                          </m:sSubPr>
                          <m:e>
                            <m:r>
                              <m:rPr>
                                <m:sty m:val="p"/>
                              </m:rPr>
                              <a:rPr lang="tr-TR" sz="1200" i="0" dirty="0" smtClean="0">
                                <a:solidFill>
                                  <a:schemeClr val="tx1">
                                    <a:lumMod val="85000"/>
                                    <a:lumOff val="15000"/>
                                  </a:schemeClr>
                                </a:solidFill>
                                <a:latin typeface="Cambria Math"/>
                              </a:rPr>
                              <m:t>log</m:t>
                            </m:r>
                          </m:e>
                          <m:sub>
                            <m:r>
                              <a:rPr lang="tr-TR" sz="1200" b="0" i="1" dirty="0" smtClean="0">
                                <a:solidFill>
                                  <a:schemeClr val="tx1">
                                    <a:lumMod val="85000"/>
                                    <a:lumOff val="15000"/>
                                  </a:schemeClr>
                                </a:solidFill>
                                <a:latin typeface="Cambria Math"/>
                              </a:rPr>
                              <m:t>4</m:t>
                            </m:r>
                          </m:sub>
                        </m:sSub>
                      </m:fName>
                      <m:e>
                        <m:r>
                          <a:rPr lang="tr-TR" sz="1200" b="0" i="1" dirty="0" smtClean="0">
                            <a:solidFill>
                              <a:schemeClr val="tx1">
                                <a:lumMod val="85000"/>
                                <a:lumOff val="15000"/>
                              </a:schemeClr>
                            </a:solidFill>
                            <a:latin typeface="Cambria Math"/>
                          </a:rPr>
                          <m:t>5</m:t>
                        </m:r>
                      </m:e>
                    </m:func>
                  </m:oMath>
                </a14:m>
                <a:r>
                  <a:rPr lang="tr-TR" sz="1200" dirty="0" smtClean="0">
                    <a:solidFill>
                      <a:schemeClr val="tx1">
                        <a:lumMod val="85000"/>
                        <a:lumOff val="15000"/>
                      </a:schemeClr>
                    </a:solidFill>
                  </a:rPr>
                  <a:t>                     C) </a:t>
                </a:r>
                <a14:m>
                  <m:oMath xmlns:m="http://schemas.openxmlformats.org/officeDocument/2006/math">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39</m:t>
                        </m:r>
                      </m:e>
                    </m:rad>
                  </m:oMath>
                </a14:m>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a:t>
                </a:r>
                <a14:m>
                  <m:oMath xmlns:m="http://schemas.openxmlformats.org/officeDocument/2006/math">
                    <m:f>
                      <m:fPr>
                        <m:ctrlPr>
                          <a:rPr lang="tr-TR" sz="1200" i="1" smtClean="0">
                            <a:solidFill>
                              <a:schemeClr val="tx1">
                                <a:lumMod val="85000"/>
                                <a:lumOff val="15000"/>
                              </a:schemeClr>
                            </a:solidFill>
                            <a:latin typeface="Cambria Math"/>
                          </a:rPr>
                        </m:ctrlPr>
                      </m:fPr>
                      <m:num>
                        <m:r>
                          <m:rPr>
                            <m:nor/>
                          </m:rPr>
                          <a:rPr lang="tr-TR" sz="1200" b="0" i="0" smtClean="0">
                            <a:solidFill>
                              <a:schemeClr val="tx1">
                                <a:lumMod val="85000"/>
                                <a:lumOff val="15000"/>
                              </a:schemeClr>
                            </a:solidFill>
                            <a:latin typeface="Cambria Math"/>
                          </a:rPr>
                          <m:t>5</m:t>
                        </m:r>
                      </m:num>
                      <m:den>
                        <m:r>
                          <m:rPr>
                            <m:nor/>
                          </m:rPr>
                          <a:rPr lang="tr-TR" sz="1200" b="0" i="0" smtClean="0">
                            <a:solidFill>
                              <a:schemeClr val="tx1">
                                <a:lumMod val="85000"/>
                                <a:lumOff val="15000"/>
                              </a:schemeClr>
                            </a:solidFill>
                            <a:latin typeface="Cambria Math"/>
                          </a:rPr>
                          <m:t>6</m:t>
                        </m:r>
                      </m:den>
                    </m:f>
                  </m:oMath>
                </a14:m>
                <a:r>
                  <a:rPr lang="tr-TR" sz="1200" dirty="0" smtClean="0">
                    <a:solidFill>
                      <a:schemeClr val="tx1">
                        <a:lumMod val="85000"/>
                        <a:lumOff val="15000"/>
                      </a:schemeClr>
                    </a:solidFill>
                  </a:rPr>
                  <a:t>                            E) -9</a:t>
                </a:r>
                <a:endParaRPr lang="tr-TR" sz="1200" dirty="0">
                  <a:solidFill>
                    <a:schemeClr val="tx1">
                      <a:lumMod val="85000"/>
                      <a:lumOff val="15000"/>
                    </a:schemeClr>
                  </a:solidFill>
                </a:endParaRPr>
              </a:p>
            </p:txBody>
          </p:sp>
        </mc:Choice>
        <mc:Fallback xmlns="">
          <p:sp>
            <p:nvSpPr>
              <p:cNvPr id="69" name="Metin kutusu 68"/>
              <p:cNvSpPr txBox="1">
                <a:spLocks noRot="1" noChangeAspect="1" noMove="1" noResize="1" noEditPoints="1" noAdjustHandles="1" noChangeArrowheads="1" noChangeShapeType="1" noTextEdit="1"/>
              </p:cNvSpPr>
              <p:nvPr/>
            </p:nvSpPr>
            <p:spPr>
              <a:xfrm>
                <a:off x="3670946" y="1697271"/>
                <a:ext cx="3155597" cy="786497"/>
              </a:xfrm>
              <a:prstGeom prst="rect">
                <a:avLst/>
              </a:prstGeom>
              <a:blipFill rotWithShape="1">
                <a:blip r:embed="rId4"/>
                <a:stretch>
                  <a:fillRect/>
                </a:stretch>
              </a:blipFill>
            </p:spPr>
            <p:txBody>
              <a:bodyPr/>
              <a:lstStyle/>
              <a:p>
                <a:r>
                  <a:rPr lang="tr-TR">
                    <a:noFill/>
                  </a:rPr>
                  <a:t> </a:t>
                </a:r>
              </a:p>
            </p:txBody>
          </p:sp>
        </mc:Fallback>
      </mc:AlternateContent>
      <p:sp>
        <p:nvSpPr>
          <p:cNvPr id="71" name="Dikdörtgen 70"/>
          <p:cNvSpPr/>
          <p:nvPr/>
        </p:nvSpPr>
        <p:spPr>
          <a:xfrm>
            <a:off x="3472613" y="4936533"/>
            <a:ext cx="184731" cy="307777"/>
          </a:xfrm>
          <a:prstGeom prst="rect">
            <a:avLst/>
          </a:prstGeom>
        </p:spPr>
        <p:txBody>
          <a:bodyPr wrap="none">
            <a:spAutoFit/>
          </a:bodyPr>
          <a:lstStyle/>
          <a:p>
            <a:endParaRPr lang="tr-TR" sz="1400" b="1" dirty="0">
              <a:solidFill>
                <a:srgbClr val="C00000"/>
              </a:solidFill>
              <a:latin typeface="Arial Narrow" panose="020B0606020202030204" pitchFamily="34" charset="0"/>
            </a:endParaRPr>
          </a:p>
        </p:txBody>
      </p:sp>
      <mc:AlternateContent xmlns:mc="http://schemas.openxmlformats.org/markup-compatibility/2006" xmlns:a14="http://schemas.microsoft.com/office/drawing/2010/main">
        <mc:Choice Requires="a14">
          <p:sp>
            <p:nvSpPr>
              <p:cNvPr id="86" name="Metin kutusu 85"/>
              <p:cNvSpPr txBox="1"/>
              <p:nvPr/>
            </p:nvSpPr>
            <p:spPr>
              <a:xfrm>
                <a:off x="3793695" y="769382"/>
                <a:ext cx="3155597" cy="913070"/>
              </a:xfrm>
              <a:prstGeom prst="rect">
                <a:avLst/>
              </a:prstGeom>
              <a:noFill/>
            </p:spPr>
            <p:txBody>
              <a:bodyPr wrap="square" rtlCol="0">
                <a:spAutoFit/>
              </a:bodyPr>
              <a:lstStyle/>
              <a:p>
                <a:r>
                  <a:rPr lang="tr-TR" sz="1200" b="1" dirty="0" smtClean="0">
                    <a:solidFill>
                      <a:schemeClr val="tx1">
                        <a:lumMod val="85000"/>
                        <a:lumOff val="15000"/>
                      </a:schemeClr>
                    </a:solidFill>
                  </a:rPr>
                  <a:t>f(x)  =  x  +  </a:t>
                </a:r>
                <a:r>
                  <a:rPr lang="tr-TR" sz="1200" b="1" dirty="0">
                    <a:solidFill>
                      <a:schemeClr val="tx1">
                        <a:lumMod val="85000"/>
                        <a:lumOff val="15000"/>
                      </a:schemeClr>
                    </a:solidFill>
                  </a:rPr>
                  <a:t>8</a:t>
                </a:r>
                <a:r>
                  <a:rPr lang="tr-TR" sz="1200" b="1" dirty="0" smtClean="0">
                    <a:solidFill>
                      <a:schemeClr val="tx1">
                        <a:lumMod val="85000"/>
                        <a:lumOff val="15000"/>
                      </a:schemeClr>
                    </a:solidFill>
                  </a:rPr>
                  <a:t> x + 15 parabolünün x=a noktasındaki teğetin eğimi fonksiyonun o noktadaki değerinin </a:t>
                </a:r>
                <a14:m>
                  <m:oMath xmlns:m="http://schemas.openxmlformats.org/officeDocument/2006/math">
                    <m:f>
                      <m:fPr>
                        <m:ctrlPr>
                          <a:rPr lang="tr-TR" sz="1200" b="1" i="1" smtClean="0">
                            <a:solidFill>
                              <a:schemeClr val="tx1">
                                <a:lumMod val="85000"/>
                                <a:lumOff val="15000"/>
                              </a:schemeClr>
                            </a:solidFill>
                            <a:latin typeface="Cambria Math"/>
                          </a:rPr>
                        </m:ctrlPr>
                      </m:fPr>
                      <m:num>
                        <m:r>
                          <a:rPr lang="tr-TR" sz="1200" b="1" i="1" smtClean="0">
                            <a:solidFill>
                              <a:schemeClr val="tx1">
                                <a:lumMod val="85000"/>
                                <a:lumOff val="15000"/>
                              </a:schemeClr>
                            </a:solidFill>
                            <a:latin typeface="Cambria Math"/>
                          </a:rPr>
                          <m:t>𝟏</m:t>
                        </m:r>
                      </m:num>
                      <m:den>
                        <m:r>
                          <a:rPr lang="tr-TR" sz="1200" b="1" i="1" smtClean="0">
                            <a:solidFill>
                              <a:schemeClr val="tx1">
                                <a:lumMod val="85000"/>
                                <a:lumOff val="15000"/>
                              </a:schemeClr>
                            </a:solidFill>
                            <a:latin typeface="Cambria Math"/>
                          </a:rPr>
                          <m:t>𝟑</m:t>
                        </m:r>
                      </m:den>
                    </m:f>
                  </m:oMath>
                </a14:m>
                <a:r>
                  <a:rPr lang="tr-TR" sz="1200" b="1" dirty="0" smtClean="0">
                    <a:solidFill>
                      <a:schemeClr val="tx1">
                        <a:lumMod val="85000"/>
                        <a:lumOff val="15000"/>
                      </a:schemeClr>
                    </a:solidFill>
                  </a:rPr>
                  <a:t> katıdır. Buna göre a`nın alabileceği değerlerin çarpımı kaçtır?</a:t>
                </a:r>
              </a:p>
            </p:txBody>
          </p:sp>
        </mc:Choice>
        <mc:Fallback xmlns="">
          <p:sp>
            <p:nvSpPr>
              <p:cNvPr id="86" name="Metin kutusu 85"/>
              <p:cNvSpPr txBox="1">
                <a:spLocks noRot="1" noChangeAspect="1" noMove="1" noResize="1" noEditPoints="1" noAdjustHandles="1" noChangeArrowheads="1" noChangeShapeType="1" noTextEdit="1"/>
              </p:cNvSpPr>
              <p:nvPr/>
            </p:nvSpPr>
            <p:spPr>
              <a:xfrm>
                <a:off x="3793695" y="769382"/>
                <a:ext cx="3155597" cy="913070"/>
              </a:xfrm>
              <a:prstGeom prst="rect">
                <a:avLst/>
              </a:prstGeom>
              <a:blipFill rotWithShape="1">
                <a:blip r:embed="rId5"/>
                <a:stretch>
                  <a:fillRect b="-4667"/>
                </a:stretch>
              </a:blipFill>
            </p:spPr>
            <p:txBody>
              <a:bodyPr/>
              <a:lstStyle/>
              <a:p>
                <a:r>
                  <a:rPr lang="tr-TR">
                    <a:noFill/>
                  </a:rPr>
                  <a:t> </a:t>
                </a:r>
              </a:p>
            </p:txBody>
          </p:sp>
        </mc:Fallback>
      </mc:AlternateContent>
      <p:sp>
        <p:nvSpPr>
          <p:cNvPr id="38" name="Metin kutusu 37"/>
          <p:cNvSpPr txBox="1"/>
          <p:nvPr/>
        </p:nvSpPr>
        <p:spPr>
          <a:xfrm>
            <a:off x="4293096" y="769382"/>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39" name="Dikdörtgen 38"/>
          <p:cNvSpPr/>
          <p:nvPr/>
        </p:nvSpPr>
        <p:spPr>
          <a:xfrm>
            <a:off x="3457589" y="3476037"/>
            <a:ext cx="381771"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11.</a:t>
            </a:r>
            <a:endParaRPr lang="tr-TR" sz="1400" b="1" dirty="0">
              <a:solidFill>
                <a:srgbClr val="C00000"/>
              </a:solidFill>
              <a:latin typeface="Arial Narrow" panose="020B0606020202030204" pitchFamily="34" charset="0"/>
            </a:endParaRPr>
          </a:p>
        </p:txBody>
      </p:sp>
      <p:pic>
        <p:nvPicPr>
          <p:cNvPr id="41"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744081" y="3562591"/>
            <a:ext cx="1914879" cy="17294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Serbest Form 6"/>
          <p:cNvSpPr/>
          <p:nvPr/>
        </p:nvSpPr>
        <p:spPr>
          <a:xfrm>
            <a:off x="4329585" y="3775715"/>
            <a:ext cx="1028700" cy="857260"/>
          </a:xfrm>
          <a:custGeom>
            <a:avLst/>
            <a:gdLst>
              <a:gd name="connsiteX0" fmla="*/ 0 w 1028700"/>
              <a:gd name="connsiteY0" fmla="*/ 0 h 857260"/>
              <a:gd name="connsiteX1" fmla="*/ 581025 w 1028700"/>
              <a:gd name="connsiteY1" fmla="*/ 857250 h 857260"/>
              <a:gd name="connsiteX2" fmla="*/ 1028700 w 1028700"/>
              <a:gd name="connsiteY2" fmla="*/ 19050 h 857260"/>
            </a:gdLst>
            <a:ahLst/>
            <a:cxnLst>
              <a:cxn ang="0">
                <a:pos x="connsiteX0" y="connsiteY0"/>
              </a:cxn>
              <a:cxn ang="0">
                <a:pos x="connsiteX1" y="connsiteY1"/>
              </a:cxn>
              <a:cxn ang="0">
                <a:pos x="connsiteX2" y="connsiteY2"/>
              </a:cxn>
            </a:cxnLst>
            <a:rect l="l" t="t" r="r" b="b"/>
            <a:pathLst>
              <a:path w="1028700" h="857260">
                <a:moveTo>
                  <a:pt x="0" y="0"/>
                </a:moveTo>
                <a:cubicBezTo>
                  <a:pt x="204787" y="427037"/>
                  <a:pt x="409575" y="854075"/>
                  <a:pt x="581025" y="857250"/>
                </a:cubicBezTo>
                <a:cubicBezTo>
                  <a:pt x="752475" y="860425"/>
                  <a:pt x="903288" y="131762"/>
                  <a:pt x="1028700" y="19050"/>
                </a:cubicBezTo>
              </a:path>
            </a:pathLst>
          </a:custGeom>
          <a:ln>
            <a:solidFill>
              <a:srgbClr val="FF0000"/>
            </a:solidFill>
          </a:ln>
        </p:spPr>
        <p:style>
          <a:lnRef idx="1">
            <a:schemeClr val="accent5"/>
          </a:lnRef>
          <a:fillRef idx="0">
            <a:schemeClr val="accent5"/>
          </a:fillRef>
          <a:effectRef idx="0">
            <a:schemeClr val="accent5"/>
          </a:effectRef>
          <a:fontRef idx="minor">
            <a:schemeClr val="tx1"/>
          </a:fontRef>
        </p:style>
        <p:txBody>
          <a:bodyPr rtlCol="0" anchor="ctr"/>
          <a:lstStyle/>
          <a:p>
            <a:pPr algn="ctr"/>
            <a:endParaRPr lang="tr-TR"/>
          </a:p>
        </p:txBody>
      </p:sp>
      <p:cxnSp>
        <p:nvCxnSpPr>
          <p:cNvPr id="10" name="Düz Bağlayıcı 9"/>
          <p:cNvCxnSpPr/>
          <p:nvPr/>
        </p:nvCxnSpPr>
        <p:spPr>
          <a:xfrm flipV="1">
            <a:off x="4473334" y="4204345"/>
            <a:ext cx="1043898" cy="782220"/>
          </a:xfrm>
          <a:prstGeom prst="line">
            <a:avLst/>
          </a:prstGeom>
        </p:spPr>
        <p:style>
          <a:lnRef idx="1">
            <a:schemeClr val="accent1"/>
          </a:lnRef>
          <a:fillRef idx="0">
            <a:schemeClr val="accent1"/>
          </a:fillRef>
          <a:effectRef idx="0">
            <a:schemeClr val="accent1"/>
          </a:effectRef>
          <a:fontRef idx="minor">
            <a:schemeClr val="tx1"/>
          </a:fontRef>
        </p:style>
      </p:cxnSp>
      <p:sp>
        <p:nvSpPr>
          <p:cNvPr id="46" name="Metin kutusu 45"/>
          <p:cNvSpPr txBox="1"/>
          <p:nvPr/>
        </p:nvSpPr>
        <p:spPr>
          <a:xfrm>
            <a:off x="4840799" y="4355976"/>
            <a:ext cx="244385" cy="400110"/>
          </a:xfrm>
          <a:prstGeom prst="rect">
            <a:avLst/>
          </a:prstGeom>
          <a:noFill/>
        </p:spPr>
        <p:txBody>
          <a:bodyPr wrap="square" rtlCol="0">
            <a:spAutoFit/>
          </a:bodyPr>
          <a:lstStyle/>
          <a:p>
            <a:r>
              <a:rPr lang="tr-TR" sz="2000" dirty="0" smtClean="0">
                <a:solidFill>
                  <a:schemeClr val="tx1">
                    <a:lumMod val="85000"/>
                    <a:lumOff val="15000"/>
                  </a:schemeClr>
                </a:solidFill>
              </a:rPr>
              <a:t>.</a:t>
            </a:r>
            <a:endParaRPr lang="tr-TR" sz="2000" dirty="0">
              <a:solidFill>
                <a:schemeClr val="tx1">
                  <a:lumMod val="85000"/>
                  <a:lumOff val="15000"/>
                </a:schemeClr>
              </a:solidFill>
            </a:endParaRPr>
          </a:p>
        </p:txBody>
      </p:sp>
      <p:sp>
        <p:nvSpPr>
          <p:cNvPr id="47" name="Metin kutusu 46"/>
          <p:cNvSpPr txBox="1"/>
          <p:nvPr/>
        </p:nvSpPr>
        <p:spPr>
          <a:xfrm>
            <a:off x="5340972" y="3635896"/>
            <a:ext cx="3155597" cy="276999"/>
          </a:xfrm>
          <a:prstGeom prst="rect">
            <a:avLst/>
          </a:prstGeom>
          <a:noFill/>
        </p:spPr>
        <p:txBody>
          <a:bodyPr wrap="square" rtlCol="0">
            <a:spAutoFit/>
          </a:bodyPr>
          <a:lstStyle/>
          <a:p>
            <a:r>
              <a:rPr lang="tr-TR" sz="1200" noProof="1" smtClean="0">
                <a:solidFill>
                  <a:schemeClr val="tx1">
                    <a:lumMod val="85000"/>
                    <a:lumOff val="15000"/>
                  </a:schemeClr>
                </a:solidFill>
              </a:rPr>
              <a:t>f(x) = a x  + bx + c  </a:t>
            </a:r>
          </a:p>
        </p:txBody>
      </p:sp>
      <p:sp>
        <p:nvSpPr>
          <p:cNvPr id="48" name="Metin kutusu 47"/>
          <p:cNvSpPr txBox="1"/>
          <p:nvPr/>
        </p:nvSpPr>
        <p:spPr>
          <a:xfrm>
            <a:off x="4373357" y="4943074"/>
            <a:ext cx="279780" cy="276999"/>
          </a:xfrm>
          <a:prstGeom prst="rect">
            <a:avLst/>
          </a:prstGeom>
          <a:noFill/>
        </p:spPr>
        <p:txBody>
          <a:bodyPr wrap="square" rtlCol="0">
            <a:spAutoFit/>
          </a:bodyPr>
          <a:lstStyle/>
          <a:p>
            <a:r>
              <a:rPr lang="tr-TR" sz="1200" dirty="0" smtClean="0">
                <a:solidFill>
                  <a:schemeClr val="tx1">
                    <a:lumMod val="85000"/>
                    <a:lumOff val="15000"/>
                  </a:schemeClr>
                </a:solidFill>
              </a:rPr>
              <a:t>d</a:t>
            </a:r>
          </a:p>
        </p:txBody>
      </p:sp>
      <p:sp>
        <p:nvSpPr>
          <p:cNvPr id="49" name="Metin kutusu 48"/>
          <p:cNvSpPr txBox="1"/>
          <p:nvPr/>
        </p:nvSpPr>
        <p:spPr>
          <a:xfrm>
            <a:off x="3560790" y="5364088"/>
            <a:ext cx="3155597" cy="646331"/>
          </a:xfrm>
          <a:prstGeom prst="rect">
            <a:avLst/>
          </a:prstGeom>
          <a:noFill/>
        </p:spPr>
        <p:txBody>
          <a:bodyPr wrap="square" rtlCol="0">
            <a:spAutoFit/>
          </a:bodyPr>
          <a:lstStyle/>
          <a:p>
            <a:r>
              <a:rPr lang="tr-TR" sz="1200" b="1" dirty="0" smtClean="0">
                <a:solidFill>
                  <a:schemeClr val="tx1">
                    <a:lumMod val="85000"/>
                    <a:lumOff val="15000"/>
                  </a:schemeClr>
                </a:solidFill>
              </a:rPr>
              <a:t>A ( 2 , -4 ) noktasından geçen değme doğrusu, x ekseni ile yaptığı pozitif yönlü açı 45 derecedir. Buna göre a kaçtır?</a:t>
            </a:r>
          </a:p>
        </p:txBody>
      </p:sp>
      <p:sp>
        <p:nvSpPr>
          <p:cNvPr id="50" name="Metin kutusu 49"/>
          <p:cNvSpPr txBox="1"/>
          <p:nvPr/>
        </p:nvSpPr>
        <p:spPr>
          <a:xfrm>
            <a:off x="3573019" y="6084168"/>
            <a:ext cx="3155597" cy="830997"/>
          </a:xfrm>
          <a:prstGeom prst="rect">
            <a:avLst/>
          </a:prstGeom>
          <a:noFill/>
        </p:spPr>
        <p:txBody>
          <a:bodyPr wrap="square" rtlCol="0">
            <a:spAutoFit/>
          </a:bodyPr>
          <a:lstStyle/>
          <a:p>
            <a:r>
              <a:rPr lang="tr-TR" sz="1200" dirty="0" smtClean="0">
                <a:solidFill>
                  <a:schemeClr val="tx1">
                    <a:lumMod val="85000"/>
                    <a:lumOff val="15000"/>
                  </a:schemeClr>
                </a:solidFill>
              </a:rPr>
              <a:t>A)  </a:t>
            </a:r>
            <a:r>
              <a:rPr lang="tr-TR" sz="1200" dirty="0">
                <a:solidFill>
                  <a:schemeClr val="tx1">
                    <a:lumMod val="85000"/>
                    <a:lumOff val="15000"/>
                  </a:schemeClr>
                </a:solidFill>
              </a:rPr>
              <a:t> </a:t>
            </a:r>
            <a:r>
              <a:rPr lang="tr-TR" sz="1200" dirty="0" smtClean="0">
                <a:solidFill>
                  <a:schemeClr val="tx1">
                    <a:lumMod val="85000"/>
                    <a:lumOff val="15000"/>
                  </a:schemeClr>
                </a:solidFill>
              </a:rPr>
              <a:t>                         B)                        C)</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a:t>
            </a:r>
          </a:p>
          <a:p>
            <a:r>
              <a:rPr lang="tr-TR" sz="1200" dirty="0">
                <a:solidFill>
                  <a:schemeClr val="tx1">
                    <a:lumMod val="85000"/>
                    <a:lumOff val="15000"/>
                  </a:schemeClr>
                </a:solidFill>
              </a:rPr>
              <a:t> </a:t>
            </a:r>
            <a:r>
              <a:rPr lang="tr-TR" sz="1200" dirty="0" smtClean="0">
                <a:solidFill>
                  <a:schemeClr val="tx1">
                    <a:lumMod val="85000"/>
                    <a:lumOff val="15000"/>
                  </a:schemeClr>
                </a:solidFill>
              </a:rPr>
              <a:t>            D)                                 E)</a:t>
            </a:r>
            <a:endParaRPr lang="tr-TR" sz="1200" dirty="0">
              <a:solidFill>
                <a:schemeClr val="tx1">
                  <a:lumMod val="85000"/>
                  <a:lumOff val="15000"/>
                </a:schemeClr>
              </a:solidFill>
            </a:endParaRPr>
          </a:p>
        </p:txBody>
      </p:sp>
      <mc:AlternateContent xmlns:mc="http://schemas.openxmlformats.org/markup-compatibility/2006" xmlns:a14="http://schemas.microsoft.com/office/drawing/2010/main">
        <mc:Choice Requires="a14">
          <p:sp>
            <p:nvSpPr>
              <p:cNvPr id="54" name="Metin kutusu 53"/>
              <p:cNvSpPr txBox="1"/>
              <p:nvPr/>
            </p:nvSpPr>
            <p:spPr>
              <a:xfrm>
                <a:off x="4876218" y="6048780"/>
                <a:ext cx="352982" cy="46743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6</m:t>
                          </m:r>
                        </m:num>
                        <m:den>
                          <m:r>
                            <a:rPr lang="tr-TR" sz="1300" b="0" i="1" smtClean="0">
                              <a:latin typeface="Cambria Math"/>
                            </a:rPr>
                            <m:t>7</m:t>
                          </m:r>
                        </m:den>
                      </m:f>
                    </m:oMath>
                  </m:oMathPara>
                </a14:m>
                <a:endParaRPr lang="tr-TR" sz="1300" dirty="0">
                  <a:latin typeface="+mj-lt"/>
                </a:endParaRPr>
              </a:p>
            </p:txBody>
          </p:sp>
        </mc:Choice>
        <mc:Fallback xmlns="">
          <p:sp>
            <p:nvSpPr>
              <p:cNvPr id="54" name="Metin kutusu 53"/>
              <p:cNvSpPr txBox="1">
                <a:spLocks noRot="1" noChangeAspect="1" noMove="1" noResize="1" noEditPoints="1" noAdjustHandles="1" noChangeArrowheads="1" noChangeShapeType="1" noTextEdit="1"/>
              </p:cNvSpPr>
              <p:nvPr/>
            </p:nvSpPr>
            <p:spPr>
              <a:xfrm>
                <a:off x="4876218" y="6048780"/>
                <a:ext cx="352982" cy="467436"/>
              </a:xfrm>
              <a:prstGeom prst="rect">
                <a:avLst/>
              </a:prstGeom>
              <a:blipFill rotWithShape="1">
                <a:blip r:embed="rId7"/>
                <a:stretch>
                  <a:fillRect b="-129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5" name="Metin kutusu 54"/>
              <p:cNvSpPr txBox="1"/>
              <p:nvPr/>
            </p:nvSpPr>
            <p:spPr>
              <a:xfrm>
                <a:off x="5815921" y="6049357"/>
                <a:ext cx="352982" cy="468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4</m:t>
                          </m:r>
                        </m:num>
                        <m:den>
                          <m:r>
                            <a:rPr lang="tr-TR" sz="1300" b="0" i="1" smtClean="0">
                              <a:latin typeface="Cambria Math"/>
                            </a:rPr>
                            <m:t>3</m:t>
                          </m:r>
                        </m:den>
                      </m:f>
                    </m:oMath>
                  </m:oMathPara>
                </a14:m>
                <a:endParaRPr lang="tr-TR" sz="1300" dirty="0">
                  <a:latin typeface="+mj-lt"/>
                </a:endParaRPr>
              </a:p>
            </p:txBody>
          </p:sp>
        </mc:Choice>
        <mc:Fallback xmlns="">
          <p:sp>
            <p:nvSpPr>
              <p:cNvPr id="55" name="Metin kutusu 54"/>
              <p:cNvSpPr txBox="1">
                <a:spLocks noRot="1" noChangeAspect="1" noMove="1" noResize="1" noEditPoints="1" noAdjustHandles="1" noChangeArrowheads="1" noChangeShapeType="1" noTextEdit="1"/>
              </p:cNvSpPr>
              <p:nvPr/>
            </p:nvSpPr>
            <p:spPr>
              <a:xfrm>
                <a:off x="5815921" y="6049357"/>
                <a:ext cx="352982" cy="468205"/>
              </a:xfrm>
              <a:prstGeom prst="rect">
                <a:avLst/>
              </a:prstGeom>
              <a:blipFill rotWithShape="1">
                <a:blip r:embed="rId8"/>
                <a:stretch>
                  <a:fillRect b="-129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6" name="Metin kutusu 55"/>
              <p:cNvSpPr txBox="1"/>
              <p:nvPr/>
            </p:nvSpPr>
            <p:spPr>
              <a:xfrm>
                <a:off x="4221088" y="6585148"/>
                <a:ext cx="352982" cy="46820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8</m:t>
                          </m:r>
                        </m:num>
                        <m:den>
                          <m:r>
                            <a:rPr lang="tr-TR" sz="1300" b="0" i="1" smtClean="0">
                              <a:latin typeface="Cambria Math"/>
                            </a:rPr>
                            <m:t>3</m:t>
                          </m:r>
                        </m:den>
                      </m:f>
                    </m:oMath>
                  </m:oMathPara>
                </a14:m>
                <a:endParaRPr lang="tr-TR" sz="1300" dirty="0">
                  <a:latin typeface="+mj-lt"/>
                </a:endParaRPr>
              </a:p>
            </p:txBody>
          </p:sp>
        </mc:Choice>
        <mc:Fallback xmlns="">
          <p:sp>
            <p:nvSpPr>
              <p:cNvPr id="56" name="Metin kutusu 55"/>
              <p:cNvSpPr txBox="1">
                <a:spLocks noRot="1" noChangeAspect="1" noMove="1" noResize="1" noEditPoints="1" noAdjustHandles="1" noChangeArrowheads="1" noChangeShapeType="1" noTextEdit="1"/>
              </p:cNvSpPr>
              <p:nvPr/>
            </p:nvSpPr>
            <p:spPr>
              <a:xfrm>
                <a:off x="4221088" y="6585148"/>
                <a:ext cx="352982" cy="468205"/>
              </a:xfrm>
              <a:prstGeom prst="rect">
                <a:avLst/>
              </a:prstGeom>
              <a:blipFill rotWithShape="1">
                <a:blip r:embed="rId9"/>
                <a:stretch>
                  <a:fillRect b="-129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7" name="Metin kutusu 56"/>
              <p:cNvSpPr txBox="1"/>
              <p:nvPr/>
            </p:nvSpPr>
            <p:spPr>
              <a:xfrm>
                <a:off x="5480242" y="6585148"/>
                <a:ext cx="352982" cy="4681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9</m:t>
                          </m:r>
                        </m:num>
                        <m:den>
                          <m:r>
                            <a:rPr lang="tr-TR" sz="1300" b="0" i="1" smtClean="0">
                              <a:latin typeface="Cambria Math"/>
                            </a:rPr>
                            <m:t>5</m:t>
                          </m:r>
                        </m:den>
                      </m:f>
                    </m:oMath>
                  </m:oMathPara>
                </a14:m>
                <a:endParaRPr lang="tr-TR" sz="1300" dirty="0">
                  <a:latin typeface="+mj-lt"/>
                </a:endParaRPr>
              </a:p>
            </p:txBody>
          </p:sp>
        </mc:Choice>
        <mc:Fallback xmlns="">
          <p:sp>
            <p:nvSpPr>
              <p:cNvPr id="57" name="Metin kutusu 56"/>
              <p:cNvSpPr txBox="1">
                <a:spLocks noRot="1" noChangeAspect="1" noMove="1" noResize="1" noEditPoints="1" noAdjustHandles="1" noChangeArrowheads="1" noChangeShapeType="1" noTextEdit="1"/>
              </p:cNvSpPr>
              <p:nvPr/>
            </p:nvSpPr>
            <p:spPr>
              <a:xfrm>
                <a:off x="5480242" y="6585148"/>
                <a:ext cx="352982" cy="468141"/>
              </a:xfrm>
              <a:prstGeom prst="rect">
                <a:avLst/>
              </a:prstGeom>
              <a:blipFill rotWithShape="1">
                <a:blip r:embed="rId10"/>
                <a:stretch>
                  <a:fillRect b="-1299"/>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58" name="Metin kutusu 57"/>
              <p:cNvSpPr txBox="1"/>
              <p:nvPr/>
            </p:nvSpPr>
            <p:spPr>
              <a:xfrm>
                <a:off x="3796098" y="6049357"/>
                <a:ext cx="352982" cy="46685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tr-TR" sz="1300" i="1" smtClean="0">
                              <a:latin typeface="Cambria Math"/>
                            </a:rPr>
                          </m:ctrlPr>
                        </m:fPr>
                        <m:num>
                          <m:r>
                            <a:rPr lang="tr-TR" sz="1300" b="0" i="1" smtClean="0">
                              <a:latin typeface="Cambria Math"/>
                            </a:rPr>
                            <m:t> 3</m:t>
                          </m:r>
                        </m:num>
                        <m:den>
                          <m:r>
                            <a:rPr lang="tr-TR" sz="1300" b="0" i="1" smtClean="0">
                              <a:latin typeface="Cambria Math"/>
                            </a:rPr>
                            <m:t>2</m:t>
                          </m:r>
                        </m:den>
                      </m:f>
                    </m:oMath>
                  </m:oMathPara>
                </a14:m>
                <a:endParaRPr lang="tr-TR" sz="1300" dirty="0">
                  <a:latin typeface="+mj-lt"/>
                </a:endParaRPr>
              </a:p>
            </p:txBody>
          </p:sp>
        </mc:Choice>
        <mc:Fallback xmlns="">
          <p:sp>
            <p:nvSpPr>
              <p:cNvPr id="58" name="Metin kutusu 57"/>
              <p:cNvSpPr txBox="1">
                <a:spLocks noRot="1" noChangeAspect="1" noMove="1" noResize="1" noEditPoints="1" noAdjustHandles="1" noChangeArrowheads="1" noChangeShapeType="1" noTextEdit="1"/>
              </p:cNvSpPr>
              <p:nvPr/>
            </p:nvSpPr>
            <p:spPr>
              <a:xfrm>
                <a:off x="3796098" y="6049357"/>
                <a:ext cx="352982" cy="466859"/>
              </a:xfrm>
              <a:prstGeom prst="rect">
                <a:avLst/>
              </a:prstGeom>
              <a:blipFill rotWithShape="1">
                <a:blip r:embed="rId11"/>
                <a:stretch>
                  <a:fillRect b="-1299"/>
                </a:stretch>
              </a:blipFill>
            </p:spPr>
            <p:txBody>
              <a:bodyPr/>
              <a:lstStyle/>
              <a:p>
                <a:r>
                  <a:rPr lang="tr-TR">
                    <a:noFill/>
                  </a:rPr>
                  <a:t> </a:t>
                </a:r>
              </a:p>
            </p:txBody>
          </p:sp>
        </mc:Fallback>
      </mc:AlternateContent>
      <p:sp>
        <p:nvSpPr>
          <p:cNvPr id="63" name="Metin kutusu 62"/>
          <p:cNvSpPr txBox="1"/>
          <p:nvPr/>
        </p:nvSpPr>
        <p:spPr>
          <a:xfrm>
            <a:off x="4869160" y="4572001"/>
            <a:ext cx="717791" cy="276999"/>
          </a:xfrm>
          <a:prstGeom prst="rect">
            <a:avLst/>
          </a:prstGeom>
          <a:noFill/>
        </p:spPr>
        <p:txBody>
          <a:bodyPr wrap="square" rtlCol="0">
            <a:spAutoFit/>
          </a:bodyPr>
          <a:lstStyle/>
          <a:p>
            <a:r>
              <a:rPr lang="tr-TR" sz="1200" dirty="0" smtClean="0">
                <a:solidFill>
                  <a:schemeClr val="tx1">
                    <a:lumMod val="85000"/>
                    <a:lumOff val="15000"/>
                  </a:schemeClr>
                </a:solidFill>
              </a:rPr>
              <a:t>A (2,-4)</a:t>
            </a:r>
          </a:p>
        </p:txBody>
      </p:sp>
      <p:cxnSp>
        <p:nvCxnSpPr>
          <p:cNvPr id="18" name="Düz Ok Bağlayıcısı 17"/>
          <p:cNvCxnSpPr/>
          <p:nvPr/>
        </p:nvCxnSpPr>
        <p:spPr>
          <a:xfrm flipV="1">
            <a:off x="764704" y="789708"/>
            <a:ext cx="0" cy="268632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3" name="Düz Ok Bağlayıcısı 72"/>
          <p:cNvCxnSpPr/>
          <p:nvPr/>
        </p:nvCxnSpPr>
        <p:spPr>
          <a:xfrm>
            <a:off x="89013" y="2627784"/>
            <a:ext cx="305195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 name="Serbest Form 2"/>
          <p:cNvSpPr/>
          <p:nvPr/>
        </p:nvSpPr>
        <p:spPr>
          <a:xfrm rot="250831">
            <a:off x="405066" y="1725471"/>
            <a:ext cx="1082900" cy="1069110"/>
          </a:xfrm>
          <a:custGeom>
            <a:avLst/>
            <a:gdLst>
              <a:gd name="connsiteX0" fmla="*/ 0 w 1242060"/>
              <a:gd name="connsiteY0" fmla="*/ 1318277 h 1318277"/>
              <a:gd name="connsiteX1" fmla="*/ 487680 w 1242060"/>
              <a:gd name="connsiteY1" fmla="*/ 17 h 1318277"/>
              <a:gd name="connsiteX2" fmla="*/ 1242060 w 1242060"/>
              <a:gd name="connsiteY2" fmla="*/ 1287797 h 1318277"/>
            </a:gdLst>
            <a:ahLst/>
            <a:cxnLst>
              <a:cxn ang="0">
                <a:pos x="connsiteX0" y="connsiteY0"/>
              </a:cxn>
              <a:cxn ang="0">
                <a:pos x="connsiteX1" y="connsiteY1"/>
              </a:cxn>
              <a:cxn ang="0">
                <a:pos x="connsiteX2" y="connsiteY2"/>
              </a:cxn>
            </a:cxnLst>
            <a:rect l="l" t="t" r="r" b="b"/>
            <a:pathLst>
              <a:path w="1242060" h="1318277">
                <a:moveTo>
                  <a:pt x="0" y="1318277"/>
                </a:moveTo>
                <a:cubicBezTo>
                  <a:pt x="140335" y="661687"/>
                  <a:pt x="280670" y="5097"/>
                  <a:pt x="487680" y="17"/>
                </a:cubicBezTo>
                <a:cubicBezTo>
                  <a:pt x="694690" y="-5063"/>
                  <a:pt x="1125220" y="1069357"/>
                  <a:pt x="1242060" y="1287797"/>
                </a:cubicBezTo>
              </a:path>
            </a:pathLst>
          </a:custGeom>
          <a:ln>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9" name="Serbest Form 8"/>
          <p:cNvSpPr/>
          <p:nvPr/>
        </p:nvSpPr>
        <p:spPr>
          <a:xfrm>
            <a:off x="1593561" y="1482500"/>
            <a:ext cx="1089660" cy="1714512"/>
          </a:xfrm>
          <a:custGeom>
            <a:avLst/>
            <a:gdLst>
              <a:gd name="connsiteX0" fmla="*/ 0 w 1089660"/>
              <a:gd name="connsiteY0" fmla="*/ 0 h 1714512"/>
              <a:gd name="connsiteX1" fmla="*/ 441960 w 1089660"/>
              <a:gd name="connsiteY1" fmla="*/ 1714500 h 1714512"/>
              <a:gd name="connsiteX2" fmla="*/ 1089660 w 1089660"/>
              <a:gd name="connsiteY2" fmla="*/ 22860 h 1714512"/>
            </a:gdLst>
            <a:ahLst/>
            <a:cxnLst>
              <a:cxn ang="0">
                <a:pos x="connsiteX0" y="connsiteY0"/>
              </a:cxn>
              <a:cxn ang="0">
                <a:pos x="connsiteX1" y="connsiteY1"/>
              </a:cxn>
              <a:cxn ang="0">
                <a:pos x="connsiteX2" y="connsiteY2"/>
              </a:cxn>
            </a:cxnLst>
            <a:rect l="l" t="t" r="r" b="b"/>
            <a:pathLst>
              <a:path w="1089660" h="1714512">
                <a:moveTo>
                  <a:pt x="0" y="0"/>
                </a:moveTo>
                <a:cubicBezTo>
                  <a:pt x="130175" y="855345"/>
                  <a:pt x="260350" y="1710690"/>
                  <a:pt x="441960" y="1714500"/>
                </a:cubicBezTo>
                <a:cubicBezTo>
                  <a:pt x="623570" y="1718310"/>
                  <a:pt x="856615" y="870585"/>
                  <a:pt x="1089660" y="22860"/>
                </a:cubicBezTo>
              </a:path>
            </a:pathLst>
          </a:custGeo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tr-TR"/>
          </a:p>
        </p:txBody>
      </p:sp>
      <p:sp>
        <p:nvSpPr>
          <p:cNvPr id="52" name="Metin kutusu 51"/>
          <p:cNvSpPr txBox="1"/>
          <p:nvPr/>
        </p:nvSpPr>
        <p:spPr>
          <a:xfrm>
            <a:off x="25302" y="2331750"/>
            <a:ext cx="524559" cy="276999"/>
          </a:xfrm>
          <a:prstGeom prst="rect">
            <a:avLst/>
          </a:prstGeom>
          <a:noFill/>
        </p:spPr>
        <p:txBody>
          <a:bodyPr wrap="square" rtlCol="0">
            <a:spAutoFit/>
          </a:bodyPr>
          <a:lstStyle/>
          <a:p>
            <a:r>
              <a:rPr lang="tr-TR" sz="1200" dirty="0" smtClean="0">
                <a:solidFill>
                  <a:schemeClr val="tx1">
                    <a:lumMod val="85000"/>
                    <a:lumOff val="15000"/>
                  </a:schemeClr>
                </a:solidFill>
              </a:rPr>
              <a:t>f(x)</a:t>
            </a:r>
          </a:p>
        </p:txBody>
      </p:sp>
      <p:sp>
        <p:nvSpPr>
          <p:cNvPr id="53" name="Metin kutusu 52"/>
          <p:cNvSpPr txBox="1"/>
          <p:nvPr/>
        </p:nvSpPr>
        <p:spPr>
          <a:xfrm>
            <a:off x="2529050" y="1891818"/>
            <a:ext cx="524559" cy="276999"/>
          </a:xfrm>
          <a:prstGeom prst="rect">
            <a:avLst/>
          </a:prstGeom>
          <a:noFill/>
        </p:spPr>
        <p:txBody>
          <a:bodyPr wrap="square" rtlCol="0">
            <a:spAutoFit/>
          </a:bodyPr>
          <a:lstStyle/>
          <a:p>
            <a:r>
              <a:rPr lang="tr-TR" sz="1200" dirty="0" smtClean="0">
                <a:solidFill>
                  <a:schemeClr val="tx1">
                    <a:lumMod val="85000"/>
                    <a:lumOff val="15000"/>
                  </a:schemeClr>
                </a:solidFill>
              </a:rPr>
              <a:t>g(x)</a:t>
            </a:r>
          </a:p>
        </p:txBody>
      </p:sp>
      <p:sp>
        <p:nvSpPr>
          <p:cNvPr id="59" name="Metin kutusu 58"/>
          <p:cNvSpPr txBox="1"/>
          <p:nvPr/>
        </p:nvSpPr>
        <p:spPr>
          <a:xfrm>
            <a:off x="25302" y="3524979"/>
            <a:ext cx="3155597" cy="830997"/>
          </a:xfrm>
          <a:prstGeom prst="rect">
            <a:avLst/>
          </a:prstGeom>
          <a:noFill/>
        </p:spPr>
        <p:txBody>
          <a:bodyPr wrap="square" rtlCol="0">
            <a:spAutoFit/>
          </a:bodyPr>
          <a:lstStyle/>
          <a:p>
            <a:r>
              <a:rPr lang="tr-TR" sz="1200" b="1" noProof="1" smtClean="0">
                <a:solidFill>
                  <a:schemeClr val="tx1">
                    <a:lumMod val="85000"/>
                    <a:lumOff val="15000"/>
                  </a:schemeClr>
                </a:solidFill>
              </a:rPr>
              <a:t>Yukarıda f (x) = -x  + 2x + 4 fonksiyonu  x=2 apsisli  noktasında , g(x) = x  + mx  + n fonksiyonu x=5 apsisli noktada doğrusuna teğettir.  Buna göre n-m kaçtır=?</a:t>
            </a:r>
          </a:p>
        </p:txBody>
      </p:sp>
      <p:sp>
        <p:nvSpPr>
          <p:cNvPr id="60" name="Metin kutusu 59"/>
          <p:cNvSpPr txBox="1"/>
          <p:nvPr/>
        </p:nvSpPr>
        <p:spPr>
          <a:xfrm>
            <a:off x="476672" y="920502"/>
            <a:ext cx="524559" cy="246221"/>
          </a:xfrm>
          <a:prstGeom prst="rect">
            <a:avLst/>
          </a:prstGeom>
          <a:noFill/>
        </p:spPr>
        <p:txBody>
          <a:bodyPr wrap="square" rtlCol="0">
            <a:spAutoFit/>
          </a:bodyPr>
          <a:lstStyle/>
          <a:p>
            <a:r>
              <a:rPr lang="tr-TR" sz="1000" dirty="0" smtClean="0">
                <a:solidFill>
                  <a:schemeClr val="tx1">
                    <a:lumMod val="85000"/>
                    <a:lumOff val="15000"/>
                  </a:schemeClr>
                </a:solidFill>
              </a:rPr>
              <a:t>d</a:t>
            </a:r>
          </a:p>
        </p:txBody>
      </p:sp>
      <p:sp>
        <p:nvSpPr>
          <p:cNvPr id="64" name="Metin kutusu 63"/>
          <p:cNvSpPr txBox="1"/>
          <p:nvPr/>
        </p:nvSpPr>
        <p:spPr>
          <a:xfrm>
            <a:off x="3081208" y="2483768"/>
            <a:ext cx="524559" cy="276999"/>
          </a:xfrm>
          <a:prstGeom prst="rect">
            <a:avLst/>
          </a:prstGeom>
          <a:noFill/>
        </p:spPr>
        <p:txBody>
          <a:bodyPr wrap="square" rtlCol="0">
            <a:spAutoFit/>
          </a:bodyPr>
          <a:lstStyle/>
          <a:p>
            <a:r>
              <a:rPr lang="tr-TR" sz="1200" dirty="0" smtClean="0">
                <a:solidFill>
                  <a:schemeClr val="tx1">
                    <a:lumMod val="85000"/>
                    <a:lumOff val="15000"/>
                  </a:schemeClr>
                </a:solidFill>
              </a:rPr>
              <a:t>x</a:t>
            </a:r>
          </a:p>
        </p:txBody>
      </p:sp>
      <p:sp>
        <p:nvSpPr>
          <p:cNvPr id="65" name="Metin kutusu 64"/>
          <p:cNvSpPr txBox="1"/>
          <p:nvPr/>
        </p:nvSpPr>
        <p:spPr>
          <a:xfrm>
            <a:off x="619398" y="586298"/>
            <a:ext cx="524559" cy="276999"/>
          </a:xfrm>
          <a:prstGeom prst="rect">
            <a:avLst/>
          </a:prstGeom>
          <a:noFill/>
        </p:spPr>
        <p:txBody>
          <a:bodyPr wrap="square" rtlCol="0">
            <a:spAutoFit/>
          </a:bodyPr>
          <a:lstStyle/>
          <a:p>
            <a:r>
              <a:rPr lang="tr-TR" sz="1200" dirty="0" smtClean="0">
                <a:solidFill>
                  <a:schemeClr val="tx1">
                    <a:lumMod val="85000"/>
                    <a:lumOff val="15000"/>
                  </a:schemeClr>
                </a:solidFill>
              </a:rPr>
              <a:t>y</a:t>
            </a:r>
          </a:p>
        </p:txBody>
      </p:sp>
      <p:sp>
        <p:nvSpPr>
          <p:cNvPr id="66" name="Metin kutusu 65"/>
          <p:cNvSpPr txBox="1"/>
          <p:nvPr/>
        </p:nvSpPr>
        <p:spPr>
          <a:xfrm>
            <a:off x="859193" y="2575472"/>
            <a:ext cx="262279" cy="246221"/>
          </a:xfrm>
          <a:prstGeom prst="rect">
            <a:avLst/>
          </a:prstGeom>
          <a:noFill/>
        </p:spPr>
        <p:txBody>
          <a:bodyPr wrap="square" rtlCol="0">
            <a:spAutoFit/>
          </a:bodyPr>
          <a:lstStyle/>
          <a:p>
            <a:r>
              <a:rPr lang="tr-TR" sz="1000" dirty="0" smtClean="0">
                <a:solidFill>
                  <a:schemeClr val="tx1">
                    <a:lumMod val="85000"/>
                    <a:lumOff val="15000"/>
                  </a:schemeClr>
                </a:solidFill>
              </a:rPr>
              <a:t>2</a:t>
            </a:r>
          </a:p>
        </p:txBody>
      </p:sp>
      <p:sp>
        <p:nvSpPr>
          <p:cNvPr id="68" name="Metin kutusu 67"/>
          <p:cNvSpPr txBox="1"/>
          <p:nvPr/>
        </p:nvSpPr>
        <p:spPr>
          <a:xfrm>
            <a:off x="1821696" y="2453571"/>
            <a:ext cx="262279" cy="246221"/>
          </a:xfrm>
          <a:prstGeom prst="rect">
            <a:avLst/>
          </a:prstGeom>
          <a:noFill/>
        </p:spPr>
        <p:txBody>
          <a:bodyPr wrap="square" rtlCol="0">
            <a:spAutoFit/>
          </a:bodyPr>
          <a:lstStyle/>
          <a:p>
            <a:r>
              <a:rPr lang="tr-TR" sz="1000" dirty="0" smtClean="0">
                <a:solidFill>
                  <a:schemeClr val="tx1">
                    <a:lumMod val="85000"/>
                    <a:lumOff val="15000"/>
                  </a:schemeClr>
                </a:solidFill>
              </a:rPr>
              <a:t>5</a:t>
            </a:r>
          </a:p>
        </p:txBody>
      </p:sp>
      <p:sp>
        <p:nvSpPr>
          <p:cNvPr id="70" name="Metin kutusu 69"/>
          <p:cNvSpPr txBox="1"/>
          <p:nvPr/>
        </p:nvSpPr>
        <p:spPr>
          <a:xfrm>
            <a:off x="1124744" y="3523238"/>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72" name="Metin kutusu 71"/>
          <p:cNvSpPr txBox="1"/>
          <p:nvPr/>
        </p:nvSpPr>
        <p:spPr>
          <a:xfrm>
            <a:off x="1772597" y="3691481"/>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74" name="Metin kutusu 73"/>
          <p:cNvSpPr txBox="1"/>
          <p:nvPr/>
        </p:nvSpPr>
        <p:spPr>
          <a:xfrm>
            <a:off x="560453" y="1362965"/>
            <a:ext cx="262279" cy="246221"/>
          </a:xfrm>
          <a:prstGeom prst="rect">
            <a:avLst/>
          </a:prstGeom>
          <a:noFill/>
        </p:spPr>
        <p:txBody>
          <a:bodyPr wrap="square" rtlCol="0">
            <a:spAutoFit/>
          </a:bodyPr>
          <a:lstStyle/>
          <a:p>
            <a:r>
              <a:rPr lang="tr-TR" sz="1000" dirty="0" smtClean="0">
                <a:solidFill>
                  <a:schemeClr val="tx1">
                    <a:lumMod val="85000"/>
                    <a:lumOff val="15000"/>
                  </a:schemeClr>
                </a:solidFill>
              </a:rPr>
              <a:t>8</a:t>
            </a:r>
          </a:p>
        </p:txBody>
      </p:sp>
      <p:cxnSp>
        <p:nvCxnSpPr>
          <p:cNvPr id="17" name="Düz Bağlayıcı 16"/>
          <p:cNvCxnSpPr/>
          <p:nvPr/>
        </p:nvCxnSpPr>
        <p:spPr>
          <a:xfrm>
            <a:off x="476672" y="1043613"/>
            <a:ext cx="1512168" cy="216023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Oval 50"/>
          <p:cNvSpPr/>
          <p:nvPr/>
        </p:nvSpPr>
        <p:spPr>
          <a:xfrm>
            <a:off x="1916832" y="3125004"/>
            <a:ext cx="72008" cy="72008"/>
          </a:xfrm>
          <a:prstGeom prst="ellipse">
            <a:avLst/>
          </a:prstGeom>
          <a:solidFill>
            <a:srgbClr val="92D05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sp>
        <p:nvSpPr>
          <p:cNvPr id="15" name="Oval 14"/>
          <p:cNvSpPr/>
          <p:nvPr/>
        </p:nvSpPr>
        <p:spPr>
          <a:xfrm>
            <a:off x="940808" y="1763688"/>
            <a:ext cx="99051" cy="72008"/>
          </a:xfrm>
          <a:prstGeom prst="ellipse">
            <a:avLst/>
          </a:prstGeom>
          <a:solidFill>
            <a:srgbClr val="92D050"/>
          </a:solidFill>
          <a:ln>
            <a:solidFill>
              <a:schemeClr val="tx1">
                <a:lumMod val="85000"/>
                <a:lumOff val="15000"/>
              </a:schemeClr>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tr-TR"/>
          </a:p>
        </p:txBody>
      </p:sp>
      <p:sp>
        <p:nvSpPr>
          <p:cNvPr id="76" name="Metin kutusu 75"/>
          <p:cNvSpPr txBox="1"/>
          <p:nvPr/>
        </p:nvSpPr>
        <p:spPr>
          <a:xfrm>
            <a:off x="89013" y="4347847"/>
            <a:ext cx="3155597" cy="646331"/>
          </a:xfrm>
          <a:prstGeom prst="rect">
            <a:avLst/>
          </a:prstGeom>
          <a:noFill/>
        </p:spPr>
        <p:txBody>
          <a:bodyPr wrap="square" rtlCol="0">
            <a:spAutoFit/>
          </a:bodyPr>
          <a:lstStyle/>
          <a:p>
            <a:pPr marL="228600" indent="-228600">
              <a:buAutoNum type="alphaUcParenR"/>
            </a:pPr>
            <a:r>
              <a:rPr lang="tr-TR" sz="1200" dirty="0" smtClean="0">
                <a:solidFill>
                  <a:schemeClr val="tx1">
                    <a:lumMod val="85000"/>
                    <a:lumOff val="15000"/>
                  </a:schemeClr>
                </a:solidFill>
              </a:rPr>
              <a:t>12                        B)   21                            C) 33</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45                            E) 55</a:t>
            </a:r>
            <a:endParaRPr lang="tr-TR" sz="1200" dirty="0">
              <a:solidFill>
                <a:schemeClr val="tx1">
                  <a:lumMod val="85000"/>
                  <a:lumOff val="15000"/>
                </a:schemeClr>
              </a:solidFill>
            </a:endParaRPr>
          </a:p>
        </p:txBody>
      </p:sp>
      <p:cxnSp>
        <p:nvCxnSpPr>
          <p:cNvPr id="29" name="Düz Ok Bağlayıcısı 28"/>
          <p:cNvCxnSpPr/>
          <p:nvPr/>
        </p:nvCxnSpPr>
        <p:spPr>
          <a:xfrm flipV="1">
            <a:off x="1026579" y="1239385"/>
            <a:ext cx="315415" cy="493379"/>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77" name="Metin kutusu 76"/>
          <p:cNvSpPr txBox="1"/>
          <p:nvPr/>
        </p:nvSpPr>
        <p:spPr>
          <a:xfrm>
            <a:off x="1261118" y="1039330"/>
            <a:ext cx="988082" cy="200055"/>
          </a:xfrm>
          <a:prstGeom prst="rect">
            <a:avLst/>
          </a:prstGeom>
          <a:noFill/>
        </p:spPr>
        <p:txBody>
          <a:bodyPr wrap="square" rtlCol="0">
            <a:spAutoFit/>
          </a:bodyPr>
          <a:lstStyle/>
          <a:p>
            <a:r>
              <a:rPr lang="tr-TR" sz="700" b="1" dirty="0" smtClean="0">
                <a:solidFill>
                  <a:schemeClr val="tx1">
                    <a:lumMod val="85000"/>
                    <a:lumOff val="15000"/>
                  </a:schemeClr>
                </a:solidFill>
              </a:rPr>
              <a:t>Teğet Değme Noktası</a:t>
            </a:r>
          </a:p>
        </p:txBody>
      </p:sp>
      <p:sp>
        <p:nvSpPr>
          <p:cNvPr id="78" name="Metin kutusu 77"/>
          <p:cNvSpPr txBox="1"/>
          <p:nvPr/>
        </p:nvSpPr>
        <p:spPr>
          <a:xfrm>
            <a:off x="2437713" y="3319844"/>
            <a:ext cx="988082" cy="200055"/>
          </a:xfrm>
          <a:prstGeom prst="rect">
            <a:avLst/>
          </a:prstGeom>
          <a:noFill/>
        </p:spPr>
        <p:txBody>
          <a:bodyPr wrap="square" rtlCol="0">
            <a:spAutoFit/>
          </a:bodyPr>
          <a:lstStyle/>
          <a:p>
            <a:r>
              <a:rPr lang="tr-TR" sz="700" b="1" dirty="0" smtClean="0">
                <a:solidFill>
                  <a:schemeClr val="tx1">
                    <a:lumMod val="85000"/>
                    <a:lumOff val="15000"/>
                  </a:schemeClr>
                </a:solidFill>
              </a:rPr>
              <a:t>Teğet Değme Noktası</a:t>
            </a:r>
          </a:p>
        </p:txBody>
      </p:sp>
      <p:cxnSp>
        <p:nvCxnSpPr>
          <p:cNvPr id="79" name="Düz Ok Bağlayıcısı 78"/>
          <p:cNvCxnSpPr/>
          <p:nvPr/>
        </p:nvCxnSpPr>
        <p:spPr>
          <a:xfrm>
            <a:off x="1988840" y="3232477"/>
            <a:ext cx="504056" cy="187395"/>
          </a:xfrm>
          <a:prstGeom prst="straightConnector1">
            <a:avLst/>
          </a:prstGeom>
          <a:ln>
            <a:tailEnd type="arrow"/>
          </a:ln>
        </p:spPr>
        <p:style>
          <a:lnRef idx="1">
            <a:schemeClr val="dk1"/>
          </a:lnRef>
          <a:fillRef idx="0">
            <a:schemeClr val="dk1"/>
          </a:fillRef>
          <a:effectRef idx="0">
            <a:schemeClr val="dk1"/>
          </a:effectRef>
          <a:fontRef idx="minor">
            <a:schemeClr val="tx1"/>
          </a:fontRef>
        </p:style>
      </p:cxnSp>
      <p:sp>
        <p:nvSpPr>
          <p:cNvPr id="82" name="Metin kutusu 81"/>
          <p:cNvSpPr txBox="1"/>
          <p:nvPr/>
        </p:nvSpPr>
        <p:spPr>
          <a:xfrm>
            <a:off x="5877272" y="3635896"/>
            <a:ext cx="180238" cy="184666"/>
          </a:xfrm>
          <a:prstGeom prst="rect">
            <a:avLst/>
          </a:prstGeom>
          <a:noFill/>
        </p:spPr>
        <p:txBody>
          <a:bodyPr wrap="square" rtlCol="0">
            <a:spAutoFit/>
          </a:bodyPr>
          <a:lstStyle/>
          <a:p>
            <a:r>
              <a:rPr lang="tr-TR" sz="600" dirty="0" smtClean="0">
                <a:solidFill>
                  <a:schemeClr val="tx1">
                    <a:lumMod val="85000"/>
                    <a:lumOff val="15000"/>
                  </a:schemeClr>
                </a:solidFill>
              </a:rPr>
              <a:t>2</a:t>
            </a:r>
          </a:p>
        </p:txBody>
      </p:sp>
      <p:sp>
        <p:nvSpPr>
          <p:cNvPr id="80" name="Dikdörtgen 79"/>
          <p:cNvSpPr/>
          <p:nvPr/>
        </p:nvSpPr>
        <p:spPr>
          <a:xfrm>
            <a:off x="53885" y="8819480"/>
            <a:ext cx="2532120"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81" name="Metin kutusu 80"/>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1.D</a:t>
            </a:r>
            <a:endParaRPr lang="tr-TR" sz="1000" dirty="0">
              <a:solidFill>
                <a:schemeClr val="tx1">
                  <a:lumMod val="85000"/>
                  <a:lumOff val="15000"/>
                </a:schemeClr>
              </a:solidFill>
            </a:endParaRPr>
          </a:p>
        </p:txBody>
      </p:sp>
      <p:sp>
        <p:nvSpPr>
          <p:cNvPr id="83" name="Metin kutusu 82"/>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2. </a:t>
            </a:r>
            <a:r>
              <a:rPr lang="tr-TR" sz="1000" dirty="0">
                <a:solidFill>
                  <a:schemeClr val="tx1">
                    <a:lumMod val="85000"/>
                    <a:lumOff val="15000"/>
                  </a:schemeClr>
                </a:solidFill>
              </a:rPr>
              <a:t>-</a:t>
            </a:r>
          </a:p>
        </p:txBody>
      </p:sp>
      <p:sp>
        <p:nvSpPr>
          <p:cNvPr id="84" name="Metin kutusu 83"/>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3. -</a:t>
            </a:r>
            <a:endParaRPr lang="tr-TR" sz="1000" dirty="0">
              <a:solidFill>
                <a:schemeClr val="tx1">
                  <a:lumMod val="85000"/>
                  <a:lumOff val="15000"/>
                </a:schemeClr>
              </a:solidFill>
            </a:endParaRPr>
          </a:p>
        </p:txBody>
      </p:sp>
      <p:sp>
        <p:nvSpPr>
          <p:cNvPr id="85" name="Metin kutusu 84"/>
          <p:cNvSpPr txBox="1"/>
          <p:nvPr/>
        </p:nvSpPr>
        <p:spPr>
          <a:xfrm>
            <a:off x="130063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4. -</a:t>
            </a:r>
            <a:endParaRPr lang="tr-TR" sz="1000" dirty="0">
              <a:solidFill>
                <a:schemeClr val="tx1">
                  <a:lumMod val="85000"/>
                  <a:lumOff val="15000"/>
                </a:schemeClr>
              </a:solidFill>
            </a:endParaRPr>
          </a:p>
        </p:txBody>
      </p:sp>
      <p:sp>
        <p:nvSpPr>
          <p:cNvPr id="87" name="Metin kutusu 86"/>
          <p:cNvSpPr txBox="1"/>
          <p:nvPr/>
        </p:nvSpPr>
        <p:spPr>
          <a:xfrm>
            <a:off x="1707819" y="8820472"/>
            <a:ext cx="425037" cy="246221"/>
          </a:xfrm>
          <a:prstGeom prst="rect">
            <a:avLst/>
          </a:prstGeom>
          <a:noFill/>
        </p:spPr>
        <p:txBody>
          <a:bodyPr wrap="square" rtlCol="0">
            <a:spAutoFit/>
          </a:bodyPr>
          <a:lstStyle/>
          <a:p>
            <a:r>
              <a:rPr lang="tr-TR" sz="1000" dirty="0" smtClean="0">
                <a:solidFill>
                  <a:schemeClr val="tx1">
                    <a:lumMod val="85000"/>
                    <a:lumOff val="15000"/>
                  </a:schemeClr>
                </a:solidFill>
              </a:rPr>
              <a:t>5. -</a:t>
            </a:r>
            <a:endParaRPr lang="tr-TR" sz="1000" dirty="0">
              <a:solidFill>
                <a:schemeClr val="tx1">
                  <a:lumMod val="85000"/>
                  <a:lumOff val="15000"/>
                </a:schemeClr>
              </a:solidFill>
            </a:endParaRPr>
          </a:p>
        </p:txBody>
      </p:sp>
      <p:sp>
        <p:nvSpPr>
          <p:cNvPr id="88" name="Metin kutusu 87"/>
          <p:cNvSpPr txBox="1"/>
          <p:nvPr/>
        </p:nvSpPr>
        <p:spPr>
          <a:xfrm>
            <a:off x="2132856" y="8820472"/>
            <a:ext cx="453149" cy="246221"/>
          </a:xfrm>
          <a:prstGeom prst="rect">
            <a:avLst/>
          </a:prstGeom>
          <a:noFill/>
        </p:spPr>
        <p:txBody>
          <a:bodyPr wrap="square" rtlCol="0">
            <a:spAutoFit/>
          </a:bodyPr>
          <a:lstStyle/>
          <a:p>
            <a:r>
              <a:rPr lang="tr-TR" sz="1000" dirty="0" smtClean="0">
                <a:solidFill>
                  <a:schemeClr val="tx1">
                    <a:lumMod val="85000"/>
                    <a:lumOff val="15000"/>
                  </a:schemeClr>
                </a:solidFill>
              </a:rPr>
              <a:t>11. A</a:t>
            </a:r>
            <a:endParaRPr lang="tr-TR" sz="1000" dirty="0">
              <a:solidFill>
                <a:schemeClr val="tx1">
                  <a:lumMod val="85000"/>
                  <a:lumOff val="15000"/>
                </a:schemeClr>
              </a:solidFill>
            </a:endParaRPr>
          </a:p>
        </p:txBody>
      </p:sp>
      <p:sp>
        <p:nvSpPr>
          <p:cNvPr id="89" name="Oval 88"/>
          <p:cNvSpPr/>
          <p:nvPr/>
        </p:nvSpPr>
        <p:spPr>
          <a:xfrm>
            <a:off x="4154563" y="8856557"/>
            <a:ext cx="282549" cy="251520"/>
          </a:xfrm>
          <a:prstGeom prst="ellipse">
            <a:avLst/>
          </a:prstGeom>
          <a:noFill/>
          <a:ln>
            <a:solidFill>
              <a:srgbClr val="00B05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sp>
        <p:nvSpPr>
          <p:cNvPr id="90" name="Metin kutusu 89"/>
          <p:cNvSpPr txBox="1"/>
          <p:nvPr/>
        </p:nvSpPr>
        <p:spPr>
          <a:xfrm>
            <a:off x="3674986" y="8858921"/>
            <a:ext cx="516488" cy="215444"/>
          </a:xfrm>
          <a:prstGeom prst="rect">
            <a:avLst/>
          </a:prstGeom>
          <a:noFill/>
        </p:spPr>
        <p:txBody>
          <a:bodyPr wrap="none" rtlCol="0">
            <a:spAutoFit/>
          </a:bodyPr>
          <a:lstStyle/>
          <a:p>
            <a:r>
              <a:rPr lang="tr-TR" sz="800" b="1" dirty="0" smtClean="0">
                <a:latin typeface="+mj-lt"/>
              </a:rPr>
              <a:t> Doğru </a:t>
            </a:r>
            <a:r>
              <a:rPr lang="tr-TR" sz="800" b="1" dirty="0">
                <a:latin typeface="+mj-lt"/>
                <a:sym typeface="Wingdings" panose="05000000000000000000" pitchFamily="2" charset="2"/>
              </a:rPr>
              <a:t>:</a:t>
            </a:r>
            <a:endParaRPr lang="tr-TR" sz="800" b="1" dirty="0">
              <a:latin typeface="+mj-lt"/>
            </a:endParaRPr>
          </a:p>
        </p:txBody>
      </p:sp>
      <p:sp>
        <p:nvSpPr>
          <p:cNvPr id="91" name="Metin kutusu 90"/>
          <p:cNvSpPr txBox="1"/>
          <p:nvPr/>
        </p:nvSpPr>
        <p:spPr>
          <a:xfrm>
            <a:off x="4479158" y="8858921"/>
            <a:ext cx="510076" cy="215444"/>
          </a:xfrm>
          <a:prstGeom prst="rect">
            <a:avLst/>
          </a:prstGeom>
          <a:noFill/>
        </p:spPr>
        <p:txBody>
          <a:bodyPr wrap="none" rtlCol="0">
            <a:spAutoFit/>
          </a:bodyPr>
          <a:lstStyle/>
          <a:p>
            <a:r>
              <a:rPr lang="tr-TR" sz="800" b="1" dirty="0" smtClean="0">
                <a:latin typeface="+mj-lt"/>
              </a:rPr>
              <a:t> Yanlış </a:t>
            </a:r>
            <a:r>
              <a:rPr lang="tr-TR" sz="800" b="1" dirty="0">
                <a:latin typeface="+mj-lt"/>
                <a:sym typeface="Wingdings" panose="05000000000000000000" pitchFamily="2" charset="2"/>
              </a:rPr>
              <a:t>:</a:t>
            </a:r>
            <a:endParaRPr lang="tr-TR" sz="800" b="1" dirty="0">
              <a:latin typeface="+mj-lt"/>
            </a:endParaRPr>
          </a:p>
        </p:txBody>
      </p:sp>
      <p:sp>
        <p:nvSpPr>
          <p:cNvPr id="92" name="Oval 91"/>
          <p:cNvSpPr/>
          <p:nvPr/>
        </p:nvSpPr>
        <p:spPr>
          <a:xfrm>
            <a:off x="4994562" y="8856987"/>
            <a:ext cx="282549" cy="251520"/>
          </a:xfrm>
          <a:prstGeom prst="ellipse">
            <a:avLst/>
          </a:prstGeom>
          <a:noFill/>
          <a:ln>
            <a:solidFill>
              <a:schemeClr val="accent6">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93" name="Düz Bağlayıcı 92"/>
          <p:cNvCxnSpPr/>
          <p:nvPr/>
        </p:nvCxnSpPr>
        <p:spPr>
          <a:xfrm>
            <a:off x="4533564" y="8814167"/>
            <a:ext cx="0" cy="329833"/>
          </a:xfrm>
          <a:prstGeom prst="line">
            <a:avLst/>
          </a:prstGeom>
        </p:spPr>
        <p:style>
          <a:lnRef idx="1">
            <a:schemeClr val="accent1"/>
          </a:lnRef>
          <a:fillRef idx="0">
            <a:schemeClr val="accent1"/>
          </a:fillRef>
          <a:effectRef idx="0">
            <a:schemeClr val="accent1"/>
          </a:effectRef>
          <a:fontRef idx="minor">
            <a:schemeClr val="tx1"/>
          </a:fontRef>
        </p:style>
      </p:cxnSp>
      <p:cxnSp>
        <p:nvCxnSpPr>
          <p:cNvPr id="94" name="Düz Bağlayıcı 93"/>
          <p:cNvCxnSpPr/>
          <p:nvPr/>
        </p:nvCxnSpPr>
        <p:spPr>
          <a:xfrm>
            <a:off x="5349018"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95" name="Metin kutusu 94"/>
          <p:cNvSpPr txBox="1"/>
          <p:nvPr/>
        </p:nvSpPr>
        <p:spPr>
          <a:xfrm>
            <a:off x="5351466" y="8846561"/>
            <a:ext cx="441146" cy="230832"/>
          </a:xfrm>
          <a:prstGeom prst="rect">
            <a:avLst/>
          </a:prstGeom>
          <a:noFill/>
        </p:spPr>
        <p:txBody>
          <a:bodyPr wrap="none" rtlCol="0">
            <a:spAutoFit/>
          </a:bodyPr>
          <a:lstStyle/>
          <a:p>
            <a:r>
              <a:rPr lang="tr-TR" sz="900" b="1" dirty="0" smtClean="0">
                <a:latin typeface="+mj-lt"/>
              </a:rPr>
              <a:t> Net </a:t>
            </a:r>
            <a:r>
              <a:rPr lang="tr-TR" sz="900" b="1" dirty="0" smtClean="0">
                <a:latin typeface="+mj-lt"/>
                <a:sym typeface="Wingdings" panose="05000000000000000000" pitchFamily="2" charset="2"/>
              </a:rPr>
              <a:t>:</a:t>
            </a:r>
            <a:endParaRPr lang="tr-TR" sz="900" b="1" dirty="0">
              <a:latin typeface="+mj-lt"/>
            </a:endParaRPr>
          </a:p>
        </p:txBody>
      </p:sp>
      <p:sp>
        <p:nvSpPr>
          <p:cNvPr id="96" name="Oval 95"/>
          <p:cNvSpPr/>
          <p:nvPr/>
        </p:nvSpPr>
        <p:spPr>
          <a:xfrm>
            <a:off x="5810747" y="8852905"/>
            <a:ext cx="282549" cy="251520"/>
          </a:xfrm>
          <a:prstGeom prst="ellipse">
            <a:avLst/>
          </a:prstGeom>
          <a:noFill/>
          <a:ln>
            <a:solidFill>
              <a:srgbClr val="00B0F0"/>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97" name="Düz Bağlayıcı 96"/>
          <p:cNvCxnSpPr/>
          <p:nvPr/>
        </p:nvCxnSpPr>
        <p:spPr>
          <a:xfrm>
            <a:off x="6165304" y="8814167"/>
            <a:ext cx="0" cy="329833"/>
          </a:xfrm>
          <a:prstGeom prst="line">
            <a:avLst/>
          </a:prstGeom>
        </p:spPr>
        <p:style>
          <a:lnRef idx="1">
            <a:schemeClr val="accent1"/>
          </a:lnRef>
          <a:fillRef idx="0">
            <a:schemeClr val="accent1"/>
          </a:fillRef>
          <a:effectRef idx="0">
            <a:schemeClr val="accent1"/>
          </a:effectRef>
          <a:fontRef idx="minor">
            <a:schemeClr val="tx1"/>
          </a:fontRef>
        </p:style>
      </p:cxnSp>
      <p:sp>
        <p:nvSpPr>
          <p:cNvPr id="98" name="Metin kutusu 97"/>
          <p:cNvSpPr txBox="1"/>
          <p:nvPr/>
        </p:nvSpPr>
        <p:spPr>
          <a:xfrm>
            <a:off x="6093296" y="8861506"/>
            <a:ext cx="458780" cy="230832"/>
          </a:xfrm>
          <a:prstGeom prst="rect">
            <a:avLst/>
          </a:prstGeom>
          <a:noFill/>
        </p:spPr>
        <p:txBody>
          <a:bodyPr wrap="none" rtlCol="0">
            <a:spAutoFit/>
          </a:bodyPr>
          <a:lstStyle/>
          <a:p>
            <a:r>
              <a:rPr lang="tr-TR" sz="900" b="1" dirty="0" smtClean="0">
                <a:latin typeface="+mj-lt"/>
              </a:rPr>
              <a:t> Süre</a:t>
            </a:r>
            <a:r>
              <a:rPr lang="tr-TR" sz="900" b="1" dirty="0" smtClean="0">
                <a:latin typeface="+mj-lt"/>
                <a:sym typeface="Wingdings" panose="05000000000000000000" pitchFamily="2" charset="2"/>
              </a:rPr>
              <a:t>:</a:t>
            </a:r>
            <a:endParaRPr lang="tr-TR" sz="900" b="1" dirty="0">
              <a:latin typeface="+mj-lt"/>
            </a:endParaRPr>
          </a:p>
        </p:txBody>
      </p:sp>
      <p:sp>
        <p:nvSpPr>
          <p:cNvPr id="99" name="Oval 98"/>
          <p:cNvSpPr/>
          <p:nvPr/>
        </p:nvSpPr>
        <p:spPr>
          <a:xfrm>
            <a:off x="6545396" y="8852905"/>
            <a:ext cx="282549" cy="251520"/>
          </a:xfrm>
          <a:prstGeom prst="ellipse">
            <a:avLst/>
          </a:prstGeom>
          <a:noFill/>
          <a:ln>
            <a:solidFill>
              <a:srgbClr val="FF00FF"/>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tr-TR"/>
          </a:p>
        </p:txBody>
      </p:sp>
      <p:cxnSp>
        <p:nvCxnSpPr>
          <p:cNvPr id="100" name="Düz Bağlayıcı 99"/>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1" name="Düz Bağlayıcı 100"/>
          <p:cNvCxnSpPr/>
          <p:nvPr/>
        </p:nvCxnSpPr>
        <p:spPr>
          <a:xfrm>
            <a:off x="1693098" y="8824171"/>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Düz Bağlayıcı 101"/>
          <p:cNvCxnSpPr/>
          <p:nvPr/>
        </p:nvCxnSpPr>
        <p:spPr>
          <a:xfrm>
            <a:off x="2132856" y="8830546"/>
            <a:ext cx="0" cy="246847"/>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Düz Bağlayıcı 102"/>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4" name="Düz Bağlayıcı 103"/>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19" name="Dikdörtgen 118"/>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20" name="Picture 2"/>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738614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Metin kutusu 26"/>
          <p:cNvSpPr txBox="1"/>
          <p:nvPr/>
        </p:nvSpPr>
        <p:spPr>
          <a:xfrm>
            <a:off x="-60819" y="741926"/>
            <a:ext cx="389850" cy="307777"/>
          </a:xfrm>
          <a:prstGeom prst="rect">
            <a:avLst/>
          </a:prstGeom>
          <a:noFill/>
        </p:spPr>
        <p:txBody>
          <a:bodyPr wrap="none" rtlCol="0">
            <a:spAutoFit/>
          </a:bodyPr>
          <a:lstStyle/>
          <a:p>
            <a:r>
              <a:rPr lang="tr-TR" sz="1400" b="1" dirty="0" smtClean="0">
                <a:solidFill>
                  <a:srgbClr val="C00000"/>
                </a:solidFill>
                <a:latin typeface="Arial Narrow" panose="020B0606020202030204" pitchFamily="34" charset="0"/>
              </a:rPr>
              <a:t>12.</a:t>
            </a:r>
            <a:endParaRPr lang="tr-TR" sz="1400" b="1" dirty="0">
              <a:solidFill>
                <a:srgbClr val="C00000"/>
              </a:solidFill>
              <a:latin typeface="Arial Narrow" panose="020B0606020202030204" pitchFamily="34" charset="0"/>
            </a:endParaRPr>
          </a:p>
        </p:txBody>
      </p:sp>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14.</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17</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52"/>
            <a:ext cx="4536504" cy="38472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19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Türev İlişkisi (Meraklısına)</a:t>
            </a:r>
            <a:endParaRPr lang="tr-TR" sz="19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mc:AlternateContent xmlns:mc="http://schemas.openxmlformats.org/markup-compatibility/2006" xmlns:a14="http://schemas.microsoft.com/office/drawing/2010/main">
        <mc:Choice Requires="a14">
          <p:sp>
            <p:nvSpPr>
              <p:cNvPr id="80" name="Metin kutusu 79"/>
              <p:cNvSpPr txBox="1"/>
              <p:nvPr/>
            </p:nvSpPr>
            <p:spPr>
              <a:xfrm>
                <a:off x="134106" y="1259632"/>
                <a:ext cx="3263493" cy="681725"/>
              </a:xfrm>
              <a:prstGeom prst="rect">
                <a:avLst/>
              </a:prstGeom>
              <a:noFill/>
            </p:spPr>
            <p:txBody>
              <a:bodyPr wrap="square" rtlCol="0">
                <a:spAutoFit/>
              </a:bodyPr>
              <a:lstStyle/>
              <a:p>
                <a:r>
                  <a:rPr lang="tr-TR" sz="1200" dirty="0" smtClean="0">
                    <a:solidFill>
                      <a:schemeClr val="tx1">
                        <a:lumMod val="85000"/>
                        <a:lumOff val="15000"/>
                      </a:schemeClr>
                    </a:solidFill>
                  </a:rPr>
                  <a:t>A)  </a:t>
                </a:r>
                <a14:m>
                  <m:oMath xmlns:m="http://schemas.openxmlformats.org/officeDocument/2006/math">
                    <m:r>
                      <a:rPr lang="tr-TR" sz="1200" b="0" i="0" smtClean="0">
                        <a:solidFill>
                          <a:schemeClr val="tx1">
                            <a:lumMod val="85000"/>
                            <a:lumOff val="15000"/>
                          </a:schemeClr>
                        </a:solidFill>
                        <a:latin typeface="Cambria Math"/>
                      </a:rPr>
                      <m:t>2</m:t>
                    </m:r>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3</m:t>
                        </m:r>
                      </m:e>
                    </m:rad>
                  </m:oMath>
                </a14:m>
                <a:r>
                  <a:rPr lang="tr-TR" sz="1200" dirty="0" smtClean="0">
                    <a:solidFill>
                      <a:schemeClr val="tx1">
                        <a:lumMod val="85000"/>
                        <a:lumOff val="15000"/>
                      </a:schemeClr>
                    </a:solidFill>
                  </a:rPr>
                  <a:t>                     B)   </a:t>
                </a:r>
                <a14:m>
                  <m:oMath xmlns:m="http://schemas.openxmlformats.org/officeDocument/2006/math">
                    <m:r>
                      <a:rPr lang="tr-TR" sz="1200" b="0" i="1" smtClean="0">
                        <a:solidFill>
                          <a:schemeClr val="tx1">
                            <a:lumMod val="85000"/>
                            <a:lumOff val="15000"/>
                          </a:schemeClr>
                        </a:solidFill>
                        <a:latin typeface="Cambria Math"/>
                      </a:rPr>
                      <m:t>−27</m:t>
                    </m:r>
                  </m:oMath>
                </a14:m>
                <a:r>
                  <a:rPr lang="tr-TR" sz="1200" dirty="0" smtClean="0">
                    <a:solidFill>
                      <a:schemeClr val="tx1">
                        <a:lumMod val="85000"/>
                        <a:lumOff val="15000"/>
                      </a:schemeClr>
                    </a:solidFill>
                  </a:rPr>
                  <a:t>                        C) </a:t>
                </a:r>
                <a14:m>
                  <m:oMath xmlns:m="http://schemas.openxmlformats.org/officeDocument/2006/math">
                    <m:r>
                      <a:rPr lang="tr-TR" sz="1200" b="0" i="0" smtClean="0">
                        <a:solidFill>
                          <a:schemeClr val="tx1">
                            <a:lumMod val="85000"/>
                            <a:lumOff val="15000"/>
                          </a:schemeClr>
                        </a:solidFill>
                        <a:latin typeface="Cambria Math"/>
                      </a:rPr>
                      <m:t>2</m:t>
                    </m:r>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13</m:t>
                        </m:r>
                      </m:e>
                    </m:rad>
                  </m:oMath>
                </a14:m>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2</a:t>
                </a:r>
                <a14:m>
                  <m:oMath xmlns:m="http://schemas.openxmlformats.org/officeDocument/2006/math">
                    <m:rad>
                      <m:radPr>
                        <m:degHide m:val="on"/>
                        <m:ctrlPr>
                          <a:rPr lang="tr-TR" sz="1200" i="1" smtClean="0">
                            <a:solidFill>
                              <a:schemeClr val="tx1">
                                <a:lumMod val="85000"/>
                                <a:lumOff val="15000"/>
                              </a:schemeClr>
                            </a:solidFill>
                            <a:latin typeface="Cambria Math"/>
                          </a:rPr>
                        </m:ctrlPr>
                      </m:radPr>
                      <m:deg/>
                      <m:e>
                        <m:r>
                          <a:rPr lang="tr-TR" sz="1200" b="0" i="1" smtClean="0">
                            <a:solidFill>
                              <a:schemeClr val="tx1">
                                <a:lumMod val="85000"/>
                                <a:lumOff val="15000"/>
                              </a:schemeClr>
                            </a:solidFill>
                            <a:latin typeface="Cambria Math"/>
                          </a:rPr>
                          <m:t>21</m:t>
                        </m:r>
                      </m:e>
                    </m:rad>
                  </m:oMath>
                </a14:m>
                <a:r>
                  <a:rPr lang="tr-TR" sz="1200" dirty="0" smtClean="0">
                    <a:solidFill>
                      <a:schemeClr val="tx1">
                        <a:lumMod val="85000"/>
                        <a:lumOff val="15000"/>
                      </a:schemeClr>
                    </a:solidFill>
                  </a:rPr>
                  <a:t>                        E) 12</a:t>
                </a:r>
                <a:endParaRPr lang="tr-TR" sz="1200" dirty="0">
                  <a:solidFill>
                    <a:schemeClr val="tx1">
                      <a:lumMod val="85000"/>
                      <a:lumOff val="15000"/>
                    </a:schemeClr>
                  </a:solidFill>
                </a:endParaRPr>
              </a:p>
            </p:txBody>
          </p:sp>
        </mc:Choice>
        <mc:Fallback xmlns="">
          <p:sp>
            <p:nvSpPr>
              <p:cNvPr id="80" name="Metin kutusu 79"/>
              <p:cNvSpPr txBox="1">
                <a:spLocks noRot="1" noChangeAspect="1" noMove="1" noResize="1" noEditPoints="1" noAdjustHandles="1" noChangeArrowheads="1" noChangeShapeType="1" noTextEdit="1"/>
              </p:cNvSpPr>
              <p:nvPr/>
            </p:nvSpPr>
            <p:spPr>
              <a:xfrm>
                <a:off x="134106" y="1259632"/>
                <a:ext cx="3263493" cy="681725"/>
              </a:xfrm>
              <a:prstGeom prst="rect">
                <a:avLst/>
              </a:prstGeom>
              <a:blipFill rotWithShape="1">
                <a:blip r:embed="rId4"/>
                <a:stretch>
                  <a:fillRect l="-187" b="-7207"/>
                </a:stretch>
              </a:blipFill>
            </p:spPr>
            <p:txBody>
              <a:bodyPr/>
              <a:lstStyle/>
              <a:p>
                <a:r>
                  <a:rPr lang="tr-TR">
                    <a:noFill/>
                  </a:rPr>
                  <a:t> </a:t>
                </a:r>
              </a:p>
            </p:txBody>
          </p:sp>
        </mc:Fallback>
      </mc:AlternateContent>
      <p:sp>
        <p:nvSpPr>
          <p:cNvPr id="87" name="Dikdörtgen 86"/>
          <p:cNvSpPr/>
          <p:nvPr/>
        </p:nvSpPr>
        <p:spPr>
          <a:xfrm>
            <a:off x="-42164" y="5114401"/>
            <a:ext cx="389850" cy="307777"/>
          </a:xfrm>
          <a:prstGeom prst="rect">
            <a:avLst/>
          </a:prstGeom>
        </p:spPr>
        <p:txBody>
          <a:bodyPr wrap="none">
            <a:spAutoFit/>
          </a:bodyPr>
          <a:lstStyle/>
          <a:p>
            <a:r>
              <a:rPr lang="tr-TR" sz="1400" b="1" dirty="0" smtClean="0">
                <a:solidFill>
                  <a:srgbClr val="C00000"/>
                </a:solidFill>
                <a:latin typeface="Arial Narrow" panose="020B0606020202030204" pitchFamily="34" charset="0"/>
              </a:rPr>
              <a:t>13.</a:t>
            </a:r>
            <a:endParaRPr lang="tr-TR" sz="1400" b="1" dirty="0">
              <a:solidFill>
                <a:srgbClr val="C00000"/>
              </a:solidFill>
              <a:latin typeface="Arial Narrow" panose="020B0606020202030204" pitchFamily="34" charset="0"/>
            </a:endParaRPr>
          </a:p>
        </p:txBody>
      </p:sp>
      <p:sp>
        <p:nvSpPr>
          <p:cNvPr id="91" name="Metin kutusu 90"/>
          <p:cNvSpPr txBox="1"/>
          <p:nvPr/>
        </p:nvSpPr>
        <p:spPr>
          <a:xfrm>
            <a:off x="3702403" y="4572000"/>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A)  515                        B)   485                     C) 225</a:t>
            </a: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97                           E) 70</a:t>
            </a:r>
            <a:endParaRPr lang="tr-TR" sz="1200" dirty="0">
              <a:solidFill>
                <a:schemeClr val="tx1">
                  <a:lumMod val="85000"/>
                  <a:lumOff val="15000"/>
                </a:schemeClr>
              </a:solidFill>
            </a:endParaRPr>
          </a:p>
        </p:txBody>
      </p:sp>
      <p:pic>
        <p:nvPicPr>
          <p:cNvPr id="63" name="Resim 6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92" name="Dikdörtgen 91"/>
          <p:cNvSpPr/>
          <p:nvPr/>
        </p:nvSpPr>
        <p:spPr>
          <a:xfrm>
            <a:off x="53885" y="8819480"/>
            <a:ext cx="1286886"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3" name="Metin kutusu 92"/>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12.B</a:t>
            </a:r>
            <a:endParaRPr lang="tr-TR" sz="1000" dirty="0">
              <a:solidFill>
                <a:schemeClr val="tx1">
                  <a:lumMod val="85000"/>
                  <a:lumOff val="15000"/>
                </a:schemeClr>
              </a:solidFill>
            </a:endParaRPr>
          </a:p>
        </p:txBody>
      </p:sp>
      <p:sp>
        <p:nvSpPr>
          <p:cNvPr id="94" name="Metin kutusu 93"/>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13.E</a:t>
            </a:r>
            <a:endParaRPr lang="tr-TR" sz="1000" dirty="0">
              <a:solidFill>
                <a:schemeClr val="tx1">
                  <a:lumMod val="85000"/>
                  <a:lumOff val="15000"/>
                </a:schemeClr>
              </a:solidFill>
            </a:endParaRPr>
          </a:p>
        </p:txBody>
      </p:sp>
      <p:sp>
        <p:nvSpPr>
          <p:cNvPr id="95" name="Metin kutusu 94"/>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14.A</a:t>
            </a:r>
            <a:endParaRPr lang="tr-TR" sz="1000" dirty="0">
              <a:solidFill>
                <a:schemeClr val="tx1">
                  <a:lumMod val="85000"/>
                  <a:lumOff val="15000"/>
                </a:schemeClr>
              </a:solidFill>
            </a:endParaRPr>
          </a:p>
        </p:txBody>
      </p:sp>
      <p:cxnSp>
        <p:nvCxnSpPr>
          <p:cNvPr id="99" name="Düz Bağlayıcı 98"/>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Düz Bağlayıcı 101"/>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Düz Bağlayıcı 10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6" name="Dikdörtgen 10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7" name="Picture 2"/>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47" name="Metin kutusu 46"/>
              <p:cNvSpPr txBox="1"/>
              <p:nvPr/>
            </p:nvSpPr>
            <p:spPr>
              <a:xfrm>
                <a:off x="188820" y="756750"/>
                <a:ext cx="3227426" cy="465833"/>
              </a:xfrm>
              <a:prstGeom prst="rect">
                <a:avLst/>
              </a:prstGeom>
              <a:noFill/>
            </p:spPr>
            <p:txBody>
              <a:bodyPr wrap="square" rtlCol="0">
                <a:spAutoFit/>
              </a:bodyPr>
              <a:lstStyle/>
              <a:p>
                <a:r>
                  <a:rPr lang="tr-TR" sz="1200" b="1" noProof="1" smtClean="0">
                    <a:solidFill>
                      <a:schemeClr val="tx1">
                        <a:lumMod val="85000"/>
                        <a:lumOff val="15000"/>
                      </a:schemeClr>
                    </a:solidFill>
                  </a:rPr>
                  <a:t>y = 3x doğrusu ile  y = </a:t>
                </a:r>
                <a14:m>
                  <m:oMath xmlns:m="http://schemas.openxmlformats.org/officeDocument/2006/math">
                    <m:sSup>
                      <m:sSupPr>
                        <m:ctrlPr>
                          <a:rPr lang="tr-TR" sz="1200" b="1" i="1" noProof="1" smtClean="0">
                            <a:solidFill>
                              <a:schemeClr val="tx1">
                                <a:lumMod val="85000"/>
                                <a:lumOff val="15000"/>
                              </a:schemeClr>
                            </a:solidFill>
                            <a:latin typeface="Cambria Math"/>
                          </a:rPr>
                        </m:ctrlPr>
                      </m:sSupPr>
                      <m:e>
                        <m:r>
                          <a:rPr lang="tr-TR" sz="1200" b="1" i="0" noProof="1" smtClean="0">
                            <a:solidFill>
                              <a:schemeClr val="tx1">
                                <a:lumMod val="85000"/>
                                <a:lumOff val="15000"/>
                              </a:schemeClr>
                            </a:solidFill>
                            <a:latin typeface="Cambria Math"/>
                          </a:rPr>
                          <m:t>𝐱</m:t>
                        </m:r>
                      </m:e>
                      <m:sup>
                        <m:r>
                          <a:rPr lang="tr-TR" sz="1200" b="1" i="0" noProof="1" smtClean="0">
                            <a:solidFill>
                              <a:schemeClr val="tx1">
                                <a:lumMod val="85000"/>
                                <a:lumOff val="15000"/>
                              </a:schemeClr>
                            </a:solidFill>
                            <a:latin typeface="Cambria Math"/>
                          </a:rPr>
                          <m:t>𝟐</m:t>
                        </m:r>
                      </m:sup>
                    </m:sSup>
                  </m:oMath>
                </a14:m>
                <a:r>
                  <a:rPr lang="tr-TR" sz="1200" b="1" noProof="1" smtClean="0">
                    <a:solidFill>
                      <a:schemeClr val="tx1">
                        <a:lumMod val="85000"/>
                        <a:lumOff val="15000"/>
                      </a:schemeClr>
                    </a:solidFill>
                  </a:rPr>
                  <a:t> + mx + c parabolüne</a:t>
                </a:r>
              </a:p>
              <a:p>
                <a:r>
                  <a:rPr lang="tr-TR" sz="1200" b="1" noProof="1" smtClean="0">
                    <a:solidFill>
                      <a:schemeClr val="tx1">
                        <a:lumMod val="85000"/>
                        <a:lumOff val="15000"/>
                      </a:schemeClr>
                    </a:solidFill>
                  </a:rPr>
                  <a:t>Z(3,1) noktasında teğettir. Buna göre m.c kaçtır? </a:t>
                </a:r>
              </a:p>
            </p:txBody>
          </p:sp>
        </mc:Choice>
        <mc:Fallback xmlns="">
          <p:sp>
            <p:nvSpPr>
              <p:cNvPr id="47" name="Metin kutusu 46"/>
              <p:cNvSpPr txBox="1">
                <a:spLocks noRot="1" noChangeAspect="1" noMove="1" noResize="1" noEditPoints="1" noAdjustHandles="1" noChangeArrowheads="1" noChangeShapeType="1" noTextEdit="1"/>
              </p:cNvSpPr>
              <p:nvPr/>
            </p:nvSpPr>
            <p:spPr>
              <a:xfrm>
                <a:off x="188820" y="756750"/>
                <a:ext cx="3227426" cy="465833"/>
              </a:xfrm>
              <a:prstGeom prst="rect">
                <a:avLst/>
              </a:prstGeom>
              <a:blipFill rotWithShape="1">
                <a:blip r:embed="rId7"/>
                <a:stretch>
                  <a:fillRect l="-189" r="-756" b="-9091"/>
                </a:stretch>
              </a:blipFill>
            </p:spPr>
            <p:txBody>
              <a:bodyPr/>
              <a:lstStyle/>
              <a:p>
                <a:r>
                  <a:rPr lang="tr-TR">
                    <a:noFill/>
                  </a:rPr>
                  <a:t> </a:t>
                </a:r>
              </a:p>
            </p:txBody>
          </p:sp>
        </mc:Fallback>
      </mc:AlternateContent>
      <p:sp>
        <p:nvSpPr>
          <p:cNvPr id="3" name="Akış Çizelgesi: Önceden Tanımlı İşlem 2"/>
          <p:cNvSpPr/>
          <p:nvPr/>
        </p:nvSpPr>
        <p:spPr>
          <a:xfrm>
            <a:off x="3837528" y="777892"/>
            <a:ext cx="874130" cy="1222962"/>
          </a:xfrm>
          <a:prstGeom prst="flowChartPredefinedProcess">
            <a:avLst/>
          </a:prstGeom>
          <a:solidFill>
            <a:srgbClr val="00B05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cxnSp>
        <p:nvCxnSpPr>
          <p:cNvPr id="7" name="Dirsek Bağlayıcısı 6"/>
          <p:cNvCxnSpPr/>
          <p:nvPr/>
        </p:nvCxnSpPr>
        <p:spPr>
          <a:xfrm>
            <a:off x="4711658" y="889724"/>
            <a:ext cx="805574" cy="369908"/>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Dirsek Bağlayıcısı 9"/>
          <p:cNvCxnSpPr/>
          <p:nvPr/>
        </p:nvCxnSpPr>
        <p:spPr>
          <a:xfrm flipV="1">
            <a:off x="4711658" y="1403648"/>
            <a:ext cx="805574" cy="525198"/>
          </a:xfrm>
          <a:prstGeom prst="bentConnector3">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Güneş 11"/>
          <p:cNvSpPr/>
          <p:nvPr/>
        </p:nvSpPr>
        <p:spPr>
          <a:xfrm>
            <a:off x="5477618" y="989666"/>
            <a:ext cx="676606" cy="694642"/>
          </a:xfrm>
          <a:prstGeom prst="su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5" name="Metin kutusu 54"/>
          <p:cNvSpPr txBox="1"/>
          <p:nvPr/>
        </p:nvSpPr>
        <p:spPr>
          <a:xfrm>
            <a:off x="3609949" y="2123728"/>
            <a:ext cx="3155597" cy="646331"/>
          </a:xfrm>
          <a:prstGeom prst="rect">
            <a:avLst/>
          </a:prstGeom>
          <a:noFill/>
        </p:spPr>
        <p:txBody>
          <a:bodyPr wrap="square" rtlCol="0">
            <a:spAutoFit/>
          </a:bodyPr>
          <a:lstStyle/>
          <a:p>
            <a:r>
              <a:rPr lang="tr-TR" sz="1200" dirty="0" smtClean="0">
                <a:solidFill>
                  <a:schemeClr val="tx1">
                    <a:lumMod val="85000"/>
                    <a:lumOff val="15000"/>
                  </a:schemeClr>
                </a:solidFill>
              </a:rPr>
              <a:t>Yukarıda bir cihaza farklı bir yolla güneşe benzer bir şekilde tasarlanmış cihazdan şarj testi denenmektedir. Sistem ile ilgili olarak : </a:t>
            </a:r>
          </a:p>
        </p:txBody>
      </p:sp>
      <p:graphicFrame>
        <p:nvGraphicFramePr>
          <p:cNvPr id="13" name="Tablo 12"/>
          <p:cNvGraphicFramePr>
            <a:graphicFrameLocks noGrp="1"/>
          </p:cNvGraphicFramePr>
          <p:nvPr>
            <p:extLst>
              <p:ext uri="{D42A27DB-BD31-4B8C-83A1-F6EECF244321}">
                <p14:modId xmlns:p14="http://schemas.microsoft.com/office/powerpoint/2010/main" val="4255964871"/>
              </p:ext>
            </p:extLst>
          </p:nvPr>
        </p:nvGraphicFramePr>
        <p:xfrm>
          <a:off x="3718331" y="2784218"/>
          <a:ext cx="3010498" cy="726671"/>
        </p:xfrm>
        <a:graphic>
          <a:graphicData uri="http://schemas.openxmlformats.org/drawingml/2006/table">
            <a:tbl>
              <a:tblPr firstRow="1" bandRow="1">
                <a:tableStyleId>{00A15C55-8517-42AA-B614-E9B94910E393}</a:tableStyleId>
              </a:tblPr>
              <a:tblGrid>
                <a:gridCol w="1505249"/>
                <a:gridCol w="1505249"/>
              </a:tblGrid>
              <a:tr h="360911">
                <a:tc>
                  <a:txBody>
                    <a:bodyPr/>
                    <a:lstStyle/>
                    <a:p>
                      <a:pPr algn="ctr"/>
                      <a:r>
                        <a:rPr lang="tr-TR" sz="1200" noProof="1" smtClean="0"/>
                        <a:t>Parça Sayısı</a:t>
                      </a:r>
                      <a:endParaRPr lang="tr-TR" sz="1200" noProof="1"/>
                    </a:p>
                  </a:txBody>
                  <a:tcPr/>
                </a:tc>
                <a:tc>
                  <a:txBody>
                    <a:bodyPr/>
                    <a:lstStyle/>
                    <a:p>
                      <a:pPr algn="ctr"/>
                      <a:r>
                        <a:rPr lang="tr-TR" sz="1200" noProof="1" smtClean="0"/>
                        <a:t>Birim Mikroçipi</a:t>
                      </a:r>
                      <a:r>
                        <a:rPr lang="tr-TR" sz="1200" baseline="0" noProof="1" smtClean="0"/>
                        <a:t> </a:t>
                      </a:r>
                      <a:endParaRPr lang="tr-TR" sz="1200" noProof="1"/>
                    </a:p>
                  </a:txBody>
                  <a:tcPr/>
                </a:tc>
              </a:tr>
              <a:tr h="360911">
                <a:tc>
                  <a:txBody>
                    <a:bodyPr/>
                    <a:lstStyle/>
                    <a:p>
                      <a:pPr algn="ctr"/>
                      <a:r>
                        <a:rPr lang="tr-TR" noProof="1" smtClean="0"/>
                        <a:t>En</a:t>
                      </a:r>
                      <a:r>
                        <a:rPr lang="tr-TR" baseline="0" noProof="1" smtClean="0"/>
                        <a:t> fazla 1000</a:t>
                      </a:r>
                      <a:endParaRPr lang="tr-TR" noProof="1" smtClean="0"/>
                    </a:p>
                  </a:txBody>
                  <a:tcPr/>
                </a:tc>
                <a:tc>
                  <a:txBody>
                    <a:bodyPr/>
                    <a:lstStyle/>
                    <a:p>
                      <a:pPr algn="ctr"/>
                      <a:r>
                        <a:rPr lang="tr-TR" noProof="1" smtClean="0"/>
                        <a:t>30 mAh</a:t>
                      </a:r>
                      <a:endParaRPr lang="tr-TR" noProof="1"/>
                    </a:p>
                  </a:txBody>
                  <a:tcPr/>
                </a:tc>
              </a:tr>
            </a:tbl>
          </a:graphicData>
        </a:graphic>
      </p:graphicFrame>
      <p:sp>
        <p:nvSpPr>
          <p:cNvPr id="57" name="Metin kutusu 56"/>
          <p:cNvSpPr txBox="1"/>
          <p:nvPr/>
        </p:nvSpPr>
        <p:spPr>
          <a:xfrm>
            <a:off x="3702403" y="3563888"/>
            <a:ext cx="3155597" cy="1015663"/>
          </a:xfrm>
          <a:prstGeom prst="rect">
            <a:avLst/>
          </a:prstGeom>
          <a:noFill/>
        </p:spPr>
        <p:txBody>
          <a:bodyPr wrap="square" rtlCol="0">
            <a:spAutoFit/>
          </a:bodyPr>
          <a:lstStyle/>
          <a:p>
            <a:r>
              <a:rPr lang="tr-TR" sz="1200" noProof="1" smtClean="0">
                <a:solidFill>
                  <a:schemeClr val="tx1">
                    <a:lumMod val="85000"/>
                    <a:lumOff val="15000"/>
                  </a:schemeClr>
                </a:solidFill>
              </a:rPr>
              <a:t>Her 5 mAh arttıldığında 5 parça kendini sistemsel sorun olarak yok etmektedir.  Buna göre</a:t>
            </a:r>
            <a:r>
              <a:rPr lang="tr-TR" sz="1200" noProof="1">
                <a:solidFill>
                  <a:schemeClr val="tx1">
                    <a:lumMod val="85000"/>
                    <a:lumOff val="15000"/>
                  </a:schemeClr>
                </a:solidFill>
              </a:rPr>
              <a:t> </a:t>
            </a:r>
            <a:r>
              <a:rPr lang="tr-TR" sz="1200" noProof="1" smtClean="0">
                <a:solidFill>
                  <a:schemeClr val="tx1">
                    <a:lumMod val="85000"/>
                    <a:lumOff val="15000"/>
                  </a:schemeClr>
                </a:solidFill>
              </a:rPr>
              <a:t>bu cihaza yüklenebilecek en büyük mAh değeri için cihazdan kaç parça yok olmuştur?</a:t>
            </a:r>
          </a:p>
          <a:p>
            <a:r>
              <a:rPr lang="tr-TR" sz="1200" noProof="1" smtClean="0">
                <a:solidFill>
                  <a:schemeClr val="tx1">
                    <a:lumMod val="85000"/>
                    <a:lumOff val="15000"/>
                  </a:schemeClr>
                </a:solidFill>
              </a:rPr>
              <a:t>(mAh = miliamper / hours </a:t>
            </a:r>
            <a:r>
              <a:rPr lang="tr-TR" sz="1200" noProof="1" smtClean="0">
                <a:solidFill>
                  <a:schemeClr val="tx1">
                    <a:lumMod val="85000"/>
                    <a:lumOff val="15000"/>
                  </a:schemeClr>
                </a:solidFill>
                <a:sym typeface="Wingdings" panose="05000000000000000000" pitchFamily="2" charset="2"/>
              </a:rPr>
              <a:t> saat </a:t>
            </a:r>
            <a:r>
              <a:rPr lang="tr-TR" sz="1200" noProof="1" smtClean="0">
                <a:solidFill>
                  <a:schemeClr val="tx1">
                    <a:lumMod val="85000"/>
                    <a:lumOff val="15000"/>
                  </a:schemeClr>
                </a:solidFill>
              </a:rPr>
              <a:t> )</a:t>
            </a:r>
          </a:p>
        </p:txBody>
      </p:sp>
      <mc:AlternateContent xmlns:mc="http://schemas.openxmlformats.org/markup-compatibility/2006" xmlns:a14="http://schemas.microsoft.com/office/drawing/2010/main">
        <mc:Choice Requires="a14">
          <p:sp>
            <p:nvSpPr>
              <p:cNvPr id="59" name="Metin kutusu 58"/>
              <p:cNvSpPr txBox="1"/>
              <p:nvPr/>
            </p:nvSpPr>
            <p:spPr>
              <a:xfrm>
                <a:off x="165507" y="6318534"/>
                <a:ext cx="3263493" cy="646331"/>
              </a:xfrm>
              <a:prstGeom prst="rect">
                <a:avLst/>
              </a:prstGeom>
              <a:noFill/>
            </p:spPr>
            <p:txBody>
              <a:bodyPr wrap="square" rtlCol="0">
                <a:spAutoFit/>
              </a:bodyPr>
              <a:lstStyle/>
              <a:p>
                <a:r>
                  <a:rPr lang="tr-TR" sz="1200" dirty="0" smtClean="0">
                    <a:solidFill>
                      <a:schemeClr val="tx1">
                        <a:lumMod val="85000"/>
                        <a:lumOff val="15000"/>
                      </a:schemeClr>
                    </a:solidFill>
                  </a:rPr>
                  <a:t>A)  </a:t>
                </a:r>
                <a14:m>
                  <m:oMath xmlns:m="http://schemas.openxmlformats.org/officeDocument/2006/math">
                    <m:r>
                      <a:rPr lang="tr-TR" sz="1200" b="0" i="1" smtClean="0">
                        <a:solidFill>
                          <a:schemeClr val="tx1">
                            <a:lumMod val="85000"/>
                            <a:lumOff val="15000"/>
                          </a:schemeClr>
                        </a:solidFill>
                        <a:latin typeface="Cambria Math"/>
                      </a:rPr>
                      <m:t>78</m:t>
                    </m:r>
                  </m:oMath>
                </a14:m>
                <a:r>
                  <a:rPr lang="tr-TR" sz="1200" dirty="0" smtClean="0">
                    <a:solidFill>
                      <a:schemeClr val="tx1">
                        <a:lumMod val="85000"/>
                        <a:lumOff val="15000"/>
                      </a:schemeClr>
                    </a:solidFill>
                  </a:rPr>
                  <a:t>                     B)   </a:t>
                </a:r>
                <a14:m>
                  <m:oMath xmlns:m="http://schemas.openxmlformats.org/officeDocument/2006/math">
                    <m:r>
                      <a:rPr lang="tr-TR" sz="1200" b="0" i="1" smtClean="0">
                        <a:solidFill>
                          <a:schemeClr val="tx1">
                            <a:lumMod val="85000"/>
                            <a:lumOff val="15000"/>
                          </a:schemeClr>
                        </a:solidFill>
                        <a:latin typeface="Cambria Math"/>
                      </a:rPr>
                      <m:t>81</m:t>
                    </m:r>
                  </m:oMath>
                </a14:m>
                <a:r>
                  <a:rPr lang="tr-TR" sz="1200" dirty="0" smtClean="0">
                    <a:solidFill>
                      <a:schemeClr val="tx1">
                        <a:lumMod val="85000"/>
                        <a:lumOff val="15000"/>
                      </a:schemeClr>
                    </a:solidFill>
                  </a:rPr>
                  <a:t>                        C) </a:t>
                </a:r>
                <a14:m>
                  <m:oMath xmlns:m="http://schemas.openxmlformats.org/officeDocument/2006/math">
                    <m:r>
                      <a:rPr lang="tr-TR" sz="1200" b="0" i="1" smtClean="0">
                        <a:solidFill>
                          <a:schemeClr val="tx1">
                            <a:lumMod val="85000"/>
                            <a:lumOff val="15000"/>
                          </a:schemeClr>
                        </a:solidFill>
                        <a:latin typeface="Cambria Math"/>
                      </a:rPr>
                      <m:t>45</m:t>
                    </m:r>
                  </m:oMath>
                </a14:m>
                <a:endParaRPr lang="tr-TR" sz="1200" dirty="0" smtClean="0">
                  <a:solidFill>
                    <a:schemeClr val="tx1">
                      <a:lumMod val="85000"/>
                      <a:lumOff val="15000"/>
                    </a:schemeClr>
                  </a:solidFill>
                </a:endParaRPr>
              </a:p>
              <a:p>
                <a:endParaRPr lang="tr-TR" sz="1200" dirty="0">
                  <a:solidFill>
                    <a:schemeClr val="tx1">
                      <a:lumMod val="85000"/>
                      <a:lumOff val="15000"/>
                    </a:schemeClr>
                  </a:solidFill>
                </a:endParaRPr>
              </a:p>
              <a:p>
                <a:r>
                  <a:rPr lang="tr-TR" sz="1200" dirty="0" smtClean="0">
                    <a:solidFill>
                      <a:schemeClr val="tx1">
                        <a:lumMod val="85000"/>
                        <a:lumOff val="15000"/>
                      </a:schemeClr>
                    </a:solidFill>
                  </a:rPr>
                  <a:t>              D)   439                        E) 70</a:t>
                </a:r>
                <a:endParaRPr lang="tr-TR" sz="1200" dirty="0">
                  <a:solidFill>
                    <a:schemeClr val="tx1">
                      <a:lumMod val="85000"/>
                      <a:lumOff val="15000"/>
                    </a:schemeClr>
                  </a:solidFill>
                </a:endParaRPr>
              </a:p>
            </p:txBody>
          </p:sp>
        </mc:Choice>
        <mc:Fallback xmlns="">
          <p:sp>
            <p:nvSpPr>
              <p:cNvPr id="59" name="Metin kutusu 58"/>
              <p:cNvSpPr txBox="1">
                <a:spLocks noRot="1" noChangeAspect="1" noMove="1" noResize="1" noEditPoints="1" noAdjustHandles="1" noChangeArrowheads="1" noChangeShapeType="1" noTextEdit="1"/>
              </p:cNvSpPr>
              <p:nvPr/>
            </p:nvSpPr>
            <p:spPr>
              <a:xfrm>
                <a:off x="165507" y="6318534"/>
                <a:ext cx="3263493" cy="646331"/>
              </a:xfrm>
              <a:prstGeom prst="rect">
                <a:avLst/>
              </a:prstGeom>
              <a:blipFill rotWithShape="1">
                <a:blip r:embed="rId8"/>
                <a:stretch>
                  <a:fillRect b="-6604"/>
                </a:stretch>
              </a:blipFill>
            </p:spPr>
            <p:txBody>
              <a:bodyPr/>
              <a:lstStyle/>
              <a:p>
                <a:r>
                  <a:rPr lang="tr-TR">
                    <a:noFill/>
                  </a:rPr>
                  <a:t> </a:t>
                </a:r>
              </a:p>
            </p:txBody>
          </p:sp>
        </mc:Fallback>
      </mc:AlternateContent>
      <mc:AlternateContent xmlns:mc="http://schemas.openxmlformats.org/markup-compatibility/2006" xmlns:a14="http://schemas.microsoft.com/office/drawing/2010/main">
        <mc:Choice Requires="a14">
          <p:sp>
            <p:nvSpPr>
              <p:cNvPr id="60" name="Metin kutusu 59"/>
              <p:cNvSpPr txBox="1"/>
              <p:nvPr/>
            </p:nvSpPr>
            <p:spPr>
              <a:xfrm>
                <a:off x="306394" y="5114401"/>
                <a:ext cx="3017316" cy="1204497"/>
              </a:xfrm>
              <a:prstGeom prst="rect">
                <a:avLst/>
              </a:prstGeom>
              <a:noFill/>
            </p:spPr>
            <p:txBody>
              <a:bodyPr wrap="square" rtlCol="0">
                <a:spAutoFit/>
              </a:bodyPr>
              <a:lstStyle/>
              <a:p>
                <a:r>
                  <a:rPr lang="tr-TR" sz="1200" b="1" noProof="1" smtClean="0">
                    <a:solidFill>
                      <a:schemeClr val="tx1">
                        <a:lumMod val="85000"/>
                        <a:lumOff val="15000"/>
                      </a:schemeClr>
                    </a:solidFill>
                  </a:rPr>
                  <a:t>Bir malın alış fiyatı 2x lira, satış fiyatı y lira olmak üzere x ile y arasındaki ilişki </a:t>
                </a:r>
              </a:p>
              <a:p>
                <a:r>
                  <a:rPr lang="tr-TR" sz="1200" b="1" noProof="1" smtClean="0">
                    <a:solidFill>
                      <a:schemeClr val="tx1">
                        <a:lumMod val="85000"/>
                        <a:lumOff val="15000"/>
                      </a:schemeClr>
                    </a:solidFill>
                  </a:rPr>
                  <a:t>y = </a:t>
                </a:r>
                <a14:m>
                  <m:oMath xmlns:m="http://schemas.openxmlformats.org/officeDocument/2006/math">
                    <m:sSup>
                      <m:sSupPr>
                        <m:ctrlPr>
                          <a:rPr lang="tr-TR" sz="1200" b="1" i="1" noProof="1" smtClean="0">
                            <a:solidFill>
                              <a:schemeClr val="tx1">
                                <a:lumMod val="85000"/>
                                <a:lumOff val="15000"/>
                              </a:schemeClr>
                            </a:solidFill>
                            <a:latin typeface="Cambria Math"/>
                          </a:rPr>
                        </m:ctrlPr>
                      </m:sSupPr>
                      <m:e>
                        <m:r>
                          <a:rPr lang="tr-TR" sz="1200" b="1" i="0" noProof="1" smtClean="0">
                            <a:solidFill>
                              <a:schemeClr val="tx1">
                                <a:lumMod val="85000"/>
                                <a:lumOff val="15000"/>
                              </a:schemeClr>
                            </a:solidFill>
                            <a:latin typeface="Cambria Math"/>
                          </a:rPr>
                          <m:t>−</m:t>
                        </m:r>
                        <m:r>
                          <a:rPr lang="tr-TR" sz="1200" b="1" i="0" noProof="1" smtClean="0">
                            <a:solidFill>
                              <a:schemeClr val="tx1">
                                <a:lumMod val="85000"/>
                                <a:lumOff val="15000"/>
                              </a:schemeClr>
                            </a:solidFill>
                            <a:latin typeface="Cambria Math"/>
                          </a:rPr>
                          <m:t>𝐱</m:t>
                        </m:r>
                      </m:e>
                      <m:sup>
                        <m:r>
                          <a:rPr lang="tr-TR" sz="1200" b="1" i="0" noProof="1" smtClean="0">
                            <a:solidFill>
                              <a:schemeClr val="tx1">
                                <a:lumMod val="85000"/>
                                <a:lumOff val="15000"/>
                              </a:schemeClr>
                            </a:solidFill>
                            <a:latin typeface="Cambria Math"/>
                          </a:rPr>
                          <m:t>𝟐</m:t>
                        </m:r>
                      </m:sup>
                    </m:sSup>
                  </m:oMath>
                </a14:m>
                <a:r>
                  <a:rPr lang="tr-TR" sz="1200" b="1" noProof="1" smtClean="0">
                    <a:solidFill>
                      <a:schemeClr val="tx1">
                        <a:lumMod val="85000"/>
                        <a:lumOff val="15000"/>
                      </a:schemeClr>
                    </a:solidFill>
                  </a:rPr>
                  <a:t> + 12 x + 45 biçiminde veriliyor.</a:t>
                </a:r>
              </a:p>
              <a:p>
                <a:endParaRPr lang="tr-TR" sz="1200" b="1" noProof="1">
                  <a:solidFill>
                    <a:schemeClr val="tx1">
                      <a:lumMod val="85000"/>
                      <a:lumOff val="15000"/>
                    </a:schemeClr>
                  </a:solidFill>
                </a:endParaRPr>
              </a:p>
              <a:p>
                <a:r>
                  <a:rPr lang="tr-TR" sz="1200" b="1" noProof="1" smtClean="0">
                    <a:solidFill>
                      <a:schemeClr val="tx1">
                        <a:lumMod val="85000"/>
                        <a:lumOff val="15000"/>
                      </a:schemeClr>
                    </a:solidFill>
                  </a:rPr>
                  <a:t>Buna göre üründen en fazla kaç lira kar elde edilir?</a:t>
                </a:r>
              </a:p>
            </p:txBody>
          </p:sp>
        </mc:Choice>
        <mc:Fallback xmlns="">
          <p:sp>
            <p:nvSpPr>
              <p:cNvPr id="60" name="Metin kutusu 59"/>
              <p:cNvSpPr txBox="1">
                <a:spLocks noRot="1" noChangeAspect="1" noMove="1" noResize="1" noEditPoints="1" noAdjustHandles="1" noChangeArrowheads="1" noChangeShapeType="1" noTextEdit="1"/>
              </p:cNvSpPr>
              <p:nvPr/>
            </p:nvSpPr>
            <p:spPr>
              <a:xfrm>
                <a:off x="306394" y="5114401"/>
                <a:ext cx="3017316" cy="1204497"/>
              </a:xfrm>
              <a:prstGeom prst="rect">
                <a:avLst/>
              </a:prstGeom>
              <a:blipFill rotWithShape="1">
                <a:blip r:embed="rId9"/>
                <a:stretch>
                  <a:fillRect b="-3030"/>
                </a:stretch>
              </a:blipFill>
            </p:spPr>
            <p:txBody>
              <a:bodyPr/>
              <a:lstStyle/>
              <a:p>
                <a:r>
                  <a:rPr lang="tr-TR">
                    <a:noFill/>
                  </a:rPr>
                  <a:t> </a:t>
                </a:r>
              </a:p>
            </p:txBody>
          </p:sp>
        </mc:Fallback>
      </mc:AlternateContent>
    </p:spTree>
    <p:extLst>
      <p:ext uri="{BB962C8B-B14F-4D97-AF65-F5344CB8AC3E}">
        <p14:creationId xmlns:p14="http://schemas.microsoft.com/office/powerpoint/2010/main" val="151911281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Dikdörtgen 2052"/>
          <p:cNvSpPr/>
          <p:nvPr/>
        </p:nvSpPr>
        <p:spPr>
          <a:xfrm>
            <a:off x="3425218" y="4354372"/>
            <a:ext cx="184731" cy="307777"/>
          </a:xfrm>
          <a:prstGeom prst="rect">
            <a:avLst/>
          </a:prstGeom>
        </p:spPr>
        <p:txBody>
          <a:bodyPr wrap="none">
            <a:spAutoFit/>
          </a:bodyPr>
          <a:lstStyle/>
          <a:p>
            <a:endParaRPr lang="tr-TR" sz="1400" b="1" dirty="0">
              <a:solidFill>
                <a:schemeClr val="accent1"/>
              </a:solidFill>
            </a:endParaRPr>
          </a:p>
        </p:txBody>
      </p:sp>
      <p:sp>
        <p:nvSpPr>
          <p:cNvPr id="2067" name="Dikdörtgen 2066"/>
          <p:cNvSpPr/>
          <p:nvPr/>
        </p:nvSpPr>
        <p:spPr>
          <a:xfrm>
            <a:off x="4" y="19684"/>
            <a:ext cx="1643335"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TYT/AYT Matematik</a:t>
            </a:r>
            <a:endParaRPr lang="tr-TR" sz="1500" b="1" dirty="0">
              <a:solidFill>
                <a:schemeClr val="bg1"/>
              </a:solidFill>
              <a:latin typeface="Arial Narrow" panose="020B0606020202030204" pitchFamily="34" charset="0"/>
            </a:endParaRPr>
          </a:p>
        </p:txBody>
      </p:sp>
      <p:sp>
        <p:nvSpPr>
          <p:cNvPr id="62" name="Dikdörtgen 61"/>
          <p:cNvSpPr/>
          <p:nvPr/>
        </p:nvSpPr>
        <p:spPr>
          <a:xfrm>
            <a:off x="4962482" y="19684"/>
            <a:ext cx="1706878"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Yeni Nesil Sorularım</a:t>
            </a:r>
            <a:endParaRPr lang="tr-TR" sz="1500" b="1" dirty="0">
              <a:solidFill>
                <a:schemeClr val="bg1"/>
              </a:solidFill>
              <a:latin typeface="Arial Narrow" panose="020B0606020202030204" pitchFamily="34" charset="0"/>
            </a:endParaRPr>
          </a:p>
        </p:txBody>
      </p:sp>
      <p:sp>
        <p:nvSpPr>
          <p:cNvPr id="4" name="Dikdörtgen 3"/>
          <p:cNvSpPr/>
          <p:nvPr/>
        </p:nvSpPr>
        <p:spPr>
          <a:xfrm>
            <a:off x="3447678" y="735836"/>
            <a:ext cx="3293690" cy="307777"/>
          </a:xfrm>
          <a:prstGeom prst="rect">
            <a:avLst/>
          </a:prstGeom>
        </p:spPr>
        <p:txBody>
          <a:bodyPr wrap="square">
            <a:spAutoFit/>
          </a:bodyPr>
          <a:lstStyle/>
          <a:p>
            <a:pPr algn="ctr"/>
            <a:r>
              <a:rPr lang="tr-TR" sz="1400" b="1" dirty="0" smtClean="0">
                <a:solidFill>
                  <a:srgbClr val="C00000"/>
                </a:solidFill>
                <a:latin typeface="Arial Narrow" panose="020B0606020202030204" pitchFamily="34" charset="0"/>
              </a:rPr>
              <a:t>Duyuru</a:t>
            </a:r>
            <a:endParaRPr lang="tr-TR" sz="1400" b="1" dirty="0">
              <a:solidFill>
                <a:srgbClr val="C00000"/>
              </a:solidFill>
              <a:latin typeface="Arial Narrow" panose="020B0606020202030204" pitchFamily="34" charset="0"/>
            </a:endParaRPr>
          </a:p>
        </p:txBody>
      </p:sp>
      <p:sp>
        <p:nvSpPr>
          <p:cNvPr id="61" name="Dikdörtgen 60"/>
          <p:cNvSpPr/>
          <p:nvPr/>
        </p:nvSpPr>
        <p:spPr>
          <a:xfrm>
            <a:off x="2684642" y="19684"/>
            <a:ext cx="1324402" cy="323165"/>
          </a:xfrm>
          <a:prstGeom prst="rect">
            <a:avLst/>
          </a:prstGeom>
        </p:spPr>
        <p:txBody>
          <a:bodyPr wrap="none">
            <a:spAutoFit/>
          </a:bodyPr>
          <a:lstStyle/>
          <a:p>
            <a:r>
              <a:rPr lang="tr-TR" sz="1500" b="1" dirty="0" smtClean="0">
                <a:solidFill>
                  <a:schemeClr val="bg1"/>
                </a:solidFill>
                <a:latin typeface="Arial Narrow" panose="020B0606020202030204" pitchFamily="34" charset="0"/>
              </a:rPr>
              <a:t>AHMET ÇELEN</a:t>
            </a:r>
            <a:endParaRPr lang="tr-TR" sz="1500" b="1" dirty="0">
              <a:solidFill>
                <a:schemeClr val="bg1"/>
              </a:solidFill>
              <a:latin typeface="Arial Narrow" panose="020B0606020202030204" pitchFamily="34" charset="0"/>
            </a:endParaRPr>
          </a:p>
        </p:txBody>
      </p:sp>
      <p:cxnSp>
        <p:nvCxnSpPr>
          <p:cNvPr id="11" name="Düz Bağlayıcı 10"/>
          <p:cNvCxnSpPr/>
          <p:nvPr/>
        </p:nvCxnSpPr>
        <p:spPr>
          <a:xfrm>
            <a:off x="3422588" y="683568"/>
            <a:ext cx="6415" cy="3096344"/>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14" name="Düz Bağlayıcı 113"/>
          <p:cNvCxnSpPr/>
          <p:nvPr/>
        </p:nvCxnSpPr>
        <p:spPr>
          <a:xfrm flipH="1">
            <a:off x="3379729" y="4994178"/>
            <a:ext cx="48859" cy="3674567"/>
          </a:xfrm>
          <a:prstGeom prst="line">
            <a:avLst/>
          </a:prstGeom>
          <a:ln>
            <a:solidFill>
              <a:srgbClr val="00B0F0"/>
            </a:solidFill>
          </a:ln>
        </p:spPr>
        <p:style>
          <a:lnRef idx="1">
            <a:schemeClr val="accent1"/>
          </a:lnRef>
          <a:fillRef idx="0">
            <a:schemeClr val="accent1"/>
          </a:fillRef>
          <a:effectRef idx="0">
            <a:schemeClr val="accent1"/>
          </a:effectRef>
          <a:fontRef idx="minor">
            <a:schemeClr val="tx1"/>
          </a:fontRef>
        </p:style>
      </p:cxnSp>
      <p:sp>
        <p:nvSpPr>
          <p:cNvPr id="2064" name="Aşağı Şerit 2063"/>
          <p:cNvSpPr/>
          <p:nvPr/>
        </p:nvSpPr>
        <p:spPr>
          <a:xfrm>
            <a:off x="3068962" y="8819479"/>
            <a:ext cx="623101" cy="289028"/>
          </a:xfrm>
          <a:prstGeom prst="ribbo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tr-TR"/>
          </a:p>
        </p:txBody>
      </p:sp>
      <p:sp>
        <p:nvSpPr>
          <p:cNvPr id="123" name="Metin kutusu 122"/>
          <p:cNvSpPr txBox="1"/>
          <p:nvPr/>
        </p:nvSpPr>
        <p:spPr>
          <a:xfrm>
            <a:off x="3068960" y="8826573"/>
            <a:ext cx="657279" cy="353943"/>
          </a:xfrm>
          <a:prstGeom prst="rect">
            <a:avLst/>
          </a:prstGeom>
          <a:noFill/>
        </p:spPr>
        <p:txBody>
          <a:bodyPr wrap="square" rtlCol="0">
            <a:spAutoFit/>
          </a:bodyPr>
          <a:lstStyle/>
          <a:p>
            <a:pPr algn="ctr"/>
            <a:r>
              <a:rPr lang="tr-TR" sz="1700" b="1" dirty="0" smtClean="0">
                <a:solidFill>
                  <a:schemeClr val="bg1"/>
                </a:solidFill>
              </a:rPr>
              <a:t>17</a:t>
            </a:r>
          </a:p>
        </p:txBody>
      </p:sp>
      <p:sp>
        <p:nvSpPr>
          <p:cNvPr id="2" name="Beşgen 1"/>
          <p:cNvSpPr/>
          <p:nvPr/>
        </p:nvSpPr>
        <p:spPr>
          <a:xfrm>
            <a:off x="-27383" y="-36512"/>
            <a:ext cx="6875042" cy="720080"/>
          </a:xfrm>
          <a:prstGeom prst="homePlate">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5" name="Dikdörtgen 4"/>
          <p:cNvSpPr/>
          <p:nvPr/>
        </p:nvSpPr>
        <p:spPr>
          <a:xfrm>
            <a:off x="-27383" y="15252"/>
            <a:ext cx="4536504" cy="384721"/>
          </a:xfrm>
          <a:prstGeom prst="rect">
            <a:avLst/>
          </a:prstGeom>
          <a:noFill/>
        </p:spPr>
        <p:txBody>
          <a:bodyPr wrap="squar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r>
              <a:rPr lang="tr-TR" sz="1900" b="1" dirty="0" smtClean="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rPr>
              <a:t>Parabol –  Türev İlişkisi (Meraklısına)</a:t>
            </a:r>
            <a:endParaRPr lang="tr-TR" sz="1900" b="1" cap="none" spc="0" dirty="0">
              <a:ln>
                <a:prstDash val="solid"/>
              </a:ln>
              <a:solidFill>
                <a:schemeClr val="bg1"/>
              </a:solidFill>
              <a:effectLst>
                <a:outerShdw blurRad="88000" dist="50800" dir="5040000" algn="tl">
                  <a:schemeClr val="accent4">
                    <a:tint val="80000"/>
                    <a:satMod val="250000"/>
                    <a:alpha val="45000"/>
                  </a:schemeClr>
                </a:outerShdw>
              </a:effectLst>
              <a:latin typeface="Arial" panose="020B0604020202020204" pitchFamily="34" charset="0"/>
              <a:cs typeface="Arial" panose="020B0604020202020204" pitchFamily="34" charset="0"/>
            </a:endParaRPr>
          </a:p>
        </p:txBody>
      </p:sp>
      <p:sp>
        <p:nvSpPr>
          <p:cNvPr id="16" name="Metin kutusu 15"/>
          <p:cNvSpPr txBox="1"/>
          <p:nvPr/>
        </p:nvSpPr>
        <p:spPr>
          <a:xfrm>
            <a:off x="4509121" y="-36512"/>
            <a:ext cx="1400654" cy="707886"/>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pPr algn="ctr"/>
            <a:r>
              <a:rPr lang="tr-TR" sz="1000" b="1" dirty="0" smtClean="0">
                <a:solidFill>
                  <a:schemeClr val="bg1">
                    <a:lumMod val="95000"/>
                  </a:schemeClr>
                </a:solidFill>
              </a:rPr>
              <a:t>Video çözümlerine ulaşmak için</a:t>
            </a:r>
          </a:p>
          <a:p>
            <a:pPr algn="ctr"/>
            <a:r>
              <a:rPr lang="tr-TR" sz="1000" b="1" dirty="0" smtClean="0">
                <a:solidFill>
                  <a:schemeClr val="bg1">
                    <a:lumMod val="95000"/>
                  </a:schemeClr>
                </a:solidFill>
              </a:rPr>
              <a:t>yandaki QR kodu okutabilirsiniz. </a:t>
            </a:r>
            <a:endParaRPr lang="tr-TR" sz="1000" b="1" dirty="0">
              <a:solidFill>
                <a:schemeClr val="bg1">
                  <a:lumMod val="95000"/>
                </a:schemeClr>
              </a:solidFill>
            </a:endParaRPr>
          </a:p>
        </p:txBody>
      </p:sp>
      <p:sp>
        <p:nvSpPr>
          <p:cNvPr id="23" name="Metin kutusu 22"/>
          <p:cNvSpPr txBox="1"/>
          <p:nvPr/>
        </p:nvSpPr>
        <p:spPr>
          <a:xfrm rot="16200000">
            <a:off x="2804305" y="4225466"/>
            <a:ext cx="1214263" cy="323165"/>
          </a:xfrm>
          <a:prstGeom prst="rect">
            <a:avLst/>
          </a:prstGeom>
          <a:noFill/>
        </p:spPr>
        <p:txBody>
          <a:bodyPr wrap="square" rtlCol="0">
            <a:spAutoFit/>
          </a:bodyPr>
          <a:lstStyle/>
          <a:p>
            <a:r>
              <a:rPr lang="tr-TR" sz="1500" dirty="0" smtClean="0">
                <a:solidFill>
                  <a:srgbClr val="00B050"/>
                </a:solidFill>
              </a:rPr>
              <a:t>Ahmet Çelen</a:t>
            </a:r>
            <a:endParaRPr lang="tr-TR" sz="1500" dirty="0">
              <a:solidFill>
                <a:srgbClr val="00B050"/>
              </a:solidFill>
            </a:endParaRPr>
          </a:p>
        </p:txBody>
      </p:sp>
      <p:pic>
        <p:nvPicPr>
          <p:cNvPr id="63" name="Resim 6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18509" y="8814167"/>
            <a:ext cx="780019" cy="319398"/>
          </a:xfrm>
          <a:prstGeom prst="rect">
            <a:avLst/>
          </a:prstGeom>
        </p:spPr>
      </p:pic>
      <p:sp>
        <p:nvSpPr>
          <p:cNvPr id="92" name="Dikdörtgen 91"/>
          <p:cNvSpPr/>
          <p:nvPr/>
        </p:nvSpPr>
        <p:spPr>
          <a:xfrm>
            <a:off x="53885" y="8819480"/>
            <a:ext cx="1286886" cy="252526"/>
          </a:xfrm>
          <a:prstGeom prst="rect">
            <a:avLst/>
          </a:prstGeom>
          <a:noFill/>
          <a:ln w="3175">
            <a:solidFill>
              <a:srgbClr val="00B050"/>
            </a:solidFill>
            <a:prstDash val="sys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tr-TR">
              <a:ln w="38100" cmpd="sng">
                <a:solidFill>
                  <a:srgbClr val="FFC000"/>
                </a:solidFill>
                <a:prstDash val="sysDash"/>
              </a:ln>
            </a:endParaRPr>
          </a:p>
        </p:txBody>
      </p:sp>
      <p:sp>
        <p:nvSpPr>
          <p:cNvPr id="93" name="Metin kutusu 92"/>
          <p:cNvSpPr txBox="1"/>
          <p:nvPr/>
        </p:nvSpPr>
        <p:spPr>
          <a:xfrm>
            <a:off x="44624"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15.B</a:t>
            </a:r>
            <a:endParaRPr lang="tr-TR" sz="1000" dirty="0">
              <a:solidFill>
                <a:schemeClr val="tx1">
                  <a:lumMod val="85000"/>
                  <a:lumOff val="15000"/>
                </a:schemeClr>
              </a:solidFill>
            </a:endParaRPr>
          </a:p>
        </p:txBody>
      </p:sp>
      <p:sp>
        <p:nvSpPr>
          <p:cNvPr id="94" name="Metin kutusu 93"/>
          <p:cNvSpPr txBox="1"/>
          <p:nvPr/>
        </p:nvSpPr>
        <p:spPr>
          <a:xfrm>
            <a:off x="476672" y="8820472"/>
            <a:ext cx="425037"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16.D</a:t>
            </a:r>
            <a:endParaRPr lang="tr-TR" sz="1000" dirty="0">
              <a:solidFill>
                <a:schemeClr val="tx1">
                  <a:lumMod val="85000"/>
                  <a:lumOff val="15000"/>
                </a:schemeClr>
              </a:solidFill>
            </a:endParaRPr>
          </a:p>
        </p:txBody>
      </p:sp>
      <p:sp>
        <p:nvSpPr>
          <p:cNvPr id="95" name="Metin kutusu 94"/>
          <p:cNvSpPr txBox="1"/>
          <p:nvPr/>
        </p:nvSpPr>
        <p:spPr>
          <a:xfrm>
            <a:off x="888219" y="8830476"/>
            <a:ext cx="452551" cy="246221"/>
          </a:xfrm>
          <a:prstGeom prst="rect">
            <a:avLst/>
          </a:prstGeom>
          <a:noFill/>
        </p:spPr>
        <p:txBody>
          <a:bodyPr wrap="square" rtlCol="0">
            <a:spAutoFit/>
          </a:bodyPr>
          <a:lstStyle/>
          <a:p>
            <a:pPr algn="ctr"/>
            <a:r>
              <a:rPr lang="tr-TR" sz="1000" dirty="0" smtClean="0">
                <a:solidFill>
                  <a:schemeClr val="tx1">
                    <a:lumMod val="85000"/>
                    <a:lumOff val="15000"/>
                  </a:schemeClr>
                </a:solidFill>
              </a:rPr>
              <a:t>17.A</a:t>
            </a:r>
            <a:endParaRPr lang="tr-TR" sz="1000" dirty="0">
              <a:solidFill>
                <a:schemeClr val="tx1">
                  <a:lumMod val="85000"/>
                  <a:lumOff val="15000"/>
                </a:schemeClr>
              </a:solidFill>
            </a:endParaRPr>
          </a:p>
        </p:txBody>
      </p:sp>
      <p:cxnSp>
        <p:nvCxnSpPr>
          <p:cNvPr id="99" name="Düz Bağlayıcı 98"/>
          <p:cNvCxnSpPr/>
          <p:nvPr/>
        </p:nvCxnSpPr>
        <p:spPr>
          <a:xfrm>
            <a:off x="476672" y="8819480"/>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2" name="Düz Bağlayıcı 101"/>
          <p:cNvCxnSpPr/>
          <p:nvPr/>
        </p:nvCxnSpPr>
        <p:spPr>
          <a:xfrm>
            <a:off x="899618" y="8828612"/>
            <a:ext cx="0" cy="238081"/>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03" name="Düz Bağlayıcı 102"/>
          <p:cNvCxnSpPr/>
          <p:nvPr/>
        </p:nvCxnSpPr>
        <p:spPr>
          <a:xfrm>
            <a:off x="1340770" y="8814167"/>
            <a:ext cx="0" cy="252526"/>
          </a:xfrm>
          <a:prstGeom prst="line">
            <a:avLst/>
          </a:prstGeom>
          <a:ln>
            <a:solidFill>
              <a:schemeClr val="accent5">
                <a:lumMod val="75000"/>
              </a:schemeClr>
            </a:solidFill>
            <a:prstDash val="sysDot"/>
          </a:ln>
        </p:spPr>
        <p:style>
          <a:lnRef idx="1">
            <a:schemeClr val="accent1"/>
          </a:lnRef>
          <a:fillRef idx="0">
            <a:schemeClr val="accent1"/>
          </a:fillRef>
          <a:effectRef idx="0">
            <a:schemeClr val="accent1"/>
          </a:effectRef>
          <a:fontRef idx="minor">
            <a:schemeClr val="tx1"/>
          </a:fontRef>
        </p:style>
      </p:cxnSp>
      <p:sp>
        <p:nvSpPr>
          <p:cNvPr id="106" name="Dikdörtgen 105"/>
          <p:cNvSpPr/>
          <p:nvPr/>
        </p:nvSpPr>
        <p:spPr>
          <a:xfrm>
            <a:off x="5972065" y="-24780"/>
            <a:ext cx="875594" cy="7083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tr-TR"/>
          </a:p>
        </p:txBody>
      </p:sp>
      <p:pic>
        <p:nvPicPr>
          <p:cNvPr id="107"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57245" y="66124"/>
            <a:ext cx="684123" cy="51480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Metin kutusu 56"/>
          <p:cNvSpPr txBox="1"/>
          <p:nvPr/>
        </p:nvSpPr>
        <p:spPr>
          <a:xfrm>
            <a:off x="3517583" y="1075341"/>
            <a:ext cx="3155597" cy="5078313"/>
          </a:xfrm>
          <a:prstGeom prst="rect">
            <a:avLst/>
          </a:prstGeom>
          <a:noFill/>
        </p:spPr>
        <p:txBody>
          <a:bodyPr wrap="square" rtlCol="0">
            <a:spAutoFit/>
          </a:bodyPr>
          <a:lstStyle/>
          <a:p>
            <a:r>
              <a:rPr lang="tr-TR" sz="1200" noProof="1" smtClean="0">
                <a:solidFill>
                  <a:schemeClr val="tx1">
                    <a:lumMod val="85000"/>
                    <a:lumOff val="15000"/>
                  </a:schemeClr>
                </a:solidFill>
              </a:rPr>
              <a:t>Sevgili arkadaşlar, türev bilmiyor olabilirsiniz. Türev son konulardan fakat bu testte yer alan tüm sorular </a:t>
            </a:r>
            <a:r>
              <a:rPr lang="tr-TR" sz="1200" b="1" noProof="1" smtClean="0">
                <a:solidFill>
                  <a:schemeClr val="tx1">
                    <a:lumMod val="85000"/>
                    <a:lumOff val="15000"/>
                  </a:schemeClr>
                </a:solidFill>
              </a:rPr>
              <a:t>türev ile çözülecek gibi bir zorunluluk yok. </a:t>
            </a:r>
            <a:r>
              <a:rPr lang="tr-TR" sz="1200" noProof="1" smtClean="0">
                <a:solidFill>
                  <a:schemeClr val="tx1">
                    <a:lumMod val="85000"/>
                    <a:lumOff val="15000"/>
                  </a:schemeClr>
                </a:solidFill>
              </a:rPr>
              <a:t>Analitik geometri ve mevcut bilgilerimiz ile de çoğu sorunun çözümü yapılabilir. Türev sadece işlemlerimizde kolaylık ve hız sağlıyor.  Problem tarzı soruları mutlaka</a:t>
            </a:r>
          </a:p>
          <a:p>
            <a:r>
              <a:rPr lang="tr-TR" sz="1200" noProof="1" smtClean="0">
                <a:solidFill>
                  <a:schemeClr val="tx1">
                    <a:lumMod val="85000"/>
                    <a:lumOff val="15000"/>
                  </a:schemeClr>
                </a:solidFill>
              </a:rPr>
              <a:t>çözün bu testte yer alan. ÖSYM problem mantığıyla aslında türev sorusu olarak parabol sorusu sorabiliyor. </a:t>
            </a:r>
          </a:p>
          <a:p>
            <a:endParaRPr lang="tr-TR" sz="1200" noProof="1">
              <a:solidFill>
                <a:schemeClr val="tx1">
                  <a:lumMod val="85000"/>
                  <a:lumOff val="15000"/>
                </a:schemeClr>
              </a:solidFill>
            </a:endParaRPr>
          </a:p>
          <a:p>
            <a:r>
              <a:rPr lang="tr-TR" sz="1200" noProof="1" smtClean="0">
                <a:solidFill>
                  <a:schemeClr val="tx1">
                    <a:lumMod val="85000"/>
                    <a:lumOff val="15000"/>
                  </a:schemeClr>
                </a:solidFill>
              </a:rPr>
              <a:t>İkinci dereceden denklem ve minimum maksimum gibi şeyler isteniyorsa türev bilmenize gerek yoktur. Mevcut tepe noktası bilgilerimiz ile bu soruları çözümleyebiliriz.</a:t>
            </a:r>
          </a:p>
          <a:p>
            <a:endParaRPr lang="tr-TR" sz="1200" noProof="1">
              <a:solidFill>
                <a:schemeClr val="tx1">
                  <a:lumMod val="85000"/>
                  <a:lumOff val="15000"/>
                </a:schemeClr>
              </a:solidFill>
            </a:endParaRPr>
          </a:p>
          <a:p>
            <a:endParaRPr lang="tr-TR" sz="1200" noProof="1" smtClean="0">
              <a:solidFill>
                <a:schemeClr val="tx1">
                  <a:lumMod val="85000"/>
                  <a:lumOff val="15000"/>
                </a:schemeClr>
              </a:solidFill>
            </a:endParaRPr>
          </a:p>
          <a:p>
            <a:r>
              <a:rPr lang="tr-TR" sz="1200" b="1" noProof="1" smtClean="0">
                <a:solidFill>
                  <a:schemeClr val="tx1">
                    <a:lumMod val="85000"/>
                    <a:lumOff val="15000"/>
                  </a:schemeClr>
                </a:solidFill>
              </a:rPr>
              <a:t>Bu soruları ve parabol türev ilişkisini çözecek kadar türev bilgisi şimdi öğrenmek istemez misiniz? </a:t>
            </a:r>
            <a:r>
              <a:rPr lang="tr-TR" sz="1200" noProof="1" smtClean="0">
                <a:solidFill>
                  <a:schemeClr val="tx1">
                    <a:lumMod val="85000"/>
                    <a:lumOff val="15000"/>
                  </a:schemeClr>
                </a:solidFill>
              </a:rPr>
              <a:t>Çok kısa ve öz anlatımımdan oluşan türev parabol ilişkisi videomu mutlaka izleyin.</a:t>
            </a:r>
          </a:p>
          <a:p>
            <a:r>
              <a:rPr lang="tr-TR" sz="1200" noProof="1" smtClean="0">
                <a:solidFill>
                  <a:schemeClr val="tx1">
                    <a:lumMod val="85000"/>
                    <a:lumOff val="15000"/>
                  </a:schemeClr>
                </a:solidFill>
              </a:rPr>
              <a:t>Türevin ne olduğunu parabolde neden kullanıldığını ve ilişkisini, minimum maksimum problemlerinin mantığını özet olarak anlattım.</a:t>
            </a:r>
          </a:p>
          <a:p>
            <a:endParaRPr lang="tr-TR" sz="1200" noProof="1">
              <a:solidFill>
                <a:schemeClr val="tx1">
                  <a:lumMod val="85000"/>
                  <a:lumOff val="15000"/>
                </a:schemeClr>
              </a:solidFill>
            </a:endParaRPr>
          </a:p>
          <a:p>
            <a:r>
              <a:rPr lang="tr-TR" sz="1200" noProof="1" smtClean="0">
                <a:solidFill>
                  <a:schemeClr val="tx1">
                    <a:lumMod val="85000"/>
                    <a:lumOff val="15000"/>
                  </a:schemeClr>
                </a:solidFill>
              </a:rPr>
              <a:t>Ön yargıyı bırak ve aşağıdaki karekodu okutarak</a:t>
            </a:r>
          </a:p>
          <a:p>
            <a:r>
              <a:rPr lang="tr-TR" sz="1200" noProof="1" smtClean="0">
                <a:solidFill>
                  <a:schemeClr val="tx1">
                    <a:lumMod val="85000"/>
                    <a:lumOff val="15000"/>
                  </a:schemeClr>
                </a:solidFill>
              </a:rPr>
              <a:t>Türev – parabol videoma gel izle ve öğren!</a:t>
            </a:r>
          </a:p>
        </p:txBody>
      </p:sp>
      <p:sp>
        <p:nvSpPr>
          <p:cNvPr id="40" name="Dikdörtgen 39"/>
          <p:cNvSpPr/>
          <p:nvPr/>
        </p:nvSpPr>
        <p:spPr>
          <a:xfrm>
            <a:off x="30836" y="769975"/>
            <a:ext cx="3293690" cy="307777"/>
          </a:xfrm>
          <a:prstGeom prst="rect">
            <a:avLst/>
          </a:prstGeom>
        </p:spPr>
        <p:txBody>
          <a:bodyPr wrap="square">
            <a:spAutoFit/>
          </a:bodyPr>
          <a:lstStyle/>
          <a:p>
            <a:pPr algn="ctr"/>
            <a:r>
              <a:rPr lang="tr-TR" sz="1400" b="1" dirty="0" smtClean="0">
                <a:solidFill>
                  <a:srgbClr val="C00000"/>
                </a:solidFill>
                <a:latin typeface="Arial Narrow" panose="020B0606020202030204" pitchFamily="34" charset="0"/>
              </a:rPr>
              <a:t>Duyuru</a:t>
            </a:r>
            <a:endParaRPr lang="tr-TR" sz="1400" b="1" dirty="0">
              <a:solidFill>
                <a:srgbClr val="C00000"/>
              </a:solidFill>
              <a:latin typeface="Arial Narrow" panose="020B0606020202030204" pitchFamily="34" charset="0"/>
            </a:endParaRPr>
          </a:p>
        </p:txBody>
      </p:sp>
    </p:spTree>
    <p:extLst>
      <p:ext uri="{BB962C8B-B14F-4D97-AF65-F5344CB8AC3E}">
        <p14:creationId xmlns:p14="http://schemas.microsoft.com/office/powerpoint/2010/main" val="4014352501"/>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Gündönümü">
  <a:themeElements>
    <a:clrScheme name="Gündönümü">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Gündönümü">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Gündönümü">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3.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4.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9176</TotalTime>
  <Words>8675</Words>
  <Application>Microsoft Office PowerPoint</Application>
  <PresentationFormat>Ekran Gösterisi (4:3)</PresentationFormat>
  <Paragraphs>1823</Paragraphs>
  <Slides>35</Slides>
  <Notes>26</Notes>
  <HiddenSlides>0</HiddenSlides>
  <MMClips>0</MMClips>
  <ScaleCrop>false</ScaleCrop>
  <HeadingPairs>
    <vt:vector size="4" baseType="variant">
      <vt:variant>
        <vt:lpstr>Tema</vt:lpstr>
      </vt:variant>
      <vt:variant>
        <vt:i4>3</vt:i4>
      </vt:variant>
      <vt:variant>
        <vt:lpstr>Slayt Başlıkları</vt:lpstr>
      </vt:variant>
      <vt:variant>
        <vt:i4>35</vt:i4>
      </vt:variant>
    </vt:vector>
  </HeadingPairs>
  <TitlesOfParts>
    <vt:vector size="38" baseType="lpstr">
      <vt:lpstr>Ofis Teması</vt:lpstr>
      <vt:lpstr>1_Gündönümü</vt:lpstr>
      <vt:lpstr>Hava Akımı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Pc</dc:creator>
  <cp:lastModifiedBy>Pc</cp:lastModifiedBy>
  <cp:revision>573</cp:revision>
  <cp:lastPrinted>2020-10-10T19:42:14Z</cp:lastPrinted>
  <dcterms:created xsi:type="dcterms:W3CDTF">2020-03-30T13:39:30Z</dcterms:created>
  <dcterms:modified xsi:type="dcterms:W3CDTF">2020-10-11T15:45:16Z</dcterms:modified>
</cp:coreProperties>
</file>